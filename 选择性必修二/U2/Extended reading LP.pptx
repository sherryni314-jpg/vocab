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Override1.xml" ContentType="application/vnd.openxmlformats-officedocument.themeOverride+xml"/>
  <Override PartName="/ppt/tags/tag4.xml" ContentType="application/vnd.openxmlformats-officedocument.presentationml.tags+xml"/>
  <Override PartName="/ppt/theme/themeOverride2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Override3.xml" ContentType="application/vnd.openxmlformats-officedocument.themeOverr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5.xml" ContentType="application/vnd.openxmlformats-officedocument.themeOverr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64" r:id="rId2"/>
    <p:sldId id="281" r:id="rId3"/>
    <p:sldId id="351" r:id="rId4"/>
    <p:sldId id="352" r:id="rId5"/>
    <p:sldId id="336" r:id="rId6"/>
    <p:sldId id="347" r:id="rId7"/>
    <p:sldId id="384" r:id="rId8"/>
    <p:sldId id="276" r:id="rId9"/>
    <p:sldId id="353" r:id="rId10"/>
    <p:sldId id="278" r:id="rId11"/>
    <p:sldId id="325" r:id="rId12"/>
    <p:sldId id="326" r:id="rId13"/>
    <p:sldId id="338" r:id="rId14"/>
    <p:sldId id="354" r:id="rId15"/>
    <p:sldId id="327" r:id="rId16"/>
    <p:sldId id="348" r:id="rId17"/>
    <p:sldId id="331" r:id="rId18"/>
    <p:sldId id="387" r:id="rId19"/>
    <p:sldId id="340" r:id="rId20"/>
    <p:sldId id="328" r:id="rId21"/>
    <p:sldId id="282" r:id="rId22"/>
    <p:sldId id="342" r:id="rId23"/>
    <p:sldId id="356" r:id="rId24"/>
    <p:sldId id="343" r:id="rId25"/>
    <p:sldId id="350" r:id="rId26"/>
    <p:sldId id="344" r:id="rId27"/>
    <p:sldId id="345" r:id="rId28"/>
    <p:sldId id="357" r:id="rId29"/>
    <p:sldId id="388" r:id="rId30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15AB7"/>
    <a:srgbClr val="9900FF"/>
    <a:srgbClr val="FFFFCC"/>
    <a:srgbClr val="C83406"/>
    <a:srgbClr val="340A5E"/>
    <a:srgbClr val="D9D9D9"/>
    <a:srgbClr val="FFFFFF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96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are literally over the moon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1859" y="957289"/>
            <a:ext cx="106657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1. </a:t>
            </a:r>
            <a:r>
              <a:rPr lang="en-US" altLang="zh-CN" sz="3200" b="1" u="sng" dirty="0">
                <a:solidFill>
                  <a:schemeClr val="bg2"/>
                </a:solidFill>
                <a:latin typeface="Times New Roman" panose="02020503050405090304" charset="0"/>
                <a:cs typeface="Times New Roman" panose="02020503050405090304" charset="0"/>
              </a:rPr>
              <a:t>Since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sport is an inseparable part of day-to-day life, there are lots of sports idioms </a:t>
            </a:r>
            <a:r>
              <a:rPr lang="en-US" altLang="zh-CN" sz="3200" b="1" u="sng" dirty="0">
                <a:solidFill>
                  <a:schemeClr val="bg2"/>
                </a:solidFill>
                <a:latin typeface="Times New Roman" panose="02020503050405090304" charset="0"/>
                <a:cs typeface="Times New Roman" panose="02020503050405090304" charset="0"/>
              </a:rPr>
              <a:t>that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have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found their way into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everyday language.</a:t>
            </a:r>
          </a:p>
          <a:p>
            <a:pPr marL="360680" indent="-3606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  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由于体育运动是日常生活中不可缺失的一部分，许多体育习语也已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融入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人们的日常语言。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81183" y="2117230"/>
            <a:ext cx="7192370" cy="609398"/>
          </a:xfrm>
          <a:prstGeom prst="wedgeRectCallout">
            <a:avLst>
              <a:gd name="adj1" fmla="val -34999"/>
              <a:gd name="adj2" fmla="val -62122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that</a:t>
            </a:r>
            <a:r>
              <a:rPr lang="zh-CN" altLang="en-US" sz="28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引导限制性定语从句，修饰</a:t>
            </a:r>
            <a:r>
              <a:rPr lang="en-US" altLang="zh-CN" sz="28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sports idioms</a:t>
            </a:r>
            <a:endParaRPr lang="zh-CN" altLang="en-US" sz="28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0400" y="315190"/>
            <a:ext cx="3826689" cy="559897"/>
          </a:xfrm>
          <a:prstGeom prst="wedgeRectCallout">
            <a:avLst>
              <a:gd name="adj1" fmla="val -25719"/>
              <a:gd name="adj2" fmla="val 94923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since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引导原因状语从句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92999" y="4001542"/>
            <a:ext cx="10315278" cy="18630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4129405" indent="-4129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find one’s way into   </a:t>
            </a:r>
            <a:r>
              <a:rPr lang="en-US" altLang="zh-CN" sz="3200" b="1" i="1" dirty="0" err="1"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lang="en-US" altLang="zh-CN" sz="3200" b="1" i="1" dirty="0">
                <a:latin typeface="Times New Roman" panose="02020503050405090304" charset="0"/>
                <a:cs typeface="Times New Roman" panose="02020503050405090304" charset="0"/>
              </a:rPr>
              <a:t> come to a place or a situation by chance or without intending to </a:t>
            </a:r>
          </a:p>
          <a:p>
            <a:pPr marL="4129405" indent="-412940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               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偶然来到，无意中处于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3024" y="5866668"/>
            <a:ext cx="10055883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88180" indent="-44881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He eventually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found his way into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acting.  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2849185" y="1691019"/>
            <a:ext cx="2377907" cy="367511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7" grpId="0" bldLvl="0" animBg="1"/>
      <p:bldP spid="6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53338" y="2414111"/>
            <a:ext cx="10898171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仿写：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3200" b="1" dirty="0"/>
              <a:t>既然等火车还需要一会儿，我们去那家新开的咖啡馆喝杯咖啡吧。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3338" y="1130300"/>
            <a:ext cx="10799472" cy="1126462"/>
          </a:xfrm>
          <a:prstGeom prst="wedgeRectCallout">
            <a:avLst>
              <a:gd name="adj1" fmla="val -13223"/>
              <a:gd name="adj2" fmla="val -40505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latin typeface="Times New Roman" panose="02020503050405090304" charset="0"/>
                <a:cs typeface="Times New Roman" panose="02020503050405090304" charset="0"/>
              </a:rPr>
              <a:t>Since sport is an inseparable part of day-to-day life, there are lots of sports idioms that have found their way into everyday language.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3338" y="4130516"/>
            <a:ext cx="1065697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Since we've got a while to wait for the train, let's have a cup of coffee in the cafe that was newly opened.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60400" y="1597683"/>
            <a:ext cx="10898171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仿写：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3200" b="1" dirty="0"/>
              <a:t>既然天气不好，原定于本周五举办的运动会应该推迟到下周。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4260" y="2871878"/>
            <a:ext cx="1065697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3200" b="1" dirty="0">
                <a:solidFill>
                  <a:srgbClr val="FF0000"/>
                </a:solidFill>
              </a:rPr>
              <a:t>Since the weather is bad, the sports meeting scheduled to take place this Friday should be put off until next week.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845910" y="730885"/>
            <a:ext cx="10555515" cy="5379954"/>
            <a:chOff x="1159328" y="54535"/>
            <a:chExt cx="10555515" cy="5379954"/>
          </a:xfrm>
        </p:grpSpPr>
        <p:sp>
          <p:nvSpPr>
            <p:cNvPr id="2" name="文本框 1"/>
            <p:cNvSpPr txBox="1"/>
            <p:nvPr/>
          </p:nvSpPr>
          <p:spPr>
            <a:xfrm>
              <a:off x="1159328" y="1209199"/>
              <a:ext cx="10555515" cy="4225290"/>
            </a:xfrm>
            <a:prstGeom prst="rect">
              <a:avLst/>
            </a:prstGeom>
            <a:noFill/>
            <a:ln w="28575">
              <a:solidFill>
                <a:srgbClr val="215AB7"/>
              </a:solidFill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stand in the way of .../get in the way</a:t>
              </a:r>
            </a:p>
            <a:p>
              <a:pPr marL="457200" indent="-45720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give way to / make way for </a:t>
              </a:r>
            </a:p>
            <a:p>
              <a:pPr marL="457200" indent="-45720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that’s / it’s always the way</a:t>
              </a:r>
            </a:p>
            <a:p>
              <a:pPr marL="457200" indent="-45720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be born/be made that way </a:t>
              </a:r>
              <a:endPara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endParaRPr>
            </a:p>
            <a:p>
              <a:pPr marL="457200" indent="-45720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cut both/two ways 	   </a:t>
              </a:r>
              <a:r>
                <a:rPr lang="zh-CN" altLang="en-US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 </a:t>
              </a:r>
              <a:endPara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endParaRPr>
            </a:p>
            <a:p>
              <a:pPr marL="457200" indent="-45720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go/get one’s own way       </a:t>
              </a:r>
              <a:endPara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endParaRPr>
            </a:p>
            <a:p>
              <a:pPr marL="457200" indent="-45720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take the easy way out</a:t>
              </a:r>
              <a:r>
                <a:rPr lang="en-US" altLang="zh-CN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 	  </a:t>
              </a:r>
              <a:endPara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rcRect l="9290" t="13592" r="9836" b="15534"/>
            <a:stretch>
              <a:fillRect/>
            </a:stretch>
          </p:blipFill>
          <p:spPr>
            <a:xfrm>
              <a:off x="1291344" y="54535"/>
              <a:ext cx="1410131" cy="691337"/>
            </a:xfrm>
            <a:prstGeom prst="rect">
              <a:avLst/>
            </a:prstGeom>
          </p:spPr>
        </p:pic>
      </p:grpSp>
      <p:sp>
        <p:nvSpPr>
          <p:cNvPr id="4" name="Text Box 3"/>
          <p:cNvSpPr txBox="1"/>
          <p:nvPr/>
        </p:nvSpPr>
        <p:spPr>
          <a:xfrm>
            <a:off x="7943215" y="19780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阻碍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313805" y="25412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被……替代；向……妥协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6096000" y="30880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尤用于贬义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总是这样，老是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096000" y="376999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天性如此，生下就这样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666105" y="43510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两面都行得通；有利也有弊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666105" y="49460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一意孤行，为所欲为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5666105" y="55156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以最简单的方法解决难题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3" grpId="0"/>
      <p:bldP spid="1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25861" y="1265817"/>
            <a:ext cx="10140278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翻译句子。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1)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这些电子工具进入了人们的日常生活。</a:t>
            </a:r>
          </a:p>
          <a:p>
            <a:pPr marL="452755" indent="-452755"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She always gets her own way in the end.</a:t>
            </a:r>
          </a:p>
          <a:p>
            <a:pPr marL="452755" indent="-452755"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452755" indent="-4527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He took the easy way out and didn’t go to the meeting.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4062" y="2432290"/>
            <a:ext cx="938339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These digital tools found their way into everyday life.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44063" y="3640429"/>
            <a:ext cx="4304383" cy="626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到最后总是她说了算。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44062" y="4852183"/>
            <a:ext cx="6776214" cy="626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他采取了简单的办法，没有去开会。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/>
        </p:nvSpPr>
        <p:spPr>
          <a:xfrm>
            <a:off x="383876" y="385072"/>
            <a:ext cx="10140278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league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水平，等级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 level of quality, ability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They’re in a different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league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from us.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他们与我们不属同一个级别。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When it comes to cooking, I’m not in her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league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提到烹饪，我的水平远比不上她。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93961" y="1524724"/>
            <a:ext cx="10898171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680" indent="-360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2. </a:t>
            </a:r>
            <a:r>
              <a:rPr lang="en-US" altLang="zh-CN" sz="3200" b="1" u="sng" dirty="0">
                <a:solidFill>
                  <a:schemeClr val="bg2"/>
                </a:solidFill>
                <a:latin typeface="Times New Roman" panose="02020503050405090304" charset="0"/>
                <a:cs typeface="Times New Roman" panose="02020503050405090304" charset="0"/>
              </a:rPr>
              <a:t>As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you know, in a football match, players try to kick or head the ball into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opposing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team’s goal, </a:t>
            </a:r>
            <a:r>
              <a:rPr lang="en-US" altLang="zh-CN" sz="3200" b="1" u="sng" dirty="0">
                <a:solidFill>
                  <a:schemeClr val="bg2"/>
                </a:solidFill>
                <a:latin typeface="Times New Roman" panose="02020503050405090304" charset="0"/>
                <a:cs typeface="Times New Roman" panose="02020503050405090304" charset="0"/>
              </a:rPr>
              <a:t>which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is a net between </a:t>
            </a:r>
            <a:r>
              <a:rPr lang="en-US" altLang="zh-CN" sz="3200" b="1" u="sng" dirty="0">
                <a:solidFill>
                  <a:schemeClr val="accent3">
                    <a:lumMod val="75000"/>
                  </a:schemeClr>
                </a:solidFill>
                <a:latin typeface="Times New Roman" panose="02020503050405090304" charset="0"/>
                <a:cs typeface="Times New Roman" panose="02020503050405090304" charset="0"/>
              </a:rPr>
              <a:t>two big goalposts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  <a:latin typeface="Times New Roman" panose="02020503050405090304" charset="0"/>
                <a:cs typeface="Times New Roman" panose="02020503050405090304" charset="0"/>
              </a:rPr>
              <a:t>fixed to the ground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marL="360680" indent="-360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  </a:t>
            </a:r>
          </a:p>
          <a:p>
            <a:pPr marL="360680" indent="-360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 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如你所知，在一场足球比赛中，球员们试图将球踢进或顶进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对方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球队的球门，也就是固定在地上的两根粗大门柱之间的那张网。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42557" y="490219"/>
            <a:ext cx="4449575" cy="1126462"/>
          </a:xfrm>
          <a:prstGeom prst="wedgeRectCallout">
            <a:avLst>
              <a:gd name="adj1" fmla="val 8579"/>
              <a:gd name="adj2" fmla="val 96594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which</a:t>
            </a:r>
            <a:r>
              <a:rPr lang="zh-CN" altLang="zh-CN" sz="28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引导非限制性定语从句</a:t>
            </a:r>
            <a:r>
              <a:rPr lang="zh-CN" altLang="en-US" sz="28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，补充说明</a:t>
            </a:r>
            <a:r>
              <a:rPr lang="en-US" altLang="zh-CN" sz="28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goal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93961" y="338230"/>
            <a:ext cx="4233796" cy="1126462"/>
          </a:xfrm>
          <a:prstGeom prst="wedgeRectCallout">
            <a:avLst>
              <a:gd name="adj1" fmla="val -30802"/>
              <a:gd name="adj2" fmla="val 73103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defRPr>
            </a:lvl1pPr>
          </a:lstStyle>
          <a:p>
            <a:r>
              <a:rPr lang="en-US" altLang="zh-CN" sz="2800" dirty="0">
                <a:solidFill>
                  <a:schemeClr val="bg2"/>
                </a:solidFill>
              </a:rPr>
              <a:t>as</a:t>
            </a:r>
            <a:r>
              <a:rPr lang="zh-CN" altLang="zh-CN" sz="2800" dirty="0"/>
              <a:t>引导非限制性定语从句</a:t>
            </a:r>
            <a:r>
              <a:rPr lang="en-US" altLang="zh-CN" sz="2800" dirty="0"/>
              <a:t>, as</a:t>
            </a:r>
            <a:r>
              <a:rPr lang="zh-CN" altLang="en-US" sz="2800" dirty="0"/>
              <a:t>替代整个句子</a:t>
            </a:r>
            <a:endParaRPr lang="en-US" altLang="zh-CN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519403" y="3334450"/>
            <a:ext cx="11116329" cy="609398"/>
          </a:xfrm>
          <a:prstGeom prst="wedgeRectCallout">
            <a:avLst>
              <a:gd name="adj1" fmla="val -13223"/>
              <a:gd name="adj2" fmla="val -71255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过去分词短语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/>
                <a:cs typeface="Times New Roman" panose="02020503050405090304" charset="0"/>
              </a:rPr>
              <a:t>fixed to the ground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作后置定语，修饰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宋体"/>
                <a:cs typeface="Times New Roman" panose="02020503050405090304" charset="0"/>
              </a:rPr>
              <a:t>two big goalposts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8" name="箭头: 下弧形 7"/>
          <p:cNvSpPr/>
          <p:nvPr/>
        </p:nvSpPr>
        <p:spPr>
          <a:xfrm flipH="1">
            <a:off x="4753199" y="3214386"/>
            <a:ext cx="1036052" cy="360532"/>
          </a:xfrm>
          <a:prstGeom prst="curved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489424" y="2288287"/>
            <a:ext cx="903949" cy="367511"/>
          </a:xfrm>
          <a:prstGeom prst="roundRect">
            <a:avLst/>
          </a:prstGeom>
          <a:solidFill>
            <a:schemeClr val="accent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53338" y="2414111"/>
            <a:ext cx="10898171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仿写：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3200" b="1" dirty="0"/>
              <a:t>如你所知，他昨天去了图书馆，在那里他找到了目前研究需要的全部书籍。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2687" y="815725"/>
            <a:ext cx="10799472" cy="1598386"/>
          </a:xfrm>
          <a:prstGeom prst="wedgeRectCallout">
            <a:avLst>
              <a:gd name="adj1" fmla="val -13223"/>
              <a:gd name="adj2" fmla="val -40505"/>
            </a:avLst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/>
              <a:t>As you know, in a football match, players try to kick or head the ball into the opposing team's goal, which is the net between two big goalposts fixed to the ground. </a:t>
            </a:r>
            <a:endParaRPr lang="en-US" altLang="zh-CN" sz="28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3338" y="4235856"/>
            <a:ext cx="10656970" cy="1222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3200" b="1" dirty="0">
                <a:solidFill>
                  <a:srgbClr val="FF0000"/>
                </a:solidFill>
              </a:rPr>
              <a:t>As you know, he went to the library yesterday, where he found all the books needed for his ongoing study.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0292" y="2546812"/>
            <a:ext cx="108567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1) Football (or soccer,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as it is called in the USA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) is one of the   most popular sports in the world.</a:t>
            </a:r>
          </a:p>
          <a:p>
            <a:pPr marL="358775" indent="-3587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As it suggests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, in baseball this means that a batter (the person with the baseball bat in his or her hand) is out if he or she makes three unsuccessful attempts to hit the ball.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7162" y="1272617"/>
            <a:ext cx="11008409" cy="1217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21255" indent="-242125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找出文中另外两个含有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as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引导非限制性定语从句的句子。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13099" y="2012766"/>
            <a:ext cx="11005801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对方团队</a:t>
            </a:r>
          </a:p>
          <a:p>
            <a:pPr marL="805180" indent="-805180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对立的观点</a:t>
            </a:r>
          </a:p>
          <a:p>
            <a:pPr marL="805180" indent="-805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oppose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marL="805180" indent="-80518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反对限制学生在校园使用手机</a:t>
            </a:r>
          </a:p>
          <a:p>
            <a:pPr marL="805180" indent="-8051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oppose limiting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students’ phone use on campus</a:t>
            </a:r>
          </a:p>
          <a:p>
            <a:pPr marL="805180" indent="-80518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Mr. Taylor was not bitter about those who had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opposed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him.</a:t>
            </a:r>
          </a:p>
          <a:p>
            <a:pPr marL="805180" indent="-80518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泰勒先生不仇恨那些曾经反对过他的人。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3099" y="639670"/>
            <a:ext cx="10670222" cy="12725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333625" indent="-233362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opposing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 </a:t>
            </a:r>
            <a:r>
              <a:rPr lang="en-US" altLang="zh-CN" sz="3200" b="1" i="1" dirty="0"/>
              <a:t>playing, fighting, working, etc. against each other 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对立的；相竞争的；对抗的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；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相反的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190875" y="2138680"/>
            <a:ext cx="60960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ym typeface="+mn-ea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opposing</a:t>
            </a:r>
            <a:r>
              <a:rPr lang="en-US" altLang="zh-CN" sz="3200" b="1" dirty="0">
                <a:sym typeface="+mn-ea"/>
              </a:rPr>
              <a:t> team</a:t>
            </a:r>
          </a:p>
          <a:p>
            <a:r>
              <a:rPr lang="en-US" altLang="zh-CN" sz="3200" b="1" dirty="0">
                <a:sym typeface="+mn-ea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opposing </a:t>
            </a:r>
            <a:r>
              <a:rPr lang="en-US" altLang="zh-CN" sz="3200" b="1" dirty="0">
                <a:sym typeface="+mn-ea"/>
              </a:rPr>
              <a:t>views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52100" y="267788"/>
            <a:ext cx="11106381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opposed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I am bitterly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opposed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to any form of terrorism.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我们强烈反对任何形式的恐怖主义。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This exercise develops suppleness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as opposed to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 strength.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(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表示对比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)，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而，相对于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rather than</a:t>
            </a:r>
            <a:endParaRPr lang="zh-CN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opposite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prep.&amp; adv. </a:t>
            </a:r>
            <a:r>
              <a:rPr lang="en-US" altLang="zh-CN" sz="3200" b="1" i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on the other side of a space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  <a:sym typeface="+mn-ea"/>
              </a:rPr>
              <a:t>在</a:t>
            </a: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  <a:sym typeface="+mn-ea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charset="0"/>
                <a:sym typeface="+mn-ea"/>
              </a:rPr>
              <a:t>的对面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Jennie had sat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opposite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her son at breakfast.</a:t>
            </a:r>
            <a:endParaRPr lang="zh-CN" altLang="en-US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1886" y="435427"/>
            <a:ext cx="11408228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1) ___________ (oppose) sides on the committee are refusing to compromise. So it’s hard to reach an agreement.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At the meeting yesterday, all the members present ___________ (oppose) the plan bitterly.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Most of the local residents opposed ___________ (close) the school.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4) Many locals are strongly opposed _________ the development of this industry, because it has caused heavy pollution.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5) We employ you to work, _________ opposed to just sitting.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5914" y="947057"/>
            <a:ext cx="197361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Opposing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5914" y="2699657"/>
            <a:ext cx="162095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opposed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65571" y="3331368"/>
            <a:ext cx="1393330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closing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02518" y="4568363"/>
            <a:ext cx="5261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20924" y="5682343"/>
            <a:ext cx="55015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5013" y="1130300"/>
            <a:ext cx="11408228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oppose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的适当形式填空。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1) The __________ armies were preparing for war.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2) The new examination system has been ________ by many teachers.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3) Many citizens are ________ to the plan of building the motorway.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4) Congress is continuing to ________ the President’s healthcare budget.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04060" y="1730828"/>
            <a:ext cx="230480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opposing 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17971" y="2277093"/>
            <a:ext cx="230480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opposed  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08862" y="3498822"/>
            <a:ext cx="2304802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opposed  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68538" y="4635105"/>
            <a:ext cx="2304802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oppose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6890" y="629285"/>
            <a:ext cx="10897870" cy="36747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360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An insurance salesman who </a:t>
            </a:r>
            <a:r>
              <a:rPr lang="en-US" altLang="zh-CN" sz="3200" b="1" u="sng" dirty="0">
                <a:latin typeface="Times New Roman" panose="02020503050405090304" charset="0"/>
                <a:cs typeface="Times New Roman" panose="02020503050405090304" charset="0"/>
              </a:rPr>
              <a:t>is about to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reach his annual sales target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, </a:t>
            </a:r>
            <a:r>
              <a:rPr lang="en-US" altLang="zh-CN" sz="3200" b="1" u="sng" dirty="0">
                <a:latin typeface="Times New Roman" panose="02020503050405090304" charset="0"/>
                <a:cs typeface="Times New Roman" panose="02020503050405090304" charset="0"/>
              </a:rPr>
              <a:t>only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for the company to make the target higher, could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rightly complain about the company moving the goalposts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indent="-36068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    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如果一位保险销售员就快达到年度销售目标了，而公司却在这里提高了销售目标，那么他就可以正当地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抱怨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公司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</a:rPr>
              <a:t>move the goalposts</a:t>
            </a:r>
            <a:r>
              <a:rPr lang="zh-CN" altLang="en-US" sz="3200" b="1" dirty="0">
                <a:latin typeface="Times New Roman" panose="02020503050405090304" charset="0"/>
                <a:cs typeface="Times New Roman" panose="02020503050405090304" charset="0"/>
              </a:rPr>
              <a:t>。</a:t>
            </a:r>
            <a:endParaRPr lang="en-US" altLang="zh-CN" sz="3200" b="1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2293" y="4358088"/>
            <a:ext cx="10563461" cy="6832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complain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 </a:t>
            </a:r>
            <a:r>
              <a:rPr lang="en-US" altLang="zh-CN" sz="3200" b="1" i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to say that </a:t>
            </a:r>
            <a:r>
              <a:rPr lang="en-US" altLang="zh-CN" sz="3200" b="1" i="1" dirty="0" err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sth</a:t>
            </a:r>
            <a:r>
              <a:rPr lang="en-US" altLang="zh-CN" sz="3200" b="1" i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is wrong or not satisfactory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抱怨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270" y="415925"/>
            <a:ext cx="1117346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complain to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about/of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 	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向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抱怨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charset="0"/>
              </a:rPr>
              <a:t>……</a:t>
            </a:r>
          </a:p>
          <a:p>
            <a:pPr indent="-457200" fontAlgn="auto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complain + that			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诉说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/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抱怨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charset="0"/>
            </a:endParaRP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/>
              <a:t>Lots of people have </a:t>
            </a:r>
            <a:r>
              <a:rPr lang="en-US" altLang="zh-CN" sz="3200" b="1" dirty="0">
                <a:solidFill>
                  <a:srgbClr val="FF0000"/>
                </a:solidFill>
              </a:rPr>
              <a:t>complained</a:t>
            </a:r>
            <a:r>
              <a:rPr lang="en-US" altLang="zh-CN" sz="3200" b="1" dirty="0"/>
              <a:t> 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to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the police </a:t>
            </a:r>
            <a:r>
              <a:rPr lang="en-US" altLang="zh-CN" sz="3200" b="1" dirty="0">
                <a:solidFill>
                  <a:srgbClr val="FF0000"/>
                </a:solidFill>
              </a:rPr>
              <a:t>about </a:t>
            </a:r>
            <a:r>
              <a:rPr lang="en-US" altLang="zh-CN" sz="3200" b="1" dirty="0"/>
              <a:t>the noise.</a:t>
            </a:r>
          </a:p>
          <a:p>
            <a:pPr indent="-900430" fontAlgn="auto">
              <a:lnSpc>
                <a:spcPct val="120000"/>
              </a:lnSpc>
            </a:pPr>
            <a:r>
              <a:rPr lang="zh-CN" altLang="en-US" sz="3200" b="1" dirty="0"/>
              <a:t>许多人向警察</a:t>
            </a:r>
            <a:r>
              <a:rPr lang="zh-CN" altLang="en-US" sz="3200" b="1" dirty="0">
                <a:solidFill>
                  <a:srgbClr val="FF0000"/>
                </a:solidFill>
              </a:rPr>
              <a:t>抱怨</a:t>
            </a:r>
            <a:r>
              <a:rPr lang="zh-CN" altLang="en-US" sz="3200" b="1" dirty="0"/>
              <a:t>过这噪音。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/>
              <a:t>He </a:t>
            </a:r>
            <a:r>
              <a:rPr lang="en-US" altLang="zh-CN" sz="3200" b="1" dirty="0">
                <a:solidFill>
                  <a:srgbClr val="FF0000"/>
                </a:solidFill>
              </a:rPr>
              <a:t>complained bitterly that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he had been unfairly treated.</a:t>
            </a:r>
            <a:endParaRPr lang="en-US" altLang="zh-CN" sz="3200" b="1" dirty="0"/>
          </a:p>
          <a:p>
            <a:pPr indent="-900430" fontAlgn="auto">
              <a:lnSpc>
                <a:spcPct val="120000"/>
              </a:lnSpc>
            </a:pPr>
            <a:r>
              <a:rPr lang="zh-CN" altLang="en-US" sz="3200" b="1" dirty="0"/>
              <a:t>她</a:t>
            </a:r>
            <a:r>
              <a:rPr lang="zh-CN" altLang="en-US" sz="3200" b="1" dirty="0">
                <a:solidFill>
                  <a:srgbClr val="FF0000"/>
                </a:solidFill>
              </a:rPr>
              <a:t>愤懑地抱怨</a:t>
            </a:r>
            <a:r>
              <a:rPr lang="zh-CN" altLang="en-US" sz="3200" b="1" dirty="0"/>
              <a:t>说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他受到了不公平待遇。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-90043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She left early,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complaining of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a headache.</a:t>
            </a:r>
          </a:p>
          <a:p>
            <a:pPr indent="-90043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诉说（病痛）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188085"/>
            <a:ext cx="1219200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received a number of complaint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from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customers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about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 lack of parking facilities.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我们收到了来自顾客的许多投诉，抱怨缺乏停车设施。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I'd like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make a complaint about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the noise.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我要就噪音问题提出投诉。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 believe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have a complaint against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one of our nurses.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我认为你</a:t>
            </a:r>
            <a:r>
              <a:rPr lang="zh-CN" altLang="en-US" sz="3200" b="1" u="sng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针</a:t>
            </a:r>
            <a:r>
              <a:rPr lang="en-US" altLang="zh-CN" sz="3200" b="1" u="sng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对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我们的一位护士有怨言。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deal with/handle customer complaints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处理客户投诉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0"/>
            <a:ext cx="12192000" cy="1188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complaint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[C]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 statement in which sb. complains about </a:t>
            </a:r>
            <a:r>
              <a:rPr lang="en-US" altLang="zh-CN" sz="3200" b="1" i="1" dirty="0" err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sth</a:t>
            </a:r>
            <a:r>
              <a:rPr lang="en-US" altLang="zh-CN" sz="3200" b="1" i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 marL="224028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投诉；抱怨；意见；不满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248910" y="34290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900430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[formal] = file/lodge a complaint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00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complaint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[U]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the act of complaining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抱怨；埋怨；投诉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 can see no grounds for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complaint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我找不到抱怨的理由。</a:t>
            </a:r>
          </a:p>
          <a:p>
            <a:pPr indent="-900430" fontAlgn="auto">
              <a:lnSpc>
                <a:spcPct val="120000"/>
              </a:lnSpc>
            </a:pP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an illness that affects a particular part of your body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疾病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-90043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He is having treatment for a chest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complaint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2514" y="265426"/>
            <a:ext cx="11049000" cy="6137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【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语境应用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】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单句语法填空。</a:t>
            </a:r>
            <a:endParaRPr lang="en-US" altLang="zh-CN" sz="30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1) Miners have __________ (complain) bitterly that the government did not fulfil their promises.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The couple complained to me _________ the high cost of visiting Europe.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If the service was so bad, why didn’t you complain _______ the manager?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4) she’s been complaining ________ a bad back recently, so her son insists on taking her to hospital for an examination.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5) We received a number of ___________ (complain) from customers about the lack of parking facilities.</a:t>
            </a:r>
            <a:endParaRPr lang="zh-CN" altLang="en-US" sz="30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06339" y="806638"/>
            <a:ext cx="2087431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complained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83785" y="1876697"/>
            <a:ext cx="1124026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about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72105" y="3035415"/>
            <a:ext cx="566057" cy="597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to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23209" y="4115849"/>
            <a:ext cx="505267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of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93770" y="5154386"/>
            <a:ext cx="1980029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complaints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0020" y="138430"/>
            <a:ext cx="11796395" cy="1238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968500" indent="-19685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backfire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vi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</a:t>
            </a:r>
            <a:r>
              <a:rPr lang="en-US" altLang="zh-CN" sz="3200" b="1" dirty="0">
                <a:solidFill>
                  <a:schemeClr val="bg2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en-US" altLang="zh-CN" sz="3200" b="1" i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(of a plan) to have the opposite result from the one you intended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产生事与愿违的不良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或危险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后果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/>
              <a:t>The surprise I had planned </a:t>
            </a:r>
            <a:r>
              <a:rPr lang="en-US" altLang="zh-CN" sz="3200" b="1" dirty="0">
                <a:solidFill>
                  <a:srgbClr val="FF0000"/>
                </a:solidFill>
              </a:rPr>
              <a:t>backfired (on</a:t>
            </a:r>
            <a:r>
              <a:rPr lang="en-US" altLang="zh-CN" sz="3200" b="1" dirty="0"/>
              <a:t> me).</a:t>
            </a:r>
          </a:p>
          <a:p>
            <a:pPr marL="719455" indent="-719455">
              <a:lnSpc>
                <a:spcPct val="120000"/>
              </a:lnSpc>
            </a:pPr>
            <a:r>
              <a:rPr lang="zh-CN" altLang="en-US" sz="3200" b="1" dirty="0"/>
              <a:t>我本想制造惊喜，结果却</a:t>
            </a:r>
            <a:r>
              <a:rPr lang="zh-CN" altLang="en-US" sz="3200" b="1" dirty="0">
                <a:solidFill>
                  <a:srgbClr val="FF0000"/>
                </a:solidFill>
              </a:rPr>
              <a:t>弄巧成拙</a:t>
            </a:r>
            <a:r>
              <a:rPr lang="zh-CN" altLang="en-US" sz="3200" b="1" dirty="0"/>
              <a:t>。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290161" y="2675255"/>
            <a:ext cx="10563461" cy="18630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970405" indent="-1970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back + fire = backfire</a:t>
            </a:r>
            <a:endParaRPr lang="en-US" altLang="zh-CN" sz="3200" b="1" i="1" dirty="0">
              <a:solidFill>
                <a:schemeClr val="bg2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1970405" indent="-1970405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(of an engine) to make a loud noise as a result of fuel burning too early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引擎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发生逆火，回火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68275" y="166370"/>
            <a:ext cx="11693525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handle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v.</a:t>
            </a:r>
            <a:r>
              <a:rPr lang="en-US" altLang="zh-CN" sz="3200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3200" b="1" dirty="0">
                <a:latin typeface="Times New Roman" panose="02020503050405090304" charset="0"/>
                <a:cs typeface="Times New Roman" panose="02020503050405090304" charset="0"/>
                <a:sym typeface="+mn-ea"/>
              </a:rPr>
              <a:t>1) </a:t>
            </a:r>
            <a:r>
              <a:rPr lang="en-US" altLang="zh-CN" sz="3200" b="1" i="1" dirty="0">
                <a:sym typeface="+mn-ea"/>
              </a:rPr>
              <a:t>to </a:t>
            </a:r>
            <a:r>
              <a:rPr lang="en-US" altLang="zh-CN" sz="3200" b="1" i="1" dirty="0">
                <a:solidFill>
                  <a:srgbClr val="0000FF"/>
                </a:solidFill>
                <a:sym typeface="+mn-ea"/>
              </a:rPr>
              <a:t>deal with</a:t>
            </a:r>
            <a:r>
              <a:rPr lang="en-US" altLang="zh-CN" sz="3200" b="1" i="1" dirty="0">
                <a:sym typeface="+mn-ea"/>
              </a:rPr>
              <a:t> a situation... </a:t>
            </a:r>
            <a:r>
              <a:rPr lang="en-US" altLang="zh-CN" sz="3200" b="1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处理，应付</a:t>
            </a:r>
            <a:endParaRPr lang="en-US" altLang="zh-CN" sz="3200" b="1" dirty="0"/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handle stress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调节压力</a:t>
            </a: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/>
              <a:t>If you </a:t>
            </a:r>
            <a:r>
              <a:rPr lang="en-US" altLang="zh-CN" sz="3200" b="1" dirty="0">
                <a:solidFill>
                  <a:schemeClr val="tx1"/>
                </a:solidFill>
              </a:rPr>
              <a:t>can't</a:t>
            </a:r>
            <a:r>
              <a:rPr lang="en-US" altLang="zh-CN" sz="3200" b="1" dirty="0"/>
              <a:t> </a:t>
            </a:r>
            <a:r>
              <a:rPr lang="en-US" altLang="zh-CN" sz="3200" b="1" dirty="0">
                <a:solidFill>
                  <a:srgbClr val="FF0000"/>
                </a:solidFill>
              </a:rPr>
              <a:t>handle</a:t>
            </a:r>
            <a:r>
              <a:rPr lang="en-US" altLang="zh-CN" sz="3200" b="1" dirty="0"/>
              <a:t> </a:t>
            </a:r>
            <a:r>
              <a:rPr lang="en-US" altLang="zh-CN" sz="3200" b="1" dirty="0">
                <a:solidFill>
                  <a:srgbClr val="FF0000"/>
                </a:solidFill>
              </a:rPr>
              <a:t>the job </a:t>
            </a:r>
            <a:r>
              <a:rPr lang="en-US" altLang="zh-CN" sz="3200" b="1" dirty="0"/>
              <a:t>I'll get someone else to do it.</a:t>
            </a:r>
          </a:p>
          <a:p>
            <a:pPr marL="900430" indent="-900430">
              <a:lnSpc>
                <a:spcPct val="120000"/>
              </a:lnSpc>
            </a:pPr>
            <a:r>
              <a:rPr lang="zh-CN" altLang="en-US" sz="3200" b="1" dirty="0"/>
              <a:t>如果你</a:t>
            </a:r>
            <a:r>
              <a:rPr lang="zh-CN" altLang="en-US" sz="3200" b="1" dirty="0">
                <a:solidFill>
                  <a:schemeClr val="tx1"/>
                </a:solidFill>
              </a:rPr>
              <a:t>做不了</a:t>
            </a:r>
            <a:r>
              <a:rPr lang="zh-CN" altLang="en-US" sz="3200" b="1" dirty="0"/>
              <a:t>这项工作，我会让别人来做。</a:t>
            </a: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驾驶，操纵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drive or control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 car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handles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well/badly in any weather.</a:t>
            </a: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handle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把手；拉手；柄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a door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handle</a:t>
            </a:r>
            <a:r>
              <a:rPr lang="en-US" altLang="zh-CN" sz="3200" b="1" dirty="0">
                <a:sym typeface="+mn-ea"/>
              </a:rPr>
              <a:t>    </a:t>
            </a:r>
            <a:r>
              <a:rPr lang="zh-CN" altLang="en-US" sz="3200" b="1" dirty="0">
                <a:sym typeface="+mn-ea"/>
              </a:rPr>
              <a:t>门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拉手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handle of a knife 	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刀柄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turn/push/pull/try the handle and open it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转动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推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试把手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2682" y="1752600"/>
            <a:ext cx="103939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1) _________ (handle) well, trucks of this kind are popular with farmers in rural areas.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Tea in China was traditionally drunk from cups without _________ (handle).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5196" y="2296885"/>
            <a:ext cx="192713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Handling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13167" y="4082143"/>
            <a:ext cx="152958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handles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2682" y="1705099"/>
            <a:ext cx="10393936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写出下面句子中画线单词的词性及释义。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1) Tom turned the </a:t>
            </a:r>
            <a:r>
              <a:rPr lang="en-US" altLang="zh-CN" sz="3200" b="1" u="sng" dirty="0"/>
              <a:t>handle</a:t>
            </a:r>
            <a:r>
              <a:rPr lang="en-US" altLang="zh-CN" sz="3200" b="1" dirty="0"/>
              <a:t> and slowly opened the door. ________ ________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2) Some people are brilliant with computers, but have no idea how to </a:t>
            </a:r>
            <a:r>
              <a:rPr lang="en-US" altLang="zh-CN" sz="3200" b="1" u="sng" dirty="0"/>
              <a:t>handle</a:t>
            </a:r>
            <a:r>
              <a:rPr lang="en-US" altLang="zh-CN" sz="3200" b="1" dirty="0"/>
              <a:t> other people. ________ ________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3) Can you </a:t>
            </a:r>
            <a:r>
              <a:rPr lang="en-US" altLang="zh-CN" sz="3200" b="1" u="sng" dirty="0"/>
              <a:t>handle</a:t>
            </a:r>
            <a:r>
              <a:rPr lang="en-US" altLang="zh-CN" sz="3200" b="1" dirty="0"/>
              <a:t> my car? ________ ________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848783" y="2840794"/>
            <a:ext cx="3103227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defRPr>
            </a:lvl1pPr>
          </a:lstStyle>
          <a:p>
            <a:r>
              <a:rPr lang="en-US" altLang="zh-CN" i="1" dirty="0"/>
              <a:t>n.</a:t>
            </a:r>
            <a:r>
              <a:rPr lang="en-US" altLang="zh-CN" dirty="0"/>
              <a:t>              </a:t>
            </a:r>
            <a:r>
              <a:rPr lang="zh-CN" altLang="en-US" dirty="0"/>
              <a:t>把手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08316" y="3959430"/>
            <a:ext cx="3103227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defRPr>
            </a:lvl1pPr>
          </a:lstStyle>
          <a:p>
            <a:r>
              <a:rPr lang="en-US" altLang="zh-CN" i="1" dirty="0"/>
              <a:t>v.             </a:t>
            </a:r>
            <a:r>
              <a:rPr lang="zh-CN" altLang="en-US" dirty="0"/>
              <a:t>对待  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89650" y="4651224"/>
            <a:ext cx="3103227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defRPr>
            </a:lvl1pPr>
          </a:lstStyle>
          <a:p>
            <a:r>
              <a:rPr lang="en-US" altLang="zh-CN" i="1" dirty="0"/>
              <a:t>v.</a:t>
            </a:r>
            <a:r>
              <a:rPr lang="en-US" altLang="zh-CN" dirty="0"/>
              <a:t>              </a:t>
            </a:r>
            <a:r>
              <a:rPr lang="zh-CN" altLang="en-US" dirty="0"/>
              <a:t>操作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136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make an unfair and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cruel remark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发表有失公允的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刻薄评论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remark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</a:t>
            </a:r>
            <a:r>
              <a:rPr lang="en-US" altLang="zh-CN" sz="3200" dirty="0">
                <a:solidFill>
                  <a:schemeClr val="bg2"/>
                </a:solidFill>
                <a:sym typeface="+mn-ea"/>
              </a:rPr>
              <a:t>  </a:t>
            </a:r>
            <a:r>
              <a:rPr lang="en-US" altLang="zh-CN" sz="3200" b="1" i="1" dirty="0">
                <a:solidFill>
                  <a:srgbClr val="0000FF"/>
                </a:solidFill>
                <a:sym typeface="+mn-ea"/>
              </a:rPr>
              <a:t>comment</a:t>
            </a:r>
            <a:r>
              <a:rPr lang="en-US" altLang="zh-CN" sz="3200" b="1" i="1" dirty="0">
                <a:sym typeface="+mn-ea"/>
              </a:rPr>
              <a:t>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谈论，言论</a:t>
            </a:r>
          </a:p>
          <a:p>
            <a:pPr indent="-107823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made a number of rude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remarks</a:t>
            </a:r>
            <a:r>
              <a:rPr lang="en-US" altLang="zh-CN" sz="3200" b="1" dirty="0"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about </a:t>
            </a:r>
            <a:r>
              <a:rPr lang="en-US" altLang="zh-CN" sz="3200" b="1" dirty="0">
                <a:sym typeface="+mn-ea"/>
              </a:rPr>
              <a:t>the food.</a:t>
            </a:r>
            <a:endParaRPr lang="en-US" altLang="zh-CN" sz="3200" b="1" dirty="0"/>
          </a:p>
          <a:p>
            <a:pPr indent="-1078230" fontAlgn="auto">
              <a:lnSpc>
                <a:spcPct val="120000"/>
              </a:lnSpc>
            </a:pPr>
            <a:r>
              <a:rPr lang="zh-CN" altLang="en-US" sz="3200" b="1" dirty="0">
                <a:sym typeface="+mn-ea"/>
              </a:rPr>
              <a:t>关于这里的食物他说了许多无礼的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评论</a:t>
            </a:r>
            <a:r>
              <a:rPr lang="zh-CN" altLang="en-US" sz="3200" b="1" dirty="0">
                <a:sym typeface="+mn-ea"/>
              </a:rPr>
              <a:t>。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What exactly did you mean by that last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remark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?</a:t>
            </a: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你最后那句话究竟是什么意思？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136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remark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.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说起，谈论，评论</a:t>
            </a:r>
            <a:endParaRPr lang="en-US" altLang="zh-CN" sz="3200" b="1" dirty="0"/>
          </a:p>
          <a:p>
            <a:pPr marL="355600" indent="-3556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</a:rPr>
              <a:t>remark +</a:t>
            </a:r>
            <a:r>
              <a:rPr lang="zh-CN" altLang="en-US" sz="3200" b="1" dirty="0">
                <a:solidFill>
                  <a:srgbClr val="FF0000"/>
                </a:solidFill>
              </a:rPr>
              <a:t>从句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marL="355600" indent="-35560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</a:rPr>
              <a:t>remark on / upon </a:t>
            </a:r>
            <a:r>
              <a:rPr lang="en-US" altLang="zh-CN" sz="3200" b="1" dirty="0" err="1">
                <a:solidFill>
                  <a:srgbClr val="FF0000"/>
                </a:solidFill>
              </a:rPr>
              <a:t>sth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The judges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remarked on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the high standard of entries for the competition.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众评委说参赛作品水准很高。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'It's much colder than yesterday,'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remarked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casually.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“今天比昨天冷多了。” 他漫不经心地说。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remarked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how tired I was looking.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她说我看上去显得特别累。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Critics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remarked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the play was not original.</a:t>
            </a:r>
            <a:endParaRPr lang="zh-CN" altLang="en-US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815180" y="1246819"/>
            <a:ext cx="10070084" cy="3637919"/>
            <a:chOff x="705997" y="2939142"/>
            <a:chExt cx="10070084" cy="3637919"/>
          </a:xfrm>
        </p:grpSpPr>
        <p:sp>
          <p:nvSpPr>
            <p:cNvPr id="4" name="文本框 3"/>
            <p:cNvSpPr txBox="1"/>
            <p:nvPr/>
          </p:nvSpPr>
          <p:spPr>
            <a:xfrm>
              <a:off x="2023967" y="2939142"/>
              <a:ext cx="8752114" cy="3637919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marL="450850" indent="-45085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remarkable </a:t>
              </a:r>
              <a:r>
                <a:rPr lang="en-US" altLang="zh-CN" sz="3200" b="1" i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adj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. </a:t>
              </a:r>
              <a:r>
                <a:rPr lang="zh-CN" altLang="en-US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非凡的；奇异的；显著的；引人注目的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     a remarkable achievement/ career/ talent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    </a:t>
              </a:r>
              <a:r>
                <a:rPr lang="zh-CN" altLang="en-US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非凡的成就</a:t>
              </a:r>
              <a:r>
                <a:rPr lang="en-US" altLang="zh-CN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/</a:t>
              </a:r>
              <a:r>
                <a:rPr lang="zh-CN" altLang="en-US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事业</a:t>
              </a:r>
              <a:r>
                <a:rPr lang="en-US" altLang="zh-CN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/</a:t>
              </a:r>
              <a:r>
                <a:rPr lang="zh-CN" altLang="en-US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才能</a:t>
              </a:r>
            </a:p>
            <a:p>
              <a:pPr marL="457200" indent="-457200">
                <a:lnSpc>
                  <a:spcPct val="120000"/>
                </a:lnSpc>
                <a:buFont typeface="Arial" panose="020B0604020202090204" pitchFamily="34" charset="0"/>
                <a:buChar char="•"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remarkably </a:t>
              </a:r>
              <a:r>
                <a:rPr lang="en-US" altLang="zh-CN" sz="3200" b="1" i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adv. </a:t>
              </a:r>
              <a:r>
                <a:rPr lang="zh-CN" altLang="en-US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不寻常地；惊人的</a:t>
              </a:r>
              <a:endPara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     remarkably successful </a:t>
              </a:r>
              <a:r>
                <a:rPr lang="zh-CN" altLang="en-US" sz="3200" b="1" dirty="0">
                  <a:latin typeface="Times New Roman" panose="02020503050405090304" charset="0"/>
                  <a:ea typeface="宋体" pitchFamily="2" charset="-122"/>
                  <a:cs typeface="Times New Roman" panose="02020503050405090304" charset="0"/>
                </a:rPr>
                <a:t>非常成功</a:t>
              </a:r>
            </a:p>
          </p:txBody>
        </p:sp>
        <p:pic>
          <p:nvPicPr>
            <p:cNvPr id="9" name="图片 8"/>
            <p:cNvPicPr/>
            <p:nvPr/>
          </p:nvPicPr>
          <p:blipFill>
            <a:blip r:embed="rId2"/>
            <a:srcRect l="5625" t="7821" r="6250" b="8939"/>
            <a:stretch>
              <a:fillRect/>
            </a:stretch>
          </p:blipFill>
          <p:spPr>
            <a:xfrm>
              <a:off x="705997" y="4311553"/>
              <a:ext cx="1137113" cy="60477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3401" y="446315"/>
            <a:ext cx="10940143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【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语境应用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】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单句语法填空。</a:t>
            </a:r>
            <a:endParaRPr lang="en-US" altLang="zh-CN" sz="3000" b="1" dirty="0">
              <a:solidFill>
                <a:srgbClr val="0000FF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1) Her remarks _________ the employment question led to a heated discussion.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2) A remark _________ </a:t>
            </a:r>
            <a:r>
              <a:rPr lang="en-US" altLang="zh-CN" sz="3000" b="1" i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Analects of Confucius </a:t>
            </a: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can best express my feeling right now.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3) </a:t>
            </a:r>
            <a:r>
              <a:rPr lang="en-US" altLang="zh-CN" sz="3000" b="1" dirty="0" err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Dr</a:t>
            </a: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Johnson once __________ (remark) that “when a man is tired of London, he is tired of life.”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5) It turns out that the cats were __________ (remarkable) smart about what would happen when a container was tipped over.</a:t>
            </a:r>
            <a:endParaRPr lang="zh-CN" altLang="en-US" sz="30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8131" y="969010"/>
            <a:ext cx="121031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about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58143" y="2035629"/>
            <a:ext cx="1599605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by/from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20886" y="3155727"/>
            <a:ext cx="1803186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remarked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77469" y="4278716"/>
            <a:ext cx="2123787" cy="597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remarkably</a:t>
            </a:r>
            <a:endParaRPr lang="zh-CN" altLang="en-US" sz="30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547" y="430786"/>
            <a:ext cx="10393936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根据汉语意思补全下面句子（每空一词）。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1) It would be rude to ________ ________ ________ ________ (</a:t>
            </a:r>
            <a:r>
              <a:rPr lang="zh-CN" altLang="en-US" sz="3200" b="1" dirty="0"/>
              <a:t>评论她的发型</a:t>
            </a:r>
            <a:r>
              <a:rPr lang="en-US" altLang="zh-CN" sz="3200" b="1" dirty="0"/>
              <a:t>).</a:t>
            </a:r>
            <a:endParaRPr lang="zh-CN" altLang="en-US" sz="3200" b="1" dirty="0"/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2) I didn’t like those who kept ________ ________ ________ ________ (</a:t>
            </a:r>
            <a:r>
              <a:rPr lang="zh-CN" altLang="en-US" sz="3200" b="1" dirty="0"/>
              <a:t>评论我们</a:t>
            </a:r>
            <a:r>
              <a:rPr lang="en-US" altLang="zh-CN" sz="3200" b="1" dirty="0"/>
              <a:t>).</a:t>
            </a:r>
            <a:endParaRPr lang="zh-CN" altLang="en-US" sz="3200" b="1" dirty="0"/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3) As we flew home over Britain, both of us ______ ______ green everything here looked.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4) </a:t>
            </a:r>
            <a:r>
              <a:rPr lang="zh-CN" altLang="en-US" sz="3200" b="1" dirty="0"/>
              <a:t>有几次老师说起过那个男孩的进步。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On several occasions the teacher ________ ______ _____ ______ ____________.</a:t>
            </a:r>
            <a:endParaRPr lang="en-US" altLang="zh-CN" sz="32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362297" y="1053807"/>
            <a:ext cx="4552017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defRPr>
            </a:lvl1pPr>
          </a:lstStyle>
          <a:p>
            <a:r>
              <a:rPr lang="en-US" altLang="zh-CN" dirty="0"/>
              <a:t> remark   on / upon   her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997686" y="2162799"/>
            <a:ext cx="3930086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defRPr>
            </a:lvl1pPr>
          </a:lstStyle>
          <a:p>
            <a:r>
              <a:rPr lang="en-US" altLang="zh-CN" dirty="0"/>
              <a:t>making   remarks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145660" y="3323332"/>
            <a:ext cx="7275521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defRPr>
            </a:lvl1pPr>
          </a:lstStyle>
          <a:p>
            <a:r>
              <a:rPr lang="en-US" altLang="zh-CN" dirty="0"/>
              <a:t>remarked how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76887" y="1592258"/>
            <a:ext cx="4552017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defRPr>
            </a:lvl1pPr>
          </a:lstStyle>
          <a:p>
            <a:r>
              <a:rPr lang="en-US" altLang="zh-CN" dirty="0"/>
              <a:t>hairstyle 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76302" y="2753730"/>
            <a:ext cx="3276945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200" b="1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defRPr>
            </a:lvl1pPr>
          </a:lstStyle>
          <a:p>
            <a:r>
              <a:rPr lang="en-US" altLang="zh-CN" dirty="0"/>
              <a:t>about           us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84225" y="5172075"/>
            <a:ext cx="1174559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lvl="0" indent="457200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                                                  remarked   on        the    </a:t>
            </a:r>
          </a:p>
          <a:p>
            <a:pPr marL="0" lvl="0" indent="457200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  <a:sym typeface="+mn-ea"/>
              </a:rPr>
              <a:t>boy’s    improvement.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  <p:bldP spid="4" grpId="0"/>
      <p:bldP spid="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136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When I told you that “Let’s roll”, you shouldn’t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take it literally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从字面上来理解某事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 literal translation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直译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literally 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jumped out of my skin. 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我简直吓了一大跳。</a:t>
            </a:r>
            <a:endParaRPr lang="en-US" altLang="zh-CN" sz="3200" b="1" dirty="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(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用于加强语气</a:t>
            </a:r>
            <a:r>
              <a:rPr lang="en-US" altLang="zh-CN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)，</a:t>
            </a:r>
            <a:r>
              <a:rPr lang="zh-CN" altLang="en-US" sz="3200" b="1" dirty="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并非字面意思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ZiYWZlYTIzNGZiMjFhNTBkNTdkY2IwNzZiNDZh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高中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3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4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5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6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7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8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ppt/theme/themeOverride9.xml><?xml version="1.0" encoding="utf-8"?>
<a:themeOverride xmlns:a="http://schemas.openxmlformats.org/drawingml/2006/main">
  <a:clrScheme name="高中编辑部">
    <a:dk1>
      <a:srgbClr val="000000"/>
    </a:dk1>
    <a:lt1>
      <a:srgbClr val="FFFFFF"/>
    </a:lt1>
    <a:dk2>
      <a:srgbClr val="E4002A"/>
    </a:dk2>
    <a:lt2>
      <a:srgbClr val="2419FF"/>
    </a:lt2>
    <a:accent1>
      <a:srgbClr val="F8C083"/>
    </a:accent1>
    <a:accent2>
      <a:srgbClr val="2C99FE"/>
    </a:accent2>
    <a:accent3>
      <a:srgbClr val="C788EA"/>
    </a:accent3>
    <a:accent4>
      <a:srgbClr val="FE824B"/>
    </a:accent4>
    <a:accent5>
      <a:srgbClr val="F5DAE9"/>
    </a:accent5>
    <a:accent6>
      <a:srgbClr val="96DD9A"/>
    </a:accent6>
    <a:hlink>
      <a:srgbClr val="2419FF"/>
    </a:hlink>
    <a:folHlink>
      <a:srgbClr val="0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2171</Words>
  <Application>Microsoft Macintosh PowerPoint</Application>
  <PresentationFormat>Widescreen</PresentationFormat>
  <Paragraphs>209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宋体</vt:lpstr>
      <vt:lpstr>Times New Roman Bold</vt:lpstr>
      <vt:lpstr>Times New Roman Bold Italic</vt:lpstr>
      <vt:lpstr>Arial</vt:lpstr>
      <vt:lpstr>Calibri</vt:lpstr>
      <vt:lpstr>Times New Roman</vt:lpstr>
      <vt:lpstr>高中课件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44</cp:revision>
  <dcterms:created xsi:type="dcterms:W3CDTF">2024-10-29T03:13:52Z</dcterms:created>
  <dcterms:modified xsi:type="dcterms:W3CDTF">2026-07-23T01:05:43Z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1033-6.11.0.8885</vt:lpwstr>
  </property>
  <property fmtid="{D5CDD505-2E9C-101B-9397-08002B2CF9AE}" pid="3" name="ICV">
    <vt:lpwstr>971DB4738E714565912146B6221423E7</vt:lpwstr>
  </property>
</Properties>
</file>