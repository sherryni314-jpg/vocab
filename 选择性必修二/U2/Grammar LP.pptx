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78" r:id="rId2"/>
    <p:sldId id="334" r:id="rId3"/>
    <p:sldId id="319" r:id="rId4"/>
    <p:sldId id="345" r:id="rId5"/>
    <p:sldId id="346" r:id="rId6"/>
    <p:sldId id="347" r:id="rId7"/>
    <p:sldId id="401" r:id="rId8"/>
    <p:sldId id="348" r:id="rId9"/>
    <p:sldId id="350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FF99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3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set strict limits on sth </a:t>
            </a:r>
            <a:r>
              <a:rPr lang="zh-CN" altLang="en-US"/>
              <a:t>对……做出了严格的限定</a:t>
            </a:r>
          </a:p>
          <a:p>
            <a:r>
              <a:rPr lang="zh-CN" altLang="en-US"/>
              <a:t>prize draw</a:t>
            </a:r>
            <a:r>
              <a:rPr lang="en-US" altLang="zh-CN"/>
              <a:t> </a:t>
            </a:r>
            <a:r>
              <a:rPr lang="zh-CN" altLang="en-US"/>
              <a:t>抽奖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11586" y="280263"/>
            <a:ext cx="19412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/>
              <a:t>高中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3060" y="734060"/>
            <a:ext cx="1183830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ran my race </a:t>
            </a:r>
            <a:r>
              <a:rPr lang="en-US" altLang="zh-CN" sz="3200" b="1" dirty="0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relaxed and confident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even though my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were being tested like never before.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n./v.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界限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boundary, maximum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；限制</a:t>
            </a:r>
          </a:p>
          <a:p>
            <a:pPr marL="457200" lvl="1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对……设置限额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57200" lvl="1" indent="0" fontAlgn="auto"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是有限制的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57200" lvl="1" indent="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57200" lvl="1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在……限制内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  <a:p>
            <a:pPr marL="457200" lvl="1" indent="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1"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1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仅限于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83210" y="147"/>
            <a:ext cx="6093500" cy="626710"/>
          </a:xfrm>
          <a:prstGeom prst="wedgeRectCallout">
            <a:avLst>
              <a:gd name="adj1" fmla="val -21571"/>
              <a:gd name="adj2" fmla="val 93594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在句中作状语，描述主语的状态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957320" y="2553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set/put/impose a limit 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300220" y="3136900"/>
            <a:ext cx="765810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45745" algn="l" fontAlgn="auto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There is no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limit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 ___ 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how much fresh fruit you can eat in a day.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95845" y="3136900"/>
            <a:ext cx="13360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556000" y="4244340"/>
            <a:ext cx="840232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45745" algn="l" fontAlgn="auto"/>
            <a:r>
              <a:rPr lang="en-US" altLang="zh-CN" sz="3200" b="1" i="0">
                <a:solidFill>
                  <a:srgbClr val="00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She has to work _________________ a fairly tight budget.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6569075" y="4213225"/>
            <a:ext cx="35998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within the limits of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-apple-system"/>
              <a:cs typeface="Times New Roman Bold" panose="0202050305040509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563360" y="4704080"/>
            <a:ext cx="539432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(within one’s limits</a:t>
            </a: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没有限制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without limit)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-apple-system"/>
              <a:cs typeface="Times New Roman Bold" panose="0202050305040509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305685" y="5873115"/>
            <a:ext cx="897445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-245745" algn="l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0">
                <a:solidFill>
                  <a:srgbClr val="00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Entry to this prize draw ____________ UK residents.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6750685" y="5873115"/>
            <a:ext cx="26257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  <a:sym typeface="+mn-ea"/>
              </a:rPr>
              <a:t>is limited to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-apple-system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2" grpId="0"/>
      <p:bldP spid="2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02590" y="2504440"/>
            <a:ext cx="928560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变化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有限的，不多的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limitless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无限的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限制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restriction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5275" y="238760"/>
            <a:ext cx="1189609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时间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速度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年龄限制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超出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低于限度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304030" y="9277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time/speed/age limit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304030" y="15113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above/over/below a limit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32080" y="64770"/>
            <a:ext cx="1184910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在该城镇范围内，你可以去任何你想去的地方。  </a:t>
            </a: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can go wherever you want ________________________.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我认为我们应该严格限制在这个项目上的时间投入。</a:t>
            </a:r>
          </a:p>
          <a:p>
            <a:pPr marL="4508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think we ought to _________________ the amount of time we spend on the project.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教英语不应该仅仅局限于单词和语法。</a:t>
            </a:r>
            <a:b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teaching of English _____________________ words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and grammar. 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They may only have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_______mount of time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get their points across.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有限的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6467898" y="1186292"/>
            <a:ext cx="4204997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within the town limits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23697" y="2351913"/>
            <a:ext cx="3658374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a strict limit on </a:t>
            </a:r>
          </a:p>
        </p:txBody>
      </p:sp>
      <p:sp>
        <p:nvSpPr>
          <p:cNvPr id="10" name="矩形 9"/>
          <p:cNvSpPr/>
          <p:nvPr/>
        </p:nvSpPr>
        <p:spPr>
          <a:xfrm>
            <a:off x="4911845" y="4150034"/>
            <a:ext cx="4307589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should not be limited to</a:t>
            </a:r>
          </a:p>
        </p:txBody>
      </p:sp>
      <p:sp>
        <p:nvSpPr>
          <p:cNvPr id="2" name="矩形 9"/>
          <p:cNvSpPr/>
          <p:nvPr>
            <p:custDataLst>
              <p:tags r:id="rId2"/>
            </p:custDataLst>
          </p:nvPr>
        </p:nvSpPr>
        <p:spPr>
          <a:xfrm>
            <a:off x="4476870" y="5334944"/>
            <a:ext cx="150368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limited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7243" y="1459749"/>
            <a:ext cx="110816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We were told …,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</a:t>
            </a:r>
            <a:r>
              <a:rPr lang="en-US" altLang="zh-CN" sz="3200" b="1" dirty="0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while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 didn’t feel that I had a strong </a:t>
            </a:r>
          </a:p>
          <a:p>
            <a:pPr marL="358775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constitution to run that far, I thought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next best thing </a:t>
            </a:r>
          </a:p>
          <a:p>
            <a:pPr marL="358775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would be to help those who could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7243" y="850351"/>
            <a:ext cx="3660547" cy="609398"/>
          </a:xfrm>
          <a:prstGeom prst="wedgeRectCallout">
            <a:avLst>
              <a:gd name="adj1" fmla="val 47403"/>
              <a:gd name="adj2" fmla="val 98073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连接的并列复合句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1141" y="850351"/>
            <a:ext cx="5265247" cy="559897"/>
          </a:xfrm>
          <a:prstGeom prst="wedgeRectCallout">
            <a:avLst>
              <a:gd name="adj1" fmla="val -34620"/>
              <a:gd name="adj2" fmla="val 89115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accent3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“虽然”，引导让步状语从句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97684" y="3036268"/>
            <a:ext cx="1919271" cy="559897"/>
          </a:xfrm>
          <a:prstGeom prst="wedgeRectCallout">
            <a:avLst>
              <a:gd name="adj1" fmla="val -5465"/>
              <a:gd name="adj2" fmla="val -67653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宾语从句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511188" y="3596165"/>
            <a:ext cx="4148919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707957" y="3817574"/>
            <a:ext cx="3259828" cy="609398"/>
          </a:xfrm>
          <a:prstGeom prst="wedgeRectCallout">
            <a:avLst>
              <a:gd name="adj1" fmla="val -17552"/>
              <a:gd name="adj2" fmla="val -7521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不定式短语作表语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13680" y="3094775"/>
            <a:ext cx="1846427" cy="565016"/>
          </a:xfrm>
          <a:prstGeom prst="roundRect">
            <a:avLst/>
          </a:prstGeom>
          <a:solidFill>
            <a:schemeClr val="accent1">
              <a:lumMod val="75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5485633" y="3816461"/>
            <a:ext cx="3696556" cy="609398"/>
          </a:xfrm>
          <a:prstGeom prst="wedgeRectCallout">
            <a:avLst>
              <a:gd name="adj1" fmla="val -32301"/>
              <a:gd name="adj2" fmla="val -7297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定语从句，修饰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those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4" name="左弧形箭头 13"/>
          <p:cNvSpPr/>
          <p:nvPr/>
        </p:nvSpPr>
        <p:spPr>
          <a:xfrm rot="5400000">
            <a:off x="4615054" y="2465618"/>
            <a:ext cx="397250" cy="110696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67164" y="4794247"/>
            <a:ext cx="5954552" cy="954107"/>
          </a:xfrm>
          <a:prstGeom prst="wedgeRectCallout">
            <a:avLst>
              <a:gd name="adj1" fmla="val -26105"/>
              <a:gd name="adj2" fmla="val -71005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定语从句承前省略了重复部分，补充完整为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who could run that far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4866" y="1517452"/>
            <a:ext cx="103739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5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Cathy and I waited patiently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until word spread </a:t>
            </a:r>
          </a:p>
          <a:p>
            <a:pPr marL="358775" indent="-358775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that the first runners would be arriving soon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本句是主从复合句。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42059" y="653246"/>
            <a:ext cx="6146590" cy="954107"/>
          </a:xfrm>
          <a:prstGeom prst="wedgeRectCallout">
            <a:avLst>
              <a:gd name="adj1" fmla="val -18343"/>
              <a:gd name="adj2" fmla="val 76813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until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引导的时间状语从句，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until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表示“直到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Times New Roman" panose="02020503050405090304" pitchFamily="18" charset="0"/>
              </a:rPr>
              <a:t>为止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”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78659" y="2389106"/>
            <a:ext cx="7878738" cy="565016"/>
          </a:xfrm>
          <a:prstGeom prst="roundRect">
            <a:avLst/>
          </a:prstGeom>
          <a:solidFill>
            <a:schemeClr val="accent1">
              <a:lumMod val="75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912427" y="3262545"/>
            <a:ext cx="6237794" cy="1126462"/>
          </a:xfrm>
          <a:prstGeom prst="wedgeRectCallout">
            <a:avLst>
              <a:gd name="adj1" fmla="val -32301"/>
              <a:gd name="adj2" fmla="val -72976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引导的同位语从句，解释说明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word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的具体内容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90043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constitution n.</a:t>
            </a:r>
          </a:p>
          <a:p>
            <a:pPr indent="-90043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the condition of a person’s body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身体素质</a:t>
            </a:r>
          </a:p>
          <a:p>
            <a:pPr indent="-90043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a healthy/strong/weak constitution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体质健康／强壮／虚弱</a:t>
            </a:r>
          </a:p>
          <a:p>
            <a:pPr indent="-90043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宪法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according to/under the constitution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根据宪法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Cathy and I quickly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water into the dups for them.</a:t>
            </a:r>
          </a:p>
          <a:p>
            <a:pPr indent="-27863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&amp; vi.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cause (a liquid) to flow from a container in a steady stream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倾倒，倒出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27863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                  2)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flow rapidly in a steady stream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涌流，倾泻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27863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                  3)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fall heavily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下大雨</a:t>
            </a:r>
          </a:p>
          <a:p>
            <a:pPr indent="-27863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I've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poured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cup of tea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you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sauce over the pasta.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Tears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poured down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his cheeks.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Thick black smoke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pouring out of the roof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rain continued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 down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People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been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pouring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into stadiums.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90043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692775" y="41300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course down/stream down</a:t>
            </a:r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7225030" y="58858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flood/crowd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4910" y="461275"/>
            <a:ext cx="11788403" cy="5406390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 out/open your heart to sb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向某人敞开心扉；倾诉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心里话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 out sth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毫无保留地表达感情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或思想等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poured my thoughts out on paper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an attempt to rationalize my feelings.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whole story then came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pouring out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 down 	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雨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倾盆而下；往下流</a:t>
            </a:r>
          </a:p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pout into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大量投资于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government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poured millions into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education system.</a:t>
            </a:r>
          </a:p>
          <a:p>
            <a:pPr marL="262255" indent="-26225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政府已在教育系统投入数百万。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113" y="408941"/>
            <a:ext cx="11451773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Pour the honey _______ the bowl and mix it thoroughly with the other ingredients.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Friends are those whom we can pour out our heart _______ when we’re sad.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The sweat was pouring _______ her face by the end of the race.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I was standing in the _________ (pour) rain for an hour waiting for my bus.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When the movie ended, the crowd poured _______ the street.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9744" y="996768"/>
            <a:ext cx="8675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91057" y="2183312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05400" y="3358969"/>
            <a:ext cx="114165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down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2589" y="4427311"/>
            <a:ext cx="157447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pouring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63973" y="5624014"/>
            <a:ext cx="8675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Macintosh PowerPoint</Application>
  <PresentationFormat>Widescreen</PresentationFormat>
  <Paragraphs>92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52</cp:revision>
  <dcterms:created xsi:type="dcterms:W3CDTF">2024-10-22T04:14:02Z</dcterms:created>
  <dcterms:modified xsi:type="dcterms:W3CDTF">2026-07-23T01:05:01Z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1033-6.11.0.8885</vt:lpwstr>
  </property>
  <property fmtid="{D5CDD505-2E9C-101B-9397-08002B2CF9AE}" pid="3" name="ICV">
    <vt:lpwstr>004289A35ACC46C6B972522A50299986</vt:lpwstr>
  </property>
</Properties>
</file>