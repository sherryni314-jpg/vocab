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2.xml" ContentType="application/vnd.openxmlformats-officedocument.presentationml.notesSlide+xml"/>
  <Override PartName="/ppt/tags/tag14.xml" ContentType="application/vnd.openxmlformats-officedocument.presentationml.tags+xml"/>
  <Override PartName="/ppt/notesSlides/notesSlide3.xml" ContentType="application/vnd.openxmlformats-officedocument.presentationml.notesSlide+xml"/>
  <Override PartName="/ppt/tags/tag15.xml" ContentType="application/vnd.openxmlformats-officedocument.presentationml.tags+xml"/>
  <Override PartName="/ppt/notesSlides/notesSlide4.xml" ContentType="application/vnd.openxmlformats-officedocument.presentationml.notesSlide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6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349" r:id="rId2"/>
    <p:sldId id="418" r:id="rId3"/>
    <p:sldId id="333" r:id="rId4"/>
    <p:sldId id="419" r:id="rId5"/>
    <p:sldId id="420" r:id="rId6"/>
    <p:sldId id="352" r:id="rId7"/>
    <p:sldId id="421" r:id="rId8"/>
    <p:sldId id="422" r:id="rId9"/>
    <p:sldId id="423" r:id="rId10"/>
    <p:sldId id="354" r:id="rId11"/>
    <p:sldId id="334" r:id="rId12"/>
    <p:sldId id="425" r:id="rId13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3" userDrawn="1">
          <p15:clr>
            <a:srgbClr val="A4A3A4"/>
          </p15:clr>
        </p15:guide>
        <p15:guide id="4" orient="horz" pos="703" userDrawn="1">
          <p15:clr>
            <a:srgbClr val="A4A3A4"/>
          </p15:clr>
        </p15:guide>
        <p15:guide id="6" orient="horz" pos="389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68B4"/>
    <a:srgbClr val="FFFFFF"/>
    <a:srgbClr val="D9D9D9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93" autoAdjust="0"/>
    <p:restoredTop sz="94660"/>
  </p:normalViewPr>
  <p:slideViewPr>
    <p:cSldViewPr snapToGrid="0" showGuides="1">
      <p:cViewPr varScale="1">
        <p:scale>
          <a:sx n="109" d="100"/>
          <a:sy n="109" d="100"/>
        </p:scale>
        <p:origin x="696" y="184"/>
      </p:cViewPr>
      <p:guideLst>
        <p:guide pos="416"/>
        <p:guide pos="7256"/>
        <p:guide orient="horz" pos="643"/>
        <p:guide orient="horz" pos="703"/>
        <p:guide orient="horz" pos="389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7/23/26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the sound of children's voices filled the air.One day a week her mother systematically cleaned and aired each room.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the sound of children's voices filled the air.</a:t>
            </a:r>
          </a:p>
          <a:p>
            <a:r>
              <a:rPr lang="en-US"/>
              <a:t>One day a week her mother systematically cleaned and aired each room.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权衡轻重的能力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权衡轻重的能力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权衡轻重的能力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权衡轻重的能力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9011586" y="280263"/>
            <a:ext cx="1941228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3800" b="1" dirty="0"/>
              <a:t>高中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章节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主题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Homewo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slideLayout" Target="../slideLayouts/slideLayout10.xml"/><Relationship Id="rId5" Type="http://schemas.openxmlformats.org/officeDocument/2006/relationships/tags" Target="../tags/tag7.xml"/><Relationship Id="rId4" Type="http://schemas.openxmlformats.org/officeDocument/2006/relationships/tags" Target="../tags/tag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7" Type="http://schemas.openxmlformats.org/officeDocument/2006/relationships/notesSlide" Target="../notesSlides/notesSlide2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slideLayout" Target="../slideLayouts/slideLayout10.xml"/><Relationship Id="rId5" Type="http://schemas.openxmlformats.org/officeDocument/2006/relationships/tags" Target="../tags/tag13.xml"/><Relationship Id="rId4" Type="http://schemas.openxmlformats.org/officeDocument/2006/relationships/tags" Target="../tags/tag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2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slideLayout" Target="../slideLayouts/slideLayout10.xml"/><Relationship Id="rId5" Type="http://schemas.openxmlformats.org/officeDocument/2006/relationships/tags" Target="../tags/tag25.xml"/><Relationship Id="rId4" Type="http://schemas.openxmlformats.org/officeDocument/2006/relationships/tags" Target="../tags/tag2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10"/>
          <p:cNvSpPr txBox="1"/>
          <p:nvPr/>
        </p:nvSpPr>
        <p:spPr>
          <a:xfrm>
            <a:off x="122555" y="231775"/>
            <a:ext cx="11715115" cy="3046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athletic awards </a:t>
            </a:r>
            <a:r>
              <a:rPr lang="zh-CN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体育奖项</a:t>
            </a:r>
          </a:p>
          <a:p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an athletic club/coach </a:t>
            </a:r>
            <a:r>
              <a:rPr lang="zh-CN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体育</a:t>
            </a:r>
            <a:r>
              <a:rPr lang="zh-CN" altLang="en-US" sz="3200" b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俱乐部／教练</a:t>
            </a:r>
            <a:endParaRPr lang="zh-CN" altLang="en-US" sz="3200" b="1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endParaRPr lang="en-US" altLang="zh-CN" sz="3200" b="1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r>
              <a:rPr lang="en-US" altLang="zh-CN" sz="3200" b="1" i="1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adj</a:t>
            </a: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.</a:t>
            </a: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</a:rPr>
              <a:t> </a:t>
            </a:r>
            <a:r>
              <a:rPr lang="en-US" altLang="zh-CN" sz="3200" b="1" i="1">
                <a:solidFill>
                  <a:schemeClr val="bg2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strong, fit and active </a:t>
            </a:r>
            <a:r>
              <a:rPr lang="zh-CN" altLang="en-US" sz="3200" b="1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健壮的</a:t>
            </a:r>
            <a:endParaRPr lang="en-US" altLang="zh-CN" sz="3200" b="1">
              <a:latin typeface="Times New Roman Bold" panose="02020503050405090304" charset="0"/>
              <a:cs typeface="Times New Roman Bold" panose="02020503050405090304" charset="0"/>
            </a:endParaRPr>
          </a:p>
          <a:p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be of athletic figure/build</a:t>
            </a: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</a:rPr>
              <a:t> </a:t>
            </a:r>
            <a:r>
              <a:rPr lang="zh-CN" altLang="en-US" sz="3200" b="1">
                <a:latin typeface="Times New Roman Regular" panose="02020503050405090304" charset="0"/>
                <a:cs typeface="Times New Roman Regular" panose="02020503050405090304" charset="0"/>
              </a:rPr>
              <a:t>健壮的体形</a:t>
            </a:r>
          </a:p>
          <a:p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a tall, slim athletic girl</a:t>
            </a:r>
            <a:r>
              <a:rPr lang="en-US" altLang="zh-CN" sz="3200"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  <a:r>
              <a:rPr lang="zh-CN" altLang="en-US" sz="3200" b="1">
                <a:latin typeface="Times New Roman Regular" panose="02020503050405090304" charset="0"/>
                <a:cs typeface="Times New Roman Regular" panose="02020503050405090304" charset="0"/>
              </a:rPr>
              <a:t>修长健美的姑娘</a:t>
            </a:r>
            <a:endParaRPr lang="zh-CN" altLang="en-US" sz="32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69265" y="492496"/>
            <a:ext cx="11436350" cy="1272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35877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We all know what it is like to want to win and most of us know what it is like to lose.</a:t>
            </a:r>
          </a:p>
        </p:txBody>
      </p:sp>
      <p:sp>
        <p:nvSpPr>
          <p:cNvPr id="2" name="椭圆 1"/>
          <p:cNvSpPr/>
          <p:nvPr/>
        </p:nvSpPr>
        <p:spPr>
          <a:xfrm>
            <a:off x="3745775" y="597908"/>
            <a:ext cx="250190" cy="516255"/>
          </a:xfrm>
          <a:prstGeom prst="ellipse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470275" y="-69710"/>
            <a:ext cx="2625725" cy="68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it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作</a:t>
            </a:r>
            <a:r>
              <a:rPr lang="zh-CN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形式主语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5223056" y="1158232"/>
            <a:ext cx="2521585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5758407" y="1087365"/>
            <a:ext cx="1875155" cy="626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真正主语</a:t>
            </a:r>
          </a:p>
        </p:txBody>
      </p:sp>
      <p:sp>
        <p:nvSpPr>
          <p:cNvPr id="7" name="椭圆 6"/>
          <p:cNvSpPr/>
          <p:nvPr/>
        </p:nvSpPr>
        <p:spPr>
          <a:xfrm>
            <a:off x="1460093" y="1197820"/>
            <a:ext cx="250190" cy="516255"/>
          </a:xfrm>
          <a:prstGeom prst="ellipse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21905" y="1775330"/>
            <a:ext cx="2625725" cy="68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it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作</a:t>
            </a:r>
            <a:r>
              <a:rPr lang="zh-CN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形式主语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2936150" y="1649664"/>
            <a:ext cx="1059815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3347630" y="1803607"/>
            <a:ext cx="1875155" cy="626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真正主语</a:t>
            </a:r>
          </a:p>
        </p:txBody>
      </p:sp>
      <p:sp>
        <p:nvSpPr>
          <p:cNvPr id="11" name="文本框 1"/>
          <p:cNvSpPr txBox="1"/>
          <p:nvPr>
            <p:custDataLst>
              <p:tags r:id="rId2"/>
            </p:custDataLst>
          </p:nvPr>
        </p:nvSpPr>
        <p:spPr>
          <a:xfrm>
            <a:off x="469265" y="2685959"/>
            <a:ext cx="11076033" cy="422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1) The doctor thought _____ would be good for you to have a holiday.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2) – I’ve read another book this year.</a:t>
            </a:r>
          </a:p>
          <a:p>
            <a:pPr marL="768350" indent="-76835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 – Well, maybe _____ is not how much you read but what you read that counts.</a:t>
            </a:r>
          </a:p>
          <a:p>
            <a:pPr marL="408305" indent="-4083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3) ____ is our belief that improvements in health care will lead to a stronger, more prosperous economy.</a:t>
            </a:r>
          </a:p>
        </p:txBody>
      </p:sp>
      <p:sp>
        <p:nvSpPr>
          <p:cNvPr id="13" name="文本框 2"/>
          <p:cNvSpPr txBox="1"/>
          <p:nvPr>
            <p:custDataLst>
              <p:tags r:id="rId3"/>
            </p:custDataLst>
          </p:nvPr>
        </p:nvSpPr>
        <p:spPr>
          <a:xfrm>
            <a:off x="4711156" y="2680618"/>
            <a:ext cx="500380" cy="631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it</a:t>
            </a:r>
          </a:p>
        </p:txBody>
      </p:sp>
      <p:sp>
        <p:nvSpPr>
          <p:cNvPr id="14" name="文本框 3"/>
          <p:cNvSpPr txBox="1"/>
          <p:nvPr>
            <p:custDataLst>
              <p:tags r:id="rId4"/>
            </p:custDataLst>
          </p:nvPr>
        </p:nvSpPr>
        <p:spPr>
          <a:xfrm>
            <a:off x="3682455" y="4428100"/>
            <a:ext cx="500380" cy="631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it</a:t>
            </a:r>
          </a:p>
        </p:txBody>
      </p:sp>
      <p:sp>
        <p:nvSpPr>
          <p:cNvPr id="15" name="文本框 4"/>
          <p:cNvSpPr txBox="1"/>
          <p:nvPr>
            <p:custDataLst>
              <p:tags r:id="rId5"/>
            </p:custDataLst>
          </p:nvPr>
        </p:nvSpPr>
        <p:spPr>
          <a:xfrm>
            <a:off x="1148352" y="5586004"/>
            <a:ext cx="500380" cy="631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It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4" grpId="0"/>
      <p:bldP spid="6" grpId="0"/>
      <p:bldP spid="7" grpId="0" bldLvl="0" animBg="1"/>
      <p:bldP spid="8" grpId="0"/>
      <p:bldP spid="10" grpId="0"/>
      <p:bldP spid="13" grpId="0"/>
      <p:bldP spid="14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32654" y="721152"/>
            <a:ext cx="10472057" cy="1863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35877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More often than not, winning has the victor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walking on air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, </a:t>
            </a:r>
            <a:r>
              <a:rPr lang="en-US" altLang="zh-CN" sz="3200" b="1" dirty="0">
                <a:solidFill>
                  <a:srgbClr val="C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lost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in the glory of the moment,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while the loser is left with a bitter taste and a feeling of failure.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784907" y="2146453"/>
            <a:ext cx="35921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8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并列连词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“……而，……</a:t>
            </a:r>
            <a:r>
              <a:rPr lang="zh-CN" altLang="en-US" sz="28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然而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”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831445" y="174909"/>
            <a:ext cx="7073266" cy="553998"/>
          </a:xfrm>
          <a:prstGeom prst="wedgeRectCallout">
            <a:avLst>
              <a:gd name="adj1" fmla="val 24403"/>
              <a:gd name="adj2" fmla="val 74357"/>
            </a:avLst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3000" b="1" dirty="0">
                <a:solidFill>
                  <a:schemeClr val="tx2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形容词作状语，描述</a:t>
            </a:r>
            <a:r>
              <a:rPr lang="en-US" altLang="zh-CN" sz="3000" b="1" dirty="0">
                <a:solidFill>
                  <a:schemeClr val="tx2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victor</a:t>
            </a:r>
            <a:r>
              <a:rPr lang="zh-CN" altLang="en-US" sz="3000" b="1" dirty="0">
                <a:solidFill>
                  <a:schemeClr val="tx2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当时的状态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6011733" y="1934936"/>
            <a:ext cx="869179" cy="97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917576" y="3302490"/>
            <a:ext cx="9183688" cy="127419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2514600" indent="-251460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walk on air  </a:t>
            </a:r>
            <a:r>
              <a:rPr lang="en-US" altLang="zh-CN" sz="3200" b="1" i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feel extreme happiness or elation</a:t>
            </a:r>
            <a:endParaRPr lang="en-US" altLang="zh-CN" sz="3200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2514600" indent="-251460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               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欢天喜地，得意扬扬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9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10"/>
          <p:cNvSpPr txBox="1"/>
          <p:nvPr/>
        </p:nvSpPr>
        <p:spPr>
          <a:xfrm>
            <a:off x="122555" y="231775"/>
            <a:ext cx="11715115" cy="60007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得知我自己被晋升为经理，我高兴坏了。</a:t>
            </a:r>
          </a:p>
          <a:p>
            <a:r>
              <a:rPr lang="en-US" altLang="zh-CN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Knowing that I was promoted to be manager, I </a:t>
            </a:r>
            <a:r>
              <a:rPr lang="en-US" altLang="zh-CN" sz="3200" b="1" u="sng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felt like walking on air</a:t>
            </a:r>
            <a:r>
              <a:rPr lang="en-US" altLang="zh-CN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. /I felt </a:t>
            </a:r>
            <a:r>
              <a:rPr lang="en-US" altLang="zh-CN" sz="3200" b="1" u="sng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I was walking on air</a:t>
            </a:r>
            <a:r>
              <a:rPr lang="en-US" altLang="zh-CN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.</a:t>
            </a:r>
          </a:p>
          <a:p>
            <a:r>
              <a:rPr lang="en-US" altLang="zh-CN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Are you </a:t>
            </a: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walking on air</a:t>
            </a:r>
            <a:r>
              <a:rPr lang="en-US" altLang="zh-CN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when you achieve good grades in this exam?</a:t>
            </a:r>
          </a:p>
          <a:p>
            <a:r>
              <a:rPr lang="en-US" altLang="zh-CN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There was a sense of excitement </a:t>
            </a:r>
            <a:r>
              <a:rPr lang="en-US" altLang="zh-CN" sz="3200" b="1" u="sng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in the air</a:t>
            </a:r>
            <a:r>
              <a:rPr lang="en-US" altLang="zh-CN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.</a:t>
            </a:r>
          </a:p>
          <a:p>
            <a:r>
              <a:rPr lang="en-US" altLang="zh-CN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Despite the cold outside, their happy faces </a:t>
            </a:r>
            <a:r>
              <a:rPr lang="en-US" altLang="zh-CN" sz="3200" b="1" u="sng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fill the air</a:t>
            </a:r>
            <a:r>
              <a:rPr lang="en-US" altLang="zh-CN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with warmth while merry laughter rings throughout the house.</a:t>
            </a:r>
          </a:p>
          <a:p>
            <a:endParaRPr lang="en-US" altLang="zh-CN" sz="3200" b="1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r>
              <a:rPr lang="en-US" altLang="zh-CN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The students’ travel plans for the summer holiday are still </a:t>
            </a:r>
            <a:r>
              <a:rPr lang="en-US" altLang="zh-CN" sz="3200" b="1" u="sng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up in the air</a:t>
            </a:r>
            <a:r>
              <a:rPr lang="en-US" altLang="zh-CN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.</a:t>
            </a:r>
            <a:endParaRPr lang="zh-CN" altLang="en-US" sz="3200" b="1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r>
              <a:rPr lang="en-US" altLang="zh-CN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The programme will be back </a:t>
            </a:r>
            <a:r>
              <a:rPr lang="en-US" altLang="zh-CN" sz="3200" b="1" u="sng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on air</a:t>
            </a:r>
            <a:r>
              <a:rPr lang="en-US" altLang="zh-CN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tomorrow at 7. 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7592060" y="2660650"/>
            <a:ext cx="363791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可感觉到，传播中</a:t>
            </a:r>
            <a:endParaRPr lang="zh-CN" altLang="en-US" sz="3200" b="1" dirty="0"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8932545" y="3611880"/>
            <a:ext cx="363791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弥漫在空气中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1581785" y="508063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</a:t>
            </a:r>
            <a:r>
              <a:rPr lang="zh-CN" altLang="en-US" sz="3200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悬而未决</a:t>
            </a:r>
            <a:endParaRPr lang="zh-CN" altLang="en-US" sz="3200" b="1" dirty="0"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5046980" y="6076950"/>
            <a:ext cx="209867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正在播送</a:t>
            </a:r>
            <a:endParaRPr lang="zh-CN" altLang="en-US" sz="3200" b="1" dirty="0"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  <p:bldP spid="4" grpId="0"/>
      <p:bldP spid="4" grpId="1"/>
      <p:bldP spid="5" grpId="0"/>
      <p:bldP spid="5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10"/>
          <p:cNvSpPr txBox="1"/>
          <p:nvPr/>
        </p:nvSpPr>
        <p:spPr>
          <a:xfrm>
            <a:off x="122555" y="231775"/>
            <a:ext cx="11715115" cy="2553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One day a week her mother systematically cleaned and </a:t>
            </a:r>
            <a:r>
              <a:rPr lang="zh-CN" alt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aired </a:t>
            </a:r>
            <a:r>
              <a:rPr lang="zh-CN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each room.</a:t>
            </a:r>
          </a:p>
          <a:p>
            <a:endParaRPr lang="zh-CN" altLang="en-US" sz="3200" b="1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r>
              <a:rPr lang="zh-CN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Doctors like to project an </a:t>
            </a:r>
            <a:r>
              <a:rPr lang="zh-CN" alt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air</a:t>
            </a:r>
            <a:r>
              <a:rPr lang="zh-CN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of authority when making their clinical decisions.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9319895" y="724535"/>
            <a:ext cx="363791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通风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4277360" y="2188845"/>
            <a:ext cx="517715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神态；感觉；总体印象</a:t>
            </a:r>
          </a:p>
        </p:txBody>
      </p:sp>
      <p:sp>
        <p:nvSpPr>
          <p:cNvPr id="6" name="文本框 1"/>
          <p:cNvSpPr txBox="1"/>
          <p:nvPr/>
        </p:nvSpPr>
        <p:spPr>
          <a:xfrm>
            <a:off x="280942" y="3004911"/>
            <a:ext cx="11432721" cy="363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77190" indent="-377190"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单句语法填空。</a:t>
            </a:r>
            <a:endParaRPr lang="en-US" altLang="zh-CN" sz="3200" b="1" dirty="0">
              <a:solidFill>
                <a:srgbClr val="0000FF"/>
              </a:solidFill>
              <a:latin typeface="宋体" pitchFamily="2" charset="-122"/>
              <a:ea typeface="宋体" pitchFamily="2" charset="-122"/>
              <a:cs typeface="Times New Roman" panose="02020503050405090304" pitchFamily="18" charset="0"/>
            </a:endParaRPr>
          </a:p>
          <a:p>
            <a:pPr marL="377190" indent="-37719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Having accepted the order, he walked __________ air.</a:t>
            </a:r>
          </a:p>
          <a:p>
            <a:pPr marL="377190" indent="-37719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She walked away and left the question hanging ______ the air.</a:t>
            </a:r>
          </a:p>
          <a:p>
            <a:pPr marL="377190" indent="-37719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3) let’s have a rest now. we’ll be _________ air in three minutes.</a:t>
            </a:r>
          </a:p>
          <a:p>
            <a:pPr marL="377190" indent="-37719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4) Things are still ________ in the air and we’re not sure if our families can make ti on the day we wanted.</a:t>
            </a:r>
          </a:p>
        </p:txBody>
      </p:sp>
      <p:sp>
        <p:nvSpPr>
          <p:cNvPr id="7" name="文本框 5"/>
          <p:cNvSpPr txBox="1"/>
          <p:nvPr>
            <p:custDataLst>
              <p:tags r:id="rId2"/>
            </p:custDataLst>
          </p:nvPr>
        </p:nvSpPr>
        <p:spPr>
          <a:xfrm>
            <a:off x="8273777" y="3572601"/>
            <a:ext cx="617477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on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8" name="文本框 6"/>
          <p:cNvSpPr txBox="1"/>
          <p:nvPr>
            <p:custDataLst>
              <p:tags r:id="rId3"/>
            </p:custDataLst>
          </p:nvPr>
        </p:nvSpPr>
        <p:spPr>
          <a:xfrm>
            <a:off x="9454787" y="4149067"/>
            <a:ext cx="526106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in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9" name="文本框 7"/>
          <p:cNvSpPr txBox="1"/>
          <p:nvPr>
            <p:custDataLst>
              <p:tags r:id="rId4"/>
            </p:custDataLst>
          </p:nvPr>
        </p:nvSpPr>
        <p:spPr>
          <a:xfrm>
            <a:off x="6368778" y="4780915"/>
            <a:ext cx="617477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on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10" name="文本框 8"/>
          <p:cNvSpPr txBox="1"/>
          <p:nvPr>
            <p:custDataLst>
              <p:tags r:id="rId5"/>
            </p:custDataLst>
          </p:nvPr>
        </p:nvSpPr>
        <p:spPr>
          <a:xfrm>
            <a:off x="3963036" y="5292543"/>
            <a:ext cx="639919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up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  <p:bldP spid="6" grpId="0"/>
      <p:bldP spid="6" grpId="1"/>
      <p:bldP spid="7" grpId="0"/>
      <p:bldP spid="8" grpId="0"/>
      <p:bldP spid="9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25095" y="142240"/>
            <a:ext cx="11972925" cy="1272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35877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Almost nobody likes to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come second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and sometimes it is difficult to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keep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everything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 perspective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25095" y="1414780"/>
            <a:ext cx="11844655" cy="24536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3951605" indent="-395160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keep... in perspective   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judge the importance of something correctly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正确客观地看待，分轻重缓急</a:t>
            </a:r>
          </a:p>
          <a:p>
            <a:pPr marL="3951605" indent="-395160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keep ... out of perspective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没有客观</a:t>
            </a:r>
            <a:r>
              <a:rPr lang="zh-CN" altLang="en-US" sz="3200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+mn-ea"/>
              </a:rPr>
              <a:t>地看待</a:t>
            </a:r>
            <a:endParaRPr lang="zh-CN" altLang="en-US" sz="3200" b="1" dirty="0">
              <a:solidFill>
                <a:srgbClr val="FF0000"/>
              </a:solidFill>
              <a:latin typeface="宋体" pitchFamily="2" charset="-122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marL="3951605" indent="-395160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have a sense of perspective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明察事理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125095" y="4059555"/>
            <a:ext cx="11845290" cy="25533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200" b="1" dirty="0"/>
              <a:t>在通往成功的道路上</a:t>
            </a:r>
            <a:r>
              <a:rPr lang="zh-CN" altLang="en-US" sz="3200" b="1" dirty="0"/>
              <a:t>你</a:t>
            </a:r>
            <a:r>
              <a:rPr lang="en-US" sz="3200" b="1" dirty="0"/>
              <a:t>会遇到许多挑战，但必须正确看待</a:t>
            </a:r>
            <a:r>
              <a:rPr lang="zh-CN" altLang="en-US" sz="3200" b="1" dirty="0"/>
              <a:t>它们</a:t>
            </a:r>
            <a:r>
              <a:rPr lang="en-US" sz="3200" b="1" dirty="0"/>
              <a:t>。</a:t>
            </a:r>
          </a:p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You will encounter many challenges on your way to success, but they must be kept in perspective.</a:t>
            </a:r>
          </a:p>
          <a:p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记住要正确看待事物。</a:t>
            </a:r>
          </a:p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Remeber to keep things in perspective.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125095" y="145415"/>
            <a:ext cx="11845290" cy="20612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perspective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角度</a:t>
            </a:r>
          </a:p>
          <a:p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从我的角度</a:t>
            </a:r>
          </a:p>
          <a:p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提供更广阔的视角</a:t>
            </a:r>
          </a:p>
          <a:p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塑造我们的观点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4112260" y="638175"/>
            <a:ext cx="6096000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from my perspective</a:t>
            </a:r>
          </a:p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provide a wider perspective</a:t>
            </a:r>
          </a:p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shape our pespectives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0" y="0"/>
            <a:ext cx="12191365" cy="65855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celebrity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名人；名望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fame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indent="0" fontAlgn="auto"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achieved celebrity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as a sports commentator.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获得名望</a:t>
            </a:r>
          </a:p>
          <a:p>
            <a:pPr indent="0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celebrate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vt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.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</a:p>
          <a:p>
            <a:pPr indent="0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celebration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庆祝；庆典活动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indent="0" fontAlgn="auto"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a party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in celebration of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their fiftieth wedding anniversary</a:t>
            </a:r>
          </a:p>
          <a:p>
            <a:pPr indent="0" fontAlgn="auto"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庆祝他们金婚纪念的聚会</a:t>
            </a:r>
          </a:p>
          <a:p>
            <a:pPr indent="0" fontAlgn="auto">
              <a:lnSpc>
                <a:spcPct val="110000"/>
              </a:lnSpc>
            </a:pP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in + n. + of </a:t>
            </a:r>
          </a:p>
          <a:p>
            <a:pPr indent="0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in memory of / in honor of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纪念</a:t>
            </a:r>
          </a:p>
          <a:p>
            <a:pPr indent="0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in praise of 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表彰 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in favour of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支持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 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in defence of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为……辩护</a:t>
            </a:r>
            <a:endParaRPr lang="zh-CN" altLang="en-US" sz="3200" b="1" dirty="0">
              <a:solidFill>
                <a:srgbClr val="FF0000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  <a:sym typeface="+mn-ea"/>
            </a:endParaRPr>
          </a:p>
          <a:p>
            <a:pPr indent="0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celebrated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 adj.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著名的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 </a:t>
            </a:r>
            <a:r>
              <a:rPr lang="en-US" altLang="zh-CN" sz="3200" b="1" dirty="0">
                <a:solidFill>
                  <a:schemeClr val="bg2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greatly admired; renowned</a:t>
            </a:r>
          </a:p>
          <a:p>
            <a:pPr indent="0" fontAlgn="auto"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The muscian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is celebrated for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 her precise technique and emotional expressiveness.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125095" y="145415"/>
            <a:ext cx="11845290" cy="65855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110000"/>
              </a:lnSpc>
            </a:pPr>
            <a:r>
              <a:rPr sz="3200" b="1" u="sng" dirty="0">
                <a:solidFill>
                  <a:srgbClr val="FF0000"/>
                </a:solidFill>
                <a:ea typeface="宋体" pitchFamily="2" charset="-122"/>
                <a:sym typeface="+mn-ea"/>
              </a:rPr>
              <a:t>Whether</a:t>
            </a:r>
            <a:r>
              <a:rPr sz="3200" b="1" dirty="0">
                <a:solidFill>
                  <a:srgbClr val="FF0000"/>
                </a:solidFill>
                <a:ea typeface="宋体" pitchFamily="2" charset="-122"/>
                <a:sym typeface="+mn-ea"/>
              </a:rPr>
              <a:t> </a:t>
            </a:r>
            <a:r>
              <a:rPr sz="3200" b="1" dirty="0">
                <a:ea typeface="宋体" pitchFamily="2" charset="-122"/>
                <a:sym typeface="+mn-ea"/>
              </a:rPr>
              <a:t>you come first </a:t>
            </a:r>
            <a:r>
              <a:rPr sz="3200" b="1" u="sng" dirty="0">
                <a:solidFill>
                  <a:srgbClr val="FF0000"/>
                </a:solidFill>
                <a:ea typeface="宋体" pitchFamily="2" charset="-122"/>
                <a:sym typeface="+mn-ea"/>
              </a:rPr>
              <a:t>or</a:t>
            </a:r>
            <a:r>
              <a:rPr sz="3200" b="1" dirty="0">
                <a:solidFill>
                  <a:srgbClr val="FF0000"/>
                </a:solidFill>
                <a:ea typeface="宋体" pitchFamily="2" charset="-122"/>
                <a:sym typeface="+mn-ea"/>
              </a:rPr>
              <a:t> </a:t>
            </a:r>
            <a:r>
              <a:rPr sz="3200" b="1" dirty="0">
                <a:ea typeface="宋体" pitchFamily="2" charset="-122"/>
                <a:sym typeface="+mn-ea"/>
              </a:rPr>
              <a:t>last, it is</a:t>
            </a:r>
            <a:r>
              <a:rPr lang="en-US" sz="3200" b="1" dirty="0">
                <a:ea typeface="宋体" pitchFamily="2" charset="-122"/>
                <a:sym typeface="+mn-ea"/>
              </a:rPr>
              <a:t> i</a:t>
            </a:r>
            <a:r>
              <a:rPr sz="3200" b="1" dirty="0">
                <a:ea typeface="宋体" pitchFamily="2" charset="-122"/>
                <a:sym typeface="+mn-ea"/>
              </a:rPr>
              <a:t>mportant to remember that at any sporting event, you face two </a:t>
            </a:r>
            <a:r>
              <a:rPr sz="3200" b="1" dirty="0">
                <a:solidFill>
                  <a:srgbClr val="FF0000"/>
                </a:solidFill>
                <a:ea typeface="宋体" pitchFamily="2" charset="-122"/>
                <a:sym typeface="+mn-ea"/>
              </a:rPr>
              <a:t>opponent</a:t>
            </a:r>
            <a:r>
              <a:rPr lang="en-US" sz="3200" b="1" dirty="0">
                <a:solidFill>
                  <a:srgbClr val="FF0000"/>
                </a:solidFill>
                <a:ea typeface="宋体" pitchFamily="2" charset="-122"/>
                <a:sym typeface="+mn-ea"/>
              </a:rPr>
              <a:t>s</a:t>
            </a:r>
            <a:r>
              <a:rPr lang="en-US" sz="3200" b="1" dirty="0">
                <a:solidFill>
                  <a:schemeClr val="tx1"/>
                </a:solidFill>
                <a:ea typeface="宋体" pitchFamily="2" charset="-122"/>
                <a:sym typeface="+mn-ea"/>
              </a:rPr>
              <a:t>.</a:t>
            </a:r>
          </a:p>
          <a:p>
            <a:pPr indent="0" fontAlgn="auto"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ea typeface="宋体" pitchFamily="2" charset="-122"/>
                <a:sym typeface="+mn-ea"/>
              </a:rPr>
              <a:t>“不管是……还是……“，让步状语从句</a:t>
            </a:r>
          </a:p>
          <a:p>
            <a:pPr indent="0" fontAlgn="auto"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ea typeface="宋体" pitchFamily="2" charset="-122"/>
                <a:sym typeface="+mn-ea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ea typeface="宋体" pitchFamily="2" charset="-122"/>
                <a:sym typeface="+mn-ea"/>
              </a:rPr>
              <a:t>在这家商店你用现金还是用信用卡付款都无所谓。</a:t>
            </a:r>
          </a:p>
          <a:p>
            <a:pPr indent="0" fontAlgn="auto"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ea typeface="宋体" pitchFamily="2" charset="-122"/>
                <a:sym typeface="+mn-ea"/>
              </a:rPr>
              <a:t>It doesn’t matter </a:t>
            </a:r>
            <a:r>
              <a:rPr lang="en-US" altLang="zh-CN" sz="3200" b="1" dirty="0">
                <a:solidFill>
                  <a:srgbClr val="FF0000"/>
                </a:solidFill>
                <a:ea typeface="宋体" pitchFamily="2" charset="-122"/>
                <a:sym typeface="+mn-ea"/>
              </a:rPr>
              <a:t>whether </a:t>
            </a:r>
            <a:r>
              <a:rPr lang="en-US" altLang="zh-CN" sz="3200" b="1" dirty="0">
                <a:solidFill>
                  <a:schemeClr val="tx1"/>
                </a:solidFill>
                <a:ea typeface="宋体" pitchFamily="2" charset="-122"/>
                <a:sym typeface="+mn-ea"/>
              </a:rPr>
              <a:t>you pay by cash </a:t>
            </a:r>
            <a:r>
              <a:rPr lang="en-US" altLang="zh-CN" sz="3200" b="1" dirty="0">
                <a:solidFill>
                  <a:srgbClr val="FF0000"/>
                </a:solidFill>
                <a:ea typeface="宋体" pitchFamily="2" charset="-122"/>
                <a:sym typeface="+mn-ea"/>
              </a:rPr>
              <a:t>or </a:t>
            </a:r>
            <a:r>
              <a:rPr lang="en-US" altLang="zh-CN" sz="3200" b="1" dirty="0">
                <a:solidFill>
                  <a:schemeClr val="tx1"/>
                </a:solidFill>
                <a:ea typeface="宋体" pitchFamily="2" charset="-122"/>
                <a:sym typeface="+mn-ea"/>
              </a:rPr>
              <a:t>credit card in this store.</a:t>
            </a:r>
          </a:p>
          <a:p>
            <a:pPr indent="0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ea typeface="宋体" pitchFamily="2" charset="-122"/>
                <a:sym typeface="+mn-ea"/>
              </a:rPr>
              <a:t>opponent</a:t>
            </a:r>
            <a:r>
              <a:rPr lang="en-US" altLang="zh-CN" sz="3200" b="1" dirty="0">
                <a:solidFill>
                  <a:schemeClr val="tx1"/>
                </a:solidFill>
                <a:ea typeface="宋体" pitchFamily="2" charset="-122"/>
                <a:sym typeface="+mn-ea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ea typeface="宋体" pitchFamily="2" charset="-122"/>
                <a:sym typeface="+mn-ea"/>
              </a:rPr>
              <a:t>敌手</a:t>
            </a:r>
            <a:r>
              <a:rPr lang="en-US" altLang="zh-CN" sz="3200" b="1" dirty="0">
                <a:solidFill>
                  <a:schemeClr val="tx1"/>
                </a:solidFill>
                <a:ea typeface="宋体" pitchFamily="2" charset="-122"/>
                <a:sym typeface="+mn-ea"/>
              </a:rPr>
              <a:t>；</a:t>
            </a:r>
            <a:r>
              <a:rPr lang="zh-CN" altLang="en-US" sz="3200" b="1" dirty="0">
                <a:solidFill>
                  <a:schemeClr val="tx1"/>
                </a:solidFill>
                <a:ea typeface="宋体" pitchFamily="2" charset="-122"/>
                <a:sym typeface="+mn-ea"/>
              </a:rPr>
              <a:t>反对者</a:t>
            </a:r>
          </a:p>
          <a:p>
            <a:pPr indent="0" fontAlgn="auto">
              <a:lnSpc>
                <a:spcPct val="110000"/>
              </a:lnSpc>
            </a:pPr>
            <a:r>
              <a:rPr lang="zh-CN" altLang="en-US" sz="3200" b="1" dirty="0">
                <a:solidFill>
                  <a:srgbClr val="FF0000"/>
                </a:solidFill>
                <a:ea typeface="宋体" pitchFamily="2" charset="-122"/>
                <a:sym typeface="+mn-ea"/>
              </a:rPr>
              <a:t>opponents of</a:t>
            </a:r>
            <a:r>
              <a:rPr lang="zh-CN" altLang="en-US" sz="3200" b="1" dirty="0">
                <a:solidFill>
                  <a:schemeClr val="tx1"/>
                </a:solidFill>
                <a:ea typeface="宋体" pitchFamily="2" charset="-122"/>
                <a:sym typeface="+mn-ea"/>
              </a:rPr>
              <a:t> abortion</a:t>
            </a:r>
            <a:r>
              <a:rPr lang="en-US" altLang="zh-CN" sz="3200" b="1" dirty="0">
                <a:solidFill>
                  <a:schemeClr val="tx1"/>
                </a:solidFill>
                <a:ea typeface="宋体" pitchFamily="2" charset="-122"/>
                <a:sym typeface="+mn-ea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ea typeface="宋体" pitchFamily="2" charset="-122"/>
                <a:sym typeface="+mn-ea"/>
              </a:rPr>
              <a:t>反对堕胎的人</a:t>
            </a:r>
          </a:p>
          <a:p>
            <a:pPr indent="0" fontAlgn="auto">
              <a:lnSpc>
                <a:spcPct val="110000"/>
              </a:lnSpc>
            </a:pP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opp</a:t>
            </a:r>
            <a:r>
              <a:rPr lang="en-US" altLang="zh-CN" sz="3200" b="1" dirty="0">
                <a:solidFill>
                  <a:srgbClr val="FF0000"/>
                </a:solidFill>
                <a:ea typeface="宋体" pitchFamily="2" charset="-122"/>
                <a:sym typeface="+mn-ea"/>
              </a:rPr>
              <a:t>.</a:t>
            </a:r>
            <a:r>
              <a:rPr lang="en-US" altLang="zh-CN" sz="3200" b="1" dirty="0">
                <a:solidFill>
                  <a:schemeClr val="tx1"/>
                </a:solidFill>
                <a:ea typeface="宋体" pitchFamily="2" charset="-122"/>
                <a:sym typeface="+mn-ea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ea typeface="宋体" pitchFamily="2" charset="-122"/>
                <a:sym typeface="+mn-ea"/>
              </a:rPr>
              <a:t>支持者</a:t>
            </a:r>
          </a:p>
          <a:p>
            <a:pPr indent="0" fontAlgn="auto">
              <a:lnSpc>
                <a:spcPct val="110000"/>
              </a:lnSpc>
            </a:pP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v. </a:t>
            </a:r>
            <a:r>
              <a:rPr lang="en-US" altLang="zh-CN" sz="3200" b="1" dirty="0">
                <a:solidFill>
                  <a:srgbClr val="FF0000"/>
                </a:solidFill>
                <a:ea typeface="宋体" pitchFamily="2" charset="-122"/>
                <a:sym typeface="+mn-ea"/>
              </a:rPr>
              <a:t>oppose </a:t>
            </a:r>
            <a:r>
              <a:rPr lang="zh-CN" altLang="en-US" sz="3200" b="1" dirty="0">
                <a:solidFill>
                  <a:schemeClr val="tx1"/>
                </a:solidFill>
                <a:ea typeface="宋体" pitchFamily="2" charset="-122"/>
                <a:sym typeface="+mn-ea"/>
              </a:rPr>
              <a:t>反对某事</a:t>
            </a:r>
            <a:endParaRPr lang="en-US" altLang="zh-CN" sz="3200" b="1" dirty="0">
              <a:solidFill>
                <a:schemeClr val="tx1"/>
              </a:solidFill>
              <a:ea typeface="宋体" pitchFamily="2" charset="-122"/>
              <a:sym typeface="+mn-ea"/>
            </a:endParaRPr>
          </a:p>
          <a:p>
            <a:pPr indent="0" fontAlgn="auto"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ea typeface="宋体" pitchFamily="2" charset="-122"/>
                <a:sym typeface="+mn-ea"/>
              </a:rPr>
              <a:t>两个相互对立的观点</a:t>
            </a:r>
          </a:p>
          <a:p>
            <a:pPr indent="0" fontAlgn="auto"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ea typeface="宋体" pitchFamily="2" charset="-122"/>
                <a:sym typeface="+mn-ea"/>
              </a:rPr>
              <a:t>对方球队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2421255" y="446849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ea typeface="宋体" pitchFamily="2" charset="-122"/>
                <a:sym typeface="+mn-ea"/>
              </a:rPr>
              <a:t>advocate</a:t>
            </a:r>
          </a:p>
        </p:txBody>
      </p:sp>
      <p:sp>
        <p:nvSpPr>
          <p:cNvPr id="3" name="Text Box 2"/>
          <p:cNvSpPr txBox="1"/>
          <p:nvPr>
            <p:custDataLst>
              <p:tags r:id="rId2"/>
            </p:custDataLst>
          </p:nvPr>
        </p:nvSpPr>
        <p:spPr>
          <a:xfrm>
            <a:off x="4105910" y="555053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ea typeface="宋体" pitchFamily="2" charset="-122"/>
                <a:sym typeface="+mn-ea"/>
              </a:rPr>
              <a:t>two opposing views</a:t>
            </a:r>
          </a:p>
        </p:txBody>
      </p:sp>
      <p:sp>
        <p:nvSpPr>
          <p:cNvPr id="4" name="Text Box 3"/>
          <p:cNvSpPr txBox="1"/>
          <p:nvPr>
            <p:custDataLst>
              <p:tags r:id="rId3"/>
            </p:custDataLst>
          </p:nvPr>
        </p:nvSpPr>
        <p:spPr>
          <a:xfrm>
            <a:off x="3833495" y="501523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ea typeface="宋体" pitchFamily="2" charset="-122"/>
                <a:sym typeface="+mn-ea"/>
              </a:rPr>
              <a:t>oppose sth / be opposed to sth</a:t>
            </a:r>
          </a:p>
        </p:txBody>
      </p:sp>
      <p:sp>
        <p:nvSpPr>
          <p:cNvPr id="6" name="Text Box 5"/>
          <p:cNvSpPr txBox="1"/>
          <p:nvPr>
            <p:custDataLst>
              <p:tags r:id="rId4"/>
            </p:custDataLst>
          </p:nvPr>
        </p:nvSpPr>
        <p:spPr>
          <a:xfrm>
            <a:off x="2421255" y="604393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ea typeface="宋体" pitchFamily="2" charset="-122"/>
                <a:sym typeface="+mn-ea"/>
              </a:rPr>
              <a:t>the opposing team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  <p:bldP spid="4" grpId="0"/>
      <p:bldP spid="4" grpId="1"/>
      <p:bldP spid="6" grpId="0"/>
      <p:bldP spid="6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61620" y="235585"/>
            <a:ext cx="11724005" cy="1272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35877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first athlete to receive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award was an Italian bobsleigh competitor named Eugenio Monti.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78345" y="1594496"/>
            <a:ext cx="9369515" cy="68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first (...) to do...      </a:t>
            </a:r>
            <a:r>
              <a:rPr lang="zh-CN" altLang="en-US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第一个做</a:t>
            </a:r>
            <a:r>
              <a:rPr lang="en-US" altLang="zh-CN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……</a:t>
            </a:r>
            <a:r>
              <a:rPr lang="zh-CN" altLang="en-US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的</a:t>
            </a:r>
            <a:r>
              <a:rPr lang="en-US" altLang="zh-CN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……</a:t>
            </a:r>
          </a:p>
        </p:txBody>
      </p:sp>
      <p:sp>
        <p:nvSpPr>
          <p:cNvPr id="5" name="文本框 1"/>
          <p:cNvSpPr txBox="1"/>
          <p:nvPr>
            <p:custDataLst>
              <p:tags r:id="rId2"/>
            </p:custDataLst>
          </p:nvPr>
        </p:nvSpPr>
        <p:spPr>
          <a:xfrm>
            <a:off x="378460" y="2364105"/>
            <a:ext cx="11433810" cy="3044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8940" indent="-408940"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用括号内单词的正确形式填空。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408940" indent="-40894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1) In 1931, Addams became the first woman ____________ (win) the Nobel Peace Prize.</a:t>
            </a:r>
          </a:p>
          <a:p>
            <a:pPr marL="440055" indent="-44005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2) He was the first ____________ (arrive) and the last _____________ (leave).</a:t>
            </a:r>
          </a:p>
        </p:txBody>
      </p:sp>
      <p:sp>
        <p:nvSpPr>
          <p:cNvPr id="6" name="文本框 2"/>
          <p:cNvSpPr txBox="1"/>
          <p:nvPr>
            <p:custDataLst>
              <p:tags r:id="rId3"/>
            </p:custDataLst>
          </p:nvPr>
        </p:nvSpPr>
        <p:spPr>
          <a:xfrm>
            <a:off x="8727555" y="2919418"/>
            <a:ext cx="1469390" cy="631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to win</a:t>
            </a:r>
          </a:p>
        </p:txBody>
      </p:sp>
      <p:sp>
        <p:nvSpPr>
          <p:cNvPr id="7" name="文本框 3"/>
          <p:cNvSpPr txBox="1"/>
          <p:nvPr>
            <p:custDataLst>
              <p:tags r:id="rId4"/>
            </p:custDataLst>
          </p:nvPr>
        </p:nvSpPr>
        <p:spPr>
          <a:xfrm>
            <a:off x="4201365" y="4139524"/>
            <a:ext cx="2172970" cy="631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to arrive</a:t>
            </a:r>
          </a:p>
        </p:txBody>
      </p:sp>
      <p:sp>
        <p:nvSpPr>
          <p:cNvPr id="8" name="文本框 4"/>
          <p:cNvSpPr txBox="1"/>
          <p:nvPr>
            <p:custDataLst>
              <p:tags r:id="rId5"/>
            </p:custDataLst>
          </p:nvPr>
        </p:nvSpPr>
        <p:spPr>
          <a:xfrm>
            <a:off x="1351395" y="4680454"/>
            <a:ext cx="2172970" cy="631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to leave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33350" y="172085"/>
            <a:ext cx="12191365" cy="59969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443230" fontAlgn="auto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without hesitation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			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毫不犹豫地</a:t>
            </a:r>
            <a:endParaRPr lang="en-US" altLang="zh-CN" sz="32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443230" fontAlgn="auto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have no hesitation in doing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 	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毫不犹豫地做某事</a:t>
            </a:r>
            <a:endParaRPr lang="en-US" altLang="zh-CN" sz="32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805180" fontAlgn="auto">
              <a:lnSpc>
                <a:spcPct val="120000"/>
              </a:lnSpc>
            </a:pP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80518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hesitate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v.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90043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In case you need something, please don’t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hesitate to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tell me.</a:t>
            </a:r>
          </a:p>
          <a:p>
            <a:pPr indent="-900430"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犹豫着不想做某事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90043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 had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hesitated about / over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taking his side until I knew the whole story.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对某事犹豫</a:t>
            </a:r>
          </a:p>
          <a:p>
            <a:pPr indent="-900430" fontAlgn="auto">
              <a:lnSpc>
                <a:spcPct val="120000"/>
              </a:lnSpc>
            </a:pP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adj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 hesitant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犹豫不决的</a:t>
            </a:r>
          </a:p>
          <a:p>
            <a:pPr indent="-900430" fontAlgn="auto"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 quiet hesitant voice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33350" y="172085"/>
            <a:ext cx="12191365" cy="2453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fontAlgn="auto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unselfish / selfless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无私的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</a:p>
          <a:p>
            <a:pPr indent="0" fontAlgn="auto">
              <a:lnSpc>
                <a:spcPct val="120000"/>
              </a:lnSpc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selfish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自私的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be only concerned with oneself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  <a:buNone/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一个无私的举动</a:t>
            </a:r>
          </a:p>
          <a:p>
            <a:pPr indent="0" fontAlgn="auto">
              <a:lnSpc>
                <a:spcPct val="120000"/>
              </a:lnSpc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unselfishness / selflessness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无私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3370580" y="139573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an unselfish act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mZiYWZlYTIzNGZiMjFhNTBkNTdkY2IwNzZiNDZhMj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高中课件">
  <a:themeElements>
    <a:clrScheme name="高中编辑部">
      <a:dk1>
        <a:srgbClr val="000000"/>
      </a:dk1>
      <a:lt1>
        <a:srgbClr val="FFFFFF"/>
      </a:lt1>
      <a:dk2>
        <a:srgbClr val="E4002A"/>
      </a:dk2>
      <a:lt2>
        <a:srgbClr val="2419FF"/>
      </a:lt2>
      <a:accent1>
        <a:srgbClr val="F8C083"/>
      </a:accent1>
      <a:accent2>
        <a:srgbClr val="2C99FE"/>
      </a:accent2>
      <a:accent3>
        <a:srgbClr val="C788EA"/>
      </a:accent3>
      <a:accent4>
        <a:srgbClr val="FE824B"/>
      </a:accent4>
      <a:accent5>
        <a:srgbClr val="F5DAE9"/>
      </a:accent5>
      <a:accent6>
        <a:srgbClr val="96DD9A"/>
      </a:accent6>
      <a:hlink>
        <a:srgbClr val="2419FF"/>
      </a:hlink>
      <a:folHlink>
        <a:srgbClr val="000000"/>
      </a:folHlink>
    </a:clrScheme>
    <a:fontScheme name="课件">
      <a:majorFont>
        <a:latin typeface="Arial"/>
        <a:ea typeface="黑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3200" b="1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sz="3200" b="1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1018</Words>
  <Application>Microsoft Macintosh PowerPoint</Application>
  <PresentationFormat>Widescreen</PresentationFormat>
  <Paragraphs>118</Paragraphs>
  <Slides>12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宋体</vt:lpstr>
      <vt:lpstr>Times New Roman Bold</vt:lpstr>
      <vt:lpstr>Times New Roman Bold Italic</vt:lpstr>
      <vt:lpstr>Times New Roman Regular</vt:lpstr>
      <vt:lpstr>Arial</vt:lpstr>
      <vt:lpstr>Calibri</vt:lpstr>
      <vt:lpstr>Times New Roman</vt:lpstr>
      <vt:lpstr>高中课件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Qing NI</cp:lastModifiedBy>
  <cp:revision>35</cp:revision>
  <dcterms:created xsi:type="dcterms:W3CDTF">2024-10-28T01:51:12Z</dcterms:created>
  <dcterms:modified xsi:type="dcterms:W3CDTF">2026-07-23T01:05:20Z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1033-6.11.0.8885</vt:lpwstr>
  </property>
  <property fmtid="{D5CDD505-2E9C-101B-9397-08002B2CF9AE}" pid="3" name="ICV">
    <vt:lpwstr>0B65008105E547988437A8250EE39B83</vt:lpwstr>
  </property>
</Properties>
</file>