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notesSlides/notesSlide11.xml" ContentType="application/vnd.openxmlformats-officedocument.presentationml.notesSlide+xml"/>
  <Override PartName="/ppt/tags/tag20.xml" ContentType="application/vnd.openxmlformats-officedocument.presentationml.tags+xml"/>
  <Override PartName="/ppt/notesSlides/notesSlide1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3.xml" ContentType="application/vnd.openxmlformats-officedocument.presentationml.notesSlide+xml"/>
  <Override PartName="/ppt/tags/tag24.xml" ContentType="application/vnd.openxmlformats-officedocument.presentationml.tags+xml"/>
  <Override PartName="/ppt/notesSlides/notesSlide14.xml" ContentType="application/vnd.openxmlformats-officedocument.presentationml.notesSlide+xml"/>
  <Override PartName="/ppt/tags/tag25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90" r:id="rId3"/>
    <p:sldId id="349" r:id="rId4"/>
    <p:sldId id="289" r:id="rId5"/>
    <p:sldId id="269" r:id="rId6"/>
    <p:sldId id="292" r:id="rId7"/>
    <p:sldId id="293" r:id="rId8"/>
    <p:sldId id="277" r:id="rId9"/>
    <p:sldId id="258" r:id="rId10"/>
    <p:sldId id="278" r:id="rId11"/>
    <p:sldId id="259" r:id="rId12"/>
    <p:sldId id="260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280" r:id="rId21"/>
    <p:sldId id="301" r:id="rId22"/>
    <p:sldId id="281" r:id="rId23"/>
    <p:sldId id="282" r:id="rId24"/>
    <p:sldId id="350" r:id="rId25"/>
    <p:sldId id="305" r:id="rId26"/>
    <p:sldId id="303" r:id="rId27"/>
    <p:sldId id="304" r:id="rId28"/>
    <p:sldId id="271" r:id="rId29"/>
    <p:sldId id="307" r:id="rId30"/>
    <p:sldId id="308" r:id="rId31"/>
    <p:sldId id="272" r:id="rId32"/>
    <p:sldId id="316" r:id="rId33"/>
    <p:sldId id="283" r:id="rId34"/>
    <p:sldId id="284" r:id="rId35"/>
    <p:sldId id="273" r:id="rId36"/>
    <p:sldId id="399" r:id="rId37"/>
    <p:sldId id="310" r:id="rId38"/>
    <p:sldId id="311" r:id="rId39"/>
    <p:sldId id="274" r:id="rId40"/>
    <p:sldId id="401" r:id="rId41"/>
    <p:sldId id="313" r:id="rId42"/>
    <p:sldId id="402" r:id="rId43"/>
    <p:sldId id="406" r:id="rId44"/>
    <p:sldId id="408" r:id="rId45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1"/>
  </p:normalViewPr>
  <p:slideViewPr>
    <p:cSldViewPr snapToGrid="0">
      <p:cViewPr varScale="1">
        <p:scale>
          <a:sx n="103" d="100"/>
          <a:sy n="103" d="100"/>
        </p:scale>
        <p:origin x="8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528AF-BCC1-46C6-8571-6067CEC4AAD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837F7-3BCB-4A64-80B0-5DE79ADE20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为了显示和领袖的同心同德，支持者们希望明天举行游行。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学生被鼓励充分/积极参与跑步</a:t>
            </a:r>
          </a:p>
          <a:p>
            <a:r>
              <a:rPr lang="en-US"/>
              <a:t>participate enthusiastically / voluntarily</a:t>
            </a:r>
          </a:p>
          <a:p>
            <a:r>
              <a:rPr lang="en-US"/>
              <a:t>He participates well in classroom activities.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比赛详情可在所有参与商店获得。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highly/intensely/fiercely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  <a:sym typeface="+mn-ea"/>
              </a:rPr>
              <a:t>过去分词短语作状语时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cs typeface="Times New Roman" panose="02020503050405090304" pitchFamily="18" charset="0"/>
                <a:sym typeface="+mn-ea"/>
              </a:rPr>
              <a:t>，其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  <a:sym typeface="+mn-ea"/>
              </a:rPr>
              <a:t>逻辑主语与句子主语一致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cs typeface="Times New Roman" panose="02020503050405090304" pitchFamily="18" charset="0"/>
                <a:sym typeface="+mn-ea"/>
              </a:rPr>
              <a:t>，并且与主语之间是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  <a:sym typeface="+mn-ea"/>
              </a:rPr>
              <a:t>被动关系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cs typeface="Times New Roman" panose="02020503050405090304" pitchFamily="18" charset="0"/>
                <a:sym typeface="+mn-ea"/>
              </a:rPr>
              <a:t>。此句可以转化为：</a:t>
            </a:r>
            <a:endParaRPr lang="en-US" altLang="zh-CN" b="1" dirty="0">
              <a:solidFill>
                <a:srgbClr val="000000"/>
              </a:solidFill>
              <a:latin typeface="+mn-ea"/>
              <a:cs typeface="Times New Roman" panose="02020503050405090304" pitchFamily="18" charset="0"/>
              <a:sym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837F7-3BCB-4A64-80B0-5DE79ADE202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2837F7-3BCB-4A64-80B0-5DE79ADE2025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appreciate sb for ...</a:t>
            </a:r>
          </a:p>
          <a:p>
            <a:r>
              <a:rPr lang="en-US"/>
              <a:t>enthusiastically, warmly, heatily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if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引导的方式状语从句或表语从句，有时使用虚拟语气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lang="en-US" altLang="zh-CN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表示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与现在事实相反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，谓语用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过去式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(be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的过去式用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were)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；</a:t>
            </a:r>
            <a:endParaRPr lang="en-US" altLang="zh-CN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表示与过去事实相反，谓语用过去完成时。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-444500" fontAlgn="auto">
              <a:lnSpc>
                <a:spcPct val="12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inconsistent adj. 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不一致的</a:t>
            </a:r>
            <a:endParaRPr lang="zh-CN" altLang="en-US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consistency n. 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连贯性；一致性</a:t>
            </a:r>
          </a:p>
          <a:p>
            <a:pPr indent="-444500" fontAlgn="auto">
              <a:lnSpc>
                <a:spcPct val="120000"/>
              </a:lnSpc>
            </a:pPr>
            <a:endParaRPr lang="en-US"/>
          </a:p>
          <a:p>
            <a:pPr indent="-444500" fontAlgn="auto">
              <a:lnSpc>
                <a:spcPct val="120000"/>
              </a:lnSpc>
            </a:pPr>
            <a:r>
              <a:rPr lang="en-US"/>
              <a:t>There is a remarkable consistency in these docments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现在有请下一位发言人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排名第二</a:t>
            </a:r>
            <a:r>
              <a:rPr lang="en-US" altLang="zh-CN"/>
              <a:t> rank/be ranked second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rate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top-ranked players 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最优秀的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选手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top-ranking technology firm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一家</a:t>
            </a:r>
            <a:r>
              <a:rPr lang="zh-CN" altLang="en-US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顶级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技术公司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排名第二</a:t>
            </a:r>
            <a:r>
              <a:rPr lang="en-US" altLang="zh-CN"/>
              <a:t> rank/be ranked second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trendy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-1884680" fontAlgn="auto">
              <a:lnSpc>
                <a:spcPct val="120000"/>
              </a:lnSpc>
            </a:pPr>
            <a:r>
              <a:rPr 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他们望子成龙心切。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-1884680" fontAlgn="auto"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mount, climb thump=pound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10" y="183515"/>
            <a:ext cx="11874500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highly trained and talented athletes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训练有素、天赋过人的运动员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spirit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本着……的精神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solidarity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团结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fair play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公平竞争</a:t>
            </a:r>
          </a:p>
          <a:p>
            <a:pPr indent="457200">
              <a:lnSpc>
                <a:spcPct val="120000"/>
              </a:lnSpc>
              <a:buNone/>
            </a:pPr>
            <a:r>
              <a:rPr sz="3200" b="1" dirty="0">
                <a:sym typeface="+mn-ea"/>
              </a:rPr>
              <a:t>Supporters want to march tomorrow to </a:t>
            </a:r>
            <a:r>
              <a:rPr sz="3200" b="1" dirty="0">
                <a:solidFill>
                  <a:srgbClr val="FF0000"/>
                </a:solidFill>
                <a:sym typeface="+mn-ea"/>
              </a:rPr>
              <a:t>show solidarity </a:t>
            </a:r>
            <a:r>
              <a:rPr sz="3200" b="1" u="sng" dirty="0">
                <a:solidFill>
                  <a:srgbClr val="FF0000"/>
                </a:solidFill>
                <a:sym typeface="+mn-ea"/>
              </a:rPr>
              <a:t>with</a:t>
            </a:r>
            <a:r>
              <a:rPr sz="3200" b="1" dirty="0">
                <a:sym typeface="+mn-ea"/>
              </a:rPr>
              <a:t> their leaders.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test their ability against each other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互相较量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hope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以期望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199640" y="254381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>
              <a:lnSpc>
                <a:spcPct val="120000"/>
              </a:lnSpc>
              <a:buNone/>
            </a:pPr>
            <a:r>
              <a:rPr lang="zh-CN" altLang="en-US" sz="3200" b="1" dirty="0">
                <a:sym typeface="+mn-ea"/>
              </a:rPr>
              <a:t>表明团结一致，同心同德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2635" cy="685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participate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vi.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(in...) 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take part in, become involved in or engage in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an activity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参加，参与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Students are encuraged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participate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fully/actively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running.</a:t>
            </a: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班级中的每个人都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要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积极参与这些讨论。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Everyone in the class is expected to ___________________________</a:t>
            </a: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___________.</a:t>
            </a:r>
          </a:p>
          <a:p>
            <a:pPr indent="-901700" fontAlgn="auto">
              <a:lnSpc>
                <a:spcPct val="120000"/>
              </a:lnSpc>
            </a:pP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参加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___________</a:t>
            </a: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参与者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_____________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46050" y="2297430"/>
            <a:ext cx="11722735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                                           participate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actively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these discussions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508760" y="411035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participation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848485" y="46939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participant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890770" y="41967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没有某人的参与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4890770" y="478028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without the participation of sb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45477" y="509843"/>
            <a:ext cx="11160369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researchers examined various levels of noise on ______________ (participate) as they completed tests of creative thinking. (2021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年全国乙卷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This treaty will require _____________ (particiapte) countries to develop appropriate environmental labelling.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They expected him _____________ (participate) in the ceremony.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We encourage students to participate fully ___________ the running of the college.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43098" y="2818422"/>
            <a:ext cx="2462534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participating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37539" y="3938954"/>
            <a:ext cx="264527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participate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01969" y="1606062"/>
            <a:ext cx="230383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participants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003324" y="5146431"/>
            <a:ext cx="52610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71450"/>
            <a:ext cx="12192000" cy="64179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such events as boxing, running and the long jump.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他们的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竞赛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项目包括拳击、赛跑和跳远。</a:t>
            </a:r>
          </a:p>
          <a:p>
            <a:pPr indent="-27781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compete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take part in a contest or game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参加比赛</a:t>
            </a:r>
          </a:p>
          <a:p>
            <a:pPr indent="-27781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He's hoping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compete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with/against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full-time professional players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title of world champion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London marathon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next year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7812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与……比赛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/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为……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/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参加……比赛</a:t>
            </a:r>
          </a:p>
          <a:p>
            <a:pPr indent="-277812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try to be better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竞争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27781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Several companies are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competing fiercely for business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277812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为抢生意激烈竞争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781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compete with/against sb for sth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和某人为某事竞争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77812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商店为争夺顾客而彼此竞争。</a:t>
            </a:r>
          </a:p>
          <a:p>
            <a:pPr indent="-27781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stores compete with each other for customers.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57377" y="35560"/>
            <a:ext cx="10651490" cy="186309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compete in … 	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参加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compete against/with sb for sth ...	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为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竞争，争夺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compete to do sth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竞相做某事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260" y="26033"/>
            <a:ext cx="1159293" cy="649204"/>
          </a:xfrm>
          <a:prstGeom prst="rect">
            <a:avLst/>
          </a:prstGeom>
        </p:spPr>
      </p:pic>
      <p:pic>
        <p:nvPicPr>
          <p:cNvPr id="2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18" y="1287798"/>
            <a:ext cx="1159293" cy="672284"/>
          </a:xfrm>
          <a:prstGeom prst="rect">
            <a:avLst/>
          </a:prstGeom>
        </p:spPr>
      </p:pic>
      <p:sp>
        <p:nvSpPr>
          <p:cNvPr id="5" name="矩形 3"/>
          <p:cNvSpPr/>
          <p:nvPr/>
        </p:nvSpPr>
        <p:spPr>
          <a:xfrm>
            <a:off x="491490" y="1960245"/>
            <a:ext cx="11638280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competition  un. &amp; cn.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竞争，一项比赛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There is now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intense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/fierece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competition between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schools to attract students.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are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competition with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four other companies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contract.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我们在与其他四家公司竞争这项合同。</a:t>
            </a:r>
          </a:p>
          <a:p>
            <a:pPr indent="5397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music/ photo competition 		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音乐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摄影比赛</a:t>
            </a:r>
          </a:p>
          <a:p>
            <a:pPr indent="5397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hold/enter(participate in)/win/lose a competition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举行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参加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赢得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输掉比赛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"/>
          <p:cNvSpPr/>
          <p:nvPr/>
        </p:nvSpPr>
        <p:spPr>
          <a:xfrm>
            <a:off x="553914" y="305907"/>
            <a:ext cx="1137138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competitor 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竞争者，对手，参赛者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我们的主要竞争对手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competitive 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竞争的，有竞争力的；</a:t>
            </a:r>
          </a:p>
          <a:p>
            <a:pPr indent="5397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competitive games/ sports 	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竞争性的比赛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体育运动</a:t>
            </a:r>
          </a:p>
          <a:p>
            <a:pPr indent="5397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highly competitive market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53975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shop selling clothes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competitive prices</a:t>
            </a:r>
          </a:p>
          <a:p>
            <a:pPr indent="53975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need to work harder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remain competitive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other companies.</a:t>
            </a:r>
          </a:p>
          <a:p>
            <a:pPr indent="53975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gain a competitive advantage over rival companies</a:t>
            </a:r>
          </a:p>
          <a:p>
            <a:pPr indent="53975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获得超越对手公司的竞争优势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986020" y="93091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our main/major competitor 	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677275" y="325437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价格上有竞争力</a:t>
            </a:r>
          </a:p>
        </p:txBody>
      </p:sp>
      <p:sp>
        <p:nvSpPr>
          <p:cNvPr id="7" name="Text Box 6"/>
          <p:cNvSpPr txBox="1"/>
          <p:nvPr>
            <p:custDataLst>
              <p:tags r:id="rId1"/>
            </p:custDataLst>
          </p:nvPr>
        </p:nvSpPr>
        <p:spPr>
          <a:xfrm>
            <a:off x="3502025" y="4457065"/>
            <a:ext cx="94183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比……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保持竞争力</a:t>
            </a:r>
          </a:p>
        </p:txBody>
      </p:sp>
      <p:sp>
        <p:nvSpPr>
          <p:cNvPr id="8" name="Text Box 7"/>
          <p:cNvSpPr txBox="1"/>
          <p:nvPr>
            <p:custDataLst>
              <p:tags r:id="rId2"/>
            </p:custDataLst>
          </p:nvPr>
        </p:nvSpPr>
        <p:spPr>
          <a:xfrm>
            <a:off x="6391910" y="27317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一个竞争激烈的市场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18465" y="121920"/>
            <a:ext cx="11274425" cy="658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The young man has often ___________ (compete) against famous players, but so far he has always been beaten.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They find themselves in ____________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(compete)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people much more experienced than they are.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Over 200 ____________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(compete)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entered the race.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It’s getting very ____________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(compete)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car industry.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5) As a long-distance swimmer, she would compete ______ herself and the other obstacles.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6)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小孩子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通常都会在母亲面前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争夺关注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Young children will always compete for their mother's attention.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05514" y="661711"/>
            <a:ext cx="19736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competed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41605" y="1699311"/>
            <a:ext cx="22573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competition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16450" y="2766030"/>
            <a:ext cx="22589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competitors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35483" y="3323911"/>
            <a:ext cx="23150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competitive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7"/>
          <p:cNvSpPr/>
          <p:nvPr>
            <p:custDataLst>
              <p:tags r:id="rId1"/>
            </p:custDataLst>
          </p:nvPr>
        </p:nvSpPr>
        <p:spPr>
          <a:xfrm>
            <a:off x="9377433" y="3908111"/>
            <a:ext cx="142494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against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1635" y="1028700"/>
            <a:ext cx="11137265" cy="1865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5600" indent="-35560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3. It was a Frenchman, Pierre de Coubertin, who brought the Olympics back to life.</a:t>
            </a:r>
          </a:p>
          <a:p>
            <a:pPr marL="355600" indent="-35560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一位名叫皮埃尔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·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德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·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顾拜旦的法国人使奥运会重获生机。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19150" y="1626235"/>
            <a:ext cx="1238250" cy="2095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281670" y="1653540"/>
            <a:ext cx="73088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23265" y="2927735"/>
            <a:ext cx="10795635" cy="12226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Frenchman, Pierre de Coubertin, brought the Olympics back to life.</a:t>
            </a:r>
          </a:p>
        </p:txBody>
      </p:sp>
      <p:sp>
        <p:nvSpPr>
          <p:cNvPr id="6" name="下箭头 5"/>
          <p:cNvSpPr/>
          <p:nvPr/>
        </p:nvSpPr>
        <p:spPr>
          <a:xfrm>
            <a:off x="5833745" y="1697632"/>
            <a:ext cx="233043" cy="123010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</a:endParaRPr>
          </a:p>
        </p:txBody>
      </p:sp>
      <p:sp>
        <p:nvSpPr>
          <p:cNvPr id="7" name="下箭头 6"/>
          <p:cNvSpPr/>
          <p:nvPr/>
        </p:nvSpPr>
        <p:spPr>
          <a:xfrm>
            <a:off x="5795902" y="4150377"/>
            <a:ext cx="233045" cy="54800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3265" y="4297361"/>
            <a:ext cx="18770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solidFill>
                  <a:srgbClr val="081A9E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强调句式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23265" y="4984390"/>
            <a:ext cx="10503535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强调句结构为：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+ be + 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被强调的部分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+ that / who + 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句子的其他部分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" name="左弧形箭头 15"/>
          <p:cNvSpPr/>
          <p:nvPr/>
        </p:nvSpPr>
        <p:spPr>
          <a:xfrm rot="5400000">
            <a:off x="4790439" y="-69850"/>
            <a:ext cx="355600" cy="21971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575893" y="212417"/>
            <a:ext cx="1415772" cy="6267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同位语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4488873" y="1174432"/>
            <a:ext cx="3588327" cy="419735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13" name="圆角矩形 12"/>
          <p:cNvSpPr/>
          <p:nvPr/>
        </p:nvSpPr>
        <p:spPr>
          <a:xfrm>
            <a:off x="2057401" y="1186205"/>
            <a:ext cx="2251364" cy="419735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6" grpId="0" animBg="1"/>
      <p:bldP spid="17" grpId="0" animBg="1"/>
      <p:bldP spid="10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6804" y="-10588"/>
            <a:ext cx="11177495" cy="1173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当被强调部分是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人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时，可以用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who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也可以用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当被强调部分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不是人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时，用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1584" y="1335189"/>
            <a:ext cx="11465860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就是她给了我钱。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强调主语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she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who / that gave me the money.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我喜欢喝的是茶而不是咖啡。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强调宾语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tea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that I like to drink, not coffee.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正是从那个时候起，我才成为一名真正的战士。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强调状语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from that time on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 I became a true soldier.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直到他的搭档提醒他，他才改正了他的错误。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强调状语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not until his partner reminded him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that he corrected his mistake.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90830" y="1376680"/>
            <a:ext cx="1190053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It was not until 1920 _______ regular radio broadcasts began.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It _______ (be) Mike and Mary who helped the old man several days ago.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It was the training _______ he had as a young man that made him such a good engineer.</a:t>
            </a:r>
          </a:p>
          <a:p>
            <a:pPr marL="431165" indent="-43116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_______ was in 1936 that the harmful smog made its appearance in Los Angeles.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5) Was it last night _______ he met his friend?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50912" y="1445016"/>
            <a:ext cx="888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356507" y="2028581"/>
            <a:ext cx="888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383012" y="3211434"/>
            <a:ext cx="888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272052" y="4406021"/>
            <a:ext cx="888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938817" y="5574870"/>
            <a:ext cx="888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0962" y="689719"/>
            <a:ext cx="8424101" cy="626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利用强调句的知识，完成句子。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00370" y="137466"/>
            <a:ext cx="11451304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Motivated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by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Olympic motto “Faster, High, Stronger”, many well-known athletes, both male and female, have devoted themselves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achieving sporting excellence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pushing the boundaries of human achievement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翻译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在原先的奥运口号“更快、更高、更强”的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激励下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，许多著名的男女运动员致力</a:t>
            </a:r>
            <a:r>
              <a:rPr lang="zh-CN" altLang="en-US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在体育运动方向追求卓越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zh-CN" altLang="en-US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突破人类成就的极限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</a:p>
          <a:p>
            <a:pPr indent="-444500" fontAlgn="auto">
              <a:lnSpc>
                <a:spcPct val="120000"/>
              </a:lnSpc>
            </a:pP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19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Because they are motivated by the Olympic motto “Faster, Higher, Stronger”…</a:t>
            </a:r>
          </a:p>
        </p:txBody>
      </p:sp>
      <p:sp>
        <p:nvSpPr>
          <p:cNvPr id="3" name="椭圆 2"/>
          <p:cNvSpPr/>
          <p:nvPr/>
        </p:nvSpPr>
        <p:spPr>
          <a:xfrm>
            <a:off x="660400" y="238648"/>
            <a:ext cx="2386013" cy="548640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71104" y="251358"/>
            <a:ext cx="352367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过去分词</a:t>
            </a:r>
            <a:r>
              <a:rPr lang="zh-CN" altLang="en-US" sz="28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作原因</a:t>
            </a:r>
            <a:r>
              <a:rPr lang="zh-CN" altLang="zh-CN" sz="28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状语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12750" y="920115"/>
            <a:ext cx="7360920" cy="387985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5138" y="426947"/>
            <a:ext cx="11456644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397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过去分词与逻辑主语之间构成被动关系，有时仅仅表示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被动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，有时还表示被动的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动作已经完成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indent="-7143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Seen in the dark night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lights on top of tall buildings look like stars in the sky.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仅表被动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indent="-7143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Scolded by the teacher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 girl began to cry.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表被动完成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indent="-6210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形容词化的过去分词作状语，表示逻辑主语的状态。如：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disappointed, dressed, determined, devoted, tired, exhausted, prepared, seated, caught, lost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等。</a:t>
            </a:r>
          </a:p>
          <a:p>
            <a:pPr indent="6210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Lost in thought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she nearly ran into a tree.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40592" y="1028700"/>
            <a:ext cx="11078308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030" indent="-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过去分词作状语，在句子中表示时间、原因、条件、方式、让步等，相当于状语从句；表伴随的时候相当于并列句。</a:t>
            </a:r>
          </a:p>
          <a:p>
            <a:pPr marL="1348105" indent="-7270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Asked (=When he was asked)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what had happened, he lowered his head.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表时间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13481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Frightened (=Because/ As she was frightened)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the tiger, the girl didn’t dare to sleep alone.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表原因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13481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Grown (= If these seeds are grown)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rich soil, these seeds can grow fast.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表条件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0400" y="1596939"/>
            <a:ext cx="10690380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cup fell down to the ground,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(so that it was) broken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表结果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Left (=Although he was left)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 home, John didn’t feel afraid at all.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表让步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teacher entered the classroom,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(and he was) followed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a group of students.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表伴随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10308" y="811631"/>
            <a:ext cx="11441722" cy="5359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9750" indent="-5397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连词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过去分词：过去分词前带有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once, when, while, if, as if, even if, though, unless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等连词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词组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时，在连词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词组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与过去分词之间省略与主句相同的主语和系动词。</a:t>
            </a:r>
          </a:p>
          <a:p>
            <a:pPr marL="1348105" indent="-7270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Once (it is) published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this book will be popular with the students.</a:t>
            </a:r>
          </a:p>
          <a:p>
            <a:pPr marL="13481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When (it is) compared with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size of the whole earth, the biggest ocean does not seem big at all.</a:t>
            </a:r>
          </a:p>
          <a:p>
            <a:pPr marL="13481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 matter how (they are) frequently performed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 works of Beethoven still attract people all over the world.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2031" y="1416922"/>
            <a:ext cx="11096869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1030" indent="-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(5)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独立主格结构：名词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代词主格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过去分词。如果句中过去分词的逻辑主语不是句子的主语，这时必须在过去分词前加上逻辑主语，即名词或代词主格，形成独立主格结构。</a:t>
            </a:r>
          </a:p>
          <a:p>
            <a:pPr indent="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town seen from the hill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we can see it more clearly.</a:t>
            </a:r>
          </a:p>
          <a:p>
            <a:pPr marL="13481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Everything taken into consideration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 party was a success.</a:t>
            </a:r>
          </a:p>
          <a:p>
            <a:pPr indent="13481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sat silently,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eyes closed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69630" y="171641"/>
            <a:ext cx="11582400" cy="659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注意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21030" indent="-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系动词和一些短语没有被动形式，作状语时用现在分词形式。如：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look, taste, feel, sound, smell, read well, sell well, write smoothly, wash easily, handle easily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等。</a:t>
            </a:r>
          </a:p>
          <a:p>
            <a:pPr marL="1254125" indent="-6337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Looking tired and weak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 woman should have a day off to see a doctor.</a:t>
            </a:r>
          </a:p>
          <a:p>
            <a:pPr indent="12541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Handling easily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 kind of car is popular by many people.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given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有时看作介词，“考虑到，鉴于”</a:t>
            </a:r>
          </a:p>
          <a:p>
            <a:pPr marL="1348105" indent="-7270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Given his age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(=Considering how old he is), he’s remarkably active.</a:t>
            </a:r>
          </a:p>
          <a:p>
            <a:pPr indent="13481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Given her interest in children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teaching seems the right.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8216" y="449384"/>
            <a:ext cx="10843846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__________ (satisfy) with what he did, the teacher praised him in class.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When ________ (compare) with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size of the whole earth, the biggest ocean does not seem big at all.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 (look) tired and weak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the woman should have a day off to see a doctor.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______ (Ask)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what had happened, he lowered his head.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5) ______(give) his age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he’s remarkably active.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7816" y="1035539"/>
            <a:ext cx="179087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Satisfied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62371" y="2124856"/>
            <a:ext cx="192087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compared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77884" y="3350927"/>
            <a:ext cx="162877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Looking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54137" y="4494194"/>
            <a:ext cx="126682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Asked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6"/>
          <p:cNvSpPr txBox="1"/>
          <p:nvPr>
            <p:custDataLst>
              <p:tags r:id="rId1"/>
            </p:custDataLst>
          </p:nvPr>
        </p:nvSpPr>
        <p:spPr>
          <a:xfrm>
            <a:off x="1093177" y="5176184"/>
            <a:ext cx="122174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Given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065000" cy="6488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9842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motivate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</a:t>
            </a:r>
            <a:r>
              <a:rPr lang="en-US" altLang="zh-CN" sz="3200" b="1" i="1" dirty="0">
                <a:sym typeface="+mn-ea"/>
              </a:rPr>
              <a:t>o make somebody want to do something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激发，激励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984250" fontAlgn="auto">
              <a:lnSpc>
                <a:spcPct val="120000"/>
              </a:lnSpc>
            </a:pPr>
            <a:r>
              <a:rPr lang="en-US" altLang="zh-CN" sz="3200" b="1" dirty="0"/>
              <a:t>She's very good at </a:t>
            </a:r>
            <a:r>
              <a:rPr lang="en-US" altLang="zh-CN" sz="3200" b="1" dirty="0">
                <a:solidFill>
                  <a:srgbClr val="FF0000"/>
                </a:solidFill>
              </a:rPr>
              <a:t>motivating her students</a:t>
            </a:r>
            <a:r>
              <a:rPr lang="en-US" altLang="zh-CN" sz="3200" b="1" dirty="0"/>
              <a:t>.</a:t>
            </a:r>
          </a:p>
          <a:p>
            <a:pPr indent="-984250" fontAlgn="auto">
              <a:lnSpc>
                <a:spcPct val="120000"/>
              </a:lnSpc>
            </a:pPr>
            <a:r>
              <a:rPr lang="en-US" altLang="zh-CN" sz="3200" b="1" dirty="0"/>
              <a:t>她非常擅长激励她的学生。</a:t>
            </a:r>
          </a:p>
          <a:p>
            <a:pPr indent="-984250" fontAlgn="auto">
              <a:lnSpc>
                <a:spcPct val="120000"/>
              </a:lnSpc>
            </a:pPr>
            <a:r>
              <a:rPr lang="en-US" altLang="zh-CN" sz="3200" b="1" dirty="0"/>
              <a:t>The plan is designed to </a:t>
            </a:r>
            <a:r>
              <a:rPr lang="en-US" altLang="zh-CN" sz="3200" b="1" u="sng" dirty="0">
                <a:solidFill>
                  <a:srgbClr val="FF0000"/>
                </a:solidFill>
              </a:rPr>
              <a:t>motivate employees to work</a:t>
            </a:r>
            <a:r>
              <a:rPr lang="en-US" altLang="zh-CN" sz="3200" b="1" dirty="0"/>
              <a:t> more efficiently. </a:t>
            </a:r>
            <a:r>
              <a:rPr lang="zh-CN" altLang="en-US" sz="3200" b="1" dirty="0"/>
              <a:t>激励某人做某事</a:t>
            </a:r>
          </a:p>
          <a:p>
            <a:pPr indent="-277812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en-US" altLang="zh-CN" sz="3200" b="1" i="1" dirty="0">
                <a:sym typeface="+mn-ea"/>
              </a:rPr>
              <a:t>to be the reason why somebody does something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是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  <a:sym typeface="+mn-ea"/>
              </a:rPr>
              <a:t>的动机；是……的原因</a:t>
            </a:r>
            <a:endParaRPr lang="zh-CN" altLang="en-US" sz="3200" b="1" dirty="0"/>
          </a:p>
          <a:p>
            <a:pPr indent="-984250" fontAlgn="auto">
              <a:lnSpc>
                <a:spcPct val="120000"/>
              </a:lnSpc>
            </a:pPr>
            <a:r>
              <a:rPr lang="zh-CN" altLang="en-US" sz="3200" b="1" dirty="0"/>
              <a:t>He </a:t>
            </a:r>
            <a:r>
              <a:rPr lang="zh-CN" altLang="en-US" sz="3200" b="1" u="sng" dirty="0">
                <a:solidFill>
                  <a:srgbClr val="FF0000"/>
                </a:solidFill>
              </a:rPr>
              <a:t>is motivated</a:t>
            </a:r>
            <a:r>
              <a:rPr lang="zh-CN" altLang="en-US" sz="3200" b="1" dirty="0"/>
              <a:t> entirely </a:t>
            </a:r>
            <a:r>
              <a:rPr lang="zh-CN" altLang="en-US" sz="3200" b="1" u="sng" dirty="0">
                <a:solidFill>
                  <a:srgbClr val="FF0000"/>
                </a:solidFill>
              </a:rPr>
              <a:t>by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zh-CN" altLang="en-US" sz="3200" b="1" dirty="0"/>
              <a:t>self-interest.</a:t>
            </a:r>
            <a:r>
              <a:rPr lang="en-US" altLang="zh-CN" sz="3200" b="1" dirty="0"/>
              <a:t> </a:t>
            </a:r>
          </a:p>
          <a:p>
            <a:pPr indent="-98425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他</a:t>
            </a:r>
            <a:r>
              <a:rPr lang="en-US" altLang="zh-CN" sz="3200" b="1" dirty="0">
                <a:sym typeface="+mn-ea"/>
              </a:rPr>
              <a:t>做事完全出于私利。</a:t>
            </a:r>
          </a:p>
          <a:p>
            <a:pPr indent="-98425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是什么原因致使人们进行这样的攻击？</a:t>
            </a:r>
            <a:endParaRPr lang="zh-CN" altLang="en-US" sz="3200" b="1" dirty="0"/>
          </a:p>
          <a:p>
            <a:pPr indent="-98425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What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motivates</a:t>
            </a:r>
            <a:r>
              <a:rPr lang="en-US" altLang="zh-CN" sz="3200" b="1" dirty="0">
                <a:sym typeface="+mn-ea"/>
              </a:rPr>
              <a:t> people to carry out such attacks?</a:t>
            </a:r>
            <a:endParaRPr lang="zh-CN" altLang="en-US" sz="3200" b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26" y="429260"/>
            <a:ext cx="1335140" cy="77425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51230" y="1475105"/>
            <a:ext cx="10563860" cy="4225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motivation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动机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the reason for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，兴趣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willingness to do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Most people said that pay was their main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motivation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working.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大多数人说赚取报酬是他们工作的主要动机。</a:t>
            </a: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motivated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有目的的，有动机的；有积极性的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a very/ highly motivated student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学习积极性很高的学生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" y="1451739"/>
            <a:ext cx="10985500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motivate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的适当形式填空。</a:t>
            </a:r>
          </a:p>
          <a:p>
            <a:pPr marL="355600" indent="-3556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You should first ____________ the children and then teach them.</a:t>
            </a:r>
          </a:p>
          <a:p>
            <a:pPr marL="355600" indent="-3556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stronger the ___________, the more quickly the person will learn a foreign language.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After every run, I feel fitter, happier and  _________ to keep progressing.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39225" y="2019300"/>
            <a:ext cx="171072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motivate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99525" y="3212846"/>
            <a:ext cx="207460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motivation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56540" y="4406392"/>
            <a:ext cx="193835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motivated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2122" y="1028700"/>
            <a:ext cx="11571951" cy="4817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4500" fontAlgn="auto">
              <a:lnSpc>
                <a:spcPct val="15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came to public attention during the 1960 Rome Olympics, when he won the light heavyweight gold medal for the USA,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demonstrating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great talent and personality in the process.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翻译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他在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1960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年罗马奥运会上引起了公众的关注，当时他为美国赢得了轻重量级拳击金牌，在比赛过程中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展现了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极高的天赋和优秀的品格。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4463" y="714451"/>
            <a:ext cx="472808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when</a:t>
            </a:r>
            <a:r>
              <a:rPr lang="zh-CN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引导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非限制性</a:t>
            </a:r>
            <a:r>
              <a:rPr lang="zh-CN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定语从句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761077" y="2528570"/>
            <a:ext cx="10417175" cy="1206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761077" y="3153620"/>
            <a:ext cx="10142450" cy="332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640233" y="3334731"/>
            <a:ext cx="4764723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现在分词短语作</a:t>
            </a:r>
            <a:r>
              <a:rPr lang="zh-CN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伴随状语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761078" y="1999901"/>
            <a:ext cx="998450" cy="419735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11" name="圆角矩形 10"/>
          <p:cNvSpPr/>
          <p:nvPr/>
        </p:nvSpPr>
        <p:spPr>
          <a:xfrm>
            <a:off x="766475" y="2733885"/>
            <a:ext cx="2503198" cy="419735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32353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demonstrate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</a:t>
            </a:r>
            <a:r>
              <a:rPr lang="en-US" altLang="zh-CN" sz="3200" b="1" i="1" dirty="0">
                <a:solidFill>
                  <a:srgbClr val="0000FF"/>
                </a:solidFill>
                <a:sym typeface="+mn-ea"/>
              </a:rPr>
              <a:t>display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展示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﹐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表露出</a:t>
            </a: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The team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demonstrated </a:t>
            </a:r>
            <a:r>
              <a:rPr lang="en-US" altLang="zh-CN" sz="3200" b="1" dirty="0">
                <a:sym typeface="+mn-ea"/>
              </a:rPr>
              <a:t>breathtaking skills.</a:t>
            </a:r>
          </a:p>
          <a:p>
            <a:pPr indent="-90170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员工应该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展示</a:t>
            </a:r>
            <a:r>
              <a:rPr lang="zh-CN" altLang="en-US" sz="3200" b="1" dirty="0">
                <a:sym typeface="+mn-ea"/>
              </a:rPr>
              <a:t>与他人有效沟通的能力。</a:t>
            </a:r>
            <a:endParaRPr lang="en-US" altLang="zh-CN" sz="3200" b="1" dirty="0">
              <a:sym typeface="+mn-ea"/>
            </a:endParaRP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Employees should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demonstrate</a:t>
            </a:r>
            <a:r>
              <a:rPr lang="en-US" altLang="zh-CN" sz="3200" b="1" dirty="0">
                <a:sym typeface="+mn-ea"/>
              </a:rPr>
              <a:t> an ability to communicate effectively with others.</a:t>
            </a: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prove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证明，证实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表明</a:t>
            </a:r>
          </a:p>
          <a:p>
            <a:pPr indent="-9017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Let me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demonstrate to you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some of the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difficulties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are facing.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theories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 demonstrated to be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false.</a:t>
            </a: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这些理论已被证明是错误的。</a:t>
            </a: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Recent research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demonstrates that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... 最近的研究表明</a:t>
            </a:r>
            <a:endParaRPr lang="en-US" altLang="zh-CN" sz="3200" b="1" u="sng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It has been demonstrated that</a:t>
            </a:r>
            <a:r>
              <a:rPr lang="en-US" altLang="zh-CN" sz="3200" b="1" dirty="0">
                <a:sym typeface="+mn-ea"/>
              </a:rPr>
              <a:t> this drug is effective. </a:t>
            </a:r>
            <a:r>
              <a:rPr lang="zh-CN" altLang="en-US" sz="3200" b="1" dirty="0">
                <a:sym typeface="+mn-ea"/>
              </a:rPr>
              <a:t>已证实……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4225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3235325" fontAlgn="auto">
              <a:lnSpc>
                <a:spcPct val="120000"/>
              </a:lnSpc>
            </a:pP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show and explain how </a:t>
            </a:r>
            <a:r>
              <a:rPr lang="en-US" altLang="zh-CN" sz="3200" b="1" i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works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示范，演示</a:t>
            </a:r>
          </a:p>
          <a:p>
            <a:pPr indent="-3235325" fontAlgn="auto">
              <a:lnSpc>
                <a:spcPct val="120000"/>
              </a:lnSpc>
            </a:pPr>
            <a:r>
              <a:rPr lang="en-US" altLang="zh-CN" sz="3200" b="1" dirty="0"/>
              <a:t>Her job involves </a:t>
            </a:r>
            <a:r>
              <a:rPr lang="en-US" altLang="zh-CN" sz="3200" b="1" dirty="0">
                <a:solidFill>
                  <a:srgbClr val="FF0000"/>
                </a:solidFill>
              </a:rPr>
              <a:t>demonstrating</a:t>
            </a:r>
            <a:r>
              <a:rPr lang="en-US" altLang="zh-CN" sz="3200" b="1" dirty="0"/>
              <a:t> new educational software </a:t>
            </a:r>
            <a:r>
              <a:rPr lang="en-US" altLang="zh-CN" sz="3200" b="1" u="sng" dirty="0">
                <a:solidFill>
                  <a:srgbClr val="FF0000"/>
                </a:solidFill>
              </a:rPr>
              <a:t>to</a:t>
            </a:r>
            <a:r>
              <a:rPr lang="en-US" altLang="zh-CN" sz="3200" b="1" dirty="0"/>
              <a:t> users.</a:t>
            </a:r>
          </a:p>
          <a:p>
            <a:pPr indent="-3235325" fontAlgn="auto">
              <a:lnSpc>
                <a:spcPct val="120000"/>
              </a:lnSpc>
            </a:pPr>
            <a:r>
              <a:rPr lang="zh-CN" altLang="en-US" sz="3200" b="1" dirty="0"/>
              <a:t>她的工作包括向用户</a:t>
            </a:r>
            <a:r>
              <a:rPr lang="zh-CN" altLang="en-US" sz="3200" b="1" dirty="0">
                <a:solidFill>
                  <a:schemeClr val="tx1"/>
                </a:solidFill>
              </a:rPr>
              <a:t>演示</a:t>
            </a:r>
            <a:r>
              <a:rPr lang="zh-CN" altLang="en-US" sz="3200" b="1" dirty="0"/>
              <a:t>新的教学软件。</a:t>
            </a:r>
          </a:p>
          <a:p>
            <a:pPr indent="-3235325" fontAlgn="auto">
              <a:lnSpc>
                <a:spcPct val="120000"/>
              </a:lnSpc>
            </a:pP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游行示威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2353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students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demonstrating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against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war</a:t>
            </a:r>
          </a:p>
          <a:p>
            <a:pPr indent="-3235325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They are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demonstrating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favour of</a:t>
            </a:r>
            <a:r>
              <a:rPr lang="zh-CN" altLang="en-US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free higher education.</a:t>
            </a:r>
          </a:p>
          <a:p>
            <a:pPr indent="-3235325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他们参加示威游行，要求实行免费高等教育。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32" y="636224"/>
            <a:ext cx="1335140" cy="77425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78535" y="1800225"/>
            <a:ext cx="10337800" cy="24536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143250" indent="-31432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demonstration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表现，表达；证实，证明；示范，演示；游行示威</a:t>
            </a: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hold/stage a demonstration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举行示威游行</a:t>
            </a: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practical demonstration of 	sth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实际操作表演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7333" y="547948"/>
            <a:ext cx="1138428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表明我们对保护环境的承诺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demonstrate our commitment to environmental protection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He built this wonderful device which he and I are going to demonstrate ____________ you.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In the cities vast crowds have been _______________ (demonstrate) for change.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After great efforts, he was able to give the public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brief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 (demonstrate)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connection between the two sets of figures.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44933" y="2865505"/>
            <a:ext cx="628650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65729" y="3419978"/>
            <a:ext cx="273664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demonstrating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8823" y="5279968"/>
            <a:ext cx="273664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demonstration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200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proceed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become ...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继而成为……</a:t>
            </a:r>
          </a:p>
          <a:p>
            <a:pPr indent="-25146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proceed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continue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do sth,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go on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doing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做完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接着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B)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25146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We’re not sure whether we still want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proceed with the plan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251460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我们不确定是否还要</a:t>
            </a:r>
            <a:r>
              <a:rPr lang="zh-CN" altLang="en-US" sz="3200" b="1" u="sng" dirty="0">
                <a:solidFill>
                  <a:schemeClr val="tx1"/>
                </a:solidFill>
                <a:sym typeface="+mn-ea"/>
              </a:rPr>
              <a:t>继续这个计划</a:t>
            </a:r>
            <a:r>
              <a:rPr lang="zh-CN" altLang="en-US" sz="3200" b="1" dirty="0">
                <a:sym typeface="+mn-ea"/>
              </a:rPr>
              <a:t>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5146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Having said she wasn't hungry, she 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then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proceeded to order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three-course meal.</a:t>
            </a:r>
          </a:p>
          <a:p>
            <a:pPr indent="-25146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她说她不饿之后，接着要了一份三道菜的大餐。</a:t>
            </a:r>
          </a:p>
          <a:p>
            <a:pPr indent="-251460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Work is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proceeding slowly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251460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工作进展缓慢。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57200" fontAlgn="auto">
              <a:lnSpc>
                <a:spcPct val="120000"/>
              </a:lnSpc>
            </a:pP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0571"/>
            <a:ext cx="1159293" cy="64920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617056" y="5361814"/>
            <a:ext cx="9588154" cy="12725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proceed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		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接着做某事，继而做某事</a:t>
            </a: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proceed with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		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继续某事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000865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26352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[formal] to move in a particular direction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向某一方向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前进，移动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635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marchers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proceeded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slowly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along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street.</a:t>
            </a:r>
          </a:p>
          <a:p>
            <a:pPr indent="-2635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Passengers for Rome should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proceed to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Gate 32 for boarding.</a:t>
            </a:r>
          </a:p>
          <a:p>
            <a:pPr indent="-263525" fontAlgn="auto">
              <a:lnSpc>
                <a:spcPct val="120000"/>
              </a:lnSpc>
            </a:pP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635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proceedings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一系列行动，事件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an organized series of events that take place in a particular place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)；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诉讼程序</a:t>
            </a:r>
          </a:p>
          <a:p>
            <a:pPr indent="-26352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proceedings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the enquiry will take place in private.</a:t>
            </a:r>
          </a:p>
          <a:p>
            <a:pPr indent="-26352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问讯将会秘密进行。</a:t>
            </a:r>
          </a:p>
          <a:p>
            <a:pPr indent="-2635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bring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legal proceedings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against sb</a:t>
            </a:r>
          </a:p>
          <a:p>
            <a:pPr indent="-2635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向某人提起法律诉讼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5785" y="521104"/>
            <a:ext cx="1084707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Having said she wasn’t hungry, she then proceeded ___________ (order) a three-course meal.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government was determined to proceed __________ the election.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The ideas were not new. Their development had proceeded __________ (steady) since the war.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我不知道我们是否应该继续进行狂欢节。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I’m not sure if we should proceed with the carnival.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51585" y="1686964"/>
            <a:ext cx="171232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order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298305" y="2319673"/>
            <a:ext cx="95891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60145" y="3984394"/>
            <a:ext cx="152958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steadily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8825" y="197737"/>
            <a:ext cx="11314748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Another sportsperson that should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applauded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is ...</a:t>
            </a:r>
          </a:p>
          <a:p>
            <a:pPr marL="2332355" indent="-23323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applaud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vt.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express praise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称赞；赞许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We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applaud</a:t>
            </a:r>
            <a:r>
              <a:rPr lang="en-US" altLang="zh-CN" sz="3200" b="1" dirty="0">
                <a:sym typeface="+mn-ea"/>
              </a:rPr>
              <a:t> her decision.  </a:t>
            </a:r>
            <a:r>
              <a:rPr lang="zh-CN" altLang="en-US" sz="3200" b="1" dirty="0">
                <a:sym typeface="+mn-ea"/>
              </a:rPr>
              <a:t>我们</a:t>
            </a:r>
            <a:r>
              <a:rPr lang="zh-CN" altLang="en-US" sz="3200" b="1" u="sng" dirty="0">
                <a:solidFill>
                  <a:schemeClr val="tx1"/>
                </a:solidFill>
                <a:sym typeface="+mn-ea"/>
              </a:rPr>
              <a:t>称赞</a:t>
            </a:r>
            <a:r>
              <a:rPr lang="zh-CN" altLang="en-US" sz="3200" b="1" dirty="0">
                <a:sym typeface="+mn-ea"/>
              </a:rPr>
              <a:t>她的决定。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sym typeface="+mn-ea"/>
              </a:rPr>
              <a:t>applaud her for having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the courage to refuse.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His efforts to improve the situation are _______________.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他为改善状况所作的努力应该受到赞许。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vt. &amp; vi. 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2)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clap your hands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鼓掌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crowd started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applaud loudly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人群开始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热烈地鼓掌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rose to applaud the speaker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他们</a:t>
            </a:r>
            <a:r>
              <a:rPr lang="en-US" altLang="zh-CN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起立向演讲者鼓掌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213600" y="2553335"/>
            <a:ext cx="2982595" cy="603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to be applauded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831" y="1130300"/>
            <a:ext cx="1335140" cy="77425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05831" y="2126737"/>
            <a:ext cx="9576062" cy="30441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applause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掌声，喝彩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爆发出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掌声</a:t>
            </a:r>
          </a:p>
          <a:p>
            <a:pPr marL="450850" indent="-4508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give sb a round/burst of applause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为某人热烈鼓掌</a:t>
            </a:r>
          </a:p>
          <a:p>
            <a:pPr marL="450850" indent="-4508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deafening / thunderous /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rapturous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applause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震耳欲聋的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雷鸣般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热烈的的掌声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978775" y="4525010"/>
            <a:ext cx="216979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2800" b="1" i="1">
                <a:solidFill>
                  <a:srgbClr val="0000FF"/>
                </a:solidFill>
                <a:latin typeface="Times New Roman Bold Italic" panose="02020503050405090304" charset="0"/>
                <a:ea typeface="ui-serif"/>
                <a:cs typeface="Times New Roman Bold Italic" panose="02020503050405090304" charset="0"/>
              </a:rPr>
              <a:t>/ˈræptʃərəs/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819525" y="2814320"/>
            <a:ext cx="71710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break/burst into applause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5600" y="765939"/>
            <a:ext cx="11277600" cy="5359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根据汉语意思补全下列句子（每空一词）。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 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肖恩为改善状况所作的努力受到了他们的赞许。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Shawn’s efforts to improve the situation ________ ________ ________ ________ ________.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简开始鼓掌，其他人也跟着鼓起掌来。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44450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Jane ________ ________ ________ and the others joined in.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 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贾斯汀让我们为这位小歌手报以热烈的掌声。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Justin asked us to give a big round of ________ ________ ________ ________ ________.</a:t>
            </a:r>
          </a:p>
        </p:txBody>
      </p:sp>
      <p:sp>
        <p:nvSpPr>
          <p:cNvPr id="3" name="矩形 2"/>
          <p:cNvSpPr/>
          <p:nvPr/>
        </p:nvSpPr>
        <p:spPr>
          <a:xfrm>
            <a:off x="787400" y="2037834"/>
            <a:ext cx="102997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          have        been applauded      by        them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00277" y="3717512"/>
            <a:ext cx="48333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started      to         applaud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4806580"/>
            <a:ext cx="10045700" cy="1222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   applause       to 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this           little        singer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34379" y="332267"/>
            <a:ext cx="11095355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56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if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not enough, she returned to the Olympics and won a silver medal in 2016, just two years after giving birth to her first child.</a:t>
            </a:r>
          </a:p>
          <a:p>
            <a:pPr indent="-35560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但是她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仿佛认为那还不够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</a:p>
        </p:txBody>
      </p:sp>
      <p:sp>
        <p:nvSpPr>
          <p:cNvPr id="2" name="Text Box 1"/>
          <p:cNvSpPr txBox="1"/>
          <p:nvPr>
            <p:custDataLst>
              <p:tags r:id="rId2"/>
            </p:custDataLst>
          </p:nvPr>
        </p:nvSpPr>
        <p:spPr>
          <a:xfrm>
            <a:off x="534670" y="3564890"/>
            <a:ext cx="11297920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你对待老人就像他们是你的父母一样。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You treat the old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他表现得好像什么都没发生过一样。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behaved </a:t>
            </a:r>
          </a:p>
        </p:txBody>
      </p:sp>
      <p:sp>
        <p:nvSpPr>
          <p:cNvPr id="6" name="Text Box 5"/>
          <p:cNvSpPr txBox="1"/>
          <p:nvPr>
            <p:custDataLst>
              <p:tags r:id="rId3"/>
            </p:custDataLst>
          </p:nvPr>
        </p:nvSpPr>
        <p:spPr>
          <a:xfrm>
            <a:off x="3702050" y="42049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if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were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your parents.</a:t>
            </a:r>
          </a:p>
        </p:txBody>
      </p:sp>
      <p:sp>
        <p:nvSpPr>
          <p:cNvPr id="7" name="Text Box 6"/>
          <p:cNvSpPr txBox="1"/>
          <p:nvPr>
            <p:custDataLst>
              <p:tags r:id="rId4"/>
            </p:custDataLst>
          </p:nvPr>
        </p:nvSpPr>
        <p:spPr>
          <a:xfrm>
            <a:off x="2728595" y="53365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if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nothing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had happened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198372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consistent good performance 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consistent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1)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always in the same way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始终如一的；持续的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constant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is not very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consistent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way she treats her children.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她对待孩子反复无常。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过去五年见证了这个国家经济的持续增长。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Last 5 years have witnessed/seen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consistent improvement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the country’s economy. </a:t>
            </a: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in agreement with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与……一致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results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entirely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consistent with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our earlier research.</a:t>
            </a:r>
          </a:p>
          <a:p>
            <a:pPr indent="-4445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这些结果与我们早些时候的研究完全吻合。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193665" y="1028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一贯的良好表现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635" y="0"/>
            <a:ext cx="1238694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45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2008 Beijing Olympics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called on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whole world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join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...</a:t>
            </a:r>
          </a:p>
          <a:p>
            <a:pPr marL="4850130" indent="-48501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call on/upon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: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</a:t>
            </a:r>
            <a:r>
              <a:rPr lang="en-US" altLang="zh-CN" sz="3200" b="1" i="1" dirty="0">
                <a:sym typeface="+mn-ea"/>
              </a:rPr>
              <a:t>to ask or demand that somebody do something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请求某人做某事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850130" indent="-485013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                          2) </a:t>
            </a:r>
            <a:r>
              <a:rPr lang="en-US" altLang="zh-CN" sz="3200" b="1" i="1" dirty="0">
                <a:sym typeface="+mn-ea"/>
              </a:rPr>
              <a:t>to formally invite or ask somebody to </a:t>
            </a:r>
          </a:p>
          <a:p>
            <a:pPr marL="4850130" indent="0">
              <a:lnSpc>
                <a:spcPct val="120000"/>
              </a:lnSpc>
            </a:pPr>
            <a:r>
              <a:rPr lang="en-US" altLang="zh-CN" sz="3200" b="1" i="1" dirty="0">
                <a:sym typeface="+mn-ea"/>
              </a:rPr>
              <a:t>speak, etc.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正式邀请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UN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called on both sides to stop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war and have a peace talk.</a:t>
            </a:r>
          </a:p>
          <a:p>
            <a:pPr indent="-90170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他号召学生们加入舞蹈俱乐部。</a:t>
            </a: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called on the students to join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Dance Club.</a:t>
            </a:r>
          </a:p>
          <a:p>
            <a:pPr indent="-901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was called on to collect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exam papers by our Maths teacher.</a:t>
            </a:r>
          </a:p>
          <a:p>
            <a:pPr indent="-90170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我们数学老师叫我去收考卷。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901700" indent="-9017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I'd now like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call upon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our next speaker.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30127" y="945778"/>
            <a:ext cx="7796497" cy="304419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call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短语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call back 	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回电话</a:t>
            </a: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call for 		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要求；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呼吁</a:t>
            </a: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call in 		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叫来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call off 		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取消，停止进行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07" y="2876875"/>
            <a:ext cx="1335140" cy="7742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8620" y="1611630"/>
            <a:ext cx="11292840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Last but not least, we should call on citizens _________ (take) the bus instead of driving a car as much as possible.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Air pollution has risen above an acceptable level, which calls _________ our special concern.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Since the weather is bad, let’s call _________ the trip.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52510" y="2240280"/>
            <a:ext cx="148309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take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4460" y="3966210"/>
            <a:ext cx="70884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95210" y="4597921"/>
            <a:ext cx="66236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off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-1905" y="0"/>
            <a:ext cx="1232281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6223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rank (be ranked)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first in the medal table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在奖牌榜上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位列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第一</a:t>
            </a:r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rank high in the class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3200" b="1" dirty="0">
                <a:sym typeface="+mn-ea"/>
              </a:rPr>
              <a:t>名列前茅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9780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rank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1)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give </a:t>
            </a:r>
            <a:r>
              <a:rPr lang="en-US" altLang="zh-CN" sz="3200" b="1" i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sb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en-US" altLang="zh-CN" sz="3200" b="1" i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particular position on a scale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属于某等级；把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分等级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tasks have been</a:t>
            </a:r>
            <a:r>
              <a:rPr lang="en-US" altLang="zh-CN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ranked </a:t>
            </a:r>
            <a:r>
              <a:rPr lang="en-US" altLang="zh-CN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order of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difficulty.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按照困难程度对工作进行了</a:t>
            </a:r>
            <a:r>
              <a:rPr lang="zh-CN" altLang="en-US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分级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</a:p>
          <a:p>
            <a:pPr indent="-188468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把学生按能力排名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restaurant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ranks as/among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finest in town.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属于……之列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Forty-five per cent of respondents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ranked health as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their number one priority. (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rank sth as (doing)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515360" y="3497580"/>
            <a:ext cx="832866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rank the students in order of ability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2000" cy="655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arrange objects in a line or row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排列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Several pairs of riding boots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 ranked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neatly in the hall.</a:t>
            </a:r>
          </a:p>
          <a:p>
            <a:pPr indent="-188468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门厅里整齐地摆放着几双马靴。</a:t>
            </a:r>
          </a:p>
          <a:p>
            <a:pPr indent="-1884680" fontAlgn="auto">
              <a:lnSpc>
                <a:spcPct val="120000"/>
              </a:lnSpc>
            </a:pP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78025" indent="-1978025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rank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position, especialy a high position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等级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级别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people of high social rank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社会地位高的人</a:t>
            </a:r>
          </a:p>
          <a:p>
            <a:pPr indent="-188468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painter of the first rank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一流的画家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军衔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are officers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 senior/junior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rank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army.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排，列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Everyone lines up 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ranks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all facing the instructor.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9130" y="957580"/>
            <a:ext cx="1061847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University _______________ (rank) number one in the country for engineering.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莎士比亚是历史上最伟大的作家之一。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Shakespeare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ranks mong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greatest writers in history.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支持者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通常认为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教育比国防重要。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Advoates regulary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rank education as being more important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than defence.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48100" y="1551940"/>
            <a:ext cx="303480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ranks/ is ranked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200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8468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(an) upward trend 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趋势</a:t>
            </a:r>
          </a:p>
          <a:p>
            <a:pPr indent="-188468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当前教育的趋势</a:t>
            </a:r>
          </a:p>
          <a:p>
            <a:pPr indent="-1884680" fontAlgn="auto">
              <a:lnSpc>
                <a:spcPct val="120000"/>
              </a:lnSpc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a growing trend towards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earlier retirement.</a:t>
            </a:r>
          </a:p>
          <a:p>
            <a:pPr indent="-188468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提早退休有增加的趋势。</a:t>
            </a:r>
          </a:p>
          <a:p>
            <a:pPr indent="-188468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 seem to have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set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/start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new trend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188468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看来你们是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开创了潮流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follow the trend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赶时髦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are always looking to stay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trend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流行的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961890" y="609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downward trend</a:t>
            </a:r>
          </a:p>
        </p:txBody>
      </p:sp>
      <p:sp>
        <p:nvSpPr>
          <p:cNvPr id="3" name="Text Box 2"/>
          <p:cNvSpPr txBox="1"/>
          <p:nvPr>
            <p:custDataLst>
              <p:tags r:id="rId2"/>
            </p:custDataLst>
          </p:nvPr>
        </p:nvSpPr>
        <p:spPr>
          <a:xfrm>
            <a:off x="8356600" y="6096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sth</a:t>
            </a:r>
          </a:p>
        </p:txBody>
      </p:sp>
      <p:sp>
        <p:nvSpPr>
          <p:cNvPr id="4" name="Text Box 3"/>
          <p:cNvSpPr txBox="1"/>
          <p:nvPr>
            <p:custDataLst>
              <p:tags r:id="rId3"/>
            </p:custDataLst>
          </p:nvPr>
        </p:nvSpPr>
        <p:spPr>
          <a:xfrm>
            <a:off x="3231515" y="64452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current trends in education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-171450"/>
            <a:ext cx="12192000" cy="717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8468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ambition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[C]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追求的目标，夙愿</a:t>
            </a:r>
            <a:endParaRPr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884680" fontAlgn="auto">
              <a:lnSpc>
                <a:spcPct val="120000"/>
              </a:lnSpc>
            </a:pP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never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achieved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/realized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her ambition of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becoming 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famous writer.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实现做某事的志向</a:t>
            </a:r>
          </a:p>
          <a:p>
            <a:pPr indent="-1884680" fontAlgn="auto">
              <a:lnSpc>
                <a:spcPct val="120000"/>
              </a:lnSpc>
            </a:pP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His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burning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ambition was to 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study medicine.</a:t>
            </a:r>
          </a:p>
          <a:p>
            <a:pPr indent="-1884680" fontAlgn="auto">
              <a:lnSpc>
                <a:spcPct val="120000"/>
              </a:lnSpc>
            </a:pPr>
            <a:r>
              <a:rPr 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某人的理想是……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have an ambition to do 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[U]</a:t>
            </a:r>
            <a:r>
              <a:rPr 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壮志，雄心</a:t>
            </a:r>
          </a:p>
          <a:p>
            <a:pPr indent="-1884680" fontAlgn="auto">
              <a:lnSpc>
                <a:spcPct val="120000"/>
              </a:lnSpc>
            </a:pPr>
            <a:r>
              <a:rPr 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为个人野心所驱使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ambitious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有野心的；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need a lot of effort or money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耗力，耗资</a:t>
            </a:r>
            <a:endParaRPr 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884680" fontAlgn="auto">
              <a:lnSpc>
                <a:spcPct val="120000"/>
              </a:lnSpc>
            </a:pP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They were very </a:t>
            </a:r>
            <a:r>
              <a:rPr 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ambitious </a:t>
            </a: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 their children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有野心的</a:t>
            </a:r>
            <a:endParaRPr 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884680" fontAlgn="auto">
              <a:lnSpc>
                <a:spcPct val="120000"/>
              </a:lnSpc>
            </a:pP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government's </a:t>
            </a:r>
            <a:r>
              <a:rPr 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ambitious </a:t>
            </a: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plans for social reform</a:t>
            </a:r>
          </a:p>
          <a:p>
            <a:pPr indent="-1884680" fontAlgn="auto">
              <a:lnSpc>
                <a:spcPct val="120000"/>
              </a:lnSpc>
            </a:pP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政府耗资巨大的社会改革计划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684905" y="3429000"/>
            <a:ext cx="86252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motivated by personal ambition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-102870"/>
            <a:ext cx="1219200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8468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ascend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to go up, to climb up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上升，升高，攀登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884680" fontAlgn="auto">
              <a:lnSpc>
                <a:spcPct val="120000"/>
              </a:lnSpc>
            </a:pP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air became colder as we </a:t>
            </a:r>
            <a:r>
              <a:rPr 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ascended</a:t>
            </a: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1884680" fontAlgn="auto">
              <a:lnSpc>
                <a:spcPct val="120000"/>
              </a:lnSpc>
            </a:pP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results,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ranked i</a:t>
            </a:r>
            <a:r>
              <a:rPr 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 ascending order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 as follows:</a:t>
            </a:r>
          </a:p>
          <a:p>
            <a:pPr indent="-1884680" fontAlgn="auto">
              <a:lnSpc>
                <a:spcPct val="120000"/>
              </a:lnSpc>
            </a:pP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结果按由低到高的顺序排列如下：</a:t>
            </a:r>
          </a:p>
          <a:p>
            <a:pPr indent="-1884680" fontAlgn="auto">
              <a:lnSpc>
                <a:spcPct val="120000"/>
              </a:lnSpc>
            </a:pP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Her heart was thumping as she </a:t>
            </a:r>
            <a:r>
              <a:rPr 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ascended the stairs</a:t>
            </a: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1884680" fontAlgn="auto">
              <a:lnSpc>
                <a:spcPct val="120000"/>
              </a:lnSpc>
            </a:pPr>
            <a:r>
              <a:rPr 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她上楼梯时，心怦怦跳个不停。</a:t>
            </a:r>
          </a:p>
          <a:p>
            <a:pPr indent="-1884680" fontAlgn="auto">
              <a:lnSpc>
                <a:spcPct val="120000"/>
              </a:lnSpc>
            </a:pPr>
            <a:r>
              <a:rPr 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</a:t>
            </a:r>
            <a:r>
              <a:rPr 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ascended to the peak of</a:t>
            </a:r>
            <a:r>
              <a:rPr 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sporting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excellence</a:t>
            </a:r>
            <a:r>
              <a:rPr 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884680" fontAlgn="auto">
              <a:lnSpc>
                <a:spcPct val="120000"/>
              </a:lnSpc>
            </a:pPr>
            <a:r>
              <a:rPr 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他登上了体育卓越的巅峰。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YWZlYTIzNGZiMjFhNTBkNTdkY2IwNzZiNDZh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高中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4061</Words>
  <Application>Microsoft Macintosh PowerPoint</Application>
  <PresentationFormat>Widescreen</PresentationFormat>
  <Paragraphs>378</Paragraphs>
  <Slides>44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黑体</vt:lpstr>
      <vt:lpstr>宋体</vt:lpstr>
      <vt:lpstr>Times New Roman Bold</vt:lpstr>
      <vt:lpstr>Times New Roman Bold Italic</vt:lpstr>
      <vt:lpstr>Arial</vt:lpstr>
      <vt:lpstr>Calibri</vt:lpstr>
      <vt:lpstr>Times New Roman</vt:lpstr>
      <vt:lpstr>Wingdings</vt:lpstr>
      <vt:lpstr>高中课件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76</cp:revision>
  <dcterms:created xsi:type="dcterms:W3CDTF">2024-10-21T02:07:41Z</dcterms:created>
  <dcterms:modified xsi:type="dcterms:W3CDTF">2026-07-23T01:04:38Z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570448CCAA1FBF085C1F0A67185ED169_42</vt:lpwstr>
  </property>
  <property fmtid="{D5CDD505-2E9C-101B-9397-08002B2CF9AE}" pid="3" name="KSOProductBuildVer">
    <vt:lpwstr>1033-6.11.0.8885</vt:lpwstr>
  </property>
</Properties>
</file>