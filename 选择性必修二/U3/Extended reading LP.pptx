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2.xml" ContentType="application/vnd.openxmlformats-officedocument.themeOverr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Override6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507" r:id="rId2"/>
    <p:sldId id="432" r:id="rId3"/>
    <p:sldId id="465" r:id="rId4"/>
    <p:sldId id="467" r:id="rId5"/>
    <p:sldId id="502" r:id="rId6"/>
    <p:sldId id="503" r:id="rId7"/>
    <p:sldId id="505" r:id="rId8"/>
    <p:sldId id="508" r:id="rId9"/>
    <p:sldId id="525" r:id="rId10"/>
    <p:sldId id="537" r:id="rId11"/>
    <p:sldId id="434" r:id="rId12"/>
    <p:sldId id="554" r:id="rId13"/>
    <p:sldId id="469" r:id="rId14"/>
    <p:sldId id="514" r:id="rId15"/>
    <p:sldId id="515" r:id="rId16"/>
    <p:sldId id="527" r:id="rId17"/>
    <p:sldId id="528" r:id="rId18"/>
    <p:sldId id="530" r:id="rId19"/>
    <p:sldId id="532" r:id="rId20"/>
    <p:sldId id="534" r:id="rId21"/>
    <p:sldId id="520" r:id="rId22"/>
    <p:sldId id="557" r:id="rId23"/>
    <p:sldId id="556" r:id="rId24"/>
    <p:sldId id="523" r:id="rId25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A74F9"/>
    <a:srgbClr val="FFFFFF"/>
    <a:srgbClr val="E9EBF5"/>
    <a:srgbClr val="CFD5EA"/>
    <a:srgbClr val="4472C4"/>
    <a:srgbClr val="C4D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34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dirty="0">
                <a:sym typeface="+mn-ea"/>
              </a:rPr>
              <a:t>从参观博物馆和乡村住宅的人数明显看出人们对历史越来越感兴趣。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b="1" dirty="0">
                <a:sym typeface="+mn-ea"/>
              </a:rPr>
              <a:t>有必要调查一下怎样才能实施这些方案。</a:t>
            </a:r>
            <a:endParaRPr lang="en-US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  <a:sym typeface="+mn-ea"/>
              </a:rPr>
              <a:t>你的提议仍在审查之中。</a:t>
            </a:r>
            <a:endParaRPr lang="en-US" altLang="zh-CN" b="1" dirty="0">
              <a:solidFill>
                <a:srgbClr val="FF0000"/>
              </a:solidFill>
            </a:endParaRPr>
          </a:p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b="1" dirty="0">
                <a:sym typeface="+mn-ea"/>
              </a:rPr>
              <a:t>The head teacher spoke in a 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severe</a:t>
            </a:r>
            <a:r>
              <a:rPr lang="en-US" altLang="zh-CN" b="1" dirty="0">
                <a:sym typeface="+mn-ea"/>
              </a:rPr>
              <a:t> voice.</a:t>
            </a: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他讨论的要点实际上根本不重要。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他讨论的要点实际上根本不重要。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The Channel Tunnel has enormous symbolic significance for a united Europe.</a:t>
            </a:r>
          </a:p>
          <a:p>
            <a:r>
              <a:rPr lang="en-US"/>
              <a:t>英吉利海峡隧道对于建立一个统一的欧洲具有重大的象征意义。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2.png"/><Relationship Id="rId2" Type="http://schemas.openxmlformats.org/officeDocument/2006/relationships/tags" Target="../tags/tag3.xml"/><Relationship Id="rId1" Type="http://schemas.openxmlformats.org/officeDocument/2006/relationships/themeOverride" Target="../theme/themeOverride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44991" y="961432"/>
            <a:ext cx="11386232" cy="363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/>
              <a:t>1. There is </a:t>
            </a:r>
            <a:r>
              <a:rPr lang="en-US" altLang="zh-CN" sz="3200" b="1" dirty="0">
                <a:solidFill>
                  <a:srgbClr val="FF0000"/>
                </a:solidFill>
              </a:rPr>
              <a:t>evidence</a:t>
            </a:r>
            <a:r>
              <a:rPr lang="en-US" altLang="zh-CN" sz="3200" b="1" dirty="0"/>
              <a:t> that acupuncture </a:t>
            </a:r>
            <a:r>
              <a:rPr lang="en-US" altLang="zh-CN" sz="3200" b="1" dirty="0">
                <a:solidFill>
                  <a:srgbClr val="FF0000"/>
                </a:solidFill>
              </a:rPr>
              <a:t>dates back to</a:t>
            </a:r>
            <a:r>
              <a:rPr lang="en-US" altLang="zh-CN" sz="3200" b="1" dirty="0"/>
              <a:t> the Stone </a:t>
            </a:r>
          </a:p>
          <a:p>
            <a:pPr indent="360680">
              <a:lnSpc>
                <a:spcPct val="120000"/>
              </a:lnSpc>
            </a:pPr>
            <a:r>
              <a:rPr lang="en-US" altLang="zh-CN" sz="3200" b="1" dirty="0"/>
              <a:t>Age, when stone tools called </a:t>
            </a:r>
            <a:r>
              <a:rPr lang="en-US" altLang="zh-CN" sz="3200" b="1" i="1" dirty="0"/>
              <a:t>bian</a:t>
            </a:r>
            <a:r>
              <a:rPr lang="en-US" altLang="zh-CN" sz="3200" b="1" dirty="0"/>
              <a:t> were used to press areas of </a:t>
            </a:r>
          </a:p>
          <a:p>
            <a:pPr indent="360680">
              <a:lnSpc>
                <a:spcPct val="120000"/>
              </a:lnSpc>
            </a:pPr>
            <a:r>
              <a:rPr lang="en-US" altLang="zh-CN" sz="3200" b="1" dirty="0"/>
              <a:t>the body.</a:t>
            </a:r>
          </a:p>
          <a:p>
            <a:pPr marL="450850" indent="-450850">
              <a:lnSpc>
                <a:spcPct val="120000"/>
              </a:lnSpc>
            </a:pPr>
            <a:r>
              <a:rPr lang="zh-CN" altLang="en-US" sz="3200" b="1" dirty="0"/>
              <a:t>    </a:t>
            </a:r>
            <a:endParaRPr lang="en-US" altLang="zh-CN" sz="3200" b="1" dirty="0"/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/>
              <a:t>	</a:t>
            </a:r>
            <a:r>
              <a:rPr lang="zh-CN" altLang="en-US" sz="3200" b="1" dirty="0"/>
              <a:t>有证据显示，针灸始于石器时代，当时一种名为“砭”的石器被用来按压身体部位。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93460" y="4699364"/>
            <a:ext cx="10844858" cy="1217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</a:rPr>
              <a:t>主从复合句</a:t>
            </a:r>
            <a:r>
              <a:rPr lang="zh-CN" altLang="en-US" sz="3200" b="1" dirty="0"/>
              <a:t>，主句是</a:t>
            </a:r>
            <a:r>
              <a:rPr lang="en-US" altLang="zh-CN" sz="3200" b="1" dirty="0"/>
              <a:t>there is evidence…, </a:t>
            </a:r>
            <a:r>
              <a:rPr lang="zh-CN" altLang="en-US" sz="3200" b="1" dirty="0"/>
              <a:t>主句里包含了一个</a:t>
            </a:r>
            <a:r>
              <a:rPr lang="en-US" altLang="zh-CN" sz="3200" b="1" dirty="0">
                <a:solidFill>
                  <a:srgbClr val="FF0000"/>
                </a:solidFill>
              </a:rPr>
              <a:t>that</a:t>
            </a:r>
            <a:r>
              <a:rPr lang="zh-CN" altLang="en-US" sz="3200" b="1" dirty="0">
                <a:solidFill>
                  <a:srgbClr val="FF0000"/>
                </a:solidFill>
              </a:rPr>
              <a:t>引导的同位语从句</a:t>
            </a:r>
            <a:r>
              <a:rPr lang="zh-CN" altLang="en-US" sz="3200" b="1" dirty="0"/>
              <a:t>。</a:t>
            </a:r>
            <a:endParaRPr lang="en-US" altLang="zh-CN" sz="3200" b="1" dirty="0"/>
          </a:p>
        </p:txBody>
      </p:sp>
      <p:sp>
        <p:nvSpPr>
          <p:cNvPr id="2" name="矩形 1"/>
          <p:cNvSpPr/>
          <p:nvPr/>
        </p:nvSpPr>
        <p:spPr>
          <a:xfrm>
            <a:off x="4739687" y="478558"/>
            <a:ext cx="3690434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800" b="1" dirty="0"/>
              <a:t>that</a:t>
            </a:r>
            <a:r>
              <a:rPr lang="zh-CN" altLang="en-US" sz="2800" b="1" dirty="0"/>
              <a:t>引导的同位语从句</a:t>
            </a:r>
            <a:endParaRPr lang="zh-CN" altLang="en-US" sz="2800" dirty="0"/>
          </a:p>
        </p:txBody>
      </p:sp>
      <p:sp>
        <p:nvSpPr>
          <p:cNvPr id="3" name="椭圆 2"/>
          <p:cNvSpPr/>
          <p:nvPr/>
        </p:nvSpPr>
        <p:spPr>
          <a:xfrm>
            <a:off x="3849512" y="970846"/>
            <a:ext cx="880533" cy="609600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662803" y="2217046"/>
            <a:ext cx="5036220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dirty="0"/>
              <a:t>when</a:t>
            </a:r>
            <a:r>
              <a:rPr lang="zh-CN" altLang="en-US" sz="2800" b="1" dirty="0"/>
              <a:t>引导的非限制性定语句，用来解释说明</a:t>
            </a:r>
            <a:r>
              <a:rPr lang="en-US" altLang="zh-CN" sz="2800" b="1" dirty="0"/>
              <a:t>the Stone Age</a:t>
            </a:r>
            <a:endParaRPr lang="zh-CN" altLang="en-US" sz="2800" dirty="0"/>
          </a:p>
        </p:txBody>
      </p:sp>
      <p:sp>
        <p:nvSpPr>
          <p:cNvPr id="8" name="矩形 7"/>
          <p:cNvSpPr/>
          <p:nvPr/>
        </p:nvSpPr>
        <p:spPr>
          <a:xfrm>
            <a:off x="1659468" y="1670757"/>
            <a:ext cx="993422" cy="428978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下弧形箭头 8"/>
          <p:cNvSpPr/>
          <p:nvPr/>
        </p:nvSpPr>
        <p:spPr>
          <a:xfrm flipH="1">
            <a:off x="1128891" y="2122312"/>
            <a:ext cx="948266" cy="214490"/>
          </a:xfrm>
          <a:prstGeom prst="curvedUpArrow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9437512" y="1535290"/>
            <a:ext cx="1591733" cy="1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756357" y="2111024"/>
            <a:ext cx="756355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animBg="1"/>
      <p:bldP spid="3" grpId="0" animBg="1"/>
      <p:bldP spid="6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23655" y="94587"/>
            <a:ext cx="11676958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60223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evidence U</a:t>
            </a:r>
            <a:r>
              <a:rPr lang="en-US" altLang="zh-CN" sz="3200" b="1" i="1" dirty="0">
                <a:solidFill>
                  <a:srgbClr val="FF0000"/>
                </a:solidFill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</a:p>
          <a:p>
            <a:pPr indent="-2602230" fontAlgn="auto">
              <a:lnSpc>
                <a:spcPct val="120000"/>
              </a:lnSpc>
            </a:pPr>
            <a:r>
              <a:rPr lang="en-US" altLang="zh-CN" sz="3200" b="1" dirty="0"/>
              <a:t>1) </a:t>
            </a:r>
            <a:r>
              <a:rPr lang="zh-CN" altLang="en-US" sz="3200" b="1" dirty="0">
                <a:solidFill>
                  <a:srgbClr val="FF0000"/>
                </a:solidFill>
              </a:rPr>
              <a:t>证据；证明</a:t>
            </a:r>
          </a:p>
          <a:p>
            <a:pPr indent="-260223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</a:rPr>
              <a:t>We found further scientific </a:t>
            </a:r>
            <a:r>
              <a:rPr lang="zh-CN" altLang="en-US" sz="3200" b="1" u="sng" dirty="0">
                <a:solidFill>
                  <a:srgbClr val="FF0000"/>
                </a:solidFill>
              </a:rPr>
              <a:t>evidence </a:t>
            </a:r>
            <a:r>
              <a:rPr lang="en-US" altLang="zh-CN" sz="3200" b="1" u="sng" dirty="0">
                <a:solidFill>
                  <a:srgbClr val="FF0000"/>
                </a:solidFill>
              </a:rPr>
              <a:t>of/</a:t>
            </a:r>
            <a:r>
              <a:rPr lang="zh-CN" altLang="en-US" sz="3200" b="1" u="sng" dirty="0">
                <a:solidFill>
                  <a:srgbClr val="FF0000"/>
                </a:solidFill>
              </a:rPr>
              <a:t>for</a:t>
            </a:r>
            <a:r>
              <a:rPr lang="zh-CN" altLang="en-US" sz="3200" b="1" dirty="0">
                <a:solidFill>
                  <a:schemeClr val="tx1"/>
                </a:solidFill>
              </a:rPr>
              <a:t> this theory.</a:t>
            </a:r>
            <a:r>
              <a:rPr lang="en-US" altLang="zh-CN" sz="3200" b="1" dirty="0">
                <a:solidFill>
                  <a:schemeClr val="tx1"/>
                </a:solidFill>
              </a:rPr>
              <a:t> ...</a:t>
            </a:r>
            <a:r>
              <a:rPr lang="zh-CN" altLang="en-US" sz="3200" b="1" dirty="0">
                <a:solidFill>
                  <a:schemeClr val="tx1"/>
                </a:solidFill>
              </a:rPr>
              <a:t>的证据</a:t>
            </a:r>
          </a:p>
          <a:p>
            <a:pPr indent="-260223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有明确的证据表明暴露在阳光下与皮肤癌之间存在联系。</a:t>
            </a:r>
          </a:p>
          <a:p>
            <a:pPr indent="-260223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There is clear evidence of</a:t>
            </a:r>
            <a:r>
              <a:rPr lang="en-US" altLang="zh-CN" sz="3200" b="1" dirty="0">
                <a:sym typeface="+mn-ea"/>
              </a:rPr>
              <a:t> a link between exposure to sun and skin cancer.</a:t>
            </a:r>
          </a:p>
          <a:p>
            <a:pPr indent="-260223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= There is clear evidence that there is a link between ...</a:t>
            </a:r>
          </a:p>
          <a:p>
            <a:pPr indent="-2602230" fontAlgn="auto">
              <a:lnSpc>
                <a:spcPct val="120000"/>
              </a:lnSpc>
            </a:pPr>
            <a:r>
              <a:rPr lang="en-US" altLang="zh-CN" sz="3200" b="1" dirty="0"/>
              <a:t>2)</a:t>
            </a:r>
            <a:r>
              <a:rPr lang="en-US" altLang="zh-CN" sz="3200" b="1" i="1" dirty="0"/>
              <a:t> </a:t>
            </a:r>
            <a:r>
              <a:rPr lang="zh-CN" altLang="en-US" sz="3200" b="1" dirty="0">
                <a:solidFill>
                  <a:srgbClr val="FF0000"/>
                </a:solidFill>
              </a:rPr>
              <a:t>物证；人证；证词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indent="-2602230" fontAlgn="auto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He refused to </a:t>
            </a:r>
            <a:r>
              <a:rPr lang="en-US" altLang="zh-CN" sz="3200" b="1" u="sng" dirty="0">
                <a:solidFill>
                  <a:srgbClr val="FF0000"/>
                </a:solidFill>
                <a:sym typeface="+mn-ea"/>
              </a:rPr>
              <a:t>give evidence</a:t>
            </a:r>
            <a:r>
              <a:rPr lang="en-US" altLang="zh-CN" sz="3200" b="1" dirty="0">
                <a:sym typeface="+mn-ea"/>
              </a:rPr>
              <a:t> at the trial. </a:t>
            </a:r>
            <a:r>
              <a:rPr lang="zh-CN" altLang="en-US" sz="3200" b="1" dirty="0">
                <a:sym typeface="+mn-ea"/>
              </a:rPr>
              <a:t>作证</a:t>
            </a:r>
          </a:p>
          <a:p>
            <a:pPr indent="-260223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be in evidence</a:t>
            </a:r>
            <a:r>
              <a:rPr lang="en-US" altLang="zh-CN" sz="3200" b="1" dirty="0">
                <a:sym typeface="+mn-ea"/>
              </a:rPr>
              <a:t> </a:t>
            </a:r>
            <a:r>
              <a:rPr lang="zh-CN" altLang="en-US" sz="3200" b="1" dirty="0">
                <a:sym typeface="+mn-ea"/>
              </a:rPr>
              <a:t>显而易见</a:t>
            </a:r>
            <a:r>
              <a:rPr lang="en-US" altLang="zh-CN" sz="3200" b="1" dirty="0">
                <a:sym typeface="+mn-ea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be clearly seen</a:t>
            </a:r>
            <a:r>
              <a:rPr lang="en-US" altLang="zh-CN" sz="3200" b="1" dirty="0">
                <a:sym typeface="+mn-ea"/>
              </a:rPr>
              <a:t>    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  <a:p>
            <a:pPr indent="-260223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Nowadays, Asia’s strength as an exporter is growing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</a:rPr>
              <a:t>in evidence</a:t>
            </a:r>
            <a:r>
              <a:rPr lang="en-US" altLang="zh-CN" sz="3200" b="1" dirty="0">
                <a:solidFill>
                  <a:schemeClr val="tx1"/>
                </a:solidFill>
              </a:rPr>
              <a:t>.</a:t>
            </a:r>
            <a:endParaRPr lang="zh-CN" alt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0"/>
            <a:ext cx="12192000" cy="59969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evident</a:t>
            </a:r>
            <a:r>
              <a:rPr lang="en-US" altLang="zh-CN" sz="3200" b="1" dirty="0">
                <a:solidFill>
                  <a:srgbClr val="0070C0"/>
                </a:solidFill>
                <a:sym typeface="+mn-ea"/>
              </a:rPr>
              <a:t>  </a:t>
            </a:r>
            <a:r>
              <a:rPr lang="en-US" altLang="zh-CN" sz="3200" b="1" i="1" dirty="0">
                <a:sym typeface="+mn-ea"/>
              </a:rPr>
              <a:t>adj. </a:t>
            </a:r>
            <a:r>
              <a:rPr lang="zh-CN" altLang="en-US" sz="3200" b="1" dirty="0">
                <a:sym typeface="+mn-ea"/>
              </a:rPr>
              <a:t>清楚的；显而易见的；显然的</a:t>
            </a:r>
            <a:r>
              <a:rPr lang="en-US" altLang="zh-CN" sz="3200" b="1" dirty="0">
                <a:sym typeface="+mn-ea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obvious, apparent</a:t>
            </a:r>
            <a:endParaRPr lang="zh-CN" altLang="en-US" sz="3200" b="1" dirty="0"/>
          </a:p>
          <a:p>
            <a:pPr indent="457200">
              <a:lnSpc>
                <a:spcPct val="120000"/>
              </a:lnSpc>
            </a:pPr>
            <a:r>
              <a:rPr lang="zh-CN" altLang="en-US" sz="3200" b="1" dirty="0">
                <a:sym typeface="+mn-ea"/>
              </a:rPr>
              <a:t>The orchestra played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with evident enjoyment</a:t>
            </a:r>
            <a:r>
              <a:rPr lang="zh-CN" altLang="en-US" sz="3200" b="1" dirty="0">
                <a:sym typeface="+mn-ea"/>
              </a:rPr>
              <a:t>.</a:t>
            </a:r>
          </a:p>
          <a:p>
            <a:pPr indent="457200">
              <a:lnSpc>
                <a:spcPct val="120000"/>
              </a:lnSpc>
            </a:pPr>
            <a:r>
              <a:rPr lang="zh-CN" altLang="en-US" sz="3200" b="1" dirty="0">
                <a:sym typeface="+mn-ea"/>
              </a:rPr>
              <a:t>管弦乐队演奏得兴致勃勃。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1. It is evident (to </a:t>
            </a:r>
            <a:r>
              <a:rPr lang="en-US" altLang="zh-CN" sz="3200" b="1" dirty="0" err="1">
                <a:solidFill>
                  <a:srgbClr val="FF0000"/>
                </a:solidFill>
                <a:sym typeface="+mn-ea"/>
              </a:rPr>
              <a:t>sb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) that  </a:t>
            </a:r>
            <a:r>
              <a:rPr lang="en-US" altLang="zh-CN" sz="3200" b="1" dirty="0">
                <a:latin typeface="+mj-ea"/>
                <a:ea typeface="+mj-ea"/>
                <a:sym typeface="+mn-ea"/>
              </a:rPr>
              <a:t>(</a:t>
            </a:r>
            <a:r>
              <a:rPr lang="zh-CN" altLang="en-US" sz="3200" b="1" dirty="0">
                <a:latin typeface="+mj-ea"/>
                <a:ea typeface="+mj-ea"/>
                <a:sym typeface="+mn-ea"/>
              </a:rPr>
              <a:t>某人</a:t>
            </a:r>
            <a:r>
              <a:rPr lang="en-US" altLang="zh-CN" sz="3200" b="1" dirty="0">
                <a:latin typeface="+mj-ea"/>
                <a:ea typeface="+mj-ea"/>
                <a:sym typeface="+mn-ea"/>
              </a:rPr>
              <a:t>)</a:t>
            </a:r>
            <a:r>
              <a:rPr lang="zh-CN" altLang="en-US" sz="3200" b="1" dirty="0">
                <a:latin typeface="+mj-ea"/>
                <a:ea typeface="+mj-ea"/>
                <a:sym typeface="+mn-ea"/>
              </a:rPr>
              <a:t>显然</a:t>
            </a:r>
            <a:r>
              <a:rPr lang="en-US" altLang="zh-CN" sz="3200" b="1" dirty="0">
                <a:latin typeface="+mj-ea"/>
                <a:ea typeface="+mj-ea"/>
                <a:sym typeface="+mn-ea"/>
              </a:rPr>
              <a:t>……</a:t>
            </a:r>
            <a:endParaRPr lang="en-US" altLang="zh-CN" sz="3200" b="1" dirty="0">
              <a:latin typeface="+mj-ea"/>
              <a:ea typeface="+mj-ea"/>
            </a:endParaRPr>
          </a:p>
          <a:p>
            <a:pPr indent="457200">
              <a:lnSpc>
                <a:spcPct val="120000"/>
              </a:lnSpc>
            </a:pPr>
            <a:r>
              <a:rPr lang="zh-CN" altLang="en-US" sz="3200" b="1" dirty="0">
                <a:sym typeface="+mn-ea"/>
              </a:rPr>
              <a:t>我们现已清楚知道出了差错。</a:t>
            </a:r>
          </a:p>
          <a:p>
            <a:pPr indent="457200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It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is now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 evident to us that</a:t>
            </a:r>
            <a:r>
              <a:rPr lang="zh-CN" altLang="en-US" sz="3200" b="1" dirty="0">
                <a:sym typeface="+mn-ea"/>
              </a:rPr>
              <a:t> a mistake has been made.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2. evident in...  </a:t>
            </a:r>
            <a:r>
              <a:rPr lang="zh-CN" altLang="en-US" sz="3200" b="1" dirty="0">
                <a:sym typeface="+mn-ea"/>
              </a:rPr>
              <a:t>在某方面显而易见</a:t>
            </a:r>
          </a:p>
          <a:p>
            <a:pPr indent="457200">
              <a:lnSpc>
                <a:spcPct val="120000"/>
              </a:lnSpc>
            </a:pPr>
            <a:r>
              <a:rPr lang="zh-CN" altLang="en-US" sz="3200" b="1" dirty="0">
                <a:sym typeface="+mn-ea"/>
              </a:rPr>
              <a:t>The growing interest in history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is clearly evident in</a:t>
            </a:r>
            <a:r>
              <a:rPr lang="zh-CN" altLang="en-US" sz="3200" b="1" dirty="0">
                <a:sym typeface="+mn-ea"/>
              </a:rPr>
              <a:t> the number of people visiting museums and country houses.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33587" y="152343"/>
            <a:ext cx="11139054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</a:rPr>
              <a:t>语法填空。</a:t>
            </a:r>
            <a:endParaRPr lang="en-US" altLang="zh-CN" sz="3200" b="1" dirty="0">
              <a:solidFill>
                <a:srgbClr val="0000FF"/>
              </a:solidFill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/>
              <a:t>1) ____ _____ ______ ____ (</a:t>
            </a:r>
            <a:r>
              <a:rPr lang="zh-CN" altLang="en-US" sz="3200" b="1" dirty="0"/>
              <a:t>有迹象表明</a:t>
            </a:r>
            <a:r>
              <a:rPr lang="en-US" altLang="zh-CN" sz="3200" b="1" dirty="0"/>
              <a:t>) Beijing Man used fire to cook food.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/>
              <a:t>2) It was evident ________ me that he was not telling the truth. 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/>
              <a:t>3) It sounds resonable, but the text __________ (evidence) ignored the fact that humans, particularly teenagers, rarely seem reasonable.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/>
              <a:t>4) Evidence has been found through years of study ________ 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/>
              <a:t> 	children’s early sleeping problems are likely to continue 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/>
              <a:t> 	when they grow up.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093783" y="768139"/>
            <a:ext cx="398653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There is evidence that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895887" y="1990994"/>
            <a:ext cx="52610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to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67279" y="2553192"/>
            <a:ext cx="1763395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evidently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742664" y="4304275"/>
            <a:ext cx="88998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that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29852" y="599397"/>
            <a:ext cx="11163503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date back to</a:t>
            </a:r>
            <a:r>
              <a:rPr lang="en-US" altLang="zh-CN" sz="3200" b="1" i="1" dirty="0"/>
              <a:t> </a:t>
            </a:r>
            <a:r>
              <a:rPr lang="en-US" altLang="zh-CN" sz="3200" b="1" dirty="0">
                <a:solidFill>
                  <a:srgbClr val="FF0000"/>
                </a:solidFill>
              </a:rPr>
              <a:t>= date from </a:t>
            </a:r>
            <a:r>
              <a:rPr lang="zh-CN" altLang="en-US" sz="3200" b="1" dirty="0">
                <a:solidFill>
                  <a:schemeClr val="tx1"/>
                </a:solidFill>
              </a:rPr>
              <a:t>追溯至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date from</a:t>
            </a:r>
            <a:r>
              <a:rPr lang="zh-CN" altLang="en-US" sz="3200" b="1" dirty="0"/>
              <a:t>和</a:t>
            </a:r>
            <a:r>
              <a:rPr lang="en-US" altLang="zh-CN" sz="3200" b="1" dirty="0">
                <a:solidFill>
                  <a:srgbClr val="FF0000"/>
                </a:solidFill>
              </a:rPr>
              <a:t>date back to </a:t>
            </a:r>
            <a:r>
              <a:rPr lang="zh-CN" altLang="en-US" sz="3200" b="1" dirty="0"/>
              <a:t>一般不用于进行时态。作后置定语时</a:t>
            </a:r>
            <a:r>
              <a:rPr lang="en-US" altLang="zh-CN" sz="3200" b="1" dirty="0"/>
              <a:t>, </a:t>
            </a:r>
            <a:r>
              <a:rPr lang="zh-CN" altLang="en-US" sz="3200" b="1" dirty="0"/>
              <a:t>常用动词</a:t>
            </a:r>
            <a:r>
              <a:rPr lang="en-US" altLang="zh-CN" sz="3200" b="1" dirty="0">
                <a:solidFill>
                  <a:srgbClr val="FF0000"/>
                </a:solidFill>
              </a:rPr>
              <a:t>-ing</a:t>
            </a:r>
            <a:r>
              <a:rPr lang="zh-CN" altLang="en-US" sz="3200" b="1" dirty="0"/>
              <a:t>形式。</a:t>
            </a:r>
            <a:endParaRPr lang="en-US" altLang="zh-CN" sz="3200" b="1" dirty="0"/>
          </a:p>
        </p:txBody>
      </p:sp>
      <p:sp>
        <p:nvSpPr>
          <p:cNvPr id="2" name="矩形 1"/>
          <p:cNvSpPr/>
          <p:nvPr/>
        </p:nvSpPr>
        <p:spPr>
          <a:xfrm>
            <a:off x="720552" y="2462560"/>
            <a:ext cx="10145541" cy="1272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/>
              <a:t>This temple </a:t>
            </a:r>
            <a:r>
              <a:rPr lang="en-US" altLang="zh-CN" sz="3200" b="1" dirty="0">
                <a:solidFill>
                  <a:srgbClr val="FF0000"/>
                </a:solidFill>
              </a:rPr>
              <a:t>dates back to </a:t>
            </a:r>
            <a:r>
              <a:rPr lang="en-US" altLang="zh-CN" sz="3200" b="1" dirty="0"/>
              <a:t>the 5th century.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The building </a:t>
            </a:r>
            <a:r>
              <a:rPr lang="en-US" altLang="zh-CN" sz="3200" b="1" dirty="0">
                <a:solidFill>
                  <a:srgbClr val="FF0000"/>
                </a:solidFill>
              </a:rPr>
              <a:t>dates from </a:t>
            </a:r>
            <a:r>
              <a:rPr lang="en-US" altLang="zh-CN" sz="3200" b="1" dirty="0"/>
              <a:t>the 13th century.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207895" y="4041775"/>
            <a:ext cx="9698355" cy="186309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We need to </a:t>
            </a:r>
            <a:r>
              <a:rPr lang="en-US" altLang="zh-CN" sz="3200" b="1" dirty="0">
                <a:solidFill>
                  <a:srgbClr val="FF0000"/>
                </a:solidFill>
              </a:rPr>
              <a:t>set/fix a date </a:t>
            </a:r>
            <a:r>
              <a:rPr lang="en-US" altLang="zh-CN" sz="3200" b="1" dirty="0">
                <a:solidFill>
                  <a:schemeClr val="tx1"/>
                </a:solidFill>
              </a:rPr>
              <a:t>for the next meeting.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zh-CN" altLang="en-US" sz="3200" b="1" dirty="0"/>
              <a:t>定日期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The exhibition contains some of his best work</a:t>
            </a:r>
            <a:r>
              <a:rPr lang="en-US" altLang="zh-CN" sz="3200" b="1" dirty="0">
                <a:solidFill>
                  <a:srgbClr val="FF0000"/>
                </a:solidFill>
              </a:rPr>
              <a:t> to date</a:t>
            </a:r>
            <a:r>
              <a:rPr lang="en-US" altLang="zh-CN" sz="3200" b="1" dirty="0"/>
              <a:t>. </a:t>
            </a:r>
            <a:r>
              <a:rPr lang="zh-CN" altLang="en-US" sz="3200" b="1" dirty="0"/>
              <a:t>迄今为止</a:t>
            </a:r>
            <a:r>
              <a:rPr lang="en-US" altLang="zh-CN" sz="3200" b="1" dirty="0"/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until now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5" t="7778" r="6250" b="8889"/>
          <a:stretch>
            <a:fillRect/>
          </a:stretch>
        </p:blipFill>
        <p:spPr>
          <a:xfrm>
            <a:off x="875257" y="4600929"/>
            <a:ext cx="952469" cy="5043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45415" y="0"/>
            <a:ext cx="12047220" cy="6587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</a:rPr>
              <a:t>语法填空。</a:t>
            </a:r>
            <a:endParaRPr lang="en-US" altLang="zh-CN" sz="3200" b="1" dirty="0">
              <a:solidFill>
                <a:srgbClr val="0000FF"/>
              </a:solidFill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/>
              <a:t>1) “Niren Zhang”, or Clay Figurine Zhang, ________(date) back to 180 years ago and is a traditional Chinese folk art originating in Tianjin.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/>
              <a:t>2) All these trees are over 800 years old, with some ________ 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/>
              <a:t>(date) back to 1,000 years ago.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/>
              <a:t>3) All the photographs in this book, unless stated otherwise, 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/>
              <a:t>date ________ the 1950s.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/>
              <a:t>4) To date it ________ (sell) more than 20 million copies globally through game distribution platform Steam,  bringing in gross revenue of over US$961 million.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067432" y="638028"/>
            <a:ext cx="1239223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dates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162462" y="2336226"/>
            <a:ext cx="130035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dating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32620" y="4117224"/>
            <a:ext cx="104285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from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2" name="文本框 12"/>
          <p:cNvSpPr txBox="1"/>
          <p:nvPr>
            <p:custDataLst>
              <p:tags r:id="rId1"/>
            </p:custDataLst>
          </p:nvPr>
        </p:nvSpPr>
        <p:spPr>
          <a:xfrm>
            <a:off x="2556570" y="4724284"/>
            <a:ext cx="157226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has sold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3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81181" y="207042"/>
            <a:ext cx="11528747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/>
              <a:t>2. ... the majority have now </a:t>
            </a:r>
            <a:r>
              <a:rPr lang="en-US" altLang="zh-CN" sz="3200" b="1" dirty="0">
                <a:solidFill>
                  <a:srgbClr val="FF0000"/>
                </a:solidFill>
              </a:rPr>
              <a:t>switched to</a:t>
            </a:r>
            <a:r>
              <a:rPr lang="en-US" altLang="zh-CN" sz="3200" b="1" dirty="0"/>
              <a:t> stainless steel </a:t>
            </a:r>
          </a:p>
          <a:p>
            <a:pPr indent="360680">
              <a:lnSpc>
                <a:spcPct val="120000"/>
              </a:lnSpc>
            </a:pPr>
            <a:r>
              <a:rPr lang="en-US" altLang="zh-CN" sz="3200" b="1" dirty="0"/>
              <a:t>ones. </a:t>
            </a:r>
            <a:r>
              <a:rPr lang="zh-CN" altLang="en-US" sz="3200" b="1" dirty="0"/>
              <a:t>多数医师已经改为……</a:t>
            </a:r>
          </a:p>
        </p:txBody>
      </p:sp>
      <p:sp>
        <p:nvSpPr>
          <p:cNvPr id="2" name="矩形 1"/>
          <p:cNvSpPr/>
          <p:nvPr/>
        </p:nvSpPr>
        <p:spPr>
          <a:xfrm>
            <a:off x="281548" y="1521192"/>
            <a:ext cx="11329972" cy="4815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62275" indent="-29622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switch </a:t>
            </a:r>
            <a:r>
              <a:rPr lang="en-US" altLang="zh-CN" sz="3200" b="1" i="1" dirty="0">
                <a:solidFill>
                  <a:srgbClr val="FF0000"/>
                </a:solidFill>
              </a:rPr>
              <a:t>vi.&amp;</a:t>
            </a:r>
            <a:r>
              <a:rPr lang="en-US" altLang="zh-CN" sz="3200" b="1" i="1" dirty="0" err="1">
                <a:solidFill>
                  <a:srgbClr val="FF0000"/>
                </a:solidFill>
              </a:rPr>
              <a:t>vt</a:t>
            </a:r>
            <a:r>
              <a:rPr lang="en-US" altLang="zh-CN" sz="3200" b="1" i="1" dirty="0">
                <a:solidFill>
                  <a:srgbClr val="FF0000"/>
                </a:solidFill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</a:rPr>
              <a:t>: </a:t>
            </a:r>
          </a:p>
          <a:p>
            <a:pPr marL="2962275" indent="-2962275">
              <a:lnSpc>
                <a:spcPct val="120000"/>
              </a:lnSpc>
            </a:pPr>
            <a:r>
              <a:rPr lang="en-US" altLang="zh-CN" sz="3200" b="1" dirty="0"/>
              <a:t>1) </a:t>
            </a:r>
            <a:r>
              <a:rPr lang="zh-CN" altLang="en-US" sz="3200" b="1" dirty="0"/>
              <a:t>开</a:t>
            </a:r>
            <a:r>
              <a:rPr lang="en-US" altLang="zh-CN" sz="3200" b="1" dirty="0"/>
              <a:t>/</a:t>
            </a:r>
            <a:r>
              <a:rPr lang="zh-CN" altLang="en-US" sz="3200" b="1" dirty="0"/>
              <a:t>关电器、灯</a:t>
            </a:r>
            <a:r>
              <a:rPr lang="en-US" altLang="zh-CN" sz="3200" b="1" dirty="0"/>
              <a:t> Please </a:t>
            </a:r>
            <a:r>
              <a:rPr lang="en-US" altLang="zh-CN" sz="3200" b="1" dirty="0">
                <a:solidFill>
                  <a:srgbClr val="FF0000"/>
                </a:solidFill>
              </a:rPr>
              <a:t>switch the lights off</a:t>
            </a:r>
            <a:r>
              <a:rPr lang="en-US" altLang="zh-CN" sz="3200" b="1" dirty="0"/>
              <a:t> as you leave.</a:t>
            </a:r>
          </a:p>
          <a:p>
            <a:pPr marL="2962275" indent="-2962275">
              <a:lnSpc>
                <a:spcPct val="120000"/>
              </a:lnSpc>
            </a:pPr>
            <a:r>
              <a:rPr lang="en-US" altLang="zh-CN" sz="3200" b="1" dirty="0"/>
              <a:t>2) </a:t>
            </a:r>
            <a:r>
              <a:rPr lang="zh-CN" altLang="en-US" sz="3200" b="1" dirty="0">
                <a:solidFill>
                  <a:srgbClr val="FF0000"/>
                </a:solidFill>
              </a:rPr>
              <a:t>转变</a:t>
            </a:r>
          </a:p>
          <a:p>
            <a:pPr marL="2962275" indent="-296227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Press these two keys to</a:t>
            </a:r>
            <a:r>
              <a:rPr lang="en-US" altLang="zh-CN" sz="3200" b="1" dirty="0">
                <a:solidFill>
                  <a:srgbClr val="FF0000"/>
                </a:solidFill>
              </a:rPr>
              <a:t> switch between </a:t>
            </a:r>
            <a:r>
              <a:rPr lang="en-US" altLang="zh-CN" sz="3200" b="1" dirty="0">
                <a:solidFill>
                  <a:schemeClr val="tx1"/>
                </a:solidFill>
              </a:rPr>
              <a:t>documents on screen.</a:t>
            </a:r>
          </a:p>
          <a:p>
            <a:pPr marL="2962275" indent="-296227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When did you </a:t>
            </a:r>
            <a:r>
              <a:rPr lang="en-US" altLang="zh-CN" sz="3200" b="1" dirty="0">
                <a:solidFill>
                  <a:srgbClr val="FF0000"/>
                </a:solidFill>
              </a:rPr>
              <a:t>switch </a:t>
            </a:r>
            <a:r>
              <a:rPr lang="en-US" altLang="zh-CN" sz="3200" b="1" dirty="0">
                <a:solidFill>
                  <a:schemeClr val="tx1"/>
                </a:solidFill>
              </a:rPr>
              <a:t>jobs? </a:t>
            </a:r>
          </a:p>
          <a:p>
            <a:pPr marL="2962275" indent="-2962275">
              <a:lnSpc>
                <a:spcPct val="120000"/>
              </a:lnSpc>
            </a:pPr>
            <a:r>
              <a:rPr lang="en-US" altLang="zh-CN" sz="3200" b="1" dirty="0"/>
              <a:t>3) </a:t>
            </a:r>
            <a:r>
              <a:rPr lang="zh-CN" altLang="en-US" sz="3200" b="1" dirty="0">
                <a:solidFill>
                  <a:srgbClr val="FF0000"/>
                </a:solidFill>
              </a:rPr>
              <a:t>交换，调换</a:t>
            </a:r>
            <a:r>
              <a:rPr lang="en-US" altLang="zh-CN" sz="3200" b="1" dirty="0">
                <a:solidFill>
                  <a:srgbClr val="FF0000"/>
                </a:solidFill>
              </a:rPr>
              <a:t>，</a:t>
            </a:r>
            <a:r>
              <a:rPr lang="zh-CN" altLang="en-US" sz="3200" b="1" dirty="0">
                <a:solidFill>
                  <a:srgbClr val="FF0000"/>
                </a:solidFill>
              </a:rPr>
              <a:t>调班</a:t>
            </a:r>
          </a:p>
          <a:p>
            <a:pPr marL="2962275" indent="-2962275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Do you think she'll notice if I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switch </a:t>
            </a:r>
            <a:r>
              <a:rPr lang="en-US" altLang="zh-CN" sz="3200" b="1" dirty="0">
                <a:sym typeface="+mn-ea"/>
              </a:rPr>
              <a:t>my glass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with </a:t>
            </a:r>
            <a:r>
              <a:rPr lang="en-US" altLang="zh-CN" sz="3200" b="1" dirty="0">
                <a:sym typeface="+mn-ea"/>
              </a:rPr>
              <a:t>hers?</a:t>
            </a:r>
          </a:p>
          <a:p>
            <a:pPr marL="2962275" indent="-2962275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I can't work next weekend— will you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switch</a:t>
            </a:r>
            <a:r>
              <a:rPr lang="en-US" altLang="zh-CN" sz="3200" b="1" dirty="0">
                <a:sym typeface="+mn-ea"/>
              </a:rPr>
              <a:t> with me?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6830" y="162560"/>
            <a:ext cx="1612900" cy="2209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32501" y="382068"/>
            <a:ext cx="11329972" cy="4815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06057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switch </a:t>
            </a:r>
            <a:r>
              <a:rPr lang="en-US" altLang="zh-CN" sz="3200" b="1" i="1" dirty="0">
                <a:solidFill>
                  <a:srgbClr val="FF0000"/>
                </a:solidFill>
              </a:rPr>
              <a:t>n.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</a:rPr>
              <a:t>开关；转变，改变</a:t>
            </a:r>
          </a:p>
          <a:p>
            <a:pPr indent="-206057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turn on/off the</a:t>
            </a:r>
            <a:r>
              <a:rPr lang="en-US" altLang="zh-CN" sz="3200" b="1" dirty="0">
                <a:solidFill>
                  <a:srgbClr val="FF0000"/>
                </a:solidFill>
              </a:rPr>
              <a:t> light switch </a:t>
            </a:r>
            <a:r>
              <a:rPr lang="zh-CN" altLang="en-US" sz="3200" b="1" dirty="0">
                <a:solidFill>
                  <a:schemeClr val="tx1"/>
                </a:solidFill>
              </a:rPr>
              <a:t>电灯开关</a:t>
            </a:r>
          </a:p>
          <a:p>
            <a:pPr indent="-2060575" fontAlgn="auto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She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made the switch from</a:t>
            </a:r>
            <a:r>
              <a:rPr lang="en-US" altLang="zh-CN" sz="3200" b="1" dirty="0">
                <a:sym typeface="+mn-ea"/>
              </a:rPr>
              <a:t> full-time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to </a:t>
            </a:r>
            <a:r>
              <a:rPr lang="en-US" altLang="zh-CN" sz="3200" b="1" dirty="0">
                <a:sym typeface="+mn-ea"/>
              </a:rPr>
              <a:t>part-time work when her first child was born.</a:t>
            </a:r>
          </a:p>
          <a:p>
            <a:pPr indent="-2060575" fontAlgn="auto"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</a:endParaRPr>
          </a:p>
          <a:p>
            <a:pPr indent="-206057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</a:rPr>
              <a:t>语境运用】</a:t>
            </a:r>
          </a:p>
          <a:p>
            <a:pPr indent="-206057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1. For some reason, when certain shows ______ _____ (</a:t>
            </a:r>
            <a:r>
              <a:rPr lang="zh-CN" altLang="en-US" sz="3200" b="1" dirty="0">
                <a:solidFill>
                  <a:schemeClr val="tx1"/>
                </a:solidFill>
              </a:rPr>
              <a:t>切换到</a:t>
            </a:r>
            <a:r>
              <a:rPr lang="en-US" altLang="zh-CN" sz="3200" b="1" dirty="0">
                <a:solidFill>
                  <a:schemeClr val="tx1"/>
                </a:solidFill>
              </a:rPr>
              <a:t>) a commercial, a loud noise would sound for a few seconds.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7448550" y="3949065"/>
            <a:ext cx="235140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switched  to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29430" y="752409"/>
            <a:ext cx="11333140" cy="422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0055" indent="-4400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Do you think she’ll notice if I ________ ________ ________ ________ 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把我的包与她的交换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)?</a:t>
            </a:r>
          </a:p>
          <a:p>
            <a:pPr marL="440055" indent="-4400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They had to ________ ________ 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作改变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in their plan because of the bad weather.</a:t>
            </a:r>
          </a:p>
          <a:p>
            <a:pPr marL="440055" indent="-4400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________ ________ ________ 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打开灯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and you can do your homework. But don’t forget to _________ _________ the light after finishing your homework.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4229" y="765614"/>
            <a:ext cx="10380133" cy="127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                     switch         my         bag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with          hers 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432776" y="1985946"/>
            <a:ext cx="472116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make              a        switch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07432" y="3131067"/>
            <a:ext cx="66335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Switch          on            the           light 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185005" y="3732791"/>
            <a:ext cx="239520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switch      off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82003" y="225086"/>
            <a:ext cx="11494179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0850" fontAlgn="auto">
              <a:lnSpc>
                <a:spcPct val="120000"/>
              </a:lnSpc>
            </a:pPr>
            <a:r>
              <a:rPr lang="en-US" altLang="zh-CN" sz="3200" b="1" dirty="0"/>
              <a:t>3. </a:t>
            </a:r>
            <a:r>
              <a:rPr lang="en-US" altLang="zh-CN" sz="3200" b="1" dirty="0">
                <a:solidFill>
                  <a:srgbClr val="FF0000"/>
                </a:solidFill>
              </a:rPr>
              <a:t>examine the patient </a:t>
            </a:r>
            <a:r>
              <a:rPr lang="zh-CN" altLang="en-US" sz="3200" b="1" dirty="0">
                <a:solidFill>
                  <a:schemeClr val="tx1"/>
                </a:solidFill>
              </a:rPr>
              <a:t>检查病人</a:t>
            </a:r>
            <a:r>
              <a:rPr lang="en-US" altLang="zh-CN" sz="3200" b="1" dirty="0">
                <a:solidFill>
                  <a:schemeClr val="tx1"/>
                </a:solidFill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look at sb/sth closely</a:t>
            </a:r>
            <a:endParaRPr lang="zh-CN" altLang="en-US" sz="3200" b="1" dirty="0">
              <a:solidFill>
                <a:schemeClr val="tx1"/>
              </a:solidFill>
            </a:endParaRPr>
          </a:p>
          <a:p>
            <a:pPr indent="-45085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</a:rPr>
              <a:t>The goods were </a:t>
            </a:r>
            <a:r>
              <a:rPr lang="zh-CN" altLang="en-US" sz="3200" b="1" dirty="0">
                <a:solidFill>
                  <a:srgbClr val="FF0000"/>
                </a:solidFill>
              </a:rPr>
              <a:t>examined </a:t>
            </a:r>
            <a:r>
              <a:rPr lang="zh-CN" altLang="en-US" sz="3200" b="1" dirty="0">
                <a:solidFill>
                  <a:schemeClr val="tx1"/>
                </a:solidFill>
              </a:rPr>
              <a:t>for damage on arrival.</a:t>
            </a:r>
          </a:p>
          <a:p>
            <a:pPr indent="-450850" fontAlgn="auto"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</a:endParaRPr>
          </a:p>
          <a:p>
            <a:pPr indent="-45085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examine v.</a:t>
            </a:r>
            <a:r>
              <a:rPr lang="en-US" altLang="zh-CN" sz="3200" b="1" dirty="0">
                <a:solidFill>
                  <a:schemeClr val="tx1"/>
                </a:solidFill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consider or study sth very carefully</a:t>
            </a:r>
            <a:r>
              <a:rPr lang="en-US" altLang="zh-CN" sz="3200" b="1" dirty="0">
                <a:solidFill>
                  <a:schemeClr val="tx1"/>
                </a:solidFill>
              </a:rPr>
              <a:t> 审查；调查；考查；考察</a:t>
            </a:r>
          </a:p>
          <a:p>
            <a:pPr indent="-45085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It is necessary to </a:t>
            </a:r>
            <a:r>
              <a:rPr lang="en-US" altLang="zh-CN" sz="3200" b="1" dirty="0">
                <a:solidFill>
                  <a:srgbClr val="FF0000"/>
                </a:solidFill>
              </a:rPr>
              <a:t>examine </a:t>
            </a:r>
            <a:r>
              <a:rPr lang="en-US" altLang="zh-CN" sz="3200" b="1" dirty="0">
                <a:solidFill>
                  <a:schemeClr val="tx1"/>
                </a:solidFill>
              </a:rPr>
              <a:t>how the proposals can be carried out.</a:t>
            </a:r>
          </a:p>
          <a:p>
            <a:pPr indent="-45085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The students will be </a:t>
            </a:r>
            <a:r>
              <a:rPr lang="en-US" altLang="zh-CN" sz="3200" b="1" dirty="0">
                <a:solidFill>
                  <a:srgbClr val="FF0000"/>
                </a:solidFill>
              </a:rPr>
              <a:t>examined </a:t>
            </a:r>
            <a:r>
              <a:rPr lang="en-US" altLang="zh-CN" sz="3200" b="1" dirty="0">
                <a:solidFill>
                  <a:schemeClr val="tx1"/>
                </a:solidFill>
              </a:rPr>
              <a:t>in all subjects at the end of term.</a:t>
            </a:r>
          </a:p>
          <a:p>
            <a:pPr indent="-450850" fontAlgn="auto"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</a:endParaRPr>
          </a:p>
          <a:p>
            <a:pPr indent="-45085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examination n. </a:t>
            </a:r>
          </a:p>
          <a:p>
            <a:pPr indent="-45085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1. a medical examination report</a:t>
            </a:r>
          </a:p>
          <a:p>
            <a:pPr indent="-45085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2. Your proposals are still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</a:rPr>
              <a:t>under examination</a:t>
            </a:r>
            <a:r>
              <a:rPr lang="en-US" altLang="zh-CN" sz="3200" b="1" dirty="0">
                <a:solidFill>
                  <a:schemeClr val="tx1"/>
                </a:solidFill>
              </a:rPr>
              <a:t>.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576310" y="5594985"/>
            <a:ext cx="609600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ym typeface="+mn-ea"/>
              </a:rPr>
              <a:t>健康检查报告</a:t>
            </a:r>
          </a:p>
          <a:p>
            <a:r>
              <a:rPr lang="zh-CN" altLang="en-US" sz="3200" b="1" dirty="0">
                <a:sym typeface="+mn-ea"/>
              </a:rPr>
              <a:t>在审查中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82003" y="907076"/>
            <a:ext cx="11494179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/>
              <a:t>4. Up to now, more than 360 acupuncture points have been identified, </a:t>
            </a:r>
            <a:r>
              <a:rPr lang="en-US" altLang="zh-CN" sz="3200" b="1" dirty="0">
                <a:solidFill>
                  <a:srgbClr val="FF0000"/>
                </a:solidFill>
              </a:rPr>
              <a:t>each linked to a different part of the body</a:t>
            </a:r>
            <a:r>
              <a:rPr lang="en-US" altLang="zh-CN" sz="3200" b="1" dirty="0"/>
              <a:t>.</a:t>
            </a:r>
            <a:endParaRPr lang="zh-CN" altLang="en-US" sz="32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459253" y="2347783"/>
            <a:ext cx="11139054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zh-CN" altLang="en-US" sz="3200" b="1" dirty="0"/>
              <a:t>句中</a:t>
            </a:r>
            <a:r>
              <a:rPr lang="en-US" altLang="zh-CN" sz="3200" b="1" dirty="0">
                <a:solidFill>
                  <a:srgbClr val="FF0000"/>
                </a:solidFill>
              </a:rPr>
              <a:t>each linked to…</a:t>
            </a:r>
            <a:r>
              <a:rPr lang="zh-CN" altLang="en-US" sz="3200" b="1" dirty="0">
                <a:solidFill>
                  <a:srgbClr val="FF0000"/>
                </a:solidFill>
              </a:rPr>
              <a:t>是独立主格结构</a:t>
            </a:r>
            <a:r>
              <a:rPr lang="zh-CN" altLang="en-US" sz="3200" b="1" dirty="0"/>
              <a:t>，</a:t>
            </a:r>
            <a:r>
              <a:rPr lang="en-US" altLang="zh-CN" sz="3200" b="1" dirty="0"/>
              <a:t>linked to…</a:t>
            </a:r>
            <a:r>
              <a:rPr lang="zh-CN" altLang="en-US" sz="3200" b="1" dirty="0"/>
              <a:t>是</a:t>
            </a:r>
            <a:endParaRPr lang="en-US" altLang="zh-CN" sz="3200" b="1" dirty="0"/>
          </a:p>
          <a:p>
            <a:pPr indent="-720725" fontAlgn="auto">
              <a:lnSpc>
                <a:spcPct val="120000"/>
              </a:lnSpc>
            </a:pPr>
            <a:r>
              <a:rPr lang="zh-CN" altLang="en-US" sz="3200" b="1" dirty="0"/>
              <a:t>过去分词短语，其逻辑主语</a:t>
            </a:r>
            <a:r>
              <a:rPr lang="en-US" altLang="zh-CN" sz="3200" b="1" dirty="0"/>
              <a:t>each</a:t>
            </a:r>
            <a:r>
              <a:rPr lang="zh-CN" altLang="en-US" sz="3200" b="1" dirty="0"/>
              <a:t>指代</a:t>
            </a:r>
            <a:r>
              <a:rPr lang="en-US" altLang="zh-CN" sz="3200" b="1" dirty="0"/>
              <a:t>each acupuncture point</a:t>
            </a:r>
            <a:r>
              <a:rPr lang="zh-CN" altLang="en-US" sz="3200" b="1" dirty="0"/>
              <a:t>。</a:t>
            </a:r>
            <a:endParaRPr lang="en-US" altLang="zh-CN" sz="3200" b="1" dirty="0"/>
          </a:p>
          <a:p>
            <a:pPr indent="-720725" fontAlgn="auto">
              <a:lnSpc>
                <a:spcPct val="120000"/>
              </a:lnSpc>
            </a:pPr>
            <a:endParaRPr lang="en-US" altLang="zh-CN" sz="3200" b="1" dirty="0"/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dirty="0"/>
              <a:t>西蒙坐在沙发上</a:t>
            </a:r>
            <a:r>
              <a:rPr lang="zh-CN" altLang="en-US" sz="3200" b="1" dirty="0"/>
              <a:t>，</a:t>
            </a:r>
            <a:r>
              <a:rPr lang="en-US" altLang="zh-CN" sz="3200" b="1" dirty="0"/>
              <a:t>双臂交叉在胸前。</a:t>
            </a:r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dirty="0"/>
              <a:t>Simon was sitting on the sofa, </a:t>
            </a:r>
            <a:r>
              <a:rPr lang="en-US" altLang="zh-CN" sz="3200" b="1" dirty="0">
                <a:solidFill>
                  <a:srgbClr val="FF0000"/>
                </a:solidFill>
              </a:rPr>
              <a:t>his arms crossed in front of his chest.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18846" y="1070770"/>
            <a:ext cx="11177983" cy="4819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</a:rPr>
              <a:t>完成句子。</a:t>
            </a:r>
            <a:endParaRPr lang="en-US" altLang="zh-CN" sz="3200" b="1" dirty="0">
              <a:solidFill>
                <a:srgbClr val="0000FF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1) </a:t>
            </a:r>
            <a:r>
              <a:rPr lang="zh-CN" altLang="en-US" sz="3200" b="1" dirty="0"/>
              <a:t>有那个男孩带路</a:t>
            </a:r>
            <a:r>
              <a:rPr lang="en-US" altLang="zh-CN" sz="3200" b="1" dirty="0"/>
              <a:t>, </a:t>
            </a:r>
            <a:r>
              <a:rPr lang="zh-CN" altLang="en-US" sz="3200" b="1" dirty="0"/>
              <a:t>我们没费什么力气就找到了村子里的学校。</a:t>
            </a:r>
          </a:p>
          <a:p>
            <a:pPr marL="450850">
              <a:lnSpc>
                <a:spcPct val="120000"/>
              </a:lnSpc>
            </a:pPr>
            <a:r>
              <a:rPr lang="en-US" altLang="zh-CN" sz="3200" b="1" dirty="0"/>
              <a:t>A boy _______________, we had no trouble finding the school in the village. (lead)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/>
              <a:t>2) </a:t>
            </a:r>
            <a:r>
              <a:rPr lang="zh-CN" altLang="en-US" sz="3200" b="1" dirty="0"/>
              <a:t>随着问题的解决</a:t>
            </a:r>
            <a:r>
              <a:rPr lang="en-US" altLang="zh-CN" sz="3200" b="1" dirty="0"/>
              <a:t>, </a:t>
            </a:r>
            <a:r>
              <a:rPr lang="zh-CN" altLang="en-US" sz="3200" b="1" dirty="0"/>
              <a:t>质量已经提高了。</a:t>
            </a:r>
          </a:p>
          <a:p>
            <a:pPr marL="450850">
              <a:lnSpc>
                <a:spcPct val="120000"/>
              </a:lnSpc>
            </a:pPr>
            <a:r>
              <a:rPr lang="en-US" altLang="zh-CN" sz="3200" b="1" dirty="0"/>
              <a:t>__________________, the quality has been improved. (solve) 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/>
              <a:t>3) </a:t>
            </a:r>
            <a:r>
              <a:rPr lang="zh-CN" altLang="en-US" sz="3200" b="1" dirty="0"/>
              <a:t>他走进屋来</a:t>
            </a:r>
            <a:r>
              <a:rPr lang="en-US" altLang="zh-CN" sz="3200" b="1" dirty="0"/>
              <a:t>, </a:t>
            </a:r>
            <a:r>
              <a:rPr lang="zh-CN" altLang="en-US" sz="3200" b="1" dirty="0"/>
              <a:t>脸色苍白。</a:t>
            </a:r>
          </a:p>
          <a:p>
            <a:pPr marL="450850">
              <a:lnSpc>
                <a:spcPct val="120000"/>
              </a:lnSpc>
            </a:pPr>
            <a:r>
              <a:rPr lang="en-US" altLang="zh-CN" sz="3200" b="1" dirty="0"/>
              <a:t>He entered the room, ____________. 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113831" y="2238898"/>
            <a:ext cx="4157174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leading the way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27861" y="3991801"/>
            <a:ext cx="3847286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The problems solved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740765" y="5172917"/>
            <a:ext cx="2534144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his face pale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62389" y="302103"/>
            <a:ext cx="11737689" cy="1714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680" indent="-360680">
              <a:lnSpc>
                <a:spcPct val="110000"/>
              </a:lnSpc>
            </a:pPr>
            <a:r>
              <a:rPr lang="en-US" altLang="zh-CN" sz="3200" b="1" dirty="0"/>
              <a:t>5. ... including</a:t>
            </a:r>
            <a:r>
              <a:rPr lang="en-US" altLang="zh-CN" sz="3200" b="1" dirty="0">
                <a:solidFill>
                  <a:srgbClr val="FF0000"/>
                </a:solidFill>
              </a:rPr>
              <a:t> severe </a:t>
            </a:r>
            <a:r>
              <a:rPr lang="en-US" altLang="zh-CN" sz="3200" b="1" dirty="0"/>
              <a:t>pains, blood pressure issues, stomach discomfort, sports injuries and weight problems.</a:t>
            </a:r>
          </a:p>
          <a:p>
            <a:pPr marL="360680" indent="-360680">
              <a:lnSpc>
                <a:spcPct val="110000"/>
              </a:lnSpc>
            </a:pPr>
            <a:r>
              <a:rPr lang="zh-CN" altLang="en-US" sz="3200" b="1" dirty="0"/>
              <a:t>包括剧烈疼痛、血压问题、肠胃不适、运动损伤和体重问题等。</a:t>
            </a:r>
            <a:endParaRPr lang="zh-CN" altLang="en-US" sz="3200" b="1" dirty="0">
              <a:latin typeface="+mj-ea"/>
              <a:ea typeface="+mj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2436" y="2016539"/>
            <a:ext cx="11329972" cy="4815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30450" indent="-23304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severe </a:t>
            </a:r>
            <a:r>
              <a:rPr lang="en-US" altLang="zh-CN" sz="3200" b="1" i="1" dirty="0">
                <a:solidFill>
                  <a:srgbClr val="FF0000"/>
                </a:solidFill>
              </a:rPr>
              <a:t>adj.</a:t>
            </a:r>
            <a:r>
              <a:rPr lang="en-US" altLang="zh-CN" sz="3200" dirty="0"/>
              <a:t> </a:t>
            </a:r>
            <a:r>
              <a:rPr lang="en-US" altLang="zh-CN" sz="3200" b="1" dirty="0"/>
              <a:t>1)</a:t>
            </a:r>
            <a:r>
              <a:rPr lang="en-US" altLang="zh-CN" sz="3200" b="1" dirty="0">
                <a:solidFill>
                  <a:srgbClr val="0000FF"/>
                </a:solidFill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</a:rPr>
              <a:t>serious, grave</a:t>
            </a:r>
            <a:r>
              <a:rPr lang="en-US" altLang="zh-CN" sz="3200" b="1" i="1" dirty="0"/>
              <a:t> </a:t>
            </a:r>
            <a:r>
              <a:rPr lang="zh-CN" altLang="en-US" sz="3200" b="1" dirty="0">
                <a:solidFill>
                  <a:srgbClr val="FF0000"/>
                </a:solidFill>
              </a:rPr>
              <a:t>十分严重的，极为恶劣的</a:t>
            </a:r>
          </a:p>
          <a:p>
            <a:pPr marL="2330450" indent="-233045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</a:rPr>
              <a:t>恶劣的天气情况</a:t>
            </a:r>
            <a:endParaRPr lang="en-US" altLang="zh-CN" sz="3200" b="1" dirty="0">
              <a:solidFill>
                <a:schemeClr val="tx1"/>
              </a:solidFill>
            </a:endParaRPr>
          </a:p>
          <a:p>
            <a:pPr marL="2330450" indent="-2330450">
              <a:lnSpc>
                <a:spcPct val="120000"/>
              </a:lnSpc>
            </a:pPr>
            <a:r>
              <a:rPr lang="zh-CN" altLang="en-US" sz="3200" b="1" dirty="0"/>
              <a:t>遭到惨败</a:t>
            </a:r>
            <a:endParaRPr lang="en-US" altLang="zh-CN" sz="3200" b="1" dirty="0"/>
          </a:p>
          <a:p>
            <a:pPr marL="2330450" indent="-2330450">
              <a:lnSpc>
                <a:spcPct val="120000"/>
              </a:lnSpc>
            </a:pPr>
            <a:r>
              <a:rPr lang="en-US" altLang="zh-CN" sz="3200" b="1" dirty="0"/>
              <a:t>2) </a:t>
            </a:r>
            <a:r>
              <a:rPr lang="en-US" altLang="zh-CN" sz="3200" b="1" i="1" dirty="0"/>
              <a:t>harsh (punishment) </a:t>
            </a:r>
            <a:r>
              <a:rPr lang="zh-CN" altLang="en-US" sz="3200" b="1" dirty="0">
                <a:solidFill>
                  <a:srgbClr val="FF0000"/>
                </a:solidFill>
              </a:rPr>
              <a:t>严厉的</a:t>
            </a:r>
          </a:p>
          <a:p>
            <a:pPr marL="2330450" indent="-23304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a severe punishment </a:t>
            </a:r>
            <a:r>
              <a:rPr lang="zh-CN" altLang="en-US" sz="3200" b="1" dirty="0">
                <a:solidFill>
                  <a:schemeClr val="tx1"/>
                </a:solidFill>
              </a:rPr>
              <a:t>严厉的，重的惩罚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marL="2330450" indent="-23304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be severe with oneself </a:t>
            </a:r>
            <a:r>
              <a:rPr lang="zh-CN" altLang="en-US" sz="3200" b="1" dirty="0">
                <a:solidFill>
                  <a:schemeClr val="tx1"/>
                </a:solidFill>
              </a:rPr>
              <a:t>严于律己</a:t>
            </a:r>
            <a:r>
              <a:rPr lang="en-US" altLang="zh-CN" sz="3200" b="1" dirty="0">
                <a:solidFill>
                  <a:schemeClr val="tx1"/>
                </a:solidFill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be</a:t>
            </a:r>
            <a:r>
              <a:rPr lang="en-US" altLang="zh-CN" sz="3200" b="1" dirty="0">
                <a:solidFill>
                  <a:schemeClr val="tx1"/>
                </a:solidFill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strict with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marL="2330450" indent="-2330450">
              <a:lnSpc>
                <a:spcPct val="120000"/>
              </a:lnSpc>
            </a:pPr>
            <a:r>
              <a:rPr lang="en-US" altLang="zh-CN" sz="3200" b="1" dirty="0"/>
              <a:t>3) </a:t>
            </a:r>
            <a:r>
              <a:rPr lang="en-US" altLang="zh-CN" sz="3200" b="1" i="1" dirty="0"/>
              <a:t>very difficult and needing a lot of effort and skill </a:t>
            </a:r>
            <a:r>
              <a:rPr lang="zh-CN" altLang="en-US" sz="3200" b="1" dirty="0">
                <a:solidFill>
                  <a:srgbClr val="FF0000"/>
                </a:solidFill>
              </a:rPr>
              <a:t>艰难的</a:t>
            </a:r>
          </a:p>
          <a:p>
            <a:pPr marL="2330450" indent="-233045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The marathon is </a:t>
            </a:r>
            <a:r>
              <a:rPr lang="en-US" altLang="zh-CN" sz="3200" b="1" dirty="0">
                <a:solidFill>
                  <a:srgbClr val="FF0000"/>
                </a:solidFill>
              </a:rPr>
              <a:t>a severe test of </a:t>
            </a:r>
            <a:r>
              <a:rPr lang="en-US" altLang="zh-CN" sz="3200" b="1" dirty="0">
                <a:solidFill>
                  <a:schemeClr val="tx1"/>
                </a:solidFill>
              </a:rPr>
              <a:t>stamina. </a:t>
            </a:r>
            <a:r>
              <a:rPr lang="zh-CN" altLang="en-US" sz="3200" b="1" dirty="0">
                <a:solidFill>
                  <a:schemeClr val="tx1"/>
                </a:solidFill>
              </a:rPr>
              <a:t>对……的</a:t>
            </a:r>
            <a:r>
              <a:rPr lang="en-US" altLang="zh-CN" sz="3200" b="1" dirty="0">
                <a:solidFill>
                  <a:schemeClr val="tx1"/>
                </a:solidFill>
              </a:rPr>
              <a:t>严峻考验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228975" y="2664460"/>
            <a:ext cx="609600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severe weather conditions</a:t>
            </a:r>
          </a:p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suffer severe losses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98120" y="0"/>
            <a:ext cx="11845290" cy="47390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</a:rPr>
              <a:t>翻译下面句子。</a:t>
            </a:r>
            <a:endParaRPr lang="zh-CN" altLang="en-US" sz="3200" b="1" dirty="0">
              <a:solidFill>
                <a:srgbClr val="0000FF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1) </a:t>
            </a:r>
            <a:r>
              <a:rPr lang="en-US" altLang="zh-CN" sz="3200" b="1" dirty="0">
                <a:sym typeface="+mn-ea"/>
              </a:rPr>
              <a:t>The head teacher spoke in a 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severe</a:t>
            </a:r>
            <a:r>
              <a:rPr lang="en-US" altLang="zh-CN" sz="3200" b="1" dirty="0">
                <a:sym typeface="+mn-ea"/>
              </a:rPr>
              <a:t> voice.</a:t>
            </a:r>
            <a:endParaRPr lang="en-US" altLang="zh-CN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班主任老师用严厉的声音说道。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2) </a:t>
            </a:r>
            <a:r>
              <a:rPr lang="en-US" altLang="zh-CN" sz="3200" b="1" dirty="0">
                <a:sym typeface="+mn-ea"/>
              </a:rPr>
              <a:t>This is a school for children with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severe </a:t>
            </a:r>
            <a:r>
              <a:rPr lang="en-US" altLang="zh-CN" sz="3200" b="1" dirty="0">
                <a:sym typeface="+mn-ea"/>
              </a:rPr>
              <a:t>learning difficulties.</a:t>
            </a:r>
            <a:endParaRPr lang="en-US" altLang="zh-CN" sz="3200" b="1" dirty="0"/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sym typeface="+mn-ea"/>
              </a:rPr>
              <a:t>这是一所专门为学习上有严重困难的孩子们开设的学校。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宋体" pitchFamily="2" charset="-122"/>
              <a:ea typeface="宋体" pitchFamily="2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severely adv.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深受失业影响的地区</a:t>
            </a: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severity n.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sym typeface="+mn-ea"/>
              </a:rPr>
              <a:t>问题的严重性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048000" y="532257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the severity of the problem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4235450" y="4155440"/>
            <a:ext cx="795591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areas severely affected by unemployment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09302" y="361218"/>
            <a:ext cx="11049235" cy="681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41550" indent="-22415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anxiety </a:t>
            </a:r>
            <a:r>
              <a:rPr lang="en-US" altLang="zh-CN" sz="3200" b="1" i="1" dirty="0">
                <a:solidFill>
                  <a:srgbClr val="FF0000"/>
                </a:solidFill>
              </a:rPr>
              <a:t>n.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69490" y="1462405"/>
            <a:ext cx="6957060" cy="387921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 anxious for/about          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 anxious +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从句</a:t>
            </a: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 anxious for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 anxious to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 anxious for sb. to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 anxious +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从句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从句谓语常用“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should+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动词原形”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</p:txBody>
      </p:sp>
      <p:sp>
        <p:nvSpPr>
          <p:cNvPr id="7" name="右大括号 6"/>
          <p:cNvSpPr/>
          <p:nvPr>
            <p:custDataLst>
              <p:tags r:id="rId2"/>
            </p:custDataLst>
          </p:nvPr>
        </p:nvSpPr>
        <p:spPr>
          <a:xfrm>
            <a:off x="6086374" y="1715627"/>
            <a:ext cx="240030" cy="65151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6319753" y="1712627"/>
            <a:ext cx="3182281" cy="589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prstClr val="black"/>
                </a:solidFill>
                <a:cs typeface="Times New Roman" panose="02020503050405090304" pitchFamily="18" charset="0"/>
              </a:rPr>
              <a:t>为</a:t>
            </a:r>
            <a:r>
              <a:rPr lang="en-US" altLang="zh-CN" sz="3200" b="1" dirty="0">
                <a:solidFill>
                  <a:prstClr val="black"/>
                </a:solidFill>
                <a:latin typeface="宋体" pitchFamily="2" charset="-122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solidFill>
                  <a:prstClr val="black"/>
                </a:solidFill>
                <a:cs typeface="Times New Roman" panose="02020503050405090304" pitchFamily="18" charset="0"/>
              </a:rPr>
              <a:t>担心</a:t>
            </a:r>
            <a:r>
              <a:rPr lang="en-US" altLang="zh-CN" sz="3200" b="1" dirty="0">
                <a:solidFill>
                  <a:prstClr val="black"/>
                </a:solidFill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solidFill>
                  <a:prstClr val="black"/>
                </a:solidFill>
                <a:cs typeface="Times New Roman" panose="02020503050405090304" pitchFamily="18" charset="0"/>
              </a:rPr>
              <a:t>担忧</a:t>
            </a:r>
            <a:endParaRPr lang="en-US" altLang="zh-CN" sz="3200" b="1" dirty="0">
              <a:solidFill>
                <a:prstClr val="black"/>
              </a:solidFill>
              <a:cs typeface="Times New Roman" panose="02020503050405090304" pitchFamily="18" charset="0"/>
            </a:endParaRPr>
          </a:p>
        </p:txBody>
      </p:sp>
      <p:sp>
        <p:nvSpPr>
          <p:cNvPr id="9" name="右大括号 8"/>
          <p:cNvSpPr/>
          <p:nvPr/>
        </p:nvSpPr>
        <p:spPr>
          <a:xfrm>
            <a:off x="9225897" y="2645239"/>
            <a:ext cx="206078" cy="2415241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9625915" y="3569261"/>
            <a:ext cx="1832553" cy="589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宋体" pitchFamily="2" charset="-122"/>
                <a:cs typeface="Times New Roman" panose="02020503050405090304" pitchFamily="18" charset="0"/>
              </a:rPr>
              <a:t>渴望</a:t>
            </a:r>
            <a:r>
              <a:rPr lang="en-US" altLang="zh-CN" sz="3200" b="1" dirty="0">
                <a:solidFill>
                  <a:prstClr val="black"/>
                </a:solidFill>
                <a:latin typeface="宋体" pitchFamily="2" charset="-122"/>
                <a:cs typeface="Times New Roman" panose="02020503050405090304" pitchFamily="18" charset="0"/>
              </a:rPr>
              <a:t>……</a:t>
            </a:r>
            <a:endParaRPr lang="en-US" altLang="zh-CN" sz="3200" b="1" dirty="0">
              <a:solidFill>
                <a:prstClr val="black"/>
              </a:solidFill>
              <a:cs typeface="Times New Roman" panose="02020503050405090304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5" t="7778" r="6250" b="8889"/>
          <a:stretch>
            <a:fillRect/>
          </a:stretch>
        </p:blipFill>
        <p:spPr>
          <a:xfrm>
            <a:off x="648026" y="3176781"/>
            <a:ext cx="952469" cy="504381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/>
      <p:bldP spid="9" grpId="0" animBg="1"/>
      <p:bldP spid="9" grpId="1" animBg="1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0775" y="431143"/>
            <a:ext cx="11280514" cy="5406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完成句子。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628650" indent="-6286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Why was she so _____________________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渴望我留下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)?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Parents are naturally ____________________________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为他们的孩子担心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I'm anxious that ________________________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我们应该准时到达那里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because I don't think there'll be many seats left.</a:t>
            </a:r>
          </a:p>
          <a:p>
            <a:pPr marL="628650" indent="-6286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Children normally feel al lot of ______________ their first day at school.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对……焦虑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628650" indent="-6286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5) He has _____________________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强烈渴望获胜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in the race.</a:t>
            </a:r>
          </a:p>
        </p:txBody>
      </p:sp>
      <p:sp>
        <p:nvSpPr>
          <p:cNvPr id="4" name="矩形 3"/>
          <p:cNvSpPr/>
          <p:nvPr/>
        </p:nvSpPr>
        <p:spPr>
          <a:xfrm>
            <a:off x="3722842" y="2828612"/>
            <a:ext cx="528908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we should get there on time</a:t>
            </a:r>
            <a:endParaRPr lang="en-US" altLang="zh-CN" sz="3200" b="1" i="0" dirty="0">
              <a:solidFill>
                <a:srgbClr val="FF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57619" y="1039151"/>
            <a:ext cx="41318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anxious for me to stay </a:t>
            </a:r>
          </a:p>
        </p:txBody>
      </p:sp>
      <p:sp>
        <p:nvSpPr>
          <p:cNvPr id="5" name="矩形 4"/>
          <p:cNvSpPr/>
          <p:nvPr/>
        </p:nvSpPr>
        <p:spPr>
          <a:xfrm>
            <a:off x="4630503" y="1632405"/>
            <a:ext cx="582803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anxious for/about their children </a:t>
            </a:r>
          </a:p>
        </p:txBody>
      </p:sp>
      <p:sp>
        <p:nvSpPr>
          <p:cNvPr id="7" name="矩形 6"/>
          <p:cNvSpPr/>
          <p:nvPr/>
        </p:nvSpPr>
        <p:spPr>
          <a:xfrm>
            <a:off x="6379609" y="3939083"/>
            <a:ext cx="2722880" cy="681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anxietry about</a:t>
            </a:r>
          </a:p>
        </p:txBody>
      </p:sp>
      <p:sp>
        <p:nvSpPr>
          <p:cNvPr id="8" name="矩形 7"/>
          <p:cNvSpPr/>
          <p:nvPr/>
        </p:nvSpPr>
        <p:spPr>
          <a:xfrm>
            <a:off x="2214097" y="5096814"/>
            <a:ext cx="4165499" cy="6317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strong anxiety to win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5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0834" y="317751"/>
            <a:ext cx="11473398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/>
              <a:t>6. Acupuncture has also been applied to treat people who </a:t>
            </a:r>
            <a:r>
              <a:rPr lang="en-US" altLang="zh-CN" sz="3200" b="1" dirty="0">
                <a:solidFill>
                  <a:srgbClr val="FF0000"/>
                </a:solidFill>
              </a:rPr>
              <a:t>abuse </a:t>
            </a:r>
            <a:r>
              <a:rPr lang="en-US" altLang="zh-CN" sz="3200" b="1" dirty="0"/>
              <a:t>alcohol, tobacco or drugs.</a:t>
            </a:r>
          </a:p>
          <a:p>
            <a:pPr marL="450850" indent="-92075">
              <a:lnSpc>
                <a:spcPct val="120000"/>
              </a:lnSpc>
            </a:pPr>
            <a:r>
              <a:rPr lang="zh-CN" altLang="en-US" sz="3200" b="1" dirty="0"/>
              <a:t>针灸也用来治疗嗜酒、嗜烟、嗜毒人群。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68172" y="2321882"/>
            <a:ext cx="11139054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41550" indent="-22415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abuse </a:t>
            </a:r>
            <a:r>
              <a:rPr lang="en-US" altLang="zh-CN" sz="3200" b="1" i="1" dirty="0" err="1">
                <a:solidFill>
                  <a:srgbClr val="FF0000"/>
                </a:solidFill>
              </a:rPr>
              <a:t>vt. </a:t>
            </a:r>
            <a:r>
              <a:rPr lang="en-US" altLang="zh-CN" sz="3200" b="1" dirty="0"/>
              <a:t>1) </a:t>
            </a:r>
            <a:r>
              <a:rPr lang="zh-CN" altLang="en-US" sz="3200" b="1" dirty="0">
                <a:solidFill>
                  <a:srgbClr val="FF0000"/>
                </a:solidFill>
              </a:rPr>
              <a:t>滥用</a:t>
            </a:r>
            <a:r>
              <a:rPr lang="en-US" altLang="zh-CN" sz="3200" b="1" dirty="0">
                <a:solidFill>
                  <a:srgbClr val="FF0000"/>
                </a:solidFill>
              </a:rPr>
              <a:t> abuse one’s power </a:t>
            </a:r>
            <a:r>
              <a:rPr lang="zh-CN" altLang="en-US" sz="3200" b="1" dirty="0">
                <a:solidFill>
                  <a:schemeClr val="tx1"/>
                </a:solidFill>
              </a:rPr>
              <a:t>滥用权力</a:t>
            </a:r>
            <a:endParaRPr lang="zh-CN" altLang="en-US" sz="3200" b="1" dirty="0">
              <a:solidFill>
                <a:srgbClr val="FF0000"/>
              </a:solidFill>
            </a:endParaRPr>
          </a:p>
          <a:p>
            <a:pPr marL="2241550" indent="-224155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</a:rPr>
              <a:t>辜负信任</a:t>
            </a:r>
            <a:r>
              <a:rPr lang="en-US" altLang="zh-CN" sz="3200" b="1" dirty="0">
                <a:solidFill>
                  <a:schemeClr val="tx1"/>
                </a:solidFill>
              </a:rPr>
              <a:t> </a:t>
            </a:r>
          </a:p>
          <a:p>
            <a:pPr marL="2241550" indent="-2241550">
              <a:lnSpc>
                <a:spcPct val="120000"/>
              </a:lnSpc>
            </a:pPr>
            <a:r>
              <a:rPr lang="en-US" altLang="zh-CN" sz="3200" b="1" dirty="0"/>
              <a:t>2) </a:t>
            </a:r>
            <a:r>
              <a:rPr lang="zh-CN" altLang="en-US" sz="3200" b="1" dirty="0">
                <a:solidFill>
                  <a:srgbClr val="FF0000"/>
                </a:solidFill>
              </a:rPr>
              <a:t>虐待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</a:p>
          <a:p>
            <a:pPr marL="2241550" indent="-224155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All the children had been physically and emotionally </a:t>
            </a:r>
            <a:r>
              <a:rPr lang="en-US" altLang="zh-CN" sz="3200" b="1" dirty="0">
                <a:solidFill>
                  <a:srgbClr val="FF0000"/>
                </a:solidFill>
              </a:rPr>
              <a:t>abused</a:t>
            </a:r>
            <a:r>
              <a:rPr lang="en-US" altLang="zh-CN" sz="3200" b="1" dirty="0">
                <a:solidFill>
                  <a:schemeClr val="tx1"/>
                </a:solidFill>
              </a:rPr>
              <a:t>.</a:t>
            </a:r>
          </a:p>
          <a:p>
            <a:pPr marL="2241550" indent="-2241550">
              <a:lnSpc>
                <a:spcPct val="120000"/>
              </a:lnSpc>
            </a:pPr>
            <a:r>
              <a:rPr lang="en-US" altLang="zh-CN" sz="3200" b="1" dirty="0"/>
              <a:t>3) </a:t>
            </a:r>
            <a:r>
              <a:rPr lang="zh-CN" altLang="en-US" sz="3200" b="1" dirty="0">
                <a:solidFill>
                  <a:srgbClr val="FF0000"/>
                </a:solidFill>
              </a:rPr>
              <a:t>辱骂</a:t>
            </a:r>
          </a:p>
          <a:p>
            <a:pPr marL="2241550" indent="-224155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</a:rPr>
              <a:t>The referee had been threatened and </a:t>
            </a:r>
            <a:r>
              <a:rPr lang="zh-CN" altLang="en-US" sz="3200" b="1" dirty="0">
                <a:solidFill>
                  <a:srgbClr val="FF0000"/>
                </a:solidFill>
              </a:rPr>
              <a:t>abused</a:t>
            </a:r>
            <a:r>
              <a:rPr lang="zh-CN" altLang="en-US" sz="3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2378075" y="29743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abuse trust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73722" y="299012"/>
            <a:ext cx="11139054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41550" indent="-22415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abuse </a:t>
            </a:r>
            <a:r>
              <a:rPr lang="en-US" altLang="zh-CN" sz="3200" b="1" i="1" dirty="0">
                <a:solidFill>
                  <a:srgbClr val="FF0000"/>
                </a:solidFill>
              </a:rPr>
              <a:t>n.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4074" y="1094236"/>
            <a:ext cx="11139054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41550" indent="-22415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drug abuse</a:t>
            </a:r>
            <a:r>
              <a:rPr lang="en-US" altLang="zh-CN" sz="3200" b="1" dirty="0"/>
              <a:t> </a:t>
            </a:r>
            <a:r>
              <a:rPr lang="zh-CN" altLang="en-US" sz="3200" b="1" dirty="0"/>
              <a:t>嗜毒</a:t>
            </a:r>
          </a:p>
          <a:p>
            <a:pPr marL="2241550" indent="-22415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abuse of power</a:t>
            </a:r>
            <a:r>
              <a:rPr lang="en-US" altLang="zh-CN" sz="3200" b="1" dirty="0"/>
              <a:t> </a:t>
            </a:r>
            <a:r>
              <a:rPr lang="zh-CN" altLang="en-US" sz="3200" b="1" dirty="0"/>
              <a:t>滥用权力</a:t>
            </a:r>
          </a:p>
          <a:p>
            <a:pPr marL="2241550" indent="-2241550">
              <a:lnSpc>
                <a:spcPct val="120000"/>
              </a:lnSpc>
            </a:pPr>
            <a:r>
              <a:rPr lang="zh-CN" altLang="en-US" sz="3200" b="1" dirty="0"/>
              <a:t>他遭受了多年的心理摧残。</a:t>
            </a:r>
          </a:p>
          <a:p>
            <a:pPr marL="2241550" indent="-2241550">
              <a:lnSpc>
                <a:spcPct val="120000"/>
              </a:lnSpc>
            </a:pPr>
            <a:r>
              <a:rPr lang="en-US" altLang="zh-CN" sz="3200" b="1" dirty="0"/>
              <a:t>He suffered years of </a:t>
            </a:r>
            <a:r>
              <a:rPr lang="en-US" altLang="zh-CN" sz="3200" b="1" dirty="0">
                <a:solidFill>
                  <a:srgbClr val="FF0000"/>
                </a:solidFill>
              </a:rPr>
              <a:t>mental abuse</a:t>
            </a:r>
            <a:r>
              <a:rPr lang="en-US" altLang="zh-CN" sz="3200" b="1" dirty="0"/>
              <a:t>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31340" y="519660"/>
            <a:ext cx="10935729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</a:rPr>
              <a:t>写出下面句子中画线单词的词性和中文释义。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1) Rose said she had been a victim of child </a:t>
            </a:r>
            <a:r>
              <a:rPr lang="en-US" altLang="zh-CN" sz="3200" b="1" u="sng" dirty="0"/>
              <a:t>abuse</a:t>
            </a:r>
            <a:r>
              <a:rPr lang="en-US" altLang="zh-CN" sz="3200" b="1" dirty="0"/>
              <a:t>. </a:t>
            </a:r>
          </a:p>
          <a:p>
            <a:pPr indent="444500">
              <a:lnSpc>
                <a:spcPct val="120000"/>
              </a:lnSpc>
            </a:pPr>
            <a:r>
              <a:rPr lang="en-US" altLang="zh-CN" sz="3200" b="1" dirty="0"/>
              <a:t>________ ________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/>
              <a:t>2) He showed how the rich and powerful can </a:t>
            </a:r>
            <a:r>
              <a:rPr lang="en-US" altLang="zh-CN" sz="3200" b="1" u="sng" dirty="0"/>
              <a:t>abuse</a:t>
            </a:r>
            <a:r>
              <a:rPr lang="en-US" altLang="zh-CN" sz="3200" b="1" dirty="0"/>
              <a:t> their position. ________ ________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3) What she did was an </a:t>
            </a:r>
            <a:r>
              <a:rPr lang="en-US" altLang="zh-CN" sz="3200" b="1" u="sng" dirty="0"/>
              <a:t>abuse </a:t>
            </a:r>
            <a:r>
              <a:rPr lang="en-US" altLang="zh-CN" sz="3200" b="1" dirty="0"/>
              <a:t>of her position as manager.   </a:t>
            </a:r>
          </a:p>
          <a:p>
            <a:pPr indent="358775">
              <a:lnSpc>
                <a:spcPct val="120000"/>
              </a:lnSpc>
            </a:pPr>
            <a:r>
              <a:rPr lang="en-US" altLang="zh-CN" sz="3200" b="1" dirty="0"/>
              <a:t>________ ________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/>
              <a:t>4) Unfortunately, when the police found the children, they had been </a:t>
            </a:r>
            <a:r>
              <a:rPr lang="en-US" altLang="zh-CN" sz="3200" b="1" u="sng" dirty="0"/>
              <a:t>abused</a:t>
            </a:r>
            <a:r>
              <a:rPr lang="en-US" altLang="zh-CN" sz="3200" b="1" dirty="0"/>
              <a:t> physically and emotionally.  </a:t>
            </a:r>
          </a:p>
          <a:p>
            <a:pPr indent="444500">
              <a:lnSpc>
                <a:spcPct val="120000"/>
              </a:lnSpc>
            </a:pPr>
            <a:r>
              <a:rPr lang="en-US" altLang="zh-CN" sz="3200" b="1" dirty="0"/>
              <a:t>________ ________</a:t>
            </a:r>
            <a:endParaRPr lang="zh-CN" altLang="en-US" sz="3200" b="1" dirty="0"/>
          </a:p>
        </p:txBody>
      </p:sp>
      <p:sp>
        <p:nvSpPr>
          <p:cNvPr id="7" name="矩形 6"/>
          <p:cNvSpPr/>
          <p:nvPr/>
        </p:nvSpPr>
        <p:spPr>
          <a:xfrm>
            <a:off x="1785419" y="1712095"/>
            <a:ext cx="277511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     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虐待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   </a:t>
            </a:r>
          </a:p>
        </p:txBody>
      </p:sp>
      <p:sp>
        <p:nvSpPr>
          <p:cNvPr id="8" name="矩形 7"/>
          <p:cNvSpPr/>
          <p:nvPr/>
        </p:nvSpPr>
        <p:spPr>
          <a:xfrm>
            <a:off x="3179262" y="2886937"/>
            <a:ext cx="2407197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v.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      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滥用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647014" y="4039391"/>
            <a:ext cx="2262158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    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滥用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647014" y="5838039"/>
            <a:ext cx="2407197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v.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      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虐待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635" cy="6587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-251142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7. </a:t>
            </a:r>
            <a:r>
              <a:rPr lang="en-US" altLang="zh-CN" sz="3200" b="1" dirty="0">
                <a:solidFill>
                  <a:srgbClr val="FF0000"/>
                </a:solidFill>
              </a:rPr>
              <a:t>substance </a:t>
            </a:r>
          </a:p>
          <a:p>
            <a:pPr marL="0" indent="-251142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1) </a:t>
            </a:r>
            <a:r>
              <a:rPr lang="zh-CN" altLang="en-US" sz="3200" b="1" dirty="0">
                <a:solidFill>
                  <a:schemeClr val="tx1"/>
                </a:solidFill>
              </a:rPr>
              <a:t>物质</a:t>
            </a:r>
            <a:r>
              <a:rPr lang="en-US" altLang="zh-CN" sz="3200" b="1" dirty="0">
                <a:solidFill>
                  <a:schemeClr val="tx1"/>
                </a:solidFill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</a:rPr>
              <a:t>C </a:t>
            </a:r>
            <a:r>
              <a:rPr lang="zh-CN" altLang="en-US" sz="3200" b="1" dirty="0">
                <a:solidFill>
                  <a:schemeClr val="tx1"/>
                </a:solidFill>
              </a:rPr>
              <a:t>一种化学物质</a:t>
            </a:r>
            <a:r>
              <a:rPr lang="en-US" altLang="zh-CN" sz="3200" b="1" dirty="0">
                <a:solidFill>
                  <a:srgbClr val="FF0000"/>
                </a:solidFill>
              </a:rPr>
              <a:t> a chemical substance</a:t>
            </a:r>
          </a:p>
          <a:p>
            <a:pPr marL="0" indent="-251142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2) </a:t>
            </a:r>
            <a:r>
              <a:rPr lang="zh-CN" altLang="en-US" sz="3200" b="1" dirty="0">
                <a:solidFill>
                  <a:schemeClr val="tx1"/>
                </a:solidFill>
              </a:rPr>
              <a:t>事实依据</a:t>
            </a:r>
            <a:r>
              <a:rPr lang="en-US" altLang="zh-CN" sz="3200" b="1" dirty="0">
                <a:solidFill>
                  <a:schemeClr val="tx1"/>
                </a:solidFill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</a:rPr>
              <a:t>U</a:t>
            </a:r>
          </a:p>
          <a:p>
            <a:pPr marL="0" lvl="1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It was rumor, completely </a:t>
            </a:r>
            <a:r>
              <a:rPr lang="en-US" altLang="zh-CN" sz="3200" b="1" dirty="0">
                <a:solidFill>
                  <a:srgbClr val="FF0000"/>
                </a:solidFill>
              </a:rPr>
              <a:t>without substance</a:t>
            </a:r>
            <a:r>
              <a:rPr lang="en-US" altLang="zh-CN" sz="3200" b="1" dirty="0">
                <a:solidFill>
                  <a:schemeClr val="tx1"/>
                </a:solidFill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</a:rPr>
              <a:t>没有事实根据</a:t>
            </a:r>
          </a:p>
          <a:p>
            <a:pPr marL="0" lvl="1"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</a:rPr>
              <a:t>缺乏事实根据</a:t>
            </a:r>
          </a:p>
          <a:p>
            <a:pPr marL="0" lvl="1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T</a:t>
            </a:r>
            <a:r>
              <a:rPr lang="zh-CN" altLang="en-US" sz="3200" b="1" dirty="0">
                <a:solidFill>
                  <a:srgbClr val="FF0000"/>
                </a:solidFill>
              </a:rPr>
              <a:t>here is no substance in</a:t>
            </a:r>
            <a:r>
              <a:rPr lang="zh-CN" altLang="en-US" sz="3200" b="1" dirty="0">
                <a:solidFill>
                  <a:schemeClr val="tx1"/>
                </a:solidFill>
              </a:rPr>
              <a:t> any of these </a:t>
            </a:r>
            <a:r>
              <a:rPr sz="3200" b="1" dirty="0">
                <a:solidFill>
                  <a:schemeClr val="tx1"/>
                </a:solidFill>
              </a:rPr>
              <a:t>accusation</a:t>
            </a:r>
            <a:r>
              <a:rPr lang="en-US" sz="3200" b="1" dirty="0">
                <a:solidFill>
                  <a:schemeClr val="tx1"/>
                </a:solidFill>
              </a:rPr>
              <a:t>s.</a:t>
            </a:r>
          </a:p>
          <a:p>
            <a:pPr marL="0" lvl="1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这些指控都毫无根据。</a:t>
            </a:r>
          </a:p>
          <a:p>
            <a:pPr marL="0" lvl="1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3) </a:t>
            </a:r>
            <a:r>
              <a:rPr lang="zh-CN" altLang="en-US" sz="3200" b="1" dirty="0">
                <a:solidFill>
                  <a:schemeClr val="tx1"/>
                </a:solidFill>
              </a:rPr>
              <a:t>要点，实质</a:t>
            </a:r>
            <a:endParaRPr lang="en-US" altLang="zh-CN" sz="3200" b="1" dirty="0">
              <a:solidFill>
                <a:schemeClr val="tx1"/>
              </a:solidFill>
            </a:endParaRPr>
          </a:p>
          <a:p>
            <a:pPr marL="0" lvl="1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The </a:t>
            </a:r>
            <a:r>
              <a:rPr lang="en-US" altLang="zh-CN" sz="3200" b="1" dirty="0">
                <a:solidFill>
                  <a:srgbClr val="FF0000"/>
                </a:solidFill>
              </a:rPr>
              <a:t>substance </a:t>
            </a:r>
            <a:r>
              <a:rPr lang="en-US" altLang="zh-CN" sz="3200" b="1" dirty="0">
                <a:solidFill>
                  <a:schemeClr val="tx1"/>
                </a:solidFill>
              </a:rPr>
              <a:t>of his discussions doesn't really matter.</a:t>
            </a:r>
          </a:p>
          <a:p>
            <a:pPr marL="0" lvl="1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I agreed with what she said </a:t>
            </a:r>
            <a:r>
              <a:rPr lang="en-US" altLang="zh-CN" sz="3200" b="1" u="sng" dirty="0">
                <a:solidFill>
                  <a:srgbClr val="FF0000"/>
                </a:solidFill>
              </a:rPr>
              <a:t>in substance</a:t>
            </a:r>
            <a:r>
              <a:rPr lang="en-US" altLang="zh-CN" sz="3200" b="1" dirty="0">
                <a:solidFill>
                  <a:schemeClr val="tx1"/>
                </a:solidFill>
              </a:rPr>
              <a:t>, though not with every detail. </a:t>
            </a:r>
            <a:r>
              <a:rPr lang="zh-CN" altLang="en-US" sz="3200" b="1" dirty="0">
                <a:solidFill>
                  <a:schemeClr val="tx1"/>
                </a:solidFill>
              </a:rPr>
              <a:t>本质上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2801620" y="2412683"/>
            <a:ext cx="5080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/>
            <a:r>
              <a:rPr lang="en-US" altLang="zh-CN" sz="3200" b="1" i="0">
                <a:solidFill>
                  <a:srgbClr val="FF0000"/>
                </a:solidFill>
                <a:latin typeface="Times New Roman Bold" panose="02020503050405090304" charset="0"/>
                <a:ea typeface="ui-serif"/>
                <a:cs typeface="Times New Roman Bold" panose="02020503050405090304" charset="0"/>
              </a:rPr>
              <a:t>lack substance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635" cy="3634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-2511425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substantial adj.</a:t>
            </a:r>
            <a:r>
              <a:rPr lang="en-US" sz="3200" b="1" dirty="0">
                <a:solidFill>
                  <a:schemeClr val="tx1"/>
                </a:solidFill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</a:rPr>
              <a:t>重大的，价值巨大的</a:t>
            </a:r>
            <a:r>
              <a:rPr lang="en-US" altLang="zh-CN" sz="3200" b="1" dirty="0">
                <a:solidFill>
                  <a:schemeClr val="tx1"/>
                </a:solidFill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considerable</a:t>
            </a:r>
            <a:endParaRPr lang="zh-CN" altLang="en-US" sz="3200" b="1" dirty="0">
              <a:solidFill>
                <a:schemeClr val="tx1"/>
              </a:solidFill>
            </a:endParaRPr>
          </a:p>
          <a:p>
            <a:pPr marL="0" indent="-251142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substantial sums of money</a:t>
            </a:r>
          </a:p>
          <a:p>
            <a:pPr marL="0" indent="-251142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a substantial change</a:t>
            </a:r>
          </a:p>
          <a:p>
            <a:pPr marL="0" indent="-2511425" fontAlgn="auto"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</a:endParaRPr>
          </a:p>
          <a:p>
            <a:pPr marL="0" indent="-251142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The costs have increased</a:t>
            </a:r>
            <a:r>
              <a:rPr lang="en-US" altLang="zh-CN" sz="3200" b="1" dirty="0">
                <a:solidFill>
                  <a:srgbClr val="FF0000"/>
                </a:solidFill>
              </a:rPr>
              <a:t> substantially</a:t>
            </a:r>
            <a:r>
              <a:rPr lang="en-US" altLang="zh-CN" sz="3200" b="1" dirty="0">
                <a:solidFill>
                  <a:schemeClr val="tx1"/>
                </a:solidFill>
              </a:rPr>
              <a:t>.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marL="0" indent="-251142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成本大大提高了。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5334000" y="662305"/>
            <a:ext cx="609600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ym typeface="+mn-ea"/>
              </a:rPr>
              <a:t>大笔的钱</a:t>
            </a:r>
          </a:p>
          <a:p>
            <a:r>
              <a:rPr lang="zh-CN" altLang="en-US" sz="3200" b="1" dirty="0">
                <a:sym typeface="+mn-ea"/>
              </a:rPr>
              <a:t>重大变化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495" y="-164465"/>
            <a:ext cx="12192635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680" indent="-360680">
              <a:lnSpc>
                <a:spcPct val="120000"/>
              </a:lnSpc>
            </a:pPr>
            <a:r>
              <a:rPr lang="en-US" altLang="zh-CN" sz="3200" b="1" dirty="0"/>
              <a:t>8. ..</a:t>
            </a:r>
            <a:r>
              <a:rPr lang="en-US" altLang="zh-CN" sz="3200" b="1" dirty="0">
                <a:solidFill>
                  <a:srgbClr val="FF0000"/>
                </a:solidFill>
              </a:rPr>
              <a:t>.is recognized as a symbol of traditional Chinese culture</a:t>
            </a:r>
            <a:r>
              <a:rPr lang="en-US" altLang="zh-CN" sz="3200" b="1" dirty="0"/>
              <a:t> and has </a:t>
            </a:r>
            <a:r>
              <a:rPr lang="en-US" altLang="zh-CN" sz="3200" b="1" dirty="0">
                <a:solidFill>
                  <a:srgbClr val="FF0000"/>
                </a:solidFill>
              </a:rPr>
              <a:t>come into widespread use</a:t>
            </a:r>
            <a:r>
              <a:rPr lang="en-US" altLang="zh-CN" sz="3200" b="1" dirty="0"/>
              <a:t> around the world.</a:t>
            </a:r>
            <a:endParaRPr lang="zh-CN" altLang="en-US" sz="3200" b="1" dirty="0"/>
          </a:p>
        </p:txBody>
      </p:sp>
      <p:sp>
        <p:nvSpPr>
          <p:cNvPr id="4" name="矩形 3"/>
          <p:cNvSpPr/>
          <p:nvPr/>
        </p:nvSpPr>
        <p:spPr>
          <a:xfrm>
            <a:off x="0" y="980440"/>
            <a:ext cx="12192635" cy="5996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51142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symbol   </a:t>
            </a:r>
            <a:r>
              <a:rPr lang="en-US" altLang="zh-CN" sz="3200" b="1" i="1" dirty="0">
                <a:solidFill>
                  <a:srgbClr val="FF0000"/>
                </a:solidFill>
              </a:rPr>
              <a:t>n.</a:t>
            </a:r>
            <a:r>
              <a:rPr lang="en-US" altLang="zh-CN" sz="3200" b="1" dirty="0"/>
              <a:t> 1) </a:t>
            </a:r>
            <a:r>
              <a:rPr lang="en-US" altLang="zh-CN" sz="3200" b="1" i="1" dirty="0"/>
              <a:t> </a:t>
            </a:r>
            <a:r>
              <a:rPr lang="zh-CN" altLang="en-US" sz="3200" b="1" dirty="0">
                <a:solidFill>
                  <a:schemeClr val="tx1"/>
                </a:solidFill>
              </a:rPr>
              <a:t>象征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indent="-2511425" fontAlgn="auto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The dove is </a:t>
            </a:r>
            <a:r>
              <a:rPr lang="en-US" altLang="zh-CN" sz="3200" b="1" u="sng" dirty="0">
                <a:solidFill>
                  <a:srgbClr val="FF0000"/>
                </a:solidFill>
                <a:sym typeface="+mn-ea"/>
              </a:rPr>
              <a:t>a symbol of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3200" b="1" dirty="0">
                <a:sym typeface="+mn-ea"/>
              </a:rPr>
              <a:t>peace</a:t>
            </a:r>
          </a:p>
          <a:p>
            <a:pPr indent="-251142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2)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符号，代号  </a:t>
            </a:r>
            <a:endParaRPr lang="zh-CN" altLang="en-US" sz="3200" dirty="0"/>
          </a:p>
          <a:p>
            <a:pPr indent="-251142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What’s the chemical </a:t>
            </a:r>
            <a:r>
              <a:rPr lang="en-US" altLang="zh-CN" sz="3200" b="1" u="sng" dirty="0">
                <a:solidFill>
                  <a:srgbClr val="FF0000"/>
                </a:solidFill>
              </a:rPr>
              <a:t>symbol for </a:t>
            </a:r>
            <a:r>
              <a:rPr lang="en-US" altLang="zh-CN" sz="3200" b="1" dirty="0">
                <a:solidFill>
                  <a:schemeClr val="tx1"/>
                </a:solidFill>
              </a:rPr>
              <a:t>iron?</a:t>
            </a:r>
          </a:p>
          <a:p>
            <a:pPr indent="-251142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symbolize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vt.			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symbolic adj. 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象征性的</a:t>
            </a:r>
            <a:endParaRPr lang="en-US" altLang="zh-CN" sz="3200" b="1" i="1" dirty="0">
              <a:solidFill>
                <a:srgbClr val="FF0000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indent="-251142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chemeClr val="tx1"/>
                </a:solidFill>
              </a:rPr>
              <a:t>Red ____________ good luck in many cultures. (</a:t>
            </a:r>
            <a:r>
              <a:rPr lang="zh-CN" altLang="en-US" sz="3200" b="1" dirty="0">
                <a:solidFill>
                  <a:schemeClr val="tx1"/>
                </a:solidFill>
              </a:rPr>
              <a:t>是……的象征</a:t>
            </a:r>
            <a:r>
              <a:rPr lang="en-US" altLang="zh-CN" sz="3200" b="1" dirty="0">
                <a:solidFill>
                  <a:schemeClr val="tx1"/>
                </a:solidFill>
              </a:rPr>
              <a:t>)</a:t>
            </a:r>
          </a:p>
          <a:p>
            <a:pPr indent="-251142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chemeClr val="tx1"/>
                </a:solidFill>
              </a:rPr>
              <a:t>Red ____________ good luck in </a:t>
            </a:r>
            <a:r>
              <a:rPr lang="en-US" altLang="zh-CN" sz="3200" b="1" dirty="0">
                <a:sym typeface="+mn-ea"/>
              </a:rPr>
              <a:t>many cultures.</a:t>
            </a:r>
          </a:p>
          <a:p>
            <a:pPr indent="-251142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ym typeface="+mn-ea"/>
              </a:rPr>
              <a:t>Red </a:t>
            </a:r>
            <a:r>
              <a:rPr lang="en-US" altLang="zh-CN" sz="3200" b="1" u="sng" dirty="0">
                <a:solidFill>
                  <a:srgbClr val="FF0000"/>
                </a:solidFill>
                <a:sym typeface="+mn-ea"/>
              </a:rPr>
              <a:t>is symbolic of</a:t>
            </a:r>
            <a:r>
              <a:rPr lang="en-US" altLang="zh-CN" sz="3200" b="1" u="sng" dirty="0">
                <a:sym typeface="+mn-ea"/>
              </a:rPr>
              <a:t> </a:t>
            </a:r>
            <a:r>
              <a:rPr lang="en-US" altLang="zh-CN" sz="3200" b="1" dirty="0">
                <a:sym typeface="+mn-ea"/>
              </a:rPr>
              <a:t>good luck in many cultures.</a:t>
            </a:r>
            <a:endParaRPr lang="en-US" altLang="zh-CN" sz="3200" b="1" dirty="0">
              <a:solidFill>
                <a:schemeClr val="tx1"/>
              </a:solidFill>
            </a:endParaRPr>
          </a:p>
          <a:p>
            <a:pPr indent="-251142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Its name sounds like “higher year”, carring the _______ (symbol) </a:t>
            </a:r>
            <a:r>
              <a:rPr lang="en-US" altLang="zh-CN" sz="3200" b="1" dirty="0">
                <a:solidFill>
                  <a:srgbClr val="FF0000"/>
                </a:solidFill>
              </a:rPr>
              <a:t>meaning</a:t>
            </a:r>
            <a:r>
              <a:rPr lang="en-US" altLang="zh-CN" sz="3200" b="1" dirty="0">
                <a:solidFill>
                  <a:schemeClr val="tx1"/>
                </a:solidFill>
              </a:rPr>
              <a:t> of progress in both career and life.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26770" y="3970020"/>
            <a:ext cx="297624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is a symbol of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933450" y="4553585"/>
            <a:ext cx="297624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symbolized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225155" y="5717540"/>
            <a:ext cx="297624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symbolic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8" grpId="0"/>
      <p:bldP spid="8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63797" y="1135765"/>
            <a:ext cx="11243258" cy="4228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</a:rPr>
              <a:t>用</a:t>
            </a:r>
            <a:r>
              <a:rPr lang="en-US" altLang="zh-CN" sz="3200" b="1" dirty="0">
                <a:solidFill>
                  <a:srgbClr val="0000FF"/>
                </a:solidFill>
              </a:rPr>
              <a:t>symbol, sign, signal</a:t>
            </a:r>
            <a:r>
              <a:rPr lang="zh-CN" altLang="en-US" sz="3200" b="1" dirty="0">
                <a:solidFill>
                  <a:srgbClr val="0000FF"/>
                </a:solidFill>
              </a:rPr>
              <a:t>或</a:t>
            </a:r>
            <a:r>
              <a:rPr lang="en-US" altLang="zh-CN" sz="3200" b="1" dirty="0">
                <a:solidFill>
                  <a:srgbClr val="0000FF"/>
                </a:solidFill>
              </a:rPr>
              <a:t>mark</a:t>
            </a:r>
            <a:r>
              <a:rPr lang="zh-CN" altLang="en-US" sz="3200" b="1" dirty="0">
                <a:solidFill>
                  <a:srgbClr val="0000FF"/>
                </a:solidFill>
              </a:rPr>
              <a:t>填空。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1) Scientists have found no ________ of life on Mars so far.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2) All I get is a busy ________ when I dial George’s cell </a:t>
            </a:r>
          </a:p>
          <a:p>
            <a:pPr indent="446405">
              <a:lnSpc>
                <a:spcPct val="120000"/>
              </a:lnSpc>
            </a:pPr>
            <a:r>
              <a:rPr lang="en-US" altLang="zh-CN" sz="3200" b="1" dirty="0"/>
              <a:t>phone number.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3) All the students, please put a ________ by the subjects </a:t>
            </a:r>
          </a:p>
          <a:p>
            <a:pPr indent="446405">
              <a:lnSpc>
                <a:spcPct val="120000"/>
              </a:lnSpc>
            </a:pPr>
            <a:r>
              <a:rPr lang="en-US" altLang="zh-CN" sz="3200" b="1" dirty="0"/>
              <a:t>you are interested in.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4) I frequently use sunflowers as a ________ of strength.</a:t>
            </a:r>
          </a:p>
        </p:txBody>
      </p:sp>
      <p:sp>
        <p:nvSpPr>
          <p:cNvPr id="5" name="矩形 4"/>
          <p:cNvSpPr/>
          <p:nvPr/>
        </p:nvSpPr>
        <p:spPr>
          <a:xfrm>
            <a:off x="5532972" y="1758369"/>
            <a:ext cx="89159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ea typeface="方正科技符号扩展" panose="03000502000000000000" pitchFamily="66" charset="-122"/>
                <a:cs typeface="方正科技符号扩展" panose="03000502000000000000" pitchFamily="66" charset="-122"/>
              </a:rPr>
              <a:t>sign</a:t>
            </a:r>
            <a:endParaRPr lang="zh-CN" altLang="en-US" sz="3200" b="1" dirty="0">
              <a:solidFill>
                <a:srgbClr val="FF0000"/>
              </a:solidFill>
              <a:ea typeface="方正科技符号扩展" panose="03000502000000000000" pitchFamily="66" charset="-122"/>
              <a:cs typeface="方正科技符号扩展" panose="03000502000000000000" pitchFamily="66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11173" y="2329046"/>
            <a:ext cx="121058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ea typeface="方正科技符号扩展" panose="03000502000000000000" pitchFamily="66" charset="-122"/>
                <a:cs typeface="方正科技符号扩展" panose="03000502000000000000" pitchFamily="66" charset="-122"/>
              </a:rPr>
              <a:t>signal</a:t>
            </a:r>
            <a:endParaRPr lang="zh-CN" altLang="en-US" sz="3200" b="1" dirty="0">
              <a:solidFill>
                <a:srgbClr val="FF0000"/>
              </a:solidFill>
              <a:ea typeface="方正科技符号扩展" panose="03000502000000000000" pitchFamily="66" charset="-122"/>
              <a:cs typeface="方正科技符号扩展" panose="03000502000000000000" pitchFamily="66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424563" y="3561492"/>
            <a:ext cx="1141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ea typeface="方正科技符号扩展" panose="03000502000000000000" pitchFamily="66" charset="-122"/>
                <a:cs typeface="方正科技符号扩展" panose="03000502000000000000" pitchFamily="66" charset="-122"/>
              </a:rPr>
              <a:t>mark</a:t>
            </a:r>
            <a:endParaRPr lang="zh-CN" altLang="en-US" sz="3200" b="1" dirty="0">
              <a:solidFill>
                <a:srgbClr val="FF0000"/>
              </a:solidFill>
              <a:ea typeface="方正科技符号扩展" panose="03000502000000000000" pitchFamily="66" charset="-122"/>
              <a:cs typeface="方正科技符号扩展" panose="03000502000000000000" pitchFamily="66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708629" y="4660094"/>
            <a:ext cx="14382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ea typeface="方正科技符号扩展" panose="03000502000000000000" pitchFamily="66" charset="-122"/>
                <a:cs typeface="方正科技符号扩展" panose="03000502000000000000" pitchFamily="66" charset="-122"/>
              </a:rPr>
              <a:t>symbol</a:t>
            </a:r>
            <a:endParaRPr lang="zh-CN" altLang="en-US" sz="3200" b="1" dirty="0">
              <a:solidFill>
                <a:srgbClr val="FF0000"/>
              </a:solidFill>
              <a:ea typeface="方正科技符号扩展" panose="03000502000000000000" pitchFamily="66" charset="-122"/>
              <a:cs typeface="方正科技符号扩展" panose="03000502000000000000" pitchFamily="66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mZiYWZlYTIzNGZiMjFhNTBkNTdkY2IwNzZiNDZhMj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2011</Words>
  <Application>Microsoft Macintosh PowerPoint</Application>
  <PresentationFormat>Widescreen</PresentationFormat>
  <Paragraphs>229</Paragraphs>
  <Slides>24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宋体</vt:lpstr>
      <vt:lpstr>Times New Roman Bold</vt:lpstr>
      <vt:lpstr>Times New Roman Bold Italic</vt:lpstr>
      <vt:lpstr>方正科技符号扩展</vt:lpstr>
      <vt:lpstr>Arial</vt:lpstr>
      <vt:lpstr>Calibri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23</cp:revision>
  <dcterms:created xsi:type="dcterms:W3CDTF">2024-11-28T02:38:34Z</dcterms:created>
  <dcterms:modified xsi:type="dcterms:W3CDTF">2026-07-23T01:07:19Z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4640E20B467B96C8A0DB42670F516CE1_42</vt:lpwstr>
  </property>
  <property fmtid="{D5CDD505-2E9C-101B-9397-08002B2CF9AE}" pid="3" name="KSOProductBuildVer">
    <vt:lpwstr>1033-6.11.0.8885</vt:lpwstr>
  </property>
</Properties>
</file>