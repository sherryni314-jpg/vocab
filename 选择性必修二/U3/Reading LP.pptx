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4"/>
  </p:handoutMasterIdLst>
  <p:sldIdLst>
    <p:sldId id="256" r:id="rId3"/>
    <p:sldId id="481" r:id="rId4"/>
    <p:sldId id="544" r:id="rId6"/>
    <p:sldId id="351" r:id="rId7"/>
    <p:sldId id="543" r:id="rId8"/>
    <p:sldId id="379" r:id="rId9"/>
    <p:sldId id="493" r:id="rId10"/>
    <p:sldId id="429" r:id="rId11"/>
    <p:sldId id="446" r:id="rId12"/>
    <p:sldId id="498" r:id="rId13"/>
    <p:sldId id="358" r:id="rId14"/>
    <p:sldId id="545" r:id="rId15"/>
    <p:sldId id="448" r:id="rId16"/>
    <p:sldId id="499" r:id="rId17"/>
    <p:sldId id="546" r:id="rId18"/>
    <p:sldId id="500" r:id="rId19"/>
    <p:sldId id="483" r:id="rId20"/>
    <p:sldId id="547" r:id="rId21"/>
    <p:sldId id="602" r:id="rId22"/>
    <p:sldId id="482" r:id="rId23"/>
    <p:sldId id="548" r:id="rId24"/>
    <p:sldId id="484" r:id="rId25"/>
    <p:sldId id="380" r:id="rId26"/>
    <p:sldId id="449" r:id="rId27"/>
    <p:sldId id="549" r:id="rId28"/>
    <p:sldId id="450" r:id="rId29"/>
    <p:sldId id="361" r:id="rId30"/>
    <p:sldId id="451" r:id="rId31"/>
    <p:sldId id="382" r:id="rId32"/>
    <p:sldId id="485" r:id="rId33"/>
    <p:sldId id="506" r:id="rId34"/>
    <p:sldId id="486" r:id="rId35"/>
    <p:sldId id="364" r:id="rId36"/>
    <p:sldId id="551" r:id="rId37"/>
    <p:sldId id="550" r:id="rId38"/>
    <p:sldId id="389" r:id="rId39"/>
    <p:sldId id="452" r:id="rId40"/>
    <p:sldId id="501" r:id="rId41"/>
    <p:sldId id="502" r:id="rId42"/>
    <p:sldId id="435" r:id="rId43"/>
    <p:sldId id="552" r:id="rId44"/>
    <p:sldId id="503" r:id="rId45"/>
    <p:sldId id="504" r:id="rId46"/>
    <p:sldId id="487" r:id="rId47"/>
    <p:sldId id="488" r:id="rId48"/>
    <p:sldId id="496" r:id="rId49"/>
    <p:sldId id="366" r:id="rId50"/>
    <p:sldId id="390" r:id="rId51"/>
    <p:sldId id="553" r:id="rId52"/>
    <p:sldId id="555" r:id="rId53"/>
    <p:sldId id="440" r:id="rId54"/>
    <p:sldId id="556" r:id="rId55"/>
    <p:sldId id="645" r:id="rId56"/>
    <p:sldId id="554" r:id="rId57"/>
    <p:sldId id="505" r:id="rId58"/>
    <p:sldId id="557" r:id="rId59"/>
    <p:sldId id="490" r:id="rId60"/>
    <p:sldId id="558" r:id="rId61"/>
    <p:sldId id="559" r:id="rId62"/>
    <p:sldId id="497" r:id="rId63"/>
  </p:sldIdLst>
  <p:sldSz cx="12192000" cy="6858000"/>
  <p:notesSz cx="6858000" cy="9144000"/>
  <p:custDataLst>
    <p:tags r:id="rId6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F6600"/>
    <a:srgbClr val="FF9900"/>
    <a:srgbClr val="723E92"/>
    <a:srgbClr val="FFFF66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7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tags" Target="tags/tag18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handoutMaster" Target="handoutMasters/handoutMaster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在我的职业生涯中，我见证过许多了不起的科研成果，但没有一项能像基因组编辑一样具有颠覆性。</a:t>
            </a:r>
            <a:endParaRPr lang="zh-CN" altLang="en-US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endParaRPr lang="en-US"/>
          </a:p>
          <a:p>
            <a:r>
              <a:rPr lang="en-US" altLang="zh-CN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“Game-changing”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is compound adjective combined by a noun and a verb-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在这个句子中，as 是连词，意思是“正如；如同”，引导一个比较状语从句，在从句中作 know 的宾语。例如：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716280" lvl="0" indent="-716280">
              <a:lnSpc>
                <a:spcPct val="120000"/>
              </a:lnSpc>
            </a:pPr>
            <a:r>
              <a:rPr b="1" dirty="0">
                <a:sym typeface="+mn-ea"/>
              </a:rPr>
              <a:t>把乳膏揉进患处</a:t>
            </a:r>
            <a:r>
              <a:rPr lang="en-US" altLang="zh-CN" b="1" dirty="0">
                <a:sym typeface="+mn-ea"/>
              </a:rPr>
              <a:t> </a:t>
            </a:r>
            <a:endParaRPr lang="en-US" altLang="zh-CN" b="1" dirty="0">
              <a:sym typeface="+mn-ea"/>
            </a:endParaRPr>
          </a:p>
          <a:p>
            <a:pPr marL="716280" lvl="0" indent="-716280">
              <a:lnSpc>
                <a:spcPct val="120000"/>
              </a:lnSpc>
            </a:pPr>
            <a:r>
              <a:rPr lang="en-US" altLang="zh-CN" b="1" dirty="0">
                <a:sym typeface="+mn-ea"/>
              </a:rPr>
              <a:t>(= It caused strong feelings in me</a:t>
            </a:r>
            <a:r>
              <a:rPr lang="en-US" altLang="zh-CN" b="1" dirty="0" smtClean="0">
                <a:sym typeface="+mn-ea"/>
              </a:rPr>
              <a:t>).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looked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affectionately </a:t>
            </a:r>
            <a:r>
              <a:rPr lang="en-US" altLang="zh-CN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 his niece.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the trend of contracting services out rather than performing them in-house.</a:t>
            </a:r>
            <a:endParaRPr lang="en-US"/>
          </a:p>
          <a:p>
            <a:r>
              <a:rPr lang="en-US"/>
              <a:t>将服务外包而不是由内部员工来完成的趋势</a:t>
            </a:r>
            <a:endParaRPr lang="en-US"/>
          </a:p>
          <a:p>
            <a:r>
              <a:rPr lang="en-US"/>
              <a:t>stretch and contract</a:t>
            </a:r>
            <a:endParaRPr lang="en-US"/>
          </a:p>
          <a:p>
            <a:r>
              <a:rPr lang="en-US"/>
              <a:t>muscular contractions.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win the contract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遗传学家相信基因组编辑是治疗和预防疾病的一种有效手段，因此他们一直试图找出哪些基因与哪些疾病有关。</a:t>
            </a:r>
            <a:endParaRPr lang="en-US" altLang="zh-CN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我会讲他们的语言，能体会他们的难处，因为我自己曾在那里呆过。</a:t>
            </a:r>
            <a:endParaRPr lang="en-US"/>
          </a:p>
          <a:p>
            <a:r>
              <a:rPr lang="en-US"/>
              <a:t>他的口音表明他是法国人。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the matter doesn't concern you</a:t>
            </a:r>
            <a:endParaRPr lang="en-US"/>
          </a:p>
          <a:p>
            <a:r>
              <a:rPr lang="en-US"/>
              <a:t>这件事不关你的事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a teacher-pupil relationship / father-son relationship / </a:t>
            </a:r>
            <a:r>
              <a:rPr lang="en-US"/>
              <a:t>parent-child relationship</a:t>
            </a:r>
            <a:endParaRPr lang="en-US"/>
          </a:p>
          <a:p>
            <a:endParaRPr lang="en-US"/>
          </a:p>
          <a:p>
            <a:r>
              <a:rPr lang="en-US"/>
              <a:t>The word relations is often used to talk about how good or bad the relationship between people, groups or countries is. * relations常用于谈论关系的好坏</a:t>
            </a:r>
            <a:endParaRPr lang="en-US"/>
          </a:p>
          <a:p>
            <a:r>
              <a:rPr lang="en-US"/>
              <a:t>strained / difficult relations紧张／不融洽的关系</a:t>
            </a:r>
            <a:endParaRPr lang="en-US"/>
          </a:p>
          <a:p>
            <a:endParaRPr lang="en-US"/>
          </a:p>
          <a:p>
            <a:r>
              <a:rPr lang="en-US"/>
              <a:t>cordial / harmonious / improved relations亲切友好／和谐／改善的关系</a:t>
            </a:r>
            <a:endParaRPr lang="en-US"/>
          </a:p>
          <a:p>
            <a:r>
              <a:rPr lang="en-US"/>
              <a:t>Relationships are often more personal than relations. * relationships往往比relations更多涉及个人生活</a:t>
            </a:r>
            <a:endParaRPr lang="en-US"/>
          </a:p>
          <a:p>
            <a:r>
              <a:rPr lang="en-US"/>
              <a:t>international / race / cultural relations国际／种族／文化关系</a:t>
            </a:r>
            <a:endParaRPr lang="en-US"/>
          </a:p>
          <a:p>
            <a:r>
              <a:rPr lang="en-US"/>
              <a:t>interpersonal / one-to-one / parent-child relationships人际／一对一的／亲子关系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确定我们与周围环境的关系仍然是我们生存的一项基本技能。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sym typeface="+mn-ea"/>
              </a:rPr>
              <a:t>也许我们很快就</a:t>
            </a:r>
            <a:r>
              <a:rPr lang="zh-CN" altLang="en-US" b="1" dirty="0" smtClean="0">
                <a:sym typeface="+mn-ea"/>
              </a:rPr>
              <a:t>能用</a:t>
            </a:r>
            <a:r>
              <a:rPr lang="zh-CN" altLang="en-US" b="1" dirty="0">
                <a:sym typeface="+mn-ea"/>
              </a:rPr>
              <a:t>这些</a:t>
            </a:r>
            <a:r>
              <a:rPr lang="zh-CN" altLang="en-US" b="1" dirty="0" smtClean="0">
                <a:sym typeface="+mn-ea"/>
              </a:rPr>
              <a:t>疗法帮助盲人恢复视力</a:t>
            </a:r>
            <a:r>
              <a:rPr lang="zh-CN" altLang="en-US" b="1" dirty="0">
                <a:sym typeface="+mn-ea"/>
              </a:rPr>
              <a:t>，</a:t>
            </a:r>
            <a:r>
              <a:rPr lang="zh-CN" altLang="en-US" b="1" dirty="0" smtClean="0">
                <a:sym typeface="+mn-ea"/>
              </a:rPr>
              <a:t>或使先天性耳聋患者获得敏锐</a:t>
            </a:r>
            <a:r>
              <a:rPr lang="zh-CN" altLang="en-US" b="1" dirty="0">
                <a:sym typeface="+mn-ea"/>
              </a:rPr>
              <a:t>的听力</a:t>
            </a:r>
            <a:r>
              <a:rPr lang="zh-CN" altLang="en-US" b="1" dirty="0" smtClean="0">
                <a:sym typeface="+mn-ea"/>
              </a:rPr>
              <a:t>。</a:t>
            </a:r>
            <a:endParaRPr lang="en-US" altLang="zh-CN" b="1" dirty="0" smtClean="0"/>
          </a:p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restorer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sym typeface="+mn-ea"/>
              </a:rPr>
              <a:t>最终，这项新技术甚至有可能通过及早修正异常基因来预防疾病。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503050405090304" pitchFamily="18" charset="0"/>
                <a:sym typeface="Arial" panose="020B0604020202090204" pitchFamily="34" charset="0"/>
              </a:rPr>
              <a:t>宾语补足语可以是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形容词或名词</a:t>
            </a:r>
            <a:endParaRPr lang="en-US" altLang="zh-CN" b="1" dirty="0">
              <a:latin typeface="Times New Roman" panose="02020503050405090304" pitchFamily="18" charset="0"/>
              <a:sym typeface="Arial" panose="020B0604020202090204" pitchFamily="34" charset="0"/>
            </a:endParaRPr>
          </a:p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503050405090304" pitchFamily="18" charset="0"/>
                <a:sym typeface="Arial" panose="020B0604020202090204" pitchFamily="34" charset="0"/>
              </a:rPr>
              <a:t>真正的宾语常见的形式是：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动词不定式、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动词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-</a:t>
            </a:r>
            <a:r>
              <a:rPr lang="en-US" altLang="zh-CN" b="1" dirty="0" err="1" smtClean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ing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形式和从句</a:t>
            </a:r>
            <a:endParaRPr lang="zh-CN" altLang="en-US" b="1" dirty="0" smtClean="0">
              <a:solidFill>
                <a:srgbClr val="FF0000"/>
              </a:solidFill>
              <a:latin typeface="Times New Roman" panose="02020503050405090304" pitchFamily="18" charset="0"/>
              <a:sym typeface="Arial" panose="020B0604020202090204" pitchFamily="34" charset="0"/>
            </a:endParaRPr>
          </a:p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/>
          </a:p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/>
              <a:t>see to it that </a:t>
            </a:r>
            <a:r>
              <a:rPr lang="zh-CN" altLang="en-US"/>
              <a:t>确保……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early on: </a:t>
            </a:r>
            <a:r>
              <a:rPr lang="en-US" altLang="zh-CN" b="1" i="1" dirty="0">
                <a:sym typeface="+mn-ea"/>
              </a:rPr>
              <a:t>at an early sate of a situation, period of time, etc. </a:t>
            </a:r>
            <a:r>
              <a:rPr lang="zh-CN" altLang="en-US" b="1" dirty="0" smtClean="0">
                <a:solidFill>
                  <a:srgbClr val="FF0000"/>
                </a:solidFill>
                <a:sym typeface="+mn-ea"/>
              </a:rPr>
              <a:t>早期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，</a:t>
            </a:r>
            <a:r>
              <a:rPr lang="zh-CN" altLang="en-US" b="1" dirty="0" smtClean="0">
                <a:solidFill>
                  <a:srgbClr val="FF0000"/>
                </a:solidFill>
                <a:sym typeface="+mn-ea"/>
              </a:rPr>
              <a:t>早先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b="1" dirty="0" smtClean="0">
                <a:sym typeface="+mn-ea"/>
              </a:rPr>
              <a:t>I finished work </a:t>
            </a: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early on</a:t>
            </a:r>
            <a:r>
              <a:rPr lang="en-US" altLang="zh-CN" b="1" dirty="0" smtClean="0">
                <a:sym typeface="+mn-ea"/>
              </a:rPr>
              <a:t>.</a:t>
            </a:r>
            <a:endParaRPr lang="en-US" altLang="zh-CN" b="1" dirty="0" smtClean="0"/>
          </a:p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be useful</a:t>
            </a:r>
            <a:endParaRPr lang="en-US"/>
          </a:p>
          <a:p>
            <a:endParaRPr lang="en-US" altLang="en-US"/>
          </a:p>
          <a:p>
            <a:r>
              <a:rPr lang="zh-CN" altLang="en-US"/>
              <a:t>向……报警</a:t>
            </a:r>
            <a:endParaRPr lang="en-US" altLang="en-US"/>
          </a:p>
          <a:p>
            <a:endParaRPr lang="en-US" altLang="en-US"/>
          </a:p>
          <a:p>
            <a:r>
              <a:rPr lang="en-US"/>
              <a:t>专注于休闲活动可以为您的长期目标的方式会有所帮助。</a:t>
            </a:r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fundamental difference</a:t>
            </a:r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fontAlgn="auto">
              <a:lnSpc>
                <a:spcPct val="120000"/>
              </a:lnSpc>
            </a:pPr>
            <a:r>
              <a:rPr lang="zh-CN" altLang="en-US" b="1" dirty="0">
                <a:sym typeface="+mn-ea"/>
              </a:rPr>
              <a:t>然而，随着</a:t>
            </a:r>
            <a:r>
              <a:rPr lang="zh-CN" altLang="en-US" b="1" dirty="0" smtClean="0">
                <a:sym typeface="+mn-ea"/>
              </a:rPr>
              <a:t>这基因编辑不断迅猛发展，如何恰当地利用这项技术成为了问题。</a:t>
            </a:r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我们是否应该将其应用限制在治疗和预防疾病方面？</a:t>
            </a:r>
            <a:endParaRPr lang="en-US" altLang="zh-CN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endParaRPr lang="en-US"/>
          </a:p>
          <a:p>
            <a:r>
              <a:rPr lang="en-US"/>
              <a:t>a restricted space</a:t>
            </a:r>
            <a:endParaRPr lang="en-US"/>
          </a:p>
          <a:p>
            <a:r>
              <a:rPr lang="en-US"/>
              <a:t>有限的空间</a:t>
            </a:r>
            <a:endParaRPr lang="en-US"/>
          </a:p>
          <a:p>
            <a:r>
              <a:rPr lang="en-US"/>
              <a:t>a restricted range of foods</a:t>
            </a:r>
            <a:endParaRPr lang="en-US"/>
          </a:p>
          <a:p>
            <a:r>
              <a:rPr lang="en-US"/>
              <a:t>有限的食物种类</a:t>
            </a:r>
            <a:endParaRPr lang="en-US"/>
          </a:p>
          <a:p>
            <a:endParaRPr lang="en-US"/>
          </a:p>
          <a:p>
            <a:r>
              <a:rPr lang="en-US"/>
              <a:t>limited in what you are able to do （指能做的事）有限的，受限制的</a:t>
            </a:r>
            <a:endParaRPr lang="en-US"/>
          </a:p>
          <a:p>
            <a:r>
              <a:rPr lang="en-US"/>
              <a:t>In those days women led fairly restricted lives.</a:t>
            </a:r>
            <a:endParaRPr lang="en-US"/>
          </a:p>
          <a:p>
            <a:r>
              <a:rPr lang="en-US"/>
              <a:t>那时，妇女过着相当受限制的生活。</a:t>
            </a:r>
            <a:endParaRPr lang="en-US"/>
          </a:p>
          <a:p>
            <a:endParaRPr lang="en-US"/>
          </a:p>
          <a:p>
            <a:r>
              <a:rPr lang="en-US"/>
              <a:t>Her vision is restricted in one eye.</a:t>
            </a:r>
            <a:endParaRPr lang="en-US"/>
          </a:p>
          <a:p>
            <a:r>
              <a:rPr lang="en-US"/>
              <a:t>她只有一只眼睛有视力。</a:t>
            </a:r>
            <a:endParaRPr lang="en-US"/>
          </a:p>
          <a:p>
            <a:endParaRPr lang="en-US"/>
          </a:p>
          <a:p>
            <a:r>
              <a:rPr lang="en-US"/>
              <a:t>controlled by rules or laws 受（法规）制约的；受控制的；受约束的</a:t>
            </a:r>
            <a:endParaRPr lang="en-US"/>
          </a:p>
          <a:p>
            <a:endParaRPr lang="en-US"/>
          </a:p>
          <a:p>
            <a:r>
              <a:rPr lang="en-US"/>
              <a:t>to allow children only restricted access to the Internet</a:t>
            </a:r>
            <a:endParaRPr lang="en-US"/>
          </a:p>
          <a:p>
            <a:r>
              <a:rPr lang="en-US"/>
              <a:t>只允许儿童有限地接触互联网</a:t>
            </a:r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我们是否应该禁止</a:t>
            </a:r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遗传学家利用它来优化健康的身体？</a:t>
            </a:r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wind/air resistance (= in the design of planes or cars)</a:t>
            </a:r>
            <a:endParaRPr lang="zh-CN" altLang="en-US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风阻；空气阻力</a:t>
            </a:r>
            <a:endParaRPr lang="zh-CN" altLang="en-US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电阻</a:t>
            </a:r>
            <a:r>
              <a:rPr lang="en-US" altLang="zh-CN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</a:t>
            </a:r>
            <a:endParaRPr lang="en-US" altLang="zh-CN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哲学家、遗传学家和政府官员都已着手设法解决这些道德问题。</a:t>
            </a:r>
            <a:endParaRPr lang="zh-CN" altLang="en-US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endParaRPr lang="en-US"/>
          </a:p>
          <a:p>
            <a:r>
              <a:rPr lang="en-US"/>
              <a:t>You move them there using a lot of force, for example by twisting a part of someone's body into a painful position.</a:t>
            </a:r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意味着</a:t>
            </a:r>
            <a:r>
              <a:rPr lang="zh-CN" altLang="en-US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我们需要采取恰当的管制措施，以确保基因组编辑对人类有利。</a:t>
            </a:r>
            <a:endParaRPr lang="zh-CN" altLang="en-US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endParaRPr lang="en-US"/>
          </a:p>
          <a:p>
            <a:r>
              <a:rPr lang="en-US"/>
              <a:t>Her remarks were out of place.</a:t>
            </a:r>
            <a:endParaRPr lang="en-US"/>
          </a:p>
          <a:p>
            <a:r>
              <a:rPr lang="en-US"/>
              <a:t>她出言不当。</a:t>
            </a:r>
            <a:endParaRPr lang="en-US"/>
          </a:p>
          <a:p>
            <a:r>
              <a:rPr lang="en-US"/>
              <a:t>I felt completely out of place among all these successful people.</a:t>
            </a:r>
            <a:endParaRPr lang="en-US"/>
          </a:p>
          <a:p>
            <a:r>
              <a:rPr lang="en-US"/>
              <a:t>夹在这些事业有成的人中间我觉得自己格格不入。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075795" cy="6857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44450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Over the course of my career,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I have see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n many wonderful scientific developments, but none are as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game-changing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as genome editing.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67665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game-changing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en-US" altLang="zh-CN" sz="3200" b="1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something that completely changes the way a situation develops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改变游戏规则的（指彻底改变事态发展的）</a:t>
            </a:r>
            <a:endParaRPr lang="zh-CN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676650" fontAlgn="auto">
              <a:lnSpc>
                <a:spcPct val="120000"/>
              </a:lnSpc>
              <a:spcBef>
                <a:spcPct val="0"/>
              </a:spcBef>
            </a:pPr>
            <a:endParaRPr lang="zh-CN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676650" fontAlgn="auto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 + v-ing./v-ed.</a:t>
            </a:r>
            <a:endParaRPr lang="zh-CN" altLang="en-US" sz="3200" b="1" i="1" dirty="0" smtClean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marL="4215130" indent="-4215130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一份花费时间的工作</a:t>
            </a:r>
            <a:endParaRPr lang="zh-CN" alt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215130" indent="-4215130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讲英语的国家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51630" y="3444240"/>
            <a:ext cx="6096000" cy="127254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marL="4215130" indent="-4215130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time-consuming job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215130" indent="-4215130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English-speaking countries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1365" cy="56737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many of you may already know, genes play a critical role 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shaping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our lives.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shape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have an important influence on the way that sb/sth develops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决定…的形成；影响…的发展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His ideas were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profoundly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shaped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his experiences during the war.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他的思想深受战时经历的影响。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Shape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dough into a ball.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248910" y="3769995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把和好的面揉成一团。</a:t>
            </a:r>
            <a:endParaRPr lang="en-US" altLang="zh-CN" sz="3200" b="1" dirty="0" smtClean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1365" cy="67259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shape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island was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shape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heart.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1" indent="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*a heart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-shaped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island / an island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shaped like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heart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cap was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 of shape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Candles come ____ all shapes and sizes.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He's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good shape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 a man of his age.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like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 in shape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= keep fit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1912 women's events were added, and the modern Olympic programme began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shape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988810" y="65405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呈……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形状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99000" y="197739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变形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身体不好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lose one’s shape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651125" y="2618105"/>
            <a:ext cx="690245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>
            <p:custDataLst>
              <p:tags r:id="rId1"/>
            </p:custDataLst>
          </p:nvPr>
        </p:nvSpPr>
        <p:spPr>
          <a:xfrm>
            <a:off x="7343140" y="330073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处于良好的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状态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>
            <p:custDataLst>
              <p:tags r:id="rId2"/>
            </p:custDataLst>
          </p:nvPr>
        </p:nvSpPr>
        <p:spPr>
          <a:xfrm>
            <a:off x="6520815" y="398272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保持身材，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保持健康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198360" y="2618105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各式各样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" name="Text Box 9"/>
          <p:cNvSpPr txBox="1"/>
          <p:nvPr>
            <p:custDataLst>
              <p:tags r:id="rId3"/>
            </p:custDataLst>
          </p:nvPr>
        </p:nvSpPr>
        <p:spPr>
          <a:xfrm>
            <a:off x="6096000" y="5245735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逐渐成形；初具雏形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  <p:bldP spid="8" grpId="0"/>
      <p:bldP spid="8" grpId="1"/>
      <p:bldP spid="10" grpId="0"/>
      <p:bldP spid="10" grpId="1"/>
      <p:bldP spid="5" grpId="0"/>
      <p:bldP spid="5" grpId="1"/>
      <p:bldP spid="6" grpId="0"/>
      <p:bldP spid="6" grpId="1"/>
      <p:bldP spid="9" grpId="0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1365" cy="64312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444500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also contains information that helps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determine our lifespan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affects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our chances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contracting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certain diseases.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154555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affect  </a:t>
            </a:r>
            <a:r>
              <a:rPr lang="en-US" altLang="zh-CN" sz="3200" b="1" i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154555" fontAlgn="auto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altLang="zh-CN" sz="3200" b="1" i="1" dirty="0" smtClean="0"/>
              <a:t>have </a:t>
            </a:r>
            <a:r>
              <a:rPr lang="en-US" altLang="zh-CN" sz="3200" b="1" i="1" dirty="0"/>
              <a:t>an influence on (</a:t>
            </a:r>
            <a:r>
              <a:rPr lang="en-US" altLang="zh-CN" sz="3200" b="1" i="1" dirty="0" err="1"/>
              <a:t>sb</a:t>
            </a:r>
            <a:r>
              <a:rPr lang="en-US" altLang="zh-CN" sz="3200" b="1" i="1" dirty="0"/>
              <a:t>/</a:t>
            </a:r>
            <a:r>
              <a:rPr lang="en-US" altLang="zh-CN" sz="3200" b="1" i="1" dirty="0" err="1"/>
              <a:t>sth</a:t>
            </a:r>
            <a:r>
              <a:rPr lang="en-US" altLang="zh-CN" sz="3200" b="1" i="1" dirty="0"/>
              <a:t>); </a:t>
            </a:r>
            <a:r>
              <a:rPr lang="en-US" altLang="zh-CN" sz="3200" b="1" i="1" dirty="0">
                <a:solidFill>
                  <a:srgbClr val="0000FF"/>
                </a:solidFill>
              </a:rPr>
              <a:t>produce an effect </a:t>
            </a:r>
            <a:r>
              <a:rPr lang="en-US" altLang="zh-CN" sz="3200" b="1" i="1" dirty="0" smtClean="0">
                <a:solidFill>
                  <a:srgbClr val="0000FF"/>
                </a:solidFill>
              </a:rPr>
              <a:t>on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影响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 indent="-2717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south of the country was worst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affected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the drought.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 indent="-2717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该国南方旱情最严重。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 indent="-2717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en-US" altLang="zh-CN" sz="3200" b="1" i="1" dirty="0">
                <a:sym typeface="+mn-ea"/>
              </a:rPr>
              <a:t>(of disease) attack (</a:t>
            </a:r>
            <a:r>
              <a:rPr lang="en-US" altLang="zh-CN" sz="3200" b="1" i="1" dirty="0" err="1">
                <a:sym typeface="+mn-ea"/>
              </a:rPr>
              <a:t>sb</a:t>
            </a:r>
            <a:r>
              <a:rPr lang="en-US" altLang="zh-CN" sz="3200" b="1" i="1" dirty="0">
                <a:sym typeface="+mn-ea"/>
              </a:rPr>
              <a:t>/</a:t>
            </a:r>
            <a:r>
              <a:rPr lang="en-US" altLang="zh-CN" sz="3200" b="1" i="1" dirty="0" err="1">
                <a:sym typeface="+mn-ea"/>
              </a:rPr>
              <a:t>sth</a:t>
            </a:r>
            <a:r>
              <a:rPr lang="en-US" altLang="zh-CN" sz="3200" b="1" i="1" dirty="0">
                <a:sym typeface="+mn-ea"/>
              </a:rPr>
              <a:t>); infect</a:t>
            </a:r>
            <a:r>
              <a:rPr lang="en-US" altLang="zh-CN" sz="3200" b="1" dirty="0">
                <a:sym typeface="+mn-ea"/>
              </a:rPr>
              <a:t> 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侵袭，使感染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716280" lvl="0" indent="-716280">
              <a:lnSpc>
                <a:spcPct val="120000"/>
              </a:lnSpc>
            </a:pPr>
            <a:r>
              <a:rPr sz="3200" b="1" dirty="0">
                <a:sym typeface="+mn-ea"/>
              </a:rPr>
              <a:t>Rub the cream into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the affected areas</a:t>
            </a:r>
            <a:r>
              <a:rPr sz="3200" b="1" dirty="0">
                <a:sym typeface="+mn-ea"/>
              </a:rPr>
              <a:t>.</a:t>
            </a:r>
            <a:endParaRPr sz="3200" b="1" dirty="0">
              <a:sym typeface="+mn-ea"/>
            </a:endParaRPr>
          </a:p>
          <a:p>
            <a:pPr marL="716280" lvl="0" indent="-716280">
              <a:lnSpc>
                <a:spcPct val="120000"/>
              </a:lnSpc>
            </a:pP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 </a:t>
            </a:r>
            <a:r>
              <a:rPr lang="en-US" altLang="zh-CN" sz="3200" b="1" i="1" dirty="0">
                <a:sym typeface="+mn-ea"/>
              </a:rPr>
              <a:t>touch the feelings of(someone); </a:t>
            </a:r>
            <a:r>
              <a:rPr lang="en-US" altLang="zh-CN" sz="3200" b="1" i="1" dirty="0">
                <a:solidFill>
                  <a:srgbClr val="0000FF"/>
                </a:solidFill>
                <a:sym typeface="+mn-ea"/>
              </a:rPr>
              <a:t>move emotionally</a:t>
            </a:r>
            <a:r>
              <a:rPr lang="en-US" altLang="zh-CN" sz="3200" b="1" i="1" dirty="0"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深深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打动</a:t>
            </a:r>
            <a:endParaRPr lang="en-US" altLang="zh-CN" sz="3200" b="1" dirty="0" smtClean="0"/>
          </a:p>
          <a:p>
            <a:pPr marL="716280" lvl="0" indent="-716280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They were deeply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affected </a:t>
            </a:r>
            <a:r>
              <a:rPr lang="en-US" altLang="zh-CN" sz="3200" b="1" dirty="0">
                <a:sym typeface="+mn-ea"/>
              </a:rPr>
              <a:t>by the news of her death.</a:t>
            </a:r>
            <a:endParaRPr lang="en-US" altLang="zh-CN" sz="3200" b="1" dirty="0">
              <a:sym typeface="+mn-ea"/>
            </a:endParaRPr>
          </a:p>
          <a:p>
            <a:pPr marL="716280" lvl="0" indent="-716280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她死亡的消息使他们唏嘘不已。</a:t>
            </a:r>
            <a:endParaRPr lang="en-US" altLang="zh-CN"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01930" y="222885"/>
            <a:ext cx="10823575" cy="2390775"/>
          </a:xfrm>
          <a:prstGeom prst="rect">
            <a:avLst/>
          </a:prstGeom>
        </p:spPr>
        <p:txBody>
          <a:bodyPr>
            <a:noAutofit/>
          </a:bodyPr>
          <a:p>
            <a:pPr indent="-27178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*4)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pretend to be feeling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or thinking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假装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178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affected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 calmness she did not feel. 她强装镇静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1780" algn="l">
              <a:lnSpc>
                <a:spcPct val="120000"/>
              </a:lnSpc>
              <a:buClrTx/>
              <a:buSzTx/>
              <a:buFontTx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1780" algn="l">
              <a:lnSpc>
                <a:spcPct val="120000"/>
              </a:lnSpc>
              <a:buClrTx/>
              <a:buSzTx/>
              <a:buFontTx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1780" algn="l">
              <a:lnSpc>
                <a:spcPct val="120000"/>
              </a:lnSpc>
              <a:buClrTx/>
              <a:buSzTx/>
              <a:buFontTx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1780" algn="l">
              <a:lnSpc>
                <a:spcPct val="120000"/>
              </a:lnSpc>
              <a:buClrTx/>
              <a:buSzTx/>
              <a:buFontTx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1780" algn="l">
              <a:lnSpc>
                <a:spcPct val="120000"/>
              </a:lnSpc>
              <a:buClrTx/>
              <a:buSzTx/>
              <a:buFontTx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178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held in deep affection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by all her students.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178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她的学生都十分爱戴她。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178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a great affection for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New York.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178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gave me a very long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affectionate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hug.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1"/>
          <p:cNvSpPr/>
          <p:nvPr>
            <p:custDataLst>
              <p:tags r:id="rId1"/>
            </p:custDataLst>
          </p:nvPr>
        </p:nvSpPr>
        <p:spPr>
          <a:xfrm>
            <a:off x="1098550" y="1771015"/>
            <a:ext cx="11093450" cy="2453640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affection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喜爱；爱慕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搭配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28800" lvl="4" indent="457200">
              <a:lnSpc>
                <a:spcPct val="120000"/>
              </a:lnSpc>
            </a:pPr>
            <a:r>
              <a:rPr lang="zh-CN" alt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feeling of liking or loving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affecting      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令人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感动的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affecting drama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affectionate 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深情的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6" y="1409520"/>
            <a:ext cx="1274411" cy="713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96539" y="1557170"/>
            <a:ext cx="11127850" cy="363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 smtClean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experiment showed that our body clocks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(affect) by light and temperature.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Researchers began reporting the benefits of family dinner about a decade ago, focusing mainly on how it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(affect) children.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85850" y="2747010"/>
            <a:ext cx="4417695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affected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　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363812" y="3870080"/>
            <a:ext cx="1452577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affects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22885" y="0"/>
            <a:ext cx="1131443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contract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 </a:t>
            </a:r>
            <a:r>
              <a:rPr lang="en-US" altLang="zh-CN" sz="3200" b="1" i="1" dirty="0" err="1" smtClean="0">
                <a:solidFill>
                  <a:srgbClr val="FF0000"/>
                </a:solidFill>
              </a:rPr>
              <a:t>vt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.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/kən'trækt/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① catch/</a:t>
            </a:r>
            <a:r>
              <a:rPr lang="en-US" altLang="zh-CN" sz="3200" b="1" i="1" dirty="0" smtClean="0"/>
              <a:t>get</a:t>
            </a:r>
            <a:r>
              <a:rPr lang="en-US" altLang="zh-CN" sz="3200" b="1" i="1" dirty="0"/>
              <a:t> an illness</a:t>
            </a:r>
            <a:r>
              <a:rPr lang="en-US" altLang="zh-CN" sz="3200" b="1" i="1" dirty="0" smtClean="0"/>
              <a:t>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感染疾病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 smtClean="0"/>
              <a:t>Unfortunately</a:t>
            </a:r>
            <a:r>
              <a:rPr lang="en-US" altLang="zh-CN" sz="3200" b="1" dirty="0"/>
              <a:t>, he </a:t>
            </a:r>
            <a:r>
              <a:rPr lang="en-US" altLang="zh-CN" sz="3200" b="1" dirty="0">
                <a:solidFill>
                  <a:srgbClr val="FF0000"/>
                </a:solidFill>
              </a:rPr>
              <a:t>contracted </a:t>
            </a:r>
            <a:r>
              <a:rPr lang="en-US" altLang="zh-CN" sz="3200" b="1" dirty="0"/>
              <a:t>cancer at a very young age.</a:t>
            </a:r>
            <a:endParaRPr lang="en-US" altLang="zh-CN" sz="3200" b="1" dirty="0"/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② </a:t>
            </a:r>
            <a:r>
              <a:rPr lang="en-US" altLang="zh-CN" sz="3200" b="1" i="1" dirty="0" smtClean="0"/>
              <a:t>with </a:t>
            </a:r>
            <a:r>
              <a:rPr lang="en-US" altLang="zh-CN" sz="3200" b="1" i="1" dirty="0" err="1"/>
              <a:t>sb</a:t>
            </a:r>
            <a:r>
              <a:rPr lang="en-US" altLang="zh-CN" sz="3200" b="1" i="1" dirty="0"/>
              <a:t> for </a:t>
            </a:r>
            <a:r>
              <a:rPr lang="en-US" altLang="zh-CN" sz="3200" b="1" i="1" dirty="0" err="1"/>
              <a:t>sth</a:t>
            </a:r>
            <a:r>
              <a:rPr lang="en-US" altLang="zh-CN" sz="3200" b="1" i="1" dirty="0"/>
              <a:t> make (a legal agreement) with </a:t>
            </a:r>
            <a:r>
              <a:rPr lang="en-US" altLang="zh-CN" sz="3200" b="1" i="1" dirty="0" err="1"/>
              <a:t>sb</a:t>
            </a:r>
            <a:r>
              <a:rPr lang="en-US" altLang="zh-CN" sz="3200" b="1" i="1" dirty="0"/>
              <a:t> for a </a:t>
            </a:r>
            <a:r>
              <a:rPr lang="en-US" altLang="zh-CN" sz="3200" b="1" i="1" dirty="0" smtClean="0"/>
              <a:t>purpose</a:t>
            </a:r>
            <a:r>
              <a:rPr lang="en-US" altLang="zh-CN" sz="3200" b="1" dirty="0" smtClean="0"/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与</a:t>
            </a:r>
            <a:r>
              <a:rPr lang="en-US" altLang="zh-CN" sz="3200" b="1" dirty="0" smtClean="0">
                <a:solidFill>
                  <a:srgbClr val="FF0000"/>
                </a:solidFill>
                <a:latin typeface="+mj-ea"/>
                <a:ea typeface="+mj-ea"/>
              </a:rPr>
              <a:t>……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订立合同</a:t>
            </a:r>
            <a:r>
              <a:rPr lang="en-US" altLang="zh-CN" sz="3200" b="1" dirty="0" smtClean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契约</a:t>
            </a:r>
            <a:r>
              <a:rPr lang="en-US" altLang="zh-CN" sz="3200" b="1" dirty="0" smtClean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r>
              <a:rPr lang="zh-CN" altLang="en-US" sz="3200" b="1" dirty="0" smtClean="0"/>
              <a:t>（用</a:t>
            </a:r>
            <a:r>
              <a:rPr lang="zh-CN" altLang="en-US" sz="3200" b="1" dirty="0"/>
              <a:t>在比较正式的语境</a:t>
            </a:r>
            <a:r>
              <a:rPr lang="zh-CN" altLang="en-US" sz="3200" b="1" dirty="0" smtClean="0"/>
              <a:t>中）</a:t>
            </a:r>
            <a:endParaRPr lang="en-US" altLang="zh-CN" sz="3200" b="1" dirty="0" smtClean="0"/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/>
              <a:t>They </a:t>
            </a:r>
            <a:r>
              <a:rPr lang="en-US" altLang="zh-CN" sz="3200" b="1" dirty="0"/>
              <a:t>have just </a:t>
            </a:r>
            <a:r>
              <a:rPr lang="en-US" altLang="zh-CN" sz="3200" b="1" u="sng" dirty="0">
                <a:solidFill>
                  <a:srgbClr val="FF0000"/>
                </a:solidFill>
              </a:rPr>
              <a:t>contracted</a:t>
            </a:r>
            <a:r>
              <a:rPr lang="en-US" altLang="zh-CN" sz="3200" b="1" u="sng" dirty="0"/>
              <a:t> </a:t>
            </a:r>
            <a:r>
              <a:rPr lang="en-US" altLang="zh-CN" sz="3200" b="1" u="sng" dirty="0">
                <a:solidFill>
                  <a:srgbClr val="FF0000"/>
                </a:solidFill>
              </a:rPr>
              <a:t>our company to build</a:t>
            </a:r>
            <a:r>
              <a:rPr lang="en-US" altLang="zh-CN" sz="3200" b="1" dirty="0"/>
              <a:t> shelters for the homeless</a:t>
            </a:r>
            <a:r>
              <a:rPr lang="en-US" altLang="zh-CN" sz="3200" b="1" dirty="0" smtClean="0"/>
              <a:t>.</a:t>
            </a:r>
            <a:endParaRPr lang="en-US" altLang="zh-CN" sz="3200" b="1" dirty="0" smtClean="0"/>
          </a:p>
          <a:p>
            <a:pPr indent="-174625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Firms can </a:t>
            </a:r>
            <a:r>
              <a:rPr lang="zh-CN" altLang="en-US" sz="3200" b="1" u="sng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contract out work to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one another.</a:t>
            </a:r>
            <a:endParaRPr lang="zh-CN" alt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174625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③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 err="1" smtClean="0">
                <a:solidFill>
                  <a:srgbClr val="FF0000"/>
                </a:solidFill>
                <a:sym typeface="+mn-ea"/>
              </a:rPr>
              <a:t>vi</a:t>
            </a:r>
            <a:r>
              <a:rPr lang="en-US" altLang="zh-CN" sz="3200" b="1" dirty="0" err="1" smtClean="0">
                <a:solidFill>
                  <a:srgbClr val="FF0000"/>
                </a:solidFill>
                <a:sym typeface="+mn-ea"/>
              </a:rPr>
              <a:t>. </a:t>
            </a:r>
            <a:r>
              <a:rPr lang="en-US" altLang="zh-CN" sz="3200" b="1" i="1" dirty="0" smtClean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become smaller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收缩</a:t>
            </a:r>
            <a:endParaRPr lang="zh-CN" altLang="en-US" sz="3200" b="1" dirty="0"/>
          </a:p>
          <a:p>
            <a:pPr indent="-174625" fontAlgn="auto">
              <a:lnSpc>
                <a:spcPct val="120000"/>
              </a:lnSpc>
            </a:pPr>
            <a:r>
              <a:rPr lang="zh-CN" altLang="en-US" sz="3200" b="1" dirty="0"/>
              <a:t>Glass </a:t>
            </a:r>
            <a:r>
              <a:rPr lang="zh-CN" altLang="en-US" sz="3200" b="1" dirty="0">
                <a:solidFill>
                  <a:srgbClr val="FF0000"/>
                </a:solidFill>
              </a:rPr>
              <a:t>contracts </a:t>
            </a:r>
            <a:r>
              <a:rPr lang="zh-CN" altLang="en-US" sz="3200" b="1" dirty="0"/>
              <a:t>as it cools.</a:t>
            </a:r>
            <a:endParaRPr lang="zh-CN" altLang="en-US" sz="3200" b="1" dirty="0"/>
          </a:p>
          <a:p>
            <a:pPr indent="-174625" fontAlgn="auto">
              <a:lnSpc>
                <a:spcPct val="120000"/>
              </a:lnSpc>
            </a:pPr>
            <a:r>
              <a:rPr lang="zh-CN" altLang="en-US" sz="3200" b="1" dirty="0"/>
              <a:t>萎缩的市场</a:t>
            </a:r>
            <a:endParaRPr lang="zh-CN" altLang="en-US" sz="32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6096000" y="4716145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sym typeface="+mn-ea"/>
              </a:rPr>
              <a:t>n. contraction (opp. expansion)</a:t>
            </a:r>
            <a:endParaRPr lang="en-US" altLang="zh-CN" sz="3200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29840" y="590550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contr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acting </a:t>
            </a:r>
            <a:r>
              <a:rPr lang="zh-CN" altLang="en-US" sz="3200" b="1" dirty="0">
                <a:sym typeface="+mn-ea"/>
              </a:rPr>
              <a:t>market</a:t>
            </a:r>
            <a:r>
              <a:rPr lang="en-US" altLang="zh-CN" sz="3200" b="1" dirty="0">
                <a:sym typeface="+mn-ea"/>
              </a:rPr>
              <a:t> </a:t>
            </a:r>
            <a:endParaRPr lang="en-US" altLang="zh-CN" sz="3200" b="1" dirty="0" smtClean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8133080" y="3713480"/>
            <a:ext cx="4058920" cy="127254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订立合同把……承包出去</a:t>
            </a:r>
            <a:endParaRPr sz="3200" b="1" dirty="0">
              <a:sym typeface="+mn-ea"/>
            </a:endParaRPr>
          </a:p>
        </p:txBody>
      </p:sp>
      <p:sp>
        <p:nvSpPr>
          <p:cNvPr id="5" name="Text Box 4"/>
          <p:cNvSpPr txBox="1"/>
          <p:nvPr>
            <p:custDataLst>
              <p:tags r:id="rId2"/>
            </p:custDataLst>
          </p:nvPr>
        </p:nvSpPr>
        <p:spPr>
          <a:xfrm>
            <a:off x="9380220" y="4161155"/>
            <a:ext cx="2811145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sym typeface="+mn-ea"/>
              </a:rPr>
              <a:t>n. contractor</a:t>
            </a:r>
            <a:endParaRPr lang="en-US" altLang="zh-CN" sz="3200" b="1" dirty="0">
              <a:solidFill>
                <a:srgbClr val="0000FF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185" y="215900"/>
            <a:ext cx="1181481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97358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contract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/'kɒntrækt/</a:t>
            </a:r>
            <a:r>
              <a:rPr lang="en-US" altLang="zh-CN" sz="3200" b="1" i="1" dirty="0" smtClean="0"/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合同，合约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808355" fontAlgn="auto">
              <a:lnSpc>
                <a:spcPct val="120000"/>
              </a:lnSpc>
            </a:pPr>
            <a:r>
              <a:rPr lang="en-US" altLang="zh-CN" sz="3200" b="1" dirty="0" smtClean="0"/>
              <a:t>You shouldn’t </a:t>
            </a:r>
            <a:r>
              <a:rPr lang="en-US" altLang="zh-CN" sz="3200" b="1" u="sng" dirty="0">
                <a:solidFill>
                  <a:srgbClr val="FF0000"/>
                </a:solidFill>
              </a:rPr>
              <a:t>enter into/make/sign a contract (with sb)</a:t>
            </a:r>
            <a:r>
              <a:rPr lang="en-US" altLang="zh-CN" sz="3200" b="1" dirty="0"/>
              <a:t> until you have studied its provisions carefully. </a:t>
            </a:r>
            <a:endParaRPr lang="en-US" altLang="zh-CN" sz="3200" b="1" dirty="0" smtClean="0"/>
          </a:p>
          <a:p>
            <a:pPr indent="-808355" fontAlgn="auto">
              <a:lnSpc>
                <a:spcPct val="120000"/>
              </a:lnSpc>
            </a:pPr>
            <a:r>
              <a:rPr lang="zh-CN" altLang="en-US" sz="3200" b="1" dirty="0" smtClean="0"/>
              <a:t>你</a:t>
            </a:r>
            <a:r>
              <a:rPr lang="zh-CN" altLang="en-US" sz="3200" b="1" dirty="0"/>
              <a:t>应该先仔细研究合同的条款</a:t>
            </a:r>
            <a:r>
              <a:rPr lang="en-US" altLang="zh-CN" sz="3200" b="1" dirty="0"/>
              <a:t>, </a:t>
            </a:r>
            <a:r>
              <a:rPr lang="zh-CN" altLang="en-US" sz="3200" b="1" dirty="0" smtClean="0"/>
              <a:t>然后再签订。</a:t>
            </a:r>
            <a:endParaRPr lang="zh-CN" altLang="en-US" sz="3200" b="1" dirty="0" smtClean="0"/>
          </a:p>
          <a:p>
            <a:pPr indent="-80835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draw up a contract </a:t>
            </a:r>
            <a:r>
              <a:rPr lang="zh-CN" altLang="en-US" sz="3200" b="1" dirty="0" smtClean="0"/>
              <a:t>草拟合同</a:t>
            </a:r>
            <a:endParaRPr lang="zh-CN" altLang="en-US" sz="3200" b="1" dirty="0" smtClean="0"/>
          </a:p>
          <a:p>
            <a:pPr indent="-8083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renew/extend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contract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续签合同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8083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is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under contract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major American computer firm.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8083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签订工作合同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工作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8083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Under the terms of the contract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job should have been finished yesterday.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80835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根据合同的条款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6690" y="0"/>
            <a:ext cx="1200467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young and the old are likely to 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感染这种疾病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hope they will 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和我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续签合同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at the end of the year.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Don’t 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签订任何合同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before examining its conditions carefully.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Recently, 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Boston Museum of Fine Arts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 (contract)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lease part of its collection to a museum in Japan.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47743" y="454083"/>
            <a:ext cx="3821880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contract this disease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81443" y="1727144"/>
            <a:ext cx="3562770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renew my contract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67974" y="2911413"/>
            <a:ext cx="329609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sign any contract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276590" y="4000500"/>
            <a:ext cx="329565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has contracted</a:t>
            </a:r>
            <a:endParaRPr lang="zh-CN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3375" y="365176"/>
            <a:ext cx="11614068" cy="481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makes them more likely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to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catch a certain virus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or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develop a particular form of cancer</a:t>
            </a:r>
            <a:endParaRPr lang="en-US" altLang="zh-CN" sz="3200" b="1" dirty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使……更容易做某事</a:t>
            </a:r>
            <a:endParaRPr lang="zh-CN" altLang="en-US" sz="32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感染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某种病毒</a:t>
            </a:r>
            <a:endParaRPr lang="zh-CN" altLang="en-US" sz="32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患上某种特殊类型的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癌症</a:t>
            </a:r>
            <a:endParaRPr lang="zh-CN" altLang="en-US" sz="32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*viral</a:t>
            </a:r>
            <a:r>
              <a:rPr lang="en-US" altLang="zh-CN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病毒性的，在网上快速传播的</a:t>
            </a:r>
            <a:endParaRPr lang="zh-CN" altLang="en-US" sz="32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he video 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went viral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and was seen by millions.</a:t>
            </a:r>
            <a:endParaRPr lang="zh-CN" altLang="en-US" sz="32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3045" y="315595"/>
            <a:ext cx="11958955" cy="5406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Geneticists 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have been trying to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identify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which genes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relate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to which diseases, as they believe genome editing is an effective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means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of disease treatment and prevention.</a:t>
            </a:r>
            <a:endParaRPr lang="en-US" altLang="zh-CN" sz="3200" b="1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51460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identify  </a:t>
            </a:r>
            <a:r>
              <a:rPr lang="en-US" altLang="zh-CN" sz="3200" b="1" i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①</a:t>
            </a:r>
            <a:r>
              <a:rPr lang="en-US" altLang="zh-CN" sz="3200" b="1" dirty="0"/>
              <a:t> </a:t>
            </a:r>
            <a:r>
              <a:rPr lang="en-US" altLang="zh-CN" sz="3200" b="1" i="1" dirty="0" smtClean="0"/>
              <a:t>to </a:t>
            </a:r>
            <a:r>
              <a:rPr lang="en-US" altLang="zh-CN" sz="3200" b="1" i="1" dirty="0"/>
              <a:t>find or discover </a:t>
            </a:r>
            <a:r>
              <a:rPr lang="en-US" altLang="zh-CN" sz="3200" b="1" i="1" dirty="0" err="1"/>
              <a:t>sb</a:t>
            </a:r>
            <a:r>
              <a:rPr lang="en-US" altLang="zh-CN" sz="3200" b="1" i="1" dirty="0"/>
              <a:t>/</a:t>
            </a:r>
            <a:r>
              <a:rPr lang="en-US" altLang="zh-CN" sz="3200" b="1" i="1" dirty="0" err="1"/>
              <a:t>sth</a:t>
            </a:r>
            <a:r>
              <a:rPr lang="en-US" altLang="zh-CN" sz="3200" b="1" i="1" dirty="0"/>
              <a:t>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找到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，发现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808355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Scientists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are trying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identify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relationship between genes and personality.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8083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找出问题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②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i="1" dirty="0">
                <a:sym typeface="+mn-ea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sym typeface="+mn-ea"/>
              </a:rPr>
              <a:t>recognize </a:t>
            </a:r>
            <a:r>
              <a:rPr lang="en-US" altLang="zh-CN" sz="3200" b="1" i="1" dirty="0" err="1">
                <a:sym typeface="+mn-ea"/>
              </a:rPr>
              <a:t>sb</a:t>
            </a:r>
            <a:r>
              <a:rPr lang="en-US" altLang="zh-CN" sz="3200" b="1" i="1" dirty="0">
                <a:sym typeface="+mn-ea"/>
              </a:rPr>
              <a:t>/</a:t>
            </a:r>
            <a:r>
              <a:rPr lang="en-US" altLang="zh-CN" sz="3200" b="1" i="1" dirty="0" err="1">
                <a:sym typeface="+mn-ea"/>
              </a:rPr>
              <a:t>sth</a:t>
            </a:r>
            <a:r>
              <a:rPr lang="en-US" altLang="zh-CN" sz="3200" b="1" i="1" dirty="0" smtClean="0">
                <a:sym typeface="+mn-ea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确认，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认出</a:t>
            </a:r>
            <a:endParaRPr lang="zh-CN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Can </a:t>
            </a:r>
            <a:r>
              <a:rPr lang="en-US" altLang="zh-CN" sz="3200" b="1" dirty="0">
                <a:sym typeface="+mn-ea"/>
              </a:rPr>
              <a:t>you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identify</a:t>
            </a:r>
            <a:r>
              <a:rPr lang="en-US" altLang="zh-CN" sz="3200" b="1" dirty="0">
                <a:sym typeface="+mn-ea"/>
              </a:rPr>
              <a:t> your umbrella among this lot?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184400" y="3804285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identify the problem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33400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③</a:t>
            </a:r>
            <a:r>
              <a:rPr lang="en-US" altLang="zh-CN" sz="3200" b="1" dirty="0"/>
              <a:t> </a:t>
            </a:r>
            <a:r>
              <a:rPr lang="en-US" altLang="zh-CN" sz="3200" b="1" i="1" dirty="0"/>
              <a:t>make it possible to recognize who or what </a:t>
            </a:r>
            <a:r>
              <a:rPr lang="en-US" altLang="zh-CN" sz="3200" b="1" i="1" dirty="0" err="1"/>
              <a:t>sb</a:t>
            </a:r>
            <a:r>
              <a:rPr lang="en-US" altLang="zh-CN" sz="3200" b="1" i="1" dirty="0"/>
              <a:t>/</a:t>
            </a:r>
            <a:r>
              <a:rPr lang="en-US" altLang="zh-CN" sz="3200" b="1" i="1" dirty="0" err="1"/>
              <a:t>sth</a:t>
            </a:r>
            <a:r>
              <a:rPr lang="en-US" altLang="zh-CN" sz="3200" b="1" i="1" dirty="0"/>
              <a:t> is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显示，说明身份</a:t>
            </a:r>
            <a:endParaRPr lang="zh-CN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/>
              <a:t>In many cases, the clothes people wear </a:t>
            </a:r>
            <a:r>
              <a:rPr lang="en-US" altLang="zh-CN" sz="3200" b="1" u="sng" dirty="0">
                <a:solidFill>
                  <a:srgbClr val="FF0000"/>
                </a:solidFill>
              </a:rPr>
              <a:t>identify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them </a:t>
            </a:r>
            <a:r>
              <a:rPr lang="en-US" altLang="zh-CN" sz="3200" b="1" u="sng" dirty="0">
                <a:solidFill>
                  <a:srgbClr val="FF0000"/>
                </a:solidFill>
              </a:rPr>
              <a:t>as </a:t>
            </a:r>
            <a:r>
              <a:rPr lang="en-US" altLang="zh-CN" sz="3200" b="1" dirty="0"/>
              <a:t>belonging to a particular social class.</a:t>
            </a:r>
            <a:endParaRPr lang="en-US" altLang="zh-CN" sz="3200" b="1" dirty="0"/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/>
              <a:t>很多情况下，人们的穿着显示出他们的社会阶层。</a:t>
            </a:r>
            <a:endParaRPr lang="en-US" altLang="zh-CN" sz="3200" b="1" dirty="0"/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identify oneself as …</a:t>
            </a:r>
            <a:r>
              <a:rPr lang="zh-CN" altLang="en-US" sz="3200" b="1" dirty="0"/>
              <a:t>自称</a:t>
            </a:r>
            <a:endParaRPr lang="en-US" altLang="zh-CN" sz="3200" b="1" dirty="0"/>
          </a:p>
          <a:p>
            <a:pPr indent="-533400" fontAlgn="auto">
              <a:lnSpc>
                <a:spcPct val="120000"/>
              </a:lnSpc>
            </a:pPr>
            <a:endParaRPr lang="en-US" altLang="zh-CN" sz="3200" b="1" dirty="0"/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/>
              <a:t>I didn't enjoy the book because I couldn't </a:t>
            </a:r>
            <a:r>
              <a:rPr lang="en-US" altLang="zh-CN" sz="3200" b="1" u="sng" dirty="0">
                <a:solidFill>
                  <a:srgbClr val="FF0000"/>
                </a:solidFill>
              </a:rPr>
              <a:t>identify with</a:t>
            </a:r>
            <a:r>
              <a:rPr lang="en-US" altLang="zh-CN" sz="3200" b="1" dirty="0"/>
              <a:t> any of the main characters.</a:t>
            </a:r>
            <a:endParaRPr lang="en-US" altLang="zh-CN" sz="3200" b="1" dirty="0"/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与某人产生共鸣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empathize with sb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You should not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identify wealth with happiness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你不应该认为财富就等于幸福。</a:t>
            </a:r>
            <a:endParaRPr lang="en-US" altLang="zh-CN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62560" y="0"/>
            <a:ext cx="11845925" cy="54063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He was not the 'tough guy' the public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identified him with</a:t>
            </a:r>
            <a:r>
              <a:rPr lang="en-US" altLang="zh-CN" sz="3200" b="1" dirty="0">
                <a:sym typeface="+mn-ea"/>
              </a:rPr>
              <a:t>.</a:t>
            </a:r>
            <a:endParaRPr lang="en-US" altLang="zh-CN" sz="3200" b="1" dirty="0">
              <a:sym typeface="+mn-ea"/>
            </a:endParaRPr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把某人视为</a:t>
            </a:r>
            <a:r>
              <a:rPr lang="en-US" altLang="zh-CN" sz="3200" b="1" dirty="0">
                <a:sym typeface="+mn-ea"/>
              </a:rPr>
              <a:t>/</a:t>
            </a:r>
            <a:r>
              <a:rPr lang="zh-CN" altLang="en-US" sz="3200" b="1" dirty="0">
                <a:sym typeface="+mn-ea"/>
              </a:rPr>
              <a:t>把……与……</a:t>
            </a:r>
            <a:r>
              <a:rPr lang="zh-CN" altLang="en-US" sz="3200" b="1" dirty="0">
                <a:sym typeface="+mn-ea"/>
              </a:rPr>
              <a:t>联系起来</a:t>
            </a:r>
            <a:endParaRPr lang="zh-CN" altLang="en-US" sz="3200" b="1" dirty="0">
              <a:sym typeface="+mn-ea"/>
            </a:endParaRPr>
          </a:p>
          <a:p>
            <a:pPr indent="-533400" fontAlgn="auto">
              <a:lnSpc>
                <a:spcPct val="120000"/>
              </a:lnSpc>
            </a:pPr>
            <a:endParaRPr lang="zh-CN" altLang="en-US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identity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身份；特性；一致性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identity card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身份证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sym typeface="+mn-ea"/>
              </a:rPr>
              <a:t>a sense of national/cultural</a:t>
            </a:r>
            <a:r>
              <a:rPr sz="3200" b="1" dirty="0">
                <a:sym typeface="+mn-ea"/>
              </a:rPr>
              <a:t>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identity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民族</a:t>
            </a:r>
            <a:r>
              <a:rPr lang="en-US" sz="3200" b="1" dirty="0">
                <a:sym typeface="+mn-ea"/>
              </a:rPr>
              <a:t>/</a:t>
            </a:r>
            <a:r>
              <a:rPr sz="3200" b="1" dirty="0">
                <a:sym typeface="+mn-ea"/>
              </a:rPr>
              <a:t>文化认同感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an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identity </a:t>
            </a:r>
            <a:r>
              <a:rPr sz="3200" b="1" dirty="0">
                <a:sym typeface="+mn-ea"/>
              </a:rPr>
              <a:t>of interests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利益一致</a:t>
            </a:r>
            <a:endParaRPr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62560" y="0"/>
            <a:ext cx="11845925" cy="65874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identification n.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辨认；确认；身份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证明；强烈的同情感；紧密联系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The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identification </a:t>
            </a:r>
            <a:r>
              <a:rPr sz="3200" b="1" dirty="0">
                <a:sym typeface="+mn-ea"/>
              </a:rPr>
              <a:t>of the crash victims was a long and difficult task.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坠机事故中伤亡者的辨认工作费时而且困难重重。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Each product has a number for easy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identification</a:t>
            </a:r>
            <a:r>
              <a:rPr sz="3200" b="1" dirty="0">
                <a:sym typeface="+mn-ea"/>
              </a:rPr>
              <a:t>.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每件产品都有号码以便于识别。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an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identification </a:t>
            </a:r>
            <a:r>
              <a:rPr sz="3200" b="1" dirty="0">
                <a:sym typeface="+mn-ea"/>
              </a:rPr>
              <a:t>number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识别号码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Can I see some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identification</a:t>
            </a:r>
            <a:r>
              <a:rPr sz="3200" b="1" dirty="0">
                <a:sym typeface="+mn-ea"/>
              </a:rPr>
              <a:t>, please?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her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emotional identification</a:t>
            </a:r>
            <a:r>
              <a:rPr sz="3200" b="1" dirty="0">
                <a:sym typeface="+mn-ea"/>
              </a:rPr>
              <a:t> with the play's heroine</a:t>
            </a:r>
            <a:endParaRPr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ym typeface="+mn-ea"/>
              </a:rPr>
              <a:t>她与剧中女主人公在情感上的共鸣</a:t>
            </a:r>
            <a:endParaRPr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83820"/>
            <a:ext cx="12192000" cy="649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I could speak their language and identify _____ their problems because I had been there myself.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 accent identified him 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Frenchman.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The police soon established the murder’s true ___________  (identify) and he was quickly found.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那位演员只扮演自己认同的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角色。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actor only plays the role that he identifies with.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5) Sibling competition __________ ___(identify) as an important shaping force as early as in 1918.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84879" y="566604"/>
            <a:ext cx="106150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13415" y="1849825"/>
            <a:ext cx="652743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46218" y="2481376"/>
            <a:ext cx="163057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identity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4"/>
          <p:cNvSpPr txBox="1"/>
          <p:nvPr>
            <p:custDataLst>
              <p:tags r:id="rId1"/>
            </p:custDataLst>
          </p:nvPr>
        </p:nvSpPr>
        <p:spPr>
          <a:xfrm>
            <a:off x="3982778" y="5009311"/>
            <a:ext cx="258762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identified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4055" y="185914"/>
            <a:ext cx="11350866" cy="5502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13690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identify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which genes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relate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which diseases </a:t>
            </a:r>
            <a:r>
              <a:rPr lang="zh-CN" altLang="en-US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确认哪些基因与哪些疾病有关</a:t>
            </a:r>
            <a:endParaRPr lang="zh-CN" altLang="en-US" sz="3200" b="1" dirty="0"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13690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relate to sth/sb</a:t>
            </a:r>
            <a:endParaRPr lang="en-US" altLang="zh-CN" sz="3200" b="1" dirty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136900" fontAlgn="auto">
              <a:lnSpc>
                <a:spcPct val="110000"/>
              </a:lnSpc>
            </a:pPr>
            <a:r>
              <a:rPr lang="en-US" altLang="zh-CN" sz="3200" b="1" dirty="0">
                <a:sym typeface="+mn-ea"/>
              </a:rPr>
              <a:t>1) </a:t>
            </a:r>
            <a:r>
              <a:rPr lang="zh-CN" altLang="en-US" sz="3200" b="1" dirty="0">
                <a:sym typeface="+mn-ea"/>
              </a:rPr>
              <a:t>涉及，与……相关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refer to, concern</a:t>
            </a:r>
            <a:endParaRPr lang="en-US" altLang="zh-CN" sz="3200" b="1" dirty="0"/>
          </a:p>
          <a:p>
            <a:pPr indent="-3136900" fontAlgn="auto">
              <a:lnSpc>
                <a:spcPct val="110000"/>
              </a:lnSpc>
            </a:pPr>
            <a:r>
              <a:rPr lang="en-US" altLang="zh-CN" sz="3200" b="1" dirty="0">
                <a:sym typeface="+mn-ea"/>
              </a:rPr>
              <a:t>We shall discuss the problem as it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relates to</a:t>
            </a:r>
            <a:r>
              <a:rPr lang="en-US" altLang="zh-CN" sz="3200" b="1" dirty="0">
                <a:sym typeface="+mn-ea"/>
              </a:rPr>
              <a:t> our specific case.</a:t>
            </a:r>
            <a:endParaRPr lang="en-US" altLang="zh-CN" sz="3200" b="1" dirty="0"/>
          </a:p>
          <a:p>
            <a:pPr indent="-3136900" fontAlgn="auto">
              <a:lnSpc>
                <a:spcPct val="110000"/>
              </a:lnSpc>
            </a:pPr>
            <a:r>
              <a:rPr lang="en-US" altLang="zh-CN" sz="3200" b="1" dirty="0">
                <a:sym typeface="+mn-ea"/>
              </a:rPr>
              <a:t>我们应针对我们的具体情况来讨论这个问题</a:t>
            </a:r>
            <a:endParaRPr lang="en-US" altLang="zh-CN" sz="3200" b="1" dirty="0">
              <a:sym typeface="+mn-ea"/>
            </a:endParaRPr>
          </a:p>
          <a:p>
            <a:pPr indent="-313690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This week, a team of scientists based in Switzerland announced the discovery of sixteen genetic markers that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relate to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human lifespans.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13690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与人类寿命有关的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16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个基因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标记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4055" y="185914"/>
            <a:ext cx="11350866" cy="3879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13690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relate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to</a:t>
            </a:r>
            <a:r>
              <a:rPr lang="en-US" altLang="zh-CN" sz="3200" b="1" dirty="0"/>
              <a:t> </a:t>
            </a:r>
            <a:endParaRPr lang="en-US" altLang="zh-CN" sz="3200" b="1" dirty="0"/>
          </a:p>
          <a:p>
            <a:pPr indent="-3136900" fontAlgn="auto">
              <a:lnSpc>
                <a:spcPct val="110000"/>
              </a:lnSpc>
            </a:pPr>
            <a:r>
              <a:rPr lang="en-US" altLang="zh-CN" sz="3200" b="1" dirty="0"/>
              <a:t>2) </a:t>
            </a:r>
            <a:r>
              <a:rPr lang="zh-CN" altLang="en-US" sz="3200" b="1" dirty="0"/>
              <a:t>了解，理解并同情</a:t>
            </a:r>
            <a:r>
              <a:rPr lang="en-US" altLang="zh-CN" sz="3200" b="1" dirty="0"/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be able 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understand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and have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sympathy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with ...</a:t>
            </a:r>
            <a:endParaRPr lang="zh-CN" altLang="en-US" sz="3200" b="1" i="1" dirty="0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3136900" fontAlgn="auto">
              <a:lnSpc>
                <a:spcPct val="110000"/>
              </a:lnSpc>
            </a:pPr>
            <a:r>
              <a:rPr lang="zh-CN" altLang="en-US" sz="3200" b="1" dirty="0"/>
              <a:t>Many adults can't </a:t>
            </a:r>
            <a:r>
              <a:rPr lang="zh-CN" altLang="en-US" sz="3200" b="1" u="sng" dirty="0">
                <a:solidFill>
                  <a:srgbClr val="FF0000"/>
                </a:solidFill>
              </a:rPr>
              <a:t>relate to</a:t>
            </a:r>
            <a:r>
              <a:rPr lang="zh-CN" altLang="en-US" sz="3200" b="1" dirty="0"/>
              <a:t> children.</a:t>
            </a:r>
            <a:endParaRPr lang="zh-CN" altLang="en-US" sz="3200" b="1" dirty="0"/>
          </a:p>
          <a:p>
            <a:pPr indent="-3136900" fontAlgn="auto">
              <a:lnSpc>
                <a:spcPct val="110000"/>
              </a:lnSpc>
            </a:pPr>
            <a:r>
              <a:rPr lang="zh-CN" altLang="en-US" sz="3200" b="1" dirty="0"/>
              <a:t>许多成年人并不了解儿童的想法。</a:t>
            </a:r>
            <a:endParaRPr lang="zh-CN" altLang="en-US" sz="3200" b="1" dirty="0"/>
          </a:p>
          <a:p>
            <a:pPr indent="-3136900" fontAlgn="auto">
              <a:lnSpc>
                <a:spcPct val="110000"/>
              </a:lnSpc>
            </a:pPr>
            <a:r>
              <a:rPr lang="zh-CN" altLang="en-US" sz="3200" b="1" dirty="0">
                <a:sym typeface="+mn-ea"/>
              </a:rPr>
              <a:t>我们的产品需要一个大家能理解的形象。</a:t>
            </a:r>
            <a:endParaRPr lang="zh-CN" altLang="en-US" sz="3200" b="1" dirty="0"/>
          </a:p>
          <a:p>
            <a:pPr indent="-3136900" fontAlgn="auto">
              <a:lnSpc>
                <a:spcPct val="110000"/>
              </a:lnSpc>
            </a:pPr>
            <a:r>
              <a:rPr lang="zh-CN" altLang="en-US" sz="3200" b="1" dirty="0"/>
              <a:t>Our product needs an image that people can </a:t>
            </a:r>
            <a:r>
              <a:rPr lang="zh-CN" altLang="en-US" sz="3200" b="1" u="sng" dirty="0">
                <a:solidFill>
                  <a:srgbClr val="FF0000"/>
                </a:solidFill>
              </a:rPr>
              <a:t>relate to</a:t>
            </a:r>
            <a:r>
              <a:rPr lang="zh-CN" altLang="en-US" sz="3200" b="1" dirty="0"/>
              <a:t>.</a:t>
            </a:r>
            <a:endParaRPr lang="en-US" altLang="zh-CN"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4055" y="185914"/>
            <a:ext cx="11350866" cy="658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13690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relate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 </a:t>
            </a:r>
            <a:r>
              <a:rPr lang="en-US" altLang="zh-CN" sz="3200" b="1" i="1" dirty="0" smtClean="0">
                <a:solidFill>
                  <a:srgbClr val="FF0000"/>
                </a:solidFill>
              </a:rPr>
              <a:t>v.</a:t>
            </a:r>
            <a:endParaRPr lang="en-US" altLang="zh-CN" sz="3200" b="1" i="1" dirty="0" smtClean="0">
              <a:solidFill>
                <a:srgbClr val="FF0000"/>
              </a:solidFill>
            </a:endParaRPr>
          </a:p>
          <a:p>
            <a:pPr indent="-3136900" fontAlgn="auto">
              <a:lnSpc>
                <a:spcPct val="110000"/>
              </a:lnSpc>
            </a:pPr>
            <a:r>
              <a:rPr lang="en-US" altLang="zh-CN" sz="3200" b="1" dirty="0" smtClean="0">
                <a:latin typeface="Times New Roman Bold" panose="02020503050405090304" charset="0"/>
                <a:cs typeface="Times New Roman Bold" panose="02020503050405090304" charset="0"/>
              </a:rPr>
              <a:t>1)</a:t>
            </a:r>
            <a:r>
              <a:rPr lang="en-US" altLang="zh-CN" sz="3200" dirty="0" smtClean="0"/>
              <a:t> </a:t>
            </a:r>
            <a:r>
              <a:rPr lang="en-US" altLang="zh-CN" sz="3200" b="1" i="1" dirty="0" smtClean="0"/>
              <a:t>show </a:t>
            </a:r>
            <a:r>
              <a:rPr lang="en-US" altLang="zh-CN" sz="3200" b="1" i="1" dirty="0"/>
              <a:t>or make a connection between two or more </a:t>
            </a:r>
            <a:r>
              <a:rPr lang="en-US" altLang="zh-CN" sz="3200" b="1" i="1" dirty="0" smtClean="0"/>
              <a:t>things</a:t>
            </a:r>
            <a:r>
              <a:rPr lang="en-US" altLang="zh-CN" sz="3200" b="1" i="1" dirty="0"/>
              <a:t> </a:t>
            </a:r>
            <a:r>
              <a:rPr lang="en-US" altLang="zh-CN" sz="3200" b="1" i="1" dirty="0" smtClean="0"/>
              <a:t>  </a:t>
            </a:r>
            <a:endParaRPr lang="en-US" altLang="zh-CN" sz="3200" b="1" i="1" dirty="0" smtClean="0"/>
          </a:p>
          <a:p>
            <a:pPr indent="-2603500" fontAlgn="auto">
              <a:lnSpc>
                <a:spcPct val="11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</a:rPr>
              <a:t>联系，使有联系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/>
              <a:t>I found it difficult to </a:t>
            </a:r>
            <a:r>
              <a:rPr lang="en-US" altLang="zh-CN" sz="3200" b="1" u="sng" dirty="0">
                <a:solidFill>
                  <a:srgbClr val="FF0000"/>
                </a:solidFill>
              </a:rPr>
              <a:t>relate the two ideas</a:t>
            </a:r>
            <a:r>
              <a:rPr lang="en-US" altLang="zh-CN" sz="3200" b="1" dirty="0"/>
              <a:t> in my mind.</a:t>
            </a:r>
            <a:endParaRPr lang="en-US" altLang="zh-CN" sz="3200" b="1" dirty="0"/>
          </a:p>
          <a:p>
            <a:pPr fontAlgn="auto">
              <a:lnSpc>
                <a:spcPct val="110000"/>
              </a:lnSpc>
            </a:pPr>
            <a:r>
              <a:rPr lang="en-US" altLang="zh-CN" sz="3200" b="1" dirty="0"/>
              <a:t>我觉得很难把这两种想法联系在一起。</a:t>
            </a:r>
            <a:endParaRPr lang="en-US" altLang="zh-CN" sz="3200" b="1" dirty="0"/>
          </a:p>
          <a:p>
            <a:pPr fontAlgn="auto">
              <a:lnSpc>
                <a:spcPct val="110000"/>
              </a:lnSpc>
            </a:pPr>
            <a:r>
              <a:rPr lang="en-US" altLang="zh-CN" sz="3200" b="1" dirty="0"/>
              <a:t>In the future, pay increases will </a:t>
            </a:r>
            <a:r>
              <a:rPr lang="en-US" altLang="zh-CN" sz="3200" b="1" u="sng" dirty="0">
                <a:solidFill>
                  <a:srgbClr val="FF0000"/>
                </a:solidFill>
              </a:rPr>
              <a:t>be related to productivity</a:t>
            </a:r>
            <a:r>
              <a:rPr lang="en-US" altLang="zh-CN" sz="3200" b="1" dirty="0"/>
              <a:t>.</a:t>
            </a:r>
            <a:endParaRPr lang="en-US" altLang="zh-CN" sz="3200" b="1" dirty="0"/>
          </a:p>
          <a:p>
            <a:pPr fontAlgn="auto">
              <a:lnSpc>
                <a:spcPct val="110000"/>
              </a:lnSpc>
            </a:pPr>
            <a:r>
              <a:rPr lang="en-US" altLang="zh-CN" sz="3200" b="1" dirty="0"/>
              <a:t>以后，工资的上涨将和业绩挂钩。</a:t>
            </a:r>
            <a:r>
              <a:rPr lang="en-US" altLang="zh-CN" sz="3200" b="1" dirty="0">
                <a:solidFill>
                  <a:srgbClr val="FF0000"/>
                </a:solidFill>
              </a:rPr>
              <a:t>(relate A to B)</a:t>
            </a:r>
            <a:endParaRPr lang="en-US" altLang="zh-CN" sz="3200" b="1" dirty="0"/>
          </a:p>
          <a:p>
            <a:pPr fontAlgn="auto">
              <a:lnSpc>
                <a:spcPct val="110000"/>
              </a:lnSpc>
            </a:pPr>
            <a:r>
              <a:rPr lang="en-US" altLang="zh-CN" sz="3200" b="1" dirty="0" smtClean="0"/>
              <a:t>2)  </a:t>
            </a:r>
            <a:r>
              <a:rPr lang="en-US" altLang="zh-CN" sz="3200" b="1" i="1" dirty="0"/>
              <a:t>to give a spoken or written report of </a:t>
            </a:r>
            <a:r>
              <a:rPr lang="en-US" altLang="zh-CN" sz="3200" b="1" i="1" dirty="0" err="1"/>
              <a:t>sth</a:t>
            </a:r>
            <a:r>
              <a:rPr lang="en-US" altLang="zh-CN" sz="3200" b="1" i="1" dirty="0"/>
              <a:t>; to tell a </a:t>
            </a:r>
            <a:r>
              <a:rPr lang="en-US" altLang="zh-CN" sz="3200" b="1" i="1" dirty="0" smtClean="0"/>
              <a:t>story    </a:t>
            </a:r>
            <a:endParaRPr lang="en-US" altLang="zh-CN" sz="3200" b="1" i="1" dirty="0" smtClean="0"/>
          </a:p>
          <a:p>
            <a:pPr indent="-2692400" fontAlgn="auto">
              <a:lnSpc>
                <a:spcPct val="11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</a:rPr>
              <a:t>叙述，讲述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 smtClean="0"/>
              <a:t>He </a:t>
            </a:r>
            <a:r>
              <a:rPr lang="en-US" altLang="zh-CN" sz="3200" b="1" dirty="0"/>
              <a:t>later </a:t>
            </a:r>
            <a:r>
              <a:rPr lang="en-US" altLang="zh-CN" sz="3200" b="1" dirty="0">
                <a:solidFill>
                  <a:srgbClr val="FF0000"/>
                </a:solidFill>
              </a:rPr>
              <a:t>related</a:t>
            </a:r>
            <a:r>
              <a:rPr lang="en-US" altLang="zh-CN" sz="3200" b="1" dirty="0"/>
              <a:t> the whole story </a:t>
            </a:r>
            <a:r>
              <a:rPr lang="en-US" altLang="zh-CN" sz="3200" b="1" dirty="0">
                <a:solidFill>
                  <a:srgbClr val="FF0000"/>
                </a:solidFill>
              </a:rPr>
              <a:t>to </a:t>
            </a:r>
            <a:r>
              <a:rPr lang="en-US" altLang="zh-CN" sz="3200" b="1" dirty="0"/>
              <a:t>me</a:t>
            </a:r>
            <a:r>
              <a:rPr lang="en-US" altLang="zh-CN" sz="3200" b="1" dirty="0" smtClean="0"/>
              <a:t>.</a:t>
            </a:r>
            <a:endParaRPr lang="en-US" altLang="zh-CN" sz="3200" b="1" dirty="0" smtClean="0"/>
          </a:p>
          <a:p>
            <a:pPr fontAlgn="auto">
              <a:lnSpc>
                <a:spcPct val="110000"/>
              </a:lnSpc>
            </a:pPr>
            <a:r>
              <a:rPr lang="zh-CN" altLang="en-US" sz="3200" b="1" dirty="0" smtClean="0"/>
              <a:t>他</a:t>
            </a:r>
            <a:r>
              <a:rPr lang="zh-CN" altLang="en-US" sz="3200" b="1" dirty="0"/>
              <a:t>后来给我讲了整件事的来龙去脉。</a:t>
            </a:r>
            <a:endParaRPr lang="zh-CN" altLang="en-US" sz="3200" b="1" dirty="0"/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The story relates that </a:t>
            </a:r>
            <a:r>
              <a:rPr lang="en-US" altLang="zh-CN" sz="3200" b="1" dirty="0">
                <a:solidFill>
                  <a:srgbClr val="FF0000"/>
                </a:solidFill>
              </a:rPr>
              <a:t>...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这个故事讲述</a:t>
            </a:r>
            <a:r>
              <a:rPr lang="zh-CN" altLang="en-US" sz="3200" b="1" dirty="0"/>
              <a:t>了……</a:t>
            </a:r>
            <a:endParaRPr lang="zh-CN" altLang="en-US"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12192635" cy="599694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lvl="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related     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adj.     </a:t>
            </a:r>
            <a:r>
              <a:rPr lang="zh-CN" altLang="en-US" sz="3200" b="1" dirty="0" smtClean="0">
                <a:latin typeface="+mn-ea"/>
                <a:sym typeface="+mn-ea"/>
              </a:rPr>
              <a:t>相关</a:t>
            </a:r>
            <a:r>
              <a:rPr lang="zh-CN" altLang="en-US" sz="3200" b="1" dirty="0">
                <a:latin typeface="+mn-ea"/>
                <a:sym typeface="+mn-ea"/>
              </a:rPr>
              <a:t>的；有联系的</a:t>
            </a:r>
            <a:endParaRPr lang="en-US" altLang="zh-CN" sz="3200" b="1" dirty="0">
              <a:latin typeface="+mn-ea"/>
            </a:endParaRPr>
          </a:p>
          <a:p>
            <a:pPr lvl="0" indent="45720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be (closely) related to…  </a:t>
            </a:r>
            <a:r>
              <a:rPr lang="zh-CN" altLang="en-US" sz="3200" b="1" dirty="0" smtClean="0">
                <a:latin typeface="+mn-ea"/>
                <a:sym typeface="+mn-ea"/>
              </a:rPr>
              <a:t>与</a:t>
            </a:r>
            <a:r>
              <a:rPr lang="en-US" altLang="zh-CN" sz="3200" b="1" dirty="0">
                <a:latin typeface="+mn-ea"/>
                <a:sym typeface="+mn-ea"/>
              </a:rPr>
              <a:t>……</a:t>
            </a:r>
            <a:r>
              <a:rPr lang="zh-CN" altLang="en-US" sz="3200" b="1" dirty="0" smtClean="0">
                <a:latin typeface="+mn-ea"/>
                <a:sym typeface="+mn-ea"/>
              </a:rPr>
              <a:t>有关</a:t>
            </a:r>
            <a:endParaRPr lang="en-US" altLang="zh-CN" sz="3200" b="1" dirty="0" smtClean="0">
              <a:latin typeface="+mn-ea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relation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n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.  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     </a:t>
            </a:r>
            <a:r>
              <a:rPr lang="zh-CN" altLang="en-US" sz="3200" b="1" dirty="0" smtClean="0">
                <a:latin typeface="+mn-ea"/>
                <a:sym typeface="+mn-ea"/>
              </a:rPr>
              <a:t>关系，联系</a:t>
            </a:r>
            <a:r>
              <a:rPr lang="en-US" altLang="zh-CN" sz="3200" b="1" dirty="0" smtClean="0">
                <a:latin typeface="+mn-ea"/>
                <a:sym typeface="+mn-ea"/>
              </a:rPr>
              <a:t> </a:t>
            </a:r>
            <a:endParaRPr lang="zh-CN" altLang="en-US" sz="3200" b="1" dirty="0" smtClean="0">
              <a:latin typeface="+mn-ea"/>
            </a:endParaRPr>
          </a:p>
          <a:p>
            <a:pPr lvl="0" indent="45720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diplomatic relation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</a:t>
            </a:r>
            <a:r>
              <a:rPr lang="en-US" altLang="zh-CN" sz="3200" b="1" dirty="0" smtClean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 smtClean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外交</a:t>
            </a:r>
            <a:r>
              <a:rPr lang="en-US" altLang="zh-CN" sz="3200" b="1" dirty="0" smtClean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/</a:t>
            </a:r>
            <a:r>
              <a:rPr lang="zh-CN" altLang="en-US" sz="3200" b="1" dirty="0" smtClean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国际关系</a:t>
            </a:r>
            <a:endParaRPr lang="zh-CN" altLang="en-US" sz="3200" b="1" dirty="0" smtClean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lvl="0" indent="457200">
              <a:lnSpc>
                <a:spcPct val="120000"/>
              </a:lnSpc>
            </a:pPr>
            <a:r>
              <a:rPr sz="3200" b="1" dirty="0">
                <a:sym typeface="+mn-ea"/>
              </a:rPr>
              <a:t>I have some comments to make </a:t>
            </a:r>
            <a:r>
              <a:rPr sz="3200" b="1" u="sng" dirty="0">
                <a:solidFill>
                  <a:srgbClr val="FF0000"/>
                </a:solidFill>
                <a:sym typeface="+mn-ea"/>
              </a:rPr>
              <a:t>in relation to</a:t>
            </a:r>
            <a:r>
              <a:rPr lang="en-US" sz="3200" b="1" u="sng" dirty="0">
                <a:solidFill>
                  <a:srgbClr val="FF0000"/>
                </a:solidFill>
                <a:sym typeface="+mn-ea"/>
              </a:rPr>
              <a:t> </a:t>
            </a:r>
            <a:r>
              <a:rPr sz="3200" b="1" dirty="0">
                <a:sym typeface="+mn-ea"/>
              </a:rPr>
              <a:t>this matter.</a:t>
            </a:r>
            <a:endParaRPr sz="3200" b="1" dirty="0"/>
          </a:p>
          <a:p>
            <a:pPr lvl="0" indent="457200">
              <a:lnSpc>
                <a:spcPct val="120000"/>
              </a:lnSpc>
            </a:pPr>
            <a:r>
              <a:rPr sz="3200" b="1" dirty="0">
                <a:sym typeface="+mn-ea"/>
              </a:rPr>
              <a:t>关于 </a:t>
            </a:r>
            <a:r>
              <a:rPr 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in connection with</a:t>
            </a:r>
            <a:endParaRPr sz="3200" b="1" dirty="0"/>
          </a:p>
          <a:p>
            <a:pPr lvl="0" indent="457200">
              <a:lnSpc>
                <a:spcPct val="120000"/>
              </a:lnSpc>
            </a:pPr>
            <a:r>
              <a:rPr sz="3200" b="1" dirty="0">
                <a:sym typeface="+mn-ea"/>
              </a:rPr>
              <a:t>Its brain is small </a:t>
            </a:r>
            <a:r>
              <a:rPr sz="3200" b="1" u="sng" dirty="0">
                <a:solidFill>
                  <a:srgbClr val="FF0000"/>
                </a:solidFill>
                <a:sym typeface="+mn-ea"/>
              </a:rPr>
              <a:t>in relation to</a:t>
            </a:r>
            <a:r>
              <a:rPr sz="3200" b="1" dirty="0">
                <a:sym typeface="+mn-ea"/>
              </a:rPr>
              <a:t> its body.</a:t>
            </a:r>
            <a:endParaRPr sz="3200" b="1" dirty="0">
              <a:sym typeface="+mn-ea"/>
            </a:endParaRPr>
          </a:p>
          <a:p>
            <a:pPr lvl="0" indent="457200">
              <a:lnSpc>
                <a:spcPct val="120000"/>
              </a:lnSpc>
            </a:pPr>
            <a:r>
              <a:rPr lang="zh-CN" sz="3200" b="1" dirty="0">
                <a:sym typeface="+mn-ea"/>
              </a:rPr>
              <a:t>与……相较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compared with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lvl="0" indent="4572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The fee they are offering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bears no relation to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the amount of work involved.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与……无关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12192635" cy="717804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relationship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联系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establish/forge/foster/cultivate/strengthen 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close (working) relationship with sb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endParaRPr lang="zh-CN" altLang="en-US" sz="3200" b="1" dirty="0" smtClean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relative 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n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.</a:t>
            </a:r>
            <a:r>
              <a:rPr lang="en-US" altLang="zh-CN" sz="3200" b="1" i="1" dirty="0">
                <a:sym typeface="+mn-ea"/>
              </a:rPr>
              <a:t> </a:t>
            </a:r>
            <a:r>
              <a:rPr lang="zh-CN" altLang="en-US" sz="3200" b="1" dirty="0">
                <a:sym typeface="+mn-ea"/>
              </a:rPr>
              <a:t>亲属，亲戚</a:t>
            </a:r>
            <a:r>
              <a:rPr lang="zh-CN" altLang="en-US" sz="3200" b="1" dirty="0" smtClean="0">
                <a:sym typeface="+mn-ea"/>
              </a:rPr>
              <a:t>；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adj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. 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 smtClean="0">
                <a:sym typeface="+mn-ea"/>
              </a:rPr>
              <a:t>相对的</a:t>
            </a:r>
            <a:endParaRPr lang="zh-CN" altLang="en-US" sz="3200" b="1" dirty="0" smtClean="0">
              <a:sym typeface="+mn-ea"/>
            </a:endParaRPr>
          </a:p>
          <a:p>
            <a:pPr lvl="0" indent="45720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a close/near/distant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relative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of mine</a:t>
            </a:r>
            <a:endParaRPr lang="zh-CN" altLang="en-US" sz="3200" b="1" dirty="0" smtClean="0">
              <a:solidFill>
                <a:srgbClr val="FF0000"/>
              </a:solidFill>
              <a:sym typeface="+mn-ea"/>
            </a:endParaRPr>
          </a:p>
          <a:p>
            <a:pPr lvl="0" indent="45720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我的一个近亲／远亲</a:t>
            </a:r>
            <a:endParaRPr lang="zh-CN" altLang="en-US" sz="3200" b="1" dirty="0" smtClean="0">
              <a:solidFill>
                <a:schemeClr val="tx1"/>
              </a:solidFill>
              <a:sym typeface="+mn-ea"/>
            </a:endParaRPr>
          </a:p>
          <a:p>
            <a:pPr lvl="0" indent="45720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a party for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friends and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relatives</a:t>
            </a:r>
            <a:endParaRPr lang="zh-CN" altLang="en-US" sz="3200" b="1" dirty="0" smtClean="0">
              <a:solidFill>
                <a:schemeClr val="tx1"/>
              </a:solidFill>
              <a:sym typeface="+mn-ea"/>
            </a:endParaRPr>
          </a:p>
          <a:p>
            <a:pPr lvl="0" indent="45720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亲友的聚会</a:t>
            </a:r>
            <a:endParaRPr lang="zh-CN" altLang="en-US" sz="3200" b="1" dirty="0" smtClean="0">
              <a:solidFill>
                <a:schemeClr val="tx1"/>
              </a:solidFill>
              <a:sym typeface="+mn-ea"/>
            </a:endParaRPr>
          </a:p>
          <a:p>
            <a:pPr lvl="0" indent="45720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the position of the sun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relative to</a:t>
            </a: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 the earth</a:t>
            </a:r>
            <a:endParaRPr lang="zh-CN" altLang="en-US" sz="3200" b="1" dirty="0" smtClean="0">
              <a:solidFill>
                <a:schemeClr val="tx1"/>
              </a:solidFill>
              <a:sym typeface="+mn-ea"/>
            </a:endParaRPr>
          </a:p>
          <a:p>
            <a:pPr lvl="0" indent="45720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sym typeface="+mn-ea"/>
              </a:rPr>
              <a:t>太阳与地球的相对位置</a:t>
            </a:r>
            <a:endParaRPr lang="zh-CN" altLang="en-US" sz="3200" b="1" dirty="0" smtClean="0">
              <a:solidFill>
                <a:schemeClr val="tx1"/>
              </a:solidFill>
              <a:sym typeface="+mn-ea"/>
            </a:endParaRPr>
          </a:p>
          <a:p>
            <a:pPr lvl="0" indent="457200">
              <a:lnSpc>
                <a:spcPct val="120000"/>
              </a:lnSpc>
            </a:pPr>
            <a:endParaRPr lang="zh-CN" altLang="en-US" sz="3200" b="1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63352" y="1340768"/>
            <a:ext cx="11664057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46405" indent="-446405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kern="0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b="1" kern="0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b="1" kern="0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b="1" kern="0" dirty="0" smtClean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zh-CN" altLang="en-US" b="1" kern="0" dirty="0" smtClean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FontTx/>
              <a:buAutoNum type="arabicParenR"/>
            </a:pPr>
            <a:r>
              <a:rPr lang="en-US" altLang="zh-CN" b="1" kern="0" dirty="0" smtClean="0">
                <a:latin typeface="Times New Roman" panose="02020503050405090304" pitchFamily="18" charset="0"/>
              </a:rPr>
              <a:t>This is quite important, because it is directly related _____ your commitment.</a:t>
            </a:r>
            <a:endParaRPr lang="en-US" altLang="zh-CN" b="1" kern="0" dirty="0" smtClean="0">
              <a:latin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FontTx/>
              <a:buAutoNum type="arabicParenR"/>
            </a:pPr>
            <a:r>
              <a:rPr lang="en-US" altLang="zh-CN" b="1" kern="0" dirty="0" smtClean="0">
                <a:latin typeface="Times New Roman" panose="02020503050405090304" pitchFamily="18" charset="0"/>
              </a:rPr>
              <a:t>The position calls for _________ (relate) experience in the field and good skills at using computers.</a:t>
            </a:r>
            <a:endParaRPr lang="en-US" altLang="zh-CN" b="1" kern="0" dirty="0" smtClean="0">
              <a:latin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FontTx/>
              <a:buAutoNum type="arabicParenR"/>
            </a:pPr>
            <a:r>
              <a:rPr lang="en-US" altLang="zh-CN" b="1" kern="0" dirty="0" smtClean="0">
                <a:latin typeface="Times New Roman" panose="02020503050405090304" pitchFamily="18" charset="0"/>
              </a:rPr>
              <a:t>Determining where we are in __________ (relate) to our surroundings remains an essential skill for our survival.</a:t>
            </a:r>
            <a:endParaRPr lang="en-US" altLang="zh-CN" b="1" kern="0" dirty="0">
              <a:latin typeface="Times New Roman" panose="0202050305040509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0056440" y="1988840"/>
            <a:ext cx="526106" cy="594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to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687046" y="3140968"/>
            <a:ext cx="1408334" cy="594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related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240016" y="4293096"/>
            <a:ext cx="1544590" cy="594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relation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3855" y="422275"/>
            <a:ext cx="11722735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81505" indent="-188150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means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 </a:t>
            </a:r>
            <a:r>
              <a:rPr lang="en-US" altLang="zh-CN" sz="3200" b="1" i="1" dirty="0" smtClean="0">
                <a:solidFill>
                  <a:srgbClr val="FF0000"/>
                </a:solidFill>
              </a:rPr>
              <a:t>n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.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手段</a:t>
            </a:r>
            <a:r>
              <a:rPr lang="zh-CN" altLang="en-US" sz="3200" b="1" dirty="0">
                <a:solidFill>
                  <a:srgbClr val="FF0000"/>
                </a:solidFill>
              </a:rPr>
              <a:t>，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方法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单数</a:t>
            </a:r>
            <a:r>
              <a:rPr lang="zh-CN" altLang="en-US" sz="3200" b="1" dirty="0">
                <a:solidFill>
                  <a:srgbClr val="0000FF"/>
                </a:solidFill>
              </a:rPr>
              <a:t>和复数形式均为</a:t>
            </a:r>
            <a:r>
              <a:rPr lang="en-US" altLang="zh-CN" sz="3200" b="1" dirty="0">
                <a:solidFill>
                  <a:srgbClr val="0000FF"/>
                </a:solidFill>
              </a:rPr>
              <a:t>means</a:t>
            </a:r>
            <a:r>
              <a:rPr lang="en-US" altLang="zh-CN" sz="3200" b="1" dirty="0" smtClean="0">
                <a:solidFill>
                  <a:srgbClr val="0000FF"/>
                </a:solidFill>
              </a:rPr>
              <a:t>.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a means of doing sth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3200" b="1" dirty="0" smtClean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</a:rPr>
              <a:t>We needed to get to London but we had no</a:t>
            </a:r>
            <a:r>
              <a:rPr lang="en-US" altLang="zh-CN" sz="3200" b="1" dirty="0" smtClean="0">
                <a:solidFill>
                  <a:srgbClr val="0000FF"/>
                </a:solidFill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means of transport</a:t>
            </a:r>
            <a:r>
              <a:rPr lang="en-US" altLang="zh-CN" sz="3200" b="1" dirty="0" smtClean="0">
                <a:solidFill>
                  <a:schemeClr val="tx1"/>
                </a:solidFill>
              </a:rPr>
              <a:t>.</a:t>
            </a:r>
            <a:endParaRPr lang="en-US" altLang="zh-CN" sz="3200" b="1" dirty="0" smtClean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</a:rPr>
              <a:t>交通工具</a:t>
            </a:r>
            <a:endParaRPr lang="en-US" altLang="zh-CN" sz="3200" b="1" dirty="0" smtClean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by </a:t>
            </a:r>
            <a:r>
              <a:rPr lang="en-US" altLang="zh-CN" sz="3200" b="1" dirty="0">
                <a:solidFill>
                  <a:srgbClr val="FF0000"/>
                </a:solidFill>
              </a:rPr>
              <a:t>means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of </a:t>
            </a:r>
            <a:r>
              <a:rPr lang="zh-CN" altLang="en-US" sz="3200" b="1" dirty="0" smtClean="0"/>
              <a:t>通过</a:t>
            </a:r>
            <a:endParaRPr lang="zh-CN" altLang="en-US" sz="3200" b="1" dirty="0" smtClean="0"/>
          </a:p>
          <a:p>
            <a:pPr>
              <a:lnSpc>
                <a:spcPct val="120000"/>
              </a:lnSpc>
            </a:pPr>
            <a:r>
              <a:rPr lang="en-US" altLang="zh-CN" sz="3200" b="1" dirty="0" smtClean="0"/>
              <a:t>He</a:t>
            </a:r>
            <a:r>
              <a:rPr lang="zh-CN" altLang="en-US" sz="3200" b="1" dirty="0" smtClean="0"/>
              <a:t> </a:t>
            </a:r>
            <a:r>
              <a:rPr lang="en-US" altLang="zh-CN" sz="3200" b="1" dirty="0"/>
              <a:t>came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first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in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the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writing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competition</a:t>
            </a:r>
            <a:r>
              <a:rPr lang="zh-CN" altLang="en-US" sz="3200" b="1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by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means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of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hard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work.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zh-CN" altLang="en-US" sz="3200" b="1" dirty="0" smtClean="0"/>
              <a:t>他</a:t>
            </a:r>
            <a:r>
              <a:rPr lang="zh-CN" altLang="en-US" sz="3200" b="1" dirty="0"/>
              <a:t>通过努力在写作比赛中获得了第一名</a:t>
            </a:r>
            <a:r>
              <a:rPr lang="zh-CN" altLang="en-US" sz="3200" b="1" dirty="0" smtClean="0"/>
              <a:t>。</a:t>
            </a:r>
            <a:endParaRPr lang="zh-CN" altLang="en-US" sz="3200" b="1" dirty="0" smtClean="0"/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She is </a:t>
            </a:r>
            <a:r>
              <a:rPr lang="zh-CN" altLang="en-US" sz="3200" b="1" dirty="0">
                <a:solidFill>
                  <a:srgbClr val="FF0000"/>
                </a:solidFill>
              </a:rPr>
              <a:t>by no means</a:t>
            </a:r>
            <a:r>
              <a:rPr lang="zh-CN" altLang="en-US" sz="3200" b="1" dirty="0"/>
              <a:t> an inexperienced teacher.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她</a:t>
            </a:r>
            <a:r>
              <a:rPr lang="zh-CN" altLang="en-US" sz="3200" b="1" u="sng" dirty="0"/>
              <a:t>绝不</a:t>
            </a:r>
            <a:r>
              <a:rPr lang="zh-CN" altLang="en-US" sz="3200" b="1" dirty="0"/>
              <a:t>是个毫无经验的教师。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in no way</a:t>
            </a:r>
            <a:endParaRPr lang="zh-CN" altLang="en-US" sz="32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4196080" y="974725"/>
            <a:ext cx="7995920" cy="127254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a way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of </a:t>
            </a: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doing sth / an approach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to </a:t>
            </a: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doing sth / a method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for </a:t>
            </a: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doing sth</a:t>
            </a:r>
            <a:endParaRPr lang="en-US" altLang="zh-CN" sz="3200" b="1" dirty="0" smtClean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635" cy="42252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They were not finished, however,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not by any means</a:t>
            </a:r>
            <a:r>
              <a:rPr lang="zh-CN" altLang="en-US" sz="3200" b="1" dirty="0">
                <a:sym typeface="+mn-ea"/>
              </a:rPr>
              <a:t>.</a:t>
            </a:r>
            <a:endParaRPr lang="zh-CN" altLang="en-US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sym typeface="+mn-ea"/>
              </a:rPr>
              <a:t>不过，他们并没有结束，绝对没有。</a:t>
            </a:r>
            <a:endParaRPr lang="zh-CN" altLang="en-US" sz="3200" b="1" dirty="0" smtClean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【否定词句首倒装】</a:t>
            </a:r>
            <a:endParaRPr lang="en-US" altLang="zh-CN" sz="3200" b="1" dirty="0" smtClean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By no means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should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we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ignore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importance of environmental protection.‌</a:t>
            </a:r>
            <a:endParaRPr lang="en-US" altLang="zh-CN" sz="3200" b="1" dirty="0" smtClean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他绝不可能买得起这么贵的车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。</a:t>
            </a:r>
            <a:endParaRPr lang="en-US" altLang="zh-CN" sz="3200" b="1" dirty="0" smtClean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By no means can he afford to buy such an expensive car.‌</a:t>
            </a:r>
            <a:endParaRPr lang="en-US" altLang="zh-CN" sz="3200" b="1" dirty="0" smtClean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635" cy="65874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'Do you mind if I have a look?' '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By all means</a:t>
            </a:r>
            <a:r>
              <a:rPr lang="en-US" altLang="zh-CN" sz="3200" b="1" dirty="0" smtClean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.'</a:t>
            </a:r>
            <a:endParaRPr lang="en-US" altLang="zh-CN" sz="3200" b="1" dirty="0" smtClean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“我看一眼行吗？” “</a:t>
            </a:r>
            <a:r>
              <a:rPr lang="en-US" altLang="zh-CN" sz="3200" b="1" u="sng" dirty="0" smtClean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当然可以</a:t>
            </a:r>
            <a:r>
              <a:rPr lang="en-US" altLang="zh-CN" sz="3200" b="1" dirty="0" smtClean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。”</a:t>
            </a:r>
            <a:endParaRPr lang="zh-CN" altLang="en-US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He doesn't particularly like the work but he sees it as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 a means to an end</a:t>
            </a:r>
            <a:r>
              <a:rPr lang="zh-CN" altLang="en-US" sz="3200" b="1" dirty="0">
                <a:sym typeface="+mn-ea"/>
              </a:rPr>
              <a:t>.</a:t>
            </a:r>
            <a:endParaRPr lang="zh-CN" altLang="en-US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他不怎么喜欢这项工作，只是把它看作</a:t>
            </a:r>
            <a:r>
              <a:rPr lang="zh-CN" altLang="en-US" sz="3200" b="1" u="sng" dirty="0">
                <a:sym typeface="+mn-ea"/>
              </a:rPr>
              <a:t>达到目的的手段</a:t>
            </a:r>
            <a:r>
              <a:rPr lang="zh-CN" altLang="en-US" sz="3200" b="1" dirty="0">
                <a:sym typeface="+mn-ea"/>
              </a:rPr>
              <a:t>而已。</a:t>
            </a:r>
            <a:endParaRPr lang="zh-CN" altLang="en-US" sz="3200" b="1" dirty="0"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means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财富，钱财</a:t>
            </a:r>
            <a:endParaRPr lang="zh-CN" altLang="en-US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He doesn't have the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means </a:t>
            </a:r>
            <a:r>
              <a:rPr lang="zh-CN" altLang="en-US" sz="3200" b="1" dirty="0">
                <a:sym typeface="+mn-ea"/>
              </a:rPr>
              <a:t>to support a wife and child.</a:t>
            </a:r>
            <a:endParaRPr lang="zh-CN" altLang="en-US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他无钱养活妻小。</a:t>
            </a:r>
            <a:endParaRPr lang="zh-CN" altLang="en-US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Try to live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within your means</a:t>
            </a:r>
            <a:r>
              <a:rPr lang="en-US" altLang="zh-CN" sz="3200" b="1" dirty="0">
                <a:sym typeface="+mn-ea"/>
              </a:rPr>
              <a:t>.</a:t>
            </a:r>
            <a:endParaRPr lang="en-US" altLang="zh-CN" sz="3200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要尽可能量入为出。</a:t>
            </a:r>
            <a:endParaRPr lang="zh-CN" altLang="en-US"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0743" y="983545"/>
            <a:ext cx="10983686" cy="4768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翻译句子。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除了养羊，这位老人没有其它的赚钱途径。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4640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__________________________________________________</a:t>
            </a:r>
            <a:endParaRPr lang="en-US" altLang="zh-CN" sz="3200" b="1" dirty="0" smtClean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4640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__________________________________________________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这绝不是你第一次迟到。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4640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__________________________________________________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那台机器被起重机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(crane)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吊到了卡车上。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4640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__________________________________________________</a:t>
            </a:r>
            <a:endParaRPr lang="zh-CN" altLang="en-US" sz="3200" b="1" i="0" u="none" strike="noStrike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1009" y="2172486"/>
            <a:ext cx="10330543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old man has no other means of making money except raising sheep.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1009" y="3845867"/>
            <a:ext cx="10224274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This is by no means the first time that you have been late.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89774" y="5057183"/>
            <a:ext cx="10406744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machine was lifted onto the truck by means of a crane.</a:t>
            </a:r>
            <a:endParaRPr lang="en-US" altLang="zh-CN" sz="3200" b="1" i="0" u="none" strike="noStrike" dirty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07607" y="477820"/>
            <a:ext cx="11518788" cy="59907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358775" fontAlgn="auto">
              <a:lnSpc>
                <a:spcPct val="110000"/>
              </a:lnSpc>
              <a:spcAft>
                <a:spcPts val="600"/>
              </a:spcAft>
            </a:pPr>
            <a:r>
              <a:rPr lang="en-US" altLang="zh-CN" sz="3200" b="1" dirty="0">
                <a:solidFill>
                  <a:srgbClr val="FF0000"/>
                </a:solidFill>
                <a:effectLst/>
              </a:rPr>
              <a:t>restore a blind person’s vision/ ~ one’s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sight/hearing</a:t>
            </a:r>
            <a:endParaRPr lang="en-US" altLang="zh-CN" sz="3200" b="1" dirty="0">
              <a:solidFill>
                <a:srgbClr val="FF0000"/>
              </a:solidFill>
              <a:effectLst/>
            </a:endParaRPr>
          </a:p>
          <a:p>
            <a:pPr indent="-2330450" fontAlgn="auto">
              <a:lnSpc>
                <a:spcPct val="110000"/>
              </a:lnSpc>
              <a:spcAft>
                <a:spcPts val="600"/>
              </a:spcAft>
            </a:pPr>
            <a:r>
              <a:rPr lang="en-US" altLang="zh-CN" sz="3200" b="1" dirty="0" smtClean="0">
                <a:solidFill>
                  <a:srgbClr val="FF0000"/>
                </a:solidFill>
              </a:rPr>
              <a:t>restore </a:t>
            </a:r>
            <a:r>
              <a:rPr lang="en-US" altLang="zh-CN" sz="3200" b="1" i="1" dirty="0" err="1" smtClean="0">
                <a:solidFill>
                  <a:srgbClr val="FF0000"/>
                </a:solidFill>
              </a:rPr>
              <a:t>vt.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542925" fontAlgn="auto">
              <a:lnSpc>
                <a:spcPct val="110000"/>
              </a:lnSpc>
              <a:spcAft>
                <a:spcPts val="600"/>
              </a:spcAft>
            </a:pPr>
            <a:r>
              <a:rPr lang="zh-CN" altLang="zh-CN" sz="3200" b="1" kern="100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① </a:t>
            </a:r>
            <a:r>
              <a:rPr lang="en-US" altLang="zh-CN" sz="3200" b="1" i="1" dirty="0" smtClean="0"/>
              <a:t>to bring back a situation or feeling that existed before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恢复（某种情况或感受） 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542925" fontAlgn="auto">
              <a:lnSpc>
                <a:spcPct val="110000"/>
              </a:lnSpc>
              <a:spcAft>
                <a:spcPts val="600"/>
              </a:spcAft>
            </a:pPr>
            <a:r>
              <a:rPr lang="en-US" altLang="zh-CN" sz="3200" b="1" dirty="0" smtClean="0"/>
              <a:t>The </a:t>
            </a:r>
            <a:r>
              <a:rPr lang="en-US" altLang="zh-CN" sz="3200" b="1" dirty="0"/>
              <a:t>government </a:t>
            </a:r>
            <a:r>
              <a:rPr lang="en-US" altLang="zh-CN" sz="3200" b="1" u="sng" dirty="0">
                <a:solidFill>
                  <a:srgbClr val="FF0000"/>
                </a:solidFill>
              </a:rPr>
              <a:t>restored</a:t>
            </a:r>
            <a:r>
              <a:rPr lang="en-US" altLang="zh-CN" sz="3200" b="1" u="sng" dirty="0"/>
              <a:t> </a:t>
            </a:r>
            <a:r>
              <a:rPr lang="en-US" altLang="zh-CN" sz="3200" b="1" u="sng" dirty="0">
                <a:solidFill>
                  <a:srgbClr val="FF0000"/>
                </a:solidFill>
              </a:rPr>
              <a:t>confidence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in the housing market.</a:t>
            </a:r>
            <a:br>
              <a:rPr lang="en-US" altLang="zh-CN" sz="3200" b="1" dirty="0"/>
            </a:br>
            <a:r>
              <a:rPr lang="zh-CN" altLang="en-US" sz="3200" b="1" dirty="0"/>
              <a:t>政府恢复了人们对住房市场的信心</a:t>
            </a:r>
            <a:r>
              <a:rPr lang="zh-CN" altLang="en-US" sz="3200" b="1" dirty="0" smtClean="0"/>
              <a:t>。</a:t>
            </a:r>
            <a:endParaRPr lang="zh-CN" altLang="en-US" sz="3200" b="1" dirty="0" smtClean="0"/>
          </a:p>
          <a:p>
            <a:pPr indent="-542925" fontAlgn="auto">
              <a:lnSpc>
                <a:spcPct val="110000"/>
              </a:lnSpc>
              <a:spcAft>
                <a:spcPts val="600"/>
              </a:spcAft>
            </a:pPr>
            <a:r>
              <a:rPr lang="zh-CN" altLang="en-US" sz="3200" b="1" dirty="0" smtClean="0"/>
              <a:t>As they smiled at each other, harmony was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restored</a:t>
            </a:r>
            <a:r>
              <a:rPr lang="zh-CN" altLang="en-US" sz="3200" b="1" dirty="0" smtClean="0"/>
              <a:t> again.</a:t>
            </a:r>
            <a:endParaRPr lang="en-US" altLang="zh-CN" sz="3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47668" y="249277"/>
            <a:ext cx="11410123" cy="635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3400" indent="-533400">
              <a:lnSpc>
                <a:spcPct val="120000"/>
              </a:lnSpc>
              <a:spcAft>
                <a:spcPts val="600"/>
              </a:spcAft>
            </a:pPr>
            <a:r>
              <a:rPr lang="zh-CN" altLang="zh-CN" sz="3200" b="1" kern="1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② </a:t>
            </a:r>
            <a:r>
              <a:rPr lang="en-US" altLang="zh-CN" sz="3200" b="1" i="1" dirty="0"/>
              <a:t>to repair a building, work of art, piece of furniture, etc. so that it looks as good as it did originally </a:t>
            </a:r>
            <a:r>
              <a:rPr lang="zh-CN" altLang="en-US" sz="3200" b="1" dirty="0">
                <a:solidFill>
                  <a:srgbClr val="FF0000"/>
                </a:solidFill>
              </a:rPr>
              <a:t>修复；整修；使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复原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marL="533400" indent="-533400">
              <a:lnSpc>
                <a:spcPct val="120000"/>
              </a:lnSpc>
              <a:spcAft>
                <a:spcPts val="600"/>
              </a:spcAft>
            </a:pPr>
            <a:r>
              <a:rPr lang="en-US" altLang="zh-CN" sz="3200" b="1" dirty="0"/>
              <a:t>Her job is </a:t>
            </a:r>
            <a:r>
              <a:rPr lang="en-US" altLang="zh-CN" sz="3200" b="1" dirty="0">
                <a:solidFill>
                  <a:srgbClr val="FF0000"/>
                </a:solidFill>
              </a:rPr>
              <a:t>restoring</a:t>
            </a:r>
            <a:r>
              <a:rPr lang="en-US" altLang="zh-CN" sz="3200" b="1" dirty="0"/>
              <a:t> old paintings</a:t>
            </a:r>
            <a:r>
              <a:rPr lang="en-US" altLang="zh-CN" sz="3200" b="1" dirty="0" smtClean="0"/>
              <a:t>. </a:t>
            </a:r>
            <a:r>
              <a:rPr lang="zh-CN" altLang="en-US" sz="3200" b="1" dirty="0" smtClean="0"/>
              <a:t>她</a:t>
            </a:r>
            <a:r>
              <a:rPr lang="zh-CN" altLang="en-US" sz="3200" b="1" dirty="0"/>
              <a:t>的工作是修复旧画。 </a:t>
            </a:r>
            <a:endParaRPr lang="zh-CN" altLang="en-US" sz="3200" b="1" dirty="0"/>
          </a:p>
          <a:p>
            <a:pPr marL="533400" indent="-533400">
              <a:lnSpc>
                <a:spcPct val="120000"/>
              </a:lnSpc>
              <a:spcAft>
                <a:spcPts val="600"/>
              </a:spcAft>
            </a:pPr>
            <a:r>
              <a:rPr lang="zh-CN" altLang="en-US" sz="3200" b="1" dirty="0">
                <a:solidFill>
                  <a:schemeClr val="tx1"/>
                </a:solidFill>
              </a:rPr>
              <a:t>恢复古老的传统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marL="533400" indent="-533400">
              <a:lnSpc>
                <a:spcPct val="120000"/>
              </a:lnSpc>
              <a:spcAft>
                <a:spcPts val="600"/>
              </a:spcAft>
            </a:pPr>
            <a:r>
              <a:rPr lang="zh-CN" altLang="zh-CN" sz="3200" b="1" kern="100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③</a:t>
            </a:r>
            <a:r>
              <a:rPr lang="en-US" altLang="zh-CN" sz="3200" b="1" kern="100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/>
              <a:t>to bring somebody/something back to a former condition, place or </a:t>
            </a:r>
            <a:r>
              <a:rPr lang="en-US" altLang="zh-CN" sz="3200" b="1" i="1" dirty="0" smtClean="0"/>
              <a:t>position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使</a:t>
            </a:r>
            <a:r>
              <a:rPr lang="zh-CN" altLang="en-US" sz="3200" b="1" dirty="0">
                <a:solidFill>
                  <a:srgbClr val="FF0000"/>
                </a:solidFill>
              </a:rPr>
              <a:t>复原；使复位；使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复职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542925" fontAlgn="auto">
              <a:lnSpc>
                <a:spcPct val="110000"/>
              </a:lnSpc>
              <a:spcAft>
                <a:spcPts val="600"/>
              </a:spcAft>
            </a:pPr>
            <a:r>
              <a:rPr lang="zh-CN" altLang="en-US" sz="3200" b="1" dirty="0" smtClean="0">
                <a:sym typeface="+mn-ea"/>
              </a:rPr>
              <a:t>We hope to </a:t>
            </a:r>
            <a:r>
              <a:rPr lang="zh-CN" altLang="en-US" sz="3200" b="1" u="sng" dirty="0" smtClean="0">
                <a:solidFill>
                  <a:srgbClr val="FF0000"/>
                </a:solidFill>
                <a:sym typeface="+mn-ea"/>
              </a:rPr>
              <a:t>restore </a:t>
            </a:r>
            <a:r>
              <a:rPr lang="zh-CN" altLang="en-US" sz="3200" b="1" u="sng" dirty="0" smtClean="0">
                <a:sym typeface="+mn-ea"/>
              </a:rPr>
              <a:t>the garden </a:t>
            </a:r>
            <a:r>
              <a:rPr lang="zh-CN" altLang="en-US" sz="3200" b="1" u="sng" dirty="0" smtClean="0">
                <a:solidFill>
                  <a:srgbClr val="FF0000"/>
                </a:solidFill>
                <a:sym typeface="+mn-ea"/>
              </a:rPr>
              <a:t>to its former glory</a:t>
            </a:r>
            <a:r>
              <a:rPr lang="en-US" altLang="zh-CN" sz="3200" b="1" dirty="0" smtClean="0">
                <a:sym typeface="+mn-ea"/>
              </a:rPr>
              <a:t>.</a:t>
            </a:r>
            <a:endParaRPr lang="zh-CN" altLang="en-US" sz="3200" b="1" dirty="0" smtClean="0"/>
          </a:p>
          <a:p>
            <a:pPr indent="-542925" fontAlgn="auto">
              <a:lnSpc>
                <a:spcPct val="110000"/>
              </a:lnSpc>
              <a:spcAft>
                <a:spcPts val="600"/>
              </a:spcAft>
            </a:pPr>
            <a:r>
              <a:rPr lang="zh-CN" altLang="en-US" sz="3200" b="1" dirty="0" smtClean="0">
                <a:sym typeface="+mn-ea"/>
              </a:rPr>
              <a:t>我们想把这花园变得和过去一样美丽。</a:t>
            </a:r>
            <a:endParaRPr lang="zh-CN" altLang="en-US" sz="3200" b="1" dirty="0" smtClean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is</a:t>
            </a:r>
            <a:r>
              <a:rPr lang="en-US" altLang="zh-CN" sz="3200" b="1" dirty="0">
                <a:sym typeface="+mn-ea"/>
              </a:rPr>
              <a:t> now fully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restored</a:t>
            </a:r>
            <a:r>
              <a:rPr lang="en-US" altLang="zh-CN" sz="3200" b="1" u="sng" dirty="0"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to health</a:t>
            </a:r>
            <a:r>
              <a:rPr lang="en-US" altLang="zh-CN" sz="3200" b="1" dirty="0" smtClean="0">
                <a:sym typeface="+mn-ea"/>
              </a:rPr>
              <a:t>.</a:t>
            </a:r>
            <a:endParaRPr lang="en-US" altLang="zh-CN" sz="3200" b="1" dirty="0" smtClean="0"/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他</a:t>
            </a:r>
            <a:r>
              <a:rPr lang="zh-CN" altLang="en-US" sz="3200" b="1" dirty="0">
                <a:sym typeface="+mn-ea"/>
              </a:rPr>
              <a:t>现在完全恢复了健康。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515360" y="217424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restore ancient traditions </a:t>
            </a:r>
            <a:endParaRPr lang="en-US" altLang="zh-CN" sz="3200" b="1" dirty="0" smtClean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90631" y="426860"/>
            <a:ext cx="11166763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I specialized in the </a:t>
            </a:r>
            <a:r>
              <a:rPr lang="zh-CN" altLang="en-US" sz="3200" b="1" dirty="0">
                <a:solidFill>
                  <a:srgbClr val="FF0000"/>
                </a:solidFill>
              </a:rPr>
              <a:t>restoration </a:t>
            </a:r>
            <a:r>
              <a:rPr lang="zh-CN" altLang="en-US" sz="3200" b="1" dirty="0"/>
              <a:t>of old houses.</a:t>
            </a:r>
            <a:endParaRPr lang="zh-CN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我专门从事旧房翻修。</a:t>
            </a:r>
            <a:endParaRPr lang="zh-CN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restoration work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修复工作</a:t>
            </a:r>
            <a:endParaRPr lang="zh-CN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the </a:t>
            </a:r>
            <a:r>
              <a:rPr lang="en-US" altLang="zh-CN" sz="3200" b="1" dirty="0">
                <a:solidFill>
                  <a:srgbClr val="FF0000"/>
                </a:solidFill>
              </a:rPr>
              <a:t>restorative </a:t>
            </a:r>
            <a:r>
              <a:rPr lang="en-US" altLang="zh-CN" sz="3200" b="1" dirty="0"/>
              <a:t>power of music </a:t>
            </a:r>
            <a:r>
              <a:rPr lang="zh-CN" altLang="en-US" sz="3200" b="1" dirty="0"/>
              <a:t>音乐的</a:t>
            </a:r>
            <a:r>
              <a:rPr lang="zh-CN" altLang="en-US" sz="3200" b="1" dirty="0"/>
              <a:t>康复功效</a:t>
            </a:r>
            <a:endParaRPr lang="zh-CN" altLang="en-US" sz="32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590416" y="3643082"/>
            <a:ext cx="11147729" cy="30441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</a:rPr>
              <a:t>】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翻译句子</a:t>
            </a:r>
            <a:r>
              <a:rPr lang="zh-CN" altLang="en-US" sz="3200" b="1" dirty="0" smtClean="0"/>
              <a:t>。</a:t>
            </a:r>
            <a:endParaRPr lang="en-US" altLang="zh-CN" sz="3200" b="1" dirty="0" smtClean="0"/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 smtClean="0"/>
              <a:t>1) She </a:t>
            </a:r>
            <a:r>
              <a:rPr lang="en-US" altLang="zh-CN" sz="3200" b="1" dirty="0"/>
              <a:t>now </a:t>
            </a:r>
            <a:r>
              <a:rPr lang="en-US" altLang="zh-CN" sz="3200" b="1" dirty="0" smtClean="0"/>
              <a:t>_________________________ (</a:t>
            </a:r>
            <a:r>
              <a:rPr lang="zh-CN" altLang="en-US" sz="3200" b="1" dirty="0"/>
              <a:t>恢复健康</a:t>
            </a:r>
            <a:r>
              <a:rPr lang="en-US" altLang="zh-CN" sz="3200" b="1" dirty="0" smtClean="0"/>
              <a:t>) and </a:t>
            </a:r>
            <a:r>
              <a:rPr lang="en-US" altLang="zh-CN" sz="3200" b="1" dirty="0"/>
              <a:t>ready to go back to work</a:t>
            </a:r>
            <a:r>
              <a:rPr lang="en-US" altLang="zh-CN" sz="3200" b="1" dirty="0" smtClean="0"/>
              <a:t>.</a:t>
            </a:r>
            <a:endParaRPr lang="en-US" altLang="zh-CN" sz="3200" b="1" dirty="0" smtClean="0"/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 smtClean="0"/>
              <a:t>2) We </a:t>
            </a:r>
            <a:r>
              <a:rPr lang="en-US" altLang="zh-CN" sz="3200" b="1" dirty="0"/>
              <a:t>need to </a:t>
            </a:r>
            <a:r>
              <a:rPr lang="en-US" altLang="zh-CN" sz="3200" b="1" dirty="0" smtClean="0"/>
              <a:t>___________________________________(</a:t>
            </a:r>
            <a:r>
              <a:rPr lang="zh-CN" altLang="en-US" sz="3200" b="1" dirty="0"/>
              <a:t>恢复公众对该行业的信心</a:t>
            </a:r>
            <a:r>
              <a:rPr lang="en-US" altLang="zh-CN" sz="3200" b="1" dirty="0" smtClean="0"/>
              <a:t>).</a:t>
            </a:r>
            <a:endParaRPr lang="en-US" altLang="zh-CN" sz="3200" b="1" dirty="0" smtClean="0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3227418" y="4248199"/>
            <a:ext cx="4110355" cy="5835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</a:rPr>
              <a:t>was restored to health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3042109" y="5456109"/>
            <a:ext cx="7247049" cy="58477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</a:rPr>
              <a:t>restore public confidence in the industry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/>
      <p:bldP spid="9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75057" y="959646"/>
            <a:ext cx="11536557" cy="27995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358775" fontAlgn="auto">
              <a:lnSpc>
                <a:spcPct val="11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</a:rPr>
              <a:t>Ultimately</a:t>
            </a:r>
            <a:r>
              <a:rPr lang="en-US" altLang="zh-CN" sz="3200" b="1" dirty="0" smtClean="0">
                <a:effectLst/>
              </a:rPr>
              <a:t>, this new technology might even </a:t>
            </a:r>
            <a:r>
              <a:rPr lang="en-US" altLang="zh-CN" sz="3200" b="1" dirty="0" smtClean="0">
                <a:solidFill>
                  <a:srgbClr val="0000FF"/>
                </a:solidFill>
                <a:effectLst/>
              </a:rPr>
              <a:t>make it possible to prevent</a:t>
            </a:r>
            <a:r>
              <a:rPr lang="en-US" altLang="zh-CN" sz="3200" b="1" dirty="0" smtClean="0">
                <a:solidFill>
                  <a:srgbClr val="0070C0"/>
                </a:solidFill>
                <a:effectLst/>
              </a:rPr>
              <a:t> </a:t>
            </a:r>
            <a:r>
              <a:rPr lang="en-US" altLang="zh-CN" sz="3200" b="1" dirty="0" smtClean="0">
                <a:effectLst/>
              </a:rPr>
              <a:t>diseases from ever developing by correcting abnormal genes 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</a:rPr>
              <a:t>early on</a:t>
            </a:r>
            <a:r>
              <a:rPr lang="en-US" altLang="zh-CN" sz="3200" b="1" dirty="0" smtClean="0">
                <a:effectLst/>
              </a:rPr>
              <a:t>. </a:t>
            </a:r>
            <a:endParaRPr lang="en-US" altLang="zh-CN" sz="3200" b="1" dirty="0">
              <a:effectLst/>
            </a:endParaRPr>
          </a:p>
          <a:p>
            <a:pPr fontAlgn="auto">
              <a:lnSpc>
                <a:spcPct val="110000"/>
              </a:lnSpc>
            </a:pPr>
            <a:endParaRPr lang="en-US" altLang="zh-CN" sz="3200" b="1" dirty="0" smtClean="0"/>
          </a:p>
        </p:txBody>
      </p:sp>
      <p:sp>
        <p:nvSpPr>
          <p:cNvPr id="2" name="文本框 1"/>
          <p:cNvSpPr txBox="1"/>
          <p:nvPr/>
        </p:nvSpPr>
        <p:spPr>
          <a:xfrm>
            <a:off x="5339645" y="282221"/>
            <a:ext cx="6479822" cy="6267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make + it +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宾语补足语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真正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宾语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59180" y="2992989"/>
            <a:ext cx="11528228" cy="28007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“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vt.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 + it +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宾语补主语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+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真正的宾语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”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结构中：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sym typeface="Arial" panose="020B0604020202090204" pitchFamily="34" charset="0"/>
            </a:endParaRPr>
          </a:p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常见的动词是：</a:t>
            </a:r>
            <a:r>
              <a:rPr lang="en-US" altLang="zh-CN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think, believe, make, find, consider, feel</a:t>
            </a:r>
            <a:endParaRPr lang="en-US" altLang="zh-CN" sz="3200" b="1" dirty="0">
              <a:latin typeface="Times New Roman" panose="02020503050405090304" pitchFamily="18" charset="0"/>
              <a:sym typeface="Arial" panose="020B0604020202090204" pitchFamily="34" charset="0"/>
            </a:endParaRPr>
          </a:p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it</a:t>
            </a: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作形式宾语</a:t>
            </a:r>
            <a:endParaRPr lang="en-US" altLang="zh-CN" sz="3200" b="1" dirty="0">
              <a:latin typeface="Times New Roman" panose="02020503050405090304" pitchFamily="18" charset="0"/>
              <a:sym typeface="Arial" panose="020B0604020202090204" pitchFamily="34" charset="0"/>
            </a:endParaRPr>
          </a:p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宾语补足语可以是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形容词或名词</a:t>
            </a:r>
            <a:endParaRPr lang="en-US" altLang="zh-CN" sz="3200" b="1" dirty="0">
              <a:latin typeface="Times New Roman" panose="02020503050405090304" pitchFamily="18" charset="0"/>
              <a:sym typeface="Arial" panose="020B0604020202090204" pitchFamily="34" charset="0"/>
            </a:endParaRPr>
          </a:p>
          <a:p>
            <a:pPr marL="457200" indent="-4572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真正的宾语常见的形式是：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动词不定式、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动词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-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ing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形式和从句</a:t>
            </a:r>
            <a:endParaRPr lang="zh-CN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sym typeface="Arial" panose="020B060402020209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1365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I find ____________ </a:t>
            </a:r>
            <a:r>
              <a:rPr lang="en-US" altLang="zh-CN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easy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enough to get on with Pam.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Robert ____________ (think) it </a:t>
            </a:r>
            <a:r>
              <a:rPr lang="en-US" altLang="zh-CN" sz="3200" b="1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pity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that he missed the party.</a:t>
            </a:r>
            <a:endParaRPr lang="en-US" altLang="zh-CN" sz="3200" b="1" dirty="0" smtClean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New technologies have made it possible ____________ (turn) out new products faster and at a lower cost. 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新技术使以更快的速度和更低的成本生产新产品成为可能。</a:t>
            </a:r>
            <a:endParaRPr lang="en-US" altLang="zh-CN" sz="3200" b="1" i="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4) I think it no need </a:t>
            </a:r>
            <a:r>
              <a:rPr lang="en-US" altLang="zh-CN" sz="3200" b="1" i="0" u="sng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arguing</a:t>
            </a: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with them.</a:t>
            </a:r>
            <a:endParaRPr lang="en-US" altLang="zh-CN" sz="3200" b="1" i="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5) You may </a:t>
            </a:r>
            <a:r>
              <a:rPr lang="en-US" altLang="zh-CN" sz="3200" b="1" i="0" u="sng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depend on it </a:t>
            </a:r>
            <a:r>
              <a:rPr lang="en-US" altLang="zh-CN" sz="3200" b="1" i="0" u="sng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en-US" altLang="zh-CN" sz="3200" b="1" i="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 will always help you.</a:t>
            </a:r>
            <a:endParaRPr lang="en-US" altLang="zh-CN" sz="3200" b="1" i="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6) Please </a:t>
            </a:r>
            <a:r>
              <a:rPr lang="en-US" altLang="zh-CN" sz="3200" b="1" i="0" u="sng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see to it </a:t>
            </a:r>
            <a:r>
              <a:rPr lang="en-US" altLang="zh-CN" sz="3200" b="1" i="0" u="sng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en-US" altLang="zh-CN" sz="3200" b="1" i="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the our actions lead to our best intentions.</a:t>
            </a:r>
            <a:endParaRPr lang="en-US" altLang="zh-CN" sz="3200" b="1" i="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7) </a:t>
            </a:r>
            <a:r>
              <a:rPr lang="zh-CN" altLang="en-US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如果你能帮助我，我</a:t>
            </a:r>
            <a:r>
              <a:rPr lang="zh-CN" altLang="en-US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将不胜感激。</a:t>
            </a:r>
            <a:endParaRPr lang="zh-CN" altLang="en-US" sz="3200" b="1" i="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 would appreciate </a:t>
            </a:r>
            <a:r>
              <a:rPr lang="en-US" altLang="zh-CN" sz="3200" b="1" i="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it</a:t>
            </a: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if you could help me.</a:t>
            </a:r>
            <a:endParaRPr lang="en-US" altLang="zh-CN" sz="3200" b="1" i="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 hate </a:t>
            </a:r>
            <a:r>
              <a:rPr lang="en-US" altLang="zh-CN" sz="3200" b="1" i="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it</a:t>
            </a:r>
            <a:r>
              <a:rPr lang="en-US" altLang="zh-CN" sz="3200" b="1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when you told the jokes.</a:t>
            </a:r>
            <a:endParaRPr lang="en-US" altLang="zh-CN" sz="3200" b="1" i="0" dirty="0">
              <a:solidFill>
                <a:srgbClr val="00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74595" y="0"/>
            <a:ext cx="5842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37105" y="604520"/>
            <a:ext cx="168656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thought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16215" y="1188085"/>
            <a:ext cx="152527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turn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35" y="0"/>
            <a:ext cx="12190095" cy="460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ultimately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</a:rPr>
              <a:t>adv.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endParaRPr lang="en-US" altLang="zh-CN" sz="3200" b="1" dirty="0"/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 smtClean="0"/>
              <a:t>① </a:t>
            </a:r>
            <a:r>
              <a:rPr lang="en-US" altLang="zh-CN" sz="3200" b="1" i="1" dirty="0"/>
              <a:t>in the end; finally </a:t>
            </a:r>
            <a:r>
              <a:rPr lang="zh-CN" altLang="en-US" sz="3200" b="1" dirty="0">
                <a:solidFill>
                  <a:srgbClr val="FF0000"/>
                </a:solidFill>
              </a:rPr>
              <a:t>最终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</a:rPr>
              <a:t>最终</a:t>
            </a:r>
            <a:r>
              <a:rPr lang="en-US" altLang="zh-CN" sz="3200" b="1" dirty="0">
                <a:solidFill>
                  <a:schemeClr val="tx1"/>
                </a:solidFill>
              </a:rPr>
              <a:t>，Nita 简单而有影响力的想法</a:t>
            </a:r>
            <a:r>
              <a:rPr lang="zh-CN" altLang="en-US" sz="3200" b="1" dirty="0">
                <a:solidFill>
                  <a:schemeClr val="tx1"/>
                </a:solidFill>
              </a:rPr>
              <a:t>给村庄</a:t>
            </a:r>
            <a:r>
              <a:rPr lang="zh-CN" altLang="en-US" sz="3200" b="1" u="sng" dirty="0">
                <a:solidFill>
                  <a:schemeClr val="tx1"/>
                </a:solidFill>
              </a:rPr>
              <a:t>带来了根本性的改变</a:t>
            </a:r>
            <a:r>
              <a:rPr lang="en-US" altLang="zh-CN" sz="3200" b="1" dirty="0">
                <a:solidFill>
                  <a:schemeClr val="tx1"/>
                </a:solidFill>
              </a:rPr>
              <a:t>。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indent="-3556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Ultimately</a:t>
            </a:r>
            <a:r>
              <a:rPr lang="en-US" altLang="zh-CN" sz="3200" b="1" dirty="0"/>
              <a:t>, Nita’s simple yet influential idea </a:t>
            </a:r>
            <a:r>
              <a:rPr lang="en-US" altLang="zh-CN" sz="3200" b="1" dirty="0">
                <a:solidFill>
                  <a:srgbClr val="FF0000"/>
                </a:solidFill>
              </a:rPr>
              <a:t>led to a fundamental change in</a:t>
            </a:r>
            <a:r>
              <a:rPr lang="en-US" altLang="zh-CN" sz="3200" b="1" dirty="0"/>
              <a:t> the village.</a:t>
            </a:r>
            <a:endParaRPr lang="en-US" altLang="zh-CN" sz="3200" b="1" dirty="0"/>
          </a:p>
          <a:p>
            <a:pPr indent="-355600" fontAlgn="auto">
              <a:lnSpc>
                <a:spcPct val="120000"/>
              </a:lnSpc>
            </a:pPr>
            <a:r>
              <a:rPr lang="en-US" altLang="zh-CN" sz="3200" b="1" dirty="0" smtClean="0"/>
              <a:t>② </a:t>
            </a:r>
            <a:r>
              <a:rPr lang="en-US" altLang="zh-CN" sz="3200" b="1" i="1" dirty="0"/>
              <a:t>at the most basic and important level 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根本上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 smtClean="0"/>
              <a:t>All life on Earth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ultimately</a:t>
            </a:r>
            <a:r>
              <a:rPr lang="en-US" altLang="zh-CN" sz="3200" b="1" dirty="0" smtClean="0"/>
              <a:t> depends on oxygen.</a:t>
            </a:r>
            <a:endParaRPr lang="en-US" altLang="zh-CN" sz="3200" b="1" dirty="0" smtClean="0"/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ultimate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最终的；最……的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ultimate goal/decision</a:t>
            </a:r>
            <a:r>
              <a:rPr lang="en-US" altLang="zh-CN" sz="3200" b="1" dirty="0" smtClean="0"/>
              <a:t> </a:t>
            </a:r>
            <a:r>
              <a:rPr lang="zh-CN" altLang="en-US" sz="3200" b="1" dirty="0" smtClean="0"/>
              <a:t>最终目标</a:t>
            </a:r>
            <a:r>
              <a:rPr lang="en-US" altLang="zh-CN" sz="3200" b="1" dirty="0" smtClean="0"/>
              <a:t>/</a:t>
            </a:r>
            <a:r>
              <a:rPr lang="zh-CN" altLang="en-US" sz="3200" b="1" dirty="0" smtClean="0"/>
              <a:t>决定</a:t>
            </a:r>
            <a:endParaRPr lang="en-US" altLang="zh-CN" sz="3200" b="1" dirty="0" smtClean="0"/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the ultimate test of your skill</a:t>
            </a:r>
            <a:r>
              <a:rPr lang="en-US" altLang="zh-CN" sz="3200" b="1" dirty="0" smtClean="0"/>
              <a:t> </a:t>
            </a:r>
            <a:r>
              <a:rPr lang="zh-CN" altLang="en-US" sz="3200" b="1" dirty="0" smtClean="0"/>
              <a:t>对你的技能的</a:t>
            </a:r>
            <a:r>
              <a:rPr lang="zh-CN" altLang="en-US" sz="3200" b="1" dirty="0" smtClean="0"/>
              <a:t>最大考验</a:t>
            </a:r>
            <a:endParaRPr lang="zh-CN" altLang="en-US" sz="3200" b="1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1270" y="5847715"/>
            <a:ext cx="12190730" cy="20123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20000"/>
              </a:lnSpc>
            </a:pPr>
            <a:endParaRPr lang="en-US" altLang="zh-CN" sz="3200" b="1" dirty="0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192000" cy="64935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358775" fontAlgn="auto">
              <a:lnSpc>
                <a:spcPts val="414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</a:rPr>
              <a:t>serve as a new weapon in the fight against diseases</a:t>
            </a:r>
            <a:endParaRPr lang="en-US" altLang="zh-CN" sz="3200" b="1" dirty="0">
              <a:solidFill>
                <a:srgbClr val="FF0000"/>
              </a:solidFill>
              <a:effectLst/>
            </a:endParaRPr>
          </a:p>
          <a:p>
            <a:pPr indent="-358775" fontAlgn="auto">
              <a:lnSpc>
                <a:spcPts val="4140"/>
              </a:lnSpc>
            </a:pPr>
            <a:r>
              <a:rPr lang="en-US" altLang="zh-CN" sz="3200" b="1" i="1" dirty="0">
                <a:solidFill>
                  <a:schemeClr val="tx1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</a:rPr>
              <a:t>1) to have a particular effect or result </a:t>
            </a:r>
            <a:r>
              <a:rPr lang="en-US" altLang="zh-CN" sz="3200" b="1" dirty="0">
                <a:solidFill>
                  <a:srgbClr val="FF0000"/>
                </a:solidFill>
                <a:effectLst/>
              </a:rPr>
              <a:t>产生…的效果（或结果）</a:t>
            </a:r>
            <a:endParaRPr lang="en-US" altLang="zh-CN" sz="3200" b="1" dirty="0">
              <a:solidFill>
                <a:srgbClr val="FF0000"/>
              </a:solidFill>
              <a:effectLst/>
            </a:endParaRPr>
          </a:p>
          <a:p>
            <a:pPr indent="-358775" fontAlgn="auto">
              <a:lnSpc>
                <a:spcPts val="4140"/>
              </a:lnSpc>
            </a:pPr>
            <a:r>
              <a:rPr lang="en-US" altLang="zh-CN" sz="3200" b="1" dirty="0">
                <a:solidFill>
                  <a:schemeClr val="tx1"/>
                </a:solidFill>
                <a:effectLst/>
              </a:rPr>
              <a:t>她的创造力开始激励其他人，鼓励他们重新考虑对塑料的依赖。</a:t>
            </a:r>
            <a:endParaRPr lang="en-US" altLang="zh-CN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ts val="4140"/>
              </a:lnSpc>
            </a:pPr>
            <a:r>
              <a:rPr lang="en-US" altLang="zh-CN" sz="3200" b="1" dirty="0">
                <a:solidFill>
                  <a:schemeClr val="tx1"/>
                </a:solidFill>
                <a:effectLst/>
              </a:rPr>
              <a:t>Her creativity began to </a:t>
            </a:r>
            <a:r>
              <a:rPr lang="en-US" altLang="zh-CN" sz="3200" b="1" u="sng" dirty="0">
                <a:solidFill>
                  <a:srgbClr val="FF0000"/>
                </a:solidFill>
                <a:effectLst/>
              </a:rPr>
              <a:t>serve as an inspiration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 for others, encouraging them to rethink their reliance on plastic.</a:t>
            </a:r>
            <a:endParaRPr lang="en-US" altLang="zh-CN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ts val="4140"/>
              </a:lnSpc>
            </a:pPr>
            <a:r>
              <a:rPr lang="en-US" altLang="zh-CN" sz="3200" b="1" dirty="0">
                <a:solidFill>
                  <a:schemeClr val="tx1"/>
                </a:solidFill>
                <a:effectLst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effectLst/>
              </a:rPr>
              <a:t>对……有用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</a:rPr>
              <a:t>be useful</a:t>
            </a:r>
            <a:endParaRPr lang="en-US" altLang="zh-CN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ts val="4140"/>
              </a:lnSpc>
            </a:pPr>
            <a:r>
              <a:rPr lang="en-US" altLang="zh-CN" sz="3200" b="1" dirty="0">
                <a:solidFill>
                  <a:schemeClr val="tx1"/>
                </a:solidFill>
                <a:effectLst/>
              </a:rPr>
              <a:t>The attack was unsuccessful and ______ (serve) only</a:t>
            </a:r>
            <a:r>
              <a:rPr lang="en-US" altLang="zh-CN" sz="3200" b="1" u="sng" dirty="0">
                <a:solidFill>
                  <a:srgbClr val="FF0000"/>
                </a:solidFill>
                <a:effectLst/>
              </a:rPr>
              <a:t> to alert 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the enemy.</a:t>
            </a:r>
            <a:endParaRPr lang="en-US" altLang="zh-CN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ts val="4140"/>
              </a:lnSpc>
            </a:pPr>
            <a:r>
              <a:rPr lang="en-US" altLang="zh-CN" sz="3200" b="1" dirty="0">
                <a:solidFill>
                  <a:schemeClr val="tx1"/>
                </a:solidFill>
                <a:effectLst/>
              </a:rPr>
              <a:t>These experiments </a:t>
            </a:r>
            <a:r>
              <a:rPr lang="en-US" altLang="zh-CN" sz="3200" b="1" dirty="0">
                <a:solidFill>
                  <a:srgbClr val="FF0000"/>
                </a:solidFill>
                <a:effectLst/>
              </a:rPr>
              <a:t>serve no (useful/practical) purpose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.</a:t>
            </a:r>
            <a:endParaRPr lang="en-US" altLang="zh-CN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ts val="414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</a:rPr>
              <a:t>派上用场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 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ts val="4140"/>
              </a:lnSpc>
            </a:pPr>
            <a:r>
              <a:rPr lang="en-US" altLang="zh-CN" sz="3200" b="1" dirty="0">
                <a:solidFill>
                  <a:schemeClr val="tx1"/>
                </a:solidFill>
                <a:effectLst/>
              </a:rPr>
              <a:t>This old fountain pen has </a:t>
            </a:r>
            <a:r>
              <a:rPr lang="en-US" altLang="zh-CN" sz="3200" b="1" dirty="0">
                <a:solidFill>
                  <a:srgbClr val="FF0000"/>
                </a:solidFill>
                <a:effectLst/>
              </a:rPr>
              <a:t>served 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me well over the years.</a:t>
            </a:r>
            <a:endParaRPr lang="en-US" altLang="zh-CN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ts val="4140"/>
              </a:lnSpc>
            </a:pPr>
            <a:r>
              <a:rPr lang="en-US" altLang="zh-CN" sz="3200" b="1" dirty="0">
                <a:solidFill>
                  <a:schemeClr val="tx1"/>
                </a:solidFill>
                <a:effectLst/>
              </a:rPr>
              <a:t>Focusing on the productive ways that leisure activities can </a:t>
            </a:r>
            <a:r>
              <a:rPr lang="en-US" altLang="zh-CN" sz="3200" b="1" dirty="0">
                <a:solidFill>
                  <a:srgbClr val="FF0000"/>
                </a:solidFill>
                <a:effectLst/>
              </a:rPr>
              <a:t>serve your long-term goals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 can help.</a:t>
            </a:r>
            <a:endParaRPr lang="en-US" altLang="zh-CN" sz="32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842000" y="3088005"/>
            <a:ext cx="139954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sym typeface="+mn-ea"/>
              </a:rPr>
              <a:t>served </a:t>
            </a:r>
            <a:endParaRPr lang="en-US" altLang="zh-CN" sz="3200" b="1" dirty="0" smtClean="0">
              <a:solidFill>
                <a:srgbClr val="FF0000"/>
              </a:solidFill>
              <a:effectLst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011045" y="4674870"/>
            <a:ext cx="74295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sym typeface="+mn-ea"/>
              </a:rPr>
              <a:t>serve one’s purpose </a:t>
            </a:r>
            <a:r>
              <a:rPr lang="zh-CN" altLang="en-US" sz="3200" b="1" dirty="0">
                <a:effectLst/>
                <a:sym typeface="+mn-ea"/>
              </a:rPr>
              <a:t>满足某人的需求</a:t>
            </a:r>
            <a:endParaRPr lang="zh-CN" altLang="en-US" sz="3200" b="1" dirty="0" smtClean="0">
              <a:solidFill>
                <a:srgbClr val="0000FF"/>
              </a:solidFill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32715" y="0"/>
            <a:ext cx="13757910" cy="6713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</a:rPr>
              <a:t>lead to a fundamental change in our approach to health care</a:t>
            </a:r>
            <a:endParaRPr lang="en-US" altLang="zh-CN" sz="3200" b="1" dirty="0">
              <a:solidFill>
                <a:srgbClr val="FF0000"/>
              </a:solidFill>
              <a:effectLst/>
            </a:endParaRP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</a:rPr>
              <a:t>在……</a:t>
            </a:r>
            <a:r>
              <a:rPr lang="zh-CN" altLang="en-US" sz="3200" b="1" dirty="0">
                <a:solidFill>
                  <a:schemeClr val="tx1"/>
                </a:solidFill>
                <a:effectLst/>
              </a:rPr>
              <a:t>上带来根本性的变革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</a:rPr>
              <a:t>基本技能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 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</a:rPr>
              <a:t>Hard work </a:t>
            </a:r>
            <a:r>
              <a:rPr lang="zh-CN" altLang="en-US" sz="3200" b="1" u="sng" dirty="0">
                <a:solidFill>
                  <a:srgbClr val="FF0000"/>
                </a:solidFill>
                <a:effectLst/>
              </a:rPr>
              <a:t>is fundamental to</a:t>
            </a:r>
            <a:r>
              <a:rPr lang="zh-CN" altLang="en-US" sz="3200" b="1" dirty="0">
                <a:solidFill>
                  <a:schemeClr val="tx1"/>
                </a:solidFill>
                <a:effectLst/>
              </a:rPr>
              <a:t> success.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</a:rPr>
              <a:t>勤奋工作是成功的基础。</a:t>
            </a:r>
            <a:r>
              <a:rPr lang="en-US" altLang="zh-CN" sz="3200" b="1" i="1" dirty="0">
                <a:solidFill>
                  <a:srgbClr val="0000FF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</a:rPr>
              <a:t>(essential)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</a:rPr>
              <a:t>fundamental</a:t>
            </a:r>
            <a:r>
              <a:rPr lang="en-US" altLang="zh-CN" sz="3200" b="1" u="sng" dirty="0">
                <a:solidFill>
                  <a:srgbClr val="FF0000"/>
                </a:solidFill>
                <a:effectLst/>
              </a:rPr>
              <a:t>s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ffectLst/>
              </a:rPr>
              <a:t>基本原理，基本知识</a:t>
            </a:r>
            <a:endParaRPr lang="en-US" altLang="zh-CN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</a:rPr>
              <a:t>the </a:t>
            </a:r>
            <a:r>
              <a:rPr lang="zh-CN" altLang="en-US" sz="3200" b="1" dirty="0">
                <a:solidFill>
                  <a:srgbClr val="FF0000"/>
                </a:solidFill>
                <a:effectLst/>
              </a:rPr>
              <a:t>fundamentals </a:t>
            </a:r>
            <a:r>
              <a:rPr lang="zh-CN" altLang="en-US" sz="3200" b="1" dirty="0">
                <a:solidFill>
                  <a:schemeClr val="tx1"/>
                </a:solidFill>
                <a:effectLst/>
              </a:rPr>
              <a:t>of modern physics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</a:rPr>
              <a:t>He taught me the </a:t>
            </a:r>
            <a:r>
              <a:rPr lang="zh-CN" altLang="en-US" sz="3200" b="1" dirty="0">
                <a:solidFill>
                  <a:srgbClr val="FF0000"/>
                </a:solidFill>
                <a:effectLst/>
              </a:rPr>
              <a:t>fundamentals </a:t>
            </a:r>
            <a:r>
              <a:rPr lang="zh-CN" altLang="en-US" sz="3200" b="1" dirty="0">
                <a:solidFill>
                  <a:schemeClr val="tx1"/>
                </a:solidFill>
                <a:effectLst/>
              </a:rPr>
              <a:t>of the job.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</a:rPr>
              <a:t>他教给了我这工作的基本知识。</a:t>
            </a:r>
            <a:endParaRPr lang="zh-CN" altLang="en-US" sz="3200" b="1" dirty="0">
              <a:solidFill>
                <a:schemeClr val="tx1"/>
              </a:solidFill>
              <a:effectLst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</a:rPr>
              <a:t>fundamentally </a:t>
            </a:r>
            <a:r>
              <a:rPr lang="en-US" altLang="zh-CN" sz="3200" b="1" i="1" dirty="0">
                <a:solidFill>
                  <a:srgbClr val="FF0000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effectLst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ffectLst/>
              </a:rPr>
              <a:t>根本上地</a:t>
            </a:r>
            <a:r>
              <a:rPr lang="en-US" altLang="zh-CN" sz="3200" b="1" dirty="0">
                <a:solidFill>
                  <a:schemeClr val="tx1"/>
                </a:solidFill>
                <a:effectLst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(basically)</a:t>
            </a:r>
            <a:endParaRPr lang="en-US" altLang="zh-CN" sz="3200" b="1" i="1" dirty="0">
              <a:solidFill>
                <a:srgbClr val="0000FF"/>
              </a:solidFill>
              <a:effectLst/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marL="2743200" lvl="6" indent="4572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根本性地</a:t>
            </a:r>
            <a:r>
              <a:rPr lang="en-US" altLang="zh-CN" sz="3200" b="1" dirty="0">
                <a:solidFill>
                  <a:schemeClr val="tx1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完全地</a:t>
            </a:r>
            <a:r>
              <a:rPr lang="en-US" altLang="zh-CN" sz="3200" b="1" dirty="0">
                <a:solidFill>
                  <a:schemeClr val="tx1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change fundamentally</a:t>
            </a:r>
            <a:endParaRPr lang="en-US" altLang="zh-CN" sz="3200" b="1" dirty="0">
              <a:solidFill>
                <a:srgbClr val="FF0000"/>
              </a:solidFill>
              <a:effectLst/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178685" y="116840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sym typeface="+mn-ea"/>
              </a:rPr>
              <a:t>fundamental skills</a:t>
            </a:r>
            <a:endParaRPr lang="en-US" altLang="zh-CN" sz="3200" b="1" dirty="0" smtClean="0">
              <a:solidFill>
                <a:srgbClr val="FF0000"/>
              </a:solidFill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192635" cy="685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</a:rPr>
              <a:t>As </a:t>
            </a:r>
            <a:r>
              <a:rPr lang="en-US" altLang="zh-CN" sz="3200" b="1" dirty="0">
                <a:effectLst/>
              </a:rPr>
              <a:t>the technology continues to develop </a:t>
            </a:r>
            <a:r>
              <a:rPr lang="en-US" altLang="zh-CN" sz="3200" b="1" dirty="0">
                <a:solidFill>
                  <a:srgbClr val="FF0000"/>
                </a:solidFill>
                <a:effectLst/>
              </a:rPr>
              <a:t>at a fast pace</a:t>
            </a:r>
            <a:r>
              <a:rPr lang="en-US" altLang="zh-CN" sz="3200" b="1" dirty="0">
                <a:effectLst/>
              </a:rPr>
              <a:t>, however, questions </a:t>
            </a:r>
            <a:r>
              <a:rPr lang="en-US" altLang="zh-CN" sz="3200" b="1" dirty="0">
                <a:solidFill>
                  <a:srgbClr val="FF0000"/>
                </a:solidFill>
                <a:effectLst/>
              </a:rPr>
              <a:t>arise </a:t>
            </a:r>
            <a:r>
              <a:rPr lang="en-US" altLang="zh-CN" sz="3200" b="1" dirty="0">
                <a:effectLst/>
              </a:rPr>
              <a:t>about how to use it appropriately.</a:t>
            </a:r>
            <a:endParaRPr lang="en-US" altLang="zh-CN" sz="3200" b="1" dirty="0">
              <a:effectLst/>
            </a:endParaRPr>
          </a:p>
          <a:p>
            <a:pPr indent="-143700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pace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 </a:t>
            </a:r>
            <a:r>
              <a:rPr lang="en-US" altLang="zh-CN" sz="3200" b="1" i="1" dirty="0" smtClean="0">
                <a:solidFill>
                  <a:srgbClr val="FF0000"/>
                </a:solidFill>
              </a:rPr>
              <a:t>n.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1437005" fontAlgn="auto">
              <a:lnSpc>
                <a:spcPct val="120000"/>
              </a:lnSpc>
            </a:pPr>
            <a:r>
              <a:rPr lang="zh-CN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①</a:t>
            </a:r>
            <a:r>
              <a:rPr lang="zh-CN" altLang="zh-CN" sz="3200" dirty="0" smtClean="0"/>
              <a:t> </a:t>
            </a:r>
            <a:r>
              <a:rPr lang="en-US" altLang="zh-CN" sz="3200" b="1" i="1" dirty="0" smtClean="0"/>
              <a:t>the </a:t>
            </a:r>
            <a:r>
              <a:rPr lang="en-US" altLang="zh-CN" sz="3200" b="1" i="1" dirty="0"/>
              <a:t>speed at which something happens</a:t>
            </a:r>
            <a:r>
              <a:rPr lang="en-US" altLang="zh-CN" sz="3200" b="1" i="1" dirty="0" smtClean="0">
                <a:solidFill>
                  <a:srgbClr val="FF0000"/>
                </a:solidFill>
              </a:rPr>
              <a:t> 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发生的速度，节奏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805180" fontAlgn="auto">
              <a:lnSpc>
                <a:spcPct val="120000"/>
              </a:lnSpc>
            </a:pPr>
            <a:r>
              <a:rPr lang="en-US" altLang="zh-CN" sz="3200" b="1" dirty="0" smtClean="0"/>
              <a:t>It is difficult to </a:t>
            </a:r>
            <a:r>
              <a:rPr lang="en-US" altLang="zh-CN" sz="3200" b="1" u="sng" dirty="0" smtClean="0">
                <a:solidFill>
                  <a:srgbClr val="FF0000"/>
                </a:solidFill>
              </a:rPr>
              <a:t>keep up with the rapid pace of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change</a:t>
            </a:r>
            <a:r>
              <a:rPr lang="en-US" altLang="zh-CN" sz="3200" b="1" dirty="0" smtClean="0"/>
              <a:t>.</a:t>
            </a:r>
            <a:endParaRPr lang="en-US" altLang="zh-CN" sz="3200" b="1" dirty="0" smtClean="0"/>
          </a:p>
          <a:p>
            <a:pPr indent="-805180" fontAlgn="auto">
              <a:lnSpc>
                <a:spcPct val="120000"/>
              </a:lnSpc>
            </a:pPr>
            <a:r>
              <a:rPr lang="en-US" altLang="zh-CN" sz="3200" b="1" u="sng" dirty="0" smtClean="0"/>
              <a:t>跟上快速的变化</a:t>
            </a:r>
            <a:r>
              <a:rPr lang="en-US" altLang="zh-CN" sz="3200" b="1" dirty="0" smtClean="0"/>
              <a:t>是很困难的。</a:t>
            </a:r>
            <a:endParaRPr lang="en-US" altLang="zh-CN" sz="3200" b="1" dirty="0" smtClean="0"/>
          </a:p>
          <a:p>
            <a:pPr indent="-805180" fontAlgn="auto">
              <a:lnSpc>
                <a:spcPct val="120000"/>
              </a:lnSpc>
            </a:pPr>
            <a:r>
              <a:rPr lang="en-US" altLang="zh-CN" sz="3200" b="1" dirty="0" smtClean="0"/>
              <a:t>We encourage all students to </a:t>
            </a:r>
            <a:r>
              <a:rPr lang="en-US" altLang="zh-CN" sz="3200" b="1" u="sng" dirty="0" smtClean="0">
                <a:solidFill>
                  <a:srgbClr val="FF0000"/>
                </a:solidFill>
              </a:rPr>
              <a:t>learn </a:t>
            </a:r>
            <a:r>
              <a:rPr lang="en-US" altLang="zh-CN" sz="3200" b="1" u="sng" dirty="0" smtClean="0">
                <a:solidFill>
                  <a:srgbClr val="FF0000"/>
                </a:solidFill>
              </a:rPr>
              <a:t>at their own pace</a:t>
            </a:r>
            <a:r>
              <a:rPr lang="en-US" altLang="zh-CN" sz="3200" b="1" dirty="0" smtClean="0">
                <a:sym typeface="+mn-ea"/>
              </a:rPr>
              <a:t>.</a:t>
            </a:r>
            <a:endParaRPr lang="en-US" altLang="zh-CN" sz="3200" b="1" dirty="0" smtClean="0"/>
          </a:p>
          <a:p>
            <a:pPr indent="-805180" fontAlgn="auto">
              <a:lnSpc>
                <a:spcPct val="120000"/>
              </a:lnSpc>
            </a:pPr>
            <a:r>
              <a:rPr lang="en-US" altLang="zh-CN" sz="3200" b="1" dirty="0" smtClean="0"/>
              <a:t>我们鼓励学生都</a:t>
            </a:r>
            <a:r>
              <a:rPr lang="en-US" altLang="zh-CN" sz="3200" b="1" u="sng" dirty="0" smtClean="0"/>
              <a:t>按自己的节奏学习</a:t>
            </a:r>
            <a:r>
              <a:rPr lang="en-US" altLang="zh-CN" sz="3200" b="1" dirty="0" smtClean="0"/>
              <a:t>。</a:t>
            </a:r>
            <a:endParaRPr lang="en-US" altLang="zh-CN" sz="3200" b="1" dirty="0" smtClean="0"/>
          </a:p>
          <a:p>
            <a:pPr indent="-805180" fontAlgn="auto">
              <a:lnSpc>
                <a:spcPct val="120000"/>
              </a:lnSpc>
            </a:pPr>
            <a:r>
              <a:rPr lang="en-US" altLang="zh-CN" sz="3200" b="1" dirty="0" smtClean="0"/>
              <a:t>I prefer</a:t>
            </a:r>
            <a:r>
              <a:rPr lang="en-US" altLang="zh-CN" sz="3200" b="1" u="sng" dirty="0" smtClean="0"/>
              <a:t> </a:t>
            </a:r>
            <a:r>
              <a:rPr lang="en-US" altLang="zh-CN" sz="3200" b="1" u="sng" dirty="0" smtClean="0">
                <a:solidFill>
                  <a:srgbClr val="FF0000"/>
                </a:solidFill>
              </a:rPr>
              <a:t>the relaxed pace of life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200" b="1" dirty="0" smtClean="0"/>
              <a:t>in the country.</a:t>
            </a:r>
            <a:endParaRPr lang="en-US" altLang="zh-CN" sz="3200" b="1" dirty="0" smtClean="0"/>
          </a:p>
          <a:p>
            <a:pPr indent="-805180" fontAlgn="auto">
              <a:lnSpc>
                <a:spcPct val="120000"/>
              </a:lnSpc>
            </a:pPr>
            <a:r>
              <a:rPr lang="en-US" altLang="zh-CN" sz="3200" b="1" dirty="0" smtClean="0"/>
              <a:t>我喜爱乡间那</a:t>
            </a:r>
            <a:r>
              <a:rPr lang="en-US" altLang="zh-CN" sz="3200" b="1" u="sng" dirty="0" smtClean="0"/>
              <a:t>悠闲的生活节奏</a:t>
            </a:r>
            <a:r>
              <a:rPr lang="en-US" altLang="zh-CN" sz="3200" b="1" dirty="0" smtClean="0"/>
              <a:t>。</a:t>
            </a:r>
            <a:endParaRPr lang="en-US" altLang="zh-CN" sz="3200" b="1" dirty="0" smtClean="0"/>
          </a:p>
          <a:p>
            <a:pPr indent="-805180" fontAlgn="auto">
              <a:lnSpc>
                <a:spcPct val="120000"/>
              </a:lnSpc>
            </a:pPr>
            <a:endParaRPr lang="en-US" altLang="zh-CN" sz="3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5895"/>
            <a:ext cx="12014200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33400" fontAlgn="auto">
              <a:lnSpc>
                <a:spcPct val="120000"/>
              </a:lnSpc>
            </a:pPr>
            <a:r>
              <a:rPr lang="en-US" altLang="zh-CN" sz="3200" b="1" dirty="0"/>
              <a:t>② </a:t>
            </a:r>
            <a:r>
              <a:rPr lang="en-US" altLang="zh-CN" sz="3200" b="1" i="1" dirty="0"/>
              <a:t>the speed at which somebody/something walks, runs or moves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步速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 smtClean="0"/>
              <a:t>The </a:t>
            </a:r>
            <a:r>
              <a:rPr lang="en-US" altLang="zh-CN" sz="3200" b="1" dirty="0"/>
              <a:t>runners have noticeably </a:t>
            </a:r>
            <a:r>
              <a:rPr lang="en-US" altLang="zh-CN" sz="3200" b="1" u="sng" dirty="0">
                <a:solidFill>
                  <a:srgbClr val="FF0000"/>
                </a:solidFill>
              </a:rPr>
              <a:t>quickened their pace</a:t>
            </a:r>
            <a:r>
              <a:rPr lang="en-US" altLang="zh-CN" sz="3200" b="1" dirty="0" smtClean="0"/>
              <a:t>.</a:t>
            </a:r>
            <a:endParaRPr lang="en-US" altLang="zh-CN" sz="3200" b="1" dirty="0" smtClean="0"/>
          </a:p>
          <a:p>
            <a:pPr indent="-14401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set off at a gentle/leisurely pace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144018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以徐缓的/悠闲的步子出发</a:t>
            </a:r>
            <a:endParaRPr lang="en-US" altLang="zh-CN" sz="3200" b="1" dirty="0"/>
          </a:p>
          <a:p>
            <a:pPr indent="-144018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Congestion frequently reduces traffic to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walking pace</a:t>
            </a:r>
            <a:r>
              <a:rPr lang="en-US" altLang="zh-CN" sz="3200" b="1" dirty="0">
                <a:sym typeface="+mn-ea"/>
              </a:rPr>
              <a:t>.</a:t>
            </a:r>
            <a:endParaRPr lang="en-US" altLang="zh-CN" sz="3200" b="1" dirty="0"/>
          </a:p>
          <a:p>
            <a:pPr indent="-1440180" fontAlgn="auto">
              <a:lnSpc>
                <a:spcPct val="120000"/>
              </a:lnSpc>
            </a:pPr>
            <a:r>
              <a:rPr lang="en-US" altLang="zh-CN" sz="3200" b="1" dirty="0"/>
              <a:t>She found it hard to </a:t>
            </a:r>
            <a:r>
              <a:rPr lang="en-US" altLang="zh-CN" sz="3200" b="1" u="sng" dirty="0">
                <a:solidFill>
                  <a:srgbClr val="FF0000"/>
                </a:solidFill>
              </a:rPr>
              <a:t>keep pace with him</a:t>
            </a:r>
            <a:r>
              <a:rPr lang="en-US" altLang="zh-CN" sz="3200" b="1" dirty="0"/>
              <a:t> as he strode off.</a:t>
            </a:r>
            <a:endParaRPr lang="en-US" altLang="zh-CN" sz="3200" b="1" dirty="0"/>
          </a:p>
          <a:p>
            <a:pPr indent="-1440180" fontAlgn="auto">
              <a:lnSpc>
                <a:spcPct val="120000"/>
              </a:lnSpc>
            </a:pPr>
            <a:r>
              <a:rPr lang="en-US" altLang="zh-CN" sz="3200" b="1" dirty="0"/>
              <a:t>他大步走开了，她感到很难跟上他。</a:t>
            </a:r>
            <a:endParaRPr lang="en-US" altLang="zh-CN" sz="3200" b="1" dirty="0"/>
          </a:p>
          <a:p>
            <a:pPr indent="-1440180" fontAlgn="auto">
              <a:lnSpc>
                <a:spcPct val="120000"/>
              </a:lnSpc>
            </a:pPr>
            <a:r>
              <a:rPr lang="en-US" altLang="zh-CN" sz="3200" b="1" dirty="0"/>
              <a:t>With four laps to go, he </a:t>
            </a:r>
            <a:r>
              <a:rPr lang="en-US" altLang="zh-CN" sz="3200" b="1" u="sng" dirty="0">
                <a:solidFill>
                  <a:srgbClr val="FF0000"/>
                </a:solidFill>
              </a:rPr>
              <a:t>kept pace with</a:t>
            </a:r>
            <a:r>
              <a:rPr lang="en-US" altLang="zh-CN" sz="3200" b="1" dirty="0"/>
              <a:t> the leaders.</a:t>
            </a:r>
            <a:endParaRPr lang="en-US" altLang="zh-CN" sz="3200" b="1" dirty="0"/>
          </a:p>
          <a:p>
            <a:pPr indent="-1440180" fontAlgn="auto">
              <a:lnSpc>
                <a:spcPct val="120000"/>
              </a:lnSpc>
            </a:pPr>
            <a:r>
              <a:rPr lang="en-US" altLang="zh-CN" sz="3200" b="1" dirty="0"/>
              <a:t>还剩四圈时，他与领先者保持同步。</a:t>
            </a:r>
            <a:endParaRPr lang="en-US" altLang="zh-CN" sz="3200" b="1" dirty="0"/>
          </a:p>
          <a:p>
            <a:pPr indent="-1440180" fontAlgn="auto">
              <a:lnSpc>
                <a:spcPct val="120000"/>
              </a:lnSpc>
            </a:pPr>
            <a:endParaRPr lang="en-US" altLang="zh-C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0"/>
            <a:ext cx="1219263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75280" indent="-287528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pace</a:t>
            </a:r>
            <a:r>
              <a:rPr lang="en-US" altLang="zh-CN" sz="3200" b="1" i="1" dirty="0" smtClean="0">
                <a:solidFill>
                  <a:srgbClr val="FF0000"/>
                </a:solidFill>
              </a:rPr>
              <a:t>  vi. &amp; </a:t>
            </a:r>
            <a:r>
              <a:rPr lang="en-US" altLang="zh-CN" sz="3200" b="1" i="1" dirty="0" err="1" smtClean="0">
                <a:solidFill>
                  <a:srgbClr val="FF0000"/>
                </a:solidFill>
              </a:rPr>
              <a:t>vt.</a:t>
            </a:r>
            <a:r>
              <a:rPr lang="en-US" altLang="zh-CN" sz="3200" b="1" i="1" dirty="0" smtClean="0">
                <a:solidFill>
                  <a:srgbClr val="FF0000"/>
                </a:solidFill>
              </a:rPr>
              <a:t> </a:t>
            </a:r>
            <a:endParaRPr lang="en-US" altLang="zh-CN" sz="3200" b="1" i="1" dirty="0" smtClean="0">
              <a:solidFill>
                <a:srgbClr val="FF0000"/>
              </a:solidFill>
            </a:endParaRPr>
          </a:p>
          <a:p>
            <a:pPr marL="533400" indent="-533400">
              <a:lnSpc>
                <a:spcPct val="120000"/>
              </a:lnSpc>
            </a:pPr>
            <a:r>
              <a:rPr lang="zh-CN" altLang="zh-CN" sz="3200" b="1" dirty="0" smtClean="0"/>
              <a:t>①</a:t>
            </a:r>
            <a:r>
              <a:rPr lang="en-US" altLang="zh-CN" sz="3200" b="1" dirty="0" smtClean="0"/>
              <a:t> </a:t>
            </a:r>
            <a:r>
              <a:rPr lang="en-US" altLang="zh-CN" sz="3200" b="1" i="1" dirty="0" smtClean="0"/>
              <a:t>to </a:t>
            </a:r>
            <a:r>
              <a:rPr lang="en-US" altLang="zh-CN" sz="3200" b="1" i="1" dirty="0"/>
              <a:t>walk with regular steps in one direction and then back again, usually </a:t>
            </a:r>
            <a:r>
              <a:rPr lang="en-US" altLang="zh-CN" sz="3200" b="1" i="1" u="sng" dirty="0"/>
              <a:t>because you are worried or </a:t>
            </a:r>
            <a:r>
              <a:rPr lang="en-US" altLang="zh-CN" sz="3200" b="1" i="1" u="sng" dirty="0" smtClean="0"/>
              <a:t>nervous</a:t>
            </a:r>
            <a:r>
              <a:rPr lang="en-US" altLang="zh-CN" sz="3200" b="1" i="1" dirty="0" smtClean="0"/>
              <a:t>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来回踱步，走来走去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marL="2875280" indent="-2875280">
              <a:lnSpc>
                <a:spcPct val="120000"/>
              </a:lnSpc>
            </a:pPr>
            <a:r>
              <a:rPr sz="3200" b="1" dirty="0"/>
              <a:t>She </a:t>
            </a:r>
            <a:r>
              <a:rPr sz="3200" b="1" u="sng" dirty="0">
                <a:solidFill>
                  <a:srgbClr val="FF0000"/>
                </a:solidFill>
              </a:rPr>
              <a:t>paced up and down</a:t>
            </a:r>
            <a:r>
              <a:rPr sz="3200" b="1" dirty="0"/>
              <a:t> outside the room.</a:t>
            </a:r>
            <a:endParaRPr sz="3200" b="1" dirty="0"/>
          </a:p>
          <a:p>
            <a:pPr marL="2875280" indent="-2875280">
              <a:lnSpc>
                <a:spcPct val="120000"/>
              </a:lnSpc>
            </a:pPr>
            <a:r>
              <a:rPr sz="3200" b="1" dirty="0"/>
              <a:t>Ted </a:t>
            </a:r>
            <a:r>
              <a:rPr sz="3200" b="1" u="sng" dirty="0">
                <a:solidFill>
                  <a:srgbClr val="FF0000"/>
                </a:solidFill>
              </a:rPr>
              <a:t>paced the </a:t>
            </a:r>
            <a:r>
              <a:rPr lang="en-US" sz="3200" b="1" u="sng" dirty="0">
                <a:solidFill>
                  <a:srgbClr val="FF0000"/>
                </a:solidFill>
              </a:rPr>
              <a:t>room</a:t>
            </a:r>
            <a:r>
              <a:rPr sz="3200" b="1" u="sng" dirty="0">
                <a:solidFill>
                  <a:srgbClr val="FF0000"/>
                </a:solidFill>
              </a:rPr>
              <a:t> restlessly</a:t>
            </a:r>
            <a:r>
              <a:rPr lang="en-US" sz="3200" b="1" u="sng" dirty="0">
                <a:solidFill>
                  <a:srgbClr val="FF0000"/>
                </a:solidFill>
              </a:rPr>
              <a:t>/nervously</a:t>
            </a:r>
            <a:r>
              <a:rPr sz="3200" b="1" dirty="0"/>
              <a:t>.</a:t>
            </a:r>
            <a:r>
              <a:rPr lang="en-US" sz="3200" b="1" dirty="0"/>
              <a:t> (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pace a small area</a:t>
            </a:r>
            <a:r>
              <a:rPr lang="en-US" sz="3200" b="1" dirty="0"/>
              <a:t>)</a:t>
            </a:r>
            <a:endParaRPr sz="3200" b="1" dirty="0"/>
          </a:p>
          <a:p>
            <a:pPr marL="2875280" indent="-2875280">
              <a:lnSpc>
                <a:spcPct val="120000"/>
              </a:lnSpc>
            </a:pPr>
            <a:r>
              <a:rPr sz="3200" b="1" dirty="0"/>
              <a:t>特德焦躁地</a:t>
            </a:r>
            <a:r>
              <a:rPr sz="3200" b="1" u="sng" dirty="0"/>
              <a:t>在屋里</a:t>
            </a:r>
            <a:r>
              <a:rPr lang="zh-CN" sz="3200" b="1" u="sng" dirty="0"/>
              <a:t>踱步</a:t>
            </a:r>
            <a:r>
              <a:rPr sz="3200" b="1" dirty="0"/>
              <a:t>。</a:t>
            </a:r>
            <a:endParaRPr sz="3200" b="1" dirty="0"/>
          </a:p>
          <a:p>
            <a:pPr marL="2875280" indent="-2875280">
              <a:lnSpc>
                <a:spcPct val="120000"/>
              </a:lnSpc>
            </a:pPr>
            <a:r>
              <a:rPr lang="zh-CN" altLang="zh-CN" sz="3200" b="1" dirty="0" smtClean="0"/>
              <a:t>②</a:t>
            </a:r>
            <a:r>
              <a:rPr lang="en-US" altLang="zh-CN" sz="3200" b="1" dirty="0" smtClean="0"/>
              <a:t> </a:t>
            </a:r>
            <a:r>
              <a:rPr lang="en-US" altLang="zh-CN" sz="3200" b="1" i="1" dirty="0"/>
              <a:t>set a speed for (a runner, rider, </a:t>
            </a:r>
            <a:r>
              <a:rPr lang="en-US" altLang="zh-CN" sz="3200" b="1" i="1" dirty="0" err="1"/>
              <a:t>etc</a:t>
            </a:r>
            <a:r>
              <a:rPr lang="en-US" altLang="zh-CN" sz="3200" b="1" i="1" dirty="0"/>
              <a:t> in a race</a:t>
            </a:r>
            <a:r>
              <a:rPr lang="en-US" altLang="zh-CN" sz="3200" b="1" i="1" dirty="0" smtClean="0"/>
              <a:t>)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确定速度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marL="2875280" indent="-2875280">
              <a:lnSpc>
                <a:spcPct val="120000"/>
              </a:lnSpc>
            </a:pPr>
            <a:r>
              <a:rPr lang="en-US" altLang="zh-CN" sz="3200" b="1" dirty="0"/>
              <a:t>He </a:t>
            </a:r>
            <a:r>
              <a:rPr lang="en-US" altLang="zh-CN" sz="3200" b="1" u="sng" dirty="0">
                <a:solidFill>
                  <a:srgbClr val="FF0000"/>
                </a:solidFill>
              </a:rPr>
              <a:t>paced his game</a:t>
            </a:r>
            <a:r>
              <a:rPr lang="en-US" altLang="zh-CN" sz="3200" b="1" dirty="0"/>
              <a:t> skilfully. 他巧妙地控制着自己的比赛节奏。</a:t>
            </a:r>
            <a:endParaRPr lang="en-US" altLang="zh-CN" sz="3200" b="1" dirty="0"/>
          </a:p>
          <a:p>
            <a:pPr marL="2875280" indent="-2875280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He'll have to learn to </a:t>
            </a:r>
            <a:r>
              <a:rPr lang="en-US" altLang="zh-CN" sz="3200" b="1" u="sng" dirty="0" smtClean="0">
                <a:solidFill>
                  <a:srgbClr val="FF0000"/>
                </a:solidFill>
                <a:sym typeface="+mn-ea"/>
              </a:rPr>
              <a:t>pace himself in</a:t>
            </a:r>
            <a:r>
              <a:rPr lang="en-US" altLang="zh-CN" sz="3200" b="1" dirty="0" smtClean="0">
                <a:sym typeface="+mn-ea"/>
              </a:rPr>
              <a:t> this job.</a:t>
            </a:r>
            <a:endParaRPr lang="en-US" altLang="zh-CN" sz="3200" b="1" dirty="0" smtClean="0">
              <a:sym typeface="+mn-ea"/>
            </a:endParaRPr>
          </a:p>
          <a:p>
            <a:pPr marL="2875280" indent="-2875280"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调整自己的工作（或活动）</a:t>
            </a:r>
            <a:r>
              <a:rPr lang="zh-CN" altLang="en-US" sz="3200" b="1" dirty="0" smtClean="0">
                <a:sym typeface="+mn-ea"/>
              </a:rPr>
              <a:t>节奏</a:t>
            </a:r>
            <a:endParaRPr lang="zh-CN" altLang="en-US" sz="3200" b="1" dirty="0" smtClean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57385" y="1377841"/>
            <a:ext cx="9661936" cy="3044190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84455" indent="-84455">
              <a:lnSpc>
                <a:spcPct val="12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pace of development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发展的速度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4455" indent="-84455">
              <a:lnSpc>
                <a:spcPct val="12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 pace with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与</a:t>
            </a:r>
            <a:r>
              <a:rPr lang="en-US" altLang="zh-CN" sz="3200" b="1" dirty="0">
                <a:solidFill>
                  <a:prstClr val="black"/>
                </a:solidFill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步调一致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同步生活节奏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4455" indent="-84455">
              <a:lnSpc>
                <a:spcPct val="12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a slow/rapid/steady pace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以缓慢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迅速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稳定的速度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4455" indent="-84455">
              <a:lnSpc>
                <a:spcPct val="12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pace up and down / pace back and forth / pace the room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来回走动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6757" t="28889" r="6757" b="1111"/>
          <a:stretch>
            <a:fillRect/>
          </a:stretch>
        </p:blipFill>
        <p:spPr>
          <a:xfrm>
            <a:off x="423433" y="2307138"/>
            <a:ext cx="1223261" cy="5974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0499" y="1142220"/>
            <a:ext cx="11191001" cy="457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I can hardly ______________________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跟上</a:t>
            </a:r>
            <a:r>
              <a:rPr lang="en-US" altLang="zh-CN" sz="3200" b="1" dirty="0">
                <a:solidFill>
                  <a:srgbClr val="000000"/>
                </a:solidFill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的速度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the new discoveries in science.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Children learn best by studying _____________________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适合自己的速度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I found Mark at the hospital, __________________________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焦躁不安地踱来踱去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13091" y="1789309"/>
            <a:ext cx="27831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 pace with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96225" y="3140068"/>
            <a:ext cx="31972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their own pace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68257" y="4367701"/>
            <a:ext cx="55232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pacing restlessly up and down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-188595"/>
            <a:ext cx="1219263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arise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200" b="1" i="1" dirty="0" smtClean="0">
                <a:solidFill>
                  <a:srgbClr val="FF0000"/>
                </a:solidFill>
              </a:rPr>
              <a:t>vi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. -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arose - arisen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 smtClean="0"/>
              <a:t>1) </a:t>
            </a:r>
            <a:r>
              <a:rPr lang="en-US" altLang="zh-CN" sz="3200" b="1" i="1" dirty="0" smtClean="0"/>
              <a:t>to </a:t>
            </a:r>
            <a:r>
              <a:rPr lang="en-US" altLang="zh-CN" sz="3200" b="1" i="1" dirty="0">
                <a:solidFill>
                  <a:srgbClr val="0000FF"/>
                </a:solidFill>
              </a:rPr>
              <a:t>occur</a:t>
            </a:r>
            <a:r>
              <a:rPr lang="en-US" altLang="zh-CN" sz="3200" b="1" i="1" dirty="0"/>
              <a:t>; to start to exist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发生，出现</a:t>
            </a:r>
            <a:endParaRPr lang="zh-CN" altLang="en-US" sz="3200" b="1" dirty="0" smtClean="0">
              <a:solidFill>
                <a:srgbClr val="FF0000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when </a:t>
            </a:r>
            <a:r>
              <a:rPr lang="en-US" altLang="zh-CN" sz="3200" b="1" dirty="0">
                <a:solidFill>
                  <a:srgbClr val="FF0000"/>
                </a:solidFill>
              </a:rPr>
              <a:t>the need arises</a:t>
            </a:r>
            <a:r>
              <a:rPr lang="en-US" altLang="zh-CN" sz="3200" b="1" dirty="0"/>
              <a:t>... </a:t>
            </a:r>
            <a:r>
              <a:rPr lang="zh-CN" altLang="en-US" sz="3200" b="1" dirty="0"/>
              <a:t>如有必要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= if necessary</a:t>
            </a:r>
            <a:endParaRPr lang="en-US" altLang="zh-CN" sz="3200" b="1" dirty="0"/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 smtClean="0"/>
              <a:t>2)</a:t>
            </a:r>
            <a:r>
              <a:rPr lang="en-US" altLang="zh-CN" sz="3200" b="1" dirty="0"/>
              <a:t> </a:t>
            </a:r>
            <a:r>
              <a:rPr lang="en-US" altLang="zh-CN" sz="3200" b="1" i="1" dirty="0" smtClean="0"/>
              <a:t>to </a:t>
            </a:r>
            <a:r>
              <a:rPr lang="en-US" altLang="zh-CN" sz="3200" b="1" i="1" dirty="0"/>
              <a:t>happen as a result of a particular situation </a:t>
            </a:r>
            <a:r>
              <a:rPr lang="en-US" altLang="zh-CN" sz="3200" b="1" dirty="0" smtClean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由</a:t>
            </a:r>
            <a:r>
              <a:rPr lang="en-US" altLang="zh-CN" sz="3200" b="1" dirty="0" smtClean="0">
                <a:solidFill>
                  <a:srgbClr val="FF0000"/>
                </a:solidFill>
                <a:latin typeface="+mj-ea"/>
                <a:ea typeface="+mj-ea"/>
              </a:rPr>
              <a:t>……)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引起</a:t>
            </a:r>
            <a:endParaRPr lang="en-US" altLang="zh-CN" sz="3200" b="1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/>
              <a:t>Emotional or mental problems can </a:t>
            </a:r>
            <a:r>
              <a:rPr lang="en-US" altLang="zh-CN" sz="3200" b="1" u="sng" dirty="0">
                <a:solidFill>
                  <a:srgbClr val="FF0000"/>
                </a:solidFill>
              </a:rPr>
              <a:t>arise from/out of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a physical cause.</a:t>
            </a:r>
            <a:endParaRPr lang="en-US" altLang="zh-CN" sz="3200" b="1" dirty="0"/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/>
              <a:t>身体上的原因可以引起情绪或精神上的问题。</a:t>
            </a:r>
            <a:endParaRPr lang="en-US" altLang="zh-CN" sz="3200" b="1" dirty="0"/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kern="100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3) </a:t>
            </a:r>
            <a:r>
              <a:rPr lang="en-US" altLang="zh-CN" sz="3200" b="1" i="1" kern="100" dirty="0" smtClean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begin to exist/develop </a:t>
            </a:r>
            <a:r>
              <a:rPr lang="zh-CN" altLang="en-US" sz="3200" b="1" kern="100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出现，发展</a:t>
            </a:r>
            <a:r>
              <a:rPr lang="en-US" altLang="zh-CN" sz="3200" b="1" kern="100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kern="100" dirty="0" smtClean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emerge</a:t>
            </a:r>
            <a:endParaRPr lang="en-US" altLang="zh-CN" sz="3200" b="1" dirty="0"/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/>
              <a:t>Several new industries </a:t>
            </a:r>
            <a:r>
              <a:rPr lang="en-US" altLang="zh-CN" sz="3200" b="1" dirty="0">
                <a:solidFill>
                  <a:srgbClr val="FF0000"/>
                </a:solidFill>
              </a:rPr>
              <a:t>arose </a:t>
            </a:r>
            <a:r>
              <a:rPr lang="en-US" altLang="zh-CN" sz="3200" b="1" dirty="0"/>
              <a:t>in the town.</a:t>
            </a:r>
            <a:endParaRPr lang="en-US" altLang="zh-CN" sz="3200" b="1" dirty="0"/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/>
              <a:t>城里出现了好几种新行业。</a:t>
            </a:r>
            <a:endParaRPr lang="en-US" altLang="zh-CN" sz="3200" b="1" dirty="0"/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4)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rise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起床，起身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arise from the seat/chair 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     </a:t>
            </a:r>
            <a:r>
              <a:rPr lang="zh-CN" altLang="en-US" sz="3200" b="1" dirty="0" smtClean="0">
                <a:sym typeface="+mn-ea"/>
              </a:rPr>
              <a:t>从</a:t>
            </a:r>
            <a:r>
              <a:rPr lang="zh-CN" altLang="en-US" sz="3200" b="1" dirty="0">
                <a:sym typeface="+mn-ea"/>
              </a:rPr>
              <a:t>座位上站起来</a:t>
            </a:r>
            <a:endParaRPr lang="zh-CN" altLang="en-US" sz="3200" b="1" dirty="0">
              <a:sym typeface="+mn-ea"/>
            </a:endParaRPr>
          </a:p>
          <a:p>
            <a:pPr indent="-716280" fontAlgn="auto">
              <a:lnSpc>
                <a:spcPct val="120000"/>
              </a:lnSpc>
            </a:pPr>
            <a:r>
              <a:rPr sz="3200" b="1" dirty="0"/>
              <a:t>He </a:t>
            </a:r>
            <a:r>
              <a:rPr sz="3200" b="1" dirty="0">
                <a:solidFill>
                  <a:srgbClr val="FF0000"/>
                </a:solidFill>
              </a:rPr>
              <a:t>arose </a:t>
            </a:r>
            <a:r>
              <a:rPr sz="3200" b="1" dirty="0"/>
              <a:t>at 6:30 a.m. as usual.</a:t>
            </a:r>
            <a:r>
              <a:rPr lang="en-US" sz="3200" b="1" dirty="0"/>
              <a:t> </a:t>
            </a:r>
            <a:r>
              <a:rPr lang="zh-CN" altLang="en-US" sz="3200" b="1" dirty="0"/>
              <a:t>起床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-188595"/>
            <a:ext cx="12354560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arise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200" b="1" i="1" dirty="0" smtClean="0">
                <a:solidFill>
                  <a:srgbClr val="FF0000"/>
                </a:solidFill>
              </a:rPr>
              <a:t>vi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. -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arose - arisen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en-US" sz="3200" b="1" dirty="0" smtClean="0"/>
              <a:t>5) </a:t>
            </a:r>
            <a:r>
              <a:rPr lang="zh-CN" altLang="en-US" sz="3200" b="1" dirty="0" smtClean="0"/>
              <a:t>群</a:t>
            </a:r>
            <a:r>
              <a:rPr lang="zh-CN" altLang="en-US" sz="3200" b="1" dirty="0" smtClean="0"/>
              <a:t>起反对</a:t>
            </a:r>
            <a:endParaRPr lang="en-US" sz="3200" b="1" dirty="0" smtClean="0"/>
          </a:p>
          <a:p>
            <a:pPr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</a:rPr>
              <a:t>Our forefathers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arose against</a:t>
            </a:r>
            <a:r>
              <a:rPr lang="zh-CN" altLang="en-US" sz="3200" b="1" dirty="0" smtClean="0"/>
              <a:t> the</a:t>
            </a:r>
            <a:r>
              <a:rPr lang="en-US" altLang="zh-CN" sz="3200" b="1" dirty="0" smtClean="0"/>
              <a:t> enemies and won the ultimate victory.</a:t>
            </a:r>
            <a:endParaRPr lang="en-US" altLang="zh-CN" sz="3200" b="1" dirty="0" smtClean="0"/>
          </a:p>
          <a:p>
            <a:pPr fontAlgn="auto">
              <a:lnSpc>
                <a:spcPct val="120000"/>
              </a:lnSpc>
            </a:pPr>
            <a:r>
              <a:rPr lang="zh-CN" altLang="en-US" sz="3200" b="1" dirty="0" smtClean="0"/>
              <a:t>我们的先辈奋起反抗敌人并赢得了最终的</a:t>
            </a:r>
            <a:r>
              <a:rPr lang="zh-CN" altLang="en-US" sz="3200" b="1" dirty="0" smtClean="0"/>
              <a:t>胜利。</a:t>
            </a:r>
            <a:endParaRPr lang="zh-CN" altLang="en-US" sz="3200" b="1" dirty="0" smtClean="0"/>
          </a:p>
        </p:txBody>
      </p:sp>
      <p:sp>
        <p:nvSpPr>
          <p:cNvPr id="12" name="文本框 11"/>
          <p:cNvSpPr txBox="1"/>
          <p:nvPr/>
        </p:nvSpPr>
        <p:spPr>
          <a:xfrm>
            <a:off x="154010" y="2876841"/>
            <a:ext cx="11163631" cy="363791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</a:rPr>
              <a:t>】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单句语法填空。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 smtClean="0"/>
              <a:t>1) </a:t>
            </a:r>
            <a:r>
              <a:rPr lang="en-US" altLang="zh-CN" sz="3200" b="1" dirty="0"/>
              <a:t>The only problem ________ (arise) in New York, local readers could not decide on one book to represent the huge and diverse population.</a:t>
            </a:r>
            <a:endParaRPr lang="en-US" altLang="zh-CN" sz="3200" b="1" dirty="0"/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 smtClean="0"/>
              <a:t>2) </a:t>
            </a:r>
            <a:r>
              <a:rPr lang="en-US" altLang="zh-CN" sz="3200" b="1" dirty="0"/>
              <a:t>A new situation ________ (arise) after the new law comes into force.</a:t>
            </a:r>
            <a:endParaRPr lang="en-US" altLang="zh-CN" sz="3200" b="1" dirty="0"/>
          </a:p>
        </p:txBody>
      </p:sp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3931353" y="3479282"/>
            <a:ext cx="1428773" cy="68326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arising</a:t>
            </a:r>
            <a:r>
              <a:rPr lang="zh-CN" altLang="en-US" sz="3200" b="1" dirty="0">
                <a:solidFill>
                  <a:srgbClr val="FF0000"/>
                </a:solidFill>
              </a:rPr>
              <a:t>　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3365296" y="5210678"/>
            <a:ext cx="1853316" cy="68326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will </a:t>
            </a:r>
            <a:r>
              <a:rPr lang="en-US" altLang="zh-CN" sz="3200" b="1" dirty="0">
                <a:solidFill>
                  <a:srgbClr val="FF0000"/>
                </a:solidFill>
              </a:rPr>
              <a:t>arise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2" grpId="0"/>
      <p:bldP spid="12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00269" y="1762646"/>
          <a:ext cx="10591462" cy="4308969"/>
        </p:xfrm>
        <a:graphic>
          <a:graphicData uri="http://schemas.openxmlformats.org/drawingml/2006/table">
            <a:tbl>
              <a:tblPr firstCol="1" bandRow="1">
                <a:tableStyleId>{7DF18680-E054-41AD-8BC1-D1AEF772440D}</a:tableStyleId>
              </a:tblPr>
              <a:tblGrid>
                <a:gridCol w="2525312"/>
                <a:gridCol w="8066150"/>
              </a:tblGrid>
              <a:tr h="11008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</a:rPr>
                        <a:t>arise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3200" b="1" i="1" dirty="0">
                          <a:solidFill>
                            <a:schemeClr val="accent1"/>
                          </a:solidFill>
                        </a:rPr>
                        <a:t>vi.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  (arose, arisen)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表示“产生”时，其主语通常是“问题、困境”等抽象的概念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04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</a:rPr>
                        <a:t>rise </a:t>
                      </a:r>
                      <a:r>
                        <a:rPr lang="en-US" altLang="zh-CN" sz="3200" b="1" i="1" kern="1200" dirty="0">
                          <a:solidFill>
                            <a:schemeClr val="accent1"/>
                          </a:solidFill>
                        </a:rPr>
                        <a:t>vi</a:t>
                      </a:r>
                      <a:r>
                        <a:rPr lang="en-US" altLang="zh-CN" sz="3200" b="1" i="1" dirty="0">
                          <a:solidFill>
                            <a:schemeClr val="accent1"/>
                          </a:solidFill>
                        </a:rPr>
                        <a:t>. </a:t>
                      </a:r>
                      <a:endParaRPr lang="en-US" altLang="zh-CN" sz="3200" b="1" i="1" dirty="0">
                        <a:solidFill>
                          <a:schemeClr val="accent1"/>
                        </a:solidFill>
                      </a:endParaRPr>
                    </a:p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(rose, risen)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表示“起身，起床”时可与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arise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互换；</a:t>
                      </a:r>
                      <a:endParaRPr lang="en-US" altLang="zh-CN" sz="32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还可表示“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数量、价格等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上涨；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山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渐高；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精神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振奋；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感情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激起”等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040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</a:rPr>
                        <a:t>raise </a:t>
                      </a:r>
                      <a:r>
                        <a:rPr lang="en-US" altLang="zh-CN" sz="3200" b="1" i="1" kern="1200" dirty="0" err="1">
                          <a:solidFill>
                            <a:schemeClr val="accent1"/>
                          </a:solidFill>
                        </a:rPr>
                        <a:t>vt</a:t>
                      </a:r>
                      <a:r>
                        <a:rPr lang="en-US" altLang="zh-CN" sz="3200" b="1" i="1" dirty="0" err="1">
                          <a:solidFill>
                            <a:schemeClr val="accent1"/>
                          </a:solidFill>
                        </a:rPr>
                        <a:t>.</a:t>
                      </a:r>
                      <a:endParaRPr lang="zh-CN" altLang="en-US" sz="3200" b="1" i="1" dirty="0">
                        <a:solidFill>
                          <a:schemeClr val="accent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其主语通常是人。表示“抬起，举起”，也可表示提高政治觉悟、生活水准、物价、温度、声音、税率等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4872915" y="786385"/>
            <a:ext cx="2190137" cy="783411"/>
            <a:chOff x="4400142" y="576486"/>
            <a:chExt cx="2190137" cy="78341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41" t="28889" r="25176" b="24444"/>
            <a:stretch>
              <a:fillRect/>
            </a:stretch>
          </p:blipFill>
          <p:spPr>
            <a:xfrm>
              <a:off x="4400142" y="576486"/>
              <a:ext cx="913980" cy="783411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77070" y="576486"/>
              <a:ext cx="1213209" cy="780356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6316" y="453955"/>
            <a:ext cx="10839367" cy="595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请用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arise, rise, raise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的适当形式填空。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Mary __________ from her seat to greet the new classmate.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Low achievement at school often __________ from poverty and bad social conditions.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The university is working to ___________ the number of students from state schools.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0055" indent="-44005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In 1956 the river _________ to a height of more than 6 metres.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38150" indent="-43815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5) Should the need __________ for extra staff, we will contact you.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29194" y="1105251"/>
            <a:ext cx="22585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rose / arose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63163" y="1690026"/>
            <a:ext cx="12923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arises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14572" y="2856555"/>
            <a:ext cx="10294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raise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08949" y="4024974"/>
            <a:ext cx="9081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rose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87697" y="5167974"/>
            <a:ext cx="10294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arise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191365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Should we 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restrict 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our use of this technology 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 treatment and prevention of diseases?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restrict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200" b="1" i="1" dirty="0" err="1" smtClean="0">
                <a:solidFill>
                  <a:srgbClr val="FF0000"/>
                </a:solidFill>
              </a:rPr>
              <a:t>vt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.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2783205" fontAlgn="auto">
              <a:lnSpc>
                <a:spcPct val="120000"/>
              </a:lnSpc>
            </a:pPr>
            <a:r>
              <a:rPr lang="en-US" altLang="zh-CN" sz="3200" b="1" dirty="0" smtClean="0"/>
              <a:t>①</a:t>
            </a:r>
            <a:r>
              <a:rPr lang="zh-CN" altLang="zh-CN" sz="3200" b="1" dirty="0" smtClean="0"/>
              <a:t> </a:t>
            </a:r>
            <a:r>
              <a:rPr lang="en-US" altLang="zh-CN" sz="3200" b="1" i="1" dirty="0" smtClean="0"/>
              <a:t>to limit the size, amount or range of something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限制，限定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restrict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number of students per class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我们将每个班的学生人数限定为 10 人。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restricted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有限的，受限制的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 smtClean="0">
                <a:sym typeface="+mn-ea"/>
              </a:rPr>
              <a:t>② </a:t>
            </a:r>
            <a:r>
              <a:rPr lang="en-US" altLang="zh-CN" sz="3200" b="1" i="1" dirty="0">
                <a:sym typeface="+mn-ea"/>
              </a:rPr>
              <a:t>restrict something to stop somebody 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束缚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；妨碍；</a:t>
            </a:r>
            <a:r>
              <a:rPr lang="zh-CN" altLang="en-US" sz="3200" b="1" dirty="0" smtClean="0">
                <a:solidFill>
                  <a:srgbClr val="FF0000"/>
                </a:solidFill>
                <a:sym typeface="+mn-ea"/>
              </a:rPr>
              <a:t>阻碍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The long skirt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restricted</a:t>
            </a:r>
            <a:r>
              <a:rPr lang="en-US" altLang="zh-CN" sz="3200" b="1" dirty="0">
                <a:sym typeface="+mn-ea"/>
              </a:rPr>
              <a:t> her movements</a:t>
            </a:r>
            <a:r>
              <a:rPr lang="en-US" altLang="zh-CN" sz="3200" b="1" dirty="0" smtClean="0">
                <a:sym typeface="+mn-ea"/>
              </a:rPr>
              <a:t>.</a:t>
            </a:r>
            <a:endParaRPr lang="en-US" altLang="zh-CN" sz="3200" b="1" dirty="0" smtClean="0">
              <a:sym typeface="+mn-ea"/>
            </a:endParaRPr>
          </a:p>
          <a:p>
            <a:pPr marL="533400" indent="-533400">
              <a:lnSpc>
                <a:spcPct val="120000"/>
              </a:lnSpc>
            </a:pPr>
            <a:r>
              <a:rPr lang="zh-CN" altLang="en-US" sz="3200" b="1" dirty="0" smtClean="0">
                <a:sym typeface="+mn-ea"/>
              </a:rPr>
              <a:t>长裙</a:t>
            </a:r>
            <a:r>
              <a:rPr lang="zh-CN" altLang="en-US" sz="3200" b="1" dirty="0">
                <a:sym typeface="+mn-ea"/>
              </a:rPr>
              <a:t>妨碍了她的行动。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-20955" y="0"/>
            <a:ext cx="12488545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533400" fontAlgn="auto">
              <a:lnSpc>
                <a:spcPct val="120000"/>
              </a:lnSpc>
            </a:pPr>
            <a:r>
              <a:rPr lang="en-US" altLang="zh-CN" sz="3200" b="1" dirty="0" smtClean="0"/>
              <a:t>③ </a:t>
            </a:r>
            <a:r>
              <a:rPr lang="en-US" altLang="zh-CN" sz="3200" b="1" i="1" dirty="0"/>
              <a:t>to allow yourself or somebody to have only a limited amount of something </a:t>
            </a:r>
            <a:r>
              <a:rPr lang="en-US" altLang="zh-CN" sz="3200" b="1" i="1" dirty="0" smtClean="0"/>
              <a:t>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约束</a:t>
            </a:r>
            <a:r>
              <a:rPr lang="zh-CN" altLang="en-US" sz="3200" b="1" dirty="0">
                <a:solidFill>
                  <a:srgbClr val="FF0000"/>
                </a:solidFill>
              </a:rPr>
              <a:t>；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管束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/>
              <a:t>I </a:t>
            </a:r>
            <a:r>
              <a:rPr lang="en-US" altLang="zh-CN" sz="3200" b="1" u="sng" dirty="0">
                <a:solidFill>
                  <a:srgbClr val="FF0000"/>
                </a:solidFill>
              </a:rPr>
              <a:t>restrict myself to (drinking)</a:t>
            </a:r>
            <a:r>
              <a:rPr lang="en-US" altLang="zh-CN" sz="3200" b="1" dirty="0"/>
              <a:t> one cup of coffee a day</a:t>
            </a:r>
            <a:r>
              <a:rPr lang="en-US" altLang="zh-CN" sz="3200" b="1" dirty="0" smtClean="0"/>
              <a:t>.</a:t>
            </a:r>
            <a:endParaRPr lang="en-US" altLang="zh-CN" sz="3200" b="1" dirty="0" smtClean="0"/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 smtClean="0"/>
              <a:t>我</a:t>
            </a:r>
            <a:r>
              <a:rPr lang="zh-CN" altLang="en-US" sz="3200" b="1" dirty="0"/>
              <a:t>控制自己每天只喝一杯咖啡。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restriction  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n. </a:t>
            </a:r>
            <a:r>
              <a:rPr lang="en-US" altLang="zh-CN" sz="3200" b="1" i="1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 smtClean="0">
                <a:sym typeface="+mn-ea"/>
              </a:rPr>
              <a:t>限制</a:t>
            </a:r>
            <a:r>
              <a:rPr lang="en-US" altLang="zh-CN" sz="3200" b="1" dirty="0" smtClean="0">
                <a:sym typeface="+mn-ea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U</a:t>
            </a:r>
            <a:r>
              <a:rPr lang="zh-CN" altLang="en-US" sz="3200" b="1" dirty="0">
                <a:sym typeface="+mn-ea"/>
              </a:rPr>
              <a:t>；限制性规定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</a:t>
            </a:r>
            <a:endParaRPr lang="zh-CN" altLang="en-US" sz="3200" b="1" dirty="0">
              <a:sym typeface="+mn-ea"/>
            </a:endParaRPr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对某事实行限制</a:t>
            </a:r>
            <a:endParaRPr lang="zh-CN" altLang="en-US" sz="3200" b="1" dirty="0">
              <a:sym typeface="+mn-ea"/>
            </a:endParaRPr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The government has agreed to </a:t>
            </a:r>
            <a:r>
              <a:rPr lang="zh-CN" altLang="en-US" sz="3200" b="1" u="sng" dirty="0">
                <a:solidFill>
                  <a:srgbClr val="FF0000"/>
                </a:solidFill>
                <a:sym typeface="+mn-ea"/>
              </a:rPr>
              <a:t>lift restrictions on</a:t>
            </a:r>
            <a:r>
              <a:rPr lang="zh-CN" altLang="en-US" sz="3200" b="1" dirty="0">
                <a:sym typeface="+mn-ea"/>
              </a:rPr>
              <a:t> press freedom.</a:t>
            </a:r>
            <a:endParaRPr lang="zh-CN" altLang="en-US" sz="3200" b="1" dirty="0">
              <a:sym typeface="+mn-ea"/>
            </a:endParaRPr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政府已经同意</a:t>
            </a:r>
            <a:r>
              <a:rPr lang="zh-CN" altLang="en-US" sz="3200" b="1" u="sng" dirty="0">
                <a:sym typeface="+mn-ea"/>
              </a:rPr>
              <a:t>撤销</a:t>
            </a:r>
            <a:r>
              <a:rPr lang="zh-CN" altLang="en-US" sz="3200" b="1" dirty="0">
                <a:sym typeface="+mn-ea"/>
              </a:rPr>
              <a:t>对新闻自由</a:t>
            </a:r>
            <a:r>
              <a:rPr lang="zh-CN" altLang="en-US" sz="3200" b="1" u="sng" dirty="0">
                <a:sym typeface="+mn-ea"/>
              </a:rPr>
              <a:t>的限制</a:t>
            </a:r>
            <a:r>
              <a:rPr lang="zh-CN" altLang="en-US" sz="3200" b="1" dirty="0">
                <a:sym typeface="+mn-ea"/>
              </a:rPr>
              <a:t>。</a:t>
            </a:r>
            <a:endParaRPr lang="zh-CN" altLang="en-US" sz="3200" b="1" dirty="0">
              <a:sym typeface="+mn-ea"/>
            </a:endParaRPr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sym typeface="+mn-ea"/>
              </a:rPr>
              <a:t>There are no restrictions on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the amount of money you can withdraw.</a:t>
            </a:r>
            <a:endParaRPr lang="zh-CN" altLang="en-US" sz="3200" b="1" dirty="0">
              <a:sym typeface="+mn-ea"/>
            </a:endParaRPr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取款没有限额。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048000" y="289941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impose/place a restriction on sth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endParaRPr lang="en-US" altLang="zh-CN" sz="3200" b="1" dirty="0" smtClean="0">
              <a:solidFill>
                <a:srgbClr val="FF0000"/>
              </a:solidFill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3400" y="212563"/>
            <a:ext cx="10972800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完成句子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1)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He dislikes their 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 (</a:t>
            </a:r>
            <a:r>
              <a:rPr lang="en-US" altLang="zh-CN" sz="3200" b="1" dirty="0" smtClean="0"/>
              <a:t>restrict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his freedom of choice.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城区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车速限制为每小时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30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公里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speed in town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is restricted 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30 km/h.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This time as an expert witness, he used environmental protection laws to explain _________ (restrict) on development in and around wetlands.</a:t>
            </a:r>
            <a:endParaRPr 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92771" y="796114"/>
            <a:ext cx="2141897" cy="631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restriction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58044" y="3707582"/>
            <a:ext cx="214630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restrictions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156845"/>
            <a:ext cx="12012930" cy="63379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Should 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prohibit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geneticists from using it to enhance healthy bodies?</a:t>
            </a:r>
            <a:endParaRPr lang="en-US" altLang="zh-CN" sz="3200" b="1" dirty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214820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prohibit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200" b="1" i="1" dirty="0" err="1" smtClean="0">
                <a:solidFill>
                  <a:srgbClr val="FF0000"/>
                </a:solidFill>
              </a:rPr>
              <a:t>vt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.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443230" fontAlgn="auto">
              <a:lnSpc>
                <a:spcPct val="120000"/>
              </a:lnSpc>
            </a:pPr>
            <a:r>
              <a:rPr lang="zh-CN" altLang="zh-CN" sz="3200" b="1" dirty="0" smtClean="0"/>
              <a:t>①</a:t>
            </a:r>
            <a:r>
              <a:rPr lang="en-US" altLang="zh-CN" sz="3200" b="1" dirty="0" smtClean="0"/>
              <a:t> </a:t>
            </a:r>
            <a:r>
              <a:rPr lang="en-US" altLang="zh-CN" sz="3200" b="1" i="1" dirty="0" smtClean="0"/>
              <a:t>to </a:t>
            </a:r>
            <a:r>
              <a:rPr lang="en-US" altLang="zh-CN" sz="3200" b="1" i="1" dirty="0"/>
              <a:t>stop something from being done or used especially by </a:t>
            </a:r>
            <a:r>
              <a:rPr lang="en-US" altLang="zh-CN" sz="3200" b="1" i="1" dirty="0" smtClean="0"/>
              <a:t>law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</a:rPr>
              <a:t>尤指以法令</a:t>
            </a:r>
            <a:r>
              <a:rPr lang="en-US" altLang="zh-CN" sz="3200" b="1" dirty="0">
                <a:solidFill>
                  <a:srgbClr val="FF0000"/>
                </a:solidFill>
              </a:rPr>
              <a:t>)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禁止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forbid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44323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prohibit 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sb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from doing </a:t>
            </a:r>
            <a:r>
              <a:rPr lang="en-US" altLang="zh-CN" sz="3200" b="1" dirty="0" err="1" smtClean="0">
                <a:solidFill>
                  <a:srgbClr val="FF0000"/>
                </a:solidFill>
              </a:rPr>
              <a:t>sth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3200" b="1" dirty="0" smtClean="0"/>
              <a:t>禁止某人做某事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443230" fontAlgn="auto">
              <a:lnSpc>
                <a:spcPct val="120000"/>
              </a:lnSpc>
            </a:pPr>
            <a:r>
              <a:rPr lang="en-US" altLang="zh-CN" sz="3200" b="1" dirty="0"/>
              <a:t>法律禁止人们在该地区狩猎动物。</a:t>
            </a:r>
            <a:endParaRPr lang="en-US" altLang="zh-CN" sz="3200" b="1" dirty="0"/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law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prohibits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people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from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hunting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animals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area</a:t>
            </a: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2740" y="492125"/>
            <a:ext cx="1152652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zh-CN" altLang="zh-CN" sz="3200" b="1" dirty="0" smtClean="0"/>
              <a:t>② </a:t>
            </a:r>
            <a:r>
              <a:rPr lang="en-US" altLang="zh-CN" sz="3200" b="1" i="1" dirty="0"/>
              <a:t>make (</a:t>
            </a:r>
            <a:r>
              <a:rPr lang="en-US" altLang="zh-CN" sz="3200" b="1" i="1" dirty="0" err="1"/>
              <a:t>sth</a:t>
            </a:r>
            <a:r>
              <a:rPr lang="en-US" altLang="zh-CN" sz="3200" b="1" i="1" dirty="0"/>
              <a:t>) impossible </a:t>
            </a:r>
            <a:r>
              <a:rPr lang="zh-CN" altLang="en-US" sz="3200" b="1" dirty="0">
                <a:solidFill>
                  <a:srgbClr val="FF0000"/>
                </a:solidFill>
              </a:rPr>
              <a:t>使不可能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prevent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 smtClean="0"/>
              <a:t>The </a:t>
            </a:r>
            <a:r>
              <a:rPr lang="en-US" altLang="zh-CN" sz="3200" b="1" dirty="0"/>
              <a:t>high cost </a:t>
            </a:r>
            <a:r>
              <a:rPr lang="en-US" altLang="zh-CN" sz="3200" b="1" dirty="0">
                <a:solidFill>
                  <a:srgbClr val="FF0000"/>
                </a:solidFill>
              </a:rPr>
              <a:t>prohibits</a:t>
            </a:r>
            <a:r>
              <a:rPr lang="en-US" altLang="zh-CN" sz="3200" b="1" dirty="0"/>
              <a:t> the widespread use of the drug. </a:t>
            </a:r>
            <a:endParaRPr lang="en-US" altLang="zh-CN" sz="3200" b="1" dirty="0" smtClean="0"/>
          </a:p>
          <a:p>
            <a:pPr indent="-716280" fontAlgn="auto">
              <a:lnSpc>
                <a:spcPct val="120000"/>
              </a:lnSpc>
            </a:pPr>
            <a:r>
              <a:rPr lang="zh-CN" altLang="en-US" sz="3200" b="1" dirty="0" smtClean="0"/>
              <a:t>该</a:t>
            </a:r>
            <a:r>
              <a:rPr lang="zh-CN" altLang="en-US" sz="3200" b="1" dirty="0"/>
              <a:t>药昂贵而影响广泛</a:t>
            </a:r>
            <a:r>
              <a:rPr lang="zh-CN" altLang="en-US" sz="3200" b="1" dirty="0" smtClean="0"/>
              <a:t>应用。</a:t>
            </a:r>
            <a:endParaRPr lang="zh-CN" altLang="en-US" sz="3200" b="1" dirty="0" smtClean="0"/>
          </a:p>
          <a:p>
            <a:pPr indent="-716280" fontAlgn="auto">
              <a:lnSpc>
                <a:spcPct val="120000"/>
              </a:lnSpc>
            </a:pP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prohibition  /prəʊɪˈbɪʃn/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禁止；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禁令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prohibition against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selling alcohol to people under the age of 18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1628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禁止向 18 岁以下青少年售酒的法令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8238" y="638212"/>
            <a:ext cx="10624457" cy="48158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根据汉语意思补全下面句子（每空一词）。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办公楼内禁止抽烟。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53340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 ________ 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__________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the office building. 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他因视力弱而不能当飞行员。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His poor eyesight 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__________ _______ _______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 a pilot.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i="0" u="none" strike="noStrike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Please note that any _________ (prohibit) items will be taken away by the Office of Residence Life.</a:t>
            </a:r>
            <a:endParaRPr lang="en-US" altLang="zh-CN" sz="3200" b="1" i="0" u="none" strike="noStrike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矩形 4"/>
          <p:cNvSpPr/>
          <p:nvPr>
            <p:custDataLst>
              <p:tags r:id="rId1"/>
            </p:custDataLst>
          </p:nvPr>
        </p:nvSpPr>
        <p:spPr>
          <a:xfrm>
            <a:off x="1157264" y="1773907"/>
            <a:ext cx="5794150" cy="631711"/>
          </a:xfrm>
          <a:prstGeom prst="rect">
            <a:avLst/>
          </a:prstGeom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Smoking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is       prohibited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 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172672" y="2989925"/>
            <a:ext cx="6993774" cy="631711"/>
          </a:xfrm>
          <a:prstGeom prst="rect">
            <a:avLst/>
          </a:prstGeom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prohibited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him        from    becoming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528185" y="416433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prohibited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4" grpId="0"/>
      <p:bldP spid="4" grpId="1"/>
      <p:bldP spid="3" grpId="0"/>
      <p:bldP spid="3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19136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increase the human resistance to colds and flus</a:t>
            </a:r>
            <a:endParaRPr lang="en-US" altLang="zh-CN" sz="3200" b="1" dirty="0" smtClean="0">
              <a:solidFill>
                <a:srgbClr val="FF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zh-CN" altLang="en-US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增加对……的抵抗力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build up a resistance to sth</a:t>
            </a:r>
            <a:r>
              <a:rPr lang="en-US" sz="3200" b="1" dirty="0">
                <a:solidFill>
                  <a:srgbClr val="FF0000"/>
                </a:solidFill>
                <a:sym typeface="+mn-ea"/>
              </a:rPr>
              <a:t>)</a:t>
            </a:r>
            <a:endParaRPr lang="zh-CN" altLang="en-US" sz="3200" b="1" dirty="0" smtClean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zh-CN" altLang="en-US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这种疾病非常容易感染，因为大多数人对它没有抵抗力。</a:t>
            </a:r>
            <a:endParaRPr lang="zh-CN" altLang="en-US" sz="3200" b="1" dirty="0" smtClean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This disease is surprisingly easy to catch, as most people have no resistance to it.</a:t>
            </a:r>
            <a:endParaRPr lang="en-US" altLang="zh-CN" sz="3200" b="1" dirty="0" smtClean="0">
              <a:solidFill>
                <a:srgbClr val="FF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endParaRPr lang="en-US" altLang="zh-CN" sz="3200" b="1" dirty="0" smtClean="0">
              <a:solidFill>
                <a:srgbClr val="FF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resistance </a:t>
            </a:r>
            <a:r>
              <a:rPr lang="en-US" altLang="zh-CN" sz="3200" b="1" i="1" dirty="0" smtClean="0">
                <a:solidFill>
                  <a:srgbClr val="FF0000"/>
                </a:solidFill>
                <a:effectLst/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抵抗，反对</a:t>
            </a:r>
            <a:endParaRPr lang="en-US" altLang="zh-CN" sz="3200" b="1" dirty="0" smtClean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design of the bicycle has managed to reduce the effects of 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wind resistance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zh-CN" sz="3200" b="1" dirty="0" smtClean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There has been a lot of 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resistance </a:t>
            </a:r>
            <a:r>
              <a:rPr lang="en-US" altLang="zh-CN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this new law.</a:t>
            </a:r>
            <a:endParaRPr lang="en-US" altLang="zh-CN" sz="3200" b="1" dirty="0" smtClean="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这项新的法规已经遭到强烈</a:t>
            </a:r>
            <a:r>
              <a:rPr lang="en-US" altLang="zh-CN" sz="3200" b="1" u="sng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抵制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en-US" altLang="zh-CN" sz="3200" b="1" dirty="0" smtClean="0">
              <a:solidFill>
                <a:srgbClr val="FF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19136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resist </a:t>
            </a:r>
            <a:r>
              <a:rPr lang="en-US" altLang="zh-CN" sz="3200" b="1" i="1" dirty="0" smtClean="0">
                <a:solidFill>
                  <a:srgbClr val="FF0000"/>
                </a:solidFill>
                <a:effectLst/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vi.&amp;vt. 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反对；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抵抗；忍住；使不受……的伤害</a:t>
            </a:r>
            <a:endParaRPr lang="zh-CN" altLang="en-US" sz="3200" b="1" i="1" dirty="0" smtClean="0">
              <a:solidFill>
                <a:srgbClr val="FF0000"/>
              </a:solidFill>
              <a:effectLst/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bank strongly </a:t>
            </a:r>
            <a:r>
              <a:rPr lang="en-US" altLang="zh-CN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resisted cutting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interest rates.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银行强烈反对降低利率。</a:t>
            </a:r>
            <a:endParaRPr lang="en-US" altLang="zh-CN" sz="3200" b="1" u="sng" dirty="0" smtClean="0">
              <a:solidFill>
                <a:srgbClr val="FF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couldn’t resist the temptation to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open the gift.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</a:t>
            </a:r>
            <a:r>
              <a:rPr lang="zh-CN" altLang="en-US" sz="3200" b="1" u="sng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抵制不住诱惑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把礼物打开了。</a:t>
            </a:r>
            <a:r>
              <a:rPr lang="zh-CN" altLang="en-US" sz="3200" b="1" i="1" dirty="0" smtClean="0">
                <a:solidFill>
                  <a:srgbClr val="0000FF"/>
                </a:solidFill>
                <a:effectLst/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stop yourself from doing it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bird is 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resisting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fluttering his tiny wings, still making an effort to fly. 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挣扎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healthy diet should help your body </a:t>
            </a:r>
            <a:r>
              <a:rPr lang="en-US" altLang="zh-CN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resist infection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健康饮食有助于身体</a:t>
            </a:r>
            <a:r>
              <a:rPr lang="en-US" altLang="zh-CN" sz="3200" b="1" u="sng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抗感染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This new paint is designed to </a:t>
            </a:r>
            <a:r>
              <a:rPr lang="en-US" altLang="zh-CN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resist heat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这种新油漆具有</a:t>
            </a:r>
            <a:r>
              <a:rPr lang="en-US" altLang="zh-CN" sz="3200" b="1" u="sng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耐热性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191365" cy="5406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720725" fontAlgn="auto">
              <a:lnSpc>
                <a:spcPct val="120000"/>
              </a:lnSpc>
            </a:pPr>
            <a:r>
              <a:rPr lang="en-US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resistant adj. 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有抵抗力的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plants that are </a:t>
            </a:r>
            <a:r>
              <a:rPr lang="zh-CN" altLang="en-US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resistant to</a:t>
            </a:r>
            <a:r>
              <a:rPr lang="zh-CN" altLang="en-US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disease</a:t>
            </a:r>
            <a:endParaRPr lang="zh-CN" altLang="en-US" sz="3200" b="1" dirty="0" smtClean="0">
              <a:solidFill>
                <a:srgbClr val="FF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fire-resistant materials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耐火材料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i="1" dirty="0" smtClean="0">
                <a:solidFill>
                  <a:srgbClr val="FF0000"/>
                </a:solidFill>
                <a:effectLst/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*hear-resistant, water-resistant</a:t>
            </a:r>
            <a:endParaRPr lang="en-US" altLang="zh-CN" sz="3200" b="1" i="1" dirty="0" smtClean="0">
              <a:solidFill>
                <a:srgbClr val="FF0000"/>
              </a:solidFill>
              <a:effectLst/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】</a:t>
            </a:r>
            <a:endParaRPr lang="zh-CN" altLang="en-US" sz="3200" b="1" dirty="0" smtClean="0">
              <a:solidFill>
                <a:srgbClr val="FF0000"/>
              </a:solidFill>
              <a:effectLst/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1) 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他忍不住要炫耀自己的好成绩。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 couldn’t resist showing off his high grades.</a:t>
            </a:r>
            <a:endParaRPr lang="en-US" altLang="zh-CN" sz="3200" b="1" dirty="0" smtClean="0">
              <a:solidFill>
                <a:srgbClr val="FF0000"/>
              </a:solidFill>
              <a:effectLst/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2) 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改良植物来让它们对疾病有抵抗力。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Improve plants to ____________________________.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296920" y="472440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make them resistant to disease</a:t>
            </a:r>
            <a:endParaRPr lang="en-US" altLang="zh-CN" sz="3200" b="1" dirty="0" smtClean="0">
              <a:solidFill>
                <a:srgbClr val="FF0000"/>
              </a:solidFill>
              <a:effectLst/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191365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3) </a:t>
            </a: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Their tall bodies are topped with long fiberglass blades, made </a:t>
            </a:r>
            <a:r>
              <a:rPr 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resist</a:t>
            </a: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toughest, windiest conditions.</a:t>
            </a:r>
            <a:endParaRPr 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= </a:t>
            </a:r>
            <a:r>
              <a:rPr lang="en-US" altLang="zh-CN" sz="3200" b="1" dirty="0" smtClean="0"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Their tall bodies are topped with long fiberglass blades, _________ (resist) to the toughest, windiest conditions.</a:t>
            </a:r>
            <a:endParaRPr 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= Their tall bodies are topped with long fiberglass blades, made to have _________ (resist) to the toughest, windiest conditions.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298430" y="1117600"/>
            <a:ext cx="172974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resistant</a:t>
            </a: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sz="3200" b="1" dirty="0" smtClean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22350" y="2952750"/>
            <a:ext cx="2237105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resistance</a:t>
            </a:r>
            <a:endParaRPr lang="en-US" sz="3200" b="1" dirty="0" smtClean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" grpId="1"/>
      <p:bldP spid="4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19136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Philosophers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geneticists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and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government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officials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have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all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started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wrestle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such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moral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issues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has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wrestled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professionally for many years.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他从事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专业摔跤已经很多年了。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wrestle with 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sb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（与某人）摔跤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﹔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扭打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Shoppers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wrestled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robber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ground.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购物的人把抢劫者摔倒在地上。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336800" fontAlgn="auto">
              <a:lnSpc>
                <a:spcPct val="120000"/>
              </a:lnSpc>
            </a:pPr>
            <a:r>
              <a:rPr lang="en-US" altLang="zh-CN" sz="3200" b="1" i="1" dirty="0"/>
              <a:t>to struggle to deal with something that is </a:t>
            </a:r>
            <a:r>
              <a:rPr lang="en-US" altLang="zh-CN" sz="3200" b="1" i="1" dirty="0" smtClean="0"/>
              <a:t>difficult 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努力</a:t>
            </a:r>
            <a:r>
              <a:rPr lang="zh-CN" altLang="en-US" sz="3200" b="1" dirty="0">
                <a:solidFill>
                  <a:srgbClr val="FF0000"/>
                </a:solidFill>
              </a:rPr>
              <a:t>处理，全力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解决</a:t>
            </a:r>
            <a:endParaRPr lang="en-US" altLang="zh-CN" sz="3200" b="1" dirty="0" smtClean="0">
              <a:solidFill>
                <a:srgbClr val="FF0000"/>
              </a:solidFill>
            </a:endParaRPr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 smtClean="0"/>
              <a:t>She </a:t>
            </a:r>
            <a:r>
              <a:rPr lang="en-US" altLang="zh-CN" sz="3200" b="1" dirty="0"/>
              <a:t>helped me solve the problem I had been </a:t>
            </a:r>
            <a:r>
              <a:rPr lang="en-US" altLang="zh-CN" sz="3200" b="1" u="sng" dirty="0">
                <a:solidFill>
                  <a:srgbClr val="FF0000"/>
                </a:solidFill>
              </a:rPr>
              <a:t>wrestling with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for weeks</a:t>
            </a:r>
            <a:r>
              <a:rPr lang="en-US" altLang="zh-CN" sz="3200" b="1" dirty="0" smtClean="0"/>
              <a:t>.</a:t>
            </a:r>
            <a:endParaRPr lang="en-US" altLang="zh-CN" sz="3200" b="1" dirty="0" smtClean="0"/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/>
              <a:t>She has been </a:t>
            </a:r>
            <a:r>
              <a:rPr lang="en-US" altLang="zh-CN" sz="3200" b="1" u="sng" dirty="0">
                <a:solidFill>
                  <a:srgbClr val="FF0000"/>
                </a:solidFill>
              </a:rPr>
              <a:t>wrestling to raise </a:t>
            </a:r>
            <a:r>
              <a:rPr lang="en-US" altLang="zh-CN" sz="3200" b="1" dirty="0"/>
              <a:t>the money all year.</a:t>
            </a:r>
            <a:endParaRPr lang="en-US" altLang="zh-CN" sz="3200" b="1" dirty="0"/>
          </a:p>
          <a:p>
            <a:pPr indent="-720725" fontAlgn="auto">
              <a:lnSpc>
                <a:spcPct val="120000"/>
              </a:lnSpc>
            </a:pPr>
            <a:r>
              <a:rPr lang="en-US" altLang="zh-CN" sz="3200" b="1" dirty="0"/>
              <a:t>她一年来一直在想方设法筹集这笔资金。</a:t>
            </a:r>
            <a:endParaRPr lang="en-US" altLang="zh-C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8604" y="757767"/>
            <a:ext cx="10832592" cy="4768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spent the whole weekend wrestling ___________ the problem.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has been wrestling ____________ (raise) the money all year.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police officer grabbed the man and wrestled him ___________ the ground.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two men wrestled ___________ each other.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34652" y="2550421"/>
            <a:ext cx="15760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raise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33797" y="1287183"/>
            <a:ext cx="106150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with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16061" y="4257791"/>
            <a:ext cx="62869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41397" y="4792383"/>
            <a:ext cx="106150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with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65735" y="270510"/>
            <a:ext cx="1202626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This 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means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putting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appropriate controls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in place 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to make sure that genome editing will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work to our advantage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23405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</a:t>
            </a:r>
            <a:r>
              <a:rPr lang="en-US" altLang="zh-CN" sz="3200" b="1" dirty="0" err="1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place: </a:t>
            </a:r>
            <a:r>
              <a:rPr lang="zh-CN" altLang="en-US" sz="3200" b="1" dirty="0" smtClean="0">
                <a:latin typeface="+mn-ea"/>
                <a:cs typeface="Times New Roman" panose="02020503050405090304" pitchFamily="18" charset="0"/>
              </a:rPr>
              <a:t>把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放在正确位置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，准备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就绪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ready to work</a:t>
            </a:r>
            <a:endParaRPr lang="en-US" altLang="zh-CN" sz="3200" b="1" i="1" dirty="0" smtClean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/>
              <a:t>All </a:t>
            </a:r>
            <a:r>
              <a:rPr lang="en-US" altLang="zh-CN" sz="3200" b="1" dirty="0"/>
              <a:t>the arrangements </a:t>
            </a:r>
            <a:r>
              <a:rPr lang="en-US" altLang="zh-CN" sz="3200" b="1" dirty="0">
                <a:solidFill>
                  <a:srgbClr val="FF0000"/>
                </a:solidFill>
              </a:rPr>
              <a:t>are</a:t>
            </a:r>
            <a:r>
              <a:rPr lang="en-US" altLang="zh-CN" sz="3200" b="1" dirty="0"/>
              <a:t> now </a:t>
            </a:r>
            <a:r>
              <a:rPr lang="en-US" altLang="zh-CN" sz="3200" b="1" dirty="0">
                <a:solidFill>
                  <a:srgbClr val="FF0000"/>
                </a:solidFill>
              </a:rPr>
              <a:t>in place </a:t>
            </a:r>
            <a:r>
              <a:rPr lang="en-US" altLang="zh-CN" sz="3200" b="1" dirty="0"/>
              <a:t>for the meeting.</a:t>
            </a:r>
            <a:endParaRPr lang="en-US" altLang="zh-CN" sz="3200" b="1" dirty="0"/>
          </a:p>
          <a:p>
            <a:pPr indent="-622300" fontAlgn="auto">
              <a:lnSpc>
                <a:spcPct val="120000"/>
              </a:lnSpc>
            </a:pPr>
            <a:r>
              <a:rPr lang="zh-CN" altLang="en-US" sz="3200" b="1" dirty="0" smtClean="0"/>
              <a:t>会议</a:t>
            </a:r>
            <a:r>
              <a:rPr lang="zh-CN" altLang="en-US" sz="3200" b="1" dirty="0"/>
              <a:t>的一切事宜都已安排妥当</a:t>
            </a:r>
            <a:r>
              <a:rPr lang="zh-CN" altLang="en-US" sz="3200" b="1" dirty="0" smtClean="0"/>
              <a:t>。</a:t>
            </a:r>
            <a:endParaRPr lang="zh-CN" altLang="en-US" sz="3200" b="1" dirty="0" smtClean="0"/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</a:rPr>
              <a:t>be out of place</a:t>
            </a:r>
            <a:endParaRPr lang="zh-CN" altLang="en-US" sz="3200" b="1" dirty="0" smtClean="0">
              <a:solidFill>
                <a:srgbClr val="FF0000"/>
              </a:solidFill>
            </a:endParaRPr>
          </a:p>
          <a:p>
            <a:pPr indent="-622300" fontAlgn="auto">
              <a:lnSpc>
                <a:spcPct val="120000"/>
              </a:lnSpc>
            </a:pP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work(be)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one’s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advantage: 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某人</a:t>
            </a: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有利</a:t>
            </a:r>
            <a:endParaRPr lang="zh-CN" alt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know you're disappointed about the delay, but I think this can actually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work to our advantage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我知道你对延期很失望，但我觉得这对我们很有利。</a:t>
            </a:r>
            <a:endParaRPr lang="zh-CN" altLang="en-US" sz="3200" b="1" dirty="0"/>
          </a:p>
        </p:txBody>
      </p:sp>
      <p:sp>
        <p:nvSpPr>
          <p:cNvPr id="2" name="Text Box 1"/>
          <p:cNvSpPr txBox="1"/>
          <p:nvPr/>
        </p:nvSpPr>
        <p:spPr>
          <a:xfrm>
            <a:off x="3048000" y="3210560"/>
            <a:ext cx="6096000" cy="68199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n-ea"/>
                <a:cs typeface="Times New Roman" panose="02020503050405090304" pitchFamily="18" charset="0"/>
                <a:sym typeface="+mn-ea"/>
              </a:rPr>
              <a:t>格格不入，</a:t>
            </a:r>
            <a:r>
              <a:rPr lang="zh-CN" altLang="en-US" sz="3200" b="1" dirty="0" smtClean="0">
                <a:latin typeface="+mn-ea"/>
                <a:cs typeface="Times New Roman" panose="02020503050405090304" pitchFamily="18" charset="0"/>
                <a:sym typeface="+mn-ea"/>
              </a:rPr>
              <a:t>位置不当</a:t>
            </a:r>
            <a:endParaRPr lang="zh-CN" altLang="en-US" sz="3200" b="1" dirty="0" smtClean="0">
              <a:latin typeface="+mn-ea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04470" y="0"/>
            <a:ext cx="1166812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Without doubt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, genome editing is one of the greatest inventions in the history of science.</a:t>
            </a:r>
            <a:endParaRPr lang="en-US" altLang="zh-CN" sz="3200" b="1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毫无疑问，基因组编辑是科学史上最伟大的发明之一。</a:t>
            </a:r>
            <a:endParaRPr lang="en-US" altLang="zh-CN" sz="32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234055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without doubt: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毫无疑问，的确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=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beyond doubt, undoubtedly, have no doubt about sth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234055" fontAlgn="auto">
              <a:lnSpc>
                <a:spcPct val="120000"/>
              </a:lnSpc>
            </a:pPr>
            <a:r>
              <a:rPr lang="en-US" altLang="zh-CN" sz="3200" b="1" i="1" dirty="0" smtClean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used to emphasize the point in the sentence</a:t>
            </a:r>
            <a:endParaRPr lang="en-US" altLang="zh-CN" sz="3200" b="1" i="1" dirty="0" smtClean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622300" indent="-6223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doubt C/U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疑惑；不相信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pPr marL="622300" indent="-622300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Jo is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without doubt </a:t>
            </a:r>
            <a:r>
              <a:rPr lang="en-US" altLang="zh-CN" sz="3200" b="1" dirty="0">
                <a:sym typeface="+mn-ea"/>
              </a:rPr>
              <a:t>one of the finest swimmers in the school</a:t>
            </a:r>
            <a:r>
              <a:rPr lang="en-US" altLang="zh-CN" sz="3200" b="1" dirty="0" smtClean="0">
                <a:sym typeface="+mn-ea"/>
              </a:rPr>
              <a:t>.</a:t>
            </a:r>
            <a:endParaRPr lang="en-US" altLang="zh-CN" sz="3200" b="1" dirty="0" smtClean="0">
              <a:sym typeface="+mn-ea"/>
            </a:endParaRP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 is some/no/little doubt about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sth/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 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从句</a:t>
            </a:r>
            <a:endParaRPr lang="en-US" altLang="zh-CN" sz="3200" b="1" dirty="0" smtClean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u="sng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If you are</a:t>
            </a:r>
            <a:r>
              <a:rPr lang="en-US" altLang="zh-CN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in any doubt </a:t>
            </a:r>
            <a:r>
              <a:rPr lang="en-US" altLang="zh-CN" sz="3200" b="1" u="sng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to whether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 should be doing these exercises, consult your doctor. </a:t>
            </a:r>
            <a:r>
              <a:rPr lang="zh-CN" altLang="en-US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关于……拿不定主意</a:t>
            </a:r>
            <a:endParaRPr lang="en-US" altLang="zh-CN" sz="3200" b="1" dirty="0" smtClean="0"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192000" cy="5406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a feeling of doubt and uncertainty 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迟疑不定的感受</a:t>
            </a:r>
            <a:endParaRPr lang="en-US" altLang="zh-CN" sz="3200" b="1" dirty="0" smtClean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New evidence has </a:t>
            </a:r>
            <a:r>
              <a:rPr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cast doubt on</a:t>
            </a:r>
            <a:r>
              <a:rPr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the guilt of the man jailed for the crime.</a:t>
            </a:r>
            <a:r>
              <a:rPr lang="en-US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raise doubts about)</a:t>
            </a:r>
            <a:endParaRPr sz="3200" b="1" dirty="0" smtClean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zh-CN" altLang="en-US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对……</a:t>
            </a:r>
            <a:r>
              <a:rPr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产生怀疑</a:t>
            </a:r>
            <a:endParaRPr sz="3200" b="1" dirty="0" smtClean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Whether he will continue to be successful in future </a:t>
            </a:r>
            <a:r>
              <a:rPr lang="en-US" altLang="zh-CN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is open to doubt</a:t>
            </a:r>
            <a:r>
              <a:rPr lang="en-US" altLang="zh-CN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 smtClean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zh-CN" altLang="en-US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有待</a:t>
            </a:r>
            <a:r>
              <a:rPr lang="zh-CN" altLang="en-US" sz="3200" b="1" dirty="0" smtClean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证明的</a:t>
            </a:r>
            <a:endParaRPr lang="zh-CN" altLang="en-US" sz="3200" b="1" dirty="0" smtClean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doubt </a:t>
            </a: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v. </a:t>
            </a:r>
            <a:endParaRPr lang="en-US" altLang="zh-CN" sz="3200" b="1" dirty="0" smtClean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我不敢肯定这个新的是否会好些。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 doubt whether/if the new one will be any better.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12192000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doubtful adj. 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人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拿不定主意，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怀疑；难说，未必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 smtClean="0">
                <a:solidFill>
                  <a:schemeClr val="tx1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</a:rPr>
              <a:t>unlikly</a:t>
            </a:r>
            <a:endParaRPr lang="en-US" altLang="zh-CN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be doubtful about (doing) sth 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对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做</a:t>
            </a:r>
            <a:r>
              <a:rPr lang="en-US" altLang="zh-CN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……拿不定主意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With her injuries </a:t>
            </a:r>
            <a:r>
              <a:rPr lang="zh-CN" altLang="en-US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it's doubtful that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she'll ever walk again.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她多处受伤，今后能否行走还很难说。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zh-CN" altLang="en-US" sz="3200" b="1" u="sng" dirty="0" smtClean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It's doubtful whether</a:t>
            </a: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the car will last another year.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2230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这辆汽车未必还能用上一年。</a:t>
            </a:r>
            <a:endParaRPr lang="zh-CN" altLang="en-US" sz="3200" b="1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9555" y="236855"/>
            <a:ext cx="11739880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根据汉语意思补全下面句子（每空一词）。</a:t>
            </a:r>
            <a:endParaRPr lang="en-US" altLang="zh-CN" sz="3200" b="1" dirty="0" smtClean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他毫无疑问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是我所教过的学生中最聪明的。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is ________ _______ the cleverest student I've ever taught.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她拿不定主意是否接受他的</a:t>
            </a:r>
            <a:r>
              <a:rPr lang="zh-CN" altLang="en-US" sz="32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帮助。</a:t>
            </a:r>
            <a:endParaRPr lang="zh-CN" altLang="en-US" sz="3200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She ____ _________ _______  __________ his help.</a:t>
            </a:r>
            <a:endParaRPr lang="en-US" altLang="zh-CN" sz="3200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3) You ____________ (doubt) </a:t>
            </a:r>
            <a:r>
              <a:rPr lang="en-US" altLang="zh-CN" sz="32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aren’t the first person he’s met who needs enough room.</a:t>
            </a:r>
            <a:endParaRPr lang="en-US" altLang="zh-CN" sz="3200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我完全相信你有能力做好</a:t>
            </a:r>
            <a:r>
              <a:rPr lang="zh-CN" altLang="en-US" sz="32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这份工作。</a:t>
            </a:r>
            <a:endParaRPr lang="zh-CN" altLang="en-US" sz="3200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0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I ______ _____ ______ ______ your ability to do this job well.</a:t>
            </a:r>
            <a:endParaRPr lang="en-US" altLang="zh-CN" sz="3200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76680" y="1464945"/>
            <a:ext cx="349377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without 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doubt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4"/>
          <p:cNvSpPr/>
          <p:nvPr>
            <p:custDataLst>
              <p:tags r:id="rId1"/>
            </p:custDataLst>
          </p:nvPr>
        </p:nvSpPr>
        <p:spPr>
          <a:xfrm>
            <a:off x="1097280" y="2599055"/>
            <a:ext cx="646620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   doubtful    about    accepting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4"/>
          <p:cNvSpPr/>
          <p:nvPr>
            <p:custDataLst>
              <p:tags r:id="rId2"/>
            </p:custDataLst>
          </p:nvPr>
        </p:nvSpPr>
        <p:spPr>
          <a:xfrm>
            <a:off x="1663700" y="3182620"/>
            <a:ext cx="646620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undoubtedly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4"/>
          <p:cNvSpPr/>
          <p:nvPr>
            <p:custDataLst>
              <p:tags r:id="rId3"/>
            </p:custDataLst>
          </p:nvPr>
        </p:nvSpPr>
        <p:spPr>
          <a:xfrm>
            <a:off x="549910" y="4951095"/>
            <a:ext cx="646620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     no      doubt     about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3" grpId="0"/>
      <p:bldP spid="7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commondata" val="eyJoZGlkIjoiMmZiYWZlYTIzNGZiMjFhNTBkNTdkY2IwNzZiNDZhMj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5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>
          <a:lnSpc>
            <a:spcPct val="120000"/>
          </a:lnSpc>
          <a:defRPr sz="3200" b="1" dirty="0" smtClean="0">
            <a:solidFill>
              <a:srgbClr val="0000FF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20286</Words>
  <Application>WPS Presentation</Application>
  <PresentationFormat>宽屏</PresentationFormat>
  <Paragraphs>673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4" baseType="lpstr">
      <vt:lpstr>Arial</vt:lpstr>
      <vt:lpstr>宋体</vt:lpstr>
      <vt:lpstr>Wingdings</vt:lpstr>
      <vt:lpstr>Times New Roman</vt:lpstr>
      <vt:lpstr>Times New Roman Bold Italic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Times New Roman 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Elsssie</cp:lastModifiedBy>
  <cp:revision>96</cp:revision>
  <dcterms:created xsi:type="dcterms:W3CDTF">2024-11-21T08:10:36Z</dcterms:created>
  <dcterms:modified xsi:type="dcterms:W3CDTF">2024-11-21T08:10:36Z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04AB5009C2CFDA724C5A316723FF3B76_42</vt:lpwstr>
  </property>
  <property fmtid="{D5CDD505-2E9C-101B-9397-08002B2CF9AE}" pid="3" name="KSOProductBuildVer">
    <vt:lpwstr>1033-6.11.0.8885</vt:lpwstr>
  </property>
</Properties>
</file>