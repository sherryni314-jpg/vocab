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tags/tag24.xml" ContentType="application/vnd.openxmlformats-officedocument.presentationml.tags+xml"/>
  <Override PartName="/ppt/theme/themeOverride3.xml" ContentType="application/vnd.openxmlformats-officedocument.themeOverride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480" r:id="rId2"/>
    <p:sldId id="533" r:id="rId3"/>
    <p:sldId id="513" r:id="rId4"/>
    <p:sldId id="514" r:id="rId5"/>
    <p:sldId id="479" r:id="rId6"/>
    <p:sldId id="483" r:id="rId7"/>
    <p:sldId id="484" r:id="rId8"/>
    <p:sldId id="485" r:id="rId9"/>
    <p:sldId id="486" r:id="rId10"/>
    <p:sldId id="488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9900FF"/>
    <a:srgbClr val="FF6600"/>
    <a:srgbClr val="C4DF92"/>
    <a:srgbClr val="0A74F9"/>
    <a:srgbClr val="FFFFCC"/>
    <a:srgbClr val="FFFFFF"/>
    <a:srgbClr val="E9EBF5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她意识到自己孤单一人，心里感到很不安。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别把我写字台上的文件弄乱了。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b="1">
                <a:cs typeface="Times New Roman" panose="02020503050405090304" pitchFamily="18" charset="0"/>
                <a:sym typeface="+mn-ea"/>
              </a:rPr>
              <a:t>我就他欠我钱的事与他进行了交涉。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分句主语一致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1296000"/>
            <a:ext cx="5283242" cy="5040000"/>
          </a:xfrm>
        </p:spPr>
        <p:txBody>
          <a:bodyPr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1296000"/>
            <a:ext cx="5283242" cy="5040000"/>
          </a:xfrm>
        </p:spPr>
        <p:txBody>
          <a:bodyPr/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05C76-A2AD-4BCB-9108-7B22A61A3B0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836C999-1F73-4BA0-AE0E-2789EB86283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51263C-E8CF-4119-B577-0FE82648A84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CC8131C-4135-4164-A833-B336F49C26A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2588281"/>
            <a:ext cx="10852237" cy="899167"/>
          </a:xfrm>
        </p:spPr>
        <p:txBody>
          <a:bodyPr rIns="25400" anchor="t"/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EE610-2ABC-4943-A275-536C9E8FCA0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35BA618-9C98-442B-AF5B-CD18DAE393B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1296000"/>
            <a:ext cx="5283242" cy="5040000"/>
          </a:xfrm>
        </p:spPr>
        <p:txBody>
          <a:bodyPr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1296000"/>
            <a:ext cx="5283242" cy="5040000"/>
          </a:xfrm>
        </p:spPr>
        <p:txBody>
          <a:bodyPr/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05C76-A2AD-4BCB-9108-7B22A61A3B0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836C999-1F73-4BA0-AE0E-2789EB86283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51263C-E8CF-4119-B577-0FE82648A84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CC8131C-4135-4164-A833-B336F49C26A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2588281"/>
            <a:ext cx="10852237" cy="899167"/>
          </a:xfrm>
        </p:spPr>
        <p:txBody>
          <a:bodyPr rIns="25400" anchor="t"/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EE610-2ABC-4943-A275-536C9E8FCA01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35BA618-9C98-442B-AF5B-CD18DAE393B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2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5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77470" y="0"/>
            <a:ext cx="1226947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fuel concerns about eyesight problems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fuel v.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increase sth or make sth stronger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增加，加剧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出口和工业化刺激了经济繁荣。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_______________________________ by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exports and industrialization.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加剧某人的恐惧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愤怒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fuel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燃料；刺激因素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His remarks simply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added fuel to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her rage.</a:t>
            </a: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给对……的辩论火上浇油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997960" y="23310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fuel one’s fear/anger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6515" y="166751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economic boom was fuel(l)ed</a:t>
            </a:r>
          </a:p>
        </p:txBody>
      </p:sp>
      <p:sp>
        <p:nvSpPr>
          <p:cNvPr id="7" name="Text Box 6"/>
          <p:cNvSpPr txBox="1"/>
          <p:nvPr>
            <p:custDataLst>
              <p:tags r:id="rId1"/>
            </p:custDataLst>
          </p:nvPr>
        </p:nvSpPr>
        <p:spPr>
          <a:xfrm>
            <a:off x="5140325" y="470090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add fuel to the debate over/on sth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  <p:bldP spid="7" grpId="0"/>
      <p:bldP spid="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6456" y="267138"/>
            <a:ext cx="11386159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The figures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disturb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school authorities, who have decided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tackle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this problem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head-on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36220" y="1539875"/>
            <a:ext cx="1157478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0637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disturb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make </a:t>
            </a:r>
            <a:r>
              <a:rPr lang="en-US" altLang="zh-CN" sz="3200" b="1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sb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feel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worried or upset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使不安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disturb sb</a:t>
            </a:r>
            <a:endParaRPr lang="en-US" altLang="zh-CN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indent="-20637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disturbed her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to realize that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she was alone.</a:t>
            </a:r>
          </a:p>
          <a:p>
            <a:pPr indent="-206375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= She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0637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altLang="zh-CN" sz="3200" b="1" i="1" dirty="0">
                <a:latin typeface="+mj-lt"/>
              </a:rPr>
              <a:t>to interrupt somebody 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打扰</a:t>
            </a:r>
            <a:endParaRPr lang="en-US" altLang="zh-CN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indent="-20637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Sorry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disturb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you, but I have an urgent message.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0637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搅乱</a:t>
            </a:r>
          </a:p>
          <a:p>
            <a:pPr indent="-206375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Don't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disturb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papers on my desk.</a:t>
            </a:r>
          </a:p>
        </p:txBody>
      </p:sp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1347470" y="2701290"/>
            <a:ext cx="1107503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was disturbed to realize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that she was alone.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6757" t="10227" r="7432" b="17045"/>
          <a:stretch>
            <a:fillRect/>
          </a:stretch>
        </p:blipFill>
        <p:spPr>
          <a:xfrm>
            <a:off x="907415" y="1241425"/>
            <a:ext cx="1223010" cy="61214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6116320" y="91757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  <a:sym typeface="+mn-ea"/>
              </a:rPr>
              <a:t>a disturbing piece of news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2816860" y="94043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一则令人不安的消息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2289175" y="351155"/>
            <a:ext cx="9708515" cy="4225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disturbing  </a:t>
            </a:r>
            <a:r>
              <a:rPr lang="en-US" altLang="zh-CN" sz="3200" b="1" i="1" dirty="0">
                <a:solidFill>
                  <a:schemeClr val="accent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引起烦恼的，令人不安的</a:t>
            </a:r>
            <a:endParaRPr lang="zh-CN" altLang="en-US" sz="3200" b="1" dirty="0">
              <a:latin typeface="+mj-ea"/>
              <a:ea typeface="+mj-ea"/>
              <a:cs typeface="Times New Roman" panose="02020503050405090304" pitchFamily="18" charset="0"/>
            </a:endParaRPr>
          </a:p>
          <a:p>
            <a:pPr indent="457200" algn="l">
              <a:lnSpc>
                <a:spcPct val="120000"/>
              </a:lnSpc>
            </a:pPr>
            <a:endParaRPr lang="en-US" altLang="zh-CN" sz="3200" b="1" dirty="0">
              <a:latin typeface="+mj-ea"/>
              <a:ea typeface="+mj-ea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disturbed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</a:t>
            </a:r>
            <a:r>
              <a:rPr lang="en-US" altLang="zh-CN" sz="3200" b="1" i="1" dirty="0">
                <a:solidFill>
                  <a:schemeClr val="accent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不安的，烦恼的</a:t>
            </a:r>
            <a:endParaRPr lang="en-US" altLang="zh-CN" sz="3200" b="1" dirty="0">
              <a:latin typeface="+mj-ea"/>
              <a:ea typeface="+mj-ea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 disturbed by/at   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对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感到不安</a:t>
            </a:r>
            <a:endParaRPr lang="en-US" altLang="zh-CN" sz="3200" b="1" dirty="0">
              <a:latin typeface="+mj-ea"/>
              <a:ea typeface="+mj-ea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undisturbed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</a:t>
            </a:r>
            <a:r>
              <a:rPr lang="en-US" altLang="zh-CN" sz="3200" b="1" i="1" dirty="0">
                <a:solidFill>
                  <a:schemeClr val="accent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adj.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未收到干扰的，未被动过的</a:t>
            </a:r>
            <a:endParaRPr lang="zh-CN" altLang="en-US" sz="3200" b="1" dirty="0">
              <a:latin typeface="+mj-ea"/>
              <a:ea typeface="+mj-ea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+mj-ea"/>
                <a:cs typeface="Times New Roman Bold" panose="02020503050405090304" charset="0"/>
                <a:sym typeface="+mn-ea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  <a:sym typeface="+mn-ea"/>
              </a:rPr>
              <a:t>disturbance </a:t>
            </a:r>
            <a:r>
              <a:rPr lang="en-US" altLang="zh-CN" sz="3200" b="1" dirty="0">
                <a:latin typeface="Times New Roman Bold" panose="02020503050405090304" charset="0"/>
                <a:ea typeface="+mj-ea"/>
                <a:cs typeface="Times New Roman Bold" panose="02020503050405090304" charset="0"/>
                <a:sym typeface="+mn-ea"/>
              </a:rPr>
              <a:t>of the local wildlife by tourists</a:t>
            </a:r>
            <a:endParaRPr lang="en-US" altLang="zh-CN" sz="3200" b="1" dirty="0">
              <a:latin typeface="Times New Roman Bold" panose="02020503050405090304" charset="0"/>
              <a:ea typeface="+mj-ea"/>
              <a:cs typeface="Times New Roman Bold" panose="0202050305040509030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accent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 </a:t>
            </a:r>
            <a:r>
              <a:rPr lang="zh-CN" altLang="en-US" sz="3200" b="1" dirty="0">
                <a:latin typeface="Times New Roman Regular" panose="02020503050405090304" charset="0"/>
                <a:ea typeface="+mj-ea"/>
                <a:cs typeface="Times New Roman Regular" panose="02020503050405090304" charset="0"/>
                <a:sym typeface="+mn-ea"/>
              </a:rPr>
              <a:t>干扰，打扰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90880" y="1075604"/>
            <a:ext cx="10810240" cy="4509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  <a:ea typeface="+mj-ea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  <a:ea typeface="+mj-ea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+mj-lt"/>
                <a:ea typeface="+mj-ea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  <a:ea typeface="+mj-ea"/>
                <a:cs typeface="Times New Roman" panose="02020503050405090304" pitchFamily="18" charset="0"/>
              </a:rPr>
              <a:t>写出下面句子中画线单词的中文释义。</a:t>
            </a:r>
          </a:p>
          <a:p>
            <a:pPr marL="355600" indent="-355600"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+mj-lt"/>
                <a:ea typeface="+mj-ea"/>
                <a:cs typeface="Times New Roman" panose="02020503050405090304" pitchFamily="18" charset="0"/>
              </a:rPr>
              <a:t>1) I’m sorry to </a:t>
            </a:r>
            <a:r>
              <a:rPr lang="en-US" altLang="zh-CN" sz="3200" b="1" u="sng" dirty="0">
                <a:solidFill>
                  <a:srgbClr val="000000"/>
                </a:solidFill>
                <a:latin typeface="+mj-lt"/>
                <a:ea typeface="+mj-ea"/>
                <a:cs typeface="Times New Roman" panose="02020503050405090304" pitchFamily="18" charset="0"/>
              </a:rPr>
              <a:t>disturb</a:t>
            </a:r>
            <a:r>
              <a:rPr lang="en-US" altLang="zh-CN" sz="3200" b="1" dirty="0">
                <a:solidFill>
                  <a:srgbClr val="000000"/>
                </a:solidFill>
                <a:latin typeface="+mj-lt"/>
                <a:ea typeface="+mj-ea"/>
                <a:cs typeface="Times New Roman" panose="02020503050405090304" pitchFamily="18" charset="0"/>
              </a:rPr>
              <a:t> you so late, but my car’s broken down  and I don’t have my phone with me.  _______________</a:t>
            </a:r>
          </a:p>
          <a:p>
            <a:pPr marL="440055" indent="-440055"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+mj-lt"/>
                <a:ea typeface="+mj-ea"/>
                <a:cs typeface="Times New Roman" panose="02020503050405090304" pitchFamily="18" charset="0"/>
              </a:rPr>
              <a:t>2) Several fans were charged with </a:t>
            </a:r>
            <a:r>
              <a:rPr lang="en-US" altLang="zh-CN" sz="3200" b="1" u="sng" dirty="0">
                <a:solidFill>
                  <a:srgbClr val="000000"/>
                </a:solidFill>
                <a:latin typeface="+mj-lt"/>
                <a:ea typeface="+mj-ea"/>
                <a:cs typeface="Times New Roman" panose="02020503050405090304" pitchFamily="18" charset="0"/>
              </a:rPr>
              <a:t>disturbing</a:t>
            </a:r>
            <a:r>
              <a:rPr lang="en-US" altLang="zh-CN" sz="3200" b="1" dirty="0">
                <a:solidFill>
                  <a:srgbClr val="000000"/>
                </a:solidFill>
                <a:latin typeface="+mj-lt"/>
                <a:ea typeface="+mj-ea"/>
                <a:cs typeface="Times New Roman" panose="02020503050405090304" pitchFamily="18" charset="0"/>
              </a:rPr>
              <a:t> the peace after the game. _________________</a:t>
            </a:r>
          </a:p>
          <a:p>
            <a:pPr marL="355600" indent="-355600">
              <a:lnSpc>
                <a:spcPct val="13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+mj-lt"/>
                <a:ea typeface="+mj-ea"/>
                <a:cs typeface="Times New Roman" panose="02020503050405090304" pitchFamily="18" charset="0"/>
              </a:rPr>
              <a:t>3) The letter shocked and </a:t>
            </a:r>
            <a:r>
              <a:rPr lang="en-US" altLang="zh-CN" sz="3200" b="1" u="sng" dirty="0">
                <a:solidFill>
                  <a:srgbClr val="000000"/>
                </a:solidFill>
                <a:latin typeface="+mj-lt"/>
                <a:ea typeface="+mj-ea"/>
                <a:cs typeface="Times New Roman" panose="02020503050405090304" pitchFamily="18" charset="0"/>
              </a:rPr>
              <a:t>disturbed</a:t>
            </a:r>
            <a:r>
              <a:rPr lang="en-US" altLang="zh-CN" sz="3200" b="1" dirty="0">
                <a:solidFill>
                  <a:srgbClr val="000000"/>
                </a:solidFill>
                <a:latin typeface="+mj-lt"/>
                <a:ea typeface="+mj-ea"/>
                <a:cs typeface="Times New Roman" panose="02020503050405090304" pitchFamily="18" charset="0"/>
              </a:rPr>
              <a:t> Christina, and she could not sleep well any more.  ___________________</a:t>
            </a:r>
            <a:endParaRPr lang="en-US" altLang="zh-CN" sz="3200" b="1" i="0" dirty="0">
              <a:solidFill>
                <a:srgbClr val="000000"/>
              </a:solidFill>
              <a:effectLst/>
              <a:latin typeface="+mj-lt"/>
              <a:ea typeface="+mj-ea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584164" y="2380137"/>
            <a:ext cx="12153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打扰 </a:t>
            </a:r>
          </a:p>
        </p:txBody>
      </p:sp>
      <p:sp>
        <p:nvSpPr>
          <p:cNvPr id="4" name="矩形 3"/>
          <p:cNvSpPr/>
          <p:nvPr/>
        </p:nvSpPr>
        <p:spPr>
          <a:xfrm>
            <a:off x="4065277" y="3631716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搅乱</a:t>
            </a:r>
          </a:p>
        </p:txBody>
      </p:sp>
      <p:sp>
        <p:nvSpPr>
          <p:cNvPr id="5" name="矩形 4"/>
          <p:cNvSpPr/>
          <p:nvPr/>
        </p:nvSpPr>
        <p:spPr>
          <a:xfrm>
            <a:off x="5765210" y="4945661"/>
            <a:ext cx="3057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使焦虑，使烦恼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6658" y="344768"/>
            <a:ext cx="11498247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tackle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deal with/handle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difficult problem 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         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应付；处理；解决</a:t>
            </a:r>
            <a:endParaRPr lang="en-US" altLang="zh-CN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811530" lvl="0" indent="-81153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tackle sth head-on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prstClr val="black"/>
                </a:solidFill>
                <a:latin typeface="+mj-ea"/>
                <a:ea typeface="+mj-ea"/>
                <a:cs typeface="Times New Roman" panose="02020503050405090304" pitchFamily="18" charset="0"/>
              </a:rPr>
              <a:t>正面应对某事</a:t>
            </a:r>
            <a:endParaRPr lang="zh-CN" altLang="en-US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11530" lvl="0" indent="-811530">
              <a:lnSpc>
                <a:spcPct val="120000"/>
              </a:lnSpc>
            </a:pPr>
            <a:endParaRPr lang="zh-CN" altLang="en-US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*tackle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为了解决难题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与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商谈，与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交涉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 </a:t>
            </a:r>
            <a:r>
              <a:rPr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tackled him about</a:t>
            </a:r>
            <a:r>
              <a:rPr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the money he owed me.</a:t>
            </a:r>
            <a:endParaRPr sz="3200" b="1"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359" y="384700"/>
            <a:ext cx="11479380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3368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head-on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adv.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front-to-front, direct</a:t>
            </a:r>
            <a:endParaRPr lang="zh-CN" altLang="en-US" sz="3200" b="1" dirty="0">
              <a:latin typeface="+mj-lt"/>
            </a:endParaRPr>
          </a:p>
          <a:p>
            <a:pPr indent="-23368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Once again, I chose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confront the issue head-on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23368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car crossed the road and hit a truck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head-on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</a:p>
          <a:p>
            <a:pPr indent="-2336800"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21494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head-on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adj. 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迎头相撞的；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正面反对的</a:t>
            </a:r>
            <a:endParaRPr lang="en-US" altLang="zh-CN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head-on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crash/collision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63055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head-on approach to the problem</a:t>
            </a:r>
          </a:p>
          <a:p>
            <a:pPr indent="-63055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直截了当处理问题的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方法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144000" y="95885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2336800" fontAlgn="auto">
              <a:lnSpc>
                <a:spcPct val="120000"/>
              </a:lnSpc>
            </a:pP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直面问题</a:t>
            </a:r>
          </a:p>
        </p:txBody>
      </p:sp>
      <p:sp>
        <p:nvSpPr>
          <p:cNvPr id="5" name="Text Box 4"/>
          <p:cNvSpPr txBox="1"/>
          <p:nvPr>
            <p:custDataLst>
              <p:tags r:id="rId2"/>
            </p:custDataLst>
          </p:nvPr>
        </p:nvSpPr>
        <p:spPr>
          <a:xfrm>
            <a:off x="9271000" y="152019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2336800" fontAlgn="auto"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正面地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3040" y="180975"/>
            <a:ext cx="11999595" cy="1173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No. 9 High School is one of those that have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gone to great lengths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protect students’ eyes,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coming up with many effective solutions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92890" y="1506936"/>
            <a:ext cx="11349786" cy="3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02285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go to great lengths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make every e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ffort to do sth</a:t>
            </a:r>
          </a:p>
          <a:p>
            <a:pPr indent="-5022850" fontAlgn="auto">
              <a:lnSpc>
                <a:spcPct val="11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					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竭尽全力做某事；不遗余力做某事</a:t>
            </a:r>
            <a:endParaRPr lang="en-US" altLang="zh-CN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indent="-802005" fontAlgn="auto">
              <a:lnSpc>
                <a:spcPct val="110000"/>
              </a:lnSpc>
            </a:pP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</a:rPr>
              <a:t>他决定竭尽全力实现他的抱负。</a:t>
            </a:r>
          </a:p>
          <a:p>
            <a:pPr indent="-8020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rPr>
              <a:t>He was determined/decided to go to great lengths to realize his ambition.</a:t>
            </a:r>
          </a:p>
          <a:p>
            <a:pPr indent="-802005" fontAlgn="auto"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+mj-ea"/>
              <a:cs typeface="Times New Roman Bold" panose="02020503050405090304" charset="0"/>
            </a:endParaRPr>
          </a:p>
          <a:p>
            <a:pPr indent="-8020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come up with many effective solutions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+mj-ea"/>
              <a:cs typeface="Times New Roman Bold" panose="02020503050405090304" charset="0"/>
            </a:endParaRPr>
          </a:p>
        </p:txBody>
      </p:sp>
      <p:sp>
        <p:nvSpPr>
          <p:cNvPr id="5" name="Text Box 4"/>
          <p:cNvSpPr txBox="1"/>
          <p:nvPr>
            <p:custDataLst>
              <p:tags r:id="rId1"/>
            </p:custDataLst>
          </p:nvPr>
        </p:nvSpPr>
        <p:spPr>
          <a:xfrm>
            <a:off x="7011670" y="46609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2336800" fontAlgn="auto"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提出许多有效的解决方案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9266" y="337681"/>
            <a:ext cx="11386159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The school has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adjusted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all the lights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to make sure the classrooms are well lit.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69240" y="1821180"/>
            <a:ext cx="1166495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6192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adjust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调整，调节</a:t>
            </a:r>
          </a:p>
          <a:p>
            <a:pPr indent="-16192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Adjust your language to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the age of your audience.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-161925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要</a:t>
            </a:r>
            <a:r>
              <a:rPr lang="en-US" altLang="zh-CN" sz="3200" b="1" u="sng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根据</a:t>
            </a:r>
            <a:r>
              <a:rPr lang="en-US" altLang="zh-CN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听众的年龄</a:t>
            </a:r>
            <a:r>
              <a:rPr lang="zh-CN" altLang="en-US" sz="3200" b="1" u="sng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调整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你的语言</a:t>
            </a:r>
            <a:r>
              <a:rPr lang="en-US" altLang="zh-CN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。</a:t>
            </a:r>
            <a:endParaRPr lang="zh-CN" altLang="en-US" sz="3200" b="1" dirty="0">
              <a:solidFill>
                <a:schemeClr val="tx1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indent="-16192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 a teacher you have to ___________________________________________________.</a:t>
            </a:r>
          </a:p>
          <a:p>
            <a:pPr indent="-161925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根据速度较慢的孩子的需求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调整你授课的节奏</a:t>
            </a:r>
            <a:r>
              <a:rPr lang="zh-CN" altLang="en-US" sz="3200" b="1" dirty="0">
                <a:solidFill>
                  <a:schemeClr val="tx1"/>
                </a:solidFill>
                <a:latin typeface="+mj-ea"/>
                <a:ea typeface="+mj-ea"/>
                <a:cs typeface="Times New Roman" panose="02020503050405090304" pitchFamily="18" charset="0"/>
                <a:sym typeface="+mn-ea"/>
              </a:rPr>
              <a:t>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69240" y="4161790"/>
            <a:ext cx="1227391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16192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adjust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your pace of teaching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needs of slower children.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1245679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4161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adjust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vi.&amp;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indent="-241617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+mj-lt"/>
              </a:rPr>
              <a:t>adapt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 to sth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适应；习惯</a:t>
            </a:r>
            <a:endParaRPr lang="en-US" altLang="zh-CN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adjust (oneself) to (doing)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适应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做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某事物</a:t>
            </a:r>
          </a:p>
          <a:p>
            <a:pPr indent="-8020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You'll quickly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adjust yourself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student life. 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</a:rPr>
              <a:t>让自己适应某事</a:t>
            </a:r>
          </a:p>
          <a:p>
            <a:pPr indent="-8020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has been hard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adjust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but now I'm getting satisfaction from my work.</a:t>
            </a:r>
          </a:p>
          <a:p>
            <a:pPr indent="-8020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  <a:ea typeface="+mj-ea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  <a:ea typeface="+mj-ea"/>
                <a:cs typeface="Times New Roman" panose="02020503050405090304" pitchFamily="18" charset="0"/>
                <a:sym typeface="+mn-ea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+mj-lt"/>
                <a:ea typeface="+mj-ea"/>
                <a:cs typeface="Times New Roman" panose="02020503050405090304" pitchFamily="18" charset="0"/>
                <a:sym typeface="+mn-ea"/>
              </a:rPr>
              <a:t>】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8020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+mj-lt"/>
                <a:ea typeface="+mj-ea"/>
                <a:cs typeface="Times New Roman" panose="02020503050405090304" pitchFamily="18" charset="0"/>
                <a:sym typeface="+mn-ea"/>
              </a:rPr>
              <a:t>It took her a while to __________________ (</a:t>
            </a:r>
            <a:r>
              <a:rPr lang="zh-CN" altLang="en-US" sz="3200" b="1" dirty="0">
                <a:latin typeface="+mj-lt"/>
                <a:ea typeface="+mj-ea"/>
                <a:cs typeface="Times New Roman" panose="02020503050405090304" pitchFamily="18" charset="0"/>
                <a:sym typeface="+mn-ea"/>
              </a:rPr>
              <a:t>适应一个人生活</a:t>
            </a:r>
            <a:r>
              <a:rPr lang="en-US" altLang="zh-CN" sz="3200" b="1" dirty="0">
                <a:latin typeface="+mj-lt"/>
                <a:ea typeface="+mj-ea"/>
                <a:cs typeface="Times New Roman" panose="02020503050405090304" pitchFamily="18" charset="0"/>
                <a:sym typeface="+mn-ea"/>
              </a:rPr>
              <a:t>) after leaving home.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80200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was a few moments before his eyes became __________ (adjust) to the bright glare of the sun.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+mj-ea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046720" y="5257165"/>
            <a:ext cx="173926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adjusted </a:t>
            </a:r>
          </a:p>
        </p:txBody>
      </p:sp>
      <p:sp>
        <p:nvSpPr>
          <p:cNvPr id="6" name="文本框 1"/>
          <p:cNvSpPr txBox="1"/>
          <p:nvPr>
            <p:custDataLst>
              <p:tags r:id="rId1"/>
            </p:custDataLst>
          </p:nvPr>
        </p:nvSpPr>
        <p:spPr>
          <a:xfrm>
            <a:off x="3825311" y="4083684"/>
            <a:ext cx="3962400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  <a:ea typeface="+mj-ea"/>
                <a:cs typeface="Times New Roman" panose="02020503050405090304" pitchFamily="18" charset="0"/>
              </a:rPr>
              <a:t>adjust to living alone</a:t>
            </a:r>
            <a:endParaRPr lang="zh-CN" altLang="en-US" sz="3200" b="1" dirty="0">
              <a:latin typeface="+mj-lt"/>
              <a:ea typeface="+mj-ea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2"/>
            </p:custDataLst>
          </p:nvPr>
        </p:nvSpPr>
        <p:spPr>
          <a:xfrm>
            <a:off x="0" y="142875"/>
            <a:ext cx="12191365" cy="7365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-1795780" fontAlgn="auto">
              <a:lnSpc>
                <a:spcPct val="120000"/>
              </a:lnSpc>
            </a:pPr>
            <a:r>
              <a:rPr lang="en-US" altLang="zh-CN" sz="3200" b="1" i="1" dirty="0">
                <a:latin typeface="+mj-lt"/>
                <a:sym typeface="+mn-ea"/>
              </a:rPr>
              <a:t>2)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整理</a:t>
            </a:r>
            <a:endParaRPr lang="en-US" altLang="zh-CN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indent="-8115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adjusted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 her skirt, took a deep breath and walked into the room.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adjustment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un.&amp;cn.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调整；调节；适应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I've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made a few adjustments to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the design.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我已</a:t>
            </a:r>
            <a:r>
              <a:rPr lang="zh-CN" altLang="en-US" sz="3200" b="1" u="sng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对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设计</a:t>
            </a:r>
            <a:r>
              <a:rPr lang="zh-CN" altLang="en-US" sz="3200" b="1" u="sng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作了几处调整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努力适应……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适应另一个国家的生活的过程可能非常困难。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 process of adjustment to life in another country can be very difficult.</a:t>
            </a: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well-adjusted adj. (a person)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适应很好的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adjustable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 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sym typeface="+mn-ea"/>
              </a:rPr>
              <a:t>可调整的，可调节的</a:t>
            </a:r>
            <a:endParaRPr lang="zh-CN" altLang="en-US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776855" y="2554923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ui-serif"/>
                <a:cs typeface="Times New Roman Bold" panose="02020503050405090304" charset="0"/>
              </a:rPr>
              <a:t> make the adjustment to sth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ZiYWZlYTIzNGZiMjFhNTBkNTdkY2IwNzZiNDZh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800</Words>
  <Application>Microsoft Macintosh PowerPoint</Application>
  <PresentationFormat>Widescreen</PresentationFormat>
  <Paragraphs>92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宋体</vt:lpstr>
      <vt:lpstr>Times New Roman Bold</vt:lpstr>
      <vt:lpstr>Times New Roman Bold Italic</vt:lpstr>
      <vt:lpstr>Times New Roman Regular</vt:lpstr>
      <vt:lpstr>Arial</vt:lpstr>
      <vt:lpstr>Calibri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31</cp:revision>
  <dcterms:created xsi:type="dcterms:W3CDTF">2024-11-25T00:50:20Z</dcterms:created>
  <dcterms:modified xsi:type="dcterms:W3CDTF">2026-07-23T01:06:59Z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819E220BADB8A816E7E036674ADB2974_42</vt:lpwstr>
  </property>
  <property fmtid="{D5CDD505-2E9C-101B-9397-08002B2CF9AE}" pid="3" name="KSOProductBuildVer">
    <vt:lpwstr>1033-6.11.0.8885</vt:lpwstr>
  </property>
</Properties>
</file>