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484" r:id="rId2"/>
    <p:sldId id="485" r:id="rId3"/>
    <p:sldId id="466" r:id="rId4"/>
    <p:sldId id="465" r:id="rId5"/>
    <p:sldId id="467" r:id="rId6"/>
    <p:sldId id="515" r:id="rId7"/>
    <p:sldId id="516" r:id="rId8"/>
    <p:sldId id="517" r:id="rId9"/>
    <p:sldId id="518" r:id="rId10"/>
    <p:sldId id="519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9900CC"/>
    <a:srgbClr val="FF00FF"/>
    <a:srgbClr val="0A74F9"/>
    <a:srgbClr val="C4DF92"/>
    <a:srgbClr val="E9EBF5"/>
    <a:srgbClr val="CFD5E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excellent spoken English, a healthy body, basic skills of doing sth, knowledge and wisdom...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walked along the street,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holding hands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r>
              <a:rPr lang="en-US"/>
              <a:t>It’s worth holding on to.</a:t>
            </a:r>
          </a:p>
          <a:p>
            <a:r>
              <a:rPr lang="en-US"/>
              <a:t>grip/clutch</a:t>
            </a:r>
          </a:p>
          <a:p>
            <a:r>
              <a:rPr lang="en-US"/>
              <a:t>hold each other tightly</a:t>
            </a: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bravely held back his tears.</a:t>
            </a:r>
            <a:endParaRPr lang="en-US"/>
          </a:p>
          <a:p>
            <a:r>
              <a:rPr lang="en-US"/>
              <a:t>Fear cluthed at her heart.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walked along the street,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holding hands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r>
              <a:rPr lang="en-US"/>
              <a:t>It’s worth holding on to.</a:t>
            </a:r>
          </a:p>
          <a:p>
            <a:r>
              <a:rPr lang="en-US"/>
              <a:t>grip/clutch</a:t>
            </a:r>
          </a:p>
          <a:p>
            <a:r>
              <a:rPr lang="en-US"/>
              <a:t>hold each other tightly</a:t>
            </a:r>
          </a:p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bravely held back his tears.</a:t>
            </a:r>
          </a:p>
          <a:p>
            <a:r>
              <a:rPr lang="en-US"/>
              <a:t>I wanted to tell him the truth, but something held me back.</a:t>
            </a:r>
          </a:p>
          <a:p>
            <a:r>
              <a:rPr lang="en-US"/>
              <a:t>Fear cluthed at her heart.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It means they are created.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It means they are created.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92" y="616045"/>
            <a:ext cx="5736518" cy="11172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3696" y="1733270"/>
            <a:ext cx="10713309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withdraw into oneself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不与人交往；脱离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社会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358775" indent="0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become quieter and spend less time with other people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withdraw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 &amp;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move back or away from a place or situation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撤回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Both powers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withdrew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their forces from the region.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asked him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withdraw his remarks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and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apologise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sym typeface="+mn-ea"/>
              </a:rPr>
              <a:t>收回，撤回</a:t>
            </a:r>
            <a:endParaRPr lang="zh-CN" altLang="en-US" sz="3200" b="1" i="1" dirty="0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3530" y="233045"/>
            <a:ext cx="1163383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2)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stop taking part in an activity or being a member of an organization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退出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2016 Britain voted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withdraw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from the EU.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withdraw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from the competition/debate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stop giving or offering something to somebody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停止提供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withdrew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his support for our campaign.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drug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withdrawn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from sale after a number of people suffered serious side effects.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取钱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withdraw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money from one's accoun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5" y="165735"/>
            <a:ext cx="1219073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 equipped with</a:t>
            </a:r>
            <a:r>
              <a:rPr lang="en-US" altLang="zh-CN" sz="3200" b="1" dirty="0"/>
              <a:t> an artificial hand</a:t>
            </a:r>
          </a:p>
          <a:p>
            <a:pPr indent="-19862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equip 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</a:rPr>
              <a:t> 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/>
              <a:t>① </a:t>
            </a:r>
            <a:r>
              <a:rPr lang="en-US" altLang="zh-CN" sz="3200" b="1" i="1" dirty="0"/>
              <a:t>to provide a person or place with the things that are needed </a:t>
            </a:r>
            <a:r>
              <a:rPr lang="zh-CN" altLang="en-US" sz="3200" b="1" dirty="0">
                <a:solidFill>
                  <a:srgbClr val="FF0000"/>
                </a:solidFill>
              </a:rPr>
              <a:t>配备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indent="-15290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equip …with … </a:t>
            </a:r>
            <a:r>
              <a:rPr lang="zh-CN" altLang="en-US" sz="3200" b="1" dirty="0">
                <a:latin typeface="+mn-ea"/>
              </a:rPr>
              <a:t>用</a:t>
            </a:r>
            <a:r>
              <a:rPr lang="en-US" altLang="zh-CN" sz="3200" b="1" dirty="0">
                <a:latin typeface="+mn-ea"/>
              </a:rPr>
              <a:t>……</a:t>
            </a:r>
            <a:r>
              <a:rPr lang="zh-CN" altLang="en-US" sz="3200" b="1" dirty="0">
                <a:latin typeface="+mn-ea"/>
              </a:rPr>
              <a:t>装备</a:t>
            </a:r>
            <a:r>
              <a:rPr lang="en-US" altLang="zh-CN" sz="3200" b="1" dirty="0">
                <a:latin typeface="+mn-ea"/>
              </a:rPr>
              <a:t>……</a:t>
            </a:r>
          </a:p>
          <a:p>
            <a:pPr indent="-1529080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equipped himself with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a street plan. </a:t>
            </a:r>
            <a:r>
              <a:rPr lang="en-US" altLang="zh-CN" sz="3200" b="1" dirty="0">
                <a:latin typeface="+mn-ea"/>
              </a:rPr>
              <a:t>他随身带着一张街道平面图。</a:t>
            </a:r>
          </a:p>
          <a:p>
            <a:pPr indent="-152908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设施齐全的研究大楼</a:t>
            </a:r>
          </a:p>
          <a:p>
            <a:pPr indent="-15290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equipped with</a:t>
            </a:r>
            <a:r>
              <a:rPr lang="en-US" altLang="zh-CN" sz="3200" b="1" dirty="0">
                <a:latin typeface="+mn-ea"/>
                <a:sym typeface="+mn-ea"/>
              </a:rPr>
              <a:t> </a:t>
            </a:r>
            <a:r>
              <a:rPr lang="zh-CN" altLang="en-US" sz="3200" b="1" dirty="0">
                <a:latin typeface="+mn-ea"/>
                <a:sym typeface="+mn-ea"/>
              </a:rPr>
              <a:t>具备……能力</a:t>
            </a:r>
            <a:endParaRPr lang="en-US" altLang="zh-CN" sz="3200" b="1" dirty="0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950970" y="31045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15290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well-equipped</a:t>
            </a:r>
            <a:r>
              <a:rPr lang="en-US" altLang="zh-CN" sz="3200" b="1" dirty="0">
                <a:sym typeface="+mn-ea"/>
              </a:rPr>
              <a:t> research buildings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0"/>
            <a:ext cx="12389485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②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give someone the information and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skills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 they need to do something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使有能力</a:t>
            </a:r>
          </a:p>
          <a:p>
            <a:pPr indent="-10718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equipped for the job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能够胜任这份工作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0718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equipped to do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有能力做某事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444500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Young teachers should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well equipped to deal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with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difficult children.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07188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course is specially designed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equip students for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career in teaching.</a:t>
            </a:r>
          </a:p>
          <a:p>
            <a:pPr indent="-107188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0718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equipment  U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设备，装备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6056" y="1361850"/>
            <a:ext cx="10720251" cy="4177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3333FF"/>
                </a:solidFill>
              </a:rPr>
              <a:t>【</a:t>
            </a:r>
            <a:r>
              <a:rPr lang="zh-CN" altLang="en-US" sz="3200" b="1" dirty="0">
                <a:solidFill>
                  <a:srgbClr val="3333FF"/>
                </a:solidFill>
              </a:rPr>
              <a:t>语境应用</a:t>
            </a:r>
            <a:r>
              <a:rPr lang="en-US" altLang="zh-CN" sz="3200" b="1" dirty="0">
                <a:solidFill>
                  <a:srgbClr val="3333FF"/>
                </a:solidFill>
              </a:rPr>
              <a:t>】 </a:t>
            </a:r>
            <a:r>
              <a:rPr lang="zh-CN" altLang="en-US" sz="3200" b="1" dirty="0">
                <a:solidFill>
                  <a:srgbClr val="3333FF"/>
                </a:solidFill>
              </a:rPr>
              <a:t>根据括号内的汉语提示补全下面句子（每空一词）。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1) Please ________ ________ ________ (</a:t>
            </a:r>
            <a:r>
              <a:rPr lang="zh-CN" altLang="en-US" sz="3200" b="1" dirty="0"/>
              <a:t>准备</a:t>
            </a:r>
            <a:r>
              <a:rPr lang="en-US" altLang="zh-CN" sz="3200" b="1" dirty="0"/>
              <a:t>) a sharp pencil and an eraser for the exam.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/>
              <a:t>2) Tom’s work experience ________ ________ ________ ________ ________ (</a:t>
            </a:r>
            <a:r>
              <a:rPr lang="zh-CN" altLang="en-US" sz="3200" b="1" dirty="0"/>
              <a:t>使他有能力处理</a:t>
            </a:r>
            <a:r>
              <a:rPr lang="en-US" altLang="zh-CN" sz="3200" b="1" dirty="0"/>
              <a:t>) all kinds of things when he was a young man.</a:t>
            </a:r>
            <a:endParaRPr lang="zh-CN" altLang="en-US" sz="3200" b="1" dirty="0"/>
          </a:p>
        </p:txBody>
      </p:sp>
      <p:sp>
        <p:nvSpPr>
          <p:cNvPr id="6" name="矩形 5"/>
          <p:cNvSpPr/>
          <p:nvPr/>
        </p:nvSpPr>
        <p:spPr>
          <a:xfrm>
            <a:off x="2559430" y="2458011"/>
            <a:ext cx="4480714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equip     yourself      with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6931" y="3703113"/>
            <a:ext cx="10094149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equipped      him          to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deal       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17145"/>
            <a:ext cx="12389485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boy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held on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handle of the chair to prevent himself from falling.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caught hold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boy’s hand so that he couldn’t get away.</a:t>
            </a:r>
          </a:p>
          <a:p>
            <a:pPr indent="-44450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had thought of selling this old furniture, but decided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hold on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it.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held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baby gently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my arms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first Francis dashed ahead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held the lead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managed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hold 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until help arrived.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'I'm Nancy Drew,' she said,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holding 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her hand.</a:t>
            </a: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615185" y="605716"/>
            <a:ext cx="213741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抓紧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clutch</a:t>
            </a:r>
          </a:p>
        </p:txBody>
      </p:sp>
      <p:sp>
        <p:nvSpPr>
          <p:cNvPr id="2" name="矩形 5"/>
          <p:cNvSpPr/>
          <p:nvPr>
            <p:custDataLst>
              <p:tags r:id="rId2"/>
            </p:custDataLst>
          </p:nvPr>
        </p:nvSpPr>
        <p:spPr>
          <a:xfrm>
            <a:off x="947800" y="2889176"/>
            <a:ext cx="221805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保留，保存</a:t>
            </a:r>
          </a:p>
        </p:txBody>
      </p:sp>
      <p:sp>
        <p:nvSpPr>
          <p:cNvPr id="3" name="矩形 5"/>
          <p:cNvSpPr/>
          <p:nvPr>
            <p:custDataLst>
              <p:tags r:id="rId3"/>
            </p:custDataLst>
          </p:nvPr>
        </p:nvSpPr>
        <p:spPr>
          <a:xfrm>
            <a:off x="6563105" y="3489886"/>
            <a:ext cx="99695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拥抱</a:t>
            </a:r>
          </a:p>
        </p:txBody>
      </p:sp>
      <p:sp>
        <p:nvSpPr>
          <p:cNvPr id="4" name="矩形 5"/>
          <p:cNvSpPr/>
          <p:nvPr>
            <p:custDataLst>
              <p:tags r:id="rId4"/>
            </p:custDataLst>
          </p:nvPr>
        </p:nvSpPr>
        <p:spPr>
          <a:xfrm>
            <a:off x="4734305" y="5905426"/>
            <a:ext cx="632714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伸出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手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hold one’s hand out for sth</a:t>
            </a:r>
          </a:p>
        </p:txBody>
      </p:sp>
      <p:sp>
        <p:nvSpPr>
          <p:cNvPr id="7" name="矩形 5"/>
          <p:cNvSpPr/>
          <p:nvPr>
            <p:custDataLst>
              <p:tags r:id="rId5"/>
            </p:custDataLst>
          </p:nvPr>
        </p:nvSpPr>
        <p:spPr>
          <a:xfrm>
            <a:off x="3165855" y="1728396"/>
            <a:ext cx="202438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抓住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grasp</a:t>
            </a:r>
          </a:p>
        </p:txBody>
      </p:sp>
      <p:sp>
        <p:nvSpPr>
          <p:cNvPr id="8" name="矩形 5"/>
          <p:cNvSpPr/>
          <p:nvPr>
            <p:custDataLst>
              <p:tags r:id="rId6"/>
            </p:custDataLst>
          </p:nvPr>
        </p:nvSpPr>
        <p:spPr>
          <a:xfrm>
            <a:off x="7967090" y="4627806"/>
            <a:ext cx="343916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（在困境中）坚持</a:t>
            </a:r>
          </a:p>
        </p:txBody>
      </p:sp>
      <p:sp>
        <p:nvSpPr>
          <p:cNvPr id="9" name="矩形 5"/>
          <p:cNvSpPr/>
          <p:nvPr>
            <p:custDataLst>
              <p:tags r:id="rId7"/>
            </p:custDataLst>
          </p:nvPr>
        </p:nvSpPr>
        <p:spPr>
          <a:xfrm>
            <a:off x="8587485" y="4035986"/>
            <a:ext cx="181102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保持领先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4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0"/>
            <a:ext cx="12389485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dam was not strong enough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hold back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flood waters.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think he's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holding something back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I'm sure he knows more than he admits.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held back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not knowing how to break the terrible news.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just managed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hold back her anger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bravely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held back his tears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Traffic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held up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by the accident.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Where have you been? We have been trying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hold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all day.</a:t>
            </a:r>
          </a:p>
        </p:txBody>
      </p:sp>
      <p:sp>
        <p:nvSpPr>
          <p:cNvPr id="4" name="矩形 5"/>
          <p:cNvSpPr/>
          <p:nvPr>
            <p:custDataLst>
              <p:tags r:id="rId1"/>
            </p:custDataLst>
          </p:nvPr>
        </p:nvSpPr>
        <p:spPr>
          <a:xfrm>
            <a:off x="10556620" y="1711251"/>
            <a:ext cx="181102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犹豫不说</a:t>
            </a:r>
          </a:p>
        </p:txBody>
      </p:sp>
      <p:sp>
        <p:nvSpPr>
          <p:cNvPr id="10" name="矩形 5"/>
          <p:cNvSpPr/>
          <p:nvPr>
            <p:custDataLst>
              <p:tags r:id="rId2"/>
            </p:custDataLst>
          </p:nvPr>
        </p:nvSpPr>
        <p:spPr>
          <a:xfrm>
            <a:off x="3381120" y="1179756"/>
            <a:ext cx="99695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隐瞒</a:t>
            </a:r>
          </a:p>
        </p:txBody>
      </p:sp>
      <p:sp>
        <p:nvSpPr>
          <p:cNvPr id="11" name="矩形 5"/>
          <p:cNvSpPr/>
          <p:nvPr>
            <p:custDataLst>
              <p:tags r:id="rId3"/>
            </p:custDataLst>
          </p:nvPr>
        </p:nvSpPr>
        <p:spPr>
          <a:xfrm>
            <a:off x="10926190" y="-74"/>
            <a:ext cx="99695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挡住</a:t>
            </a:r>
          </a:p>
        </p:txBody>
      </p:sp>
      <p:sp>
        <p:nvSpPr>
          <p:cNvPr id="12" name="矩形 5"/>
          <p:cNvSpPr/>
          <p:nvPr>
            <p:custDataLst>
              <p:tags r:id="rId4"/>
            </p:custDataLst>
          </p:nvPr>
        </p:nvSpPr>
        <p:spPr>
          <a:xfrm>
            <a:off x="7351775" y="2350061"/>
            <a:ext cx="99695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抑制</a:t>
            </a:r>
          </a:p>
        </p:txBody>
      </p:sp>
      <p:sp>
        <p:nvSpPr>
          <p:cNvPr id="13" name="矩形 5"/>
          <p:cNvSpPr/>
          <p:nvPr>
            <p:custDataLst>
              <p:tags r:id="rId5"/>
            </p:custDataLst>
          </p:nvPr>
        </p:nvSpPr>
        <p:spPr>
          <a:xfrm>
            <a:off x="6728840" y="3500046"/>
            <a:ext cx="99695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阻碍</a:t>
            </a:r>
          </a:p>
        </p:txBody>
      </p:sp>
      <p:sp>
        <p:nvSpPr>
          <p:cNvPr id="14" name="矩形 5"/>
          <p:cNvSpPr/>
          <p:nvPr>
            <p:custDataLst>
              <p:tags r:id="rId6"/>
            </p:custDataLst>
          </p:nvPr>
        </p:nvSpPr>
        <p:spPr>
          <a:xfrm>
            <a:off x="7725790" y="4623361"/>
            <a:ext cx="303212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和某人取得联络</a:t>
            </a:r>
          </a:p>
        </p:txBody>
      </p:sp>
      <p:sp>
        <p:nvSpPr>
          <p:cNvPr id="15" name="矩形 5"/>
          <p:cNvSpPr/>
          <p:nvPr>
            <p:custDataLst>
              <p:tags r:id="rId7"/>
            </p:custDataLst>
          </p:nvPr>
        </p:nvSpPr>
        <p:spPr>
          <a:xfrm>
            <a:off x="5731890" y="2861236"/>
            <a:ext cx="181102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忍住眼泪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0"/>
            <a:ext cx="1238948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grateful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感激的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am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genuinely/more than/immensely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grateful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all the teachers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their help.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seems to think I should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grateful to have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job at all.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Kate gave him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grateful smile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凯特感激地对他笑了笑。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would be grateful if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could send the completed form back as soon as possible.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gratefully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would like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express my gratitude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everyone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their hard work.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was presented with the gift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gratitude for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her long service.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对某人感激不尽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owe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518410" y="4089400"/>
            <a:ext cx="93827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= I would appreciate it if you could 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不胜感激</a:t>
            </a:r>
            <a:r>
              <a:rPr lang="en-US" altLang="zh-CN" sz="3200" b="1" i="1" dirty="0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</a:p>
        </p:txBody>
      </p:sp>
      <p:sp>
        <p:nvSpPr>
          <p:cNvPr id="3" name="Text Box 2"/>
          <p:cNvSpPr txBox="1"/>
          <p:nvPr>
            <p:custDataLst>
              <p:tags r:id="rId1"/>
            </p:custDataLst>
          </p:nvPr>
        </p:nvSpPr>
        <p:spPr>
          <a:xfrm>
            <a:off x="3814445" y="5840730"/>
            <a:ext cx="93827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sb a great debt of gratitude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35890" y="189865"/>
            <a:ext cx="11522075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i="1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(opportunities &amp; possibilities) open up / sth opens up </a:t>
            </a:r>
            <a:r>
              <a:rPr lang="en-US" altLang="zh-CN" sz="3200" b="1" i="1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(opportunities &amp; possibilities) </a:t>
            </a:r>
            <a:r>
              <a:rPr lang="zh-CN" altLang="en-US" sz="3200" b="1" i="1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（使）出现</a:t>
            </a:r>
            <a:r>
              <a:rPr lang="en-US" altLang="zh-CN" sz="3200" b="1" i="1">
                <a:solidFill>
                  <a:srgbClr val="3333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</a:p>
          <a:p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人们认为这一制度的简历带来了各种新的可能性。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 was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also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believed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that the 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establishment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of the system </a:t>
            </a:r>
            <a:r>
              <a:rPr lang="zh-CN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opened up new possibilities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endParaRPr lang="en-US" altLang="zh-CN" sz="3200" b="1" i="1">
              <a:solidFill>
                <a:srgbClr val="3333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Exciting possibilities were 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opening up for her in the new job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endParaRPr lang="en-US" altLang="zh-CN" sz="3200" b="1" i="1">
              <a:solidFill>
                <a:srgbClr val="3333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新工作为她带来了令人兴奋的发展前途。</a:t>
            </a:r>
          </a:p>
          <a:p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投资者获得了新的机会。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New opportunities are opening up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 for investors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35890" y="189865"/>
            <a:ext cx="1152207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Not only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can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 do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more,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but I have (also)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become more confident and outgoing.</a:t>
            </a:r>
          </a:p>
          <a:p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Studies have shown that when exercise is performed in groups, it ___ ____ _____ great for improving physical health ____ for psychological health.</a:t>
            </a: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不仅司机，还有路人置身于危险中</a:t>
            </a:r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_________________________________________________ to danger because of mechanical failure.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40970" y="2075815"/>
            <a:ext cx="116554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is     not    only								but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22250" y="3429000"/>
            <a:ext cx="116554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Not only the driver but also the passers-by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were exposed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6">
      <a:majorFont>
        <a:latin typeface="等线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Macintosh PowerPoint</Application>
  <PresentationFormat>Widescreen</PresentationFormat>
  <Paragraphs>109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等线 Light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33</cp:revision>
  <dcterms:created xsi:type="dcterms:W3CDTF">2024-11-25T00:48:52Z</dcterms:created>
  <dcterms:modified xsi:type="dcterms:W3CDTF">2026-07-23T01:06:39Z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B65B5F32D1823A1657B23567F09D4465_42</vt:lpwstr>
  </property>
  <property fmtid="{D5CDD505-2E9C-101B-9397-08002B2CF9AE}" pid="3" name="KSOProductBuildVer">
    <vt:lpwstr>1033-6.11.0.8885</vt:lpwstr>
  </property>
</Properties>
</file>