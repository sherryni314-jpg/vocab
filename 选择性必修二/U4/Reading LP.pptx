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1.xml" ContentType="application/vnd.openxmlformats-officedocument.presentationml.notesSlide+xml"/>
  <Override PartName="/ppt/tags/tag26.xml" ContentType="application/vnd.openxmlformats-officedocument.presentationml.tags+xml"/>
  <Override PartName="/ppt/notesSlides/notesSlide12.xml" ContentType="application/vnd.openxmlformats-officedocument.presentationml.notesSlide+xml"/>
  <Override PartName="/ppt/tags/tag27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</p:sldMasterIdLst>
  <p:notesMasterIdLst>
    <p:notesMasterId r:id="rId52"/>
  </p:notesMasterIdLst>
  <p:sldIdLst>
    <p:sldId id="303" r:id="rId3"/>
    <p:sldId id="357" r:id="rId4"/>
    <p:sldId id="358" r:id="rId5"/>
    <p:sldId id="410" r:id="rId6"/>
    <p:sldId id="502" r:id="rId7"/>
    <p:sldId id="411" r:id="rId8"/>
    <p:sldId id="412" r:id="rId9"/>
    <p:sldId id="304" r:id="rId10"/>
    <p:sldId id="307" r:id="rId11"/>
    <p:sldId id="305" r:id="rId12"/>
    <p:sldId id="327" r:id="rId13"/>
    <p:sldId id="306" r:id="rId14"/>
    <p:sldId id="456" r:id="rId15"/>
    <p:sldId id="328" r:id="rId16"/>
    <p:sldId id="331" r:id="rId17"/>
    <p:sldId id="457" r:id="rId18"/>
    <p:sldId id="459" r:id="rId19"/>
    <p:sldId id="333" r:id="rId20"/>
    <p:sldId id="308" r:id="rId21"/>
    <p:sldId id="335" r:id="rId22"/>
    <p:sldId id="336" r:id="rId23"/>
    <p:sldId id="337" r:id="rId24"/>
    <p:sldId id="338" r:id="rId25"/>
    <p:sldId id="340" r:id="rId26"/>
    <p:sldId id="342" r:id="rId27"/>
    <p:sldId id="334" r:id="rId28"/>
    <p:sldId id="310" r:id="rId29"/>
    <p:sldId id="343" r:id="rId30"/>
    <p:sldId id="298" r:id="rId31"/>
    <p:sldId id="313" r:id="rId32"/>
    <p:sldId id="344" r:id="rId33"/>
    <p:sldId id="314" r:id="rId34"/>
    <p:sldId id="356" r:id="rId35"/>
    <p:sldId id="302" r:id="rId36"/>
    <p:sldId id="461" r:id="rId37"/>
    <p:sldId id="460" r:id="rId38"/>
    <p:sldId id="317" r:id="rId39"/>
    <p:sldId id="490" r:id="rId40"/>
    <p:sldId id="318" r:id="rId41"/>
    <p:sldId id="347" r:id="rId42"/>
    <p:sldId id="491" r:id="rId43"/>
    <p:sldId id="494" r:id="rId44"/>
    <p:sldId id="492" r:id="rId45"/>
    <p:sldId id="495" r:id="rId46"/>
    <p:sldId id="353" r:id="rId47"/>
    <p:sldId id="351" r:id="rId48"/>
    <p:sldId id="348" r:id="rId49"/>
    <p:sldId id="349" r:id="rId50"/>
    <p:sldId id="350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33FF"/>
    <a:srgbClr val="C7ECD8"/>
    <a:srgbClr val="FFFFFF"/>
    <a:srgbClr val="D9D9D9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8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48" y="184"/>
      </p:cViewPr>
      <p:guideLst>
        <p:guide orient="horz" pos="2160"/>
        <p:guide pos="387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考虑到他的年龄,他非常活跃。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 indent="0" fontAlgn="auto">
              <a:lnSpc>
                <a:spcPct val="12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我们听取员工的想法，重视他们的意见和建议。</a:t>
            </a:r>
          </a:p>
          <a:p>
            <a:pPr lvl="0" indent="0" fontAlgn="auto">
              <a:lnSpc>
                <a:spcPct val="120000"/>
              </a:lnSpc>
            </a:pP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Teaching is a rewarding process. It allows teachers to have an input in the development of student.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 indent="0" fontAlgn="auto">
              <a:lnSpc>
                <a:spcPct val="120000"/>
              </a:lnSpc>
            </a:pP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工业产量增长了 8%。</a:t>
            </a:r>
          </a:p>
          <a:p>
            <a:pPr lvl="0" indent="0" fontAlgn="auto">
              <a:lnSpc>
                <a:spcPct val="120000"/>
              </a:lnSpc>
            </a:pP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体力劳动者身体消耗巨大，早餐要丰盛一些。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 indent="0" fontAlgn="auto">
              <a:lnSpc>
                <a:spcPct val="130000"/>
              </a:lnSpc>
            </a:pPr>
            <a:r>
              <a:rPr lang="en-US" altLang="zh-CN" b="1" dirty="0" err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有限的资源正制约着我们开发新产品的能力。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 indent="0" fontAlgn="auto">
              <a:lnSpc>
                <a:spcPct val="130000"/>
              </a:lnSpc>
            </a:pPr>
            <a:r>
              <a:rPr lang="en-US" altLang="zh-CN" b="1" dirty="0" err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有限的资源正制约着我们开发新产品的能力。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 political analyst</a:t>
            </a:r>
          </a:p>
          <a:p>
            <a:endParaRPr lang="en-US"/>
          </a:p>
          <a:p>
            <a:r>
              <a:rPr lang="en-US"/>
              <a:t>/</a:t>
            </a:r>
            <a:r>
              <a:rPr lang="en-US" altLang="en-US"/>
              <a:t>ænəlɪtɪkəl/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self-driving cars/domestic robots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已经承诺的事，不得不做的事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b="1" dirty="0">
                <a:latin typeface="+mn-ea"/>
                <a:cs typeface="Times New Roman" panose="02020503050405090304" pitchFamily="18" charset="0"/>
                <a:sym typeface="+mn-ea"/>
              </a:rPr>
              <a:t>“</a:t>
            </a:r>
            <a:r>
              <a:rPr lang="zh-CN" altLang="en-US" b="1" dirty="0">
                <a:latin typeface="+mn-ea"/>
                <a:cs typeface="Times New Roman" panose="02020503050405090304" pitchFamily="18" charset="0"/>
                <a:sym typeface="+mn-ea"/>
              </a:rPr>
              <a:t>为什么不试一试呢？</a:t>
            </a:r>
            <a:r>
              <a:rPr lang="en-US" altLang="en-US" b="1" dirty="0">
                <a:latin typeface="+mn-ea"/>
                <a:cs typeface="Times New Roman" panose="02020503050405090304" pitchFamily="18" charset="0"/>
                <a:sym typeface="+mn-ea"/>
              </a:rPr>
              <a:t>” </a:t>
            </a:r>
            <a:r>
              <a:rPr lang="zh-CN" altLang="en-US" b="1" dirty="0">
                <a:latin typeface="+mn-ea"/>
                <a:cs typeface="Times New Roman" panose="02020503050405090304" pitchFamily="18" charset="0"/>
                <a:sym typeface="+mn-ea"/>
              </a:rPr>
              <a:t>她敦促（他）道。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encourage sb to do sth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对许多农民来说，庄稼歉收就意味着灾难。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对许多农民来说，庄稼歉收就意味着灾难。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meet the customers’ demands/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meet the customers’ demands/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earthquake victim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fontAlgn="auto">
              <a:lnSpc>
                <a:spcPct val="120000"/>
              </a:lnSpc>
            </a:pPr>
            <a:r>
              <a:rPr lang="en-US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building was easily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recognizable </a:t>
            </a:r>
            <a:r>
              <a:rPr lang="en-US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a prison.</a:t>
            </a:r>
            <a:endParaRPr lang="en-US" altLang="en-US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容易认出的；易于识别的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lang="en-US" altLang="zh-CN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opp. unrecognizable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fontAlgn="auto">
              <a:lnSpc>
                <a:spcPct val="120000"/>
              </a:lnSpc>
            </a:pPr>
            <a:r>
              <a:rPr lang="en-US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building was easily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recognizable </a:t>
            </a:r>
            <a:r>
              <a:rPr lang="en-US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a prison.</a:t>
            </a:r>
            <a:endParaRPr lang="en-US" altLang="en-US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容易认出的；易于识别的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lang="en-US" altLang="zh-CN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opp. unrecognizable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thunderous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680DD-534A-48E3-B33D-DB9B7EA691F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11008-DA5C-4A72-813C-9F267B63D4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(build) castles in the air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but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given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</a:t>
            </a:r>
            <a:r>
              <a:rPr kumimoji="0" lang="en-US" altLang="zh-CN" sz="32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rate at which artificial intelligence, or AI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is being developed, ...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(1)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句中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build castles in the air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本意为“建造空中楼阁”，可引申为“幻想，空想”</a:t>
            </a:r>
          </a:p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他的许多想法，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曾被认为是空想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，现在已经变成了现实。</a:t>
            </a:r>
          </a:p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Many of his ideas,</a:t>
            </a:r>
            <a:r>
              <a:rPr kumimoji="0" lang="en-US" altLang="zh-CN" sz="32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______________________________________, have _______________________________.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不要再空想了，该着手做些实际的工作了。</a:t>
            </a:r>
          </a:p>
          <a:p>
            <a:pPr lvl="0" indent="0" fontAlgn="auto">
              <a:lnSpc>
                <a:spcPct val="120000"/>
              </a:lnSpc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Don’t ____________________. Please ___________ some practical work.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77870" y="2904490"/>
            <a:ext cx="95446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lvl="0" indent="0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which were believed to </a:t>
            </a:r>
            <a:r>
              <a:rPr lang="en-US" altLang="zh-CN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be castles in the air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6990" y="3429000"/>
            <a:ext cx="85617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turned into reality/become realities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279525" y="46812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build castles in the air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726555" y="4681220"/>
            <a:ext cx="239395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get down to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110" y="219075"/>
            <a:ext cx="12074525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 fontAlgn="auto">
              <a:lnSpc>
                <a:spcPct val="120000"/>
              </a:lnSpc>
            </a:pPr>
            <a:r>
              <a:rPr lang="en-US" altLang="zh-CN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(2)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句中的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given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作介词用，后接名词，意思为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“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考虑到，鉴于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”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Considering (prep.) sth/In view of/In (the) light of...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52855" marR="0" lvl="0" indent="-125285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Given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his age, he’s a remarkably active.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12725" y="2173605"/>
            <a:ext cx="11684000" cy="1863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-1252855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given that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可用作连词，引导一个从句。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 Considering that...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R="0" lvl="0" indent="-1252855" algn="l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Given that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she is interested in children, I am sure teaching is the right career for her.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7475" y="-22860"/>
            <a:ext cx="1207452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2. input n./v. input-input-input</a:t>
            </a:r>
          </a:p>
          <a:p>
            <a:pPr lvl="0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输入，投入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time, knowledge, ideas put into work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lvl="1" indent="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listen to our employees and value their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input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lvl="1" indent="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They may need some additional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inputs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and advice on how to improve the management of their farms.</a:t>
            </a:r>
          </a:p>
          <a:p>
            <a:pPr lvl="0" indent="0" fontAlgn="auto"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input of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resouces 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into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project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对某事物投入某资源</a:t>
            </a:r>
          </a:p>
          <a:p>
            <a:pPr lvl="0"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教学是一个有益的过程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它让教师对学生的发展有所贡献。</a:t>
            </a:r>
          </a:p>
          <a:p>
            <a:pPr lvl="0" indent="0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Teaching is a rewarding process, which allows teachers to ________________________________________.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7475" y="4597400"/>
            <a:ext cx="99358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have an input in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development of students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7475" y="-22860"/>
            <a:ext cx="12074525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output n./v.</a:t>
            </a:r>
          </a:p>
          <a:p>
            <a:pPr lvl="0"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输出，产出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the amount of something that a person or thing produces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lvl="0" indent="457200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Manufacturing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output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has increased by 8%.</a:t>
            </a:r>
          </a:p>
          <a:p>
            <a:pPr lvl="0" indent="457200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Manual workers need a good breakfast for high-energy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output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1371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3. ...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the capacity to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analyse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massive amounts of data through multiple layers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imitating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complex networks of the human brain.  </a:t>
            </a:r>
          </a:p>
        </p:txBody>
      </p:sp>
      <p:sp>
        <p:nvSpPr>
          <p:cNvPr id="4" name="矩形 3"/>
          <p:cNvSpPr/>
          <p:nvPr/>
        </p:nvSpPr>
        <p:spPr>
          <a:xfrm>
            <a:off x="22860" y="1234440"/>
            <a:ext cx="11791315" cy="5210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0" fontAlgn="auto">
              <a:lnSpc>
                <a:spcPct val="130000"/>
              </a:lnSpc>
            </a:pPr>
            <a:r>
              <a:rPr 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capacity n. </a:t>
            </a:r>
            <a:r>
              <a:rPr lang="en-US" sz="3200" b="1" i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number of things that a container or space can hold </a:t>
            </a:r>
            <a:r>
              <a:rPr lang="en-US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 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容量，容纳能力</a:t>
            </a:r>
            <a:r>
              <a:rPr lang="en-US" sz="3200" b="1" i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lvl="0" indent="0" fontAlgn="auto">
              <a:lnSpc>
                <a:spcPct val="130000"/>
              </a:lnSpc>
            </a:pPr>
            <a:r>
              <a:rPr lang="en-US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Bread factories are working </a:t>
            </a:r>
            <a:r>
              <a:rPr lang="en-US" sz="3200" b="1" u="sng" dirty="0" err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at full capacity</a:t>
            </a:r>
            <a:r>
              <a:rPr lang="en-US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 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全力</a:t>
            </a:r>
          </a:p>
          <a:p>
            <a:pPr lvl="0" indent="0" fontAlgn="auto">
              <a:lnSpc>
                <a:spcPct val="130000"/>
              </a:lnSpc>
            </a:pPr>
            <a:r>
              <a:rPr lang="en-US" altLang="zh-CN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hall has </a:t>
            </a:r>
            <a:r>
              <a:rPr lang="en-US" altLang="zh-CN" sz="3200" b="1" u="sng" dirty="0" err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seating </a:t>
            </a:r>
            <a:r>
              <a:rPr lang="en-US" altLang="zh-CN" sz="3200" b="1" u="sng" dirty="0" err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capacity of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2,000. 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……的容量</a:t>
            </a:r>
          </a:p>
          <a:p>
            <a:pPr lvl="0" indent="0" fontAlgn="auto">
              <a:lnSpc>
                <a:spcPct val="130000"/>
              </a:lnSpc>
            </a:pPr>
            <a:r>
              <a:rPr lang="en-US" altLang="zh-CN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2) 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做某事的能力</a:t>
            </a:r>
          </a:p>
          <a:p>
            <a:pPr lvl="0" indent="0" fontAlgn="auto">
              <a:lnSpc>
                <a:spcPct val="130000"/>
              </a:lnSpc>
            </a:pPr>
            <a:r>
              <a:rPr lang="en-US" altLang="zh-CN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Humans are all born with </a:t>
            </a:r>
            <a:r>
              <a:rPr lang="en-US" altLang="zh-CN" sz="3200" b="1" u="sng" dirty="0" err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capacity to be creative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 lvl="0" indent="0" fontAlgn="auto">
              <a:lnSpc>
                <a:spcPct val="130000"/>
              </a:lnSpc>
            </a:pPr>
            <a:r>
              <a:rPr lang="en-US" altLang="zh-CN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Limited resources are restricting our</a:t>
            </a:r>
            <a:r>
              <a:rPr lang="en-US" altLang="zh-CN" sz="3200" b="1" u="sng" dirty="0" err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capacity for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developing new products.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329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0" fontAlgn="auto">
              <a:lnSpc>
                <a:spcPct val="130000"/>
              </a:lnSpc>
            </a:pPr>
            <a:r>
              <a:rPr 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capacity n. </a:t>
            </a:r>
            <a:r>
              <a:rPr lang="en-US" sz="3200" b="1" i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number of things that a container or space can hold</a:t>
            </a:r>
          </a:p>
          <a:p>
            <a:pPr lvl="0" indent="0" fontAlgn="auto">
              <a:lnSpc>
                <a:spcPct val="130000"/>
              </a:lnSpc>
            </a:pPr>
            <a:r>
              <a:rPr lang="en-US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职责，职位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role</a:t>
            </a:r>
            <a:endParaRPr lang="en-US" altLang="zh-CN" sz="3200" b="1" dirty="0" err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30000"/>
              </a:lnSpc>
            </a:pP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organized the meeting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her capacity as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manager.</a:t>
            </a:r>
          </a:p>
          <a:p>
            <a:pPr lvl="0" indent="0" fontAlgn="auto">
              <a:lnSpc>
                <a:spcPct val="130000"/>
              </a:lnSpc>
            </a:pPr>
            <a:r>
              <a:rPr lang="zh-CN" altLang="en-US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她以经理的身份组织了会议。</a:t>
            </a:r>
          </a:p>
          <a:p>
            <a:pPr lvl="0" indent="0" fontAlgn="auto">
              <a:lnSpc>
                <a:spcPct val="130000"/>
              </a:lnSpc>
            </a:pPr>
            <a:endParaRPr lang="zh-CN" altLang="en-US" sz="3200" b="1" dirty="0" err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1791315" cy="649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2066925" fontAlgn="auto">
              <a:lnSpc>
                <a:spcPct val="130000"/>
              </a:lnSpc>
            </a:pP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analyse/analyze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分析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0" indent="-2600325" fontAlgn="auto">
              <a:lnSpc>
                <a:spcPct val="13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first step is to identify and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analyse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problem.</a:t>
            </a:r>
          </a:p>
          <a:p>
            <a:pPr lvl="0" indent="-2600325"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analysis n. (analyses pl.)</a:t>
            </a:r>
          </a:p>
          <a:p>
            <a:pPr lvl="0" indent="-2600325" fontAlgn="auto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They collected samples _________________ (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以待进一步分析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) at a laboratory.</a:t>
            </a:r>
          </a:p>
          <a:p>
            <a:pPr lvl="0" indent="-2600325"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analyst n.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分析家，化验员，心理分析师</a:t>
            </a:r>
          </a:p>
          <a:p>
            <a:pPr lvl="0" indent="-2600325"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analytical adj.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分析性的，科学分析的</a:t>
            </a:r>
          </a:p>
          <a:p>
            <a:pPr lvl="0" indent="-2600325" fontAlgn="auto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 researcher should be armed with sharp observation and good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analytical skills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 lvl="0" indent="-2600325" fontAlgn="auto"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分析能力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170680" y="193865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for further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64795" y="355600"/>
            <a:ext cx="11657330" cy="512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pPr indent="-44577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</a:p>
          <a:p>
            <a:pPr indent="-44577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I'm on the right track and I think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final analysis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people will understand that.</a:t>
            </a:r>
          </a:p>
          <a:p>
            <a:pPr indent="-44577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我的思路对头，我认为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最终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人们会明白的。</a:t>
            </a:r>
          </a:p>
          <a:p>
            <a:pPr indent="-44577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A packet of white powder was found and police scientists are __________ (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analyse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it. </a:t>
            </a:r>
          </a:p>
          <a:p>
            <a:pPr indent="-358775" fontAlgn="auto">
              <a:lnSpc>
                <a:spcPct val="120000"/>
              </a:lnSpc>
              <a:defRPr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During the course, students will develop their ___________ (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analyse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skills.</a:t>
            </a:r>
          </a:p>
        </p:txBody>
      </p:sp>
      <p:sp>
        <p:nvSpPr>
          <p:cNvPr id="6" name="矩形 5"/>
          <p:cNvSpPr/>
          <p:nvPr/>
        </p:nvSpPr>
        <p:spPr>
          <a:xfrm>
            <a:off x="570507" y="3429111"/>
            <a:ext cx="19779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analysing</a:t>
            </a:r>
            <a:endParaRPr lang="zh-CN" altLang="en-US" sz="32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943269" y="4013886"/>
            <a:ext cx="20799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analytical</a:t>
            </a:r>
            <a:endParaRPr lang="zh-CN" altLang="en-US" sz="32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1130" y="0"/>
            <a:ext cx="12040870" cy="6521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4. coin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invent a new word or phrase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创造</a:t>
            </a:r>
          </a:p>
        </p:txBody>
      </p:sp>
      <p:sp>
        <p:nvSpPr>
          <p:cNvPr id="3" name="文本框 1"/>
          <p:cNvSpPr txBox="1"/>
          <p:nvPr/>
        </p:nvSpPr>
        <p:spPr>
          <a:xfrm>
            <a:off x="151130" y="652145"/>
            <a:ext cx="1204150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coin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硬币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other side of the coin 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事情的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另一方面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two sides of the same coin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同一事情密切相关的两个方面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coin a phrase   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套用一句老话；用老话来说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 news is good news,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coin a phrase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pioneer n./v.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先驱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做开拓者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pioneer in/of sth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pioneer design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开创性设计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sb pioneers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sb be</a:t>
            </a:r>
            <a:r>
              <a:rPr lang="zh-CN" alt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one of the first people to do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sth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invented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pioneered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DNA tests.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605" y="254635"/>
            <a:ext cx="1164653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These findings are a reminder that low pay is 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另一方面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falling unemployment.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Theory and practice are 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密切相关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 which depend on each other.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3) 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杰伦·拉尼尔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Jaron Lanier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创造了</a:t>
            </a:r>
            <a:r>
              <a:rPr 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“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虚拟现实</a:t>
            </a:r>
            <a:r>
              <a:rPr 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”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这个词，并成为推动其早期发展的先驱人物。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8749" y="1404076"/>
            <a:ext cx="487807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other side of the coin of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80376" y="2015132"/>
            <a:ext cx="4790094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two sides of the same coin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95605" y="4393565"/>
            <a:ext cx="11268075" cy="1863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Jaron Lanier ___________________________ and _____________________________/ ________________________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818130" y="43884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coined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term 'virtual reality'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29895" y="494982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pioneered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its early development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29895" y="4984750"/>
            <a:ext cx="1123442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4572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                                      became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pinoneer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its early development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01608" y="235563"/>
            <a:ext cx="11755931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50850" indent="-450850">
              <a:lnSpc>
                <a:spcPct val="120000"/>
              </a:lnSpc>
              <a:defRPr sz="3200" b="1"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dirty="0"/>
              <a:t>6. Nowadays, AI is already being applied in many fields: </a:t>
            </a:r>
            <a:r>
              <a:rPr lang="en-US" altLang="zh-CN" dirty="0">
                <a:solidFill>
                  <a:srgbClr val="FF0000"/>
                </a:solidFill>
              </a:rPr>
              <a:t>finance</a:t>
            </a:r>
            <a:r>
              <a:rPr lang="en-US" altLang="zh-CN" dirty="0"/>
              <a:t>, health care, machine translation and art, </a:t>
            </a:r>
            <a:r>
              <a:rPr lang="en-US" altLang="zh-CN" dirty="0">
                <a:solidFill>
                  <a:srgbClr val="FF0000"/>
                </a:solidFill>
              </a:rPr>
              <a:t>to name but a few</a:t>
            </a:r>
            <a:r>
              <a:rPr lang="en-US" altLang="zh-CN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finance  </a:t>
            </a:r>
            <a:r>
              <a:rPr lang="en-US" altLang="zh-CN" i="1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.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management of money by governments, large organizations etc.</a:t>
            </a:r>
            <a:r>
              <a:rPr lang="en-US" altLang="zh-CN" b="0" i="1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财政，金融；资金；财力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tx1"/>
                </a:solidFill>
              </a:rPr>
              <a:t>Moving house put a severe strain on our</a:t>
            </a:r>
            <a:r>
              <a:rPr lang="zh-CN" altLang="en-US" dirty="0">
                <a:solidFill>
                  <a:srgbClr val="FF0000"/>
                </a:solidFill>
              </a:rPr>
              <a:t> finances.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Finance</a:t>
            </a:r>
            <a:r>
              <a:rPr lang="en-US" altLang="zh-CN" dirty="0"/>
              <a:t> for education comes from advertisement income.</a:t>
            </a:r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finance v. </a:t>
            </a:r>
            <a:r>
              <a:rPr lang="en-US" altLang="zh-CN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fund </a:t>
            </a:r>
            <a:r>
              <a:rPr lang="zh-CN" altLang="en-US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提供资金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/>
              <a:t>The building project will be </a:t>
            </a:r>
            <a:r>
              <a:rPr lang="en-US" altLang="zh-CN" dirty="0">
                <a:solidFill>
                  <a:srgbClr val="0000FF"/>
                </a:solidFill>
              </a:rPr>
              <a:t>financed </a:t>
            </a:r>
            <a:r>
              <a:rPr lang="en-US" altLang="zh-CN" dirty="0"/>
              <a:t>by the government.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financial </a:t>
            </a:r>
            <a:r>
              <a:rPr lang="en-US" altLang="zh-CN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en-US" altLang="zh-CN" dirty="0"/>
              <a:t> </a:t>
            </a:r>
            <a:r>
              <a:rPr lang="zh-CN" altLang="en-US" dirty="0"/>
              <a:t>财务的，金融的</a:t>
            </a:r>
            <a:r>
              <a:rPr lang="en-US" altLang="zh-CN" dirty="0"/>
              <a:t> be in </a:t>
            </a:r>
            <a:r>
              <a:rPr lang="en-US" altLang="zh-CN" dirty="0">
                <a:solidFill>
                  <a:srgbClr val="FF0000"/>
                </a:solidFill>
              </a:rPr>
              <a:t>financial </a:t>
            </a:r>
            <a:r>
              <a:rPr lang="en-US" altLang="zh-CN" dirty="0"/>
              <a:t>difficulties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She is still </a:t>
            </a:r>
            <a:r>
              <a:rPr lang="en-US" altLang="zh-CN" dirty="0">
                <a:solidFill>
                  <a:srgbClr val="FF0000"/>
                </a:solidFill>
              </a:rPr>
              <a:t>financially </a:t>
            </a:r>
            <a:r>
              <a:rPr lang="en-US" altLang="zh-CN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(adv.) </a:t>
            </a:r>
            <a:r>
              <a:rPr lang="en-US" altLang="zh-CN" dirty="0"/>
              <a:t>dependent on her parents. </a:t>
            </a:r>
            <a:r>
              <a:rPr lang="zh-CN" altLang="en-US" dirty="0">
                <a:sym typeface="+mn-ea"/>
              </a:rPr>
              <a:t>财政上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222250" y="1417955"/>
            <a:ext cx="11557000" cy="1166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name but a few: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just as some examples among many more</a:t>
            </a:r>
          </a:p>
          <a:p>
            <a:pPr>
              <a:lnSpc>
                <a:spcPct val="110000"/>
              </a:lnSpc>
            </a:pP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    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略举几例（用作插入语，句中或句尾）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Bees and bats,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name but a few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can see what humans can’t.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1608" y="235563"/>
            <a:ext cx="11755931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50850" indent="-450850">
              <a:lnSpc>
                <a:spcPct val="120000"/>
              </a:lnSpc>
              <a:defRPr sz="3200" b="1"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dirty="0"/>
              <a:t>6. Nowadays, AI is already being applied in many fields: </a:t>
            </a:r>
            <a:r>
              <a:rPr lang="en-US" altLang="zh-CN" dirty="0">
                <a:solidFill>
                  <a:srgbClr val="FF0000"/>
                </a:solidFill>
              </a:rPr>
              <a:t>finance</a:t>
            </a:r>
            <a:r>
              <a:rPr lang="en-US" altLang="zh-CN" dirty="0"/>
              <a:t>, health care, machine translation and art, </a:t>
            </a:r>
            <a:r>
              <a:rPr lang="en-US" altLang="zh-CN" dirty="0">
                <a:solidFill>
                  <a:srgbClr val="FF0000"/>
                </a:solidFill>
              </a:rPr>
              <a:t>to name but a few</a:t>
            </a:r>
            <a:r>
              <a:rPr lang="en-US" altLang="zh-CN" dirty="0"/>
              <a:t>.</a:t>
            </a:r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1886" y="547188"/>
            <a:ext cx="11223171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Your main task is to learn to manage your __________ (finance) for your future.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It’s reported that the project will __________ (finance) by a company.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Provide __________ (finance) aid and other benefits for local peoples.                                                                (2021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全国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3200" b="1" dirty="0"/>
              <a:t>卷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She’s been struggling _____________ (finance) for years since her husband died in an accident.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58200" y="1156789"/>
            <a:ext cx="162095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finances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42312" y="2343671"/>
            <a:ext cx="230383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be financed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58143" y="3503928"/>
            <a:ext cx="171072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financial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88609" y="4683760"/>
            <a:ext cx="2029723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financially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233" y="309669"/>
            <a:ext cx="11550581" cy="604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7. autonomous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r>
              <a:rPr lang="en-US" altLang="en-US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having the freedom to act independently </a:t>
            </a:r>
            <a:r>
              <a:rPr lang="zh-CN" alt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自主的，自治的</a:t>
            </a:r>
          </a:p>
          <a:p>
            <a:pPr indent="-358775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They proudly declared themselves part of a new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autonomous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province.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自治省</a:t>
            </a:r>
          </a:p>
          <a:p>
            <a:pPr indent="-358775" fontAlgn="auto">
              <a:lnSpc>
                <a:spcPct val="110000"/>
              </a:lnSpc>
            </a:pPr>
            <a:endParaRPr lang="zh-CN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8. domestic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 </a:t>
            </a: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国内的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national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domestic affairs / domestic flights / domestic market</a:t>
            </a: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家用的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household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domestic appliances / domestic chores / domestic service / domestic violence</a:t>
            </a: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domestically (adv.) produced goods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本国产品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0675" y="0"/>
            <a:ext cx="11734800" cy="658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9.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 threaten the existence of humans</a:t>
            </a: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threaten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威胁，恐吓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对……构成威胁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endager/put sth at risk</a:t>
            </a:r>
            <a:endParaRPr lang="zh-CN" altLang="en-US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threaten sb. with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用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来威胁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某人</a:t>
            </a:r>
          </a:p>
          <a:p>
            <a:pPr indent="-8763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threaten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威胁要做某事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05740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threaten that…     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威胁说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</a:p>
          <a:p>
            <a:pPr indent="-2057400" fontAlgn="auto">
              <a:lnSpc>
                <a:spcPct val="110000"/>
              </a:lnSpc>
            </a:pP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indent="-205740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threat n.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威胁，凶兆</a:t>
            </a:r>
          </a:p>
          <a:p>
            <a:pPr indent="-205740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make threats against sb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对某人进行威胁</a:t>
            </a:r>
          </a:p>
          <a:p>
            <a:pPr indent="-2057400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These ancient woodlands are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under threat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from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new road developments.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面临危险，受到威胁</a:t>
            </a:r>
          </a:p>
          <a:p>
            <a:pPr indent="-2057400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Drugs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pose a major threat to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our society.</a:t>
            </a:r>
          </a:p>
          <a:p>
            <a:pPr indent="-2057400" fontAlgn="auto">
              <a:lnSpc>
                <a:spcPct val="11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对……构成重大威胁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0675" y="0"/>
            <a:ext cx="11734800" cy="279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threatening adj.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威胁的，恐吓的</a:t>
            </a: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threatening behavior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威胁行为</a:t>
            </a: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storm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threatening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暴风雨即将来临。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was born with a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life-threatening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heart abnormality.</a:t>
            </a:r>
          </a:p>
          <a:p>
            <a:pPr indent="-358775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威胁生命的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5685" y="385169"/>
            <a:ext cx="11397343" cy="613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0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In both Africa and Asia elephants __________________ (threaten) by changes in their natural habitats at present.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Because of the drought, the people in this area are threatened _________ the poor harvest.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There are several things you can do to defend your home against this _________ (threaten).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It is said that many precious species are __________ threat from human activities.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5) His father threatened _________ (throw) him out, but he knew it was an empty _________ (threaten).</a:t>
            </a:r>
            <a:endParaRPr lang="zh-CN" altLang="en-US"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83086" y="947057"/>
            <a:ext cx="3666966" cy="597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are being threatened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1199" y="2627626"/>
            <a:ext cx="1712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with / by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82115" y="3701143"/>
            <a:ext cx="1182824" cy="597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threat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84955" y="4299127"/>
            <a:ext cx="1167307" cy="597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under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15881" y="5333999"/>
            <a:ext cx="1673343" cy="597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throw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39886" y="5921729"/>
            <a:ext cx="1182824" cy="597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threat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9903" y="190983"/>
            <a:ext cx="106221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50850" indent="-450850">
              <a:lnSpc>
                <a:spcPct val="120000"/>
              </a:lnSpc>
              <a:defRPr sz="3200" b="1"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dirty="0"/>
              <a:t>10. How would they be punished </a:t>
            </a:r>
            <a:r>
              <a:rPr lang="en-US" altLang="zh-CN" dirty="0">
                <a:solidFill>
                  <a:srgbClr val="FF0000"/>
                </a:solidFill>
              </a:rPr>
              <a:t>if</a:t>
            </a:r>
            <a:r>
              <a:rPr lang="en-US" altLang="zh-CN" dirty="0"/>
              <a:t> they </a:t>
            </a:r>
            <a:r>
              <a:rPr lang="en-US" altLang="zh-CN" dirty="0">
                <a:solidFill>
                  <a:srgbClr val="FF0000"/>
                </a:solidFill>
              </a:rPr>
              <a:t>committed</a:t>
            </a:r>
            <a:r>
              <a:rPr lang="en-US" altLang="zh-CN" dirty="0"/>
              <a:t> crimes or even </a:t>
            </a:r>
            <a:r>
              <a:rPr lang="en-US" altLang="zh-CN" dirty="0">
                <a:solidFill>
                  <a:srgbClr val="FF0000"/>
                </a:solidFill>
              </a:rPr>
              <a:t>murdered</a:t>
            </a:r>
            <a:r>
              <a:rPr lang="en-US" altLang="zh-CN" dirty="0"/>
              <a:t> humans?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   </a:t>
            </a:r>
            <a:r>
              <a:rPr lang="zh-CN" altLang="en-US" dirty="0"/>
              <a:t>如果它们犯了罪甚至谋杀了人类，又该如何惩罚？</a:t>
            </a:r>
            <a:endParaRPr lang="en-US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76945" y="2609423"/>
          <a:ext cx="10885713" cy="3967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2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4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2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虚拟情况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if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条件句的谓语形式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主句的谓语形式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与现在事实相反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过去式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(be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用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were)</a:t>
                      </a:r>
                      <a:endParaRPr lang="zh-CN" altLang="en-US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would/</a:t>
                      </a:r>
                      <a:r>
                        <a:rPr lang="en-US" altLang="zh-CN" sz="2800" b="1" baseline="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could/ might/ should+</a:t>
                      </a:r>
                      <a:r>
                        <a:rPr lang="zh-CN" altLang="en-US" sz="2800" b="1" baseline="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动词原形</a:t>
                      </a:r>
                      <a:endParaRPr lang="zh-CN" altLang="en-US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与将来事实相反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zh-CN" sz="2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①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过去式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(be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用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were)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zh-CN" sz="2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②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should+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动词原形</a:t>
                      </a:r>
                      <a:endParaRPr lang="en-US" altLang="zh-CN" sz="2800" b="1" kern="1200" dirty="0">
                        <a:solidFill>
                          <a:schemeClr val="dk1"/>
                        </a:solidFill>
                        <a:effectLst/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zh-CN" sz="2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③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were to+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动词原形</a:t>
                      </a:r>
                      <a:endParaRPr lang="zh-CN" altLang="en-US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altLang="zh-CN" sz="2800" b="1" baseline="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would/ could/might/ should+</a:t>
                      </a:r>
                      <a:r>
                        <a:rPr lang="zh-CN" altLang="en-US" sz="2800" b="1" baseline="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动词原形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与过去事实相反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had+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过去分词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would / could/ might/ should+ have+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过去分词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050972" y="1872343"/>
            <a:ext cx="2148345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含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从句</a:t>
            </a:r>
          </a:p>
        </p:txBody>
      </p:sp>
      <p:sp>
        <p:nvSpPr>
          <p:cNvPr id="5" name="矩形 4"/>
          <p:cNvSpPr/>
          <p:nvPr/>
        </p:nvSpPr>
        <p:spPr>
          <a:xfrm>
            <a:off x="599888" y="1872343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-5080"/>
            <a:r>
              <a:rPr lang="zh-CN" altLang="en-US" sz="3600" b="1" dirty="0">
                <a:solidFill>
                  <a:srgbClr val="0000FF"/>
                </a:solidFill>
              </a:rPr>
              <a:t>虚拟语气</a:t>
            </a:r>
            <a:endParaRPr lang="en-US" altLang="zh-CN" sz="36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6056" y="1589314"/>
            <a:ext cx="10874829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I were you, I would go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 her to learn the matter at once.                                   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与现在事实相反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719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it should rain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tomorrow,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 could stay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 home. </a:t>
            </a:r>
          </a:p>
          <a:p>
            <a:pPr marL="7194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与将来事实相反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719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I had known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your telephone number yesterday,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would have phoned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you.   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与过去事实相反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3772" y="1741714"/>
            <a:ext cx="10896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时间错综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if+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从句主语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+had+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过去分词，主句主语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+would/could/might/ should+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动词原形     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从句指过去，主句指现在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I hadn’t been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faced with so many barriers,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wouldn’t be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where I am.                     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错综虚拟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4414" y="309669"/>
            <a:ext cx="11223171" cy="6548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含蓄虚拟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31825" indent="-63182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favourable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winds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we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might have arrived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there in two </a:t>
            </a:r>
          </a:p>
          <a:p>
            <a:pPr marL="631825" indent="-63182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days.</a:t>
            </a:r>
          </a:p>
          <a:p>
            <a:pPr lvl="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Without air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there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wouldn’t be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living things in the world.</a:t>
            </a:r>
          </a:p>
          <a:p>
            <a:pPr marL="631825" lvl="0" indent="-631825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would not have returned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her childhood home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but for   </a:t>
            </a:r>
          </a:p>
          <a:p>
            <a:pPr marL="631825" lvl="0" indent="-63182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her grandmother falling ill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2022.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主语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+would/could/might/should+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动词原形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表示现在或将来发生的动作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主语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+would/could/might/should + have+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过去分词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表示过去或已完成的动作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此时常与下列词语连用：介词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短语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with, without, but for;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连词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supposing;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动词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suppose;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并列连词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or, otherwise, but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2880" y="285207"/>
            <a:ext cx="11467011" cy="334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从句中虚拟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常见句型：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it’s+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形容词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+that…</a:t>
            </a:r>
          </a:p>
          <a:p>
            <a:pPr indent="2057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it’s+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名词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短语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)+that…</a:t>
            </a:r>
          </a:p>
          <a:p>
            <a:pPr indent="20574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it’s+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过去分词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+that…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此时常见形容词：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advisable, desirable, essential, important, insistent, necessary, natural, strange, vital, urgent, unusual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等；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82880" y="3513997"/>
            <a:ext cx="11813177" cy="2761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名词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短语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pity, shame, no wonder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等；过去分词：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suggested, requested, required, proposed, desired, ordered, recommended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important that you should tell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 all the information.</a:t>
            </a:r>
          </a:p>
          <a:p>
            <a:pPr indent="71945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strange that you should say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such a thing.</a:t>
            </a:r>
          </a:p>
          <a:p>
            <a:pPr marL="71945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It’s suggested that we should do more sports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our spare time.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799" y="370115"/>
            <a:ext cx="11778343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注意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 marL="514350" indent="-514350">
              <a:lnSpc>
                <a:spcPct val="120000"/>
              </a:lnSpc>
              <a:buAutoNum type="arabicParenBoth"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当主句谓语动词是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order, suggest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建议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insist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坚决要求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demand, require, recommend, advise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等时，宾语从句谓语用“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should+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动词原形”表虚拟语气，此时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should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可省略。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Both"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当主语谓语动词是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wish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时，宾语从句谓语动词用过去式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(be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were)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表示与现在事实相反的愿望、“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would/ could/might/ should+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动词原形”表示与将来事实相反的愿望、“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had+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过去分词”表示与过去事实相反的愿望。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2913" y="4992874"/>
            <a:ext cx="10951028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The teacher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ordered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that the homework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(should) be finished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within half an hour.</a:t>
            </a:r>
          </a:p>
          <a:p>
            <a:pPr marL="7194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wish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had met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my uncle yesterday.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72886" y="1578429"/>
            <a:ext cx="10657114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I wish that man ____________ (speak) longer at that time.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What a pity! You missed the sightseeing, or we _________ __________ (have) a good time together.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Experts suggest families ______________ (create) and stick to a routine that gives kids structure.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46620" y="2170854"/>
            <a:ext cx="2281394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had spoken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40972" y="2786067"/>
            <a:ext cx="10069285" cy="1222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                    would have had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5257" y="3907353"/>
            <a:ext cx="278691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(should) create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593" y="98"/>
            <a:ext cx="11473544" cy="1173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404620" indent="-140462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10. commit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marL="1404620" indent="-1404620">
              <a:lnSpc>
                <a:spcPct val="11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1"/>
          <p:cNvSpPr/>
          <p:nvPr/>
        </p:nvSpPr>
        <p:spPr>
          <a:xfrm>
            <a:off x="358990" y="594775"/>
            <a:ext cx="11150929" cy="6263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When taken to the police station for questioning, the man said, “I have never ___________ ________ 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犯任何罪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”</a:t>
            </a:r>
          </a:p>
          <a:p>
            <a:pPr marL="450850" indent="-450850"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She has ___________ ________ ________ 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答应去看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a doctor at once.</a:t>
            </a:r>
          </a:p>
          <a:p>
            <a:pPr marL="450850" indent="-450850"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They’ll have to ________ ________ 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投入更多的钱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to the project if they want it to succeed.</a:t>
            </a:r>
          </a:p>
          <a:p>
            <a:pPr marL="450850" indent="-450850"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They have ________ ________ ____________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作出承诺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to keep working together to cope with the issue.</a:t>
            </a:r>
          </a:p>
          <a:p>
            <a:pPr marL="450850" indent="-450850">
              <a:lnSpc>
                <a:spcPct val="114000"/>
              </a:lnSpc>
            </a:pP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5) She _________ _______ ___ the scientific research. (</a:t>
            </a:r>
            <a:r>
              <a:rPr lang="zh-CN" altLang="en-US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全心全意献身于</a:t>
            </a: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</p:txBody>
      </p:sp>
      <p:sp>
        <p:nvSpPr>
          <p:cNvPr id="4" name="矩形 2"/>
          <p:cNvSpPr/>
          <p:nvPr/>
        </p:nvSpPr>
        <p:spPr>
          <a:xfrm>
            <a:off x="2912184" y="4533445"/>
            <a:ext cx="65472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made           a          commitment</a:t>
            </a:r>
            <a:endParaRPr lang="en-US" altLang="zh-CN" sz="3200" b="1" i="0" dirty="0">
              <a:solidFill>
                <a:srgbClr val="FF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3"/>
          <p:cNvSpPr/>
          <p:nvPr/>
        </p:nvSpPr>
        <p:spPr>
          <a:xfrm>
            <a:off x="4319634" y="1193418"/>
            <a:ext cx="60532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committed        any          crime   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4"/>
          <p:cNvSpPr/>
          <p:nvPr/>
        </p:nvSpPr>
        <p:spPr>
          <a:xfrm>
            <a:off x="2142580" y="2314539"/>
            <a:ext cx="74222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committed      herself         to          seeing</a:t>
            </a:r>
          </a:p>
        </p:txBody>
      </p:sp>
      <p:sp>
        <p:nvSpPr>
          <p:cNvPr id="7" name="矩形 5"/>
          <p:cNvSpPr/>
          <p:nvPr/>
        </p:nvSpPr>
        <p:spPr>
          <a:xfrm>
            <a:off x="3656875" y="3426723"/>
            <a:ext cx="49060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commit      more       money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矩形 2"/>
          <p:cNvSpPr/>
          <p:nvPr/>
        </p:nvSpPr>
        <p:spPr>
          <a:xfrm>
            <a:off x="1502484" y="5659935"/>
            <a:ext cx="654726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committed   herself   to</a:t>
            </a:r>
            <a:endParaRPr lang="en-US" altLang="zh-CN" sz="3200" b="1" i="0" dirty="0">
              <a:solidFill>
                <a:srgbClr val="FF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73380" y="139065"/>
            <a:ext cx="1151382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commitment 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  </a:t>
            </a:r>
          </a:p>
          <a:p>
            <a:pPr indent="-8051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We’re looking for someone with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real sense of commitment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the job.</a:t>
            </a:r>
          </a:p>
          <a:p>
            <a:pPr indent="-8051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We’ve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made a commitment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he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lp them, and we will.</a:t>
            </a:r>
          </a:p>
          <a:p>
            <a:pPr indent="-80518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career as an actor requires one hundred per cent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commitment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80518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Women very often have to juggle work with their family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commitments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80518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Achieving success at this level requires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commitment of time and energy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1271" y="1"/>
            <a:ext cx="11430001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82775" indent="-1882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murder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./n. </a:t>
            </a:r>
          </a:p>
          <a:p>
            <a:pPr marL="1882775" indent="-1882775">
              <a:lnSpc>
                <a:spcPct val="120000"/>
              </a:lnSpc>
            </a:pP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murder sb</a:t>
            </a:r>
          </a:p>
          <a:p>
            <a:pPr marL="1882775" indent="-1882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commit (a) murder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犯谋杀罪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82775" indent="-1882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found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guilty of murder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1882775" indent="-1882775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82775" indent="-1882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murderer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杀人犯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4630" y="-161925"/>
            <a:ext cx="1197737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us to think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about the dangers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posed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by the advances in AI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敦促我们思考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AI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的进步所带来的危险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3710" y="957580"/>
            <a:ext cx="11327765" cy="46075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 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advise 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or try hard to persuade sb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do sth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敦促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催促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力劝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 sb.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；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2730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urge + that sb (should) do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竭力主张</a:t>
            </a:r>
            <a:r>
              <a:rPr lang="en-US" altLang="zh-CN" sz="3200" b="1" dirty="0">
                <a:solidFill>
                  <a:schemeClr val="tx1"/>
                </a:solidFill>
                <a:latin typeface="+mn-ea"/>
                <a:cs typeface="Times New Roman" panose="02020503050405090304" pitchFamily="18" charset="0"/>
              </a:rPr>
              <a:t>……</a:t>
            </a:r>
          </a:p>
          <a:p>
            <a:pPr marL="450850" indent="-2730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+mn-ea"/>
                <a:cs typeface="Times New Roman" panose="02020503050405090304" pitchFamily="18" charset="0"/>
              </a:rPr>
              <a:t> 	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It is urged that sb (should) do sth</a:t>
            </a:r>
            <a:endParaRPr lang="en-US" altLang="zh-CN" sz="3200" b="1" dirty="0">
              <a:solidFill>
                <a:schemeClr val="tx1"/>
              </a:solidFill>
              <a:latin typeface="+mn-ea"/>
              <a:cs typeface="Times New Roman" panose="02020503050405090304" pitchFamily="18" charset="0"/>
            </a:endParaRPr>
          </a:p>
          <a:p>
            <a:pPr marL="450850" indent="-273050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report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urged that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all children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taught to swim.</a:t>
            </a:r>
          </a:p>
          <a:p>
            <a:pPr marL="450850" indent="-2730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cs typeface="Times New Roman" panose="02020503050405090304" pitchFamily="18" charset="0"/>
              </a:rPr>
              <a:t>这份报告呼吁教所有的儿童游泳。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+mn-ea"/>
                <a:cs typeface="Times New Roman" panose="02020503050405090304" pitchFamily="18" charset="0"/>
              </a:rPr>
              <a:t> = 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report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urged 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all children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to be 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taught to swim.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=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It is urged that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all children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taught to swim.</a:t>
            </a:r>
            <a:r>
              <a:rPr lang="en-US" altLang="zh-CN" sz="3200" b="1" dirty="0">
                <a:solidFill>
                  <a:schemeClr val="tx1"/>
                </a:solidFill>
                <a:latin typeface="+mn-ea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cs typeface="Times New Roman" panose="02020503050405090304" pitchFamily="18" charset="0"/>
              </a:rPr>
              <a:t>坚决要求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'Why not give it a try?' 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urged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(him).</a:t>
            </a:r>
            <a:endParaRPr lang="zh-CN" altLang="en-US" sz="3200" b="1" dirty="0">
              <a:solidFill>
                <a:schemeClr val="tx1"/>
              </a:solidFill>
              <a:latin typeface="+mn-ea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7370" y="530860"/>
            <a:ext cx="1142428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强烈要求；竭力主张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urge sth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situation is dangerous and the UN is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urging caution.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 immediate action to be taken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强烈要求立即采取行动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专家竭力主张就这个问题举行公开辩论。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expert urges 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...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urges that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 open debate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be held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on this issue.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驱赶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farmer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his horse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forward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短语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]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had a strong and supportive sister who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urged her on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鼓励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674745" y="2865120"/>
            <a:ext cx="78149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open debate to be held on this issue.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4658" y="131202"/>
            <a:ext cx="10287990" cy="1863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strong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desire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do </a:t>
            </a:r>
            <a:r>
              <a:rPr lang="en-US" altLang="zh-CN" sz="3200" b="1" i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强列的欲望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冲动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had a sudden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hit him.</a:t>
            </a:r>
          </a:p>
          <a:p>
            <a:pPr lvl="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抑制冲动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955" y="2171700"/>
            <a:ext cx="10103485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urgency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紧急；紧急的事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急迫的，紧急的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urgently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adv.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紧急地，急迫地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370455" y="12928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resist an urge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66056" y="751115"/>
            <a:ext cx="10657115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She was surprised at the ___________ (urge) in his voice and didn’t know how to work.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We did have to urge the students _________ before their examination.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It __________ (urge) that the spirit of Lei Feng should be greatly advocated in today’s society.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They’ve made an __________ (urge) request for good methods of learning English.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36771" y="1371254"/>
            <a:ext cx="159851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urgency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55029" y="2547256"/>
            <a:ext cx="61747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78428" y="3700975"/>
            <a:ext cx="168988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is urged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89927" y="4855028"/>
            <a:ext cx="1346844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urgent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34950" y="191135"/>
            <a:ext cx="11543030" cy="3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-1887855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12.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pose 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v.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kumimoji="0" lang="en-US" altLang="zh-CN" sz="3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1)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 create a threat, problem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造成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威胁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问题等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marR="0" lvl="0" indent="-1887855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pose a threat/challenge/danger/risk to ...</a:t>
            </a:r>
          </a:p>
          <a:p>
            <a:pPr marR="0" lvl="0" indent="-508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pose a question </a:t>
            </a:r>
            <a:r>
              <a:rPr kumimoji="0" lang="zh-CN" altLang="en-US" sz="3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提问</a:t>
            </a:r>
            <a:endParaRPr kumimoji="0" lang="en-US" altLang="zh-CN" sz="3200" b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R="0" lvl="0" indent="-363855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200" b="1" i="1" u="none" strike="noStrike" kern="1200" cap="none" spc="0" normalizeH="0" baseline="0" noProof="0" dirty="0">
              <a:ln>
                <a:noFill/>
              </a:ln>
              <a:solidFill>
                <a:srgbClr val="9933FF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R="0" lvl="0" indent="-363855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2) </a:t>
            </a:r>
            <a:r>
              <a:rPr kumimoji="0" lang="en-US" altLang="zh-CN" sz="32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pose </a:t>
            </a:r>
            <a:r>
              <a:rPr kumimoji="0" lang="en-US" altLang="zh-CN" sz="3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for a photograpgh </a:t>
            </a:r>
            <a:r>
              <a:rPr kumimoji="0" lang="zh-CN" altLang="en-US" sz="3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摆好姿势准备拍照</a:t>
            </a:r>
            <a:endParaRPr kumimoji="0" lang="en-US" altLang="zh-CN" sz="3200" b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R="0" lvl="0" indent="-363855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姿势</a:t>
            </a:r>
          </a:p>
          <a:p>
            <a:pPr marR="0" lvl="0" indent="-363855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took photos in various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poses.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2105" y="235585"/>
            <a:ext cx="1185989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13. spell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spell the end of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导致某事的结束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crop failure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spelt disaster for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many farmers.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带来灾难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cold weather could ________________ the farmers.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带来麻烦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spell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cn.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持续的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一段时间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a short period of time that lasts</a:t>
            </a:r>
            <a:endParaRPr lang="en-US" altLang="en-US" sz="3200" b="1" i="1" dirty="0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spell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warm weather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一段天气温暖的日子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went to the doctor complaining of dizzy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spells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她去找医生看病，说自己一阵一阵地头昏。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had 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spell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as a singer before becoming an actress.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Can I have 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spell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on the computer now?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551680" y="13538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spell trouble for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235585"/>
            <a:ext cx="1219200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咒语；魅力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magic spell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魔咒</a:t>
            </a:r>
            <a:endParaRPr lang="en-US" altLang="en-US" sz="3200" b="1" i="1" dirty="0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cast/put a/their spell on sb/sth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对某人施魔法，吸引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sb be fascinated by sth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many years sundials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日晷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have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cast their spell over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scientists and mathematicians.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多年来，日晷一直吸引着科学家和数学家们。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mysterious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spell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music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音乐的神秘魅力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00404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14. Apparently, such warning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our attention.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显然，这样的警告需要得到我们的重视。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8760" y="1316355"/>
            <a:ext cx="1195387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1) to make a very strong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request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 something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强烈要求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 			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强烈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要求某物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demanded an immeditate explanation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758055" indent="-47580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 that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sb (should) do sth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demand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 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要求做某事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to need </a:t>
            </a:r>
            <a:r>
              <a:rPr lang="en-US" altLang="zh-CN" sz="3200" b="1" i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in order to be done successfully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需要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sport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demands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both speed and strength.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497445" y="18827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urge sth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8920" y="175895"/>
            <a:ext cx="11644630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n./un.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顾客的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需求，需要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demand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pay rise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增加工资的要求</a:t>
            </a:r>
          </a:p>
          <a:p>
            <a:pPr>
              <a:lnSpc>
                <a:spcPct val="120000"/>
              </a:lnSpc>
            </a:pP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There's an increased demand for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organic produce these days.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exceeding supply.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供不应求。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meet / satisfy one’s demands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满足某人的要求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困难的，令人担忧的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要求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pl.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sb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对某人的要求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Flying makes enormous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demands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pilots.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要求高的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818130" y="48488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demanding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8920" y="175895"/>
            <a:ext cx="11644630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短语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By popular demand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the play will run for another week.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由于普遍需求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Good secretaries are always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demand.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需求大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on-demand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printing of books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一经要求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书籍按需印刷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4460" y="267970"/>
            <a:ext cx="11650980" cy="6481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 marL="628650" indent="-628650">
              <a:lnSpc>
                <a:spcPct val="118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I demand that ____________________________ (John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马上去那儿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8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2) She _______________________________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强烈要求立即道歉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28650" indent="-628650">
              <a:lnSpc>
                <a:spcPct val="118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3) It is reported that _______________________________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这个地区非常需要教师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28650" indent="-628650">
              <a:lnSpc>
                <a:spcPct val="118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4) He gave in to __________________________________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工人们要争取更多钱的要求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  <a:p>
            <a:pPr marL="628650" indent="-628650">
              <a:lnSpc>
                <a:spcPct val="118000"/>
              </a:lnSpc>
            </a:pP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  5) Get the technology that has proved to help the most __________ (demand) customers.</a:t>
            </a:r>
          </a:p>
          <a:p>
            <a:pPr marL="628650" indent="-628650">
              <a:lnSpc>
                <a:spcPct val="118000"/>
              </a:lnSpc>
            </a:pP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  6) The company’s report is available _____________ (</a:t>
            </a:r>
            <a:r>
              <a:rPr lang="zh-CN" altLang="en-US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按需索取</a:t>
            </a: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</p:txBody>
      </p:sp>
      <p:sp>
        <p:nvSpPr>
          <p:cNvPr id="3" name="矩形 2"/>
          <p:cNvSpPr/>
          <p:nvPr/>
        </p:nvSpPr>
        <p:spPr>
          <a:xfrm>
            <a:off x="3303979" y="3778290"/>
            <a:ext cx="68853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workers’ demand for more money</a:t>
            </a:r>
            <a:endParaRPr lang="en-US" altLang="zh-CN" sz="3200" b="1" i="0" dirty="0">
              <a:solidFill>
                <a:srgbClr val="FF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20703" y="885372"/>
            <a:ext cx="54527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John (should) go there at once</a:t>
            </a:r>
          </a:p>
        </p:txBody>
      </p:sp>
      <p:sp>
        <p:nvSpPr>
          <p:cNvPr id="5" name="矩形 4"/>
          <p:cNvSpPr/>
          <p:nvPr/>
        </p:nvSpPr>
        <p:spPr>
          <a:xfrm>
            <a:off x="1772131" y="1946761"/>
            <a:ext cx="5906770" cy="671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28650" indent="-628650">
              <a:lnSpc>
                <a:spcPct val="118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demanded an immediate apology</a:t>
            </a:r>
          </a:p>
        </p:txBody>
      </p:sp>
      <p:sp>
        <p:nvSpPr>
          <p:cNvPr id="6" name="矩形 5"/>
          <p:cNvSpPr/>
          <p:nvPr/>
        </p:nvSpPr>
        <p:spPr>
          <a:xfrm>
            <a:off x="3950304" y="2567240"/>
            <a:ext cx="6427914" cy="6243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28650" indent="-628650">
              <a:lnSpc>
                <a:spcPct val="118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teachers are in demand in this area</a:t>
            </a:r>
          </a:p>
        </p:txBody>
      </p:sp>
      <p:sp>
        <p:nvSpPr>
          <p:cNvPr id="7" name="矩形 2"/>
          <p:cNvSpPr/>
          <p:nvPr/>
        </p:nvSpPr>
        <p:spPr>
          <a:xfrm>
            <a:off x="793750" y="5459730"/>
            <a:ext cx="35941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demanding</a:t>
            </a:r>
            <a:endParaRPr lang="en-US" altLang="zh-CN" sz="3200" b="1" i="0" dirty="0">
              <a:solidFill>
                <a:srgbClr val="FF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矩形 2"/>
          <p:cNvSpPr/>
          <p:nvPr/>
        </p:nvSpPr>
        <p:spPr>
          <a:xfrm>
            <a:off x="7040245" y="6043295"/>
            <a:ext cx="35941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demand</a:t>
            </a:r>
            <a:endParaRPr lang="en-US" altLang="zh-CN" sz="3200" b="1" i="0" dirty="0">
              <a:solidFill>
                <a:srgbClr val="FF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8598" y="265426"/>
            <a:ext cx="11723916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15.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fall victim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AI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沦为……的受害者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victim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受害者；遇害者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；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牺牲者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sb be killed/hurt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accident victims /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victim of racial prejudice</a:t>
            </a:r>
          </a:p>
          <a:p>
            <a:pPr marL="446405" indent="-446405">
              <a:lnSpc>
                <a:spcPct val="120000"/>
              </a:lnSpc>
            </a:pP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16. greedy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贪婪的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 greedy for sth 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He stared at the diamonds with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greedy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eyes.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Nothing would satisfy her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greed (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)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for power.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265430"/>
            <a:ext cx="1219263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17. facial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recognition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identify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the face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识别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recognize sb from/by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glanced briefly towards her but there was no sign of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recognition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承认，认可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acknowledgement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a general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recognition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 the urgent need for reform.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(generally) recognized that ...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人们普遍认识到……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赞誉，赏识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public praise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gained/received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only minimal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recognition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 her work.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film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now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recognized as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classic.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他们因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20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年来对海上安全的付出而获得认可。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They ____________________ their 20-year __________________ safety at sea. 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798310" y="43084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公认为……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914400" y="549719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received recognition for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7770495" y="5497195"/>
            <a:ext cx="3197225" cy="815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commitment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  <p:bldP spid="7" grpId="0"/>
      <p:bldP spid="7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265430"/>
            <a:ext cx="1219263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短语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]</a:t>
            </a:r>
            <a:endParaRPr lang="en-US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 The town has changed ________ 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认不出来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since I was last here.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2. He is rewarded ____ _________ _____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对……的肯定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his contributions to education.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他们因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20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年来对海上安全的付出而获得认可。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They are rewarded in recognition of their 20-year commitment to safety at sea.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544695" y="79248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beyond recognition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202940" y="19812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    recognition   of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18.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alternative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cn.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option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New ways to treat this disease may provide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an alternative to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painkillers.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……的另一种选择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had no alternative but to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fire Gibson.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除了做某事别无选择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have no option but to do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can do nothing but do sth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other; unconventional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alternative method of doing sth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alternative energy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替代能源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清洁能源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alternative lifestyles/values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非传统生活方式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价值观</a:t>
            </a: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清洁能源开始广泛使用。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293235" y="5705475"/>
            <a:ext cx="798703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Alternative energy has come into widespread 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8600" y="265430"/>
            <a:ext cx="1196403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19. Moreover,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growing concern that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 might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fall victim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this technology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as there are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cases in which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hackers have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broken into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facial recognition systems by using people’s social media photos to build models of their faces.</a:t>
            </a:r>
          </a:p>
          <a:p>
            <a:pPr indent="-446405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719455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引导同位语从句的词通常有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that, whether, how, when, where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等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(if, which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不能引导同位语从句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</a:p>
          <a:p>
            <a:pPr indent="-719455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that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在同位语从句中没有词义，不充当句子成分，且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不能省略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was tortured by the doubt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whether he would accept their presents.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4799" y="268550"/>
            <a:ext cx="11451772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631825" fontAlgn="auto">
              <a:lnSpc>
                <a:spcPct val="120000"/>
              </a:lnSpc>
            </a:pPr>
            <a:r>
              <a:rPr lang="zh-CN" altLang="en-US" sz="30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同位语从句与定语从句</a:t>
            </a:r>
            <a:endParaRPr lang="zh-CN" altLang="en-US" sz="30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31825" fontAlgn="auto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news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 I have passed the exam 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true.</a:t>
            </a:r>
          </a:p>
          <a:p>
            <a:pPr indent="-631825" fontAlgn="auto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news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(that) he told me just now 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true.</a:t>
            </a:r>
          </a:p>
          <a:p>
            <a:pPr indent="-631825" fontAlgn="auto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news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 surprised me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true.</a:t>
            </a:r>
          </a:p>
        </p:txBody>
      </p:sp>
      <p:sp>
        <p:nvSpPr>
          <p:cNvPr id="5" name="文本框 1"/>
          <p:cNvSpPr txBox="1"/>
          <p:nvPr/>
        </p:nvSpPr>
        <p:spPr>
          <a:xfrm>
            <a:off x="305072" y="2575288"/>
            <a:ext cx="11059886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判断画线部分是同位语从句还是定语从句。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I got the news 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 Tom would go abroad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____________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suggestion 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 he put forward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was turned down. _____________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The suggestion 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 the meeting should be delayed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was put forward. ____________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2"/>
          <p:cNvSpPr txBox="1"/>
          <p:nvPr/>
        </p:nvSpPr>
        <p:spPr>
          <a:xfrm>
            <a:off x="8197215" y="3139169"/>
            <a:ext cx="2438400" cy="626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同位语从句</a:t>
            </a:r>
          </a:p>
        </p:txBody>
      </p:sp>
      <p:sp>
        <p:nvSpPr>
          <p:cNvPr id="7" name="文本框 3"/>
          <p:cNvSpPr txBox="1"/>
          <p:nvPr/>
        </p:nvSpPr>
        <p:spPr>
          <a:xfrm>
            <a:off x="2373358" y="5446940"/>
            <a:ext cx="2438400" cy="626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同位语从句</a:t>
            </a:r>
          </a:p>
        </p:txBody>
      </p:sp>
      <p:sp>
        <p:nvSpPr>
          <p:cNvPr id="8" name="文本框 4"/>
          <p:cNvSpPr txBox="1"/>
          <p:nvPr/>
        </p:nvSpPr>
        <p:spPr>
          <a:xfrm>
            <a:off x="1067071" y="4350705"/>
            <a:ext cx="2438400" cy="626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定语从句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7" grpId="0"/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1795" y="489585"/>
            <a:ext cx="1164399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break into 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get into it by force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强行进入，闯入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There was no one nearby who might see him trying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break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168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house.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2)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burst into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突然发出</a:t>
            </a:r>
          </a:p>
          <a:p>
            <a:pPr indent="-1168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into laughter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16840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爆发出热烈的掌声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突然开始跑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打入新市场</a:t>
            </a:r>
          </a:p>
          <a:p>
            <a:pPr indent="-1168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break into loud applause</a:t>
            </a:r>
          </a:p>
          <a:p>
            <a:pPr indent="-1168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into a run </a:t>
            </a:r>
          </a:p>
          <a:p>
            <a:pPr indent="-1168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into new market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937657" y="1581077"/>
            <a:ext cx="9056914" cy="481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短语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in      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闯入；打断； 插嘴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away from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脱离，摆脱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down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（机器）损坏，破坏，分解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off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中断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out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突发，爆发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through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突破，突围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up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打碎，分裂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441" y="452917"/>
            <a:ext cx="1502103" cy="84117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696686" y="1469571"/>
            <a:ext cx="10287000" cy="42563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thieves _________________ and stole some money. 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小偷闯入办公室，偷了一些钱。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crowd __________________. 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人群爆发出一阵欢呼。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Negotiations between the two sides ________________.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双方谈判失败了。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11286" y="2079171"/>
            <a:ext cx="4572000" cy="63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broke into the office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249386" y="3211116"/>
            <a:ext cx="3733800" cy="63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broke into cheers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271657" y="4441371"/>
            <a:ext cx="3962400" cy="63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broken 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63392" y="741793"/>
            <a:ext cx="11027230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Scientists think they are beginning to _____________ in the fight against cancer. 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科学家认为他们在对抗癌症的研究中开始有所突破。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5) Their marriage _____________. 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他们的婚姻已经破裂。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6) </a:t>
            </a:r>
            <a:r>
              <a:rPr lang="en-US" altLang="zh-CN" sz="3200" b="1" dirty="0">
                <a:latin typeface="Times New Roman" panose="02020503050405090304" pitchFamily="18" charset="0"/>
              </a:rPr>
              <a:t>I was still living in London when the war ____________.</a:t>
            </a:r>
          </a:p>
          <a:p>
            <a:pPr marL="446405" indent="-446405" algn="justLow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</a:rPr>
              <a:t>战争爆发的时候我还住在伦敦。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641137" y="741793"/>
            <a:ext cx="3048000" cy="63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through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950879" y="2540362"/>
            <a:ext cx="3151188" cy="63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has broken up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617904" y="3702595"/>
            <a:ext cx="1973262" cy="63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broke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4330</Words>
  <Application>Microsoft Macintosh PowerPoint</Application>
  <PresentationFormat>Widescreen</PresentationFormat>
  <Paragraphs>430</Paragraphs>
  <Slides>49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宋体</vt:lpstr>
      <vt:lpstr>Times New Roman Bold</vt:lpstr>
      <vt:lpstr>Times New Roman Bold Italic</vt:lpstr>
      <vt:lpstr>Arial</vt:lpstr>
      <vt:lpstr>Calibri</vt:lpstr>
      <vt:lpstr>Calibri Light</vt:lpstr>
      <vt:lpstr>Times New Roman</vt:lpstr>
      <vt:lpstr>Office 主题</vt:lpstr>
      <vt:lpstr>1_Office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629</cp:revision>
  <dcterms:created xsi:type="dcterms:W3CDTF">2024-12-09T01:48:39Z</dcterms:created>
  <dcterms:modified xsi:type="dcterms:W3CDTF">2026-07-23T01:07:59Z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1033-6.13.2.8918</vt:lpwstr>
  </property>
  <property fmtid="{D5CDD505-2E9C-101B-9397-08002B2CF9AE}" pid="3" name="ICV">
    <vt:lpwstr>59072B01041F460B92A51334908A9708</vt:lpwstr>
  </property>
</Properties>
</file>