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75" r:id="rId4"/>
    <p:sldId id="315" r:id="rId6"/>
    <p:sldId id="313" r:id="rId7"/>
    <p:sldId id="314" r:id="rId8"/>
    <p:sldId id="288" r:id="rId9"/>
    <p:sldId id="316" r:id="rId10"/>
    <p:sldId id="290" r:id="rId11"/>
    <p:sldId id="270" r:id="rId12"/>
    <p:sldId id="317" r:id="rId13"/>
    <p:sldId id="292" r:id="rId14"/>
    <p:sldId id="276" r:id="rId15"/>
    <p:sldId id="294" r:id="rId16"/>
    <p:sldId id="298" r:id="rId17"/>
    <p:sldId id="299" r:id="rId18"/>
    <p:sldId id="282" r:id="rId19"/>
    <p:sldId id="319" r:id="rId20"/>
    <p:sldId id="337" r:id="rId21"/>
    <p:sldId id="332" r:id="rId22"/>
    <p:sldId id="330" r:id="rId23"/>
    <p:sldId id="333" r:id="rId24"/>
    <p:sldId id="334" r:id="rId25"/>
    <p:sldId id="335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33FF"/>
    <a:srgbClr val="FFFFCC"/>
    <a:srgbClr val="FFFF99"/>
    <a:srgbClr val="D9D9D9"/>
    <a:srgbClr val="FFFFFF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870" y="84"/>
      </p:cViewPr>
      <p:guideLst>
        <p:guide orient="horz" pos="2195"/>
        <p:guide pos="38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solidFill>
                  <a:srgbClr val="FF0000"/>
                </a:solidFill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该新产品使这家公司跻身计算机软件业的前列。</a:t>
            </a:r>
            <a:endParaRPr lang="zh-CN" altLang="en-US" b="1" dirty="0">
              <a:solidFill>
                <a:srgbClr val="FF0000"/>
              </a:solidFill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“</a:t>
            </a:r>
            <a:r>
              <a:rPr lang="zh-CN" altLang="en-US"/>
              <a:t>幸福</a:t>
            </a:r>
            <a:r>
              <a:rPr lang="en-US" altLang="en-US"/>
              <a:t>”</a:t>
            </a:r>
            <a:r>
              <a:rPr lang="zh-CN" altLang="en-US"/>
              <a:t>是一个复杂且多面的概念，它不仅仅是一个简单的定义所能涵盖的。因此，尽管我们试图为</a:t>
            </a:r>
            <a:r>
              <a:rPr lang="en-US" altLang="en-US"/>
              <a:t>“</a:t>
            </a:r>
            <a:r>
              <a:rPr lang="zh-CN" altLang="en-US"/>
              <a:t>幸福</a:t>
            </a:r>
            <a:r>
              <a:rPr lang="en-US" altLang="en-US"/>
              <a:t>”</a:t>
            </a:r>
            <a:r>
              <a:rPr lang="zh-CN" altLang="en-US"/>
              <a:t>设定一些标准或框架，但它总是会超出这些定义的范围，需要我们在不断探索和理解中逐步接近其真正的内涵</a:t>
            </a:r>
            <a:r>
              <a:rPr lang="en-US" altLang="en-US"/>
              <a:t>‌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界定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责任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问题的难易度是以解决这个问题所花时间的长短而定的。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/>
              <a:t>清楚</a:t>
            </a:r>
            <a:r>
              <a:rPr lang="zh-CN" altLang="en-US"/>
              <a:t>分辨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报纸版式更倾向是带有很多本地色彩</a:t>
            </a:r>
            <a:r>
              <a:rPr lang="en-US" altLang="en-US"/>
              <a:t>.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基于实践的，实践上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a </a:t>
            </a:r>
            <a:r>
              <a:rPr lang="en-US"/>
              <a:t>great deal of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It was difficult to engage the students at first. / engage the public/audience/viewer/reader</a:t>
            </a:r>
            <a:endParaRPr lang="en-US" altLang="en-US"/>
          </a:p>
          <a:p>
            <a:r>
              <a:rPr lang="en-US" altLang="en-US"/>
              <a:t>you get involved with that thing or group and feel that you are connected with it or have real contact with it.</a:t>
            </a:r>
            <a:endParaRPr lang="en-US" altLang="en-US"/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他现在受雇为顾问。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endParaRPr lang="en-US" altLang="zh-CN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/>
              <a:t>我们承认需要直接处理这些问题。</a:t>
            </a:r>
            <a:endParaRPr lang="zh-CN" altLang="en-US"/>
          </a:p>
          <a:p>
            <a:r>
              <a:rPr lang="zh-CN" altLang="en-US"/>
              <a:t>该公司正在积极与客户互动，以了解他们的需求。</a:t>
            </a:r>
            <a:endParaRPr lang="zh-CN" altLang="en-US"/>
          </a:p>
          <a:p>
            <a:r>
              <a:rPr lang="zh-CN" altLang="en-US"/>
              <a:t>教师需要与学生互动以提高学习成果。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(= I have already arranged to do something else).</a:t>
            </a:r>
            <a:endParaRPr lang="en-US" altLang="en-US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zh-CN" altLang="en-US"/>
              <a:t>致力于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他下周有几次社交约会。</a:t>
            </a:r>
            <a:endParaRPr lang="zh-CN" altLang="en-US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在实践中，可以归结为：学校应该采取什么措施来让学生首先成长。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30000"/>
              </a:lnSpc>
            </a:pPr>
            <a:r>
              <a:rPr lang="en-US" altLang="en-US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was disappointed by his lack of initiative. / show some initiative</a:t>
            </a:r>
            <a:endParaRPr lang="en-US" altLang="en-US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她对他缺少进取心感到失望。</a:t>
            </a:r>
            <a:endParaRPr lang="zh-CN" altLang="en-US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r>
              <a:rPr lang="en-US"/>
              <a:t>i</a:t>
            </a:r>
            <a:r>
              <a:rPr lang="en-US"/>
              <a:t>nitiate restrictions on imported goods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30000"/>
              </a:lnSpc>
            </a:pPr>
            <a:r>
              <a:rPr lang="zh-CN" altLang="en-US"/>
              <a:t>地方帮助年轻人的举措并不充分。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30000"/>
              </a:lnSpc>
            </a:pP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30000"/>
              </a:lnSpc>
            </a:pPr>
            <a:r>
              <a:rPr lang="zh-CN" altLang="en-US"/>
              <a:t>令人讨厌的是，城市中那些工厂的烟囱每天都会喷出大量烟雾。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30000"/>
              </a:lnSpc>
            </a:pP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30000"/>
              </a:lnSpc>
            </a:pPr>
            <a:r>
              <a:rPr lang="zh-CN" altLang="en-US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一个尚未绘制地图的未经勘察的地区</a:t>
            </a:r>
            <a:endParaRPr lang="zh-CN" altLang="en-US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现在已有可能了解大脑的各种功能。</a:t>
            </a:r>
            <a:endParaRPr lang="zh-CN" altLang="en-US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30000"/>
              </a:lnSpc>
            </a:pPr>
            <a:r>
              <a:rPr lang="zh-CN" altLang="en-US"/>
              <a:t>并非重新分配财富和机会，而是富裕地区和个人以牺牲穷人的利益来获益。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以健康为代价</a:t>
            </a:r>
            <a:r>
              <a:rPr lang="en-US" altLang="zh-CN"/>
              <a:t> at the expense of health</a:t>
            </a:r>
            <a:endParaRPr lang="en-US" altLang="zh-CN"/>
          </a:p>
          <a:p>
            <a:pPr>
              <a:lnSpc>
                <a:spcPct val="130000"/>
              </a:lnSpc>
            </a:pPr>
            <a:r>
              <a:rPr lang="en-US" altLang="zh-CN"/>
              <a:t>cover household expenses</a:t>
            </a:r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30000"/>
              </a:lnSpc>
            </a:pPr>
            <a:r>
              <a:rPr lang="zh-CN" altLang="en-US"/>
              <a:t>隐藏，</a:t>
            </a:r>
            <a:r>
              <a:rPr lang="zh-CN" altLang="en-US"/>
              <a:t>掩饰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prstGeom prst="rect">
            <a:avLst/>
          </a:prstGeo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prstGeom prst="rect">
            <a:avLst/>
          </a:prstGeo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prstGeom prst="rect">
            <a:avLst/>
          </a:prstGeo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8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1299" y="203334"/>
            <a:ext cx="1119494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1.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at the forefront of developments in virtual reality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在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VR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的前沿开发领域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new product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brought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the company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at the forefront of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the computer software field.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court case was constantly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at the forefront of my mind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他的小组处于疫苗科研的最前沿。</a:t>
            </a:r>
            <a:endParaRPr lang="zh-CN" altLang="en-US" sz="3200" b="1" dirty="0">
              <a:solidFill>
                <a:schemeClr val="tx1"/>
              </a:solidFill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His team is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at the forefront of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scientific research into vaccines.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994275" y="19373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使……处于领先地位</a:t>
            </a:r>
            <a:endParaRPr lang="zh-CN" altLang="en-US" sz="3200" b="1" dirty="0" smtClean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410960" y="308800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萦绕在我的心头</a:t>
            </a:r>
            <a:endParaRPr lang="zh-CN" altLang="en-US" sz="3200" b="1" dirty="0" smtClean="0"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1299" y="327794"/>
            <a:ext cx="1119494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definition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定义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idea “happiness”, to be sure, will not sit still for easy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清晰度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definition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the digital TV pictures is excellent.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define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define sth as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将……定义成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refer to 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textaholic can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defined as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someone who is addicted to sending and receiving messages.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1299" y="327794"/>
            <a:ext cx="1119494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define v.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阐明，明确，界定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clarify, determine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 need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define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responsibilities very clearly.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difficulty of a problem was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defined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terms of how long it took to complete.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difficult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define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what makes him so popular.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描出……的外形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mountain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was sharply defined against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sky.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那座山在天空的衬托下显得轮廓分明。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new camera could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define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even a small object.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清楚分辨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0169" y="344304"/>
            <a:ext cx="1119494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practical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applications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实际应用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(line 21)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constructive applications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有建设性的应用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wouldn’t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practical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for us to go all that way just for the weekend.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Our clothes are lightweight, fashionable,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practical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for holidays.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Let’s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practical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and work out the cost first.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20000"/>
              </a:lnSpc>
            </a:pPr>
            <a:endParaRPr lang="zh-CN" altLang="en-US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My friend Peter is very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practical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and down to earth.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779395" y="259143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切实可行的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workable, effective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14420" y="561467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务实的，理智的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(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人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)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sensible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286750" y="38258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实用的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useful, suitable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704975" y="450786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实际的，实事求是的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realistic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432435" y="290830"/>
            <a:ext cx="10876915" cy="540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impractical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opp. adj.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for all practical purposes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实际上，事实上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 practical terms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实际上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/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in practice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sale was supposed to last for a week, but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for all practical purposes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it's over.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减价销售原来预料要持续一周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,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然而实际上已经结束了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For all practical purposes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, newspaper format is a national story with many local nuances (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细微差别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432435" y="290830"/>
            <a:ext cx="10876915" cy="30441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course is more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practically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based than the Masters degree.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He'd known the old man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practically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all his life.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adv.</a:t>
            </a:r>
            <a:r>
              <a:rPr lang="en-US" altLang="en-US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almost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几乎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By the 1920s, wolves had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practically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disappeared from the Yellowstone area.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242570"/>
            <a:ext cx="1196149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4. There are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host of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educational applications.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87630" fontAlgn="auto">
              <a:lnSpc>
                <a:spcPct val="120000"/>
              </a:lnSpc>
              <a:tabLst>
                <a:tab pos="35877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host of: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large number of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许多，大量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可数名词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87630" fontAlgn="auto">
              <a:lnSpc>
                <a:spcPct val="120000"/>
              </a:lnSpc>
              <a:tabLst>
                <a:tab pos="358775" algn="l"/>
              </a:tabLst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87630" fontAlgn="auto">
              <a:lnSpc>
                <a:spcPct val="120000"/>
              </a:lnSpc>
              <a:tabLst>
                <a:tab pos="358775" algn="l"/>
              </a:tabLst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5. immersive technology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沉浸式虚拟现实技术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87630" fontAlgn="auto">
              <a:lnSpc>
                <a:spcPct val="120000"/>
              </a:lnSpc>
              <a:tabLst>
                <a:tab pos="35877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immersive games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沉浸式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虚拟现实的游戏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87630" fontAlgn="auto">
              <a:lnSpc>
                <a:spcPct val="120000"/>
              </a:lnSpc>
              <a:tabLst>
                <a:tab pos="358775" algn="l"/>
              </a:tabLst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87630" fontAlgn="auto">
              <a:lnSpc>
                <a:spcPct val="120000"/>
              </a:lnSpc>
              <a:tabLst>
                <a:tab pos="35877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immerse (v.) oneself in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沉浸在……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87630" fontAlgn="auto">
              <a:lnSpc>
                <a:spcPct val="120000"/>
              </a:lnSpc>
              <a:tabLst>
                <a:tab pos="358775" algn="l"/>
              </a:tabLst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Since then I've lived alone and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immersed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myself in my career.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-87630" fontAlgn="auto">
              <a:lnSpc>
                <a:spcPct val="120000"/>
              </a:lnSpc>
              <a:tabLst>
                <a:tab pos="358775" algn="l"/>
              </a:tabLst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be immersed in = be absorbed in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635" cy="1173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engage students’ interest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enhance learning efficiency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10000"/>
              </a:lnSpc>
            </a:pP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吸引学生的兴趣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、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提高学习效率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72820"/>
            <a:ext cx="12369165" cy="599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engage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 </a:t>
            </a:r>
            <a:endParaRPr lang="en-US" altLang="zh-CN" sz="3200" b="1" i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engage sb / one’s attention/interest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吸引某人的兴趣，注意力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engage sb as sth (to do sth)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雇佣，聘用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is currently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engaged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a consultant.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engage with sb/sth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与……建立密切关系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involve and understand 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 want your reader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engage actively with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your ideas, not just read them passively.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company is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engaging with its customers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understand their needs.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Teachers need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engage with students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enhance learning outcomes.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engaging with others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who share some same hobbies as you.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635" y="0"/>
            <a:ext cx="12192635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enegage (sb) in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从事，参加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participate in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动作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i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敦促学校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让所有学生参加课外活动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urge schools to engage all students in extracurricular activities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积极参加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塑造我们居住的世界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actively engage (oneself) in shaping the world we live in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= be engaged in sth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忙于某事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be occupied (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状态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)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They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were engaged in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conversation.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 can't come to dinner on Tuesday —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I'm otherwise engaged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5) 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订婚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 engaged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When did you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get engaged to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Peter? 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024620" y="521335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6405" indent="-44640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另外有事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92405" y="0"/>
            <a:ext cx="11807825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Aside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 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from her thorough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 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exploration,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 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also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engaged </a:t>
            </a:r>
            <a:r>
              <a:rPr lang="en-US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us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 </a:t>
            </a:r>
            <a:r>
              <a:rPr lang="en-US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discussion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,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 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encouraging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 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us to share and comment. I was amazed at how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engaged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was and how much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 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learned.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encourage 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students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engage more with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nature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further and foster their sense of labor and responsibility, our shcool launched a greenery initiative last semester.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engagement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约定；密切关系；雇用；订婚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has a number of social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engagements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next week.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had to refuse because of a prior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engagement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has broken off her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engagement to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Charles.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3205" y="201295"/>
            <a:ext cx="11724005" cy="3634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engaging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pleasant, interesting, and entertaining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有趣的，令人愉快的，迷人的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one of her most engaging and least known novels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她最有趣却最不知名的小说之一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engaging smile/personality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迷人的微笑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有趣的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个性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9857" y="522514"/>
            <a:ext cx="1107077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Her attention ___________ (engage) by the display of new hats in the shop window.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Just a few days after the signs went up, he found people sitting there and engaging _________ active and joyful conversations.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Our findings show young babies’ social ____________ (engage) contributes to their own language learning.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She got engaged _________ a young man whom she met with on the Internet.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65714" y="1066800"/>
            <a:ext cx="2488182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was engaged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25243" y="2891624"/>
            <a:ext cx="52610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59485" y="3984172"/>
            <a:ext cx="2281394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engagement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09805" y="5225144"/>
            <a:ext cx="52610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930" y="-129540"/>
            <a:ext cx="1211707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7.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barriers to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development of VR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……的障碍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Lack of confidence is a psychological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barrier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success.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语言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障碍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remove trade 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arriers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消除贸易壁垒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There was no real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barrier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between reality and fantasy in his mind.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8.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boil down to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归结为，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基本问题是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194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 practice,</a:t>
            </a:r>
            <a:r>
              <a:rPr lang="en-US" altLang="zh-CN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it may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boil down to </a:t>
            </a:r>
            <a:r>
              <a:rPr lang="en-US" altLang="zh-CN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this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—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What measures the school should take to make the students grow up first.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wrote a lot in his letter, which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could boil down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it/the fact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that he felt very sorry for his absence.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040890" y="10515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6405" indent="-44640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language barrier 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231515" y="27584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6405" indent="-446405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分界线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44145" y="189865"/>
            <a:ext cx="11858625" cy="6687185"/>
          </a:xfrm>
          <a:prstGeom prst="rect">
            <a:avLst/>
          </a:prstGeom>
        </p:spPr>
        <p:txBody>
          <a:bodyPr wrap="square">
            <a:spAutoFit/>
          </a:bodyPr>
          <a:p>
            <a:pPr fontAlgn="auto"/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He was 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boiling with rage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r>
              <a:rPr lang="en-US" altLang="zh-CN" sz="3200" b="1">
                <a:latin typeface="Times New Roman Regular" panose="02020503050405090304" charset="0"/>
                <a:cs typeface="Times New Roman Regular" panose="02020503050405090304" charset="0"/>
              </a:rPr>
              <a:t> </a:t>
            </a: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他怒不可遏。</a:t>
            </a:r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fontAlgn="auto"/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make one’s blood boil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fontAlgn="auto"/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fontAlgn="auto"/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9.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initial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cost will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discourage most people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in the beginning but that should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fixed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over time.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28752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initial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first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最初的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开始的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18002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 the initial stage of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campaign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……的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最初阶段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-18002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initials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全名的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首字母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-1800225" fontAlgn="auto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-18002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initiative n.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倡议；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新方案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-180022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发起一次倡议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-18002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government initiative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一个政府倡议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671445" y="550037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-1800225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launch an initiative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6922770" y="614838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Helvetica"/>
                <a:cs typeface="Times New Roman Bold" panose="02020503050405090304" charset="0"/>
              </a:rPr>
              <a:t>Belt and Road Initiative</a:t>
            </a:r>
            <a:endParaRPr lang="en-US" altLang="zh-CN" sz="3200" b="1" i="0">
              <a:solidFill>
                <a:srgbClr val="FF0000"/>
              </a:solidFill>
              <a:latin typeface="Times New Roman Bold" panose="02020503050405090304" charset="0"/>
              <a:ea typeface="Helvetica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3985" y="0"/>
            <a:ext cx="11900535" cy="27838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主动性，积极性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 won't get much help. You'll have to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use your initiative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sort out problems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their own initiative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主动地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主动权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seize/lose the initiative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掌握／丧失先机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 need to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take the initiative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and you have to commit a hundred percent.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采取主动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initiate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发起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trip was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initiated </a:t>
            </a:r>
            <a:r>
              <a:rPr lang="en-US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by the manager of the community centre.</a:t>
            </a:r>
            <a:endParaRPr lang="en-US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initially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起初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580130" y="0"/>
            <a:ext cx="845439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6405" indent="-446405"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ability to decide and act on your own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3985" y="0"/>
            <a:ext cx="11900535" cy="27838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翻译下列句子。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42925"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1) 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我最初的惊讶很快就被愉悦替代。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initial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surprise was soon replaced by delight.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2)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在修复关系方面应由美国采取主动。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3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 up to the US to ______ _______ ________ in repairing relations.</a:t>
            </a:r>
            <a:endParaRPr lang="en-US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3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You don't wait until someone tells you or asks you to do something; you do it ____ _______ _____ _________.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主动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en-US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Local __________ (initiate) to help young people have been inadequate.</a:t>
            </a:r>
            <a:endParaRPr lang="en-US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09720" y="25527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take     the        initiative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882390" y="443039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   your   own      initaive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740535" y="51123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6405" indent="-44640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initiatives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6" grpId="0"/>
      <p:bldP spid="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260" y="-120015"/>
            <a:ext cx="11900535" cy="65176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Does it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annoy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 to see cars blocking the road like weeds...?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1)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make sb slightly angry / irritate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annoys sb to do sth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做某事使某人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恼怒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annoyed me that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didn't have time to do more reading.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打扰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bother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mosquitoes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annoyed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me so much I couldn't sleep.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annoyance 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恼怒，生气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Much to our annoyance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they decided not to come after all.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stamped her foot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annoyance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[C]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使人烦恼的事；令人生气的事物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delay is now shorter but still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annoyance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3985" y="0"/>
            <a:ext cx="11900535" cy="65176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annoyed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was beginning to get very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annoyed with me at/about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my carelessness.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was annoyed to find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himself going red.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was annoyed that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they hadn't turned up.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annoying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It's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annoying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 the chimneys of those plants in the city eject a lot of smoke every day.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260" y="-120015"/>
            <a:ext cx="11900535" cy="65176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must raise the level of research and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weed out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poorest work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淘汰，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清除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House-price booms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were seen as a thing of the past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Benedict was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creature of habit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liked to do the same thing every day.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习惯性动物，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一成不变。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3985" y="0"/>
            <a:ext cx="12057380" cy="65176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 map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v.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绘制……的地图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unexplored region that has not yet been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mapped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mapping (n.)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 the Indian subcontinent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印度次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大陆地图的绘制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en-US" altLang="en-US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discover or give information about sth, especially the way it is arranged or organized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is now possible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map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different functions of the brain.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has his career path clearly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mapped out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精心规划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map out a long-term plan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7145" y="-237490"/>
            <a:ext cx="12057380" cy="65176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 expense n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.</a:t>
            </a:r>
            <a:endParaRPr lang="en-US" altLang="en-US" sz="3200" b="1" i="1" dirty="0">
              <a:solidFill>
                <a:srgbClr val="FF0000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Instead of redistributing wealth and opportunities, rich regions and individuals benefit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at the expense of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poorer ones.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garden was transformed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great expense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invited scholars to live and study in Alexandria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his expense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They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went to all the expense of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protecting the endangered animals.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不惜一切代价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做某事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expense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sing.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花钱的东西；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pl.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费用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Running a car is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big expense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生活开支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living expenses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医疗费用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payments he gets barely ______ ____ ______.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他几乎是入不敷出。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333105" y="1686560"/>
            <a:ext cx="6096000" cy="7308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花大笔费用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147435" y="5462905"/>
            <a:ext cx="6096000" cy="7308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medical expenses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043170" y="6085840"/>
            <a:ext cx="425323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6405" indent="-44640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cover  his  expenses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4" grpId="1"/>
      <p:bldP spid="3" grpId="1"/>
      <p:bldP spid="5" grpId="0"/>
      <p:bldP spid="5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7145" y="-88900"/>
            <a:ext cx="12057380" cy="65176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4.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the envy of sb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成为羡慕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妒忌的对象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couldn't conceal his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envy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 me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They looked with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envy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her latest purchase.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Emotions are often associated with colours, for example you might go red with anger, or turn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green with envy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envy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v.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~ sb (doing) sth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我羡慕你有这么一个关系紧密的家庭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。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envy you having such a close family.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我真羡慕你！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______ ___ ______ ______! You can eat super big hamburgers without fear that she will put on weight.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3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497455" y="50241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46405" indent="-44640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How      I       envy   you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446405" indent="-446405">
          <a:lnSpc>
            <a:spcPct val="120000"/>
          </a:lnSpc>
          <a:defRPr sz="3200" b="1" dirty="0" smtClean="0">
            <a:latin typeface="Times New Roman" panose="02020503050405090304" pitchFamily="18" charset="0"/>
            <a:ea typeface="宋体" pitchFamily="2" charset="-122"/>
            <a:cs typeface="Times New Roman" panose="0202050305040509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7932</Words>
  <Application>WPS Presentation</Application>
  <PresentationFormat>宽屏</PresentationFormat>
  <Paragraphs>242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2" baseType="lpstr">
      <vt:lpstr>Arial</vt:lpstr>
      <vt:lpstr>宋体</vt:lpstr>
      <vt:lpstr>Wingdings</vt:lpstr>
      <vt:lpstr>Times New Roman</vt:lpstr>
      <vt:lpstr>汉仪书宋二KW</vt:lpstr>
      <vt:lpstr>微软雅黑</vt:lpstr>
      <vt:lpstr>汉仪旗黑</vt:lpstr>
      <vt:lpstr>Wingdings</vt:lpstr>
      <vt:lpstr>Times New Roman Bold</vt:lpstr>
      <vt:lpstr>Times New Roman Regular</vt:lpstr>
      <vt:lpstr>Times New Roman Bold Italic</vt:lpstr>
      <vt:lpstr>宋体</vt:lpstr>
      <vt:lpstr>Arial Unicode MS</vt:lpstr>
      <vt:lpstr>Calibri</vt:lpstr>
      <vt:lpstr>Helvetica Neue</vt:lpstr>
      <vt:lpstr>Helvetica</vt:lpstr>
      <vt:lpstr>Helvetica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Elsssie</cp:lastModifiedBy>
  <cp:revision>36</cp:revision>
  <dcterms:created xsi:type="dcterms:W3CDTF">2025-01-10T01:37:26Z</dcterms:created>
  <dcterms:modified xsi:type="dcterms:W3CDTF">2025-01-10T01:37:26Z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1033-6.14.0.8924</vt:lpwstr>
  </property>
  <property fmtid="{D5CDD505-2E9C-101B-9397-08002B2CF9AE}" pid="3" name="ICV">
    <vt:lpwstr>9E7967A2779C40B0A07066C2EE9106C6</vt:lpwstr>
  </property>
</Properties>
</file>