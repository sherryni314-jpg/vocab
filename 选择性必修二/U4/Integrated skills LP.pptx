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ags/tag64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tags/tag65.xml" ContentType="application/vnd.openxmlformats-officedocument.presentationml.tags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tags/tag66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tags/tag67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tags/tag68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tags/tag69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83" r:id="rId2"/>
    <p:sldId id="282" r:id="rId3"/>
    <p:sldId id="311" r:id="rId4"/>
    <p:sldId id="313" r:id="rId5"/>
    <p:sldId id="314" r:id="rId6"/>
    <p:sldId id="321" r:id="rId7"/>
    <p:sldId id="31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37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FF"/>
    <a:srgbClr val="CC00FF"/>
    <a:srgbClr val="9966FF"/>
    <a:srgbClr val="4A63BD"/>
    <a:srgbClr val="FC0E02"/>
    <a:srgbClr val="CC99FF"/>
    <a:srgbClr val="D9D9D9"/>
    <a:srgbClr val="FFFFFF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96" y="184"/>
      </p:cViewPr>
      <p:guideLst>
        <p:guide orient="horz" pos="2179"/>
        <p:guide pos="376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你的信被压在一堆文件底下。</a:t>
            </a:r>
          </a:p>
          <a:p>
            <a:r>
              <a:rPr lang="zh-CN" altLang="en-US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他双手掩面而泣。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apply oneself to sth/be absorbed in doing/bury oneself in sth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也许他应该有一个更新的形象，更具时代性的风格。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color ... opinion, judgement, attitude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提名为接班人的优越感让他非常不受欢迎。</a:t>
            </a:r>
          </a:p>
          <a:p>
            <a:r>
              <a:rPr lang="zh-CN" altLang="en-US"/>
              <a:t>尽管人类害怕机器优于人类，但人类仍然是机器渴望达到的理想。</a:t>
            </a:r>
            <a:endParaRPr lang="zh-CN" altLang="en-US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r>
              <a:rPr lang="zh-CN" altLang="en-US"/>
              <a:t>随着舰队老化以及与潜在对手相比的数量劣势，美国已经丧失了长期保持的海上优势。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color ... opinion, judgement, attitude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color ... opinion, judgement, attitude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themeOverride" Target="../theme/themeOverride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themeOverride" Target="../theme/themeOverride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themeOverride" Target="../theme/themeOverride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themeOverride" Target="../theme/themeOverride6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themeOverride" Target="../theme/themeOverride7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59664" y="208901"/>
            <a:ext cx="11336401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0995" indent="-340995">
              <a:lnSpc>
                <a:spcPct val="120000"/>
              </a:lnSpc>
              <a:defRPr sz="3200" b="1">
                <a:latin typeface="Times New Roman" panose="02020503050405090304" charset="0"/>
                <a:cs typeface="Times New Roman" panose="02020503050405090304" charset="0"/>
              </a:defRPr>
            </a:lvl1pPr>
          </a:lstStyle>
          <a:p>
            <a:pPr marL="354330" indent="-354330"/>
            <a:r>
              <a:rPr lang="en-US" altLang="zh-CN" dirty="0"/>
              <a:t>1. The time capsule, </a:t>
            </a:r>
            <a:r>
              <a:rPr lang="en-US" altLang="zh-CN" dirty="0">
                <a:solidFill>
                  <a:srgbClr val="FF0000"/>
                </a:solidFill>
              </a:rPr>
              <a:t>buried</a:t>
            </a:r>
            <a:r>
              <a:rPr lang="en-US" altLang="zh-CN" dirty="0"/>
              <a:t> 50 feet below the ground in a park,  </a:t>
            </a:r>
            <a:r>
              <a:rPr lang="en-US" altLang="zh-CN" dirty="0">
                <a:solidFill>
                  <a:srgbClr val="FF0000"/>
                </a:solidFill>
              </a:rPr>
              <a:t>was designed to be opened</a:t>
            </a:r>
            <a:r>
              <a:rPr lang="en-US" altLang="zh-CN" dirty="0"/>
              <a:t> in the year 6939. </a:t>
            </a:r>
            <a:endParaRPr lang="en-US" altLang="zh-CN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9410" y="1481455"/>
            <a:ext cx="11195050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57730" indent="-21577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bury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 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1) 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hide in ground 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埋藏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</a:t>
            </a:r>
          </a:p>
          <a:p>
            <a:pPr marL="2157730" indent="-2157730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2)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hide feelings</a:t>
            </a:r>
          </a:p>
          <a:p>
            <a:pPr marL="2157730" indent="-2157730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3)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cover 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遮盖</a:t>
            </a:r>
            <a:endParaRPr lang="en-US" altLang="zh-CN" sz="3200" b="1" i="1" dirty="0"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pPr marL="2157730" indent="-2157730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Your letter got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buried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under a pile of papers.</a:t>
            </a:r>
          </a:p>
          <a:p>
            <a:pPr marL="2157730" indent="-2157730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buried his face in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his hands and wept.</a:t>
            </a:r>
          </a:p>
          <a:p>
            <a:pPr marL="2157730" indent="-2157730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4)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put deeply into 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把……插入</a:t>
            </a:r>
            <a:endParaRPr lang="zh-CN" altLang="en-US" sz="3200" b="1" i="1" dirty="0"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pPr marL="2157730" indent="-2157730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He walked slowly, his hands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buried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 his pockets.</a:t>
            </a:r>
          </a:p>
          <a:p>
            <a:pPr marL="2157730" indent="-2157730">
              <a:lnSpc>
                <a:spcPct val="120000"/>
              </a:lnSpc>
            </a:pPr>
            <a:r>
              <a:rPr lang="en-US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She always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has her head buried</a:t>
            </a:r>
            <a:r>
              <a:rPr lang="en-US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in a book.</a:t>
            </a:r>
            <a:endParaRPr lang="zh-CN" altLang="en-US" sz="3200" b="1" dirty="0"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096000" y="15373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buried treasure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348990" y="21209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bury feelings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不外露感情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348990" y="2704148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45745" indent="-245745" algn="l"/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</a:rPr>
              <a:t>deeply-buried memories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866380" y="26854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深藏的记忆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08893" y="608423"/>
            <a:ext cx="9026768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57730" marR="0" lvl="0" indent="-21577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bury one’s head in sth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2157730" marR="0" lvl="0" indent="-215773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bury oneself in </a:t>
            </a:r>
            <a:r>
              <a:rPr kumimoji="0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sth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专心致志于某事</a:t>
            </a:r>
          </a:p>
        </p:txBody>
      </p:sp>
      <p:sp>
        <p:nvSpPr>
          <p:cNvPr id="2" name="矩形 2"/>
          <p:cNvSpPr/>
          <p:nvPr/>
        </p:nvSpPr>
        <p:spPr>
          <a:xfrm>
            <a:off x="808863" y="1897291"/>
            <a:ext cx="9875520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翻译下列句子。</a:t>
            </a: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1)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他被安葬在一座小山的山顶上。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719455" indent="-719455">
              <a:lnSpc>
                <a:spcPct val="120000"/>
              </a:lnSpc>
            </a:pP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那所房子被掩埋在十英尺厚的雪下面。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719455" indent="-719455">
              <a:lnSpc>
                <a:spcPct val="120000"/>
              </a:lnSpc>
            </a:pP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他们埋头于工作。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35583" y="3131475"/>
            <a:ext cx="73761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He was buried at the top of a hill.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35583" y="4269426"/>
            <a:ext cx="88513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 house was buried under ten-foot snow.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235583" y="5519411"/>
            <a:ext cx="73761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They buried themselves in their work.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4" grpId="0" bldLvl="0" animBg="1"/>
      <p:bldP spid="5" grpId="0" bldLvl="0" animBg="1"/>
      <p:bldP spid="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35" y="0"/>
            <a:ext cx="12191365" cy="600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contemporary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adj./n.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1)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of the same period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同时期的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was contemporary with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the dramatist.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2) </a:t>
            </a:r>
            <a:r>
              <a:rPr lang="en-US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modern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当代的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life in contemporary Britain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contemporary art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当代艺术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Perhaps he should have a more updated look, a more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contemporary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style.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Like most of my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contemporaries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, I grew up in a vastly different world.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He was a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contemporary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of mine at university.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277870" y="4882515"/>
            <a:ext cx="203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n.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同辈人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35" y="0"/>
            <a:ext cx="12191365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1)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这事件影响了她的一生。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This incident coloured her whole life.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2)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不要让你的判断受到个人感情的影响。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Don't let your judgement be coloured by personal feelings.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3) The attitude of the parents toward the usefulness of what is learned must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colour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way children approach school.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父母对学知识是否有用的态度必定会影响孩子对待学业的态度。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35" y="0"/>
            <a:ext cx="12191365" cy="5507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superiority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of this operating system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这种操作系统的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优越性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the quality of being better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have/establish/show superiority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over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others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sth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在某些方面比……有优势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an air of superiority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一副神气活现的样子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 nominated successor's 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接班人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)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sense of superiority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makes him very unpopular.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Even as humans fear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superiority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of the machines, our species remains the ideal to which they aspire.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With an aging fleet and quantitative disadvantage against potential adversaries, the US has lost its long held naval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superiority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35" y="0"/>
            <a:ext cx="12191365" cy="4030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simple rule in dealing with those who are hard to get along with is to remember that this person is striving to assert 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主张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)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his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superiority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; and you must deal with him from that point of view.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opp.</a:t>
            </a:r>
            <a:endParaRPr lang="zh-CN" altLang="en-US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inferiority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 n. 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the state of not being as good as ..</a:t>
            </a:r>
            <a:r>
              <a:rPr lang="zh-CN" altLang="en-US" sz="3200" b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劣势，低等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She accepted her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inferiority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to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her rivals.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sense of inferiority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自卑感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35" y="0"/>
            <a:ext cx="12191365" cy="649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This model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is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technically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 to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its competitors.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If you look down your nose at someone, you think you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are superior to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them.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Liverpool were clearly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team. 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few years ago it was virtually impossible to find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quality coffee in local shops.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(adj.)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officers 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I'm going to complain to your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superiors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(n.)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.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opp.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inferior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差的，级别低的，比不上的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inferior goods</a:t>
            </a:r>
          </a:p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Modern music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is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often considered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inferior to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that of the past.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457440" y="18954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占优势的队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914775" y="28886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质量更好的咖啡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304665" y="34493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上级长官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688590" y="5394325"/>
            <a:ext cx="27451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劣质商品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731010" y="143129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有优越感的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976495" y="53943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make sb feel inferior 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8852535" y="5394325"/>
            <a:ext cx="333946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使某人自惭形秽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199880" y="4514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lvl="0" indent="0" algn="l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优于某事物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/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某人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2" grpId="0"/>
      <p:bldP spid="2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3200">
            <a:latin typeface="Times New Roman" panose="02020503050405090304" charset="0"/>
            <a:cs typeface="Times New Roman" panose="0202050305040509030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4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5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6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7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</Words>
  <Application>Microsoft Macintosh PowerPoint</Application>
  <PresentationFormat>Widescreen</PresentationFormat>
  <Paragraphs>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 Bold</vt:lpstr>
      <vt:lpstr>Times New Roman Bold Italic</vt:lpstr>
      <vt:lpstr>Arial</vt:lpstr>
      <vt:lpstr>Calibri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289</cp:revision>
  <dcterms:created xsi:type="dcterms:W3CDTF">2025-01-10T01:21:16Z</dcterms:created>
  <dcterms:modified xsi:type="dcterms:W3CDTF">2026-07-23T01:08:32Z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1033-6.14.0.8924</vt:lpwstr>
  </property>
  <property fmtid="{D5CDD505-2E9C-101B-9397-08002B2CF9AE}" pid="3" name="ICV">
    <vt:lpwstr>ADBD66836C0440829A95C15D686F8C1A</vt:lpwstr>
  </property>
</Properties>
</file>