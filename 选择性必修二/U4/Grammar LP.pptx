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6.xml" ContentType="application/vnd.openxmlformats-officedocument.presentationml.tags+xml"/>
  <Override PartName="/ppt/notesSlides/notesSlide3.xml" ContentType="application/vnd.openxmlformats-officedocument.presentationml.notesSlide+xml"/>
  <Override PartName="/ppt/tags/tag17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301" r:id="rId2"/>
    <p:sldId id="302" r:id="rId3"/>
    <p:sldId id="293" r:id="rId4"/>
    <p:sldId id="305" r:id="rId5"/>
    <p:sldId id="391" r:id="rId6"/>
    <p:sldId id="284" r:id="rId7"/>
    <p:sldId id="349" r:id="rId8"/>
    <p:sldId id="306" r:id="rId9"/>
    <p:sldId id="295" r:id="rId10"/>
    <p:sldId id="375" r:id="rId11"/>
    <p:sldId id="377" r:id="rId12"/>
    <p:sldId id="378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76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33FF"/>
    <a:srgbClr val="FFFFCC"/>
    <a:srgbClr val="FFFF99"/>
    <a:srgbClr val="D9D9D9"/>
    <a:srgbClr val="FFFFFF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3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696" y="184"/>
      </p:cViewPr>
      <p:guideLst>
        <p:guide orient="horz" pos="2159"/>
        <p:guide pos="376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 make a prediction about 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这个部门拒绝为所发生的事承担责任。</a:t>
            </a:r>
          </a:p>
          <a:p>
            <a:r>
              <a:rPr lang="en-US" altLang="zh-CN"/>
              <a:t>turn sb down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If someone denies you something, they do not allow you to have it. I never denied her anything.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in bulk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0537" y="147679"/>
            <a:ext cx="5601501" cy="112519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92405" y="1019175"/>
            <a:ext cx="11569700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330" indent="-3543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1. It can be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predicted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that before long many people will be using drones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deliver daily supplies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like food and drink.</a:t>
            </a:r>
          </a:p>
          <a:p>
            <a:pPr marL="2240280" indent="-18859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predict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vt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en-US" altLang="zh-CN" sz="3200" dirty="0"/>
              <a:t> 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预言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预测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预告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43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Nobody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could predict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outcome.</a:t>
            </a:r>
          </a:p>
          <a:p>
            <a:pPr marL="35433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It is predicted that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_____________________________________</a:t>
            </a:r>
          </a:p>
          <a:p>
            <a:pPr marL="35433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失业率会继续下降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 in the following year.</a:t>
            </a:r>
          </a:p>
          <a:p>
            <a:pPr marL="35433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sth is predicted to do sth</a:t>
            </a:r>
          </a:p>
          <a:p>
            <a:pPr marL="354330">
              <a:lnSpc>
                <a:spcPct val="120000"/>
              </a:lnSpc>
            </a:pPr>
            <a:r>
              <a:rPr lang="en-US" alt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Unemployment rate was predicted to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continue to fall in the following year.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948430" y="3347085"/>
            <a:ext cx="807275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unemployment rate would continue to fall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5665470" y="218567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forecast/project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9060" y="41996"/>
            <a:ext cx="7650480" cy="1863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prediction       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预言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预测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predictable   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 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可预见的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可预料的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predictive      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预测的，预言性的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03860" y="1934423"/>
            <a:ext cx="11334750" cy="4815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41325" indent="-441325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62103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要预测出谁将获胜是不可能的。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It’s impossible to ____________________.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明天早上，飓风将到达海岸。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The hurricane ___________________ the coast tomorrow morning.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我们都认为这本书的结局是完全可以预料的。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We all think that the ending of the book __________________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___________.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176032" y="2506903"/>
            <a:ext cx="3743910" cy="631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predict who will win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672327" y="3740993"/>
            <a:ext cx="3943259" cy="631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is predicted to reach  </a:t>
            </a:r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964895" y="5461355"/>
            <a:ext cx="10653973" cy="1274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                                   is completely predictable 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5237480" y="762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forecast/projection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6622687" y="1209859"/>
            <a:ext cx="5509260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eaLnBrk="0" hangingPunct="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predictive power of science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6" grpId="1" animBg="1"/>
      <p:bldP spid="7" grpId="0" bldLvl="0" animBg="1"/>
      <p:bldP spid="8" grpId="0" bldLvl="0" animBg="1"/>
      <p:bldP spid="9" grpId="0" bldLvl="0" animBg="1"/>
      <p:bldP spid="10" grpId="0"/>
      <p:bldP spid="10" grpId="1"/>
      <p:bldP spid="11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5990" y="133062"/>
            <a:ext cx="11208495" cy="4324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2.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This could not only save time,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but also greatly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decrease road traffic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marL="358775" indent="-358775"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(1) decrease to… 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减少到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……</a:t>
            </a:r>
            <a:endParaRPr lang="en-US" altLang="zh-CN" sz="3200" b="1" dirty="0">
              <a:solidFill>
                <a:schemeClr val="tx1"/>
              </a:solidFill>
              <a:latin typeface="宋体" pitchFamily="2" charset="-122"/>
              <a:ea typeface="宋体" pitchFamily="2" charset="-122"/>
              <a:cs typeface="Times New Roman" panose="02020503050405090304" pitchFamily="18" charset="0"/>
              <a:sym typeface="Arial" panose="020B0604020202090204" pitchFamily="34" charset="0"/>
            </a:endParaRPr>
          </a:p>
          <a:p>
            <a:pPr indent="533400"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decrease by… 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减少了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……</a:t>
            </a:r>
            <a:endParaRPr lang="en-US" altLang="zh-CN" sz="3200" b="1" dirty="0">
              <a:solidFill>
                <a:schemeClr val="tx1"/>
              </a:solidFill>
              <a:latin typeface="宋体" pitchFamily="2" charset="-122"/>
              <a:ea typeface="宋体" pitchFamily="2" charset="-122"/>
              <a:cs typeface="Times New Roman" panose="02020503050405090304" pitchFamily="18" charset="0"/>
              <a:sym typeface="Arial" panose="020B0604020202090204" pitchFamily="34" charset="0"/>
            </a:endParaRPr>
          </a:p>
          <a:p>
            <a:pPr indent="533400">
              <a:spcBef>
                <a:spcPct val="0"/>
              </a:spcBef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decrease (v.)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in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…= a decrease (n.)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in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… 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在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……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方面减少</a:t>
            </a:r>
            <a:endParaRPr lang="en-US" altLang="zh-CN" sz="3200" b="1" dirty="0">
              <a:solidFill>
                <a:schemeClr val="tx1"/>
              </a:solidFill>
              <a:latin typeface="宋体" pitchFamily="2" charset="-122"/>
              <a:ea typeface="宋体" pitchFamily="2" charset="-122"/>
              <a:cs typeface="Times New Roman" panose="02020503050405090304" pitchFamily="18" charset="0"/>
              <a:sym typeface="Arial" panose="020B0604020202090204" pitchFamily="34" charset="0"/>
            </a:endParaRPr>
          </a:p>
          <a:p>
            <a:pPr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(2) on the decrease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正在减少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Arial" panose="020B0604020202090204" pitchFamily="34" charset="0"/>
            </a:endParaRPr>
          </a:p>
          <a:p>
            <a:pPr indent="533400">
              <a:spcBef>
                <a:spcPct val="0"/>
              </a:spcBef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on the increase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Arial" panose="020B0604020202090204" pitchFamily="34" charset="0"/>
              </a:rPr>
              <a:t>正在增加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56123" y="3419540"/>
            <a:ext cx="10334345" cy="1222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                                           decrease by more than 30%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3400" y="1031422"/>
            <a:ext cx="10983686" cy="4819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补全句子。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____________ (decrease) the amount of rubbish and to protect the environment, more governments are requiring people to recycle materials.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The number of people aged 50 and under will ___________ 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减少了超过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30%) during the time.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As far as I know, the members of the association _________</a:t>
            </a:r>
          </a:p>
          <a:p>
            <a:pPr marL="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_________________________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减少到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300) 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53886" y="1657765"/>
            <a:ext cx="2228239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decrease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54611" y="4561834"/>
            <a:ext cx="10537371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                                                   have decreased to three hundred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0" y="-167640"/>
            <a:ext cx="12487910" cy="7178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1. Many important figures in the music world started making __________ (predict) about Beethoven’s extraordinary future.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2. </a:t>
            </a:r>
            <a:r>
              <a:rPr lang="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Every recommendation she gives me is great since she can</a:t>
            </a:r>
            <a:r>
              <a:rPr lang="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predict</a:t>
            </a:r>
            <a:r>
              <a:rPr lang="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_______</a:t>
            </a:r>
            <a:r>
              <a:rPr lang="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 will like a particular restaurant.</a:t>
            </a:r>
            <a:r>
              <a:rPr lang="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3. Taking targeted measures to help people lift themselves out of poverty,</a:t>
            </a:r>
            <a:r>
              <a:rPr lang="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</a:t>
            </a:r>
            <a:r>
              <a:rPr lang="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predicted, is fruitful.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4. Technology___________(predict) to play an even more important role in our lives in the future.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5. For many years, people</a:t>
            </a:r>
            <a:r>
              <a:rPr lang="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have dreamed of electric cars. However, making them has been more difficult than</a:t>
            </a:r>
            <a:r>
              <a:rPr lang="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 (predict).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6. Senior citizens long for a more</a:t>
            </a:r>
            <a:r>
              <a:rPr lang="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________</a:t>
            </a:r>
            <a:r>
              <a:rPr lang="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(predict) and secure future.</a:t>
            </a:r>
            <a:r>
              <a:rPr lang="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0" y="37592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predictions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2081530" y="1574800"/>
            <a:ext cx="16383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whether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1746250" y="2773680"/>
            <a:ext cx="81788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as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2564130" y="3261360"/>
            <a:ext cx="249999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is predicted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7422515" y="5049520"/>
            <a:ext cx="249999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predicted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5909310" y="5710555"/>
            <a:ext cx="249999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predictable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2124" y="39093"/>
            <a:ext cx="11335361" cy="29451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58775" indent="-358775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3.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There can be (is) no denying that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technology will have a huge impact on everyday life.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无可否认的是……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There's no denying that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quicker action could have saved them.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It can't be denied that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we need to devote more resources to this problem.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2430" y="2984789"/>
            <a:ext cx="1081278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deny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vt.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9933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1)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否认，否定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say sth is not true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92430" y="3618230"/>
            <a:ext cx="10812780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deny (doing) sth /deny that ...   </a:t>
            </a:r>
            <a:r>
              <a:rPr lang="zh-CN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否认做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……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deny all knowledge of sth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</a:rPr>
              <a:t>彻底否认知道某事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92430" y="4890770"/>
            <a:ext cx="11811635" cy="18630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spokesman refused either to confirm or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deny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 reports.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department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denies responsibility for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what occurred.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拒绝为……承担责任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0"/>
            <a:ext cx="12192000" cy="59969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拒绝给予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refuse to allow sb to have sth </a:t>
            </a:r>
            <a:r>
              <a:rPr lang="zh-CN" altLang="en-US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剥夺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(</a:t>
            </a:r>
            <a:r>
              <a:rPr lang="zh-CN" altLang="en-US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应有的权利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)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deny sb sth/deny sth to sb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Some doting parents never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denied their children anything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统一校服可能会压制学生的个性并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剥夺学生选择的自由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。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School uniforms may repress individuality and 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________________________________. 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They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were denied access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to the school library.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denial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否认；拒绝给予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 got hurt by his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denial of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my advice.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99695" y="2825750"/>
            <a:ext cx="768477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deny students the freedom of choice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0" y="2454275"/>
            <a:ext cx="3535680" cy="326707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2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920" y="86360"/>
            <a:ext cx="11911330" cy="65938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完成句子。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No one should be denied a good education.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翻译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good education should ____ ______ _____ _____ _____.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_____________________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无可否认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we need to devote more resources to this problem.</a:t>
            </a:r>
          </a:p>
          <a:p>
            <a:pPr marL="354330" indent="-3543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The boy denied that he had broken the window.</a:t>
            </a:r>
          </a:p>
          <a:p>
            <a:pPr marL="354330" indent="-3543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boy ______ _____ _____ ________.</a:t>
            </a:r>
          </a:p>
          <a:p>
            <a:pPr marL="354330" indent="-3543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两家公司都否认对这场悲剧负有任何责任。</a:t>
            </a:r>
          </a:p>
          <a:p>
            <a:pPr marL="354330" indent="-35433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Both firms deny any responsibility for the tragedy.</a:t>
            </a:r>
          </a:p>
        </p:txBody>
      </p:sp>
      <p:sp>
        <p:nvSpPr>
          <p:cNvPr id="3" name="矩形 2"/>
          <p:cNvSpPr/>
          <p:nvPr/>
        </p:nvSpPr>
        <p:spPr>
          <a:xfrm>
            <a:off x="1387747" y="1281195"/>
            <a:ext cx="6288405" cy="681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 Regular" panose="02020503050405090304" charset="0"/>
              </a:rPr>
              <a:t>任何人都不应被剥夺良好的教育。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99704" y="2325323"/>
            <a:ext cx="4057521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can’t be denied that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60484" y="2951526"/>
            <a:ext cx="443928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/There’s no denying that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" name="矩形 2"/>
          <p:cNvSpPr/>
          <p:nvPr/>
        </p:nvSpPr>
        <p:spPr>
          <a:xfrm>
            <a:off x="4575447" y="1805705"/>
            <a:ext cx="5150485" cy="681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be     denied    to     no      one</a:t>
            </a:r>
          </a:p>
        </p:txBody>
      </p:sp>
      <p:sp>
        <p:nvSpPr>
          <p:cNvPr id="9" name="文本框 5"/>
          <p:cNvSpPr txBox="1"/>
          <p:nvPr/>
        </p:nvSpPr>
        <p:spPr>
          <a:xfrm>
            <a:off x="1775249" y="4097066"/>
            <a:ext cx="509460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denied breaking the window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1790" y="152400"/>
            <a:ext cx="11840210" cy="62598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4. When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passenger drones are flying above our cities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large quantities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...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= It's cheaper to buy goods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quantity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</a:p>
          <a:p>
            <a:pPr marL="446405" indent="-44640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大量的某物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large quantity of sth,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enormous/vast/huge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quantities of sth</a:t>
            </a:r>
          </a:p>
          <a:p>
            <a:pPr marL="446405" indent="-44640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少量的某物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small quantity of sth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large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quantity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of washing machines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has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been sold.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Large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quantities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of sand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were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washed down the hill by the rain.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en-US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*quantity+</a:t>
            </a:r>
            <a:r>
              <a:rPr lang="zh-CN" altLang="en-US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可数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不可数均可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*</a:t>
            </a:r>
            <a:r>
              <a:rPr lang="zh-CN" altLang="en-US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谓语动词单复数根据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quantity</a:t>
            </a:r>
            <a:r>
              <a:rPr lang="zh-CN" altLang="en-US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单复数而定，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amount</a:t>
            </a:r>
            <a:r>
              <a:rPr lang="zh-CN" altLang="en-US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同</a:t>
            </a:r>
            <a:endParaRPr 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42979" y="695278"/>
            <a:ext cx="3548380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quantity and quality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3360" y="211455"/>
            <a:ext cx="11755120" cy="5624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5. … some might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spy on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and take photographs of others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without their knowledge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indent="-107505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spy on sb/sth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watch sb/sth secretly</a:t>
            </a:r>
            <a:r>
              <a:rPr lang="en-US" altLang="zh-CN" sz="3200" b="1" i="1" dirty="0">
                <a:solidFill>
                  <a:srgbClr val="9933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暗中监视，窥探</a:t>
            </a:r>
          </a:p>
          <a:p>
            <a:pPr indent="-1075055" fontAlgn="auto">
              <a:lnSpc>
                <a:spcPct val="120000"/>
              </a:lnSpc>
            </a:pP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vt.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突然看见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en-US" sz="3200" b="1" dirty="0" err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In the distance we </a:t>
            </a:r>
            <a:r>
              <a:rPr lang="en-US" altLang="en-US" sz="3200" b="1" dirty="0" err="1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spied </a:t>
            </a:r>
            <a:r>
              <a:rPr lang="en-US" altLang="en-US" sz="3200" b="1" dirty="0" err="1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Pacific for the first time.</a:t>
            </a:r>
          </a:p>
          <a:p>
            <a:pPr indent="-1075055" fontAlgn="auto"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间谍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spy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plane/satellite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翻译句子。</a:t>
            </a:r>
            <a:endParaRPr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1765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1) 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那个男孩来这里是为了监视敌人的行动。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1765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2) 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那个被抓起来的中年男人不承认自己是间谍。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1075055" fontAlgn="auto">
              <a:lnSpc>
                <a:spcPct val="120000"/>
              </a:lnSpc>
            </a:pP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79711" y="4400295"/>
            <a:ext cx="10025742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boy came here to spy on the enemy’s movements.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96875" y="5497830"/>
            <a:ext cx="11570970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middle-aged man who had been caught denied that he was a spy.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3360" y="211455"/>
            <a:ext cx="11755120" cy="5624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5. … some might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spy on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and take photographs of others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without their knowledge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某人不知情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  <a:p>
            <a:pPr indent="-446405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他否认对当时发生的事知情。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1075055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denied all knowledge of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what was happening then.</a:t>
            </a:r>
          </a:p>
          <a:p>
            <a:pPr indent="-1075055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never,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(the best of) my knowledge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considered resigning.</a:t>
            </a:r>
          </a:p>
          <a:p>
            <a:pPr indent="-1075055" fontAlgn="auto">
              <a:lnSpc>
                <a:spcPct val="120000"/>
              </a:lnSpc>
            </a:pP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It has come to our knowledge that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you have been taking time off without permission. 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1075055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She finished the match,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secure in the knowledge that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she was through to the final.</a:t>
            </a:r>
          </a:p>
          <a:p>
            <a:pPr indent="-1075055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She was impatient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the knowledge that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time was limited.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1075055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Their relationship is </a:t>
            </a:r>
            <a:r>
              <a:rPr lang="en-US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common knowledge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</p:txBody>
      </p:sp>
      <p:sp>
        <p:nvSpPr>
          <p:cNvPr id="8" name="矩形 2"/>
          <p:cNvSpPr/>
          <p:nvPr/>
        </p:nvSpPr>
        <p:spPr>
          <a:xfrm>
            <a:off x="9985647" y="2066055"/>
            <a:ext cx="1811020" cy="681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据我所知</a:t>
            </a:r>
          </a:p>
        </p:txBody>
      </p:sp>
      <p:sp>
        <p:nvSpPr>
          <p:cNvPr id="3" name="矩形 2"/>
          <p:cNvSpPr/>
          <p:nvPr/>
        </p:nvSpPr>
        <p:spPr>
          <a:xfrm>
            <a:off x="3956957" y="3747535"/>
            <a:ext cx="3846195" cy="681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了解到，被某人知悉</a:t>
            </a:r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6" name="矩形 2"/>
          <p:cNvSpPr/>
          <p:nvPr/>
        </p:nvSpPr>
        <p:spPr>
          <a:xfrm>
            <a:off x="4083957" y="4848625"/>
            <a:ext cx="3438525" cy="681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知道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…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而感到踏实</a:t>
            </a:r>
          </a:p>
        </p:txBody>
      </p:sp>
      <p:sp>
        <p:nvSpPr>
          <p:cNvPr id="7" name="矩形 2"/>
          <p:cNvSpPr/>
          <p:nvPr/>
        </p:nvSpPr>
        <p:spPr>
          <a:xfrm>
            <a:off x="7533277" y="6103385"/>
            <a:ext cx="1811020" cy="681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众所周知</a:t>
            </a:r>
          </a:p>
        </p:txBody>
      </p:sp>
      <p:sp>
        <p:nvSpPr>
          <p:cNvPr id="10" name="矩形 2"/>
          <p:cNvSpPr/>
          <p:nvPr/>
        </p:nvSpPr>
        <p:spPr>
          <a:xfrm>
            <a:off x="10381252" y="5421395"/>
            <a:ext cx="1809750" cy="681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知道……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3" grpId="0"/>
      <p:bldP spid="6" grpId="0"/>
      <p:bldP spid="7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-157480"/>
            <a:ext cx="12192000" cy="5624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1)  They left school _________ _____ __________ ____ their teacher.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背着老师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2) She has acquired ___ _____ ________ ___ English.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英语学得很好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3)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我听说你现在已经是医生了。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It has _____ _____ ____ ________ that you are a doctor now.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4) Niki is always full of ideas, but none is useful ____ _____ _______.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据我所知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5)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 was happy ____ ____ ________ _____ I had done my best.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知道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6) I went to sleep _______ _____ ______ _______ ____ I was not alone in the house.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知道……而放心的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7) Their delight in the win was tempered by the knowledge ____ the competition would only get fiercer.</a:t>
            </a:r>
          </a:p>
        </p:txBody>
      </p:sp>
      <p:sp>
        <p:nvSpPr>
          <p:cNvPr id="8" name="矩形 2"/>
          <p:cNvSpPr/>
          <p:nvPr/>
        </p:nvSpPr>
        <p:spPr>
          <a:xfrm>
            <a:off x="3415302" y="-157715"/>
            <a:ext cx="5974080" cy="681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without        the     knowledge    of</a:t>
            </a:r>
          </a:p>
        </p:txBody>
      </p:sp>
      <p:sp>
        <p:nvSpPr>
          <p:cNvPr id="4" name="矩形 2"/>
          <p:cNvSpPr/>
          <p:nvPr/>
        </p:nvSpPr>
        <p:spPr>
          <a:xfrm>
            <a:off x="3646442" y="1072915"/>
            <a:ext cx="4224655" cy="681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    good  knowledge  of</a:t>
            </a:r>
          </a:p>
        </p:txBody>
      </p:sp>
      <p:sp>
        <p:nvSpPr>
          <p:cNvPr id="5" name="矩形 2"/>
          <p:cNvSpPr/>
          <p:nvPr/>
        </p:nvSpPr>
        <p:spPr>
          <a:xfrm>
            <a:off x="1282337" y="2142890"/>
            <a:ext cx="4832985" cy="681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come  to    my    knowledge</a:t>
            </a:r>
          </a:p>
        </p:txBody>
      </p:sp>
      <p:sp>
        <p:nvSpPr>
          <p:cNvPr id="9" name="矩形 2"/>
          <p:cNvSpPr/>
          <p:nvPr/>
        </p:nvSpPr>
        <p:spPr>
          <a:xfrm>
            <a:off x="8411482" y="2753760"/>
            <a:ext cx="3727450" cy="6819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to    my    knowledge</a:t>
            </a:r>
          </a:p>
        </p:txBody>
      </p:sp>
      <p:sp>
        <p:nvSpPr>
          <p:cNvPr id="10" name="矩形 2"/>
          <p:cNvSpPr/>
          <p:nvPr/>
        </p:nvSpPr>
        <p:spPr>
          <a:xfrm>
            <a:off x="2894965" y="3893820"/>
            <a:ext cx="4638040" cy="681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in  the   knowledge that</a:t>
            </a:r>
          </a:p>
        </p:txBody>
      </p:sp>
      <p:sp>
        <p:nvSpPr>
          <p:cNvPr id="11" name="矩形 2"/>
          <p:cNvSpPr/>
          <p:nvPr/>
        </p:nvSpPr>
        <p:spPr>
          <a:xfrm>
            <a:off x="3232785" y="4497070"/>
            <a:ext cx="7242175" cy="681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secure     in       the   knowledge that</a:t>
            </a:r>
          </a:p>
        </p:txBody>
      </p:sp>
      <p:sp>
        <p:nvSpPr>
          <p:cNvPr id="12" name="矩形 2"/>
          <p:cNvSpPr/>
          <p:nvPr/>
        </p:nvSpPr>
        <p:spPr>
          <a:xfrm>
            <a:off x="10288905" y="5665470"/>
            <a:ext cx="7242175" cy="681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that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/>
      <p:bldP spid="5" grpId="0"/>
      <p:bldP spid="9" grpId="0"/>
      <p:bldP spid="10" grpId="0"/>
      <p:bldP spid="11" grpId="0"/>
      <p:bldP spid="1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 smtClean="0">
            <a:latin typeface="Times New Roman" panose="02020503050405090304" pitchFamily="18" charset="0"/>
            <a:cs typeface="Times New Roman" panose="0202050305040509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1352</Words>
  <Application>Microsoft Macintosh PowerPoint</Application>
  <PresentationFormat>Widescreen</PresentationFormat>
  <Paragraphs>137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宋体</vt:lpstr>
      <vt:lpstr>Times New Roman Bold</vt:lpstr>
      <vt:lpstr>Times New Roman Bold Italic</vt:lpstr>
      <vt:lpstr>Times New Roman Regular</vt:lpstr>
      <vt:lpstr>Arial</vt:lpstr>
      <vt:lpstr>Calibri</vt:lpstr>
      <vt:lpstr>Calibri Light</vt:lpstr>
      <vt:lpstr>Times New Roman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28</cp:revision>
  <dcterms:created xsi:type="dcterms:W3CDTF">2024-12-16T01:55:32Z</dcterms:created>
  <dcterms:modified xsi:type="dcterms:W3CDTF">2026-07-23T01:08:16Z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1033-6.13.2.8918</vt:lpwstr>
  </property>
  <property fmtid="{D5CDD505-2E9C-101B-9397-08002B2CF9AE}" pid="3" name="ICV">
    <vt:lpwstr>6407BB3502D94D308993B35335CF439F</vt:lpwstr>
  </property>
</Properties>
</file>