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467" r:id="rId2"/>
    <p:sldId id="504" r:id="rId3"/>
    <p:sldId id="503" r:id="rId4"/>
    <p:sldId id="468" r:id="rId5"/>
    <p:sldId id="505" r:id="rId6"/>
    <p:sldId id="469" r:id="rId7"/>
    <p:sldId id="471" r:id="rId8"/>
    <p:sldId id="510" r:id="rId9"/>
    <p:sldId id="511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6F1FE"/>
    <a:srgbClr val="9966FF"/>
    <a:srgbClr val="FFC000"/>
    <a:srgbClr val="FFDB31"/>
    <a:srgbClr val="CC99FF"/>
    <a:srgbClr val="FFD634"/>
    <a:srgbClr val="B5ADDE"/>
    <a:srgbClr val="3EA41A"/>
    <a:srgbClr val="B7C6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 foundation of this organization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There was a hint of accusation in her voice.</a:t>
            </a:r>
          </a:p>
          <a:p>
            <a:r>
              <a:rPr lang="en-US"/>
              <a:t>她的语气暗含谴责。</a:t>
            </a:r>
          </a:p>
          <a:p>
            <a:r>
              <a:rPr lang="en-US"/>
              <a:t>an accusing look/finger/tone</a:t>
            </a:r>
          </a:p>
          <a:p>
            <a:r>
              <a:rPr lang="en-US"/>
              <a:t>谴责的目光；指责的手指；责备的语调</a:t>
            </a:r>
          </a:p>
          <a:p>
            <a:r>
              <a:rPr lang="en-US"/>
              <a:t>Her accusing eyes were fixed on him.</a:t>
            </a:r>
          </a:p>
          <a:p>
            <a:r>
              <a:rPr lang="en-US"/>
              <a:t>她用责备的眼光盯着他。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reach our for: If you are eager for sth, just shoot for it.</a:t>
            </a:r>
          </a:p>
          <a:p>
            <a:r>
              <a:rPr lang="en-US"/>
              <a:t>rise to fame (and  fortune) / sth takes off / become a hit</a:t>
            </a:r>
          </a:p>
          <a:p>
            <a:r>
              <a:rPr lang="en-US"/>
              <a:t>mounting pressure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7480" y="994410"/>
            <a:ext cx="11770360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found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v.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to 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establish 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an organization </a:t>
            </a:r>
            <a:r>
              <a:rPr lang="zh-CN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创办，创建</a:t>
            </a: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found a committee / one’s own company</a:t>
            </a: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2)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base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sth on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把……建立在</a:t>
            </a:r>
            <a:endParaRPr lang="en-US" altLang="zh-CN" sz="3200" b="1" i="1" dirty="0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Their marriage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was founded on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love and mutual respect.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他们的婚姻建立在爱情和互相尊重的基础上。</a:t>
            </a:r>
          </a:p>
          <a:p>
            <a:pPr marL="443230" indent="-443230"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founder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创建人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founding father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创立人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443230" indent="-44323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foundation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地基；基础；创建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528" y="80195"/>
            <a:ext cx="4876397" cy="914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7480" y="248285"/>
            <a:ext cx="11770360" cy="4420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This agreement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laid a sound foundation for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future cooperation between the two countries.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为……奠定基础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Respect and friendship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provide a solid foundation for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marriage.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给……提供坚实基础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rumour is totally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without foundation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.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毫无事实根据</a:t>
            </a:r>
          </a:p>
          <a:p>
            <a:pPr indent="0" fontAlgn="auto"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940" y="0"/>
            <a:ext cx="12301220" cy="658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accuse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government officials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dishonesty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and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wealthy people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not paying their taxes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谴责政府官员不诚信和富人逃税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accuse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say that sb. has done </a:t>
            </a:r>
            <a:r>
              <a:rPr lang="en-US" altLang="zh-CN" sz="3200" b="1" i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wrong 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控诉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谴责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归纳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】</a:t>
            </a:r>
            <a:endParaRPr lang="en-US" altLang="zh-CN" sz="3200" b="1" dirty="0">
              <a:solidFill>
                <a:srgbClr val="9966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accuse sb 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控告或指责某人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accuse sb of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/ doing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控告或指责某人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做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某事</a:t>
            </a:r>
            <a:endParaRPr lang="zh-CN" altLang="en-US" sz="3200" b="1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= charge sb with sth / doing sth</a:t>
            </a:r>
          </a:p>
          <a:p>
            <a:pPr indent="0" fontAlgn="auto">
              <a:lnSpc>
                <a:spcPct val="110000"/>
              </a:lnSpc>
            </a:pP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algn="l" fontAlgn="auto">
              <a:lnSpc>
                <a:spcPct val="11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accusation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n.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控告；起诉；谴责</a:t>
            </a:r>
          </a:p>
          <a:p>
            <a:pPr algn="l" fontAlgn="auto">
              <a:lnSpc>
                <a:spcPct val="11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accusing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指责的，谴责的 </a:t>
            </a:r>
          </a:p>
          <a:p>
            <a:pPr algn="l" fontAlgn="auto">
              <a:lnSpc>
                <a:spcPct val="11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accused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被告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295900" y="5343525"/>
            <a:ext cx="7211060" cy="63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1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an accusing look/tone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责备的神情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语气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999" y="177564"/>
            <a:ext cx="10626435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翻译句子。</a:t>
            </a:r>
            <a:endParaRPr lang="zh-CN" altLang="en-US" sz="3200" b="1" dirty="0">
              <a:solidFill>
                <a:srgbClr val="9966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1) 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我的邻居昨天指责我放的音乐太吵了。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那名男子被指控犯了谋杀罪。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3)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我不是在指责你。我知道你本来是想帮忙的。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你最好不要用责备的语气和你的孩子说话。</a:t>
            </a:r>
          </a:p>
        </p:txBody>
      </p:sp>
      <p:sp>
        <p:nvSpPr>
          <p:cNvPr id="3" name="矩形 2"/>
          <p:cNvSpPr/>
          <p:nvPr/>
        </p:nvSpPr>
        <p:spPr>
          <a:xfrm>
            <a:off x="923925" y="1362710"/>
            <a:ext cx="10625455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My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neighbour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accused me of playing music too loudly yesterday.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 man was accused of murder.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I'm not accusing you. I know you meant to help.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You’d better not speak to your child in an accusing tone.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940" y="-93980"/>
            <a:ext cx="12301220" cy="712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shoot up / mount up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数量上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猛增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shoot for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努力争取某事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shoot sb an angry glance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生气地瞪某人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shoot to fame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迅速成名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mount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vi.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increase</a:t>
            </a:r>
            <a:endParaRPr lang="zh-CN" altLang="en-US" sz="3200" b="1" i="1" dirty="0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Pressure is mounting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on the government to change the law.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迫使政府修改法律的压力不断增加。</a:t>
            </a:r>
          </a:p>
          <a:p>
            <a:pPr indent="0" fontAlgn="auto">
              <a:lnSpc>
                <a:spcPct val="110000"/>
              </a:lnSpc>
            </a:pP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攀登，登上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slowly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mounted the steps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她慢慢地爬上台阶。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mounted the platform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and addressed the crowd.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他登上讲台对人群发表演说。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mount the bike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骑上车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5584" y="349124"/>
            <a:ext cx="11262062" cy="3457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 When O’Neill received the Pulitzer Prize in Drama in 1957,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was the fourth time he had won it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marL="444500" indent="-444500"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奥尼尔在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1957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年获得普利策戏剧奖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这是他第四次获得该奖。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14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14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14000"/>
              </a:lnSpc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6396" y="2138541"/>
            <a:ext cx="11262061" cy="4136390"/>
          </a:xfrm>
          <a:prstGeom prst="rect">
            <a:avLst/>
          </a:prstGeom>
          <a:solidFill>
            <a:srgbClr val="E6F1FE"/>
          </a:solidFill>
          <a:ln w="28575">
            <a:noFill/>
          </a:ln>
        </p:spPr>
        <p:txBody>
          <a:bodyPr wrap="square">
            <a:spAutoFit/>
          </a:bodyPr>
          <a:lstStyle/>
          <a:p>
            <a:pPr marL="444500" indent="-444500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It/This/That was the first/second … time (that) sb. had done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marL="444500" indent="-444500">
              <a:lnSpc>
                <a:spcPct val="114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这是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那是某人第一次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第二次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做某事。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It/This/That is the first/second … time + that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从句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现在完成时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It/This/That is one’s first time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这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那是某人第一次做某事。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It’s time that sb. did/should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某人该做某事了。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28254" y="1041783"/>
            <a:ext cx="10626435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9966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9966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1) 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is the third time that she ___________ (win) the race, which has surprised us.</a:t>
            </a:r>
          </a:p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2) That was the second time that the foreigner _________ (come) to our school.</a:t>
            </a:r>
          </a:p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3) It’s time that you ___________________ (hand) in your papers.</a:t>
            </a:r>
          </a:p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4) It is Linda’s first time ________ (come) to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China.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36327" y="1690255"/>
            <a:ext cx="1814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has won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57852" y="2819177"/>
            <a:ext cx="2119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had come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82837" y="4017820"/>
            <a:ext cx="3934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handed/should hand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527040" y="5188585"/>
            <a:ext cx="1814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come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-635" y="0"/>
            <a:ext cx="12192000" cy="4855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我一走进房间就看见一个人站在我面前。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 sooner had I entered the room than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saw a man standing in front of me.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had sooner entered the room than...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我本想早点来的，但这场雨让我们没能及时来。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had menat/intended to be early, but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rain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prevented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us coming in time.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这是他第一次参观迪士尼乐园。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was the first time that he _________________________.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在他出现前，我已经等了三个小时了。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____________________ before he turned up.</a:t>
            </a:r>
          </a:p>
          <a:p>
            <a:pPr indent="0" fontAlgn="auto"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977765" y="427164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had visited the Disneyland</a:t>
            </a:r>
          </a:p>
        </p:txBody>
      </p:sp>
      <p:sp>
        <p:nvSpPr>
          <p:cNvPr id="3" name="Text Box 2"/>
          <p:cNvSpPr txBox="1"/>
          <p:nvPr>
            <p:custDataLst>
              <p:tags r:id="rId1"/>
            </p:custDataLst>
          </p:nvPr>
        </p:nvSpPr>
        <p:spPr>
          <a:xfrm>
            <a:off x="398145" y="53473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had waited for 3 hours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-635" y="0"/>
            <a:ext cx="12192000" cy="4855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didn’t attend the meeting because he _______ (fall) ill that day.</a:t>
            </a:r>
          </a:p>
          <a:p>
            <a:pPr indent="0" fontAlgn="auto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They _________(want) to help but could not get there in time.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If he __________ (turn) up at the meeting, we would have talked about the matter.</a:t>
            </a:r>
          </a:p>
          <a:p>
            <a:pPr indent="0" fontAlgn="auto"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By the end of this year, the building ______________________ (complete).</a:t>
            </a:r>
          </a:p>
          <a:p>
            <a:pPr indent="0" fontAlgn="auto">
              <a:lnSpc>
                <a:spcPct val="110000"/>
              </a:lnSpc>
            </a:pP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66470" y="1070610"/>
            <a:ext cx="22377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had turned</a:t>
            </a:r>
          </a:p>
        </p:txBody>
      </p:sp>
      <p:sp>
        <p:nvSpPr>
          <p:cNvPr id="3" name="Text Box 2"/>
          <p:cNvSpPr txBox="1"/>
          <p:nvPr>
            <p:custDataLst>
              <p:tags r:id="rId1"/>
            </p:custDataLst>
          </p:nvPr>
        </p:nvSpPr>
        <p:spPr>
          <a:xfrm>
            <a:off x="6214110" y="21355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will have been completed</a:t>
            </a:r>
          </a:p>
        </p:txBody>
      </p:sp>
      <p:sp>
        <p:nvSpPr>
          <p:cNvPr id="4" name="Text Box 3"/>
          <p:cNvSpPr txBox="1"/>
          <p:nvPr>
            <p:custDataLst>
              <p:tags r:id="rId2"/>
            </p:custDataLst>
          </p:nvPr>
        </p:nvSpPr>
        <p:spPr>
          <a:xfrm>
            <a:off x="836930" y="583565"/>
            <a:ext cx="31623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had wanted</a:t>
            </a:r>
          </a:p>
        </p:txBody>
      </p:sp>
      <p:sp>
        <p:nvSpPr>
          <p:cNvPr id="6" name="Text Box 5"/>
          <p:cNvSpPr txBox="1"/>
          <p:nvPr>
            <p:custDataLst>
              <p:tags r:id="rId3"/>
            </p:custDataLst>
          </p:nvPr>
        </p:nvSpPr>
        <p:spPr>
          <a:xfrm>
            <a:off x="7412355" y="0"/>
            <a:ext cx="8293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fell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6" grpId="0"/>
      <p:bldP spid="6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</Words>
  <Application>Microsoft Macintosh PowerPoint</Application>
  <PresentationFormat>Widescreen</PresentationFormat>
  <Paragraphs>104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等线</vt:lpstr>
      <vt:lpstr>等线 Light</vt:lpstr>
      <vt:lpstr>宋体</vt:lpstr>
      <vt:lpstr>Times New Roman Bold</vt:lpstr>
      <vt:lpstr>Times New Roman Bold Italic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33</cp:revision>
  <dcterms:created xsi:type="dcterms:W3CDTF">2024-10-08T04:03:16Z</dcterms:created>
  <dcterms:modified xsi:type="dcterms:W3CDTF">2026-07-23T01:03:04Z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89CEE4DDD84DD8104CD6EC66076E0B42_42</vt:lpwstr>
  </property>
  <property fmtid="{D5CDD505-2E9C-101B-9397-08002B2CF9AE}" pid="3" name="KSOProductBuildVer">
    <vt:lpwstr>1033-6.11.0.8885</vt:lpwstr>
  </property>
</Properties>
</file>