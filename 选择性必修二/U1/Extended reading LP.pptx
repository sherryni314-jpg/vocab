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6"/>
  </p:notesMasterIdLst>
  <p:sldIdLst>
    <p:sldId id="477" r:id="rId3"/>
    <p:sldId id="499" r:id="rId4"/>
    <p:sldId id="527" r:id="rId5"/>
    <p:sldId id="528" r:id="rId6"/>
    <p:sldId id="432" r:id="rId7"/>
    <p:sldId id="526" r:id="rId8"/>
    <p:sldId id="480" r:id="rId9"/>
    <p:sldId id="561" r:id="rId10"/>
    <p:sldId id="529" r:id="rId11"/>
    <p:sldId id="530" r:id="rId12"/>
    <p:sldId id="532" r:id="rId13"/>
    <p:sldId id="435" r:id="rId14"/>
    <p:sldId id="533" r:id="rId15"/>
    <p:sldId id="560" r:id="rId16"/>
    <p:sldId id="504" r:id="rId17"/>
    <p:sldId id="534" r:id="rId18"/>
    <p:sldId id="488" r:id="rId19"/>
    <p:sldId id="489" r:id="rId20"/>
    <p:sldId id="490" r:id="rId21"/>
    <p:sldId id="506" r:id="rId22"/>
    <p:sldId id="555" r:id="rId23"/>
    <p:sldId id="556" r:id="rId24"/>
    <p:sldId id="557" r:id="rId25"/>
    <p:sldId id="493" r:id="rId26"/>
    <p:sldId id="501" r:id="rId27"/>
    <p:sldId id="508" r:id="rId28"/>
    <p:sldId id="439" r:id="rId29"/>
    <p:sldId id="503" r:id="rId30"/>
    <p:sldId id="487" r:id="rId31"/>
    <p:sldId id="558" r:id="rId32"/>
    <p:sldId id="559" r:id="rId33"/>
    <p:sldId id="510" r:id="rId34"/>
    <p:sldId id="586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66FF"/>
    <a:srgbClr val="E6F1FE"/>
    <a:srgbClr val="8CE3EC"/>
    <a:srgbClr val="9933FF"/>
    <a:srgbClr val="F57218"/>
    <a:srgbClr val="0A74F9"/>
    <a:srgbClr val="FFFFFF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6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activity, industry</a:t>
            </a:r>
          </a:p>
          <a:p>
            <a:r>
              <a:rPr lang="en-US"/>
              <a:t>She works in advertising/publicity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(line 11) an advertisement is placed on a popular website or on TV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她自认为人生没有价值。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 trained lawyer who can present arguments persuasively.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Ladies, don’t let anyone tell you that you’ve passed your prime.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..a flourishing career that was at its peak at the time of his death.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他去世时正处于巅峰的欣欣向荣的事业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Ladies, don’t let anyone tell you that you’ve passed your prime.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mount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分词做结果状语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分词做结果状语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get over difficulties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扣人心弦的电影</a:t>
            </a:r>
            <a:r>
              <a:rPr lang="en-US" altLang="zh-CN"/>
              <a:t> fascinating/gripping/captivating/compelling/engrossing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amusement park:a large outdoor area with fairground rides, shows, and other entertainments.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530" y="162560"/>
            <a:ext cx="11786235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广告活动；广告业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good advertising campaign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will increase our sales.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好的广告宣传活动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career in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advertising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vt.&amp;vi.  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登广告；宣传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cruise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advertised as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'journey of a lifetime'.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宣传；征聘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are currently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advertising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new sales manager.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advertised the concert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quite widely.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publicize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534535" y="1769110"/>
            <a:ext cx="609600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17550" indent="-7175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广告职业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860915" y="3359785"/>
            <a:ext cx="609600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被宣传为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530" y="162560"/>
            <a:ext cx="11786235" cy="4420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advertisement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广告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(n.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commercial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advertisement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for 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……的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广告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TV/television/radio/cinema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advertisement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put/place/run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advertisement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local newspaper/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website/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TV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advertise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(v.)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the local newspaper</a:t>
            </a:r>
          </a:p>
          <a:p>
            <a:pPr indent="0" fontAlgn="auto"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advertiser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广告商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530" y="162560"/>
            <a:ext cx="11786235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short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总之，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简而言之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was/ran short of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money this month, so I lent him some.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不足，短缺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restaurant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fell short of their expectations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 the plants pump through the air is a mixture of chemicals known as volatile organic compounds, VOCs ______ ________.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简称为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402955" y="23863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未达到，不符合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349615" y="39382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        short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170180"/>
            <a:ext cx="12192000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other words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it tries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persuade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people to buy a product or service.  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换言之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说服某人做某事</a:t>
            </a:r>
          </a:p>
          <a:p>
            <a:pPr marL="2155825" indent="-215582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persuade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</a:p>
          <a:p>
            <a:pPr marL="2155825" indent="-2155825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劝说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说服</a:t>
            </a:r>
          </a:p>
          <a:p>
            <a:pPr marL="2155825" indent="-215582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 tried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persuade him to come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out with us.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17550" indent="-7175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Who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persuaded you into writing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that email?</a:t>
            </a:r>
          </a:p>
          <a:p>
            <a:pPr indent="-7175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persuade sb out of doing sth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说服某人不做某事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717550" indent="-717550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我花了好久才说服他接受我的邀请。</a:t>
            </a:r>
          </a:p>
          <a:p>
            <a:pPr marL="717550" indent="-7175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took me a long time to persuade him to accept my invitaiton.</a:t>
            </a:r>
          </a:p>
          <a:p>
            <a:pPr marL="2155825" indent="-2155825">
              <a:lnSpc>
                <a:spcPct val="11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使信服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convince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)</a:t>
            </a:r>
            <a:endParaRPr lang="en-US" altLang="zh-CN" sz="3200" b="1" u="sng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2155825" indent="-2155825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had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persuaded herself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life was not worth living.</a:t>
            </a:r>
          </a:p>
          <a:p>
            <a:pPr marL="2155825" indent="-215582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They tried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persuade us of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truth of the report.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4825" y="277495"/>
            <a:ext cx="11290935" cy="7126605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6F1FE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归纳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persuade sb. (to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.)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说服某人（做某事）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persuade sb. into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说服某人做某事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persuade sb. out 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说服某人不要做某事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persuade sb. that …/of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使某人相信某事</a:t>
            </a:r>
          </a:p>
          <a:p>
            <a:pPr>
              <a:lnSpc>
                <a:spcPct val="11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词形变化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persuasion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说服，劝说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persuasive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有说服力的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令人信服的论点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persuasively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70605" y="5060950"/>
            <a:ext cx="609600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persuasive arguments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515860" y="3480435"/>
            <a:ext cx="6096000" cy="2256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说服的力量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power of persuasion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can be very persuasive.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他有时很会说服人。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529383"/>
            <a:ext cx="10784305" cy="4271217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汉译英。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汤姆最终说服了他的父母买下那辆车。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我们使亨利相信是他错了。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我还不能完全信服这个计划的优点。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04256" y="1765050"/>
            <a:ext cx="10243457" cy="39333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Tom finally persuaded his parents to buy / into buying that car.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We persuaded Henry that he was wrong.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am still not fully persuaded of the plan's advantages.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530" y="162560"/>
            <a:ext cx="1178623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他致力于帮助残疾人，他妻子也是。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devoted himself to helping the disabled, ______________.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My brother is clever, and ___________________.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我妹妹也是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I didn’t answer the teacher’s question. _____________________ 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其他学生也没有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Jack was born in the USA, and English is his native language. ____________________________.(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我的朋友戴维也是这样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It is the same with ...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865745" y="704215"/>
            <a:ext cx="2989580" cy="631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so did his wife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" name="Text Box 1"/>
          <p:cNvSpPr txBox="1"/>
          <p:nvPr>
            <p:custDataLst>
              <p:tags r:id="rId1"/>
            </p:custDataLst>
          </p:nvPr>
        </p:nvSpPr>
        <p:spPr>
          <a:xfrm>
            <a:off x="5675630" y="1245870"/>
            <a:ext cx="2989580" cy="631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so is my sister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>
            <p:custDataLst>
              <p:tags r:id="rId2"/>
            </p:custDataLst>
          </p:nvPr>
        </p:nvSpPr>
        <p:spPr>
          <a:xfrm>
            <a:off x="7484110" y="1953260"/>
            <a:ext cx="5166360" cy="631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Nor/Neither did the other students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>
            <p:custDataLst>
              <p:tags r:id="rId3"/>
            </p:custDataLst>
          </p:nvPr>
        </p:nvSpPr>
        <p:spPr>
          <a:xfrm>
            <a:off x="509270" y="3588385"/>
            <a:ext cx="5166360" cy="631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So it is with my friend David</a:t>
            </a:r>
          </a:p>
          <a:p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2" grpId="1"/>
      <p:bldP spid="6" grpId="0"/>
      <p:bldP spid="6" grpId="1"/>
      <p:bldP spid="7" grpId="0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170180"/>
            <a:ext cx="12192000" cy="4420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peak times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在黄金时段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in prime time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/n./vi. 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高峰时期的；巅峰，忙时，山峰；达到高峰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 need extra help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during the peak season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was a time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 demand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product.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March is one of 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 periods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for our business.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athletes are all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peak condition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450850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off-peak times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在非高峰时期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8714740" y="1297305"/>
            <a:ext cx="6096000" cy="2256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在最繁忙的季节</a:t>
            </a:r>
          </a:p>
          <a:p>
            <a:pPr indent="-45085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需求旺盛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最繁忙的时期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处在巅峰状态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170180"/>
            <a:ext cx="12192000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adj./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n.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/vi.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高峰时期的；巅峰，忙时，山峰；达到高峰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Traffic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reaches its peak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between 8 and 9 in the morning. (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during the morning/evening peak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She's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the peak of her career/fame/success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(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its/one’s peak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她正处在事业/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声望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成功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的巅峰。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 past/pass one's peak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过了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某人的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巅峰期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Economies 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peaks and troughs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/trɔf/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经济有高峰，也有低谷。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snow-covered peaks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climb a peak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945255" y="5082540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积雪覆盖的群峰</a:t>
            </a:r>
          </a:p>
          <a:p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登上顶峰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170180"/>
            <a:ext cx="12192000" cy="333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adj./n./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vi.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高峰时期的；巅峰，忙时，山峰；达到高峰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Oil production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peaked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early 1980s.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20 世纪 80 年代初期，石油产量达到了最高峰。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Unemployment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peaked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17%.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athlete who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peaks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just the right time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一位恰在最佳时刻缔造出最佳成绩的运动员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395" y="0"/>
            <a:ext cx="11826240" cy="510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-352425" fontAlgn="auto"/>
            <a:r>
              <a:rPr lang="en-US" altLang="zh-CN" dirty="0"/>
              <a:t>… a successful advertisement will also </a:t>
            </a:r>
            <a:r>
              <a:rPr lang="en-US" altLang="zh-CN" dirty="0">
                <a:solidFill>
                  <a:srgbClr val="FF0000"/>
                </a:solidFill>
              </a:rPr>
              <a:t>create a desire to buy</a:t>
            </a:r>
            <a:r>
              <a:rPr lang="en-US" altLang="zh-CN" dirty="0"/>
              <a:t>, thus </a:t>
            </a:r>
            <a:r>
              <a:rPr lang="en-US" altLang="zh-CN" dirty="0">
                <a:solidFill>
                  <a:srgbClr val="FF0000"/>
                </a:solidFill>
              </a:rPr>
              <a:t>boosting</a:t>
            </a:r>
            <a:r>
              <a:rPr lang="en-US" altLang="zh-CN" dirty="0"/>
              <a:t> business.</a:t>
            </a:r>
          </a:p>
          <a:p>
            <a:pPr marL="0" fontAlgn="auto"/>
            <a:r>
              <a:rPr lang="en-US" altLang="zh-CN" dirty="0">
                <a:latin typeface="宋体" pitchFamily="2" charset="-122"/>
              </a:rPr>
              <a:t>……</a:t>
            </a:r>
            <a:r>
              <a:rPr lang="zh-CN" altLang="en-US" dirty="0"/>
              <a:t>一则成功的广告也会激发购买欲，从而促进业务增长。</a:t>
            </a:r>
          </a:p>
          <a:p>
            <a:pPr marL="0" indent="-1524000" fontAlgn="auto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boost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 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v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to make </a:t>
            </a:r>
            <a:r>
              <a:rPr lang="en-US" altLang="zh-CN" i="1" dirty="0" err="1">
                <a:sym typeface="+mn-ea"/>
              </a:rPr>
              <a:t>sth</a:t>
            </a:r>
            <a:r>
              <a:rPr lang="en-US" altLang="zh-CN" i="1" dirty="0">
                <a:sym typeface="+mn-ea"/>
              </a:rPr>
              <a:t>. increase, or become better or more successful  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使增长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,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使兴旺</a:t>
            </a:r>
          </a:p>
          <a:p>
            <a:pPr marL="0" indent="-1524000" fontAlgn="auto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boost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the economy/profits/sales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促进经济繁荣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增加利润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销售额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-1524000" fontAlgn="auto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The movie helped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u="sng" dirty="0">
                <a:solidFill>
                  <a:srgbClr val="FF0000"/>
                </a:solidFill>
                <a:sym typeface="+mn-ea"/>
              </a:rPr>
              <a:t>boost her screen career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.</a:t>
            </a:r>
          </a:p>
          <a:p>
            <a:pPr marL="0" indent="-1524000" fontAlgn="auto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那部电影有助于她的银幕生涯的发展。</a:t>
            </a:r>
          </a:p>
          <a:p>
            <a:pPr marL="0" indent="-1524000" fontAlgn="auto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boost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one’s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confidence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/ego/morale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增强某人的信心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士气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395" y="0"/>
            <a:ext cx="11826240" cy="648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-1524000" fontAlgn="auto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boost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n.</a:t>
            </a:r>
            <a:r>
              <a:rPr lang="en-US" altLang="zh-CN" dirty="0">
                <a:sym typeface="+mn-ea"/>
              </a:rPr>
              <a:t> 1) </a:t>
            </a:r>
            <a:r>
              <a:rPr lang="en-US" altLang="zh-CN" i="1" dirty="0">
                <a:sym typeface="+mn-ea"/>
              </a:rPr>
              <a:t>something that helps or encourages sb./</a:t>
            </a:r>
            <a:r>
              <a:rPr lang="en-US" altLang="zh-CN" i="1" dirty="0" err="1">
                <a:sym typeface="+mn-ea"/>
              </a:rPr>
              <a:t>sth</a:t>
            </a:r>
            <a:r>
              <a:rPr lang="en-US" altLang="zh-CN" i="1" dirty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帮助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激励</a:t>
            </a:r>
          </a:p>
          <a:p>
            <a:pPr marL="0" indent="-1524000" fontAlgn="auto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give sth/sb a boost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推动某事/给某人以鼓舞  </a:t>
            </a:r>
            <a:endParaRPr lang="en-US" altLang="zh-CN" dirty="0"/>
          </a:p>
          <a:p>
            <a:pPr marL="0" fontAlgn="auto"/>
            <a:r>
              <a:rPr lang="en-US" altLang="zh-CN" dirty="0"/>
              <a:t>give </a:t>
            </a:r>
            <a:r>
              <a:rPr lang="en-US" altLang="zh-CN" dirty="0">
                <a:solidFill>
                  <a:srgbClr val="FF0000"/>
                </a:solidFill>
              </a:rPr>
              <a:t>a boost </a:t>
            </a:r>
            <a:r>
              <a:rPr lang="en-US" altLang="zh-CN" dirty="0"/>
              <a:t>to the economy </a:t>
            </a:r>
            <a:r>
              <a:rPr lang="zh-CN" altLang="en-US" dirty="0"/>
              <a:t>给经济带来增长</a:t>
            </a:r>
          </a:p>
          <a:p>
            <a:pPr marL="0" fontAlgn="auto"/>
            <a:r>
              <a:rPr lang="en-US" altLang="zh-CN" dirty="0"/>
              <a:t>(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enormous, huge, tremendous, </a:t>
            </a:r>
            <a:r>
              <a:rPr lang="zh-CN" altLang="en-US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much-needed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迫切需要的, welcome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令人欣喜的鼓舞</a:t>
            </a:r>
            <a:r>
              <a:rPr lang="en-US" altLang="zh-CN" dirty="0"/>
              <a:t>)</a:t>
            </a:r>
            <a:endParaRPr lang="zh-CN" altLang="en-US" dirty="0"/>
          </a:p>
          <a:p>
            <a:pPr marL="0" fontAlgn="auto"/>
            <a:r>
              <a:rPr lang="en-US" altLang="zh-CN" dirty="0"/>
              <a:t>Winning the competition was 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wonderful </a:t>
            </a:r>
            <a:r>
              <a:rPr lang="en-US" altLang="zh-CN" dirty="0">
                <a:solidFill>
                  <a:srgbClr val="FF0000"/>
                </a:solidFill>
              </a:rPr>
              <a:t>boost </a:t>
            </a:r>
            <a:r>
              <a:rPr lang="en-US" altLang="zh-CN" dirty="0"/>
              <a:t>for her morale.</a:t>
            </a:r>
          </a:p>
          <a:p>
            <a:pPr marL="0" fontAlgn="auto"/>
            <a:r>
              <a:rPr lang="en-US" altLang="zh-CN" dirty="0">
                <a:sym typeface="+mn-ea"/>
              </a:rPr>
              <a:t>赢得那场比赛使她士气大振。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fontAlgn="auto"/>
            <a:r>
              <a:rPr lang="en-US" altLang="zh-CN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i="1" dirty="0">
                <a:sym typeface="+mn-ea"/>
              </a:rPr>
              <a:t> an increase 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in </a:t>
            </a:r>
            <a:r>
              <a:rPr lang="en-US" altLang="zh-CN" i="1" dirty="0" err="1">
                <a:sym typeface="+mn-ea"/>
              </a:rPr>
              <a:t>sth</a:t>
            </a:r>
            <a:r>
              <a:rPr lang="en-US" altLang="zh-CN" i="1" dirty="0">
                <a:sym typeface="+mn-ea"/>
              </a:rPr>
              <a:t>. 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增长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;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提高</a:t>
            </a:r>
          </a:p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a boost in car sales </a:t>
            </a:r>
            <a:r>
              <a:rPr lang="en-US" altLang="zh-CN" dirty="0"/>
              <a:t>汽车销售额的增长</a:t>
            </a:r>
          </a:p>
          <a:p>
            <a:pPr marL="0" fontAlgn="auto"/>
            <a:r>
              <a:rPr lang="en-US" altLang="zh-CN" dirty="0"/>
              <a:t>(没有</a:t>
            </a:r>
            <a:r>
              <a:rPr lang="zh-CN" altLang="en-US" dirty="0"/>
              <a:t>旅游业的增长</a:t>
            </a:r>
            <a:r>
              <a:rPr lang="en-US" altLang="zh-CN" dirty="0"/>
              <a:t>) Without ____ ______ _____ ________, the economy will suffer even further.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605780" y="52108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      boost      in       tourism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4010" y="635"/>
            <a:ext cx="1158875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 is why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 a company wants to promote a product or service, it often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launches a mass media advertising campaign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/>
                <a:ea typeface="宋体"/>
              </a:rPr>
              <a:t>这就是为什么当一家公司想要推广一种产品或服务时，它通常会发起一场大众传媒广告活动。</a:t>
            </a:r>
            <a:endParaRPr lang="en-US" altLang="zh-CN" sz="3200" b="1" dirty="0">
              <a:latin typeface="Times New Roman" panose="02020503050405090304"/>
              <a:ea typeface="宋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4010" y="2454275"/>
            <a:ext cx="11588750" cy="681990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that is why… why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引导表语从句，那是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原因    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/>
                <a:ea typeface="宋体"/>
              </a:rPr>
              <a:t>强调结果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4010" y="3133725"/>
            <a:ext cx="11858625" cy="304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仿写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74625" indent="-174625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那就是为什么当一个学生对英语产生兴趣的时候，他会利用各种机会练习。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74625" indent="-174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That is why when a student becomes interested in English, he will make use of every chance to practise.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57175" y="384810"/>
            <a:ext cx="1185862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4625" indent="-17462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1.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这就是他们将会进行实验的地点。</a:t>
            </a:r>
          </a:p>
          <a:p>
            <a:pPr marL="174625" indent="-174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That is where they will carry out the experiment.</a:t>
            </a:r>
          </a:p>
          <a:p>
            <a:pPr marL="174625" indent="-17462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2. The truth was _____ the fog was too heavy for us to take any action to help those trapped in it.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291205" y="15830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395" y="0"/>
            <a:ext cx="1182624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-352425" fontAlgn="auto"/>
            <a:r>
              <a:rPr lang="en-US" altLang="zh-CN" dirty="0">
                <a:solidFill>
                  <a:srgbClr val="FF0000"/>
                </a:solidFill>
              </a:rPr>
              <a:t>purchase 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buy</a:t>
            </a:r>
          </a:p>
          <a:p>
            <a:pPr marL="0" indent="-352425" fontAlgn="auto"/>
            <a:r>
              <a:rPr lang="en-US" altLang="zh-CN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purchase</a:t>
            </a:r>
            <a:r>
              <a:rPr lang="en-US" altLang="zh-CN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goods from local suppliers</a:t>
            </a:r>
          </a:p>
          <a:p>
            <a:pPr marL="0" indent="-352425" fontAlgn="auto"/>
            <a:r>
              <a:rPr lang="en-US" altLang="zh-CN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Victory was</a:t>
            </a:r>
            <a:r>
              <a:rPr lang="en-US" altLang="zh-CN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purchased </a:t>
            </a:r>
            <a:r>
              <a:rPr lang="en-US" altLang="zh-CN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at too greate a price. </a:t>
            </a:r>
            <a:endParaRPr lang="en-US" altLang="zh-CN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-352425" fontAlgn="auto"/>
            <a:r>
              <a:rPr lang="en-US" altLang="zh-CN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. </a:t>
            </a:r>
            <a:r>
              <a:rPr lang="en-US" altLang="zh-CN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购买；购买的东西</a:t>
            </a:r>
            <a:endParaRPr lang="en-US" altLang="zh-CN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352425" fontAlgn="auto"/>
            <a:r>
              <a:rPr lang="en-US" altLang="zh-CN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make a purchase of sth</a:t>
            </a:r>
            <a:endParaRPr lang="en-US" altLang="zh-CN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0" indent="-352425" fontAlgn="auto"/>
            <a:r>
              <a:rPr lang="en-US" altLang="zh-CN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If you are not satisfied with your </a:t>
            </a:r>
            <a:r>
              <a:rPr lang="en-US" altLang="zh-CN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purchase </a:t>
            </a:r>
            <a:r>
              <a:rPr lang="en-US" altLang="zh-CN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we will give you a full refund.</a:t>
            </a:r>
          </a:p>
          <a:p>
            <a:pPr marL="0" indent="-352425" fontAlgn="auto"/>
            <a:r>
              <a:rPr lang="en-US" altLang="zh-CN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所购之物若不合意，我们将全额退款。</a:t>
            </a:r>
          </a:p>
          <a:p>
            <a:pPr marL="0" indent="-352425" fontAlgn="auto"/>
            <a:endParaRPr lang="en-US" altLang="zh-CN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0" indent="-352425" fontAlgn="auto"/>
            <a:endParaRPr lang="en-US" altLang="zh-CN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965315" y="605155"/>
            <a:ext cx="609600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352425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从本地供应商处购买商品</a:t>
            </a:r>
          </a:p>
          <a:p>
            <a:pPr indent="-352425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             胜利的代价太大了。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3035" y="201930"/>
            <a:ext cx="12038330" cy="1081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r>
              <a:rPr lang="en-US" altLang="zh-CN" dirty="0"/>
              <a:t>And what message does it try to </a:t>
            </a:r>
            <a:r>
              <a:rPr lang="en-US" altLang="zh-CN" dirty="0">
                <a:solidFill>
                  <a:srgbClr val="FF0000"/>
                </a:solidFill>
              </a:rPr>
              <a:t>get across</a:t>
            </a:r>
            <a:r>
              <a:rPr lang="en-US" altLang="zh-CN" dirty="0"/>
              <a:t>?</a:t>
            </a:r>
          </a:p>
          <a:p>
            <a:r>
              <a:rPr lang="zh-CN" altLang="en-US" dirty="0"/>
              <a:t>它想要传达什么信息？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405765" y="3615690"/>
            <a:ext cx="1098359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625475" indent="-625475"/>
            <a:r>
              <a:rPr lang="en-US" altLang="zh-CN" dirty="0"/>
              <a:t>Your intention didn't really </a:t>
            </a:r>
            <a:r>
              <a:rPr lang="en-US" altLang="zh-CN" dirty="0">
                <a:solidFill>
                  <a:srgbClr val="FF0000"/>
                </a:solidFill>
              </a:rPr>
              <a:t>get across (to us)</a:t>
            </a:r>
            <a:r>
              <a:rPr lang="en-US" altLang="zh-CN" dirty="0"/>
              <a:t>.</a:t>
            </a:r>
          </a:p>
          <a:p>
            <a:pPr marL="625475" indent="-625475"/>
            <a:r>
              <a:rPr lang="en-US" altLang="zh-CN" dirty="0"/>
              <a:t>你的</a:t>
            </a:r>
            <a:r>
              <a:rPr lang="zh-CN" altLang="en-US" dirty="0"/>
              <a:t>意图</a:t>
            </a:r>
            <a:r>
              <a:rPr lang="en-US" altLang="zh-CN" dirty="0"/>
              <a:t>并未真正为别人理解。</a:t>
            </a:r>
          </a:p>
          <a:p>
            <a:pPr marL="625475" indent="-625475"/>
            <a:r>
              <a:rPr lang="en-US" altLang="zh-CN" dirty="0"/>
              <a:t>He's not very good at </a:t>
            </a:r>
            <a:r>
              <a:rPr lang="en-US" altLang="zh-CN" dirty="0">
                <a:solidFill>
                  <a:srgbClr val="FF0000"/>
                </a:solidFill>
              </a:rPr>
              <a:t>getting his ideas across</a:t>
            </a:r>
            <a:r>
              <a:rPr lang="en-US" altLang="zh-CN" dirty="0"/>
              <a:t>.</a:t>
            </a:r>
          </a:p>
          <a:p>
            <a:pPr marL="625475" indent="-625475"/>
            <a:r>
              <a:rPr lang="en-US" altLang="zh-CN" dirty="0"/>
              <a:t>他不太善于清楚地表达自己的思想。</a:t>
            </a:r>
          </a:p>
          <a:p>
            <a:pPr marL="625475" indent="-625475"/>
            <a:r>
              <a:rPr lang="zh-CN" altLang="en-US" dirty="0"/>
              <a:t>把信息传递给工人们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05765" y="1564005"/>
            <a:ext cx="11433175" cy="1863090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get across (sth get across / get sth across)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be communicated or understood; to succeed in communicating </a:t>
            </a:r>
            <a:r>
              <a:rPr lang="en-US" altLang="zh-CN" sz="3200" b="1" i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被传达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被理解；把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讲清楚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463415" y="6028690"/>
            <a:ext cx="77273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get the information across to the workers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3729" y="419376"/>
            <a:ext cx="11168631" cy="5945089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get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短语</a:t>
            </a:r>
            <a:endParaRPr lang="zh-CN" altLang="en-US" sz="3200" b="1" dirty="0">
              <a:solidFill>
                <a:srgbClr val="9966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along (with)     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与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相处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；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事情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进展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away from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逃离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摆脱 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get down to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开始认真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做某事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off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动身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on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车、船等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进展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相处     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get rid of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除掉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摆脱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through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通过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到达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完成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接通电话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into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陷入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困境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习惯于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out of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离开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逃避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规避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抛弃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习惯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get over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从疾病中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恢复过来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克服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解决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9918" y="106475"/>
            <a:ext cx="10917167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翻译下列各句中的画线部分。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His own children 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got into the habit of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playing outside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now: “We just send them out into the garden and tell them not to come back in for a while. ” ____________________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Each play has a theme or central idea which the playwright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剧作家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hopes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get across through 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dialogue and action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________________________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News soon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got around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that he had resigned. ___________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I think 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problem can be got over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without too much difficulty. ___________</a:t>
            </a:r>
          </a:p>
        </p:txBody>
      </p:sp>
      <p:sp>
        <p:nvSpPr>
          <p:cNvPr id="5" name="矩形 4"/>
          <p:cNvSpPr/>
          <p:nvPr/>
        </p:nvSpPr>
        <p:spPr>
          <a:xfrm>
            <a:off x="6918776" y="1899642"/>
            <a:ext cx="4716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已经养成在外面玩的习惯</a:t>
            </a:r>
          </a:p>
        </p:txBody>
      </p:sp>
      <p:sp>
        <p:nvSpPr>
          <p:cNvPr id="8" name="矩形 7"/>
          <p:cNvSpPr/>
          <p:nvPr/>
        </p:nvSpPr>
        <p:spPr>
          <a:xfrm>
            <a:off x="3306445" y="367924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通过对话和动作表达出来</a:t>
            </a:r>
          </a:p>
        </p:txBody>
      </p:sp>
      <p:sp>
        <p:nvSpPr>
          <p:cNvPr id="9" name="矩形 8"/>
          <p:cNvSpPr/>
          <p:nvPr/>
        </p:nvSpPr>
        <p:spPr>
          <a:xfrm>
            <a:off x="9236425" y="4263738"/>
            <a:ext cx="1811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流传出来</a:t>
            </a:r>
          </a:p>
        </p:txBody>
      </p:sp>
      <p:sp>
        <p:nvSpPr>
          <p:cNvPr id="2" name="矩形 8"/>
          <p:cNvSpPr/>
          <p:nvPr>
            <p:custDataLst>
              <p:tags r:id="rId1"/>
            </p:custDataLst>
          </p:nvPr>
        </p:nvSpPr>
        <p:spPr>
          <a:xfrm>
            <a:off x="3623025" y="5368638"/>
            <a:ext cx="99695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解决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3551" y="122687"/>
            <a:ext cx="1088584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The more </a:t>
            </a:r>
            <a:r>
              <a:rPr lang="en-US" altLang="zh-CN" dirty="0"/>
              <a:t>we like the brand ambassador, </a:t>
            </a:r>
            <a:r>
              <a:rPr lang="en-US" altLang="zh-CN" dirty="0">
                <a:solidFill>
                  <a:srgbClr val="FF0000"/>
                </a:solidFill>
              </a:rPr>
              <a:t>the more </a:t>
            </a:r>
            <a:r>
              <a:rPr lang="en-US" altLang="zh-CN" dirty="0"/>
              <a:t>we will be attracted to buy the product. </a:t>
            </a:r>
            <a:r>
              <a:rPr lang="zh-CN" altLang="en-US" dirty="0">
                <a:latin typeface="Times New Roman" panose="02020503050405090304"/>
                <a:ea typeface="宋体"/>
              </a:rPr>
              <a:t>我们越喜欢品牌大使，我们就越会被吸引去购买产品。</a:t>
            </a:r>
            <a:endParaRPr lang="en-US" altLang="zh-CN" dirty="0">
              <a:latin typeface="Times New Roman" panose="02020503050405090304"/>
              <a:ea typeface="宋体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1991995"/>
            <a:ext cx="12009755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everybody knows, the ______ (lazy) a person is, the more things he needs to do tomorrow.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smaller the house is, the _______ (little) it will cost us to heat.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more you try it, the more likely you are  ____ (get) lost in its flavor.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II. 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翻译句子。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你越快准备好，我们就能越早离开。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74625" indent="-174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quicker you get ready, the sooner we will leave.</a:t>
            </a:r>
          </a:p>
        </p:txBody>
      </p:sp>
      <p:sp>
        <p:nvSpPr>
          <p:cNvPr id="2" name="矩形 5"/>
          <p:cNvSpPr/>
          <p:nvPr>
            <p:custDataLst>
              <p:tags r:id="rId2"/>
            </p:custDataLst>
          </p:nvPr>
        </p:nvSpPr>
        <p:spPr>
          <a:xfrm>
            <a:off x="5180234" y="2043780"/>
            <a:ext cx="1349472" cy="631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lazier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6227719" y="3229721"/>
            <a:ext cx="1349472" cy="631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less</a:t>
            </a:r>
          </a:p>
        </p:txBody>
      </p:sp>
      <p:sp>
        <p:nvSpPr>
          <p:cNvPr id="8" name="矩形 6"/>
          <p:cNvSpPr/>
          <p:nvPr>
            <p:custDataLst>
              <p:tags r:id="rId4"/>
            </p:custDataLst>
          </p:nvPr>
        </p:nvSpPr>
        <p:spPr>
          <a:xfrm>
            <a:off x="8297819" y="3791061"/>
            <a:ext cx="1349472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2635" cy="68580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placement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 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putting in place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 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(对人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、物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的)安置，安排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job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placement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program exists to help those who are unemployed.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就业安置计划是为了帮助那些失业者。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proper placement of microphones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正确放置耳机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实习工作；实习课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had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six-month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work placement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a special school.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get a placement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somewhere 在某处得到实习机会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2635" cy="68580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ratings</a:t>
            </a:r>
            <a:r>
              <a:rPr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收视率；收听率</a:t>
            </a:r>
            <a:endParaRPr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show has gone up in the </a:t>
            </a:r>
            <a:r>
              <a:rPr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ratings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这个节目的收视率上升了。</a:t>
            </a:r>
            <a:endParaRPr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rating </a:t>
            </a:r>
            <a:r>
              <a:rPr sz="3200" b="1">
                <a:latin typeface="Times New Roman Regular" panose="02020503050405090304" charset="0"/>
                <a:cs typeface="Times New Roman Regular" panose="02020503050405090304" charset="0"/>
              </a:rPr>
              <a:t>等级；级别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sz="3200" b="1">
                <a:latin typeface="Times New Roman Bold" panose="02020503050405090304" charset="0"/>
                <a:cs typeface="Times New Roman Bold" panose="02020503050405090304" charset="0"/>
              </a:rPr>
              <a:t>Education has been given 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high-priority rating</a:t>
            </a:r>
            <a:r>
              <a:rPr sz="3200" b="1">
                <a:latin typeface="Times New Roman Bold" panose="02020503050405090304" charset="0"/>
                <a:cs typeface="Times New Roman Bold" panose="02020503050405090304" charset="0"/>
              </a:rPr>
              <a:t> by the new administration.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sz="3200" b="1">
                <a:latin typeface="Times New Roman Regular" panose="02020503050405090304" charset="0"/>
                <a:cs typeface="Times New Roman Regular" panose="02020503050405090304" charset="0"/>
              </a:rPr>
              <a:t>新一届政府将教育放在了</a:t>
            </a:r>
            <a:r>
              <a:rPr sz="3200" b="1" u="sng">
                <a:latin typeface="Times New Roman Regular" panose="02020503050405090304" charset="0"/>
                <a:cs typeface="Times New Roman Regular" panose="02020503050405090304" charset="0"/>
              </a:rPr>
              <a:t>高度优先的</a:t>
            </a:r>
            <a:r>
              <a:rPr lang="zh-CN" sz="3200" b="1" u="sng">
                <a:latin typeface="Times New Roman Regular" panose="02020503050405090304" charset="0"/>
                <a:cs typeface="Times New Roman Regular" panose="02020503050405090304" charset="0"/>
              </a:rPr>
              <a:t>级别</a:t>
            </a:r>
            <a:r>
              <a:rPr sz="3200" b="1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32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2635" cy="68580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I. 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区别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a high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rate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of unemployment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高失业</a:t>
            </a:r>
            <a:r>
              <a:rPr lang="en-US" altLang="zh-CN" sz="3200" b="1" u="sng">
                <a:latin typeface="Times New Roman Regular" panose="02020503050405090304" charset="0"/>
                <a:cs typeface="Times New Roman Regular" panose="02020503050405090304" charset="0"/>
              </a:rPr>
              <a:t>率</a:t>
            </a:r>
            <a:endParaRPr lang="en-US" altLang="zh-CN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number of reported crimes is increasing at an alarming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rate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报警案件的数量正在以惊人的</a:t>
            </a:r>
            <a:r>
              <a:rPr lang="en-US" altLang="zh-CN" sz="3200" b="1" u="sng">
                <a:latin typeface="Times New Roman Regular" panose="02020503050405090304" charset="0"/>
                <a:cs typeface="Times New Roman Regular" panose="02020503050405090304" charset="0"/>
              </a:rPr>
              <a:t>速度</a:t>
            </a: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增长。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II. 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翻译句子。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74625" indent="-17462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节目越受欢迎，收视率就越高。</a:t>
            </a:r>
          </a:p>
          <a:p>
            <a:pPr marL="174625" indent="-174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more popular a programme is, the higher the ratings will be.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625475" algn="l" fontAlgn="auto">
              <a:lnSpc>
                <a:spcPct val="120000"/>
              </a:lnSpc>
              <a:buClrTx/>
              <a:buSzTx/>
              <a:buFontTx/>
            </a:pPr>
            <a:endParaRPr lang="en-US" altLang="zh-CN" sz="32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r>
              <a:rPr lang="en-US" altLang="zh-CN" dirty="0"/>
              <a:t>Some films are now </a:t>
            </a:r>
            <a:r>
              <a:rPr lang="en-US" altLang="zh-CN" dirty="0">
                <a:solidFill>
                  <a:srgbClr val="FF0000"/>
                </a:solidFill>
              </a:rPr>
              <a:t>sponsored</a:t>
            </a:r>
            <a:r>
              <a:rPr lang="en-US" altLang="zh-CN" dirty="0"/>
              <a:t> by leading brands, …</a:t>
            </a:r>
          </a:p>
          <a:p>
            <a:pPr marL="2057400" indent="-2057400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sponsor  </a:t>
            </a:r>
            <a:r>
              <a:rPr lang="en-US" altLang="zh-CN" i="1" dirty="0" err="1">
                <a:solidFill>
                  <a:srgbClr val="FF0000"/>
                </a:solidFill>
                <a:sym typeface="+mn-ea"/>
              </a:rPr>
              <a:t>vt.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赞助；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主办(</a:t>
            </a:r>
            <a:r>
              <a:rPr lang="en-US" altLang="zh-CN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arrange for sth official to take place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；为慈善活动捐款；资助</a:t>
            </a:r>
          </a:p>
          <a:p>
            <a:pPr marL="2057400" indent="-2057400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a sponsored sports event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一场赞助的体育赛事</a:t>
            </a:r>
            <a:endParaRPr lang="en-US" altLang="zh-CN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057400" indent="-2057400">
              <a:lnSpc>
                <a:spcPct val="120000"/>
              </a:lnSpc>
            </a:pP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US is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sponsoring negotiations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between the two sides.</a:t>
            </a:r>
          </a:p>
          <a:p>
            <a:pPr marL="2057400" indent="-2057400">
              <a:lnSpc>
                <a:spcPct val="120000"/>
              </a:lnSpc>
            </a:pP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美国正在安排双方的谈判。</a:t>
            </a:r>
          </a:p>
          <a:p>
            <a:pPr marL="2057400" indent="-2057400">
              <a:lnSpc>
                <a:spcPct val="120000"/>
              </a:lnSpc>
            </a:pP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Will you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sponsor us for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charity walk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?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(~ sb to do sth)</a:t>
            </a:r>
          </a:p>
          <a:p>
            <a:pPr marL="2057400" indent="-205740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为我们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竞走义赛捐款</a:t>
            </a:r>
          </a:p>
          <a:p>
            <a:pPr marL="2057400" indent="-2057400">
              <a:lnSpc>
                <a:spcPct val="120000"/>
              </a:lnSpc>
            </a:pP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found a company to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sponsor her through college</a:t>
            </a:r>
            <a:r>
              <a:rPr lang="en-US" altLang="zh-CN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057400" indent="-2057400">
              <a:lnSpc>
                <a:spcPct val="120000"/>
              </a:lnSpc>
            </a:pPr>
            <a:r>
              <a:rPr lang="en-US" altLang="zh-CN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资助她读完大学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4780" y="0"/>
            <a:ext cx="12047220" cy="658749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noFill/>
          </a:ln>
        </p:spPr>
        <p:txBody>
          <a:bodyPr wrap="square">
            <a:spAutoFit/>
          </a:bodyPr>
          <a:lstStyle/>
          <a:p>
            <a:pPr lvl="0"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sponsor</a:t>
            </a:r>
            <a:r>
              <a:rPr lang="en-US" altLang="zh-CN" sz="32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赞助者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赞助商；为慈善活动捐款的人</a:t>
            </a:r>
          </a:p>
          <a:p>
            <a:pPr lvl="0" indent="-71945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I’m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collecting/seeking/attracting sponsors for next week’s charity run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lvl="0" indent="-71945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为下周的慈善义跑征集赞助商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捐款者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lvl="0" indent="-719455" fontAlgn="auto">
              <a:lnSpc>
                <a:spcPct val="120000"/>
              </a:lnSpc>
            </a:pPr>
            <a:r>
              <a:rPr lang="zh-CN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语境应用</a:t>
            </a:r>
            <a:r>
              <a:rPr lang="zh-CN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</a:p>
          <a:p>
            <a:pPr lvl="0" indent="-7194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我们老板决定赞助冠军联赛，将其作为社区工作的一部分。</a:t>
            </a:r>
          </a:p>
          <a:p>
            <a:pPr lvl="0" indent="-7194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Our boss decided to sponsor the championships as part of our community work.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你们能赞助我开展我校的“帮助老年人”活动吗？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Could you sponsor me for my school’s campaign for “Help the Aged”?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551555" y="1187450"/>
            <a:ext cx="76790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sponsorship 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资助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in need of sponsorship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3750" y="822681"/>
            <a:ext cx="1101646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358775" indent="-358775"/>
            <a:r>
              <a:rPr lang="en-US" altLang="zh-CN" dirty="0">
                <a:solidFill>
                  <a:prstClr val="black"/>
                </a:solidFill>
              </a:rPr>
              <a:t>7. Some films are now sponsored by leading brands, </a:t>
            </a:r>
            <a:r>
              <a:rPr lang="en-US" altLang="zh-CN" dirty="0">
                <a:solidFill>
                  <a:srgbClr val="FF0000"/>
                </a:solidFill>
              </a:rPr>
              <a:t>so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that</a:t>
            </a:r>
            <a:r>
              <a:rPr lang="en-US" altLang="zh-CN" dirty="0">
                <a:solidFill>
                  <a:prstClr val="black"/>
                </a:solidFill>
              </a:rPr>
              <a:t> only their products appear in the film, like the </a:t>
            </a:r>
            <a:r>
              <a:rPr lang="en-US" altLang="zh-CN" dirty="0">
                <a:solidFill>
                  <a:srgbClr val="FF0000"/>
                </a:solidFill>
              </a:rPr>
              <a:t>watches</a:t>
            </a:r>
            <a:r>
              <a:rPr lang="en-US" altLang="zh-CN" dirty="0">
                <a:solidFill>
                  <a:prstClr val="black"/>
                </a:solidFill>
              </a:rPr>
              <a:t> worn by the title character in James Bond films. </a:t>
            </a:r>
          </a:p>
        </p:txBody>
      </p:sp>
      <p:sp>
        <p:nvSpPr>
          <p:cNvPr id="2" name="矩形 1"/>
          <p:cNvSpPr/>
          <p:nvPr/>
        </p:nvSpPr>
        <p:spPr>
          <a:xfrm>
            <a:off x="744636" y="2806083"/>
            <a:ext cx="10721327" cy="2453640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分析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本句是主从复合句。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that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在此引导状语从句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；动词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-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ed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形式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worn by the title character in James Bond films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作后置定语，修饰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watches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2635" cy="6755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-358775" fontAlgn="auto">
              <a:lnSpc>
                <a:spcPct val="112000"/>
              </a:lnSpc>
            </a:pPr>
            <a:r>
              <a:rPr lang="en-US" altLang="zh-CN" sz="3000" dirty="0"/>
              <a:t>We </a:t>
            </a:r>
            <a:r>
              <a:rPr lang="en-US" altLang="zh-CN" sz="3000" dirty="0">
                <a:solidFill>
                  <a:srgbClr val="FF0000"/>
                </a:solidFill>
              </a:rPr>
              <a:t>absorb these marketing messages </a:t>
            </a:r>
            <a:r>
              <a:rPr lang="en-US" altLang="zh-CN" sz="3000" dirty="0"/>
              <a:t>without thinking about them too much, yet they probably have an effect on us </a:t>
            </a:r>
            <a:r>
              <a:rPr lang="en-US" altLang="zh-CN" sz="3000" dirty="0">
                <a:solidFill>
                  <a:srgbClr val="FF0000"/>
                </a:solidFill>
              </a:rPr>
              <a:t>the next time</a:t>
            </a:r>
            <a:r>
              <a:rPr lang="en-US" altLang="zh-CN" sz="3000" dirty="0"/>
              <a:t> we go shopping.</a:t>
            </a:r>
          </a:p>
          <a:p>
            <a:pPr marL="0" indent="-358775" fontAlgn="auto">
              <a:lnSpc>
                <a:spcPct val="112000"/>
              </a:lnSpc>
            </a:pPr>
            <a:r>
              <a:rPr lang="zh-CN" altLang="en-US" sz="3000" dirty="0"/>
              <a:t>我们在获取这些营销信息时并不会想太多，然而在我们下次购物时，它们将可能对我们产生影响。</a:t>
            </a:r>
            <a:endParaRPr lang="en-US" altLang="zh-CN" sz="3000" dirty="0"/>
          </a:p>
          <a:p>
            <a:pPr marL="0" indent="0">
              <a:lnSpc>
                <a:spcPct val="110000"/>
              </a:lnSpc>
            </a:pPr>
            <a:r>
              <a:rPr lang="en-US" altLang="zh-CN" sz="3000" dirty="0">
                <a:solidFill>
                  <a:srgbClr val="FF0000"/>
                </a:solidFill>
                <a:sym typeface="+mn-ea"/>
              </a:rPr>
              <a:t>absorb </a:t>
            </a:r>
            <a:r>
              <a:rPr lang="en-US" altLang="zh-CN" sz="3000" i="1" dirty="0" err="1">
                <a:solidFill>
                  <a:srgbClr val="FF0000"/>
                </a:solidFill>
                <a:sym typeface="+mn-ea"/>
              </a:rPr>
              <a:t>vt</a:t>
            </a:r>
            <a:r>
              <a:rPr lang="en-US" altLang="zh-CN" sz="3000" dirty="0" err="1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30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 1)</a:t>
            </a:r>
            <a:r>
              <a:rPr lang="en-US" altLang="zh-CN" sz="30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000" i="1" dirty="0">
                <a:sym typeface="+mn-ea"/>
              </a:rPr>
              <a:t>to take </a:t>
            </a:r>
            <a:r>
              <a:rPr lang="en-US" altLang="zh-CN" sz="3000" i="1" dirty="0" err="1">
                <a:sym typeface="+mn-ea"/>
              </a:rPr>
              <a:t>sth</a:t>
            </a:r>
            <a:r>
              <a:rPr lang="en-US" altLang="zh-CN" sz="3000" i="1" dirty="0">
                <a:sym typeface="+mn-ea"/>
              </a:rPr>
              <a:t>. into the mind </a:t>
            </a:r>
            <a:r>
              <a:rPr lang="en-US" altLang="zh-CN" sz="3000" i="1" dirty="0">
                <a:solidFill>
                  <a:srgbClr val="0000FF"/>
                </a:solidFill>
                <a:sym typeface="+mn-ea"/>
              </a:rPr>
              <a:t>(take in)</a:t>
            </a:r>
          </a:p>
          <a:p>
            <a:pPr marL="0" indent="0">
              <a:lnSpc>
                <a:spcPct val="110000"/>
              </a:lnSpc>
            </a:pP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It's a lot of </a:t>
            </a:r>
            <a:r>
              <a:rPr lang="en-US" altLang="zh-CN" sz="3000" dirty="0">
                <a:solidFill>
                  <a:srgbClr val="FF0000"/>
                </a:solidFill>
                <a:sym typeface="+mn-ea"/>
              </a:rPr>
              <a:t>information </a:t>
            </a: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to </a:t>
            </a:r>
            <a:r>
              <a:rPr lang="en-US" altLang="zh-CN" sz="3000" dirty="0">
                <a:solidFill>
                  <a:srgbClr val="FF0000"/>
                </a:solidFill>
                <a:sym typeface="+mn-ea"/>
              </a:rPr>
              <a:t>absorb </a:t>
            </a: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all at once. </a:t>
            </a:r>
            <a:r>
              <a:rPr lang="zh-CN" altLang="en-US" sz="3000" dirty="0">
                <a:solidFill>
                  <a:schemeClr val="tx1"/>
                </a:solidFill>
                <a:sym typeface="+mn-ea"/>
              </a:rPr>
              <a:t>消化，吸收，掌握</a:t>
            </a:r>
          </a:p>
          <a:p>
            <a:pPr marL="0" indent="0">
              <a:lnSpc>
                <a:spcPct val="110000"/>
              </a:lnSpc>
            </a:pP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2) </a:t>
            </a:r>
            <a:r>
              <a:rPr lang="en-US" altLang="zh-CN" sz="3000" i="1" dirty="0">
                <a:sym typeface="+mn-ea"/>
              </a:rPr>
              <a:t>ake in a liquid, gas, heat, light, enegry </a:t>
            </a:r>
            <a:r>
              <a:rPr lang="zh-CN" altLang="en-US" sz="3000" dirty="0">
                <a:sym typeface="+mn-ea"/>
              </a:rPr>
              <a:t>吸收</a:t>
            </a:r>
            <a:endParaRPr lang="en-US" altLang="zh-CN" sz="3000" dirty="0">
              <a:solidFill>
                <a:schemeClr val="tx1"/>
              </a:solidFill>
              <a:sym typeface="+mn-ea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Plants </a:t>
            </a:r>
            <a:r>
              <a:rPr lang="en-US" altLang="zh-CN" sz="3000" dirty="0">
                <a:solidFill>
                  <a:srgbClr val="FF0000"/>
                </a:solidFill>
                <a:sym typeface="+mn-ea"/>
              </a:rPr>
              <a:t>absorb carbon dioxide from</a:t>
            </a: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 the air.</a:t>
            </a:r>
          </a:p>
          <a:p>
            <a:pPr marL="0" indent="0">
              <a:lnSpc>
                <a:spcPct val="110000"/>
              </a:lnSpc>
            </a:pP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The cream</a:t>
            </a:r>
            <a:r>
              <a:rPr lang="en-US" altLang="zh-CN" sz="3000" u="sng" dirty="0">
                <a:solidFill>
                  <a:srgbClr val="FF0000"/>
                </a:solidFill>
                <a:sym typeface="+mn-ea"/>
              </a:rPr>
              <a:t> is easily absorbed into</a:t>
            </a: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 the skin. 这种乳霜皮肤易吸收。</a:t>
            </a:r>
          </a:p>
          <a:p>
            <a:pPr marL="0" indent="0">
              <a:lnSpc>
                <a:spcPct val="110000"/>
              </a:lnSpc>
            </a:pPr>
            <a:r>
              <a:rPr lang="en-US" altLang="zh-CN" sz="3000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3)</a:t>
            </a:r>
            <a:r>
              <a:rPr lang="en-US" altLang="zh-CN" sz="3000" i="1" dirty="0">
                <a:sym typeface="+mn-ea"/>
              </a:rPr>
              <a:t> to interest sb. very much </a:t>
            </a:r>
            <a:r>
              <a:rPr lang="zh-CN" altLang="en-US" sz="3000" dirty="0">
                <a:solidFill>
                  <a:schemeClr val="tx1"/>
                </a:solidFill>
                <a:sym typeface="+mn-ea"/>
              </a:rPr>
              <a:t>吸引全部注意力</a:t>
            </a:r>
            <a:r>
              <a:rPr lang="en-US" altLang="zh-CN" sz="3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3000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(engross)</a:t>
            </a:r>
            <a:endParaRPr lang="en-US" altLang="zh-CN" sz="3000" dirty="0">
              <a:solidFill>
                <a:srgbClr val="FF0000"/>
              </a:solidFill>
            </a:endParaRPr>
          </a:p>
          <a:p>
            <a:pPr marL="0" indent="-358775" fontAlgn="auto">
              <a:lnSpc>
                <a:spcPct val="112000"/>
              </a:lnSpc>
            </a:pPr>
            <a:r>
              <a:rPr lang="en-US" altLang="zh-CN" sz="3000" dirty="0">
                <a:solidFill>
                  <a:srgbClr val="FF0000"/>
                </a:solidFill>
              </a:rPr>
              <a:t>This work had absorbed him</a:t>
            </a:r>
            <a:r>
              <a:rPr lang="en-US" altLang="zh-CN" sz="3000" dirty="0"/>
              <a:t> for several years.</a:t>
            </a:r>
          </a:p>
          <a:p>
            <a:pPr marL="0" indent="-358775" fontAlgn="auto">
              <a:lnSpc>
                <a:spcPct val="112000"/>
              </a:lnSpc>
            </a:pPr>
            <a:r>
              <a:rPr lang="en-US" altLang="zh-CN" sz="3000" dirty="0"/>
              <a:t>这项工作曾使他沉迷了好几年。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2240"/>
            <a:ext cx="12191365" cy="658749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noFill/>
          </a:ln>
        </p:spPr>
        <p:txBody>
          <a:bodyPr wrap="square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absorbed in ...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专注于，被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吸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引住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Simon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was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so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absorbed in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his book that he didn't notice me come in. 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_____________________, Simon didn't notice me come in.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teachers worked out a game that kept the children _________ (absorb) all afternoon.</a:t>
            </a:r>
          </a:p>
          <a:p>
            <a:pPr indent="-44450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absorbing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an absorbing book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一本引人入胜的书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absor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吸收；并入；全神贯注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work suffered because of his total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_________________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专注于体育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19691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Absorbed in his book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9692640" y="25527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absorbed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765925" y="54076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absorption in sport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74558" y="855994"/>
            <a:ext cx="10607842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zh-CN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zh-CN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根据括号内的汉语提示补全下面句子（每空一词）。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The clever boy ________ ________ ________ 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掌握了所有知识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his teachers could give him.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He ________ _________ 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正全神贯注于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the study of space medicine.</a:t>
            </a:r>
          </a:p>
        </p:txBody>
      </p:sp>
      <p:sp>
        <p:nvSpPr>
          <p:cNvPr id="2" name="矩形 1"/>
          <p:cNvSpPr/>
          <p:nvPr/>
        </p:nvSpPr>
        <p:spPr>
          <a:xfrm>
            <a:off x="4093028" y="2063820"/>
            <a:ext cx="7347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absorbed    all               the       knowledge    </a:t>
            </a:r>
          </a:p>
        </p:txBody>
      </p:sp>
      <p:sp>
        <p:nvSpPr>
          <p:cNvPr id="3" name="矩形 2"/>
          <p:cNvSpPr/>
          <p:nvPr/>
        </p:nvSpPr>
        <p:spPr>
          <a:xfrm>
            <a:off x="2286332" y="3245470"/>
            <a:ext cx="45736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            absorbed       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2240"/>
            <a:ext cx="12191365" cy="658749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noFill/>
          </a:ln>
        </p:spPr>
        <p:txBody>
          <a:bodyPr wrap="square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offer a 10% discount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提供某商品九折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were selling everything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a discount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discount store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一家折扣店</a:t>
            </a:r>
          </a:p>
          <a:p>
            <a:pPr indent="-44450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discount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认为……不重要，认为……不值得考虑，低估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cannot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discount the possibility of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further strikes.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我们不能低估再次发生罢工的可能性。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news reports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were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discounted as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propaganda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宣传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人们认为这些新闻报道不过是为了宣传，不可全信。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Students can get discounted prices/fares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打折价／票价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2240"/>
            <a:ext cx="12191365" cy="599694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noFill/>
          </a:ln>
        </p:spPr>
        <p:txBody>
          <a:bodyPr wrap="square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tailor v.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专门制作，定做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Special programmes of study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are tailored to/for the needs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specific groups. 为满足...的需要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而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特制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Most travel agents are prepared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tailor travel arrangements to meet individual requirements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了满足个人需求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定制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旅游安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排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tailor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裁缝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at the tailor’s</a:t>
            </a:r>
          </a:p>
          <a:p>
            <a:pPr indent="-44450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tailored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定做的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tailored car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tailor-made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a tailor-made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6210" y="3159760"/>
            <a:ext cx="11548110" cy="681990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dirty="0">
                <a:solidFill>
                  <a:prstClr val="black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Not only</a:t>
            </a:r>
            <a:r>
              <a:rPr lang="zh-CN" altLang="en-US" dirty="0">
                <a:solidFill>
                  <a:srgbClr val="FF0000"/>
                </a:solidFill>
              </a:rPr>
              <a:t>放在句首</a:t>
            </a:r>
            <a:r>
              <a:rPr lang="zh-CN" altLang="en-US" dirty="0">
                <a:solidFill>
                  <a:prstClr val="black"/>
                </a:solidFill>
              </a:rPr>
              <a:t>引起句子</a:t>
            </a:r>
            <a:r>
              <a:rPr lang="zh-CN" altLang="en-US" dirty="0">
                <a:solidFill>
                  <a:srgbClr val="FF0000"/>
                </a:solidFill>
              </a:rPr>
              <a:t>部分倒装</a:t>
            </a:r>
            <a:r>
              <a:rPr lang="zh-CN" altLang="en-US" dirty="0">
                <a:solidFill>
                  <a:prstClr val="black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 only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will this make them feel more valued and enable them to see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things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they are most interested in,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but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it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also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help companies target their customers efficiently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have a positive effect on sales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/>
                <a:cs typeface="Times New Roman" panose="02020503050405090304" pitchFamily="18" charset="0"/>
                <a:sym typeface="+mn-ea"/>
              </a:rPr>
              <a:t>这不仅会让他们感到更有价值，让他们看到自己最感兴趣的东西，而且也会帮助公司更有效地锁定客户，对销售产生积极的影响。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56338" y="3888356"/>
            <a:ext cx="11017489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 marL="174625" indent="-174625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新教材不仅更新了，而且能满足不同层次学生的需求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(tailor)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marL="174625" indent="-174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Not only are the new textbooks updated, but they are also tailored to the needs of students from various backgrounds.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2240"/>
            <a:ext cx="12191365" cy="658749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noFill/>
          </a:ln>
        </p:spPr>
        <p:txBody>
          <a:bodyPr wrap="square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amuse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make sb lauge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逗笑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amuse oneself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自娱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amused by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被……逗乐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an amusing story/game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amusement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the feeling that you have when sth is funny or amusing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可笑；愉悦；娱乐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stopped and watched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 amusement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see the child so absorbed.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他停下来，饶有兴趣地看着孩子如此投入。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my amusement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he couldn't get the door open.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使我感到好笑的是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traditional seaside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amusements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including boats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and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go-karts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传统海滨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娱乐活动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233545" y="12998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逗人笑的故事／游戏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195570" y="2216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entertain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2974</Words>
  <Application>Microsoft Macintosh PowerPoint</Application>
  <PresentationFormat>Widescreen</PresentationFormat>
  <Paragraphs>305</Paragraphs>
  <Slides>33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等线</vt:lpstr>
      <vt:lpstr>等线 Light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Office 主题​​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30</cp:revision>
  <dcterms:created xsi:type="dcterms:W3CDTF">2024-10-14T02:01:48Z</dcterms:created>
  <dcterms:modified xsi:type="dcterms:W3CDTF">2026-07-23T01:03:58Z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C160A5B1920B43E72C370267D4552C85_42</vt:lpwstr>
  </property>
  <property fmtid="{D5CDD505-2E9C-101B-9397-08002B2CF9AE}" pid="3" name="KSOProductBuildVer">
    <vt:lpwstr>1033-6.11.0.8885</vt:lpwstr>
  </property>
</Properties>
</file>