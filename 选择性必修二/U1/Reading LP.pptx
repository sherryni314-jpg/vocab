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2.xml" ContentType="application/vnd.openxmlformats-officedocument.presentationml.tags+xml"/>
  <Override PartName="/ppt/tags/tag3.xml" ContentType="application/vnd.openxmlformats-officedocument.presentationml.tags+xml"/>
  <Override PartName="/ppt/theme/themeOverride1.xml" ContentType="application/vnd.openxmlformats-officedocument.themeOverride+xml"/>
  <Override PartName="/ppt/tags/tag4.xml" ContentType="application/vnd.openxmlformats-officedocument.presentationml.tags+xml"/>
  <Override PartName="/ppt/notesSlides/notesSlide4.xml" ContentType="application/vnd.openxmlformats-officedocument.presentationml.notesSlide+xml"/>
  <Override PartName="/ppt/theme/themeOverride2.xml" ContentType="application/vnd.openxmlformats-officedocument.themeOverride+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notesSlides/notesSlide5.xml" ContentType="application/vnd.openxmlformats-officedocument.presentationml.notesSlide+xml"/>
  <Override PartName="/ppt/notesSlides/notesSlide6.xml" ContentType="application/vnd.openxmlformats-officedocument.presentationml.notesSl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theme/themeOverride9.xml" ContentType="application/vnd.openxmlformats-officedocument.themeOverride+xml"/>
  <Override PartName="/ppt/theme/themeOverride10.xml" ContentType="application/vnd.openxmlformats-officedocument.themeOverr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ags/tag8.xml" ContentType="application/vnd.openxmlformats-officedocument.presentationml.tags+xml"/>
  <Override PartName="/ppt/notesSlides/notesSlide12.xml" ContentType="application/vnd.openxmlformats-officedocument.presentationml.notesSlide+xml"/>
  <Override PartName="/ppt/theme/themeOverride14.xml" ContentType="application/vnd.openxmlformats-officedocument.themeOverride+xml"/>
  <Override PartName="/ppt/notesSlides/notesSlide13.xml" ContentType="application/vnd.openxmlformats-officedocument.presentationml.notesSlide+xml"/>
  <Override PartName="/ppt/theme/themeOverride15.xml" ContentType="application/vnd.openxmlformats-officedocument.themeOverride+xml"/>
  <Override PartName="/ppt/theme/themeOverride16.xml" ContentType="application/vnd.openxmlformats-officedocument.themeOverride+xml"/>
  <Override PartName="/ppt/theme/themeOverride17.xml" ContentType="application/vnd.openxmlformats-officedocument.themeOverride+xml"/>
  <Override PartName="/ppt/theme/themeOverride18.xml" ContentType="application/vnd.openxmlformats-officedocument.themeOverride+xml"/>
  <Override PartName="/ppt/notesSlides/notesSlide14.xml" ContentType="application/vnd.openxmlformats-officedocument.presentationml.notesSlide+xml"/>
  <Override PartName="/ppt/theme/themeOverride19.xml" ContentType="application/vnd.openxmlformats-officedocument.themeOverride+xml"/>
  <Override PartName="/ppt/theme/themeOverride20.xml" ContentType="application/vnd.openxmlformats-officedocument.themeOverride+xml"/>
  <Override PartName="/ppt/theme/themeOverride21.xml" ContentType="application/vnd.openxmlformats-officedocument.themeOverride+xml"/>
  <Override PartName="/ppt/notesSlides/notesSlide15.xml" ContentType="application/vnd.openxmlformats-officedocument.presentationml.notesSlide+xml"/>
  <Override PartName="/ppt/theme/themeOverride22.xml" ContentType="application/vnd.openxmlformats-officedocument.themeOverride+xml"/>
  <Override PartName="/ppt/notesSlides/notesSlide16.xml" ContentType="application/vnd.openxmlformats-officedocument.presentationml.notesSlide+xml"/>
  <Override PartName="/ppt/tags/tag9.xml" ContentType="application/vnd.openxmlformats-officedocument.presentationml.tags+xml"/>
  <Override PartName="/ppt/tags/tag10.xml" ContentType="application/vnd.openxmlformats-officedocument.presentationml.tags+xml"/>
  <Override PartName="/ppt/notesSlides/notesSlide17.xml" ContentType="application/vnd.openxmlformats-officedocument.presentationml.notesSlide+xml"/>
  <Override PartName="/ppt/theme/themeOverride23.xml" ContentType="application/vnd.openxmlformats-officedocument.themeOverride+xml"/>
  <Override PartName="/ppt/theme/themeOverride24.xml" ContentType="application/vnd.openxmlformats-officedocument.themeOverride+xml"/>
  <Override PartName="/ppt/notesSlides/notesSlide18.xml" ContentType="application/vnd.openxmlformats-officedocument.presentationml.notesSlide+xml"/>
  <Override PartName="/ppt/theme/themeOverride25.xml" ContentType="application/vnd.openxmlformats-officedocument.themeOverride+xml"/>
  <Override PartName="/ppt/theme/themeOverride26.xml" ContentType="application/vnd.openxmlformats-officedocument.themeOverr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theme/themeOverride27.xml" ContentType="application/vnd.openxmlformats-officedocument.themeOverride+xml"/>
  <Override PartName="/ppt/tags/tag11.xml" ContentType="application/vnd.openxmlformats-officedocument.presentationml.tags+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51"/>
  </p:notesMasterIdLst>
  <p:sldIdLst>
    <p:sldId id="374" r:id="rId2"/>
    <p:sldId id="479" r:id="rId3"/>
    <p:sldId id="407" r:id="rId4"/>
    <p:sldId id="480" r:id="rId5"/>
    <p:sldId id="408" r:id="rId6"/>
    <p:sldId id="409" r:id="rId7"/>
    <p:sldId id="435" r:id="rId8"/>
    <p:sldId id="569" r:id="rId9"/>
    <p:sldId id="410" r:id="rId10"/>
    <p:sldId id="411" r:id="rId11"/>
    <p:sldId id="414" r:id="rId12"/>
    <p:sldId id="525" r:id="rId13"/>
    <p:sldId id="526" r:id="rId14"/>
    <p:sldId id="415" r:id="rId15"/>
    <p:sldId id="417" r:id="rId16"/>
    <p:sldId id="527" r:id="rId17"/>
    <p:sldId id="528" r:id="rId18"/>
    <p:sldId id="529" r:id="rId19"/>
    <p:sldId id="418" r:id="rId20"/>
    <p:sldId id="530" r:id="rId21"/>
    <p:sldId id="391" r:id="rId22"/>
    <p:sldId id="392" r:id="rId23"/>
    <p:sldId id="531" r:id="rId24"/>
    <p:sldId id="532" r:id="rId25"/>
    <p:sldId id="533" r:id="rId26"/>
    <p:sldId id="570" r:id="rId27"/>
    <p:sldId id="358" r:id="rId28"/>
    <p:sldId id="394" r:id="rId29"/>
    <p:sldId id="395" r:id="rId30"/>
    <p:sldId id="571" r:id="rId31"/>
    <p:sldId id="421" r:id="rId32"/>
    <p:sldId id="572" r:id="rId33"/>
    <p:sldId id="422" r:id="rId34"/>
    <p:sldId id="397" r:id="rId35"/>
    <p:sldId id="423" r:id="rId36"/>
    <p:sldId id="617" r:id="rId37"/>
    <p:sldId id="382" r:id="rId38"/>
    <p:sldId id="398" r:id="rId39"/>
    <p:sldId id="361" r:id="rId40"/>
    <p:sldId id="425" r:id="rId41"/>
    <p:sldId id="426" r:id="rId42"/>
    <p:sldId id="364" r:id="rId43"/>
    <p:sldId id="427" r:id="rId44"/>
    <p:sldId id="573" r:id="rId45"/>
    <p:sldId id="366" r:id="rId46"/>
    <p:sldId id="428" r:id="rId47"/>
    <p:sldId id="611" r:id="rId48"/>
    <p:sldId id="367" r:id="rId49"/>
    <p:sldId id="612" r:id="rId50"/>
  </p:sldIdLst>
  <p:sldSz cx="12192000" cy="6858000"/>
  <p:notesSz cx="6858000" cy="9144000"/>
  <p:custDataLst>
    <p:tags r:id="rId52"/>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a:srgbClr val="9966FF"/>
    <a:srgbClr val="E6F1FE"/>
    <a:srgbClr val="E3FCFD"/>
    <a:srgbClr val="FEFAEE"/>
    <a:srgbClr val="E98E3A"/>
    <a:srgbClr val="B1CAAE"/>
    <a:srgbClr val="FFFFCC"/>
    <a:srgbClr val="3B76C4"/>
    <a:srgbClr val="0A74F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991" autoAdjust="0"/>
    <p:restoredTop sz="94660"/>
  </p:normalViewPr>
  <p:slideViewPr>
    <p:cSldViewPr snapToGrid="0">
      <p:cViewPr varScale="1">
        <p:scale>
          <a:sx n="109" d="100"/>
          <a:sy n="109" d="100"/>
        </p:scale>
        <p:origin x="496"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ags" Target="tags/tag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t>7/23/26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of vital/crucial/critical/decisive importance</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crucial</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 be particular about</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be said/though/believed/reported/know + to have done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be said/though/believed/reported/know + to have done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zh-CN" b="1" dirty="0">
                <a:latin typeface="+mj-lt"/>
                <a:sym typeface="+mn-ea"/>
              </a:rPr>
              <a:t>家长经常</a:t>
            </a:r>
            <a:r>
              <a:rPr lang="en-US" altLang="zh-CN" b="1" u="sng" dirty="0">
                <a:latin typeface="+mj-lt"/>
                <a:sym typeface="+mn-ea"/>
              </a:rPr>
              <a:t>陷入</a:t>
            </a:r>
            <a:r>
              <a:rPr lang="en-US" altLang="zh-CN" b="1" dirty="0">
                <a:latin typeface="+mj-lt"/>
                <a:sym typeface="+mn-ea"/>
              </a:rPr>
              <a:t>极力为子女操办一切</a:t>
            </a:r>
            <a:r>
              <a:rPr lang="en-US" altLang="zh-CN" b="1" u="sng" dirty="0">
                <a:latin typeface="+mj-lt"/>
                <a:sym typeface="+mn-ea"/>
              </a:rPr>
              <a:t>的误区</a:t>
            </a:r>
            <a:r>
              <a:rPr lang="en-US" altLang="zh-CN" b="1" dirty="0">
                <a:latin typeface="+mj-lt"/>
                <a:sym typeface="+mn-ea"/>
              </a:rPr>
              <a:t>。</a:t>
            </a:r>
          </a:p>
          <a:p>
            <a:endParaRPr lang="en-US" altLang="zh-CN" b="1" dirty="0">
              <a:latin typeface="+mj-lt"/>
              <a:sym typeface="+mn-ea"/>
            </a:endParaRPr>
          </a:p>
          <a:p>
            <a:pPr lvl="0" eaLnBrk="0" fontAlgn="base" hangingPunct="0">
              <a:lnSpc>
                <a:spcPct val="120000"/>
              </a:lnSpc>
              <a:spcBef>
                <a:spcPct val="0"/>
              </a:spcBef>
              <a:spcAft>
                <a:spcPct val="0"/>
              </a:spcAft>
            </a:pPr>
            <a:r>
              <a:rPr lang="en-US" altLang="zh-CN" b="1" dirty="0">
                <a:solidFill>
                  <a:srgbClr val="000000"/>
                </a:solidFill>
                <a:ea typeface="宋体" pitchFamily="2" charset="-122"/>
                <a:cs typeface="Times New Roman" panose="02020503050405090304" pitchFamily="18" charset="0"/>
                <a:sym typeface="+mn-ea"/>
              </a:rPr>
              <a:t> </a:t>
            </a:r>
            <a:r>
              <a:rPr lang="en-US" altLang="zh-CN" b="1" dirty="0">
                <a:solidFill>
                  <a:srgbClr val="FF0000"/>
                </a:solidFill>
                <a:ea typeface="宋体" pitchFamily="2" charset="-122"/>
                <a:cs typeface="Times New Roman" panose="02020503050405090304" pitchFamily="18" charset="0"/>
                <a:sym typeface="+mn-ea"/>
              </a:rPr>
              <a:t>people caught in the unemployment trap</a:t>
            </a:r>
            <a:endParaRPr lang="en-US" altLang="zh-CN" b="1" dirty="0">
              <a:solidFill>
                <a:srgbClr val="FF0000"/>
              </a:solidFill>
              <a:ea typeface="宋体" pitchFamily="2" charset="-122"/>
              <a:cs typeface="Times New Roman" panose="02020503050405090304" pitchFamily="18" charset="0"/>
            </a:endParaRPr>
          </a:p>
          <a:p>
            <a:pPr lvl="0" eaLnBrk="0" fontAlgn="base" hangingPunct="0">
              <a:lnSpc>
                <a:spcPct val="120000"/>
              </a:lnSpc>
              <a:spcBef>
                <a:spcPct val="0"/>
              </a:spcBef>
              <a:spcAft>
                <a:spcPct val="0"/>
              </a:spcAft>
            </a:pPr>
            <a:r>
              <a:rPr lang="en-US" altLang="zh-CN" b="1" dirty="0">
                <a:solidFill>
                  <a:srgbClr val="000000"/>
                </a:solidFill>
                <a:ea typeface="宋体" pitchFamily="2" charset="-122"/>
                <a:cs typeface="Times New Roman" panose="02020503050405090304" pitchFamily="18" charset="0"/>
                <a:sym typeface="+mn-ea"/>
              </a:rPr>
              <a:t> </a:t>
            </a:r>
            <a:r>
              <a:rPr lang="zh-CN" altLang="en-US" b="1" dirty="0">
                <a:solidFill>
                  <a:srgbClr val="000000"/>
                </a:solidFill>
                <a:ea typeface="宋体" pitchFamily="2" charset="-122"/>
                <a:cs typeface="Times New Roman" panose="02020503050405090304" pitchFamily="18" charset="0"/>
                <a:sym typeface="+mn-ea"/>
              </a:rPr>
              <a:t>陷入失业困境中的人们</a:t>
            </a:r>
            <a:endParaRPr lang="en-US" altLang="zh-CN" b="1" dirty="0">
              <a:solidFill>
                <a:srgbClr val="000000"/>
              </a:solidFill>
              <a:ea typeface="宋体" pitchFamily="2" charset="-122"/>
              <a:cs typeface="Times New Roman" panose="02020503050405090304" pitchFamily="18" charset="0"/>
            </a:endParaRPr>
          </a:p>
          <a:p>
            <a:endParaRPr lang="en-US" altLang="zh-CN" b="1" dirty="0">
              <a:latin typeface="+mj-lt"/>
            </a:endParaRPr>
          </a:p>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ltLang="zh-CN" b="1" dirty="0">
                <a:cs typeface="Times New Roman" panose="02020503050405090304" pitchFamily="18" charset="0"/>
                <a:sym typeface="+mn-ea"/>
              </a:rPr>
              <a:t>新技术向发展中国家的传播</a:t>
            </a:r>
            <a:endParaRPr lang="en-US" altLang="zh-CN" b="1" dirty="0">
              <a:solidFill>
                <a:schemeClr val="tx1"/>
              </a:solidFill>
              <a:cs typeface="Times New Roman" panose="02020503050405090304" pitchFamily="18" charset="0"/>
            </a:endParaRPr>
          </a:p>
          <a:p>
            <a:r>
              <a:rPr lang="en-US" altLang="zh-CN" b="1" dirty="0">
                <a:cs typeface="Times New Roman" panose="02020503050405090304" pitchFamily="18" charset="0"/>
                <a:sym typeface="+mn-ea"/>
              </a:rPr>
              <a:t>她在事故中受了重伤。suffer extensive injuries</a:t>
            </a:r>
            <a:endParaRPr lang="en-US" altLang="zh-CN" b="1" dirty="0">
              <a:solidFill>
                <a:schemeClr val="tx1"/>
              </a:solidFill>
              <a:cs typeface="Times New Roman" panose="02020503050405090304" pitchFamily="18" charset="0"/>
            </a:endParaRPr>
          </a:p>
          <a:p>
            <a:r>
              <a:rPr lang="en-US" altLang="zh-CN" b="1" dirty="0">
                <a:cs typeface="Times New Roman" panose="02020503050405090304" pitchFamily="18" charset="0"/>
                <a:sym typeface="+mn-ea"/>
              </a:rPr>
              <a:t>大规模的修缮工作正在进行。extensive repair work</a:t>
            </a:r>
            <a:endParaRPr lang="en-US" altLang="zh-CN" b="1" dirty="0">
              <a:solidFill>
                <a:schemeClr val="tx1"/>
              </a:solidFill>
              <a:cs typeface="Times New Roman" panose="02020503050405090304" pitchFamily="18" charset="0"/>
            </a:endParaRPr>
          </a:p>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Several of the members have come up with suggestions of their own.</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Several of the members have come up with suggestions of their own.</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contradiction n. </a:t>
            </a:r>
          </a:p>
          <a:p>
            <a:r>
              <a:rPr lang="en-US"/>
              <a:t>There is a contradiction between the two sets of figures.</a:t>
            </a:r>
          </a:p>
          <a:p>
            <a:r>
              <a:rPr lang="en-US"/>
              <a:t>这两组数据相互矛盾。</a:t>
            </a:r>
          </a:p>
          <a:p>
            <a:r>
              <a:rPr lang="en-US"/>
              <a:t>🔊🔊</a:t>
            </a:r>
          </a:p>
          <a:p>
            <a:r>
              <a:rPr lang="en-US"/>
              <a:t>His public speeches are in direct contradiction to his personal lifestyle.</a:t>
            </a:r>
          </a:p>
          <a:p>
            <a:r>
              <a:rPr lang="en-US"/>
              <a:t>他的公开言论与他本人的生活方式恰恰相反。</a:t>
            </a:r>
          </a:p>
          <a:p>
            <a:r>
              <a:rPr lang="en-US"/>
              <a:t>🔊🔊</a:t>
            </a:r>
          </a:p>
          <a:p>
            <a:r>
              <a:rPr lang="en-US"/>
              <a:t>How can we resolve this apparent contradiction?</a:t>
            </a:r>
          </a:p>
          <a:p>
            <a:r>
              <a:rPr lang="en-US"/>
              <a:t>我们怎样才能解决这个明显的矛盾呢？</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in </a:t>
            </a:r>
            <a:r>
              <a:rPr lang="zh-CN" altLang="en-US"/>
              <a:t>在……方面</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completion</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far from satisfactory</a:t>
            </a: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long-awaited</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本届政府致力于扩大家长的教育选择。</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why are so many men scared to commit?</a:t>
            </a: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juggle with sth </a:t>
            </a:r>
            <a:r>
              <a:rPr lang="zh-CN" altLang="en-US"/>
              <a:t>同时应付</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Text Placeholder 2"/>
          <p:cNvSpPr>
            <a:spLocks noGrp="1"/>
          </p:cNvSpPr>
          <p:nvPr>
            <p:ph type="body" idx="3"/>
          </p:nvPr>
        </p:nvSpPr>
        <p:spPr/>
        <p:txBody>
          <a:bodyPr/>
          <a:lstStyle/>
          <a:p>
            <a:r>
              <a:rPr lang="en-US"/>
              <a:t>distinguish right from wrong</a:t>
            </a:r>
          </a:p>
          <a:p>
            <a:pPr lvl="0" indent="0" fontAlgn="auto">
              <a:lnSpc>
                <a:spcPct val="120000"/>
              </a:lnSpc>
            </a:pPr>
            <a:r>
              <a:rPr lang="zh-CN" altLang="en-US" b="1" dirty="0">
                <a:latin typeface="Times New Roman Bold Italic" panose="02020503050405090304" charset="0"/>
                <a:cs typeface="Times New Roman Bold Italic" panose="02020503050405090304" charset="0"/>
                <a:sym typeface="+mn-ea"/>
              </a:rPr>
              <a:t>age/racial/sex/sexual discrimination (= because of sb's age, race or sex)</a:t>
            </a:r>
            <a:endParaRPr lang="zh-CN" altLang="en-US" b="1" dirty="0">
              <a:latin typeface="Times New Roman Bold Italic" panose="02020503050405090304" charset="0"/>
              <a:cs typeface="Times New Roman Bold Italic" panose="02020503050405090304" charset="0"/>
            </a:endParaRPr>
          </a:p>
          <a:p>
            <a:pPr lvl="0" indent="0" fontAlgn="auto">
              <a:lnSpc>
                <a:spcPct val="120000"/>
              </a:lnSpc>
            </a:pPr>
            <a:r>
              <a:rPr lang="zh-CN" altLang="en-US" b="1" dirty="0">
                <a:latin typeface="Times New Roman Bold Italic" panose="02020503050405090304" charset="0"/>
                <a:cs typeface="Times New Roman Bold Italic" panose="02020503050405090304" charset="0"/>
                <a:sym typeface="+mn-ea"/>
              </a:rPr>
              <a:t>年龄／种族／性别歧视</a:t>
            </a:r>
          </a:p>
          <a:p>
            <a:pPr lvl="0" indent="0" fontAlgn="auto">
              <a:lnSpc>
                <a:spcPct val="120000"/>
              </a:lnSpc>
            </a:pPr>
            <a:r>
              <a:rPr lang="en-US" altLang="zh-CN" b="1" dirty="0">
                <a:latin typeface="Times New Roman Bold Italic" panose="02020503050405090304" charset="0"/>
                <a:cs typeface="Times New Roman Bold Italic" panose="02020503050405090304" charset="0"/>
                <a:sym typeface="+mn-ea"/>
              </a:rPr>
              <a:t>show favour to / favour sb</a:t>
            </a:r>
            <a:endParaRPr lang="zh-CN" altLang="en-US" b="1" dirty="0">
              <a:latin typeface="Times New Roman Bold Italic" panose="02020503050405090304" charset="0"/>
              <a:cs typeface="Times New Roman Bold Italic" panose="02020503050405090304" charset="0"/>
            </a:endParaRPr>
          </a:p>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p>
        </p:txBody>
      </p:sp>
      <p:sp>
        <p:nvSpPr>
          <p:cNvPr id="4" name="日期占位符 3"/>
          <p:cNvSpPr>
            <a:spLocks noGrp="1"/>
          </p:cNvSpPr>
          <p:nvPr>
            <p:ph type="dt" sz="half" idx="10"/>
          </p:nvPr>
        </p:nvSpPr>
        <p:spPr/>
        <p:txBody>
          <a:bodyPr/>
          <a:lstStyle/>
          <a:p>
            <a:fld id="{E82CF8D2-1FBB-4566-BAA4-CFEBD45A3143}" type="datetimeFigureOut">
              <a:rPr lang="zh-CN" altLang="en-US" smtClean="0"/>
              <a:t>2026/7/23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E3B083D-B8AC-4346-88EF-1027595E983A}"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82CF8D2-1FBB-4566-BAA4-CFEBD45A3143}" type="datetimeFigureOut">
              <a:rPr lang="zh-CN" altLang="en-US" smtClean="0"/>
              <a:t>2026/7/23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E3B083D-B8AC-4346-88EF-1027595E983A}"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1709738"/>
            <a:ext cx="10515600" cy="2852737"/>
          </a:xfrm>
        </p:spPr>
        <p:txBody>
          <a:bodyPr anchor="b"/>
          <a:lstStyle>
            <a:lvl1pPr>
              <a:defRPr sz="6000"/>
            </a:lvl1pPr>
          </a:lstStyle>
          <a:p>
            <a:r>
              <a:rPr lang="zh-CN" altLang="en-US"/>
              <a:t>单击此处编辑母版标题样式</a:t>
            </a:r>
          </a:p>
        </p:txBody>
      </p:sp>
      <p:sp>
        <p:nvSpPr>
          <p:cNvPr id="3" name="文本占位符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日期占位符 3"/>
          <p:cNvSpPr>
            <a:spLocks noGrp="1"/>
          </p:cNvSpPr>
          <p:nvPr>
            <p:ph type="dt" sz="half" idx="10"/>
          </p:nvPr>
        </p:nvSpPr>
        <p:spPr/>
        <p:txBody>
          <a:bodyPr/>
          <a:lstStyle/>
          <a:p>
            <a:fld id="{E82CF8D2-1FBB-4566-BAA4-CFEBD45A3143}" type="datetimeFigureOut">
              <a:rPr lang="zh-CN" altLang="en-US" smtClean="0"/>
              <a:t>2026/7/23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E3B083D-B8AC-4346-88EF-1027595E983A}"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日期占位符 4"/>
          <p:cNvSpPr>
            <a:spLocks noGrp="1"/>
          </p:cNvSpPr>
          <p:nvPr>
            <p:ph type="dt" sz="half" idx="10"/>
          </p:nvPr>
        </p:nvSpPr>
        <p:spPr/>
        <p:txBody>
          <a:bodyPr/>
          <a:lstStyle/>
          <a:p>
            <a:fld id="{E82CF8D2-1FBB-4566-BAA4-CFEBD45A3143}" type="datetimeFigureOut">
              <a:rPr lang="zh-CN" altLang="en-US" smtClean="0"/>
              <a:t>2026/7/23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E3B083D-B8AC-4346-88EF-1027595E983A}"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7" name="日期占位符 6"/>
          <p:cNvSpPr>
            <a:spLocks noGrp="1"/>
          </p:cNvSpPr>
          <p:nvPr>
            <p:ph type="dt" sz="half" idx="10"/>
          </p:nvPr>
        </p:nvSpPr>
        <p:spPr/>
        <p:txBody>
          <a:bodyPr/>
          <a:lstStyle/>
          <a:p>
            <a:fld id="{E82CF8D2-1FBB-4566-BAA4-CFEBD45A3143}" type="datetimeFigureOut">
              <a:rPr lang="zh-CN" altLang="en-US" smtClean="0"/>
              <a:t>2026/7/23</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E3B083D-B8AC-4346-88EF-1027595E983A}"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p>
            <a:fld id="{E82CF8D2-1FBB-4566-BAA4-CFEBD45A3143}" type="datetimeFigureOut">
              <a:rPr lang="zh-CN" altLang="en-US" smtClean="0"/>
              <a:t>2026/7/23</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E3B083D-B8AC-4346-88EF-1027595E983A}"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bg>
      <p:bgRef idx="1001">
        <a:schemeClr val="bg1"/>
      </p:bgRef>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E82CF8D2-1FBB-4566-BAA4-CFEBD45A3143}" type="datetimeFigureOut">
              <a:rPr lang="zh-CN" altLang="en-US" smtClean="0"/>
              <a:t>2026/7/23</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E3B083D-B8AC-4346-88EF-1027595E983A}" type="slidenum">
              <a:rPr lang="zh-CN" altLang="en-US" smtClean="0"/>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82CF8D2-1FBB-4566-BAA4-CFEBD45A3143}" type="datetimeFigureOut">
              <a:rPr lang="zh-CN" altLang="en-US" smtClean="0"/>
              <a:t>2026/7/23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E3B083D-B8AC-4346-88EF-1027595E983A}"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日期占位符 4"/>
          <p:cNvSpPr>
            <a:spLocks noGrp="1"/>
          </p:cNvSpPr>
          <p:nvPr>
            <p:ph type="dt" sz="half" idx="10"/>
          </p:nvPr>
        </p:nvSpPr>
        <p:spPr/>
        <p:txBody>
          <a:bodyPr/>
          <a:lstStyle/>
          <a:p>
            <a:fld id="{E82CF8D2-1FBB-4566-BAA4-CFEBD45A3143}" type="datetimeFigureOut">
              <a:rPr lang="zh-CN" altLang="en-US" smtClean="0"/>
              <a:t>2026/7/23</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E3B083D-B8AC-4346-88EF-1027595E983A}"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82CF8D2-1FBB-4566-BAA4-CFEBD45A3143}" type="datetimeFigureOut">
              <a:rPr lang="zh-CN" altLang="en-US" smtClean="0"/>
              <a:t>2026/7/23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E3B083D-B8AC-4346-88EF-1027595E983A}"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10"/>
          </p:nvPr>
        </p:nvSpPr>
        <p:spPr/>
        <p:txBody>
          <a:bodyPr/>
          <a:lstStyle/>
          <a:p>
            <a:fld id="{E82CF8D2-1FBB-4566-BAA4-CFEBD45A3143}" type="datetimeFigureOut">
              <a:rPr lang="zh-CN" altLang="en-US" smtClean="0"/>
              <a:t>2026/7/23</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E3B083D-B8AC-4346-88EF-1027595E983A}"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82CF8D2-1FBB-4566-BAA4-CFEBD45A3143}" type="datetimeFigureOut">
              <a:rPr lang="zh-CN" altLang="en-US" smtClean="0"/>
              <a:t>2026/7/23</a:t>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E3B083D-B8AC-4346-88EF-1027595E983A}"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9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9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9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9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3.xml"/><Relationship Id="rId1" Type="http://schemas.openxmlformats.org/officeDocument/2006/relationships/tags" Target="../tags/tag2.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hemeOverride" Target="../theme/themeOverride1.xml"/><Relationship Id="rId4" Type="http://schemas.openxmlformats.org/officeDocument/2006/relationships/notesSlide" Target="../notesSlides/notesSlide4.xml"/></Relationships>
</file>

<file path=ppt/slides/_rels/slide8.xml.rels><?xml version="1.0" encoding="UTF-8" standalone="yes"?>
<Relationships xmlns="http://schemas.openxmlformats.org/package/2006/relationships"><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hemeOverride" Target="../theme/themeOverride2.xml"/><Relationship Id="rId6" Type="http://schemas.openxmlformats.org/officeDocument/2006/relationships/notesSlide" Target="../notesSlides/notesSlide5.xml"/><Relationship Id="rId5" Type="http://schemas.openxmlformats.org/officeDocument/2006/relationships/slideLayout" Target="../slideLayouts/slideLayout2.xml"/><Relationship Id="rId4" Type="http://schemas.openxmlformats.org/officeDocument/2006/relationships/tags" Target="../tags/tag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1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9.xml"/></Relationships>
</file>

<file path=ppt/slides/_rels/slide22.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0.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28.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2.xml"/></Relationships>
</file>

<file path=ppt/slides/_rels/slide2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tags" Target="../tags/tag8.xml"/><Relationship Id="rId1" Type="http://schemas.openxmlformats.org/officeDocument/2006/relationships/themeOverride" Target="../theme/themeOverride13.xml"/><Relationship Id="rId4" Type="http://schemas.openxmlformats.org/officeDocument/2006/relationships/notesSlide" Target="../notesSlides/notesSlide12.xml"/></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themeOverride" Target="../theme/themeOverride14.xml"/></Relationships>
</file>

<file path=ppt/slides/_rels/slide3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5.xml"/></Relationships>
</file>

<file path=ppt/slides/_rels/slide3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6.xml"/></Relationships>
</file>

<file path=ppt/slides/_rels/slide33.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7.xml"/></Relationships>
</file>

<file path=ppt/slides/_rels/slide3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7.xml"/><Relationship Id="rId1" Type="http://schemas.openxmlformats.org/officeDocument/2006/relationships/themeOverride" Target="../theme/themeOverride18.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19.xml"/></Relationships>
</file>

<file path=ppt/slides/_rels/slide3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0.xml"/></Relationships>
</file>

<file path=ppt/slides/_rels/slide38.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7.xml"/><Relationship Id="rId1" Type="http://schemas.openxmlformats.org/officeDocument/2006/relationships/themeOverride" Target="../theme/themeOverride21.xml"/></Relationships>
</file>

<file path=ppt/slides/_rels/slide39.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hemeOverride" Target="../theme/themeOverride2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0.xml"/><Relationship Id="rId1" Type="http://schemas.openxmlformats.org/officeDocument/2006/relationships/tags" Target="../tags/tag9.xml"/><Relationship Id="rId4" Type="http://schemas.openxmlformats.org/officeDocument/2006/relationships/notesSlide" Target="../notesSlides/notesSlide17.xml"/></Relationships>
</file>

<file path=ppt/slides/_rels/slide4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23.xml"/></Relationships>
</file>

<file path=ppt/slides/_rels/slide43.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themeOverride" Target="../theme/themeOverride24.xml"/></Relationships>
</file>

<file path=ppt/slides/_rels/slide4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hemeOverride" Target="../theme/themeOverride25.xml"/></Relationships>
</file>

<file path=ppt/slides/_rels/slide45.xml.rels><?xml version="1.0" encoding="UTF-8" standalone="yes"?>
<Relationships xmlns="http://schemas.openxmlformats.org/package/2006/relationships"><Relationship Id="rId3" Type="http://schemas.openxmlformats.org/officeDocument/2006/relationships/notesSlide" Target="../notesSlides/notesSlide19.xml"/><Relationship Id="rId2" Type="http://schemas.openxmlformats.org/officeDocument/2006/relationships/slideLayout" Target="../slideLayouts/slideLayout2.xml"/><Relationship Id="rId1" Type="http://schemas.openxmlformats.org/officeDocument/2006/relationships/themeOverride" Target="../theme/themeOverride2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xml"/><Relationship Id="rId1" Type="http://schemas.openxmlformats.org/officeDocument/2006/relationships/themeOverride" Target="../theme/themeOverride27.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文本框 1"/>
          <p:cNvSpPr txBox="1"/>
          <p:nvPr/>
        </p:nvSpPr>
        <p:spPr>
          <a:xfrm>
            <a:off x="173990" y="169545"/>
            <a:ext cx="12018010" cy="2202815"/>
          </a:xfrm>
          <a:prstGeom prst="rect">
            <a:avLst/>
          </a:prstGeom>
        </p:spPr>
        <p:txBody>
          <a:bodyPr vert="horz" lIns="91440" tIns="45720" rIns="91440" bIns="45720" rtlCol="0" anchor="t" anchorCtr="0">
            <a:noAutofit/>
          </a:bodyPr>
          <a:lstStyle/>
          <a:p>
            <a:pPr marL="443230" indent="-885825">
              <a:lnSpc>
                <a:spcPct val="110000"/>
              </a:lnSpc>
            </a:pPr>
            <a:r>
              <a:rPr lang="en-US" altLang="zh-CN" sz="3200" b="1" dirty="0">
                <a:latin typeface="+mj-lt"/>
                <a:cs typeface="+mj-cs"/>
              </a:rPr>
              <a:t>be a </a:t>
            </a:r>
            <a:r>
              <a:rPr lang="en-US" altLang="zh-CN" sz="3200" b="1" dirty="0">
                <a:solidFill>
                  <a:srgbClr val="FF0000"/>
                </a:solidFill>
                <a:latin typeface="+mj-lt"/>
                <a:cs typeface="+mj-cs"/>
              </a:rPr>
              <a:t>critical</a:t>
            </a:r>
            <a:r>
              <a:rPr lang="en-US" altLang="zh-CN" sz="3200" b="1" dirty="0">
                <a:latin typeface="+mj-lt"/>
                <a:cs typeface="+mj-cs"/>
              </a:rPr>
              <a:t> news reader </a:t>
            </a:r>
            <a:r>
              <a:rPr lang="zh-CN" altLang="en-US" sz="3200" b="1" kern="1200" dirty="0">
                <a:solidFill>
                  <a:schemeClr val="tx1"/>
                </a:solidFill>
                <a:effectLst/>
                <a:latin typeface="+mj-lt"/>
                <a:cs typeface="+mj-cs"/>
              </a:rPr>
              <a:t>做一个有判断力的新闻读者</a:t>
            </a:r>
            <a:endParaRPr lang="en-US" altLang="zh-CN" sz="3200" b="1" kern="1200" dirty="0">
              <a:solidFill>
                <a:schemeClr val="tx1"/>
              </a:solidFill>
              <a:effectLst/>
              <a:latin typeface="+mj-lt"/>
              <a:cs typeface="+mj-cs"/>
            </a:endParaRPr>
          </a:p>
        </p:txBody>
      </p:sp>
      <p:sp>
        <p:nvSpPr>
          <p:cNvPr id="3" name="矩形 2"/>
          <p:cNvSpPr/>
          <p:nvPr/>
        </p:nvSpPr>
        <p:spPr>
          <a:xfrm>
            <a:off x="173990" y="861060"/>
            <a:ext cx="11703685" cy="3879215"/>
          </a:xfrm>
          <a:prstGeom prst="rect">
            <a:avLst/>
          </a:prstGeom>
          <a:noFill/>
          <a:ln w="28575">
            <a:noFill/>
          </a:ln>
          <a:extLst>
            <a:ext uri="{909E8E84-426E-40DD-AFC4-6F175D3DCCD1}">
              <a14:hiddenFill xmlns:a14="http://schemas.microsoft.com/office/drawing/2010/main">
                <a:solidFill>
                  <a:schemeClr val="bg1">
                    <a:lumMod val="95000"/>
                  </a:schemeClr>
                </a:solidFill>
              </a14:hiddenFill>
            </a:ext>
          </a:extLst>
        </p:spPr>
        <p:txBody>
          <a:bodyPr wrap="square">
            <a:spAutoFit/>
          </a:bodyPr>
          <a:lstStyle/>
          <a:p>
            <a:pPr marL="2155825" indent="-2155825">
              <a:lnSpc>
                <a:spcPct val="110000"/>
              </a:lnSpc>
            </a:pPr>
            <a:r>
              <a:rPr lang="en-US" altLang="zh-CN" sz="3200" b="1" dirty="0">
                <a:solidFill>
                  <a:srgbClr val="FF0000"/>
                </a:solidFill>
                <a:latin typeface="+mj-lt"/>
              </a:rPr>
              <a:t>critical  </a:t>
            </a:r>
            <a:r>
              <a:rPr lang="en-US" altLang="zh-CN" sz="3200" b="1" i="1" dirty="0">
                <a:solidFill>
                  <a:srgbClr val="FF0000"/>
                </a:solidFill>
                <a:latin typeface="+mj-lt"/>
              </a:rPr>
              <a:t>adj.</a:t>
            </a:r>
          </a:p>
          <a:p>
            <a:pPr marL="2155825" indent="-2155825">
              <a:lnSpc>
                <a:spcPct val="110000"/>
              </a:lnSpc>
            </a:pPr>
            <a:r>
              <a:rPr lang="en-US" altLang="zh-CN" sz="3200" b="1" i="1" dirty="0">
                <a:solidFill>
                  <a:schemeClr val="tx1"/>
                </a:solidFill>
                <a:latin typeface="+mj-lt"/>
              </a:rPr>
              <a:t>1)</a:t>
            </a:r>
            <a:r>
              <a:rPr lang="en-US" altLang="zh-CN" sz="3200" b="1" i="1" dirty="0">
                <a:solidFill>
                  <a:srgbClr val="FF0000"/>
                </a:solidFill>
                <a:latin typeface="+mj-lt"/>
              </a:rPr>
              <a:t> </a:t>
            </a:r>
            <a:r>
              <a:rPr lang="en-US" altLang="zh-CN" sz="3200" b="1" i="1" dirty="0">
                <a:latin typeface="+mj-lt"/>
              </a:rPr>
              <a:t>expressing </a:t>
            </a:r>
            <a:r>
              <a:rPr lang="en-US" altLang="zh-CN" sz="3200" b="1" i="1" dirty="0">
                <a:solidFill>
                  <a:srgbClr val="0000FF"/>
                </a:solidFill>
                <a:latin typeface="+mj-lt"/>
              </a:rPr>
              <a:t>disapproval</a:t>
            </a:r>
            <a:r>
              <a:rPr lang="en-US" altLang="zh-CN" sz="3200" b="1" i="1" dirty="0">
                <a:latin typeface="+mj-lt"/>
              </a:rPr>
              <a:t> of sb./</a:t>
            </a:r>
            <a:r>
              <a:rPr lang="en-US" altLang="zh-CN" sz="3200" b="1" i="1" dirty="0" err="1">
                <a:latin typeface="+mj-lt"/>
              </a:rPr>
              <a:t>sth</a:t>
            </a:r>
            <a:r>
              <a:rPr lang="en-US" altLang="zh-CN" sz="3200" b="1" i="1" dirty="0">
                <a:latin typeface="+mj-lt"/>
              </a:rPr>
              <a:t>. </a:t>
            </a:r>
            <a:r>
              <a:rPr lang="zh-CN" altLang="en-US" sz="3200" b="1" dirty="0">
                <a:solidFill>
                  <a:srgbClr val="FF0000"/>
                </a:solidFill>
                <a:latin typeface="+mj-lt"/>
              </a:rPr>
              <a:t>批评的</a:t>
            </a:r>
            <a:r>
              <a:rPr lang="en-US" altLang="zh-CN" sz="3200" b="1" dirty="0">
                <a:solidFill>
                  <a:srgbClr val="FF0000"/>
                </a:solidFill>
                <a:latin typeface="+mj-lt"/>
              </a:rPr>
              <a:t>; </a:t>
            </a:r>
            <a:r>
              <a:rPr lang="zh-CN" altLang="en-US" sz="3200" b="1" dirty="0">
                <a:solidFill>
                  <a:srgbClr val="FF0000"/>
                </a:solidFill>
                <a:latin typeface="+mj-lt"/>
              </a:rPr>
              <a:t>批判性的</a:t>
            </a:r>
            <a:r>
              <a:rPr lang="en-US" altLang="zh-CN" sz="3200" b="1" dirty="0">
                <a:solidFill>
                  <a:srgbClr val="FF0000"/>
                </a:solidFill>
                <a:latin typeface="+mj-lt"/>
              </a:rPr>
              <a:t>; </a:t>
            </a:r>
            <a:r>
              <a:rPr lang="zh-CN" altLang="en-US" sz="3200" b="1" dirty="0">
                <a:solidFill>
                  <a:srgbClr val="FF0000"/>
                </a:solidFill>
                <a:latin typeface="+mj-lt"/>
              </a:rPr>
              <a:t>挑剔的</a:t>
            </a:r>
            <a:endParaRPr lang="en-US" altLang="zh-CN" sz="3200" b="1" dirty="0">
              <a:solidFill>
                <a:srgbClr val="FF0000"/>
              </a:solidFill>
              <a:latin typeface="+mj-lt"/>
            </a:endParaRPr>
          </a:p>
          <a:p>
            <a:pPr>
              <a:lnSpc>
                <a:spcPct val="110000"/>
              </a:lnSpc>
            </a:pPr>
            <a:endParaRPr lang="en-US" altLang="zh-CN" sz="3200" b="1" dirty="0">
              <a:solidFill>
                <a:srgbClr val="FF0000"/>
              </a:solidFill>
              <a:latin typeface="+mj-lt"/>
            </a:endParaRPr>
          </a:p>
          <a:p>
            <a:pPr>
              <a:lnSpc>
                <a:spcPct val="110000"/>
              </a:lnSpc>
            </a:pPr>
            <a:r>
              <a:rPr lang="en-US" altLang="zh-CN" sz="3200" b="1" dirty="0">
                <a:solidFill>
                  <a:srgbClr val="FF0000"/>
                </a:solidFill>
                <a:latin typeface="+mj-lt"/>
              </a:rPr>
              <a:t>a critical comment/report </a:t>
            </a:r>
            <a:r>
              <a:rPr lang="en-US" altLang="zh-CN" sz="3200" b="1" dirty="0">
                <a:solidFill>
                  <a:schemeClr val="tx1"/>
                </a:solidFill>
                <a:latin typeface="+mj-lt"/>
                <a:sym typeface="+mn-ea"/>
              </a:rPr>
              <a:t>批判性的评论/报道</a:t>
            </a:r>
            <a:endParaRPr lang="en-US" altLang="zh-CN" sz="3200" b="1" dirty="0">
              <a:solidFill>
                <a:srgbClr val="FF0000"/>
              </a:solidFill>
              <a:latin typeface="+mj-lt"/>
            </a:endParaRPr>
          </a:p>
          <a:p>
            <a:pPr>
              <a:lnSpc>
                <a:spcPct val="110000"/>
              </a:lnSpc>
            </a:pPr>
            <a:r>
              <a:rPr lang="en-US" altLang="zh-CN" sz="3200" b="1" dirty="0">
                <a:solidFill>
                  <a:schemeClr val="tx1"/>
                </a:solidFill>
                <a:latin typeface="+mj-lt"/>
              </a:rPr>
              <a:t>Tom's parents </a:t>
            </a:r>
            <a:r>
              <a:rPr lang="en-US" altLang="zh-CN" sz="3200" b="1" u="sng" dirty="0">
                <a:solidFill>
                  <a:srgbClr val="FF0000"/>
                </a:solidFill>
                <a:latin typeface="+mj-lt"/>
              </a:rPr>
              <a:t>were highly critical of</a:t>
            </a:r>
            <a:r>
              <a:rPr lang="en-US" altLang="zh-CN" sz="3200" b="1" dirty="0">
                <a:solidFill>
                  <a:srgbClr val="FF0000"/>
                </a:solidFill>
                <a:latin typeface="+mj-lt"/>
              </a:rPr>
              <a:t> </a:t>
            </a:r>
            <a:r>
              <a:rPr lang="en-US" altLang="zh-CN" sz="3200" b="1" dirty="0">
                <a:solidFill>
                  <a:schemeClr val="tx1"/>
                </a:solidFill>
                <a:latin typeface="+mj-lt"/>
              </a:rPr>
              <a:t>the school.</a:t>
            </a:r>
            <a:endParaRPr lang="en-US" altLang="zh-CN" sz="3200" b="1" dirty="0">
              <a:solidFill>
                <a:srgbClr val="FF0000"/>
              </a:solidFill>
              <a:latin typeface="+mj-lt"/>
            </a:endParaRPr>
          </a:p>
          <a:p>
            <a:pPr>
              <a:lnSpc>
                <a:spcPct val="110000"/>
              </a:lnSpc>
            </a:pPr>
            <a:r>
              <a:rPr lang="en-US" altLang="zh-CN" sz="3200" b="1" dirty="0">
                <a:solidFill>
                  <a:schemeClr val="tx1"/>
                </a:solidFill>
                <a:latin typeface="+mj-lt"/>
              </a:rPr>
              <a:t>汤姆的父母</a:t>
            </a:r>
            <a:r>
              <a:rPr lang="en-US" altLang="zh-CN" sz="3200" b="1" u="sng" dirty="0">
                <a:solidFill>
                  <a:schemeClr val="tx1"/>
                </a:solidFill>
                <a:latin typeface="+mj-lt"/>
              </a:rPr>
              <a:t>对</a:t>
            </a:r>
            <a:r>
              <a:rPr lang="en-US" altLang="zh-CN" sz="3200" b="1" dirty="0">
                <a:solidFill>
                  <a:schemeClr val="tx1"/>
                </a:solidFill>
                <a:latin typeface="+mj-lt"/>
              </a:rPr>
              <a:t>学校</a:t>
            </a:r>
            <a:r>
              <a:rPr lang="en-US" altLang="zh-CN" sz="3200" b="1" u="sng" dirty="0">
                <a:solidFill>
                  <a:schemeClr val="tx1"/>
                </a:solidFill>
                <a:latin typeface="+mj-lt"/>
              </a:rPr>
              <a:t>提出了强烈的批评</a:t>
            </a:r>
            <a:r>
              <a:rPr lang="en-US" altLang="zh-CN" sz="3200" b="1" dirty="0">
                <a:solidFill>
                  <a:schemeClr val="tx1"/>
                </a:solidFill>
                <a:latin typeface="+mj-lt"/>
              </a:rPr>
              <a:t>。</a:t>
            </a:r>
          </a:p>
          <a:p>
            <a:pPr>
              <a:lnSpc>
                <a:spcPct val="110000"/>
              </a:lnSpc>
            </a:pPr>
            <a:r>
              <a:rPr lang="zh-CN" altLang="en-US" sz="3200" b="1" dirty="0">
                <a:solidFill>
                  <a:schemeClr val="tx1"/>
                </a:solidFill>
                <a:latin typeface="+mj-lt"/>
              </a:rPr>
              <a:t>培养批判性思维</a:t>
            </a:r>
          </a:p>
        </p:txBody>
      </p:sp>
      <p:sp>
        <p:nvSpPr>
          <p:cNvPr id="4" name="Text Box 3"/>
          <p:cNvSpPr txBox="1"/>
          <p:nvPr/>
        </p:nvSpPr>
        <p:spPr>
          <a:xfrm>
            <a:off x="3686175" y="4043045"/>
            <a:ext cx="6096000" cy="681990"/>
          </a:xfrm>
          <a:prstGeom prst="rect">
            <a:avLst/>
          </a:prstGeom>
          <a:noFill/>
        </p:spPr>
        <p:txBody>
          <a:bodyPr wrap="square" rtlCol="0" anchor="t">
            <a:spAutoFit/>
          </a:bodyPr>
          <a:lstStyle/>
          <a:p>
            <a:pPr>
              <a:lnSpc>
                <a:spcPct val="120000"/>
              </a:lnSpc>
            </a:pPr>
            <a:r>
              <a:rPr lang="en-US" altLang="zh-CN" sz="3200" b="1" dirty="0">
                <a:solidFill>
                  <a:srgbClr val="FF0000"/>
                </a:solidFill>
                <a:latin typeface="+mj-lt"/>
                <a:sym typeface="+mn-ea"/>
              </a:rPr>
              <a:t>cultivate critical thinking</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Lst>
  </p:timing>
</p:sld>
</file>

<file path=ppt/slides/slide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文本框 1"/>
          <p:cNvSpPr txBox="1"/>
          <p:nvPr/>
        </p:nvSpPr>
        <p:spPr>
          <a:xfrm>
            <a:off x="173990" y="169545"/>
            <a:ext cx="12018010" cy="2202815"/>
          </a:xfrm>
          <a:prstGeom prst="rect">
            <a:avLst/>
          </a:prstGeom>
        </p:spPr>
        <p:txBody>
          <a:bodyPr vert="horz" lIns="91440" tIns="45720" rIns="91440" bIns="45720" rtlCol="0" anchor="t" anchorCtr="0">
            <a:noAutofit/>
          </a:bodyPr>
          <a:lstStyle/>
          <a:p>
            <a:pPr marL="443230" indent="-885825">
              <a:lnSpc>
                <a:spcPct val="110000"/>
              </a:lnSpc>
            </a:pPr>
            <a:r>
              <a:rPr lang="en-US" altLang="zh-CN" sz="3200" b="1" dirty="0">
                <a:latin typeface="+mj-lt"/>
                <a:cs typeface="+mj-cs"/>
              </a:rPr>
              <a:t>be a </a:t>
            </a:r>
            <a:r>
              <a:rPr lang="en-US" altLang="zh-CN" sz="3200" b="1" dirty="0">
                <a:solidFill>
                  <a:srgbClr val="FF0000"/>
                </a:solidFill>
                <a:latin typeface="+mj-lt"/>
                <a:cs typeface="+mj-cs"/>
              </a:rPr>
              <a:t>critical</a:t>
            </a:r>
            <a:r>
              <a:rPr lang="en-US" altLang="zh-CN" sz="3200" b="1" dirty="0">
                <a:latin typeface="+mj-lt"/>
                <a:cs typeface="+mj-cs"/>
              </a:rPr>
              <a:t> news reader </a:t>
            </a:r>
            <a:r>
              <a:rPr lang="zh-CN" altLang="en-US" sz="3200" b="1" kern="1200" dirty="0">
                <a:solidFill>
                  <a:schemeClr val="tx1"/>
                </a:solidFill>
                <a:effectLst/>
                <a:latin typeface="+mj-lt"/>
                <a:cs typeface="+mj-cs"/>
              </a:rPr>
              <a:t>做一个有判断力的新闻读者</a:t>
            </a:r>
            <a:endParaRPr lang="en-US" altLang="zh-CN" sz="3200" b="1" kern="1200" dirty="0">
              <a:solidFill>
                <a:schemeClr val="tx1"/>
              </a:solidFill>
              <a:effectLst/>
              <a:latin typeface="+mj-lt"/>
              <a:cs typeface="+mj-cs"/>
            </a:endParaRPr>
          </a:p>
        </p:txBody>
      </p:sp>
      <p:sp>
        <p:nvSpPr>
          <p:cNvPr id="3" name="矩形 2"/>
          <p:cNvSpPr/>
          <p:nvPr/>
        </p:nvSpPr>
        <p:spPr>
          <a:xfrm>
            <a:off x="173990" y="861060"/>
            <a:ext cx="11703685" cy="4961890"/>
          </a:xfrm>
          <a:prstGeom prst="rect">
            <a:avLst/>
          </a:prstGeom>
          <a:noFill/>
          <a:ln w="28575">
            <a:noFill/>
          </a:ln>
          <a:extLst>
            <a:ext uri="{909E8E84-426E-40DD-AFC4-6F175D3DCCD1}">
              <a14:hiddenFill xmlns:a14="http://schemas.microsoft.com/office/drawing/2010/main">
                <a:solidFill>
                  <a:schemeClr val="bg1">
                    <a:lumMod val="95000"/>
                  </a:schemeClr>
                </a:solidFill>
              </a14:hiddenFill>
            </a:ext>
          </a:extLst>
        </p:spPr>
        <p:txBody>
          <a:bodyPr wrap="square">
            <a:spAutoFit/>
          </a:bodyPr>
          <a:lstStyle/>
          <a:p>
            <a:pPr marL="2155825" indent="-2155825">
              <a:lnSpc>
                <a:spcPct val="110000"/>
              </a:lnSpc>
            </a:pPr>
            <a:r>
              <a:rPr lang="en-US" altLang="zh-CN" sz="3200" b="1" dirty="0">
                <a:solidFill>
                  <a:srgbClr val="FF0000"/>
                </a:solidFill>
                <a:latin typeface="+mj-lt"/>
              </a:rPr>
              <a:t>critical  </a:t>
            </a:r>
            <a:r>
              <a:rPr lang="en-US" altLang="zh-CN" sz="3200" b="1" i="1" dirty="0">
                <a:solidFill>
                  <a:srgbClr val="FF0000"/>
                </a:solidFill>
                <a:latin typeface="+mj-lt"/>
              </a:rPr>
              <a:t>adj.</a:t>
            </a:r>
          </a:p>
          <a:p>
            <a:pPr marL="2155825" indent="-2155825">
              <a:lnSpc>
                <a:spcPct val="110000"/>
              </a:lnSpc>
            </a:pPr>
            <a:r>
              <a:rPr lang="en-US" altLang="zh-CN" sz="3200" b="1" i="1" dirty="0">
                <a:solidFill>
                  <a:schemeClr val="tx1"/>
                </a:solidFill>
                <a:latin typeface="+mj-lt"/>
              </a:rPr>
              <a:t>1)</a:t>
            </a:r>
            <a:r>
              <a:rPr lang="en-US" altLang="zh-CN" sz="3200" b="1" i="1" dirty="0">
                <a:solidFill>
                  <a:srgbClr val="FF0000"/>
                </a:solidFill>
                <a:latin typeface="+mj-lt"/>
              </a:rPr>
              <a:t> </a:t>
            </a:r>
            <a:r>
              <a:rPr lang="en-US" altLang="zh-CN" sz="3200" b="1" i="1" dirty="0">
                <a:latin typeface="+mj-lt"/>
              </a:rPr>
              <a:t>expressing </a:t>
            </a:r>
            <a:r>
              <a:rPr lang="en-US" altLang="zh-CN" sz="3200" b="1" i="1" dirty="0">
                <a:solidFill>
                  <a:srgbClr val="0000FF"/>
                </a:solidFill>
                <a:latin typeface="+mj-lt"/>
              </a:rPr>
              <a:t>disapproval</a:t>
            </a:r>
            <a:r>
              <a:rPr lang="en-US" altLang="zh-CN" sz="3200" b="1" i="1" dirty="0">
                <a:latin typeface="+mj-lt"/>
              </a:rPr>
              <a:t> of sb./</a:t>
            </a:r>
            <a:r>
              <a:rPr lang="en-US" altLang="zh-CN" sz="3200" b="1" i="1" dirty="0" err="1">
                <a:latin typeface="+mj-lt"/>
              </a:rPr>
              <a:t>sth</a:t>
            </a:r>
            <a:r>
              <a:rPr lang="en-US" altLang="zh-CN" sz="3200" b="1" i="1" dirty="0">
                <a:latin typeface="+mj-lt"/>
              </a:rPr>
              <a:t>. </a:t>
            </a:r>
            <a:r>
              <a:rPr lang="zh-CN" altLang="en-US" sz="3200" b="1" dirty="0">
                <a:solidFill>
                  <a:srgbClr val="FF0000"/>
                </a:solidFill>
                <a:latin typeface="+mj-lt"/>
              </a:rPr>
              <a:t>批评的</a:t>
            </a:r>
            <a:r>
              <a:rPr lang="en-US" altLang="zh-CN" sz="3200" b="1" dirty="0">
                <a:solidFill>
                  <a:srgbClr val="FF0000"/>
                </a:solidFill>
                <a:latin typeface="+mj-lt"/>
              </a:rPr>
              <a:t>; </a:t>
            </a:r>
            <a:r>
              <a:rPr lang="zh-CN" altLang="en-US" sz="3200" b="1" dirty="0">
                <a:solidFill>
                  <a:srgbClr val="FF0000"/>
                </a:solidFill>
                <a:latin typeface="+mj-lt"/>
              </a:rPr>
              <a:t>批判性的</a:t>
            </a:r>
            <a:r>
              <a:rPr lang="en-US" altLang="zh-CN" sz="3200" b="1" dirty="0">
                <a:solidFill>
                  <a:srgbClr val="FF0000"/>
                </a:solidFill>
                <a:latin typeface="+mj-lt"/>
              </a:rPr>
              <a:t>; </a:t>
            </a:r>
            <a:r>
              <a:rPr lang="zh-CN" altLang="en-US" sz="3200" b="1" dirty="0">
                <a:solidFill>
                  <a:srgbClr val="FF0000"/>
                </a:solidFill>
                <a:latin typeface="+mj-lt"/>
              </a:rPr>
              <a:t>挑剔的</a:t>
            </a:r>
            <a:endParaRPr lang="en-US" altLang="zh-CN" sz="3200" b="1" dirty="0">
              <a:solidFill>
                <a:srgbClr val="FF0000"/>
              </a:solidFill>
              <a:latin typeface="+mj-lt"/>
            </a:endParaRPr>
          </a:p>
          <a:p>
            <a:pPr marL="2155825" indent="-2155825">
              <a:lnSpc>
                <a:spcPct val="110000"/>
              </a:lnSpc>
            </a:pPr>
            <a:r>
              <a:rPr lang="en-US" altLang="zh-CN" sz="3200" b="1" i="1" dirty="0">
                <a:latin typeface="+mj-lt"/>
              </a:rPr>
              <a:t>2) </a:t>
            </a:r>
            <a:r>
              <a:rPr lang="en-US" altLang="zh-CN" sz="3200" b="1" i="1" dirty="0">
                <a:solidFill>
                  <a:srgbClr val="0000FF"/>
                </a:solidFill>
                <a:latin typeface="+mj-lt"/>
              </a:rPr>
              <a:t>extremely important </a:t>
            </a:r>
            <a:r>
              <a:rPr lang="en-US" altLang="zh-CN" sz="3200" b="1" i="1" dirty="0">
                <a:latin typeface="+mj-lt"/>
              </a:rPr>
              <a:t> </a:t>
            </a:r>
            <a:r>
              <a:rPr lang="zh-CN" altLang="en-US" sz="3200" b="1" dirty="0">
                <a:solidFill>
                  <a:srgbClr val="FF0000"/>
                </a:solidFill>
                <a:latin typeface="+mj-lt"/>
              </a:rPr>
              <a:t>极重要的</a:t>
            </a:r>
            <a:r>
              <a:rPr lang="en-US" altLang="zh-CN" sz="3200" b="1" dirty="0">
                <a:solidFill>
                  <a:srgbClr val="FF0000"/>
                </a:solidFill>
                <a:latin typeface="+mj-lt"/>
              </a:rPr>
              <a:t>; </a:t>
            </a:r>
            <a:r>
              <a:rPr lang="zh-CN" altLang="en-US" sz="3200" b="1" dirty="0">
                <a:solidFill>
                  <a:srgbClr val="FF0000"/>
                </a:solidFill>
                <a:latin typeface="+mj-lt"/>
              </a:rPr>
              <a:t>关键的</a:t>
            </a:r>
            <a:endParaRPr lang="en-US" altLang="zh-CN" sz="3200" b="1" dirty="0">
              <a:solidFill>
                <a:srgbClr val="FF0000"/>
              </a:solidFill>
              <a:latin typeface="+mj-lt"/>
            </a:endParaRPr>
          </a:p>
          <a:p>
            <a:pPr>
              <a:lnSpc>
                <a:spcPct val="110000"/>
              </a:lnSpc>
            </a:pPr>
            <a:endParaRPr lang="en-US" altLang="zh-CN" sz="3200" b="1" dirty="0">
              <a:solidFill>
                <a:srgbClr val="FF0000"/>
              </a:solidFill>
              <a:latin typeface="+mj-lt"/>
            </a:endParaRPr>
          </a:p>
          <a:p>
            <a:pPr>
              <a:lnSpc>
                <a:spcPct val="110000"/>
              </a:lnSpc>
            </a:pPr>
            <a:r>
              <a:rPr lang="en-US" altLang="zh-CN" sz="3200" b="1" dirty="0">
                <a:solidFill>
                  <a:srgbClr val="FF0000"/>
                </a:solidFill>
                <a:latin typeface="+mj-lt"/>
              </a:rPr>
              <a:t>a critical factor </a:t>
            </a:r>
            <a:r>
              <a:rPr lang="zh-CN" altLang="en-US" sz="3200" b="1" dirty="0">
                <a:latin typeface="+mj-lt"/>
                <a:sym typeface="+mn-ea"/>
              </a:rPr>
              <a:t>一个</a:t>
            </a:r>
            <a:r>
              <a:rPr lang="en-US" altLang="zh-CN" sz="3200" b="1" dirty="0">
                <a:latin typeface="+mj-lt"/>
                <a:sym typeface="+mn-ea"/>
              </a:rPr>
              <a:t>关键因素</a:t>
            </a:r>
            <a:endParaRPr lang="en-US" altLang="zh-CN" sz="3200" b="1" dirty="0">
              <a:latin typeface="+mj-lt"/>
            </a:endParaRPr>
          </a:p>
          <a:p>
            <a:pPr>
              <a:lnSpc>
                <a:spcPct val="110000"/>
              </a:lnSpc>
            </a:pPr>
            <a:r>
              <a:rPr lang="en-US" altLang="zh-CN" sz="3200" b="1" dirty="0">
                <a:latin typeface="+mj-lt"/>
              </a:rPr>
              <a:t>Reducing levels of carbon dioxide in the atmosphere</a:t>
            </a:r>
            <a:r>
              <a:rPr lang="en-US" altLang="zh-CN" sz="3200" b="1" u="sng" dirty="0">
                <a:solidFill>
                  <a:srgbClr val="FF0000"/>
                </a:solidFill>
                <a:latin typeface="+mj-lt"/>
              </a:rPr>
              <a:t> is of critical importance</a:t>
            </a:r>
            <a:r>
              <a:rPr lang="en-US" altLang="zh-CN" sz="3200" b="1" dirty="0">
                <a:latin typeface="+mj-lt"/>
              </a:rPr>
              <a:t>. 极其重要</a:t>
            </a:r>
          </a:p>
          <a:p>
            <a:pPr>
              <a:lnSpc>
                <a:spcPct val="110000"/>
              </a:lnSpc>
            </a:pPr>
            <a:r>
              <a:rPr lang="en-US" altLang="zh-CN" sz="3200" b="1" dirty="0">
                <a:latin typeface="+mj-lt"/>
              </a:rPr>
              <a:t>Your decision </a:t>
            </a:r>
            <a:r>
              <a:rPr lang="en-US" altLang="zh-CN" sz="3200" b="1" u="sng" dirty="0">
                <a:solidFill>
                  <a:srgbClr val="FF0000"/>
                </a:solidFill>
                <a:latin typeface="+mj-lt"/>
              </a:rPr>
              <a:t>is critical to</a:t>
            </a:r>
            <a:r>
              <a:rPr lang="en-US" altLang="zh-CN" sz="3200" b="1" dirty="0">
                <a:latin typeface="+mj-lt"/>
              </a:rPr>
              <a:t> our future.</a:t>
            </a:r>
          </a:p>
          <a:p>
            <a:pPr>
              <a:lnSpc>
                <a:spcPct val="110000"/>
              </a:lnSpc>
            </a:pPr>
            <a:r>
              <a:rPr lang="en-US" altLang="zh-CN" sz="3200" b="1" dirty="0">
                <a:latin typeface="+mj-lt"/>
              </a:rPr>
              <a:t>你的决定对我们的将来至关重要。</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文本框 1"/>
          <p:cNvSpPr txBox="1"/>
          <p:nvPr/>
        </p:nvSpPr>
        <p:spPr>
          <a:xfrm>
            <a:off x="173990" y="169545"/>
            <a:ext cx="12018010" cy="2202815"/>
          </a:xfrm>
          <a:prstGeom prst="rect">
            <a:avLst/>
          </a:prstGeom>
        </p:spPr>
        <p:txBody>
          <a:bodyPr vert="horz" lIns="91440" tIns="45720" rIns="91440" bIns="45720" rtlCol="0" anchor="t" anchorCtr="0">
            <a:noAutofit/>
          </a:bodyPr>
          <a:lstStyle/>
          <a:p>
            <a:pPr marL="443230" indent="-885825">
              <a:lnSpc>
                <a:spcPct val="110000"/>
              </a:lnSpc>
            </a:pPr>
            <a:r>
              <a:rPr lang="en-US" altLang="zh-CN" sz="3200" b="1" dirty="0">
                <a:latin typeface="+mj-lt"/>
                <a:cs typeface="+mj-cs"/>
              </a:rPr>
              <a:t>be a </a:t>
            </a:r>
            <a:r>
              <a:rPr lang="en-US" altLang="zh-CN" sz="3200" b="1" dirty="0">
                <a:solidFill>
                  <a:srgbClr val="FF0000"/>
                </a:solidFill>
                <a:latin typeface="+mj-lt"/>
                <a:cs typeface="+mj-cs"/>
              </a:rPr>
              <a:t>critical</a:t>
            </a:r>
            <a:r>
              <a:rPr lang="en-US" altLang="zh-CN" sz="3200" b="1" dirty="0">
                <a:latin typeface="+mj-lt"/>
                <a:cs typeface="+mj-cs"/>
              </a:rPr>
              <a:t> news reader </a:t>
            </a:r>
            <a:r>
              <a:rPr lang="zh-CN" altLang="en-US" sz="3200" b="1" kern="1200" dirty="0">
                <a:solidFill>
                  <a:schemeClr val="tx1"/>
                </a:solidFill>
                <a:effectLst/>
                <a:latin typeface="+mj-lt"/>
                <a:cs typeface="+mj-cs"/>
              </a:rPr>
              <a:t>做一个有判断力的新闻读者</a:t>
            </a:r>
            <a:endParaRPr lang="en-US" altLang="zh-CN" sz="3200" b="1" kern="1200" dirty="0">
              <a:solidFill>
                <a:schemeClr val="tx1"/>
              </a:solidFill>
              <a:effectLst/>
              <a:latin typeface="+mj-lt"/>
              <a:cs typeface="+mj-cs"/>
            </a:endParaRPr>
          </a:p>
        </p:txBody>
      </p:sp>
      <p:sp>
        <p:nvSpPr>
          <p:cNvPr id="3" name="矩形 2"/>
          <p:cNvSpPr/>
          <p:nvPr/>
        </p:nvSpPr>
        <p:spPr>
          <a:xfrm>
            <a:off x="173990" y="861060"/>
            <a:ext cx="11703685" cy="4961890"/>
          </a:xfrm>
          <a:prstGeom prst="rect">
            <a:avLst/>
          </a:prstGeom>
          <a:noFill/>
          <a:ln w="28575">
            <a:noFill/>
          </a:ln>
          <a:extLst>
            <a:ext uri="{909E8E84-426E-40DD-AFC4-6F175D3DCCD1}">
              <a14:hiddenFill xmlns:a14="http://schemas.microsoft.com/office/drawing/2010/main">
                <a:solidFill>
                  <a:schemeClr val="bg1">
                    <a:lumMod val="95000"/>
                  </a:schemeClr>
                </a:solidFill>
              </a14:hiddenFill>
            </a:ext>
          </a:extLst>
        </p:spPr>
        <p:txBody>
          <a:bodyPr wrap="square">
            <a:spAutoFit/>
          </a:bodyPr>
          <a:lstStyle/>
          <a:p>
            <a:pPr marL="2155825" indent="-2155825">
              <a:lnSpc>
                <a:spcPct val="110000"/>
              </a:lnSpc>
            </a:pPr>
            <a:r>
              <a:rPr lang="en-US" altLang="zh-CN" sz="3200" b="1" dirty="0">
                <a:solidFill>
                  <a:srgbClr val="FF0000"/>
                </a:solidFill>
                <a:latin typeface="+mj-lt"/>
              </a:rPr>
              <a:t>critical  </a:t>
            </a:r>
            <a:r>
              <a:rPr lang="en-US" altLang="zh-CN" sz="3200" b="1" i="1" dirty="0">
                <a:solidFill>
                  <a:srgbClr val="FF0000"/>
                </a:solidFill>
                <a:latin typeface="+mj-lt"/>
              </a:rPr>
              <a:t>adj.</a:t>
            </a:r>
          </a:p>
          <a:p>
            <a:pPr marL="2155825" indent="-2155825">
              <a:lnSpc>
                <a:spcPct val="110000"/>
              </a:lnSpc>
            </a:pPr>
            <a:r>
              <a:rPr lang="en-US" altLang="zh-CN" sz="3200" b="1" i="1" dirty="0">
                <a:solidFill>
                  <a:schemeClr val="tx1"/>
                </a:solidFill>
                <a:latin typeface="+mj-lt"/>
              </a:rPr>
              <a:t>1)</a:t>
            </a:r>
            <a:r>
              <a:rPr lang="en-US" altLang="zh-CN" sz="3200" b="1" i="1" dirty="0">
                <a:solidFill>
                  <a:srgbClr val="FF0000"/>
                </a:solidFill>
                <a:latin typeface="+mj-lt"/>
              </a:rPr>
              <a:t> </a:t>
            </a:r>
            <a:r>
              <a:rPr lang="en-US" altLang="zh-CN" sz="3200" b="1" i="1" dirty="0">
                <a:latin typeface="+mj-lt"/>
              </a:rPr>
              <a:t>expressing </a:t>
            </a:r>
            <a:r>
              <a:rPr lang="en-US" altLang="zh-CN" sz="3200" b="1" i="1" dirty="0">
                <a:solidFill>
                  <a:srgbClr val="0000FF"/>
                </a:solidFill>
                <a:latin typeface="+mj-lt"/>
              </a:rPr>
              <a:t>disapproval</a:t>
            </a:r>
            <a:r>
              <a:rPr lang="en-US" altLang="zh-CN" sz="3200" b="1" i="1" dirty="0">
                <a:latin typeface="+mj-lt"/>
              </a:rPr>
              <a:t> of sb./</a:t>
            </a:r>
            <a:r>
              <a:rPr lang="en-US" altLang="zh-CN" sz="3200" b="1" i="1" dirty="0" err="1">
                <a:latin typeface="+mj-lt"/>
              </a:rPr>
              <a:t>sth</a:t>
            </a:r>
            <a:r>
              <a:rPr lang="en-US" altLang="zh-CN" sz="3200" b="1" i="1" dirty="0">
                <a:latin typeface="+mj-lt"/>
              </a:rPr>
              <a:t>. </a:t>
            </a:r>
            <a:r>
              <a:rPr lang="zh-CN" altLang="en-US" sz="3200" b="1" dirty="0">
                <a:solidFill>
                  <a:srgbClr val="FF0000"/>
                </a:solidFill>
                <a:latin typeface="+mj-lt"/>
              </a:rPr>
              <a:t>批评的</a:t>
            </a:r>
            <a:r>
              <a:rPr lang="en-US" altLang="zh-CN" sz="3200" b="1" dirty="0">
                <a:solidFill>
                  <a:srgbClr val="FF0000"/>
                </a:solidFill>
                <a:latin typeface="+mj-lt"/>
              </a:rPr>
              <a:t>; </a:t>
            </a:r>
            <a:r>
              <a:rPr lang="zh-CN" altLang="en-US" sz="3200" b="1" dirty="0">
                <a:solidFill>
                  <a:srgbClr val="FF0000"/>
                </a:solidFill>
                <a:latin typeface="+mj-lt"/>
              </a:rPr>
              <a:t>批判性的</a:t>
            </a:r>
            <a:r>
              <a:rPr lang="en-US" altLang="zh-CN" sz="3200" b="1" dirty="0">
                <a:solidFill>
                  <a:srgbClr val="FF0000"/>
                </a:solidFill>
                <a:latin typeface="+mj-lt"/>
              </a:rPr>
              <a:t>; </a:t>
            </a:r>
            <a:r>
              <a:rPr lang="zh-CN" altLang="en-US" sz="3200" b="1" dirty="0">
                <a:solidFill>
                  <a:srgbClr val="FF0000"/>
                </a:solidFill>
                <a:latin typeface="+mj-lt"/>
              </a:rPr>
              <a:t>挑剔的</a:t>
            </a:r>
            <a:endParaRPr lang="en-US" altLang="zh-CN" sz="3200" b="1" dirty="0">
              <a:solidFill>
                <a:srgbClr val="FF0000"/>
              </a:solidFill>
              <a:latin typeface="+mj-lt"/>
            </a:endParaRPr>
          </a:p>
          <a:p>
            <a:pPr marL="2155825" indent="-2155825">
              <a:lnSpc>
                <a:spcPct val="110000"/>
              </a:lnSpc>
            </a:pPr>
            <a:r>
              <a:rPr lang="en-US" altLang="zh-CN" sz="3200" b="1" i="1" dirty="0">
                <a:latin typeface="+mj-lt"/>
              </a:rPr>
              <a:t>2) </a:t>
            </a:r>
            <a:r>
              <a:rPr lang="en-US" altLang="zh-CN" sz="3200" b="1" i="1" dirty="0">
                <a:solidFill>
                  <a:srgbClr val="0000FF"/>
                </a:solidFill>
                <a:latin typeface="+mj-lt"/>
              </a:rPr>
              <a:t>extremely important </a:t>
            </a:r>
            <a:r>
              <a:rPr lang="en-US" altLang="zh-CN" sz="3200" b="1" i="1" dirty="0">
                <a:latin typeface="+mj-lt"/>
              </a:rPr>
              <a:t> </a:t>
            </a:r>
            <a:r>
              <a:rPr lang="zh-CN" altLang="en-US" sz="3200" b="1" dirty="0">
                <a:solidFill>
                  <a:srgbClr val="FF0000"/>
                </a:solidFill>
                <a:latin typeface="+mj-lt"/>
              </a:rPr>
              <a:t>极重要的</a:t>
            </a:r>
            <a:r>
              <a:rPr lang="en-US" altLang="zh-CN" sz="3200" b="1" dirty="0">
                <a:solidFill>
                  <a:srgbClr val="FF0000"/>
                </a:solidFill>
                <a:latin typeface="+mj-lt"/>
              </a:rPr>
              <a:t>; </a:t>
            </a:r>
            <a:r>
              <a:rPr lang="zh-CN" altLang="en-US" sz="3200" b="1" dirty="0">
                <a:solidFill>
                  <a:srgbClr val="FF0000"/>
                </a:solidFill>
                <a:latin typeface="+mj-lt"/>
              </a:rPr>
              <a:t>关键的</a:t>
            </a:r>
            <a:endParaRPr lang="en-US" altLang="zh-CN" sz="3200" b="1" dirty="0">
              <a:solidFill>
                <a:srgbClr val="FF0000"/>
              </a:solidFill>
              <a:latin typeface="+mj-lt"/>
            </a:endParaRPr>
          </a:p>
          <a:p>
            <a:pPr>
              <a:lnSpc>
                <a:spcPct val="110000"/>
              </a:lnSpc>
            </a:pPr>
            <a:r>
              <a:rPr lang="en-US" altLang="zh-CN" sz="3200" b="1" i="1" dirty="0">
                <a:latin typeface="+mj-lt"/>
              </a:rPr>
              <a:t>3) </a:t>
            </a:r>
            <a:r>
              <a:rPr lang="en-US" altLang="zh-CN" sz="3200" b="1" i="1" dirty="0">
                <a:solidFill>
                  <a:srgbClr val="0000FF"/>
                </a:solidFill>
                <a:latin typeface="+mj-lt"/>
              </a:rPr>
              <a:t>serious </a:t>
            </a:r>
            <a:r>
              <a:rPr lang="en-US" altLang="zh-CN" sz="3200" b="1" i="1" dirty="0">
                <a:latin typeface="+mj-lt"/>
              </a:rPr>
              <a:t>and possibly dangerous  </a:t>
            </a:r>
            <a:r>
              <a:rPr lang="zh-CN" altLang="en-US" sz="3200" b="1" dirty="0">
                <a:solidFill>
                  <a:srgbClr val="FF0000"/>
                </a:solidFill>
                <a:latin typeface="+mj-lt"/>
              </a:rPr>
              <a:t>严重的</a:t>
            </a:r>
            <a:r>
              <a:rPr lang="en-US" altLang="zh-CN" sz="3200" b="1" dirty="0">
                <a:solidFill>
                  <a:srgbClr val="FF0000"/>
                </a:solidFill>
                <a:latin typeface="+mj-lt"/>
              </a:rPr>
              <a:t>;</a:t>
            </a:r>
            <a:r>
              <a:rPr lang="zh-CN" altLang="en-US" sz="3200" b="1" dirty="0">
                <a:solidFill>
                  <a:srgbClr val="FF0000"/>
                </a:solidFill>
                <a:latin typeface="+mj-lt"/>
              </a:rPr>
              <a:t>可能有危险的</a:t>
            </a:r>
          </a:p>
          <a:p>
            <a:pPr>
              <a:lnSpc>
                <a:spcPct val="110000"/>
              </a:lnSpc>
            </a:pPr>
            <a:endParaRPr lang="en-US" altLang="zh-CN" sz="3200" b="1" dirty="0">
              <a:solidFill>
                <a:srgbClr val="FF0000"/>
              </a:solidFill>
              <a:latin typeface="+mj-lt"/>
            </a:endParaRPr>
          </a:p>
          <a:p>
            <a:pPr>
              <a:lnSpc>
                <a:spcPct val="110000"/>
              </a:lnSpc>
            </a:pPr>
            <a:r>
              <a:rPr lang="en-US" altLang="zh-CN" sz="3200" b="1" dirty="0">
                <a:solidFill>
                  <a:srgbClr val="FF0000"/>
                </a:solidFill>
                <a:latin typeface="+mj-lt"/>
              </a:rPr>
              <a:t>a critical moment</a:t>
            </a:r>
            <a:r>
              <a:rPr lang="en-US" altLang="zh-CN" sz="3200" b="1" dirty="0">
                <a:latin typeface="+mj-lt"/>
              </a:rPr>
              <a:t> in our country's history</a:t>
            </a:r>
          </a:p>
          <a:p>
            <a:pPr>
              <a:lnSpc>
                <a:spcPct val="110000"/>
              </a:lnSpc>
            </a:pPr>
            <a:r>
              <a:rPr lang="en-US" altLang="zh-CN" sz="3200" b="1" dirty="0">
                <a:latin typeface="+mj-lt"/>
              </a:rPr>
              <a:t>一个危急关头</a:t>
            </a:r>
          </a:p>
          <a:p>
            <a:pPr>
              <a:lnSpc>
                <a:spcPct val="110000"/>
              </a:lnSpc>
            </a:pPr>
            <a:r>
              <a:rPr lang="en-US" altLang="zh-CN" sz="3200" b="1" dirty="0">
                <a:latin typeface="+mj-lt"/>
              </a:rPr>
              <a:t>One of the victims of the fire remains</a:t>
            </a:r>
            <a:r>
              <a:rPr lang="en-US" altLang="zh-CN" sz="3200" b="1" dirty="0">
                <a:solidFill>
                  <a:srgbClr val="FF0000"/>
                </a:solidFill>
                <a:latin typeface="+mj-lt"/>
              </a:rPr>
              <a:t> in a critical condition</a:t>
            </a:r>
            <a:r>
              <a:rPr lang="en-US" altLang="zh-CN" sz="3200" b="1" dirty="0">
                <a:latin typeface="+mj-lt"/>
              </a:rPr>
              <a:t>.</a:t>
            </a:r>
          </a:p>
          <a:p>
            <a:pPr>
              <a:lnSpc>
                <a:spcPct val="110000"/>
              </a:lnSpc>
            </a:pPr>
            <a:r>
              <a:rPr lang="zh-CN" altLang="en-US" sz="3200" b="1" dirty="0">
                <a:latin typeface="+mj-lt"/>
              </a:rPr>
              <a:t>情况</a:t>
            </a:r>
            <a:r>
              <a:rPr lang="en-US" altLang="zh-CN" sz="3200" b="1" dirty="0">
                <a:latin typeface="+mj-lt"/>
              </a:rPr>
              <a:t>危急</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文本框 1"/>
          <p:cNvSpPr txBox="1"/>
          <p:nvPr/>
        </p:nvSpPr>
        <p:spPr>
          <a:xfrm>
            <a:off x="668976" y="366157"/>
            <a:ext cx="10654145" cy="5406390"/>
          </a:xfrm>
          <a:prstGeom prst="rect">
            <a:avLst/>
          </a:prstGeom>
          <a:noFill/>
          <a:ln w="28575">
            <a:noFill/>
          </a:ln>
          <a:extLst>
            <a:ext uri="{909E8E84-426E-40DD-AFC4-6F175D3DCCD1}">
              <a14:hiddenFill xmlns:a14="http://schemas.microsoft.com/office/drawing/2010/main">
                <a:solidFill>
                  <a:srgbClr val="E6F1FE"/>
                </a:solidFill>
              </a14:hiddenFill>
            </a:ext>
          </a:extLst>
        </p:spPr>
        <p:txBody>
          <a:bodyPr wrap="square" rtlCol="0">
            <a:spAutoFit/>
          </a:bodyPr>
          <a:lstStyle/>
          <a:p>
            <a:pPr>
              <a:lnSpc>
                <a:spcPct val="120000"/>
              </a:lnSpc>
            </a:pPr>
            <a:r>
              <a:rPr lang="en-US" altLang="zh-CN" sz="3200" b="1" dirty="0">
                <a:solidFill>
                  <a:srgbClr val="9966FF"/>
                </a:solidFill>
              </a:rPr>
              <a:t>【</a:t>
            </a:r>
            <a:r>
              <a:rPr lang="zh-CN" altLang="en-US" sz="3200" b="1" dirty="0">
                <a:solidFill>
                  <a:srgbClr val="9966FF"/>
                </a:solidFill>
              </a:rPr>
              <a:t>归纳</a:t>
            </a:r>
            <a:r>
              <a:rPr lang="en-US" altLang="zh-CN" sz="3200" b="1" dirty="0">
                <a:solidFill>
                  <a:srgbClr val="9966FF"/>
                </a:solidFill>
              </a:rPr>
              <a:t>】</a:t>
            </a:r>
          </a:p>
          <a:p>
            <a:pPr>
              <a:lnSpc>
                <a:spcPct val="120000"/>
              </a:lnSpc>
            </a:pPr>
            <a:r>
              <a:rPr lang="en-US" altLang="zh-CN" sz="3200" b="1" dirty="0"/>
              <a:t>  </a:t>
            </a:r>
            <a:r>
              <a:rPr lang="en-US" altLang="zh-CN" sz="3200" b="1" dirty="0">
                <a:solidFill>
                  <a:srgbClr val="FF0000"/>
                </a:solidFill>
              </a:rPr>
              <a:t>be critical of sb/</a:t>
            </a:r>
            <a:r>
              <a:rPr lang="en-US" altLang="zh-CN" sz="3200" b="1" dirty="0" err="1">
                <a:solidFill>
                  <a:srgbClr val="FF0000"/>
                </a:solidFill>
              </a:rPr>
              <a:t>sth</a:t>
            </a:r>
            <a:r>
              <a:rPr lang="en-US" altLang="zh-CN" sz="3200" b="1" dirty="0">
                <a:solidFill>
                  <a:srgbClr val="FF0000"/>
                </a:solidFill>
              </a:rPr>
              <a:t>   </a:t>
            </a:r>
            <a:r>
              <a:rPr lang="zh-CN" altLang="en-US" sz="3200" b="1" dirty="0"/>
              <a:t>对某人</a:t>
            </a:r>
            <a:r>
              <a:rPr lang="en-US" altLang="zh-CN" sz="3200" b="1" dirty="0"/>
              <a:t>/</a:t>
            </a:r>
            <a:r>
              <a:rPr lang="zh-CN" altLang="en-US" sz="3200" b="1" dirty="0"/>
              <a:t>某物很挑剔</a:t>
            </a:r>
            <a:r>
              <a:rPr lang="en-US" altLang="zh-CN" sz="3200" b="1" dirty="0"/>
              <a:t>(</a:t>
            </a:r>
            <a:r>
              <a:rPr lang="zh-CN" altLang="en-US" sz="3200" b="1" dirty="0"/>
              <a:t>或提出批评</a:t>
            </a:r>
            <a:r>
              <a:rPr lang="en-US" altLang="zh-CN" sz="3200" b="1" dirty="0"/>
              <a:t>)</a:t>
            </a:r>
          </a:p>
          <a:p>
            <a:pPr>
              <a:lnSpc>
                <a:spcPct val="120000"/>
              </a:lnSpc>
            </a:pPr>
            <a:r>
              <a:rPr lang="en-US" altLang="zh-CN" sz="3200" b="1" dirty="0"/>
              <a:t>  </a:t>
            </a:r>
            <a:r>
              <a:rPr lang="en-US" altLang="zh-CN" sz="3200" b="1" dirty="0">
                <a:solidFill>
                  <a:srgbClr val="FF0000"/>
                </a:solidFill>
              </a:rPr>
              <a:t>be critical to         </a:t>
            </a:r>
            <a:r>
              <a:rPr lang="zh-CN" altLang="en-US" sz="3200" b="1" dirty="0"/>
              <a:t>对</a:t>
            </a:r>
            <a:r>
              <a:rPr lang="en-US" altLang="zh-CN" sz="3200" b="1" dirty="0">
                <a:latin typeface="+mn-ea"/>
              </a:rPr>
              <a:t>……</a:t>
            </a:r>
            <a:r>
              <a:rPr lang="zh-CN" altLang="en-US" sz="3200" b="1" dirty="0"/>
              <a:t>起到关键的作用</a:t>
            </a:r>
            <a:endParaRPr lang="en-US" altLang="zh-CN" sz="3200" b="1" dirty="0"/>
          </a:p>
          <a:p>
            <a:pPr>
              <a:lnSpc>
                <a:spcPct val="120000"/>
              </a:lnSpc>
            </a:pPr>
            <a:r>
              <a:rPr lang="en-US" altLang="zh-CN" sz="3200" b="1" dirty="0">
                <a:solidFill>
                  <a:srgbClr val="FF0000"/>
                </a:solidFill>
              </a:rPr>
              <a:t>  critical point         </a:t>
            </a:r>
            <a:r>
              <a:rPr lang="zh-CN" altLang="en-US" sz="3200" b="1" dirty="0"/>
              <a:t>临界点</a:t>
            </a:r>
            <a:r>
              <a:rPr lang="en-US" altLang="zh-CN" sz="3200" b="1" dirty="0"/>
              <a:t>; </a:t>
            </a:r>
            <a:r>
              <a:rPr lang="zh-CN" altLang="en-US" sz="3200" b="1" dirty="0"/>
              <a:t>紧要关头</a:t>
            </a:r>
            <a:endParaRPr lang="en-US" altLang="zh-CN" sz="3200" b="1" dirty="0"/>
          </a:p>
          <a:p>
            <a:pPr>
              <a:lnSpc>
                <a:spcPct val="120000"/>
              </a:lnSpc>
            </a:pPr>
            <a:r>
              <a:rPr lang="en-US" altLang="zh-CN" sz="3200" b="1" dirty="0"/>
              <a:t>  </a:t>
            </a:r>
            <a:r>
              <a:rPr lang="en-US" altLang="zh-CN" sz="3200" b="1" dirty="0">
                <a:solidFill>
                  <a:srgbClr val="FF0000"/>
                </a:solidFill>
              </a:rPr>
              <a:t>criticize       </a:t>
            </a:r>
            <a:r>
              <a:rPr lang="en-US" altLang="zh-CN" sz="3200" b="1" i="1" dirty="0">
                <a:solidFill>
                  <a:srgbClr val="FF0000"/>
                </a:solidFill>
              </a:rPr>
              <a:t>v</a:t>
            </a:r>
            <a:r>
              <a:rPr lang="en-US" altLang="zh-CN" sz="3200" b="1" dirty="0">
                <a:solidFill>
                  <a:srgbClr val="FF0000"/>
                </a:solidFill>
              </a:rPr>
              <a:t>. </a:t>
            </a:r>
            <a:r>
              <a:rPr lang="zh-CN" altLang="en-US" sz="3200" b="1" dirty="0">
                <a:solidFill>
                  <a:srgbClr val="FF0000"/>
                </a:solidFill>
              </a:rPr>
              <a:t>批评</a:t>
            </a:r>
            <a:r>
              <a:rPr lang="en-US" altLang="zh-CN" sz="3200" b="1" dirty="0">
                <a:solidFill>
                  <a:srgbClr val="FF0000"/>
                </a:solidFill>
              </a:rPr>
              <a:t>; </a:t>
            </a:r>
            <a:r>
              <a:rPr lang="zh-CN" altLang="en-US" sz="3200" b="1" dirty="0">
                <a:solidFill>
                  <a:srgbClr val="FF0000"/>
                </a:solidFill>
              </a:rPr>
              <a:t>挑剔</a:t>
            </a:r>
            <a:r>
              <a:rPr lang="en-US" altLang="zh-CN" sz="3200" b="1" dirty="0">
                <a:solidFill>
                  <a:srgbClr val="FF0000"/>
                </a:solidFill>
              </a:rPr>
              <a:t>; </a:t>
            </a:r>
            <a:r>
              <a:rPr lang="zh-CN" altLang="en-US" sz="3200" b="1" dirty="0">
                <a:solidFill>
                  <a:srgbClr val="FF0000"/>
                </a:solidFill>
              </a:rPr>
              <a:t>评论</a:t>
            </a:r>
            <a:endParaRPr lang="en-US" altLang="zh-CN" sz="3200" b="1" dirty="0">
              <a:solidFill>
                <a:srgbClr val="FF0000"/>
              </a:solidFill>
            </a:endParaRPr>
          </a:p>
          <a:p>
            <a:pPr>
              <a:lnSpc>
                <a:spcPct val="120000"/>
              </a:lnSpc>
            </a:pPr>
            <a:r>
              <a:rPr lang="en-US" altLang="zh-CN" sz="3200" b="1" dirty="0">
                <a:solidFill>
                  <a:srgbClr val="FF0000"/>
                </a:solidFill>
              </a:rPr>
              <a:t>  critic            </a:t>
            </a:r>
            <a:r>
              <a:rPr lang="en-US" altLang="zh-CN" sz="3200" b="1" i="1" dirty="0">
                <a:solidFill>
                  <a:srgbClr val="FF0000"/>
                </a:solidFill>
              </a:rPr>
              <a:t>n</a:t>
            </a:r>
            <a:r>
              <a:rPr lang="en-US" altLang="zh-CN" sz="3200" b="1" dirty="0">
                <a:solidFill>
                  <a:srgbClr val="FF0000"/>
                </a:solidFill>
              </a:rPr>
              <a:t>. </a:t>
            </a:r>
            <a:r>
              <a:rPr lang="zh-CN" altLang="en-US" sz="3200" b="1" dirty="0">
                <a:solidFill>
                  <a:srgbClr val="FF0000"/>
                </a:solidFill>
              </a:rPr>
              <a:t>评论家</a:t>
            </a:r>
            <a:r>
              <a:rPr lang="en-US" altLang="zh-CN" sz="3200" b="1" dirty="0">
                <a:solidFill>
                  <a:srgbClr val="FF0000"/>
                </a:solidFill>
              </a:rPr>
              <a:t>; </a:t>
            </a:r>
            <a:r>
              <a:rPr lang="zh-CN" altLang="en-US" sz="3200" b="1" dirty="0">
                <a:solidFill>
                  <a:srgbClr val="FF0000"/>
                </a:solidFill>
              </a:rPr>
              <a:t>批评家</a:t>
            </a:r>
            <a:endParaRPr lang="en-US" altLang="zh-CN" sz="3200" b="1" dirty="0">
              <a:solidFill>
                <a:srgbClr val="FF0000"/>
              </a:solidFill>
            </a:endParaRPr>
          </a:p>
          <a:p>
            <a:pPr>
              <a:lnSpc>
                <a:spcPct val="120000"/>
              </a:lnSpc>
            </a:pPr>
            <a:r>
              <a:rPr lang="en-US" altLang="zh-CN" sz="3200" b="1" dirty="0">
                <a:solidFill>
                  <a:srgbClr val="FF0000"/>
                </a:solidFill>
              </a:rPr>
              <a:t>  critically     </a:t>
            </a:r>
            <a:r>
              <a:rPr lang="en-US" altLang="zh-CN" sz="3200" b="1" i="1" dirty="0">
                <a:solidFill>
                  <a:srgbClr val="FF0000"/>
                </a:solidFill>
              </a:rPr>
              <a:t>adv.  </a:t>
            </a:r>
            <a:r>
              <a:rPr lang="zh-CN" altLang="en-US" sz="3200" b="1" dirty="0">
                <a:solidFill>
                  <a:srgbClr val="FF0000"/>
                </a:solidFill>
              </a:rPr>
              <a:t>危急地</a:t>
            </a:r>
            <a:r>
              <a:rPr lang="en-US" altLang="zh-CN" sz="3200" b="1" dirty="0">
                <a:solidFill>
                  <a:srgbClr val="FF0000"/>
                </a:solidFill>
              </a:rPr>
              <a:t>; </a:t>
            </a:r>
            <a:r>
              <a:rPr lang="zh-CN" altLang="en-US" sz="3200" b="1" dirty="0">
                <a:solidFill>
                  <a:srgbClr val="FF0000"/>
                </a:solidFill>
              </a:rPr>
              <a:t>严重地</a:t>
            </a:r>
            <a:r>
              <a:rPr lang="en-US" altLang="zh-CN" sz="3200" b="1" dirty="0">
                <a:solidFill>
                  <a:srgbClr val="FF0000"/>
                </a:solidFill>
              </a:rPr>
              <a:t>; </a:t>
            </a:r>
            <a:r>
              <a:rPr lang="zh-CN" altLang="en-US" sz="3200" b="1" dirty="0">
                <a:solidFill>
                  <a:srgbClr val="FF0000"/>
                </a:solidFill>
              </a:rPr>
              <a:t>批评地</a:t>
            </a:r>
          </a:p>
          <a:p>
            <a:pPr indent="457200">
              <a:lnSpc>
                <a:spcPct val="120000"/>
              </a:lnSpc>
            </a:pPr>
            <a:r>
              <a:rPr lang="en-US" altLang="zh-CN" sz="3200" b="1" dirty="0">
                <a:solidFill>
                  <a:schemeClr val="tx1"/>
                </a:solidFill>
              </a:rPr>
              <a:t>He is</a:t>
            </a:r>
            <a:r>
              <a:rPr lang="en-US" altLang="zh-CN" sz="3200" b="1" dirty="0">
                <a:solidFill>
                  <a:srgbClr val="FF0000"/>
                </a:solidFill>
              </a:rPr>
              <a:t> critically ill</a:t>
            </a:r>
            <a:r>
              <a:rPr lang="en-US" altLang="zh-CN" sz="3200" b="1" dirty="0">
                <a:solidFill>
                  <a:schemeClr val="tx1"/>
                </a:solidFill>
              </a:rPr>
              <a:t> in intensive care.</a:t>
            </a:r>
          </a:p>
          <a:p>
            <a:pPr indent="457200">
              <a:lnSpc>
                <a:spcPct val="120000"/>
              </a:lnSpc>
            </a:pPr>
            <a:r>
              <a:rPr lang="en-US" altLang="zh-CN" sz="3200" b="1" dirty="0">
                <a:solidFill>
                  <a:schemeClr val="tx1"/>
                </a:solidFill>
              </a:rPr>
              <a:t>他病得很重，正处于特护之中。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文本框 1"/>
          <p:cNvSpPr txBox="1"/>
          <p:nvPr/>
        </p:nvSpPr>
        <p:spPr>
          <a:xfrm>
            <a:off x="302895" y="276225"/>
            <a:ext cx="11508105" cy="5996940"/>
          </a:xfrm>
          <a:prstGeom prst="rect">
            <a:avLst/>
          </a:prstGeom>
          <a:noFill/>
        </p:spPr>
        <p:txBody>
          <a:bodyPr wrap="square" rtlCol="0">
            <a:spAutoFit/>
          </a:bodyPr>
          <a:lstStyle/>
          <a:p>
            <a:pPr>
              <a:lnSpc>
                <a:spcPct val="120000"/>
              </a:lnSpc>
            </a:pPr>
            <a:r>
              <a:rPr lang="en-US" altLang="zh-CN" sz="3200" b="1" dirty="0">
                <a:solidFill>
                  <a:srgbClr val="9966FF"/>
                </a:solidFill>
              </a:rPr>
              <a:t>【</a:t>
            </a:r>
            <a:r>
              <a:rPr lang="zh-CN" altLang="en-US" sz="3200" b="1" dirty="0">
                <a:solidFill>
                  <a:srgbClr val="9966FF"/>
                </a:solidFill>
              </a:rPr>
              <a:t>语境应用</a:t>
            </a:r>
            <a:r>
              <a:rPr lang="en-US" altLang="zh-CN" sz="3200" b="1" dirty="0">
                <a:solidFill>
                  <a:srgbClr val="9966FF"/>
                </a:solidFill>
              </a:rPr>
              <a:t>】</a:t>
            </a:r>
            <a:r>
              <a:rPr lang="zh-CN" altLang="en-US" sz="3200" b="1" dirty="0">
                <a:solidFill>
                  <a:srgbClr val="9966FF"/>
                </a:solidFill>
              </a:rPr>
              <a:t>完成句子。</a:t>
            </a:r>
            <a:endParaRPr lang="en-US" altLang="zh-CN" sz="3200" b="1" dirty="0">
              <a:solidFill>
                <a:srgbClr val="9966FF"/>
              </a:solidFill>
            </a:endParaRPr>
          </a:p>
          <a:p>
            <a:pPr marL="624205" indent="-624205">
              <a:lnSpc>
                <a:spcPct val="120000"/>
              </a:lnSpc>
            </a:pPr>
            <a:r>
              <a:rPr lang="en-US" altLang="zh-CN" sz="3200" b="1" dirty="0"/>
              <a:t>  1) The journalists ________________ (</a:t>
            </a:r>
            <a:r>
              <a:rPr lang="zh-CN" altLang="en-US" sz="3200" b="1" dirty="0"/>
              <a:t>对</a:t>
            </a:r>
            <a:r>
              <a:rPr lang="en-US" altLang="zh-CN" sz="3200" b="1" dirty="0">
                <a:latin typeface="+mn-ea"/>
              </a:rPr>
              <a:t>……</a:t>
            </a:r>
            <a:r>
              <a:rPr lang="zh-CN" altLang="en-US" sz="3200" b="1" dirty="0"/>
              <a:t>提出批评</a:t>
            </a:r>
            <a:r>
              <a:rPr lang="en-US" altLang="zh-CN" sz="3200" b="1" dirty="0"/>
              <a:t>) the speaker’s comments.</a:t>
            </a:r>
          </a:p>
          <a:p>
            <a:pPr marL="624205" indent="-624205">
              <a:lnSpc>
                <a:spcPct val="120000"/>
              </a:lnSpc>
            </a:pPr>
            <a:r>
              <a:rPr lang="en-US" altLang="zh-CN" sz="3200" b="1" dirty="0"/>
              <a:t>  2) According to the World Wildlife fund, the global black rhino population has dropped as low as 5500, giving the rhinos a “ ___________ (critical) </a:t>
            </a:r>
            <a:r>
              <a:rPr lang="en-US" altLang="zh-CN" sz="3200" b="1" dirty="0">
                <a:solidFill>
                  <a:srgbClr val="FF0000"/>
                </a:solidFill>
              </a:rPr>
              <a:t>endangered</a:t>
            </a:r>
            <a:r>
              <a:rPr lang="en-US" altLang="zh-CN" sz="3200" b="1" dirty="0"/>
              <a:t>” status. </a:t>
            </a:r>
          </a:p>
          <a:p>
            <a:pPr marL="624205" indent="-624205">
              <a:lnSpc>
                <a:spcPct val="120000"/>
              </a:lnSpc>
            </a:pPr>
            <a:r>
              <a:rPr lang="en-US" altLang="zh-CN" sz="3200" b="1" dirty="0"/>
              <a:t>  3) Plans for the new factory have drawn fierce ________ (critical) from local people.</a:t>
            </a:r>
          </a:p>
          <a:p>
            <a:pPr marL="624205" indent="-624205">
              <a:lnSpc>
                <a:spcPct val="120000"/>
              </a:lnSpc>
            </a:pPr>
            <a:r>
              <a:rPr lang="en-US" altLang="zh-CN" sz="3200" b="1" dirty="0"/>
              <a:t>   4) The new proposals have been _______ (critical) for not going far enough to change the system.</a:t>
            </a:r>
          </a:p>
        </p:txBody>
      </p:sp>
      <p:sp>
        <p:nvSpPr>
          <p:cNvPr id="3" name="矩形 2"/>
          <p:cNvSpPr/>
          <p:nvPr/>
        </p:nvSpPr>
        <p:spPr>
          <a:xfrm>
            <a:off x="3989070" y="916305"/>
            <a:ext cx="2868295" cy="583565"/>
          </a:xfrm>
          <a:prstGeom prst="rect">
            <a:avLst/>
          </a:prstGeom>
        </p:spPr>
        <p:txBody>
          <a:bodyPr wrap="square">
            <a:spAutoFit/>
          </a:bodyPr>
          <a:lstStyle/>
          <a:p>
            <a:r>
              <a:rPr lang="en-US" altLang="zh-CN" sz="3200" b="1" dirty="0">
                <a:solidFill>
                  <a:srgbClr val="FF0000"/>
                </a:solidFill>
              </a:rPr>
              <a:t>are critical of </a:t>
            </a:r>
            <a:endParaRPr lang="zh-CN" altLang="en-US" sz="3200" b="1" dirty="0">
              <a:solidFill>
                <a:srgbClr val="FF0000"/>
              </a:solidFill>
            </a:endParaRPr>
          </a:p>
        </p:txBody>
      </p:sp>
      <p:sp>
        <p:nvSpPr>
          <p:cNvPr id="5" name="矩形 4"/>
          <p:cNvSpPr/>
          <p:nvPr/>
        </p:nvSpPr>
        <p:spPr>
          <a:xfrm>
            <a:off x="1445260" y="3188335"/>
            <a:ext cx="1893570" cy="583565"/>
          </a:xfrm>
          <a:prstGeom prst="rect">
            <a:avLst/>
          </a:prstGeom>
        </p:spPr>
        <p:txBody>
          <a:bodyPr wrap="square">
            <a:spAutoFit/>
          </a:bodyPr>
          <a:lstStyle/>
          <a:p>
            <a:r>
              <a:rPr lang="en-US" altLang="zh-CN" sz="3200" b="1" dirty="0">
                <a:solidFill>
                  <a:srgbClr val="FF0000"/>
                </a:solidFill>
              </a:rPr>
              <a:t>critically</a:t>
            </a:r>
            <a:endParaRPr lang="zh-CN" altLang="en-US" sz="3200" b="1" dirty="0">
              <a:solidFill>
                <a:srgbClr val="FF0000"/>
              </a:solidFill>
            </a:endParaRPr>
          </a:p>
        </p:txBody>
      </p:sp>
      <p:sp>
        <p:nvSpPr>
          <p:cNvPr id="6" name="矩形 4"/>
          <p:cNvSpPr/>
          <p:nvPr>
            <p:custDataLst>
              <p:tags r:id="rId1"/>
            </p:custDataLst>
          </p:nvPr>
        </p:nvSpPr>
        <p:spPr>
          <a:xfrm>
            <a:off x="8655050" y="3771900"/>
            <a:ext cx="1849755" cy="583565"/>
          </a:xfrm>
          <a:prstGeom prst="rect">
            <a:avLst/>
          </a:prstGeom>
        </p:spPr>
        <p:txBody>
          <a:bodyPr wrap="square">
            <a:spAutoFit/>
          </a:bodyPr>
          <a:lstStyle/>
          <a:p>
            <a:r>
              <a:rPr lang="en-US" altLang="zh-CN" sz="3200" b="1" dirty="0">
                <a:solidFill>
                  <a:srgbClr val="FF0000"/>
                </a:solidFill>
              </a:rPr>
              <a:t>criticism</a:t>
            </a:r>
            <a:endParaRPr lang="zh-CN" altLang="en-US" sz="3200" b="1" dirty="0">
              <a:solidFill>
                <a:srgbClr val="FF0000"/>
              </a:solidFill>
            </a:endParaRPr>
          </a:p>
        </p:txBody>
      </p:sp>
      <p:sp>
        <p:nvSpPr>
          <p:cNvPr id="7" name="矩形 4"/>
          <p:cNvSpPr/>
          <p:nvPr>
            <p:custDataLst>
              <p:tags r:id="rId2"/>
            </p:custDataLst>
          </p:nvPr>
        </p:nvSpPr>
        <p:spPr>
          <a:xfrm>
            <a:off x="6244590" y="4972685"/>
            <a:ext cx="1849755" cy="583565"/>
          </a:xfrm>
          <a:prstGeom prst="rect">
            <a:avLst/>
          </a:prstGeom>
        </p:spPr>
        <p:txBody>
          <a:bodyPr wrap="square">
            <a:spAutoFit/>
          </a:bodyPr>
          <a:lstStyle/>
          <a:p>
            <a:r>
              <a:rPr lang="en-US" altLang="zh-CN" sz="3200" b="1" dirty="0">
                <a:solidFill>
                  <a:srgbClr val="FF0000"/>
                </a:solidFill>
              </a:rPr>
              <a:t>criticized</a:t>
            </a:r>
            <a:endParaRPr lang="zh-CN" altLang="en-US" sz="32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5" grpId="0"/>
      <p:bldP spid="6" grpId="0"/>
      <p:bldP spid="7"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7" name="文本框 6"/>
          <p:cNvSpPr txBox="1"/>
          <p:nvPr/>
        </p:nvSpPr>
        <p:spPr>
          <a:xfrm>
            <a:off x="9525" y="0"/>
            <a:ext cx="11922760" cy="2465070"/>
          </a:xfrm>
          <a:prstGeom prst="rect">
            <a:avLst/>
          </a:prstGeom>
        </p:spPr>
        <p:txBody>
          <a:bodyPr vert="horz" lIns="91440" tIns="45720" rIns="91440" bIns="45720" rtlCol="0">
            <a:noAutofit/>
          </a:bodyPr>
          <a:lstStyle/>
          <a:p>
            <a:pPr marL="443230" indent="-443230">
              <a:lnSpc>
                <a:spcPct val="120000"/>
              </a:lnSpc>
              <a:spcAft>
                <a:spcPts val="600"/>
              </a:spcAft>
            </a:pPr>
            <a:r>
              <a:rPr lang="en-US" altLang="zh-CN" sz="3200" b="1" dirty="0">
                <a:solidFill>
                  <a:prstClr val="black"/>
                </a:solidFill>
                <a:cs typeface="Times New Roman" panose="02020503050405090304" pitchFamily="18" charset="0"/>
              </a:rPr>
              <a:t>2. The fire, </a:t>
            </a:r>
            <a:r>
              <a:rPr lang="en-US" altLang="zh-CN" sz="3200" b="1" dirty="0">
                <a:solidFill>
                  <a:schemeClr val="tx1"/>
                </a:solidFill>
                <a:cs typeface="Times New Roman" panose="02020503050405090304" pitchFamily="18" charset="0"/>
              </a:rPr>
              <a:t>which </a:t>
            </a:r>
            <a:r>
              <a:rPr lang="en-US" altLang="zh-CN" sz="3200" b="1" dirty="0">
                <a:solidFill>
                  <a:srgbClr val="FF0000"/>
                </a:solidFill>
                <a:cs typeface="Times New Roman" panose="02020503050405090304" pitchFamily="18" charset="0"/>
              </a:rPr>
              <a:t>is thought to have started </a:t>
            </a:r>
            <a:r>
              <a:rPr lang="en-US" altLang="zh-CN" sz="3200" b="1" dirty="0">
                <a:solidFill>
                  <a:prstClr val="black"/>
                </a:solidFill>
                <a:cs typeface="Times New Roman" panose="02020503050405090304" pitchFamily="18" charset="0"/>
              </a:rPr>
              <a:t>from the 8th floor, spread quickly through the tower block on Sunday night, </a:t>
            </a:r>
            <a:r>
              <a:rPr lang="en-US" altLang="zh-CN" sz="3200" b="1" dirty="0">
                <a:solidFill>
                  <a:srgbClr val="FF0000"/>
                </a:solidFill>
                <a:cs typeface="Times New Roman" panose="02020503050405090304" pitchFamily="18" charset="0"/>
              </a:rPr>
              <a:t>leaving people on the upper floors trapped</a:t>
            </a:r>
            <a:r>
              <a:rPr lang="en-US" altLang="zh-CN" sz="3200" b="1" dirty="0">
                <a:solidFill>
                  <a:prstClr val="black"/>
                </a:solidFill>
                <a:cs typeface="Times New Roman" panose="02020503050405090304" pitchFamily="18" charset="0"/>
              </a:rPr>
              <a:t>.</a:t>
            </a:r>
          </a:p>
        </p:txBody>
      </p:sp>
      <p:cxnSp>
        <p:nvCxnSpPr>
          <p:cNvPr id="8" name="直接连接符 7"/>
          <p:cNvCxnSpPr/>
          <p:nvPr/>
        </p:nvCxnSpPr>
        <p:spPr>
          <a:xfrm>
            <a:off x="628312" y="1826034"/>
            <a:ext cx="6101715" cy="0"/>
          </a:xfrm>
          <a:prstGeom prst="line">
            <a:avLst/>
          </a:prstGeom>
          <a:ln w="28575">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圆角矩形标注 10"/>
          <p:cNvSpPr/>
          <p:nvPr/>
        </p:nvSpPr>
        <p:spPr>
          <a:xfrm>
            <a:off x="582639" y="2050278"/>
            <a:ext cx="8785747" cy="1138067"/>
          </a:xfrm>
          <a:prstGeom prst="wedgeRoundRectCallout">
            <a:avLst>
              <a:gd name="adj1" fmla="val -19827"/>
              <a:gd name="adj2" fmla="val -69535"/>
              <a:gd name="adj3" fmla="val 16667"/>
            </a:avLst>
          </a:prstGeom>
          <a:solidFill>
            <a:srgbClr val="00B0F0"/>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prstClr val="white"/>
              </a:solidFill>
            </a:endParaRPr>
          </a:p>
        </p:txBody>
      </p:sp>
      <p:sp>
        <p:nvSpPr>
          <p:cNvPr id="13" name="矩形 12"/>
          <p:cNvSpPr/>
          <p:nvPr/>
        </p:nvSpPr>
        <p:spPr>
          <a:xfrm>
            <a:off x="596494" y="2100241"/>
            <a:ext cx="8771892" cy="1077218"/>
          </a:xfrm>
          <a:prstGeom prst="rect">
            <a:avLst/>
          </a:prstGeom>
        </p:spPr>
        <p:txBody>
          <a:bodyPr wrap="square">
            <a:spAutoFit/>
          </a:bodyPr>
          <a:lstStyle/>
          <a:p>
            <a:r>
              <a:rPr lang="zh-CN" altLang="en-US" sz="3200" b="1" dirty="0">
                <a:solidFill>
                  <a:prstClr val="white"/>
                </a:solidFill>
                <a:cs typeface="Times New Roman" panose="02020503050405090304" pitchFamily="18" charset="0"/>
              </a:rPr>
              <a:t>现在分词短语作结果状语</a:t>
            </a:r>
            <a:r>
              <a:rPr lang="en-US" altLang="zh-CN" sz="3200" b="1" dirty="0">
                <a:solidFill>
                  <a:prstClr val="white"/>
                </a:solidFill>
                <a:cs typeface="Times New Roman" panose="02020503050405090304" pitchFamily="18" charset="0"/>
              </a:rPr>
              <a:t>, </a:t>
            </a:r>
            <a:r>
              <a:rPr lang="zh-CN" altLang="en-US" sz="3200" b="1" dirty="0">
                <a:solidFill>
                  <a:prstClr val="white"/>
                </a:solidFill>
                <a:cs typeface="Times New Roman" panose="02020503050405090304" pitchFamily="18" charset="0"/>
              </a:rPr>
              <a:t>表示自然而然的结果</a:t>
            </a:r>
            <a:endParaRPr lang="en-US" altLang="zh-CN" sz="3200" b="1" dirty="0">
              <a:solidFill>
                <a:prstClr val="white"/>
              </a:solidFill>
              <a:cs typeface="Times New Roman" panose="02020503050405090304" pitchFamily="18" charset="0"/>
            </a:endParaRPr>
          </a:p>
          <a:p>
            <a:r>
              <a:rPr lang="en-US" altLang="zh-CN" sz="3200" b="1" dirty="0">
                <a:solidFill>
                  <a:prstClr val="white"/>
                </a:solidFill>
                <a:cs typeface="Times New Roman" panose="02020503050405090304" pitchFamily="18" charset="0"/>
              </a:rPr>
              <a:t>leave sb. done   </a:t>
            </a:r>
            <a:r>
              <a:rPr lang="zh-CN" altLang="en-US" sz="3200" b="1" dirty="0">
                <a:solidFill>
                  <a:prstClr val="white"/>
                </a:solidFill>
                <a:cs typeface="Times New Roman" panose="02020503050405090304" pitchFamily="18" charset="0"/>
              </a:rPr>
              <a:t>让某人被</a:t>
            </a:r>
            <a:r>
              <a:rPr lang="en-US" altLang="zh-CN" sz="3200" b="1" dirty="0">
                <a:solidFill>
                  <a:prstClr val="white"/>
                </a:solidFill>
                <a:latin typeface="宋体"/>
                <a:cs typeface="Times New Roman" panose="02020503050405090304" pitchFamily="18" charset="0"/>
              </a:rPr>
              <a:t>……</a:t>
            </a:r>
            <a:endParaRPr lang="en-US" altLang="zh-CN" sz="3200" b="1" dirty="0">
              <a:solidFill>
                <a:prstClr val="white"/>
              </a:solidFill>
              <a:cs typeface="Times New Roman" panose="02020503050405090304" pitchFamily="18" charset="0"/>
            </a:endParaRPr>
          </a:p>
        </p:txBody>
      </p:sp>
      <p:sp>
        <p:nvSpPr>
          <p:cNvPr id="3" name="文本框 6"/>
          <p:cNvSpPr txBox="1"/>
          <p:nvPr/>
        </p:nvSpPr>
        <p:spPr>
          <a:xfrm>
            <a:off x="9525" y="3188335"/>
            <a:ext cx="11922760" cy="2453640"/>
          </a:xfrm>
          <a:prstGeom prst="rect">
            <a:avLst/>
          </a:prstGeom>
          <a:solidFill>
            <a:srgbClr val="E6F1FE"/>
          </a:solidFill>
          <a:ln w="28575">
            <a:noFill/>
          </a:ln>
        </p:spPr>
        <p:txBody>
          <a:bodyPr wrap="square" rtlCol="0">
            <a:spAutoFit/>
          </a:bodyPr>
          <a:lstStyle/>
          <a:p>
            <a:pPr>
              <a:lnSpc>
                <a:spcPct val="120000"/>
              </a:lnSpc>
            </a:pPr>
            <a:r>
              <a:rPr lang="en-US" altLang="zh-CN" sz="3200" b="1" dirty="0">
                <a:solidFill>
                  <a:srgbClr val="FF0000"/>
                </a:solidFill>
              </a:rPr>
              <a:t>be thought to have done …  </a:t>
            </a:r>
            <a:r>
              <a:rPr lang="zh-CN" altLang="en-US" sz="3200" b="1" dirty="0">
                <a:latin typeface="+mn-ea"/>
              </a:rPr>
              <a:t>被认为做了</a:t>
            </a:r>
            <a:r>
              <a:rPr lang="en-US" altLang="zh-CN" sz="3200" b="1" dirty="0">
                <a:latin typeface="+mn-ea"/>
              </a:rPr>
              <a:t>……</a:t>
            </a:r>
          </a:p>
          <a:p>
            <a:pPr>
              <a:lnSpc>
                <a:spcPct val="120000"/>
              </a:lnSpc>
            </a:pPr>
            <a:r>
              <a:rPr lang="zh-CN" altLang="en-US" sz="3200" b="1" dirty="0">
                <a:solidFill>
                  <a:srgbClr val="FF0000"/>
                </a:solidFill>
              </a:rPr>
              <a:t>强调事情已经发生</a:t>
            </a:r>
            <a:endParaRPr lang="en-US" altLang="zh-CN" sz="3200" b="1" dirty="0">
              <a:solidFill>
                <a:srgbClr val="FF0000"/>
              </a:solidFill>
            </a:endParaRPr>
          </a:p>
          <a:p>
            <a:pPr>
              <a:lnSpc>
                <a:spcPct val="120000"/>
              </a:lnSpc>
            </a:pPr>
            <a:r>
              <a:rPr lang="zh-CN" altLang="en-US" sz="3200" b="1" dirty="0"/>
              <a:t>也可使用</a:t>
            </a:r>
            <a:r>
              <a:rPr lang="en-US" altLang="zh-CN" sz="3200" b="1" dirty="0">
                <a:solidFill>
                  <a:srgbClr val="FF0000"/>
                </a:solidFill>
              </a:rPr>
              <a:t>be thought to do/to be doing …</a:t>
            </a:r>
            <a:r>
              <a:rPr lang="zh-CN" altLang="en-US" sz="3200" b="1" dirty="0"/>
              <a:t>的形式：</a:t>
            </a:r>
            <a:r>
              <a:rPr lang="zh-CN" altLang="en-US" sz="3200" b="1" dirty="0">
                <a:solidFill>
                  <a:srgbClr val="FF0000"/>
                </a:solidFill>
              </a:rPr>
              <a:t>被认为做</a:t>
            </a:r>
            <a:r>
              <a:rPr lang="en-US" altLang="zh-CN" sz="3200" b="1" dirty="0">
                <a:solidFill>
                  <a:srgbClr val="FF0000"/>
                </a:solidFill>
              </a:rPr>
              <a:t>/</a:t>
            </a:r>
            <a:r>
              <a:rPr lang="zh-CN" altLang="en-US" sz="3200" b="1" dirty="0">
                <a:solidFill>
                  <a:srgbClr val="FF0000"/>
                </a:solidFill>
              </a:rPr>
              <a:t>正在做</a:t>
            </a:r>
            <a:r>
              <a:rPr lang="en-US" altLang="zh-CN" sz="3200" b="1" dirty="0">
                <a:solidFill>
                  <a:srgbClr val="FF0000"/>
                </a:solidFill>
              </a:rPr>
              <a:t>……</a:t>
            </a:r>
            <a:r>
              <a:rPr lang="zh-CN" altLang="en-US" sz="3200" b="1" dirty="0"/>
              <a:t>。</a:t>
            </a:r>
          </a:p>
        </p:txBody>
      </p:sp>
      <p:sp>
        <p:nvSpPr>
          <p:cNvPr id="5" name="文本框 4"/>
          <p:cNvSpPr txBox="1"/>
          <p:nvPr>
            <p:custDataLst>
              <p:tags r:id="rId2"/>
            </p:custDataLst>
          </p:nvPr>
        </p:nvSpPr>
        <p:spPr>
          <a:xfrm>
            <a:off x="9525" y="5585460"/>
            <a:ext cx="11662410" cy="1272540"/>
          </a:xfrm>
          <a:prstGeom prst="rect">
            <a:avLst/>
          </a:prstGeom>
          <a:noFill/>
        </p:spPr>
        <p:txBody>
          <a:bodyPr wrap="square" rtlCol="0">
            <a:spAutoFit/>
          </a:bodyPr>
          <a:lstStyle/>
          <a:p>
            <a:pPr indent="-720725" fontAlgn="auto">
              <a:lnSpc>
                <a:spcPct val="120000"/>
              </a:lnSpc>
            </a:pPr>
            <a:r>
              <a:rPr lang="en-US" altLang="zh-CN" sz="3200" b="1" dirty="0"/>
              <a:t>Classical music </a:t>
            </a:r>
            <a:r>
              <a:rPr lang="en-US" altLang="zh-CN" sz="3200" b="1" dirty="0">
                <a:solidFill>
                  <a:srgbClr val="FF0000"/>
                </a:solidFill>
              </a:rPr>
              <a:t>is</a:t>
            </a:r>
            <a:r>
              <a:rPr lang="en-US" altLang="zh-CN" sz="3200" b="1" dirty="0"/>
              <a:t> often ______________</a:t>
            </a:r>
            <a:r>
              <a:rPr lang="en-US" altLang="zh-CN" sz="3200" b="1" dirty="0">
                <a:solidFill>
                  <a:srgbClr val="FF0000"/>
                </a:solidFill>
              </a:rPr>
              <a:t> </a:t>
            </a:r>
            <a:r>
              <a:rPr lang="en-US" altLang="zh-CN" sz="3200" b="1" dirty="0"/>
              <a:t>difficult and inaccessible.</a:t>
            </a:r>
          </a:p>
          <a:p>
            <a:pPr fontAlgn="auto">
              <a:lnSpc>
                <a:spcPct val="120000"/>
              </a:lnSpc>
            </a:pPr>
            <a:r>
              <a:rPr lang="zh-CN" altLang="en-US" sz="3200" b="1" dirty="0"/>
              <a:t>人们常常认为古典音乐曲高和寡。</a:t>
            </a:r>
          </a:p>
        </p:txBody>
      </p:sp>
      <p:sp>
        <p:nvSpPr>
          <p:cNvPr id="2" name="Text Box 1"/>
          <p:cNvSpPr txBox="1"/>
          <p:nvPr/>
        </p:nvSpPr>
        <p:spPr>
          <a:xfrm>
            <a:off x="4227830" y="5585460"/>
            <a:ext cx="6096000" cy="681990"/>
          </a:xfrm>
          <a:prstGeom prst="rect">
            <a:avLst/>
          </a:prstGeom>
          <a:noFill/>
        </p:spPr>
        <p:txBody>
          <a:bodyPr wrap="square" rtlCol="0" anchor="t">
            <a:spAutoFit/>
          </a:bodyPr>
          <a:lstStyle/>
          <a:p>
            <a:pPr>
              <a:lnSpc>
                <a:spcPct val="120000"/>
              </a:lnSpc>
            </a:pPr>
            <a:r>
              <a:rPr lang="en-US" altLang="zh-CN" sz="3200" b="1" dirty="0">
                <a:solidFill>
                  <a:srgbClr val="FF0000"/>
                </a:solidFill>
                <a:sym typeface="+mn-ea"/>
              </a:rPr>
              <a:t>thought to be</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4" presetClass="entr" presetSubtype="1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randombar(horizontal)">
                                      <p:cBhvr>
                                        <p:cTn id="11" dur="500"/>
                                        <p:tgtEl>
                                          <p:spTgt spid="5"/>
                                        </p:tgtEl>
                                      </p:cBhvr>
                                    </p:animEffect>
                                  </p:childTnLst>
                                </p:cTn>
                              </p:par>
                            </p:childTnLst>
                          </p:cTn>
                        </p:par>
                      </p:childTnLst>
                    </p:cTn>
                  </p:par>
                  <p:par>
                    <p:cTn id="12" fill="hold">
                      <p:stCondLst>
                        <p:cond delay="indefinite"/>
                      </p:stCondLst>
                      <p:childTnLst>
                        <p:par>
                          <p:cTn id="13" fill="hold">
                            <p:stCondLst>
                              <p:cond delay="0"/>
                            </p:stCondLst>
                            <p:childTnLst>
                              <p:par>
                                <p:cTn id="14" presetID="22" presetClass="entr" presetSubtype="8" fill="hold"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wipe(left)">
                                      <p:cBhvr>
                                        <p:cTn id="16" dur="500"/>
                                        <p:tgtEl>
                                          <p:spTgt spid="8"/>
                                        </p:tgtEl>
                                      </p:cBhvr>
                                    </p:animEffect>
                                  </p:childTnLst>
                                </p:cTn>
                              </p:par>
                            </p:childTnLst>
                          </p:cTn>
                        </p:par>
                        <p:par>
                          <p:cTn id="17" fill="hold">
                            <p:stCondLst>
                              <p:cond delay="500"/>
                            </p:stCondLst>
                            <p:childTnLst>
                              <p:par>
                                <p:cTn id="18" presetID="22" presetClass="entr" presetSubtype="1" fill="hold" grpId="0"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wipe(up)">
                                      <p:cBhvr>
                                        <p:cTn id="20" dur="500"/>
                                        <p:tgtEl>
                                          <p:spTgt spid="13"/>
                                        </p:tgtEl>
                                      </p:cBhvr>
                                    </p:animEffect>
                                  </p:childTnLst>
                                </p:cTn>
                              </p:par>
                              <p:par>
                                <p:cTn id="21" presetID="22" presetClass="entr" presetSubtype="1" fill="hold" grpId="0" nodeType="withEffect">
                                  <p:stCondLst>
                                    <p:cond delay="0"/>
                                  </p:stCondLst>
                                  <p:childTnLst>
                                    <p:set>
                                      <p:cBhvr>
                                        <p:cTn id="22" dur="1" fill="hold">
                                          <p:stCondLst>
                                            <p:cond delay="0"/>
                                          </p:stCondLst>
                                        </p:cTn>
                                        <p:tgtEl>
                                          <p:spTgt spid="11"/>
                                        </p:tgtEl>
                                        <p:attrNameLst>
                                          <p:attrName>style.visibility</p:attrName>
                                        </p:attrNameLst>
                                      </p:cBhvr>
                                      <p:to>
                                        <p:strVal val="visible"/>
                                      </p:to>
                                    </p:set>
                                    <p:animEffect transition="in" filter="wipe(up)">
                                      <p:cBhvr>
                                        <p:cTn id="23" dur="500"/>
                                        <p:tgtEl>
                                          <p:spTgt spid="11"/>
                                        </p:tgtEl>
                                      </p:cBhvr>
                                    </p:animEffec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bldLvl="0" animBg="1"/>
      <p:bldP spid="13" grpId="0"/>
      <p:bldP spid="3" grpId="0" bldLvl="0" animBg="1"/>
      <p:bldP spid="3" grpId="1" animBg="1"/>
      <p:bldP spid="5" grpId="0"/>
      <p:bldP spid="2" grpId="0"/>
      <p:bldP spid="2" grpId="1"/>
    </p:bldLst>
  </p:timing>
</p:sld>
</file>

<file path=ppt/slides/slide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文本框 4"/>
          <p:cNvSpPr txBox="1"/>
          <p:nvPr/>
        </p:nvSpPr>
        <p:spPr>
          <a:xfrm>
            <a:off x="264795" y="0"/>
            <a:ext cx="11662410" cy="4815840"/>
          </a:xfrm>
          <a:prstGeom prst="rect">
            <a:avLst/>
          </a:prstGeom>
          <a:noFill/>
        </p:spPr>
        <p:txBody>
          <a:bodyPr wrap="square" rtlCol="0">
            <a:spAutoFit/>
          </a:bodyPr>
          <a:lstStyle/>
          <a:p>
            <a:pPr indent="-720725" fontAlgn="auto">
              <a:lnSpc>
                <a:spcPct val="120000"/>
              </a:lnSpc>
            </a:pPr>
            <a:r>
              <a:rPr lang="zh-CN" altLang="en-US" sz="3200" b="1" dirty="0"/>
              <a:t>据说那位作家正在创作一部小说。</a:t>
            </a:r>
          </a:p>
          <a:p>
            <a:pPr indent="-720725" fontAlgn="auto">
              <a:lnSpc>
                <a:spcPct val="120000"/>
              </a:lnSpc>
            </a:pPr>
            <a:r>
              <a:rPr lang="en-US" altLang="zh-CN" sz="3200" b="1" dirty="0"/>
              <a:t>The writer is said ______________________.</a:t>
            </a:r>
          </a:p>
          <a:p>
            <a:pPr indent="-720725" fontAlgn="auto">
              <a:lnSpc>
                <a:spcPct val="120000"/>
              </a:lnSpc>
            </a:pPr>
            <a:r>
              <a:rPr lang="en-US" altLang="zh-CN" sz="3200" b="1" dirty="0"/>
              <a:t>= It is said that </a:t>
            </a:r>
          </a:p>
          <a:p>
            <a:pPr indent="-720725" fontAlgn="auto">
              <a:lnSpc>
                <a:spcPct val="120000"/>
              </a:lnSpc>
            </a:pPr>
            <a:r>
              <a:rPr lang="zh-CN" altLang="en-US" sz="3200" b="1" dirty="0"/>
              <a:t>大家都知道地球绕着太阳转。</a:t>
            </a:r>
          </a:p>
          <a:p>
            <a:pPr indent="-720725" fontAlgn="auto">
              <a:lnSpc>
                <a:spcPct val="120000"/>
              </a:lnSpc>
            </a:pPr>
            <a:r>
              <a:rPr lang="en-US" altLang="zh-CN" sz="3200" b="1" dirty="0"/>
              <a:t>The Earth is known____________________.</a:t>
            </a:r>
          </a:p>
          <a:p>
            <a:pPr indent="-720725" fontAlgn="auto">
              <a:lnSpc>
                <a:spcPct val="120000"/>
              </a:lnSpc>
            </a:pPr>
            <a:r>
              <a:rPr lang="zh-CN" altLang="en-US" sz="3200" b="1" dirty="0"/>
              <a:t>据报道，麦克打破了记录。</a:t>
            </a:r>
          </a:p>
          <a:p>
            <a:pPr indent="-720725" fontAlgn="auto">
              <a:lnSpc>
                <a:spcPct val="120000"/>
              </a:lnSpc>
            </a:pPr>
            <a:r>
              <a:rPr lang="en-US" altLang="zh-CN" sz="3200" b="1" dirty="0">
                <a:solidFill>
                  <a:srgbClr val="FF0000"/>
                </a:solidFill>
              </a:rPr>
              <a:t>Mike is reported to have broken the record.</a:t>
            </a:r>
          </a:p>
          <a:p>
            <a:pPr indent="-720725" fontAlgn="auto">
              <a:lnSpc>
                <a:spcPct val="120000"/>
              </a:lnSpc>
            </a:pPr>
            <a:r>
              <a:rPr lang="en-US" altLang="zh-CN" sz="3200" b="1" dirty="0">
                <a:solidFill>
                  <a:srgbClr val="FF0000"/>
                </a:solidFill>
              </a:rPr>
              <a:t>= It is reported that Mike had broken the record.</a:t>
            </a:r>
          </a:p>
        </p:txBody>
      </p:sp>
      <p:sp>
        <p:nvSpPr>
          <p:cNvPr id="4" name="Text Box 3"/>
          <p:cNvSpPr txBox="1"/>
          <p:nvPr>
            <p:custDataLst>
              <p:tags r:id="rId2"/>
            </p:custDataLst>
          </p:nvPr>
        </p:nvSpPr>
        <p:spPr>
          <a:xfrm>
            <a:off x="3427095" y="590550"/>
            <a:ext cx="6096000" cy="681990"/>
          </a:xfrm>
          <a:prstGeom prst="rect">
            <a:avLst/>
          </a:prstGeom>
          <a:noFill/>
        </p:spPr>
        <p:txBody>
          <a:bodyPr wrap="square" rtlCol="0" anchor="t">
            <a:spAutoFit/>
          </a:bodyPr>
          <a:lstStyle/>
          <a:p>
            <a:pPr>
              <a:lnSpc>
                <a:spcPct val="120000"/>
              </a:lnSpc>
            </a:pPr>
            <a:r>
              <a:rPr lang="en-US" altLang="zh-CN" sz="3200" b="1" dirty="0">
                <a:solidFill>
                  <a:srgbClr val="FF0000"/>
                </a:solidFill>
                <a:sym typeface="+mn-ea"/>
              </a:rPr>
              <a:t>to be working on a novel</a:t>
            </a:r>
          </a:p>
        </p:txBody>
      </p:sp>
      <p:sp>
        <p:nvSpPr>
          <p:cNvPr id="6" name="Text Box 5"/>
          <p:cNvSpPr txBox="1"/>
          <p:nvPr>
            <p:custDataLst>
              <p:tags r:id="rId3"/>
            </p:custDataLst>
          </p:nvPr>
        </p:nvSpPr>
        <p:spPr>
          <a:xfrm>
            <a:off x="3048000" y="1181100"/>
            <a:ext cx="6096000" cy="681990"/>
          </a:xfrm>
          <a:prstGeom prst="rect">
            <a:avLst/>
          </a:prstGeom>
          <a:noFill/>
        </p:spPr>
        <p:txBody>
          <a:bodyPr wrap="square" rtlCol="0" anchor="t">
            <a:spAutoFit/>
          </a:bodyPr>
          <a:lstStyle/>
          <a:p>
            <a:pPr>
              <a:lnSpc>
                <a:spcPct val="120000"/>
              </a:lnSpc>
            </a:pPr>
            <a:r>
              <a:rPr lang="en-US" altLang="zh-CN" sz="3200" b="1" dirty="0">
                <a:solidFill>
                  <a:srgbClr val="FF0000"/>
                </a:solidFill>
                <a:sym typeface="+mn-ea"/>
              </a:rPr>
              <a:t>the writer is working on a novel.</a:t>
            </a:r>
          </a:p>
        </p:txBody>
      </p:sp>
      <p:sp>
        <p:nvSpPr>
          <p:cNvPr id="9" name="Text Box 8"/>
          <p:cNvSpPr txBox="1"/>
          <p:nvPr>
            <p:custDataLst>
              <p:tags r:id="rId4"/>
            </p:custDataLst>
          </p:nvPr>
        </p:nvSpPr>
        <p:spPr>
          <a:xfrm>
            <a:off x="3910965" y="2362200"/>
            <a:ext cx="6096000" cy="681990"/>
          </a:xfrm>
          <a:prstGeom prst="rect">
            <a:avLst/>
          </a:prstGeom>
          <a:noFill/>
        </p:spPr>
        <p:txBody>
          <a:bodyPr wrap="square" rtlCol="0" anchor="t">
            <a:spAutoFit/>
          </a:bodyPr>
          <a:lstStyle/>
          <a:p>
            <a:pPr>
              <a:lnSpc>
                <a:spcPct val="120000"/>
              </a:lnSpc>
            </a:pPr>
            <a:r>
              <a:rPr lang="en-US" altLang="zh-CN" sz="3200" b="1" dirty="0">
                <a:solidFill>
                  <a:srgbClr val="FF0000"/>
                </a:solidFill>
                <a:sym typeface="+mn-ea"/>
              </a:rPr>
              <a:t>to go around the Sun</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5">
                                            <p:txEl>
                                              <p:pRg st="3" end="3"/>
                                            </p:txEl>
                                          </p:spTgt>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4" grpId="1"/>
      <p:bldP spid="6" grpId="0"/>
      <p:bldP spid="6" grpId="1"/>
      <p:bldP spid="9" grpId="0"/>
      <p:bldP spid="9" grpId="1"/>
    </p:bldLst>
  </p:timing>
</p:sld>
</file>

<file path=ppt/slides/slide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nvSpPr>
        <p:spPr>
          <a:xfrm>
            <a:off x="137160" y="2437130"/>
            <a:ext cx="11818620" cy="4420870"/>
          </a:xfrm>
          <a:prstGeom prst="rect">
            <a:avLst/>
          </a:prstGeom>
        </p:spPr>
        <p:txBody>
          <a:bodyPr wrap="square">
            <a:spAutoFit/>
          </a:bodyPr>
          <a:lstStyle/>
          <a:p>
            <a:pPr indent="-1441450" fontAlgn="auto">
              <a:lnSpc>
                <a:spcPct val="110000"/>
              </a:lnSpc>
            </a:pPr>
            <a:r>
              <a:rPr lang="en-US" altLang="zh-CN" sz="3200" b="1" dirty="0">
                <a:latin typeface="+mj-lt"/>
              </a:rPr>
              <a:t>He found a deer with its leg in a </a:t>
            </a:r>
            <a:r>
              <a:rPr lang="en-US" altLang="zh-CN" sz="3200" b="1" dirty="0">
                <a:solidFill>
                  <a:srgbClr val="FF0000"/>
                </a:solidFill>
                <a:latin typeface="+mj-lt"/>
              </a:rPr>
              <a:t>trap</a:t>
            </a:r>
            <a:r>
              <a:rPr lang="en-US" altLang="zh-CN" sz="3200" b="1" dirty="0">
                <a:latin typeface="+mj-lt"/>
              </a:rPr>
              <a:t>.</a:t>
            </a:r>
          </a:p>
          <a:p>
            <a:pPr indent="-1441450" fontAlgn="auto">
              <a:lnSpc>
                <a:spcPct val="110000"/>
              </a:lnSpc>
            </a:pPr>
            <a:r>
              <a:rPr lang="en-US" altLang="zh-CN" sz="3200" b="1" dirty="0">
                <a:latin typeface="+mj-lt"/>
              </a:rPr>
              <a:t>The police </a:t>
            </a:r>
            <a:r>
              <a:rPr lang="en-US" altLang="zh-CN" sz="3200" b="1" u="sng" dirty="0">
                <a:solidFill>
                  <a:srgbClr val="FF0000"/>
                </a:solidFill>
                <a:latin typeface="+mj-lt"/>
              </a:rPr>
              <a:t>set traps</a:t>
            </a:r>
            <a:r>
              <a:rPr lang="en-US" altLang="zh-CN" sz="3200" b="1" dirty="0">
                <a:latin typeface="+mj-lt"/>
              </a:rPr>
              <a:t> to make the thief tell where the money was.</a:t>
            </a:r>
          </a:p>
          <a:p>
            <a:pPr indent="-1441450" fontAlgn="auto">
              <a:lnSpc>
                <a:spcPct val="110000"/>
              </a:lnSpc>
            </a:pPr>
            <a:r>
              <a:rPr lang="zh-CN" altLang="en-US" sz="3200" b="1" dirty="0">
                <a:latin typeface="+mj-lt"/>
              </a:rPr>
              <a:t>设圈套</a:t>
            </a:r>
            <a:endParaRPr lang="en-US" altLang="zh-CN" sz="3200" b="1" dirty="0">
              <a:latin typeface="+mj-lt"/>
            </a:endParaRPr>
          </a:p>
          <a:p>
            <a:pPr indent="-1441450" fontAlgn="auto">
              <a:lnSpc>
                <a:spcPct val="110000"/>
              </a:lnSpc>
            </a:pPr>
            <a:r>
              <a:rPr lang="en-US" altLang="zh-CN" sz="3200" b="1" dirty="0">
                <a:latin typeface="+mj-lt"/>
              </a:rPr>
              <a:t>Parents often </a:t>
            </a:r>
            <a:r>
              <a:rPr lang="en-US" altLang="zh-CN" sz="3200" b="1" u="sng" dirty="0">
                <a:solidFill>
                  <a:srgbClr val="FF0000"/>
                </a:solidFill>
                <a:latin typeface="+mj-lt"/>
              </a:rPr>
              <a:t>are caught in/fall into the trap of</a:t>
            </a:r>
            <a:r>
              <a:rPr lang="en-US" altLang="zh-CN" sz="3200" b="1" dirty="0">
                <a:latin typeface="+mj-lt"/>
              </a:rPr>
              <a:t> trying to do everything for their children.</a:t>
            </a:r>
          </a:p>
          <a:p>
            <a:pPr indent="-1441450" fontAlgn="auto">
              <a:lnSpc>
                <a:spcPct val="110000"/>
              </a:lnSpc>
            </a:pPr>
            <a:r>
              <a:rPr lang="zh-CN" altLang="en-US" sz="3200" b="1" dirty="0">
                <a:latin typeface="+mj-lt"/>
              </a:rPr>
              <a:t>这么多年奋斗之后，他终于不再深陷贫困。</a:t>
            </a:r>
          </a:p>
          <a:p>
            <a:pPr indent="-1441450" fontAlgn="auto">
              <a:lnSpc>
                <a:spcPct val="110000"/>
              </a:lnSpc>
            </a:pPr>
            <a:r>
              <a:rPr lang="en-US" altLang="zh-CN" sz="3200" b="1" dirty="0">
                <a:solidFill>
                  <a:srgbClr val="FF0000"/>
                </a:solidFill>
                <a:latin typeface="+mj-lt"/>
              </a:rPr>
              <a:t>After struggling for years, he was not caught in the poverty trap finally.</a:t>
            </a:r>
          </a:p>
        </p:txBody>
      </p:sp>
      <p:sp>
        <p:nvSpPr>
          <p:cNvPr id="2" name="矩形 1"/>
          <p:cNvSpPr/>
          <p:nvPr/>
        </p:nvSpPr>
        <p:spPr>
          <a:xfrm>
            <a:off x="246162" y="181192"/>
            <a:ext cx="11473180" cy="2256155"/>
          </a:xfrm>
          <a:prstGeom prst="rect">
            <a:avLst/>
          </a:prstGeom>
          <a:noFill/>
          <a:ln w="28575">
            <a:noFill/>
          </a:ln>
          <a:extLst>
            <a:ext uri="{909E8E84-426E-40DD-AFC4-6F175D3DCCD1}">
              <a14:hiddenFill xmlns:a14="http://schemas.microsoft.com/office/drawing/2010/main">
                <a:solidFill>
                  <a:srgbClr val="E6F1FE"/>
                </a:solidFill>
              </a14:hiddenFill>
            </a:ext>
          </a:extLst>
        </p:spPr>
        <p:txBody>
          <a:bodyPr wrap="square">
            <a:spAutoFit/>
          </a:bodyPr>
          <a:lstStyle/>
          <a:p>
            <a:pPr marL="2148205" indent="-2148205">
              <a:lnSpc>
                <a:spcPct val="110000"/>
              </a:lnSpc>
              <a:tabLst>
                <a:tab pos="899795" algn="l"/>
              </a:tabLst>
            </a:pPr>
            <a:r>
              <a:rPr lang="en-US" altLang="zh-CN" sz="3200" b="1" dirty="0">
                <a:solidFill>
                  <a:srgbClr val="FF0000"/>
                </a:solidFill>
                <a:latin typeface="+mj-lt"/>
              </a:rPr>
              <a:t>trap  </a:t>
            </a:r>
            <a:r>
              <a:rPr lang="en-US" altLang="zh-CN" sz="3200" b="1" i="1" dirty="0">
                <a:solidFill>
                  <a:srgbClr val="FF0000"/>
                </a:solidFill>
                <a:latin typeface="+mj-lt"/>
              </a:rPr>
              <a:t>n.</a:t>
            </a:r>
            <a:r>
              <a:rPr lang="en-US" altLang="zh-CN" sz="3200" b="1" dirty="0">
                <a:latin typeface="+mj-lt"/>
              </a:rPr>
              <a:t>  </a:t>
            </a:r>
          </a:p>
          <a:p>
            <a:pPr marL="2148205" indent="-2148205">
              <a:lnSpc>
                <a:spcPct val="110000"/>
              </a:lnSpc>
              <a:tabLst>
                <a:tab pos="899795" algn="l"/>
              </a:tabLst>
            </a:pPr>
            <a:r>
              <a:rPr lang="en-US" altLang="zh-CN" sz="3200" b="1" dirty="0">
                <a:latin typeface="+mj-lt"/>
              </a:rPr>
              <a:t>1) </a:t>
            </a:r>
            <a:r>
              <a:rPr lang="en-US" altLang="zh-CN" sz="3200" b="1" i="1" dirty="0">
                <a:latin typeface="+mj-lt"/>
              </a:rPr>
              <a:t>a piece of equipment for catching animals</a:t>
            </a:r>
            <a:r>
              <a:rPr lang="en-US" altLang="zh-CN" sz="3200" b="1" dirty="0">
                <a:solidFill>
                  <a:srgbClr val="FF0000"/>
                </a:solidFill>
                <a:latin typeface="+mj-lt"/>
              </a:rPr>
              <a:t> (</a:t>
            </a:r>
            <a:r>
              <a:rPr lang="zh-CN" altLang="en-US" sz="3200" b="1" dirty="0">
                <a:solidFill>
                  <a:srgbClr val="FF0000"/>
                </a:solidFill>
                <a:latin typeface="+mj-lt"/>
              </a:rPr>
              <a:t>捕捉动物的</a:t>
            </a:r>
            <a:r>
              <a:rPr lang="en-US" altLang="zh-CN" sz="3200" b="1" dirty="0">
                <a:solidFill>
                  <a:srgbClr val="FF0000"/>
                </a:solidFill>
                <a:latin typeface="+mj-lt"/>
              </a:rPr>
              <a:t>)</a:t>
            </a:r>
            <a:r>
              <a:rPr lang="zh-CN" altLang="en-US" sz="3200" b="1" dirty="0">
                <a:solidFill>
                  <a:srgbClr val="FF0000"/>
                </a:solidFill>
                <a:latin typeface="+mj-lt"/>
              </a:rPr>
              <a:t>陷阱</a:t>
            </a:r>
            <a:r>
              <a:rPr lang="en-US" altLang="zh-CN" sz="3200" b="1" dirty="0">
                <a:solidFill>
                  <a:srgbClr val="FF0000"/>
                </a:solidFill>
                <a:latin typeface="+mj-lt"/>
              </a:rPr>
              <a:t>,</a:t>
            </a:r>
            <a:r>
              <a:rPr lang="zh-CN" altLang="en-US" sz="3200" b="1" dirty="0">
                <a:solidFill>
                  <a:srgbClr val="FF0000"/>
                </a:solidFill>
                <a:latin typeface="+mj-lt"/>
              </a:rPr>
              <a:t>夹</a:t>
            </a:r>
            <a:endParaRPr lang="en-US" altLang="zh-CN" sz="3200" b="1" dirty="0">
              <a:solidFill>
                <a:srgbClr val="FF0000"/>
              </a:solidFill>
              <a:latin typeface="+mj-lt"/>
            </a:endParaRPr>
          </a:p>
          <a:p>
            <a:pPr marL="1441450" indent="-2882900">
              <a:lnSpc>
                <a:spcPct val="110000"/>
              </a:lnSpc>
            </a:pPr>
            <a:r>
              <a:rPr lang="en-US" altLang="zh-CN" sz="3200" b="1" dirty="0">
                <a:latin typeface="Times New Roman Bold" panose="02020503050405090304" charset="0"/>
                <a:cs typeface="Times New Roman Bold" panose="02020503050405090304" charset="0"/>
              </a:rPr>
              <a:t>2)</a:t>
            </a:r>
            <a:r>
              <a:rPr lang="en-US" altLang="zh-CN" sz="3200" b="1" i="1" dirty="0">
                <a:latin typeface="+mj-lt"/>
              </a:rPr>
              <a:t> </a:t>
            </a:r>
            <a:r>
              <a:rPr lang="en-US" altLang="zh-CN" sz="3200" b="1" i="1" dirty="0">
                <a:solidFill>
                  <a:srgbClr val="0000FF"/>
                </a:solidFill>
                <a:latin typeface="+mj-lt"/>
              </a:rPr>
              <a:t>a trick</a:t>
            </a:r>
            <a:r>
              <a:rPr lang="en-US" altLang="zh-CN" sz="3200" b="1" i="1" dirty="0">
                <a:latin typeface="+mj-lt"/>
              </a:rPr>
              <a:t>  </a:t>
            </a:r>
            <a:r>
              <a:rPr lang="zh-CN" altLang="en-US" sz="3200" b="1" dirty="0">
                <a:solidFill>
                  <a:srgbClr val="FF0000"/>
                </a:solidFill>
                <a:latin typeface="+mj-lt"/>
              </a:rPr>
              <a:t>圈套</a:t>
            </a:r>
            <a:r>
              <a:rPr lang="en-US" altLang="zh-CN" sz="3200" b="1" dirty="0">
                <a:solidFill>
                  <a:srgbClr val="FF0000"/>
                </a:solidFill>
                <a:latin typeface="+mj-lt"/>
              </a:rPr>
              <a:t>, </a:t>
            </a:r>
            <a:r>
              <a:rPr lang="zh-CN" altLang="en-US" sz="3200" b="1" dirty="0">
                <a:solidFill>
                  <a:srgbClr val="FF0000"/>
                </a:solidFill>
                <a:latin typeface="+mj-lt"/>
              </a:rPr>
              <a:t>诡计</a:t>
            </a:r>
            <a:endParaRPr lang="en-US" altLang="zh-CN" sz="3200" b="1" dirty="0">
              <a:solidFill>
                <a:srgbClr val="FF0000"/>
              </a:solidFill>
              <a:latin typeface="+mj-lt"/>
            </a:endParaRPr>
          </a:p>
          <a:p>
            <a:pPr marL="1441450" indent="-1441450">
              <a:lnSpc>
                <a:spcPct val="110000"/>
              </a:lnSpc>
            </a:pPr>
            <a:r>
              <a:rPr lang="en-US" altLang="zh-CN" sz="3200" b="1" i="1" dirty="0">
                <a:latin typeface="+mj-lt"/>
              </a:rPr>
              <a:t>3) </a:t>
            </a:r>
            <a:r>
              <a:rPr lang="en-US" altLang="zh-CN" sz="3200" b="1" i="1" dirty="0">
                <a:solidFill>
                  <a:srgbClr val="0000FF"/>
                </a:solidFill>
                <a:latin typeface="+mj-lt"/>
              </a:rPr>
              <a:t>an unpleasant situation</a:t>
            </a:r>
            <a:r>
              <a:rPr lang="en-US" altLang="zh-CN" sz="3200" b="1" i="1" dirty="0">
                <a:latin typeface="+mj-lt"/>
              </a:rPr>
              <a:t> </a:t>
            </a:r>
            <a:r>
              <a:rPr lang="en-US" altLang="zh-CN" sz="3200" b="1" dirty="0">
                <a:solidFill>
                  <a:srgbClr val="FF0000"/>
                </a:solidFill>
                <a:latin typeface="+mj-lt"/>
              </a:rPr>
              <a:t>(</a:t>
            </a:r>
            <a:r>
              <a:rPr lang="zh-CN" altLang="en-US" sz="3200" b="1" dirty="0">
                <a:solidFill>
                  <a:srgbClr val="FF0000"/>
                </a:solidFill>
                <a:latin typeface="+mj-lt"/>
              </a:rPr>
              <a:t>难以逃脱的</a:t>
            </a:r>
            <a:r>
              <a:rPr lang="en-US" altLang="zh-CN" sz="3200" b="1" dirty="0">
                <a:solidFill>
                  <a:srgbClr val="FF0000"/>
                </a:solidFill>
                <a:latin typeface="+mj-lt"/>
              </a:rPr>
              <a:t>)</a:t>
            </a:r>
            <a:r>
              <a:rPr lang="zh-CN" altLang="en-US" sz="3200" b="1" dirty="0">
                <a:solidFill>
                  <a:srgbClr val="FF0000"/>
                </a:solidFill>
                <a:latin typeface="+mj-lt"/>
              </a:rPr>
              <a:t>困境</a:t>
            </a:r>
            <a:r>
              <a:rPr lang="en-US" altLang="zh-CN" sz="3200" b="1" dirty="0">
                <a:solidFill>
                  <a:srgbClr val="FF0000"/>
                </a:solidFill>
                <a:latin typeface="+mj-lt"/>
              </a:rPr>
              <a:t>, </a:t>
            </a:r>
            <a:r>
              <a:rPr lang="zh-CN" altLang="en-US" sz="3200" b="1" dirty="0">
                <a:solidFill>
                  <a:srgbClr val="FF0000"/>
                </a:solidFill>
                <a:latin typeface="+mj-lt"/>
              </a:rPr>
              <a:t>牢笼 </a:t>
            </a:r>
            <a:endParaRPr lang="en-US" altLang="zh-CN" sz="3200" b="1" dirty="0">
              <a:solidFill>
                <a:srgbClr val="FF0000"/>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nvSpPr>
        <p:spPr>
          <a:xfrm>
            <a:off x="273652" y="629199"/>
            <a:ext cx="11033067" cy="681990"/>
          </a:xfrm>
          <a:prstGeom prst="rect">
            <a:avLst/>
          </a:prstGeom>
          <a:noFill/>
          <a:ln w="28575">
            <a:noFill/>
          </a:ln>
          <a:extLst>
            <a:ext uri="{909E8E84-426E-40DD-AFC4-6F175D3DCCD1}">
              <a14:hiddenFill xmlns:a14="http://schemas.microsoft.com/office/drawing/2010/main">
                <a:solidFill>
                  <a:srgbClr val="E6F1FE"/>
                </a:solidFill>
              </a14:hiddenFill>
            </a:ext>
          </a:extLst>
        </p:spPr>
        <p:txBody>
          <a:bodyPr wrap="square">
            <a:spAutoFit/>
          </a:bodyPr>
          <a:lstStyle/>
          <a:p>
            <a:pPr marL="1349375" indent="-1349375">
              <a:lnSpc>
                <a:spcPct val="120000"/>
              </a:lnSpc>
              <a:tabLst>
                <a:tab pos="899795" algn="l"/>
              </a:tabLst>
            </a:pPr>
            <a:r>
              <a:rPr lang="en-US" altLang="zh-CN" sz="3200" b="1" dirty="0">
                <a:solidFill>
                  <a:srgbClr val="FF0000"/>
                </a:solidFill>
              </a:rPr>
              <a:t>trap  </a:t>
            </a:r>
            <a:r>
              <a:rPr lang="en-US" altLang="zh-CN" sz="3200" b="1" i="1" dirty="0">
                <a:solidFill>
                  <a:srgbClr val="FF0000"/>
                </a:solidFill>
              </a:rPr>
              <a:t>v</a:t>
            </a:r>
            <a:r>
              <a:rPr lang="en-US" altLang="zh-CN" sz="3200" b="1" dirty="0">
                <a:solidFill>
                  <a:srgbClr val="FF0000"/>
                </a:solidFill>
              </a:rPr>
              <a:t>.  ~ sth (+adv. / prep.)</a:t>
            </a:r>
            <a:endParaRPr lang="en-US" altLang="zh-CN" sz="3200" b="1" dirty="0">
              <a:solidFill>
                <a:srgbClr val="FF0000"/>
              </a:solidFill>
              <a:latin typeface="+mj-lt"/>
            </a:endParaRPr>
          </a:p>
        </p:txBody>
      </p:sp>
      <p:sp>
        <p:nvSpPr>
          <p:cNvPr id="2" name="矩形 1"/>
          <p:cNvSpPr/>
          <p:nvPr/>
        </p:nvSpPr>
        <p:spPr>
          <a:xfrm>
            <a:off x="273685" y="1453515"/>
            <a:ext cx="11595735" cy="2354580"/>
          </a:xfrm>
          <a:prstGeom prst="rect">
            <a:avLst/>
          </a:prstGeom>
        </p:spPr>
        <p:txBody>
          <a:bodyPr wrap="square">
            <a:spAutoFit/>
          </a:bodyPr>
          <a:lstStyle/>
          <a:p>
            <a:pPr indent="-1441450" fontAlgn="auto">
              <a:lnSpc>
                <a:spcPct val="110000"/>
              </a:lnSpc>
            </a:pPr>
            <a:r>
              <a:rPr lang="en-US" altLang="zh-CN" sz="3200" b="1" dirty="0">
                <a:latin typeface="+mj-lt"/>
                <a:sym typeface="+mn-ea"/>
              </a:rPr>
              <a:t>They </a:t>
            </a:r>
            <a:r>
              <a:rPr lang="en-US" altLang="zh-CN" sz="3200" b="1" u="sng" dirty="0">
                <a:solidFill>
                  <a:srgbClr val="FF0000"/>
                </a:solidFill>
                <a:latin typeface="+mj-lt"/>
                <a:sym typeface="+mn-ea"/>
              </a:rPr>
              <a:t>were trapped in</a:t>
            </a:r>
            <a:r>
              <a:rPr lang="en-US" altLang="zh-CN" sz="3200" b="1" dirty="0">
                <a:latin typeface="+mj-lt"/>
                <a:sym typeface="+mn-ea"/>
              </a:rPr>
              <a:t> the cave and cried for help. </a:t>
            </a:r>
            <a:r>
              <a:rPr lang="zh-CN" altLang="en-US" sz="3200" b="1" dirty="0">
                <a:latin typeface="+mj-lt"/>
                <a:sym typeface="+mn-ea"/>
              </a:rPr>
              <a:t>被困住，陷入</a:t>
            </a:r>
            <a:endParaRPr lang="en-US" altLang="zh-CN" sz="3200" b="1" dirty="0">
              <a:latin typeface="+mj-lt"/>
            </a:endParaRPr>
          </a:p>
          <a:p>
            <a:pPr indent="-1441450" fontAlgn="auto">
              <a:lnSpc>
                <a:spcPct val="110000"/>
              </a:lnSpc>
            </a:pPr>
            <a:r>
              <a:rPr lang="en-US" altLang="zh-CN" sz="3200" b="1" dirty="0">
                <a:latin typeface="+mj-lt"/>
                <a:sym typeface="+mn-ea"/>
              </a:rPr>
              <a:t>The poor man </a:t>
            </a:r>
            <a:r>
              <a:rPr lang="en-US" altLang="zh-CN" sz="3200" b="1" dirty="0">
                <a:solidFill>
                  <a:srgbClr val="FF0000"/>
                </a:solidFill>
                <a:latin typeface="+mj-lt"/>
                <a:sym typeface="+mn-ea"/>
              </a:rPr>
              <a:t>was trapped in</a:t>
            </a:r>
            <a:r>
              <a:rPr lang="en-US" altLang="zh-CN" sz="3200" b="1" dirty="0">
                <a:latin typeface="+mj-lt"/>
                <a:sym typeface="+mn-ea"/>
              </a:rPr>
              <a:t> an unhappy marriage.</a:t>
            </a:r>
            <a:endParaRPr lang="en-US" altLang="zh-CN" sz="3200" b="1" dirty="0">
              <a:latin typeface="+mj-lt"/>
            </a:endParaRPr>
          </a:p>
          <a:p>
            <a:pPr>
              <a:lnSpc>
                <a:spcPct val="120000"/>
              </a:lnSpc>
              <a:tabLst>
                <a:tab pos="899795" algn="l"/>
              </a:tabLst>
            </a:pPr>
            <a:r>
              <a:rPr lang="en-US" altLang="zh-CN" sz="3200" b="1" dirty="0"/>
              <a:t>When closing the car door, I </a:t>
            </a:r>
            <a:r>
              <a:rPr lang="en-US" altLang="zh-CN" sz="3200" b="1" dirty="0">
                <a:solidFill>
                  <a:srgbClr val="FF0000"/>
                </a:solidFill>
              </a:rPr>
              <a:t>trapped </a:t>
            </a:r>
            <a:r>
              <a:rPr lang="en-US" altLang="zh-CN" sz="3200" b="1" dirty="0"/>
              <a:t>my coat in it.</a:t>
            </a:r>
          </a:p>
          <a:p>
            <a:pPr>
              <a:lnSpc>
                <a:spcPct val="120000"/>
              </a:lnSpc>
              <a:tabLst>
                <a:tab pos="899795" algn="l"/>
              </a:tabLst>
            </a:pPr>
            <a:r>
              <a:rPr lang="en-US" altLang="zh-CN" sz="3200" b="1" dirty="0"/>
              <a:t>我的外衣被汽车门夹住了。</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7" name="文本框 6"/>
          <p:cNvSpPr txBox="1"/>
          <p:nvPr/>
        </p:nvSpPr>
        <p:spPr>
          <a:xfrm>
            <a:off x="338879" y="315635"/>
            <a:ext cx="11316673" cy="1272540"/>
          </a:xfrm>
          <a:prstGeom prst="rect">
            <a:avLst/>
          </a:prstGeom>
          <a:noFill/>
        </p:spPr>
        <p:txBody>
          <a:bodyPr wrap="square" rtlCol="0">
            <a:spAutoFit/>
          </a:bodyPr>
          <a:lstStyle>
            <a:defPPr>
              <a:defRPr lang="zh-CN"/>
            </a:defPPr>
            <a:lvl1pPr>
              <a:lnSpc>
                <a:spcPct val="120000"/>
              </a:lnSpc>
              <a:defRPr sz="3200" b="1">
                <a:solidFill>
                  <a:srgbClr val="FF0000"/>
                </a:solidFill>
              </a:defRPr>
            </a:lvl1pPr>
          </a:lstStyle>
          <a:p>
            <a:pPr marL="443230" indent="-443230"/>
            <a:r>
              <a:rPr lang="en-US" altLang="zh-CN" dirty="0">
                <a:solidFill>
                  <a:schemeClr val="tx1"/>
                </a:solidFill>
              </a:rPr>
              <a:t>according to figures </a:t>
            </a:r>
            <a:r>
              <a:rPr lang="en-US" altLang="zh-CN" dirty="0"/>
              <a:t>released</a:t>
            </a:r>
            <a:r>
              <a:rPr lang="en-US" altLang="zh-CN" dirty="0">
                <a:solidFill>
                  <a:schemeClr val="tx1"/>
                </a:solidFill>
              </a:rPr>
              <a:t> by emergency services</a:t>
            </a:r>
          </a:p>
          <a:p>
            <a:pPr marL="443230" indent="-443230"/>
            <a:r>
              <a:rPr lang="zh-CN" altLang="en-US" dirty="0">
                <a:solidFill>
                  <a:schemeClr val="tx1"/>
                </a:solidFill>
              </a:rPr>
              <a:t>根据紧急服务部门公布的数字</a:t>
            </a:r>
            <a:endParaRPr lang="en-US" altLang="zh-CN" dirty="0">
              <a:solidFill>
                <a:schemeClr val="tx1"/>
              </a:solidFill>
            </a:endParaRPr>
          </a:p>
        </p:txBody>
      </p:sp>
      <p:sp>
        <p:nvSpPr>
          <p:cNvPr id="2" name="矩形 1"/>
          <p:cNvSpPr/>
          <p:nvPr/>
        </p:nvSpPr>
        <p:spPr>
          <a:xfrm>
            <a:off x="338776" y="1588052"/>
            <a:ext cx="10909487" cy="2797175"/>
          </a:xfrm>
          <a:prstGeom prst="rect">
            <a:avLst/>
          </a:prstGeom>
          <a:noFill/>
          <a:ln w="28575">
            <a:noFill/>
          </a:ln>
          <a:extLst>
            <a:ext uri="{909E8E84-426E-40DD-AFC4-6F175D3DCCD1}">
              <a14:hiddenFill xmlns:a14="http://schemas.microsoft.com/office/drawing/2010/main">
                <a:solidFill>
                  <a:srgbClr val="E6F1FE"/>
                </a:solidFill>
              </a14:hiddenFill>
            </a:ext>
          </a:extLst>
        </p:spPr>
        <p:txBody>
          <a:bodyPr wrap="square">
            <a:spAutoFit/>
          </a:bodyPr>
          <a:lstStyle/>
          <a:p>
            <a:pPr indent="-1787525" fontAlgn="auto">
              <a:lnSpc>
                <a:spcPct val="110000"/>
              </a:lnSpc>
            </a:pPr>
            <a:r>
              <a:rPr lang="en-US" altLang="zh-CN" sz="3200" b="1" dirty="0">
                <a:solidFill>
                  <a:srgbClr val="FF0000"/>
                </a:solidFill>
              </a:rPr>
              <a:t>release  </a:t>
            </a:r>
            <a:r>
              <a:rPr lang="en-US" altLang="zh-CN" sz="3200" b="1" i="1" dirty="0">
                <a:solidFill>
                  <a:srgbClr val="FF0000"/>
                </a:solidFill>
              </a:rPr>
              <a:t>v.</a:t>
            </a:r>
          </a:p>
          <a:p>
            <a:pPr indent="-1787525" fontAlgn="auto">
              <a:lnSpc>
                <a:spcPct val="110000"/>
              </a:lnSpc>
            </a:pPr>
            <a:r>
              <a:rPr lang="en-US" altLang="zh-CN" sz="3200" b="1" dirty="0">
                <a:solidFill>
                  <a:schemeClr val="tx1"/>
                </a:solidFill>
                <a:latin typeface="Times New Roman Bold" panose="02020503050405090304" charset="0"/>
                <a:cs typeface="Times New Roman Bold" panose="02020503050405090304" charset="0"/>
              </a:rPr>
              <a:t>1)</a:t>
            </a:r>
            <a:r>
              <a:rPr lang="en-US" altLang="zh-CN" sz="3200" b="1" i="1" dirty="0">
                <a:solidFill>
                  <a:srgbClr val="FF0000"/>
                </a:solidFill>
              </a:rPr>
              <a:t> </a:t>
            </a:r>
            <a:r>
              <a:rPr lang="en-US" altLang="zh-CN" sz="3200" b="1" i="1" dirty="0"/>
              <a:t>to </a:t>
            </a:r>
            <a:r>
              <a:rPr lang="en-US" altLang="zh-CN" sz="3200" b="1" i="1" dirty="0">
                <a:solidFill>
                  <a:srgbClr val="0000FF"/>
                </a:solidFill>
              </a:rPr>
              <a:t>make </a:t>
            </a:r>
            <a:r>
              <a:rPr lang="en-US" altLang="zh-CN" sz="3200" b="1" i="1" dirty="0" err="1">
                <a:solidFill>
                  <a:srgbClr val="0000FF"/>
                </a:solidFill>
              </a:rPr>
              <a:t>sth</a:t>
            </a:r>
            <a:r>
              <a:rPr lang="en-US" altLang="zh-CN" sz="3200" b="1" i="1" dirty="0">
                <a:solidFill>
                  <a:srgbClr val="0000FF"/>
                </a:solidFill>
              </a:rPr>
              <a:t>. available</a:t>
            </a:r>
            <a:r>
              <a:rPr lang="en-US" altLang="zh-CN" sz="3200" b="1" i="1" dirty="0"/>
              <a:t> to the public </a:t>
            </a:r>
            <a:r>
              <a:rPr lang="zh-CN" altLang="en-US" sz="3200" b="1" dirty="0">
                <a:solidFill>
                  <a:srgbClr val="FF0000"/>
                </a:solidFill>
              </a:rPr>
              <a:t>公开</a:t>
            </a:r>
            <a:r>
              <a:rPr lang="en-US" altLang="zh-CN" sz="3200" b="1" dirty="0">
                <a:solidFill>
                  <a:srgbClr val="FF0000"/>
                </a:solidFill>
              </a:rPr>
              <a:t>; </a:t>
            </a:r>
            <a:r>
              <a:rPr lang="zh-CN" altLang="en-US" sz="3200" b="1" dirty="0">
                <a:solidFill>
                  <a:srgbClr val="FF0000"/>
                </a:solidFill>
              </a:rPr>
              <a:t>公布</a:t>
            </a:r>
            <a:r>
              <a:rPr lang="en-US" altLang="zh-CN" sz="3200" b="1" dirty="0">
                <a:solidFill>
                  <a:srgbClr val="FF0000"/>
                </a:solidFill>
              </a:rPr>
              <a:t>; </a:t>
            </a:r>
            <a:r>
              <a:rPr lang="zh-CN" altLang="en-US" sz="3200" b="1" dirty="0">
                <a:solidFill>
                  <a:srgbClr val="FF0000"/>
                </a:solidFill>
              </a:rPr>
              <a:t>发布</a:t>
            </a:r>
            <a:endParaRPr lang="en-US" altLang="zh-CN" sz="3200" b="1" dirty="0">
              <a:solidFill>
                <a:prstClr val="black"/>
              </a:solidFill>
            </a:endParaRPr>
          </a:p>
          <a:p>
            <a:pPr indent="-3575050" fontAlgn="auto">
              <a:lnSpc>
                <a:spcPct val="110000"/>
              </a:lnSpc>
            </a:pPr>
            <a:endParaRPr lang="zh-CN" altLang="en-US" sz="3200" b="1" dirty="0">
              <a:solidFill>
                <a:srgbClr val="FF0000"/>
              </a:solidFill>
              <a:latin typeface="+mj-lt"/>
            </a:endParaRPr>
          </a:p>
          <a:p>
            <a:pPr indent="-3575050" fontAlgn="auto">
              <a:lnSpc>
                <a:spcPct val="110000"/>
              </a:lnSpc>
            </a:pPr>
            <a:r>
              <a:rPr lang="en-US" altLang="zh-CN" sz="3200" b="1" dirty="0">
                <a:solidFill>
                  <a:srgbClr val="FF0000"/>
                </a:solidFill>
                <a:latin typeface="+mj-lt"/>
              </a:rPr>
              <a:t>release the latest news/new products/a new album </a:t>
            </a:r>
            <a:r>
              <a:rPr lang="zh-CN" altLang="en-US" sz="3200" b="1" dirty="0">
                <a:solidFill>
                  <a:schemeClr val="tx1"/>
                </a:solidFill>
                <a:latin typeface="+mj-lt"/>
              </a:rPr>
              <a:t>发布最新消息</a:t>
            </a:r>
            <a:r>
              <a:rPr lang="en-US" altLang="zh-CN" sz="3200" b="1" dirty="0">
                <a:solidFill>
                  <a:schemeClr val="tx1"/>
                </a:solidFill>
                <a:latin typeface="+mj-lt"/>
              </a:rPr>
              <a:t>/</a:t>
            </a:r>
            <a:r>
              <a:rPr lang="zh-CN" altLang="en-US" sz="3200" b="1" dirty="0">
                <a:solidFill>
                  <a:schemeClr val="tx1"/>
                </a:solidFill>
                <a:latin typeface="+mj-lt"/>
              </a:rPr>
              <a:t>投放新产品</a:t>
            </a:r>
            <a:r>
              <a:rPr lang="en-US" altLang="zh-CN" sz="3200" b="1" dirty="0">
                <a:solidFill>
                  <a:schemeClr val="tx1"/>
                </a:solidFill>
                <a:latin typeface="+mj-lt"/>
              </a:rPr>
              <a:t>/</a:t>
            </a:r>
            <a:r>
              <a:rPr lang="zh-CN" altLang="en-US" sz="3200" b="1" dirty="0">
                <a:solidFill>
                  <a:schemeClr val="tx1"/>
                </a:solidFill>
                <a:latin typeface="+mj-lt"/>
              </a:rPr>
              <a:t>发行新专辑</a:t>
            </a:r>
            <a:r>
              <a:rPr lang="en-US" altLang="zh-CN" sz="3200" b="1" dirty="0">
                <a:solidFill>
                  <a:schemeClr val="tx1"/>
                </a:solidFill>
                <a:latin typeface="+mj-lt"/>
              </a:rPr>
              <a:t> </a:t>
            </a:r>
            <a:r>
              <a:rPr lang="en-US" altLang="zh-CN" sz="3200" b="1" dirty="0">
                <a:solidFill>
                  <a:srgbClr val="FF0000"/>
                </a:solidFill>
                <a:latin typeface="+mj-lt"/>
              </a:rPr>
              <a:t>(~ onto the market)</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矩形 1"/>
          <p:cNvSpPr/>
          <p:nvPr/>
        </p:nvSpPr>
        <p:spPr>
          <a:xfrm>
            <a:off x="305435" y="212090"/>
            <a:ext cx="11581130" cy="4961890"/>
          </a:xfrm>
          <a:prstGeom prst="rect">
            <a:avLst/>
          </a:prstGeom>
          <a:noFill/>
          <a:ln w="28575">
            <a:noFill/>
          </a:ln>
          <a:extLst>
            <a:ext uri="{909E8E84-426E-40DD-AFC4-6F175D3DCCD1}">
              <a14:hiddenFill xmlns:a14="http://schemas.microsoft.com/office/drawing/2010/main">
                <a:solidFill>
                  <a:srgbClr val="E6F1FE"/>
                </a:solidFill>
              </a14:hiddenFill>
            </a:ext>
          </a:extLst>
        </p:spPr>
        <p:txBody>
          <a:bodyPr wrap="square">
            <a:spAutoFit/>
          </a:bodyPr>
          <a:lstStyle/>
          <a:p>
            <a:pPr indent="-1787525" fontAlgn="auto">
              <a:lnSpc>
                <a:spcPct val="110000"/>
              </a:lnSpc>
            </a:pPr>
            <a:r>
              <a:rPr lang="en-US" altLang="zh-CN" sz="3200" b="1" dirty="0">
                <a:solidFill>
                  <a:srgbClr val="FF0000"/>
                </a:solidFill>
              </a:rPr>
              <a:t>release  </a:t>
            </a:r>
            <a:r>
              <a:rPr lang="en-US" altLang="zh-CN" sz="3200" b="1" i="1" dirty="0">
                <a:solidFill>
                  <a:srgbClr val="FF0000"/>
                </a:solidFill>
              </a:rPr>
              <a:t>v.</a:t>
            </a:r>
          </a:p>
          <a:p>
            <a:pPr indent="-1787525" fontAlgn="auto">
              <a:lnSpc>
                <a:spcPct val="110000"/>
              </a:lnSpc>
            </a:pPr>
            <a:r>
              <a:rPr lang="en-US" altLang="zh-CN" sz="3200" b="1" dirty="0">
                <a:solidFill>
                  <a:schemeClr val="tx1"/>
                </a:solidFill>
                <a:latin typeface="Times New Roman Bold" panose="02020503050405090304" charset="0"/>
                <a:cs typeface="Times New Roman Bold" panose="02020503050405090304" charset="0"/>
              </a:rPr>
              <a:t>1)</a:t>
            </a:r>
            <a:r>
              <a:rPr lang="en-US" altLang="zh-CN" sz="3200" b="1" i="1" dirty="0">
                <a:solidFill>
                  <a:srgbClr val="FF0000"/>
                </a:solidFill>
              </a:rPr>
              <a:t> </a:t>
            </a:r>
            <a:r>
              <a:rPr lang="en-US" altLang="zh-CN" sz="3200" b="1" i="1" dirty="0"/>
              <a:t>to </a:t>
            </a:r>
            <a:r>
              <a:rPr lang="en-US" altLang="zh-CN" sz="3200" b="1" i="1" dirty="0">
                <a:solidFill>
                  <a:srgbClr val="0000FF"/>
                </a:solidFill>
              </a:rPr>
              <a:t>make </a:t>
            </a:r>
            <a:r>
              <a:rPr lang="en-US" altLang="zh-CN" sz="3200" b="1" i="1" dirty="0" err="1">
                <a:solidFill>
                  <a:srgbClr val="0000FF"/>
                </a:solidFill>
              </a:rPr>
              <a:t>sth</a:t>
            </a:r>
            <a:r>
              <a:rPr lang="en-US" altLang="zh-CN" sz="3200" b="1" i="1" dirty="0">
                <a:solidFill>
                  <a:srgbClr val="0000FF"/>
                </a:solidFill>
              </a:rPr>
              <a:t>. available</a:t>
            </a:r>
            <a:r>
              <a:rPr lang="en-US" altLang="zh-CN" sz="3200" b="1" i="1" dirty="0"/>
              <a:t> to the public </a:t>
            </a:r>
            <a:r>
              <a:rPr lang="zh-CN" altLang="en-US" sz="3200" b="1" dirty="0">
                <a:solidFill>
                  <a:srgbClr val="FF0000"/>
                </a:solidFill>
              </a:rPr>
              <a:t>公开</a:t>
            </a:r>
            <a:r>
              <a:rPr lang="en-US" altLang="zh-CN" sz="3200" b="1" dirty="0">
                <a:solidFill>
                  <a:srgbClr val="FF0000"/>
                </a:solidFill>
              </a:rPr>
              <a:t>; </a:t>
            </a:r>
            <a:r>
              <a:rPr lang="zh-CN" altLang="en-US" sz="3200" b="1" dirty="0">
                <a:solidFill>
                  <a:srgbClr val="FF0000"/>
                </a:solidFill>
              </a:rPr>
              <a:t>公布</a:t>
            </a:r>
            <a:r>
              <a:rPr lang="en-US" altLang="zh-CN" sz="3200" b="1" dirty="0">
                <a:solidFill>
                  <a:srgbClr val="FF0000"/>
                </a:solidFill>
              </a:rPr>
              <a:t>; </a:t>
            </a:r>
            <a:r>
              <a:rPr lang="zh-CN" altLang="en-US" sz="3200" b="1" dirty="0">
                <a:solidFill>
                  <a:srgbClr val="FF0000"/>
                </a:solidFill>
              </a:rPr>
              <a:t>发布</a:t>
            </a:r>
            <a:endParaRPr lang="en-US" altLang="zh-CN" sz="3200" b="1" dirty="0">
              <a:solidFill>
                <a:prstClr val="black"/>
              </a:solidFill>
            </a:endParaRPr>
          </a:p>
          <a:p>
            <a:pPr indent="-3575050" fontAlgn="auto">
              <a:lnSpc>
                <a:spcPct val="110000"/>
              </a:lnSpc>
            </a:pPr>
            <a:r>
              <a:rPr lang="en-US" altLang="zh-CN" sz="3200" b="1" dirty="0">
                <a:latin typeface="Times New Roman Bold" panose="02020503050405090304" charset="0"/>
                <a:cs typeface="Times New Roman Bold" panose="02020503050405090304" charset="0"/>
              </a:rPr>
              <a:t>2)</a:t>
            </a:r>
            <a:r>
              <a:rPr lang="en-US" altLang="zh-CN" sz="3200" b="1" i="1" dirty="0"/>
              <a:t> to </a:t>
            </a:r>
            <a:r>
              <a:rPr lang="en-US" altLang="zh-CN" sz="3200" b="1" i="1" dirty="0">
                <a:solidFill>
                  <a:srgbClr val="0000FF"/>
                </a:solidFill>
              </a:rPr>
              <a:t>set sth free</a:t>
            </a:r>
            <a:r>
              <a:rPr lang="en-US" altLang="zh-CN" sz="3200" b="1" i="1" dirty="0"/>
              <a:t>  </a:t>
            </a:r>
            <a:r>
              <a:rPr lang="zh-CN" altLang="en-US" sz="3200" b="1" dirty="0">
                <a:solidFill>
                  <a:srgbClr val="FF0000"/>
                </a:solidFill>
                <a:latin typeface="+mj-lt"/>
              </a:rPr>
              <a:t>释放</a:t>
            </a:r>
            <a:r>
              <a:rPr lang="en-US" altLang="zh-CN" sz="3200" b="1" dirty="0">
                <a:solidFill>
                  <a:srgbClr val="FF0000"/>
                </a:solidFill>
                <a:latin typeface="+mj-lt"/>
              </a:rPr>
              <a:t>; </a:t>
            </a:r>
            <a:r>
              <a:rPr lang="zh-CN" altLang="en-US" sz="3200" b="1" dirty="0">
                <a:solidFill>
                  <a:srgbClr val="FF0000"/>
                </a:solidFill>
                <a:latin typeface="+mj-lt"/>
              </a:rPr>
              <a:t>放出</a:t>
            </a:r>
            <a:r>
              <a:rPr lang="en-US" altLang="zh-CN" sz="3200" b="1" dirty="0">
                <a:solidFill>
                  <a:srgbClr val="FF0000"/>
                </a:solidFill>
                <a:latin typeface="+mj-lt"/>
              </a:rPr>
              <a:t> (release sb from)</a:t>
            </a:r>
          </a:p>
          <a:p>
            <a:pPr indent="-3575050" fontAlgn="auto">
              <a:lnSpc>
                <a:spcPct val="110000"/>
              </a:lnSpc>
            </a:pPr>
            <a:r>
              <a:rPr lang="en-US" altLang="zh-CN" sz="3200" b="1" dirty="0">
                <a:latin typeface="Times New Roman Bold" panose="02020503050405090304" charset="0"/>
                <a:cs typeface="Times New Roman Bold" panose="02020503050405090304" charset="0"/>
              </a:rPr>
              <a:t>3)</a:t>
            </a:r>
            <a:r>
              <a:rPr lang="en-US" altLang="zh-CN" sz="3200" b="1" i="1" dirty="0"/>
              <a:t> to </a:t>
            </a:r>
            <a:r>
              <a:rPr lang="en-US" altLang="zh-CN" sz="3200" b="1" i="1" dirty="0">
                <a:solidFill>
                  <a:srgbClr val="0000FF"/>
                </a:solidFill>
              </a:rPr>
              <a:t>stop holding</a:t>
            </a:r>
            <a:r>
              <a:rPr lang="en-US" altLang="zh-CN" sz="3200" b="1" i="1" dirty="0"/>
              <a:t> </a:t>
            </a:r>
            <a:r>
              <a:rPr lang="en-US" altLang="zh-CN" sz="3200" b="1" i="1" dirty="0" err="1">
                <a:solidFill>
                  <a:srgbClr val="0000FF"/>
                </a:solidFill>
              </a:rPr>
              <a:t>sth </a:t>
            </a:r>
            <a:r>
              <a:rPr lang="zh-CN" altLang="en-US" sz="3200" b="1" dirty="0">
                <a:solidFill>
                  <a:srgbClr val="FF0000"/>
                </a:solidFill>
                <a:latin typeface="+mj-lt"/>
              </a:rPr>
              <a:t>放开</a:t>
            </a:r>
            <a:r>
              <a:rPr lang="en-US" altLang="zh-CN" sz="3200" b="1" dirty="0">
                <a:solidFill>
                  <a:srgbClr val="FF0000"/>
                </a:solidFill>
                <a:latin typeface="+mj-lt"/>
              </a:rPr>
              <a:t>; </a:t>
            </a:r>
            <a:r>
              <a:rPr lang="zh-CN" altLang="en-US" sz="3200" b="1" dirty="0">
                <a:solidFill>
                  <a:srgbClr val="FF0000"/>
                </a:solidFill>
                <a:latin typeface="+mj-lt"/>
              </a:rPr>
              <a:t>松开</a:t>
            </a:r>
            <a:endParaRPr lang="zh-CN" altLang="en-US" sz="3200" b="1" dirty="0">
              <a:solidFill>
                <a:schemeClr val="tx1"/>
              </a:solidFill>
              <a:latin typeface="+mj-lt"/>
            </a:endParaRPr>
          </a:p>
          <a:p>
            <a:pPr indent="-3575050" fontAlgn="auto">
              <a:lnSpc>
                <a:spcPct val="110000"/>
              </a:lnSpc>
            </a:pPr>
            <a:r>
              <a:rPr lang="en-US" altLang="zh-CN" sz="3200" b="1" dirty="0">
                <a:solidFill>
                  <a:schemeClr val="tx1"/>
                </a:solidFill>
                <a:latin typeface="+mj-lt"/>
              </a:rPr>
              <a:t>The prisoner should have been </a:t>
            </a:r>
            <a:r>
              <a:rPr lang="en-US" altLang="zh-CN" sz="3200" b="1" dirty="0">
                <a:solidFill>
                  <a:srgbClr val="FF0000"/>
                </a:solidFill>
                <a:latin typeface="+mj-lt"/>
              </a:rPr>
              <a:t>released</a:t>
            </a:r>
            <a:r>
              <a:rPr lang="en-US" altLang="zh-CN" sz="3200" b="1" dirty="0">
                <a:solidFill>
                  <a:schemeClr val="tx1"/>
                </a:solidFill>
                <a:latin typeface="+mj-lt"/>
              </a:rPr>
              <a:t>.</a:t>
            </a:r>
          </a:p>
          <a:p>
            <a:pPr indent="-3575050" fontAlgn="auto">
              <a:lnSpc>
                <a:spcPct val="110000"/>
              </a:lnSpc>
            </a:pPr>
            <a:r>
              <a:rPr lang="en-US" altLang="zh-CN" sz="3200" b="1" dirty="0">
                <a:solidFill>
                  <a:schemeClr val="tx1"/>
                </a:solidFill>
                <a:latin typeface="+mj-lt"/>
              </a:rPr>
              <a:t>He refused to </a:t>
            </a:r>
            <a:r>
              <a:rPr lang="en-US" altLang="zh-CN" sz="3200" b="1" dirty="0">
                <a:solidFill>
                  <a:srgbClr val="FF0000"/>
                </a:solidFill>
                <a:latin typeface="+mj-lt"/>
              </a:rPr>
              <a:t>release her arm</a:t>
            </a:r>
            <a:r>
              <a:rPr lang="en-US" altLang="zh-CN" sz="3200" b="1" dirty="0">
                <a:solidFill>
                  <a:schemeClr val="tx1"/>
                </a:solidFill>
                <a:latin typeface="+mj-lt"/>
              </a:rPr>
              <a:t>.</a:t>
            </a:r>
          </a:p>
          <a:p>
            <a:pPr indent="-3575050" fontAlgn="auto">
              <a:lnSpc>
                <a:spcPct val="110000"/>
              </a:lnSpc>
            </a:pPr>
            <a:r>
              <a:rPr lang="en-US" altLang="zh-CN" sz="3200" b="1" dirty="0">
                <a:solidFill>
                  <a:schemeClr val="tx1"/>
                </a:solidFill>
                <a:latin typeface="+mj-lt"/>
              </a:rPr>
              <a:t>10 000 balloons </a:t>
            </a:r>
            <a:r>
              <a:rPr lang="en-US" altLang="zh-CN" sz="3200" b="1" dirty="0">
                <a:solidFill>
                  <a:srgbClr val="FF0000"/>
                </a:solidFill>
                <a:latin typeface="+mj-lt"/>
              </a:rPr>
              <a:t>were released</a:t>
            </a:r>
            <a:r>
              <a:rPr lang="en-US" altLang="zh-CN" sz="3200" b="1" dirty="0">
                <a:solidFill>
                  <a:schemeClr val="tx1"/>
                </a:solidFill>
                <a:latin typeface="+mj-lt"/>
              </a:rPr>
              <a:t> at the ceremony.</a:t>
            </a:r>
          </a:p>
          <a:p>
            <a:pPr indent="-3575050" fontAlgn="auto">
              <a:lnSpc>
                <a:spcPct val="110000"/>
              </a:lnSpc>
            </a:pPr>
            <a:r>
              <a:rPr lang="en-US" altLang="zh-CN" sz="3200" b="1" dirty="0">
                <a:solidFill>
                  <a:schemeClr val="tx1"/>
                </a:solidFill>
                <a:latin typeface="+mj-lt"/>
              </a:rPr>
              <a:t>The new law </a:t>
            </a:r>
            <a:r>
              <a:rPr lang="en-US" altLang="zh-CN" sz="3200" b="1" u="sng" dirty="0">
                <a:solidFill>
                  <a:srgbClr val="FF0000"/>
                </a:solidFill>
                <a:latin typeface="+mj-lt"/>
              </a:rPr>
              <a:t>released employers from</a:t>
            </a:r>
            <a:r>
              <a:rPr lang="en-US" altLang="zh-CN" sz="3200" b="1" dirty="0">
                <a:solidFill>
                  <a:schemeClr val="tx1"/>
                </a:solidFill>
                <a:latin typeface="+mj-lt"/>
              </a:rPr>
              <a:t> their obligation to recognize unions. 新的法律免除了雇主承认工会的义务。</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矩形 1"/>
          <p:cNvSpPr/>
          <p:nvPr/>
        </p:nvSpPr>
        <p:spPr>
          <a:xfrm>
            <a:off x="339090" y="316230"/>
            <a:ext cx="11584305" cy="4961890"/>
          </a:xfrm>
          <a:prstGeom prst="rect">
            <a:avLst/>
          </a:prstGeom>
          <a:noFill/>
          <a:ln w="28575">
            <a:noFill/>
          </a:ln>
          <a:extLst>
            <a:ext uri="{909E8E84-426E-40DD-AFC4-6F175D3DCCD1}">
              <a14:hiddenFill xmlns:a14="http://schemas.microsoft.com/office/drawing/2010/main">
                <a:solidFill>
                  <a:srgbClr val="E6F1FE"/>
                </a:solidFill>
              </a14:hiddenFill>
            </a:ext>
          </a:extLst>
        </p:spPr>
        <p:txBody>
          <a:bodyPr wrap="square">
            <a:spAutoFit/>
          </a:bodyPr>
          <a:lstStyle/>
          <a:p>
            <a:pPr indent="-1787525" fontAlgn="auto">
              <a:lnSpc>
                <a:spcPct val="110000"/>
              </a:lnSpc>
            </a:pPr>
            <a:r>
              <a:rPr lang="en-US" altLang="zh-CN" sz="3200" b="1" dirty="0">
                <a:solidFill>
                  <a:srgbClr val="FF0000"/>
                </a:solidFill>
              </a:rPr>
              <a:t>release  </a:t>
            </a:r>
            <a:r>
              <a:rPr lang="en-US" altLang="zh-CN" sz="3200" b="1" i="1" dirty="0">
                <a:solidFill>
                  <a:srgbClr val="FF0000"/>
                </a:solidFill>
              </a:rPr>
              <a:t>v.</a:t>
            </a:r>
          </a:p>
          <a:p>
            <a:pPr indent="-1787525" fontAlgn="auto">
              <a:lnSpc>
                <a:spcPct val="110000"/>
              </a:lnSpc>
            </a:pPr>
            <a:r>
              <a:rPr lang="en-US" altLang="zh-CN" sz="3200" b="1" dirty="0">
                <a:solidFill>
                  <a:schemeClr val="tx1"/>
                </a:solidFill>
                <a:latin typeface="Times New Roman Bold" panose="02020503050405090304" charset="0"/>
                <a:cs typeface="Times New Roman Bold" panose="02020503050405090304" charset="0"/>
              </a:rPr>
              <a:t>1)</a:t>
            </a:r>
            <a:r>
              <a:rPr lang="en-US" altLang="zh-CN" sz="3200" b="1" i="1" dirty="0">
                <a:solidFill>
                  <a:srgbClr val="FF0000"/>
                </a:solidFill>
              </a:rPr>
              <a:t> </a:t>
            </a:r>
            <a:r>
              <a:rPr lang="en-US" altLang="zh-CN" sz="3200" b="1" i="1" dirty="0"/>
              <a:t>to </a:t>
            </a:r>
            <a:r>
              <a:rPr lang="en-US" altLang="zh-CN" sz="3200" b="1" i="1" dirty="0">
                <a:solidFill>
                  <a:srgbClr val="0000FF"/>
                </a:solidFill>
              </a:rPr>
              <a:t>make </a:t>
            </a:r>
            <a:r>
              <a:rPr lang="en-US" altLang="zh-CN" sz="3200" b="1" i="1" dirty="0" err="1">
                <a:solidFill>
                  <a:srgbClr val="0000FF"/>
                </a:solidFill>
              </a:rPr>
              <a:t>sth</a:t>
            </a:r>
            <a:r>
              <a:rPr lang="en-US" altLang="zh-CN" sz="3200" b="1" i="1" dirty="0">
                <a:solidFill>
                  <a:srgbClr val="0000FF"/>
                </a:solidFill>
              </a:rPr>
              <a:t>. available</a:t>
            </a:r>
            <a:r>
              <a:rPr lang="en-US" altLang="zh-CN" sz="3200" b="1" i="1" dirty="0"/>
              <a:t> to the public </a:t>
            </a:r>
            <a:r>
              <a:rPr lang="zh-CN" altLang="en-US" sz="3200" b="1" dirty="0">
                <a:solidFill>
                  <a:srgbClr val="FF0000"/>
                </a:solidFill>
              </a:rPr>
              <a:t>公开</a:t>
            </a:r>
            <a:r>
              <a:rPr lang="en-US" altLang="zh-CN" sz="3200" b="1" dirty="0">
                <a:solidFill>
                  <a:srgbClr val="FF0000"/>
                </a:solidFill>
              </a:rPr>
              <a:t>; </a:t>
            </a:r>
            <a:r>
              <a:rPr lang="zh-CN" altLang="en-US" sz="3200" b="1" dirty="0">
                <a:solidFill>
                  <a:srgbClr val="FF0000"/>
                </a:solidFill>
              </a:rPr>
              <a:t>公布</a:t>
            </a:r>
            <a:r>
              <a:rPr lang="en-US" altLang="zh-CN" sz="3200" b="1" dirty="0">
                <a:solidFill>
                  <a:srgbClr val="FF0000"/>
                </a:solidFill>
              </a:rPr>
              <a:t>; </a:t>
            </a:r>
            <a:r>
              <a:rPr lang="zh-CN" altLang="en-US" sz="3200" b="1" dirty="0">
                <a:solidFill>
                  <a:srgbClr val="FF0000"/>
                </a:solidFill>
              </a:rPr>
              <a:t>发布</a:t>
            </a:r>
            <a:endParaRPr lang="en-US" altLang="zh-CN" sz="3200" b="1" dirty="0">
              <a:solidFill>
                <a:prstClr val="black"/>
              </a:solidFill>
            </a:endParaRPr>
          </a:p>
          <a:p>
            <a:pPr indent="-3575050" fontAlgn="auto">
              <a:lnSpc>
                <a:spcPct val="110000"/>
              </a:lnSpc>
            </a:pPr>
            <a:r>
              <a:rPr lang="en-US" altLang="zh-CN" sz="3200" b="1" dirty="0">
                <a:latin typeface="Times New Roman Bold" panose="02020503050405090304" charset="0"/>
                <a:cs typeface="Times New Roman Bold" panose="02020503050405090304" charset="0"/>
              </a:rPr>
              <a:t>2)</a:t>
            </a:r>
            <a:r>
              <a:rPr lang="en-US" altLang="zh-CN" sz="3200" b="1" i="1" dirty="0"/>
              <a:t> to </a:t>
            </a:r>
            <a:r>
              <a:rPr lang="en-US" altLang="zh-CN" sz="3200" b="1" i="1" dirty="0">
                <a:solidFill>
                  <a:srgbClr val="0000FF"/>
                </a:solidFill>
              </a:rPr>
              <a:t>set sth free</a:t>
            </a:r>
            <a:r>
              <a:rPr lang="en-US" altLang="zh-CN" sz="3200" b="1" i="1" dirty="0"/>
              <a:t>  </a:t>
            </a:r>
            <a:r>
              <a:rPr lang="zh-CN" altLang="en-US" sz="3200" b="1" dirty="0">
                <a:solidFill>
                  <a:srgbClr val="FF0000"/>
                </a:solidFill>
                <a:latin typeface="+mj-lt"/>
              </a:rPr>
              <a:t>释放</a:t>
            </a:r>
            <a:r>
              <a:rPr lang="en-US" altLang="zh-CN" sz="3200" b="1" dirty="0">
                <a:solidFill>
                  <a:srgbClr val="FF0000"/>
                </a:solidFill>
                <a:latin typeface="+mj-lt"/>
              </a:rPr>
              <a:t>; </a:t>
            </a:r>
            <a:r>
              <a:rPr lang="zh-CN" altLang="en-US" sz="3200" b="1" dirty="0">
                <a:solidFill>
                  <a:srgbClr val="FF0000"/>
                </a:solidFill>
                <a:latin typeface="+mj-lt"/>
              </a:rPr>
              <a:t>放出</a:t>
            </a:r>
            <a:endParaRPr lang="en-US" altLang="zh-CN" sz="3200" b="1" dirty="0">
              <a:solidFill>
                <a:srgbClr val="FF0000"/>
              </a:solidFill>
              <a:latin typeface="+mj-lt"/>
            </a:endParaRPr>
          </a:p>
          <a:p>
            <a:pPr indent="-3575050" fontAlgn="auto">
              <a:lnSpc>
                <a:spcPct val="110000"/>
              </a:lnSpc>
            </a:pPr>
            <a:r>
              <a:rPr lang="en-US" altLang="zh-CN" sz="3200" b="1" dirty="0">
                <a:latin typeface="Times New Roman Bold" panose="02020503050405090304" charset="0"/>
                <a:cs typeface="Times New Roman Bold" panose="02020503050405090304" charset="0"/>
              </a:rPr>
              <a:t>3)</a:t>
            </a:r>
            <a:r>
              <a:rPr lang="en-US" altLang="zh-CN" sz="3200" b="1" i="1" dirty="0"/>
              <a:t> to </a:t>
            </a:r>
            <a:r>
              <a:rPr lang="en-US" altLang="zh-CN" sz="3200" b="1" i="1" dirty="0">
                <a:solidFill>
                  <a:srgbClr val="0000FF"/>
                </a:solidFill>
              </a:rPr>
              <a:t>stop holding</a:t>
            </a:r>
            <a:r>
              <a:rPr lang="en-US" altLang="zh-CN" sz="3200" b="1" i="1" dirty="0"/>
              <a:t> </a:t>
            </a:r>
            <a:r>
              <a:rPr lang="en-US" altLang="zh-CN" sz="3200" b="1" i="1" dirty="0" err="1">
                <a:solidFill>
                  <a:srgbClr val="0000FF"/>
                </a:solidFill>
              </a:rPr>
              <a:t>sth </a:t>
            </a:r>
            <a:r>
              <a:rPr lang="zh-CN" altLang="en-US" sz="3200" b="1" dirty="0">
                <a:solidFill>
                  <a:srgbClr val="FF0000"/>
                </a:solidFill>
                <a:latin typeface="+mj-lt"/>
              </a:rPr>
              <a:t>放开</a:t>
            </a:r>
            <a:r>
              <a:rPr lang="en-US" altLang="zh-CN" sz="3200" b="1" dirty="0">
                <a:solidFill>
                  <a:srgbClr val="FF0000"/>
                </a:solidFill>
                <a:latin typeface="+mj-lt"/>
              </a:rPr>
              <a:t>; </a:t>
            </a:r>
            <a:r>
              <a:rPr lang="zh-CN" altLang="en-US" sz="3200" b="1" dirty="0">
                <a:solidFill>
                  <a:srgbClr val="FF0000"/>
                </a:solidFill>
                <a:latin typeface="+mj-lt"/>
              </a:rPr>
              <a:t>松开</a:t>
            </a:r>
            <a:endParaRPr lang="en-US" altLang="zh-CN" sz="3200" b="1" dirty="0">
              <a:solidFill>
                <a:srgbClr val="FF0000"/>
              </a:solidFill>
              <a:latin typeface="+mj-lt"/>
            </a:endParaRPr>
          </a:p>
          <a:p>
            <a:pPr indent="-3575050" fontAlgn="auto">
              <a:lnSpc>
                <a:spcPct val="110000"/>
              </a:lnSpc>
            </a:pPr>
            <a:r>
              <a:rPr lang="en-US" altLang="zh-CN" sz="3200" b="1" dirty="0">
                <a:latin typeface="Times New Roman Bold" panose="02020503050405090304" charset="0"/>
                <a:cs typeface="Times New Roman Bold" panose="02020503050405090304" charset="0"/>
              </a:rPr>
              <a:t>4)</a:t>
            </a:r>
            <a:r>
              <a:rPr lang="en-US" altLang="zh-CN" sz="3200" b="1" i="1" dirty="0"/>
              <a:t> to</a:t>
            </a:r>
            <a:r>
              <a:rPr lang="en-US" altLang="zh-CN" sz="3200" b="1" i="1" dirty="0">
                <a:solidFill>
                  <a:srgbClr val="0000FF"/>
                </a:solidFill>
              </a:rPr>
              <a:t> express feelings </a:t>
            </a:r>
            <a:r>
              <a:rPr lang="zh-CN" altLang="en-US" sz="3200" b="1" dirty="0">
                <a:solidFill>
                  <a:srgbClr val="FF0000"/>
                </a:solidFill>
                <a:latin typeface="+mj-lt"/>
              </a:rPr>
              <a:t>发泄</a:t>
            </a:r>
            <a:r>
              <a:rPr lang="en-US" altLang="zh-CN" sz="3200" b="1" dirty="0">
                <a:solidFill>
                  <a:srgbClr val="FF0000"/>
                </a:solidFill>
                <a:latin typeface="+mj-lt"/>
              </a:rPr>
              <a:t>; </a:t>
            </a:r>
            <a:r>
              <a:rPr lang="zh-CN" altLang="en-US" sz="3200" b="1" dirty="0">
                <a:solidFill>
                  <a:srgbClr val="FF0000"/>
                </a:solidFill>
                <a:latin typeface="+mj-lt"/>
              </a:rPr>
              <a:t>宣泄</a:t>
            </a:r>
          </a:p>
          <a:p>
            <a:pPr indent="-3575050" fontAlgn="auto">
              <a:lnSpc>
                <a:spcPct val="110000"/>
              </a:lnSpc>
            </a:pPr>
            <a:endParaRPr lang="zh-CN" altLang="en-US" sz="3200" b="1" dirty="0">
              <a:solidFill>
                <a:schemeClr val="tx1"/>
              </a:solidFill>
              <a:latin typeface="+mj-lt"/>
            </a:endParaRPr>
          </a:p>
          <a:p>
            <a:pPr indent="-3575050" fontAlgn="auto">
              <a:lnSpc>
                <a:spcPct val="110000"/>
              </a:lnSpc>
            </a:pPr>
            <a:r>
              <a:rPr lang="en-US" altLang="zh-CN" sz="3200" b="1" dirty="0">
                <a:solidFill>
                  <a:schemeClr val="tx1"/>
                </a:solidFill>
                <a:latin typeface="+mj-lt"/>
              </a:rPr>
              <a:t>She burst into tears, </a:t>
            </a:r>
            <a:r>
              <a:rPr lang="en-US" altLang="zh-CN" sz="3200" b="1" u="sng" dirty="0">
                <a:solidFill>
                  <a:srgbClr val="FF0000"/>
                </a:solidFill>
                <a:latin typeface="+mj-lt"/>
              </a:rPr>
              <a:t>releasing all her negative emotions</a:t>
            </a:r>
            <a:r>
              <a:rPr lang="en-US" altLang="zh-CN" sz="3200" b="1" dirty="0">
                <a:solidFill>
                  <a:schemeClr val="tx1"/>
                </a:solidFill>
                <a:latin typeface="+mj-lt"/>
              </a:rPr>
              <a:t>.</a:t>
            </a:r>
          </a:p>
          <a:p>
            <a:pPr indent="-3575050" fontAlgn="auto">
              <a:lnSpc>
                <a:spcPct val="110000"/>
              </a:lnSpc>
            </a:pPr>
            <a:r>
              <a:rPr lang="en-US" altLang="zh-CN" sz="3200" b="1" dirty="0">
                <a:solidFill>
                  <a:srgbClr val="FF0000"/>
                </a:solidFill>
                <a:latin typeface="+mj-lt"/>
              </a:rPr>
              <a:t>release one’s creativity</a:t>
            </a:r>
            <a:r>
              <a:rPr lang="en-US" altLang="zh-CN" sz="3200" b="1" dirty="0">
                <a:solidFill>
                  <a:schemeClr val="tx1"/>
                </a:solidFill>
                <a:latin typeface="+mj-lt"/>
              </a:rPr>
              <a:t> </a:t>
            </a:r>
            <a:r>
              <a:rPr lang="zh-CN" altLang="en-US" sz="3200" b="1" dirty="0">
                <a:solidFill>
                  <a:schemeClr val="tx1"/>
                </a:solidFill>
                <a:latin typeface="+mj-lt"/>
              </a:rPr>
              <a:t>发挥某人的想象力</a:t>
            </a:r>
            <a:endParaRPr lang="en-US" altLang="zh-CN" sz="3200" b="1" dirty="0">
              <a:solidFill>
                <a:schemeClr val="tx1"/>
              </a:solidFill>
              <a:latin typeface="+mj-lt"/>
            </a:endParaRPr>
          </a:p>
          <a:p>
            <a:pPr indent="-3575050" fontAlgn="auto">
              <a:lnSpc>
                <a:spcPct val="110000"/>
              </a:lnSpc>
            </a:pPr>
            <a:r>
              <a:rPr lang="en-US" altLang="zh-CN" sz="3200" b="1" dirty="0">
                <a:solidFill>
                  <a:srgbClr val="FF0000"/>
                </a:solidFill>
                <a:latin typeface="+mj-lt"/>
              </a:rPr>
              <a:t>release tension/anger</a:t>
            </a:r>
            <a:r>
              <a:rPr lang="en-US" altLang="zh-CN" sz="3200" b="1" dirty="0">
                <a:solidFill>
                  <a:schemeClr val="tx1"/>
                </a:solidFill>
                <a:latin typeface="+mj-lt"/>
              </a:rPr>
              <a:t> </a:t>
            </a:r>
            <a:r>
              <a:rPr lang="zh-CN" altLang="en-US" sz="3200" b="1" dirty="0">
                <a:solidFill>
                  <a:schemeClr val="tx1"/>
                </a:solidFill>
                <a:latin typeface="+mj-lt"/>
              </a:rPr>
              <a:t>释放压力</a:t>
            </a:r>
            <a:r>
              <a:rPr lang="en-US" altLang="zh-CN" sz="3200" b="1" dirty="0">
                <a:solidFill>
                  <a:schemeClr val="tx1"/>
                </a:solidFill>
                <a:latin typeface="+mj-lt"/>
              </a:rPr>
              <a:t>/</a:t>
            </a:r>
            <a:r>
              <a:rPr lang="zh-CN" altLang="en-US" sz="3200" b="1" dirty="0">
                <a:solidFill>
                  <a:schemeClr val="tx1"/>
                </a:solidFill>
                <a:latin typeface="+mj-lt"/>
              </a:rPr>
              <a:t>愤怒</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nvSpPr>
        <p:spPr>
          <a:xfrm>
            <a:off x="359410" y="375920"/>
            <a:ext cx="11557635" cy="5502910"/>
          </a:xfrm>
          <a:prstGeom prst="rect">
            <a:avLst/>
          </a:prstGeom>
          <a:noFill/>
          <a:ln w="28575">
            <a:noFill/>
          </a:ln>
          <a:extLst>
            <a:ext uri="{909E8E84-426E-40DD-AFC4-6F175D3DCCD1}">
              <a14:hiddenFill xmlns:a14="http://schemas.microsoft.com/office/drawing/2010/main">
                <a:solidFill>
                  <a:srgbClr val="E6F1FE"/>
                </a:solidFill>
              </a14:hiddenFill>
            </a:ext>
          </a:extLst>
        </p:spPr>
        <p:txBody>
          <a:bodyPr wrap="square">
            <a:spAutoFit/>
          </a:bodyPr>
          <a:lstStyle/>
          <a:p>
            <a:pPr marL="1698625" indent="-1698625">
              <a:lnSpc>
                <a:spcPct val="110000"/>
              </a:lnSpc>
            </a:pPr>
            <a:r>
              <a:rPr lang="en-US" altLang="zh-CN" sz="3200" b="1" dirty="0">
                <a:solidFill>
                  <a:srgbClr val="FF0000"/>
                </a:solidFill>
              </a:rPr>
              <a:t>release</a:t>
            </a:r>
            <a:r>
              <a:rPr lang="en-US" altLang="zh-CN" sz="3200" b="1" i="1" dirty="0">
                <a:solidFill>
                  <a:srgbClr val="FF0000"/>
                </a:solidFill>
              </a:rPr>
              <a:t> n</a:t>
            </a:r>
            <a:r>
              <a:rPr lang="en-US" altLang="zh-CN" sz="3200" b="1" dirty="0">
                <a:solidFill>
                  <a:srgbClr val="FF0000"/>
                </a:solidFill>
              </a:rPr>
              <a:t>. </a:t>
            </a:r>
          </a:p>
          <a:p>
            <a:pPr marL="1698625" indent="-1698625">
              <a:lnSpc>
                <a:spcPct val="110000"/>
              </a:lnSpc>
            </a:pPr>
            <a:r>
              <a:rPr lang="en-US" altLang="zh-CN" sz="3200" b="1" dirty="0">
                <a:solidFill>
                  <a:schemeClr val="tx1"/>
                </a:solidFill>
                <a:latin typeface="+mj-lt"/>
              </a:rPr>
              <a:t>1) </a:t>
            </a:r>
            <a:r>
              <a:rPr lang="zh-CN" altLang="en-US" sz="3200" b="1" dirty="0">
                <a:solidFill>
                  <a:schemeClr val="tx1"/>
                </a:solidFill>
                <a:latin typeface="+mj-lt"/>
              </a:rPr>
              <a:t>释放</a:t>
            </a:r>
            <a:endParaRPr lang="en-US" altLang="zh-CN" sz="3200" b="1" dirty="0">
              <a:solidFill>
                <a:schemeClr val="tx1"/>
              </a:solidFill>
              <a:latin typeface="+mj-lt"/>
            </a:endParaRPr>
          </a:p>
          <a:p>
            <a:pPr marL="1698625" indent="-1698625">
              <a:lnSpc>
                <a:spcPct val="110000"/>
              </a:lnSpc>
            </a:pPr>
            <a:r>
              <a:rPr lang="en-US" altLang="zh-CN" sz="3200" b="1" dirty="0">
                <a:solidFill>
                  <a:srgbClr val="FF0000"/>
                </a:solidFill>
                <a:latin typeface="+mj-lt"/>
              </a:rPr>
              <a:t>the release of </a:t>
            </a:r>
            <a:r>
              <a:rPr lang="en-US" altLang="zh-CN" sz="3200" b="1" dirty="0">
                <a:solidFill>
                  <a:schemeClr val="tx1"/>
                </a:solidFill>
                <a:latin typeface="+mj-lt"/>
              </a:rPr>
              <a:t>hostages</a:t>
            </a:r>
          </a:p>
          <a:p>
            <a:pPr marL="1698625" indent="-1698625">
              <a:lnSpc>
                <a:spcPct val="110000"/>
              </a:lnSpc>
            </a:pPr>
            <a:r>
              <a:rPr lang="en-US" altLang="zh-CN" sz="3200" b="1" dirty="0">
                <a:solidFill>
                  <a:schemeClr val="tx1"/>
                </a:solidFill>
                <a:latin typeface="+mj-lt"/>
              </a:rPr>
              <a:t>2) </a:t>
            </a:r>
            <a:r>
              <a:rPr lang="zh-CN" altLang="en-US" sz="3200" b="1" dirty="0">
                <a:solidFill>
                  <a:schemeClr val="tx1"/>
                </a:solidFill>
                <a:latin typeface="+mj-lt"/>
              </a:rPr>
              <a:t>泄露</a:t>
            </a:r>
            <a:endParaRPr lang="en-US" altLang="zh-CN" sz="3200" b="1" dirty="0">
              <a:solidFill>
                <a:schemeClr val="tx1"/>
              </a:solidFill>
              <a:latin typeface="+mj-lt"/>
            </a:endParaRPr>
          </a:p>
          <a:p>
            <a:pPr marL="1698625" indent="-1698625">
              <a:lnSpc>
                <a:spcPct val="110000"/>
              </a:lnSpc>
            </a:pPr>
            <a:r>
              <a:rPr lang="en-US" altLang="zh-CN" sz="3200" b="1" dirty="0">
                <a:solidFill>
                  <a:srgbClr val="FF0000"/>
                </a:solidFill>
                <a:latin typeface="+mj-lt"/>
              </a:rPr>
              <a:t>the release of </a:t>
            </a:r>
            <a:r>
              <a:rPr lang="en-US" altLang="zh-CN" sz="3200" b="1" dirty="0">
                <a:solidFill>
                  <a:schemeClr val="tx1"/>
                </a:solidFill>
                <a:latin typeface="+mj-lt"/>
              </a:rPr>
              <a:t>poisonous gases </a:t>
            </a:r>
            <a:endParaRPr lang="en-US" altLang="zh-CN" sz="3200" b="1" dirty="0">
              <a:solidFill>
                <a:srgbClr val="FF0000"/>
              </a:solidFill>
              <a:latin typeface="+mj-lt"/>
            </a:endParaRPr>
          </a:p>
          <a:p>
            <a:pPr marL="1698625" indent="-1698625">
              <a:lnSpc>
                <a:spcPct val="110000"/>
              </a:lnSpc>
            </a:pPr>
            <a:r>
              <a:rPr lang="en-US" altLang="zh-CN" sz="3200" b="1" dirty="0">
                <a:solidFill>
                  <a:schemeClr val="tx1"/>
                </a:solidFill>
                <a:latin typeface="+mj-lt"/>
              </a:rPr>
              <a:t>3) </a:t>
            </a:r>
            <a:r>
              <a:rPr lang="zh-CN" altLang="en-US" sz="3200" b="1" dirty="0">
                <a:solidFill>
                  <a:schemeClr val="tx1"/>
                </a:solidFill>
                <a:latin typeface="+mj-lt"/>
              </a:rPr>
              <a:t>计划发布</a:t>
            </a:r>
            <a:r>
              <a:rPr lang="en-US" altLang="zh-CN" sz="3200" b="1" dirty="0">
                <a:solidFill>
                  <a:schemeClr val="tx1"/>
                </a:solidFill>
                <a:latin typeface="+mj-lt"/>
              </a:rPr>
              <a:t>/</a:t>
            </a:r>
            <a:r>
              <a:rPr lang="zh-CN" altLang="en-US" sz="3200" b="1" dirty="0">
                <a:solidFill>
                  <a:schemeClr val="tx1"/>
                </a:solidFill>
                <a:latin typeface="+mj-lt"/>
              </a:rPr>
              <a:t>上市</a:t>
            </a:r>
            <a:r>
              <a:rPr lang="en-US" altLang="zh-CN" sz="3200" b="1" dirty="0">
                <a:solidFill>
                  <a:schemeClr val="tx1"/>
                </a:solidFill>
                <a:latin typeface="+mj-lt"/>
              </a:rPr>
              <a:t>/</a:t>
            </a:r>
            <a:r>
              <a:rPr lang="zh-CN" altLang="en-US" sz="3200" b="1" dirty="0">
                <a:solidFill>
                  <a:schemeClr val="tx1"/>
                </a:solidFill>
                <a:latin typeface="+mj-lt"/>
              </a:rPr>
              <a:t>上映</a:t>
            </a:r>
            <a:endParaRPr lang="en-US" altLang="zh-CN" sz="3200" b="1" dirty="0">
              <a:solidFill>
                <a:schemeClr val="tx1"/>
              </a:solidFill>
              <a:latin typeface="+mj-lt"/>
            </a:endParaRPr>
          </a:p>
          <a:p>
            <a:pPr marL="1698625" indent="-1698625">
              <a:lnSpc>
                <a:spcPct val="110000"/>
              </a:lnSpc>
            </a:pPr>
            <a:r>
              <a:rPr lang="en-US" altLang="zh-CN" sz="3200" b="1" dirty="0">
                <a:solidFill>
                  <a:schemeClr val="tx1"/>
                </a:solidFill>
                <a:latin typeface="+mj-lt"/>
              </a:rPr>
              <a:t>The new software </a:t>
            </a:r>
            <a:r>
              <a:rPr lang="en-US" altLang="zh-CN" sz="3200" b="1" u="sng" dirty="0">
                <a:solidFill>
                  <a:srgbClr val="FF0000"/>
                </a:solidFill>
                <a:latin typeface="+mj-lt"/>
              </a:rPr>
              <a:t>is planned for release</a:t>
            </a:r>
            <a:r>
              <a:rPr lang="en-US" altLang="zh-CN" sz="3200" b="1" dirty="0">
                <a:solidFill>
                  <a:srgbClr val="FF0000"/>
                </a:solidFill>
                <a:latin typeface="+mj-lt"/>
              </a:rPr>
              <a:t> </a:t>
            </a:r>
            <a:r>
              <a:rPr lang="en-US" altLang="zh-CN" sz="3200" b="1" dirty="0">
                <a:solidFill>
                  <a:schemeClr val="tx1"/>
                </a:solidFill>
                <a:latin typeface="+mj-lt"/>
              </a:rPr>
              <a:t>in April.</a:t>
            </a:r>
          </a:p>
          <a:p>
            <a:pPr marL="1698625" indent="-1698625">
              <a:lnSpc>
                <a:spcPct val="110000"/>
              </a:lnSpc>
            </a:pPr>
            <a:r>
              <a:rPr lang="en-US" altLang="zh-CN" sz="3200" b="1" dirty="0">
                <a:solidFill>
                  <a:prstClr val="black"/>
                </a:solidFill>
                <a:sym typeface="+mn-ea"/>
              </a:rPr>
              <a:t>It's still seven weeks till the film's official </a:t>
            </a:r>
            <a:r>
              <a:rPr lang="en-US" altLang="zh-CN" sz="3200" b="1" dirty="0">
                <a:solidFill>
                  <a:srgbClr val="FF0000"/>
                </a:solidFill>
                <a:sym typeface="+mn-ea"/>
              </a:rPr>
              <a:t>release</a:t>
            </a:r>
            <a:r>
              <a:rPr lang="en-US" altLang="zh-CN" sz="3200" b="1" dirty="0">
                <a:solidFill>
                  <a:prstClr val="black"/>
                </a:solidFill>
                <a:sym typeface="+mn-ea"/>
              </a:rPr>
              <a:t>.</a:t>
            </a:r>
            <a:endParaRPr lang="en-US" altLang="zh-CN" sz="3200" b="1" dirty="0">
              <a:solidFill>
                <a:srgbClr val="FF0000"/>
              </a:solidFill>
              <a:latin typeface="+mj-lt"/>
            </a:endParaRPr>
          </a:p>
          <a:p>
            <a:pPr marL="1698625" indent="-1698625">
              <a:lnSpc>
                <a:spcPct val="110000"/>
              </a:lnSpc>
            </a:pPr>
            <a:r>
              <a:rPr lang="en-US" altLang="zh-CN" sz="3200" b="1" dirty="0">
                <a:latin typeface="+mj-lt"/>
                <a:sym typeface="+mn-ea"/>
              </a:rPr>
              <a:t>4) </a:t>
            </a:r>
            <a:r>
              <a:rPr lang="zh-CN" altLang="en-US" sz="3200" b="1" dirty="0">
                <a:latin typeface="+mj-lt"/>
                <a:sym typeface="+mn-ea"/>
              </a:rPr>
              <a:t>解脱感</a:t>
            </a:r>
            <a:endParaRPr lang="en-US" altLang="zh-CN" sz="3200" b="1" dirty="0">
              <a:solidFill>
                <a:schemeClr val="tx1"/>
              </a:solidFill>
              <a:latin typeface="+mj-lt"/>
            </a:endParaRPr>
          </a:p>
          <a:p>
            <a:pPr marL="1698625" indent="-1698625">
              <a:lnSpc>
                <a:spcPct val="110000"/>
              </a:lnSpc>
            </a:pPr>
            <a:r>
              <a:rPr lang="en-US" altLang="zh-CN" sz="3200" b="1" u="sng" dirty="0">
                <a:solidFill>
                  <a:srgbClr val="FF0000"/>
                </a:solidFill>
                <a:latin typeface="+mj-lt"/>
              </a:rPr>
              <a:t>a sense of release</a:t>
            </a:r>
            <a:r>
              <a:rPr lang="en-US" altLang="zh-CN" sz="3200" b="1" dirty="0">
                <a:solidFill>
                  <a:srgbClr val="FF0000"/>
                </a:solidFill>
                <a:latin typeface="+mj-lt"/>
              </a:rPr>
              <a:t> </a:t>
            </a:r>
            <a:r>
              <a:rPr lang="en-US" altLang="zh-CN" sz="3200" b="1" dirty="0">
                <a:solidFill>
                  <a:schemeClr val="tx1"/>
                </a:solidFill>
                <a:latin typeface="+mj-lt"/>
              </a:rPr>
              <a:t>after the exam</a:t>
            </a:r>
            <a:endParaRPr lang="zh-CN" altLang="en-US" sz="3200" b="1" dirty="0">
              <a:solidFill>
                <a:srgbClr val="FF0000"/>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Rectangle 1"/>
          <p:cNvSpPr>
            <a:spLocks noChangeArrowheads="1"/>
          </p:cNvSpPr>
          <p:nvPr/>
        </p:nvSpPr>
        <p:spPr bwMode="auto">
          <a:xfrm>
            <a:off x="666441" y="325716"/>
            <a:ext cx="10972565" cy="58527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0" rIns="0" bIns="0" numCol="1" anchor="ctr" anchorCtr="0" compatLnSpc="1">
            <a:spAutoFit/>
          </a:bodyPr>
          <a:lstStyle>
            <a:lvl1pPr eaLnBrk="0" fontAlgn="base" hangingPunct="0">
              <a:spcBef>
                <a:spcPct val="0"/>
              </a:spcBef>
              <a:spcAft>
                <a:spcPct val="0"/>
              </a:spcAft>
              <a:defRPr>
                <a:solidFill>
                  <a:schemeClr val="tx1"/>
                </a:solidFill>
                <a:latin typeface="Arial" panose="020B0604020202090204" pitchFamily="34" charset="0"/>
              </a:defRPr>
            </a:lvl1pPr>
            <a:lvl2pPr eaLnBrk="0" fontAlgn="base" hangingPunct="0">
              <a:spcBef>
                <a:spcPct val="0"/>
              </a:spcBef>
              <a:spcAft>
                <a:spcPct val="0"/>
              </a:spcAft>
              <a:defRPr>
                <a:solidFill>
                  <a:schemeClr val="tx1"/>
                </a:solidFill>
                <a:latin typeface="Arial" panose="020B0604020202090204" pitchFamily="34" charset="0"/>
              </a:defRPr>
            </a:lvl2pPr>
            <a:lvl3pPr eaLnBrk="0" fontAlgn="base" hangingPunct="0">
              <a:spcBef>
                <a:spcPct val="0"/>
              </a:spcBef>
              <a:spcAft>
                <a:spcPct val="0"/>
              </a:spcAft>
              <a:defRPr>
                <a:solidFill>
                  <a:schemeClr val="tx1"/>
                </a:solidFill>
                <a:latin typeface="Arial" panose="020B0604020202090204" pitchFamily="34" charset="0"/>
              </a:defRPr>
            </a:lvl3pPr>
            <a:lvl4pPr eaLnBrk="0" fontAlgn="base" hangingPunct="0">
              <a:spcBef>
                <a:spcPct val="0"/>
              </a:spcBef>
              <a:spcAft>
                <a:spcPct val="0"/>
              </a:spcAft>
              <a:defRPr>
                <a:solidFill>
                  <a:schemeClr val="tx1"/>
                </a:solidFill>
                <a:latin typeface="Arial" panose="020B0604020202090204" pitchFamily="34" charset="0"/>
              </a:defRPr>
            </a:lvl4pPr>
            <a:lvl5pPr eaLnBrk="0" fontAlgn="base" hangingPunct="0">
              <a:spcBef>
                <a:spcPct val="0"/>
              </a:spcBef>
              <a:spcAft>
                <a:spcPct val="0"/>
              </a:spcAft>
              <a:defRPr>
                <a:solidFill>
                  <a:schemeClr val="tx1"/>
                </a:solidFill>
                <a:latin typeface="Arial" panose="020B0604020202090204" pitchFamily="34" charset="0"/>
              </a:defRPr>
            </a:lvl5pPr>
            <a:lvl6pPr eaLnBrk="0" fontAlgn="base" hangingPunct="0">
              <a:spcBef>
                <a:spcPct val="0"/>
              </a:spcBef>
              <a:spcAft>
                <a:spcPct val="0"/>
              </a:spcAft>
              <a:defRPr>
                <a:solidFill>
                  <a:schemeClr val="tx1"/>
                </a:solidFill>
                <a:latin typeface="Arial" panose="020B0604020202090204" pitchFamily="34" charset="0"/>
              </a:defRPr>
            </a:lvl6pPr>
            <a:lvl7pPr eaLnBrk="0" fontAlgn="base" hangingPunct="0">
              <a:spcBef>
                <a:spcPct val="0"/>
              </a:spcBef>
              <a:spcAft>
                <a:spcPct val="0"/>
              </a:spcAft>
              <a:defRPr>
                <a:solidFill>
                  <a:schemeClr val="tx1"/>
                </a:solidFill>
                <a:latin typeface="Arial" panose="020B0604020202090204" pitchFamily="34" charset="0"/>
              </a:defRPr>
            </a:lvl7pPr>
            <a:lvl8pPr eaLnBrk="0" fontAlgn="base" hangingPunct="0">
              <a:spcBef>
                <a:spcPct val="0"/>
              </a:spcBef>
              <a:spcAft>
                <a:spcPct val="0"/>
              </a:spcAft>
              <a:defRPr>
                <a:solidFill>
                  <a:schemeClr val="tx1"/>
                </a:solidFill>
                <a:latin typeface="Arial" panose="020B0604020202090204" pitchFamily="34" charset="0"/>
              </a:defRPr>
            </a:lvl8pPr>
            <a:lvl9pPr eaLnBrk="0" fontAlgn="base" hangingPunct="0">
              <a:spcBef>
                <a:spcPct val="0"/>
              </a:spcBef>
              <a:spcAft>
                <a:spcPct val="0"/>
              </a:spcAft>
              <a:defRPr>
                <a:solidFill>
                  <a:schemeClr val="tx1"/>
                </a:solidFill>
                <a:latin typeface="Arial" panose="020B0604020202090204" pitchFamily="34" charset="0"/>
              </a:defRPr>
            </a:lvl9pPr>
          </a:lstStyle>
          <a:p>
            <a:pPr marL="0" marR="0" lvl="0" indent="0" algn="l" defTabSz="914400" rtl="0" eaLnBrk="0" fontAlgn="base" latinLnBrk="0" hangingPunct="0">
              <a:lnSpc>
                <a:spcPct val="120000"/>
              </a:lnSpc>
              <a:spcBef>
                <a:spcPct val="0"/>
              </a:spcBef>
              <a:spcAft>
                <a:spcPct val="0"/>
              </a:spcAft>
              <a:buClrTx/>
              <a:buSzTx/>
              <a:buFontTx/>
              <a:buNone/>
            </a:pPr>
            <a:r>
              <a:rPr kumimoji="0" lang="zh-CN" altLang="zh-CN" sz="3200" b="1" i="0" u="none" strike="noStrike" cap="none" normalizeH="0" baseline="0" dirty="0">
                <a:ln>
                  <a:noFill/>
                </a:ln>
                <a:solidFill>
                  <a:srgbClr val="9966FF"/>
                </a:solidFill>
                <a:effectLst/>
                <a:latin typeface="+mn-lt"/>
                <a:ea typeface="宋体" pitchFamily="2" charset="-122"/>
                <a:cs typeface="Tahoma" panose="020B0604030504040204" pitchFamily="34" charset="0"/>
              </a:rPr>
              <a:t>【</a:t>
            </a:r>
            <a:r>
              <a:rPr kumimoji="0" lang="zh-CN" altLang="en-US" sz="3200" b="1" i="0" u="none" strike="noStrike" cap="none" normalizeH="0" baseline="0" dirty="0">
                <a:ln>
                  <a:noFill/>
                </a:ln>
                <a:solidFill>
                  <a:srgbClr val="9966FF"/>
                </a:solidFill>
                <a:effectLst/>
                <a:latin typeface="+mn-lt"/>
                <a:ea typeface="宋体" pitchFamily="2" charset="-122"/>
                <a:cs typeface="Tahoma" panose="020B0604030504040204" pitchFamily="34" charset="0"/>
              </a:rPr>
              <a:t>语境应用</a:t>
            </a:r>
            <a:r>
              <a:rPr kumimoji="0" lang="zh-CN" altLang="zh-CN" sz="3200" b="1" i="0" u="none" strike="noStrike" cap="none" normalizeH="0" baseline="0" dirty="0">
                <a:ln>
                  <a:noFill/>
                </a:ln>
                <a:solidFill>
                  <a:srgbClr val="9966FF"/>
                </a:solidFill>
                <a:effectLst/>
                <a:latin typeface="+mn-lt"/>
                <a:ea typeface="宋体" pitchFamily="2" charset="-122"/>
                <a:cs typeface="Tahoma" panose="020B0604030504040204" pitchFamily="34" charset="0"/>
              </a:rPr>
              <a:t>】</a:t>
            </a:r>
            <a:r>
              <a:rPr kumimoji="0" lang="en-US" altLang="zh-CN" sz="3200" b="1" i="0" u="none" strike="noStrike" cap="none" normalizeH="0" baseline="0" dirty="0">
                <a:ln>
                  <a:noFill/>
                </a:ln>
                <a:solidFill>
                  <a:srgbClr val="9966FF"/>
                </a:solidFill>
                <a:effectLst/>
                <a:latin typeface="+mn-lt"/>
                <a:ea typeface="宋体" pitchFamily="2" charset="-122"/>
                <a:cs typeface="Tahoma" panose="020B0604030504040204" pitchFamily="34" charset="0"/>
              </a:rPr>
              <a:t>I. </a:t>
            </a:r>
            <a:r>
              <a:rPr kumimoji="0" lang="zh-CN" altLang="en-US" sz="3200" b="1" i="0" u="none" strike="noStrike" cap="none" normalizeH="0" baseline="0" dirty="0">
                <a:ln>
                  <a:noFill/>
                </a:ln>
                <a:solidFill>
                  <a:srgbClr val="9966FF"/>
                </a:solidFill>
                <a:effectLst/>
                <a:latin typeface="+mn-lt"/>
                <a:ea typeface="宋体" pitchFamily="2" charset="-122"/>
                <a:cs typeface="Tahoma" panose="020B0604030504040204" pitchFamily="34" charset="0"/>
              </a:rPr>
              <a:t>完成句子</a:t>
            </a:r>
            <a:r>
              <a:rPr lang="zh-CN" altLang="en-US" sz="3200" b="1" dirty="0">
                <a:solidFill>
                  <a:srgbClr val="9966FF"/>
                </a:solidFill>
                <a:latin typeface="+mn-lt"/>
                <a:ea typeface="宋体" pitchFamily="2" charset="-122"/>
                <a:cs typeface="Tahoma" panose="020B0604030504040204" pitchFamily="34" charset="0"/>
              </a:rPr>
              <a:t>。</a:t>
            </a:r>
            <a:endParaRPr lang="en-US" altLang="zh-CN" sz="3200" b="1" dirty="0">
              <a:solidFill>
                <a:srgbClr val="9966FF"/>
              </a:solidFill>
              <a:latin typeface="+mn-lt"/>
              <a:ea typeface="宋体" pitchFamily="2" charset="-122"/>
              <a:cs typeface="Tahoma" panose="020B0604030504040204" pitchFamily="34" charset="0"/>
            </a:endParaRPr>
          </a:p>
          <a:p>
            <a:pPr marL="0" marR="0" lvl="0" indent="0" algn="l" defTabSz="914400" rtl="0" eaLnBrk="0" fontAlgn="base" latinLnBrk="0" hangingPunct="0">
              <a:lnSpc>
                <a:spcPct val="120000"/>
              </a:lnSpc>
              <a:spcBef>
                <a:spcPct val="0"/>
              </a:spcBef>
              <a:spcAft>
                <a:spcPct val="0"/>
              </a:spcAft>
              <a:buClrTx/>
              <a:buSzTx/>
              <a:buFontTx/>
              <a:buNone/>
            </a:pPr>
            <a:r>
              <a:rPr kumimoji="0" lang="en-US" altLang="zh-CN" sz="3200" b="1" i="0" u="none" strike="noStrike" cap="none" normalizeH="0" baseline="0" dirty="0">
                <a:ln>
                  <a:noFill/>
                </a:ln>
                <a:solidFill>
                  <a:srgbClr val="000000"/>
                </a:solidFill>
                <a:effectLst/>
                <a:latin typeface="+mn-lt"/>
                <a:cs typeface="Tahoma" panose="020B0604030504040204" pitchFamily="34" charset="0"/>
              </a:rPr>
              <a:t> 1) The bird ____________(release) from the cage.</a:t>
            </a:r>
            <a:endParaRPr lang="zh-CN" altLang="en-US" sz="3200" b="1" dirty="0">
              <a:solidFill>
                <a:srgbClr val="FF0000"/>
              </a:solidFill>
              <a:latin typeface="+mn-lt"/>
            </a:endParaRPr>
          </a:p>
          <a:p>
            <a:pPr marL="539750" lvl="0" indent="-539750">
              <a:lnSpc>
                <a:spcPct val="120000"/>
              </a:lnSpc>
            </a:pPr>
            <a:r>
              <a:rPr kumimoji="0" lang="en-US" altLang="zh-CN" sz="3200" b="1" i="0" u="none" strike="noStrike" cap="none" normalizeH="0" baseline="0" dirty="0">
                <a:ln>
                  <a:noFill/>
                </a:ln>
                <a:solidFill>
                  <a:srgbClr val="000000"/>
                </a:solidFill>
                <a:effectLst/>
                <a:latin typeface="+mn-lt"/>
                <a:cs typeface="Tahoma" panose="020B0604030504040204" pitchFamily="34" charset="0"/>
              </a:rPr>
              <a:t> 2) The</a:t>
            </a:r>
            <a:r>
              <a:rPr kumimoji="0" lang="en-US" altLang="zh-CN" sz="3200" b="1" i="0" u="none" strike="noStrike" cap="none" normalizeH="0" dirty="0">
                <a:ln>
                  <a:noFill/>
                </a:ln>
                <a:solidFill>
                  <a:srgbClr val="000000"/>
                </a:solidFill>
                <a:effectLst/>
                <a:latin typeface="+mn-lt"/>
                <a:cs typeface="Tahoma" panose="020B0604030504040204" pitchFamily="34" charset="0"/>
              </a:rPr>
              <a:t> firefighter took several hours to</a:t>
            </a:r>
            <a:r>
              <a:rPr kumimoji="0" lang="en-US" altLang="zh-CN" sz="3200" b="1" i="0" u="none" strike="noStrike" cap="none" normalizeH="0" baseline="0" dirty="0">
                <a:ln>
                  <a:noFill/>
                </a:ln>
                <a:solidFill>
                  <a:srgbClr val="000000"/>
                </a:solidFill>
                <a:effectLst/>
                <a:latin typeface="+mn-lt"/>
                <a:cs typeface="Tahoma" panose="020B0604030504040204" pitchFamily="34" charset="0"/>
              </a:rPr>
              <a:t> release</a:t>
            </a:r>
            <a:r>
              <a:rPr kumimoji="0" lang="en-US" altLang="zh-CN" sz="3200" b="1" i="0" u="none" strike="noStrike" cap="none" normalizeH="0" dirty="0">
                <a:ln>
                  <a:noFill/>
                </a:ln>
                <a:solidFill>
                  <a:srgbClr val="000000"/>
                </a:solidFill>
                <a:effectLst/>
                <a:latin typeface="+mn-lt"/>
                <a:cs typeface="Tahoma" panose="020B0604030504040204" pitchFamily="34" charset="0"/>
              </a:rPr>
              <a:t> the twins </a:t>
            </a:r>
            <a:r>
              <a:rPr kumimoji="0" lang="en-US" altLang="zh-CN" sz="3200" b="1" i="0" u="none" strike="noStrike" cap="none" normalizeH="0" baseline="0" dirty="0">
                <a:ln>
                  <a:noFill/>
                </a:ln>
                <a:solidFill>
                  <a:srgbClr val="000000"/>
                </a:solidFill>
                <a:effectLst/>
                <a:latin typeface="+mn-lt"/>
                <a:cs typeface="Tahoma" panose="020B0604030504040204" pitchFamily="34" charset="0"/>
              </a:rPr>
              <a:t> ________ the car in the water.</a:t>
            </a:r>
            <a:endParaRPr lang="zh-CN" altLang="en-US" sz="3200" b="1" dirty="0">
              <a:solidFill>
                <a:srgbClr val="FF0000"/>
              </a:solidFill>
              <a:latin typeface="+mn-lt"/>
            </a:endParaRPr>
          </a:p>
          <a:p>
            <a:pPr marL="539750" lvl="0" indent="-539750">
              <a:lnSpc>
                <a:spcPct val="120000"/>
              </a:lnSpc>
            </a:pPr>
            <a:r>
              <a:rPr kumimoji="0" lang="en-US" altLang="zh-CN" sz="3200" b="1" i="0" u="none" strike="noStrike" cap="none" normalizeH="0" baseline="0" dirty="0">
                <a:ln>
                  <a:noFill/>
                </a:ln>
                <a:solidFill>
                  <a:srgbClr val="000000"/>
                </a:solidFill>
                <a:effectLst/>
                <a:latin typeface="+mn-lt"/>
                <a:cs typeface="Tahoma" panose="020B0604030504040204" pitchFamily="34" charset="0"/>
              </a:rPr>
              <a:t> 3) When is the best moment to release the date</a:t>
            </a:r>
            <a:r>
              <a:rPr kumimoji="0" lang="en-US" altLang="zh-CN" sz="3200" b="1" i="0" u="none" strike="noStrike" cap="none" normalizeH="0" dirty="0">
                <a:ln>
                  <a:noFill/>
                </a:ln>
                <a:solidFill>
                  <a:srgbClr val="000000"/>
                </a:solidFill>
                <a:effectLst/>
                <a:latin typeface="+mn-lt"/>
                <a:cs typeface="Tahoma" panose="020B0604030504040204" pitchFamily="34" charset="0"/>
              </a:rPr>
              <a:t> of the election ________ the newspapers?</a:t>
            </a:r>
          </a:p>
          <a:p>
            <a:pPr marL="539750" lvl="0" indent="-539750">
              <a:lnSpc>
                <a:spcPct val="120000"/>
              </a:lnSpc>
            </a:pPr>
            <a:r>
              <a:rPr lang="en-US" altLang="zh-CN" sz="3200" b="1" dirty="0">
                <a:solidFill>
                  <a:srgbClr val="9966FF"/>
                </a:solidFill>
                <a:latin typeface="+mn-lt"/>
                <a:cs typeface="Tahoma" panose="020B0604030504040204" pitchFamily="34" charset="0"/>
              </a:rPr>
              <a:t>II. </a:t>
            </a:r>
            <a:r>
              <a:rPr lang="zh-CN" altLang="en-US" sz="3200" b="1" dirty="0">
                <a:solidFill>
                  <a:srgbClr val="9966FF"/>
                </a:solidFill>
                <a:latin typeface="+mn-lt"/>
                <a:cs typeface="Tahoma" panose="020B0604030504040204" pitchFamily="34" charset="0"/>
              </a:rPr>
              <a:t>英译汉。</a:t>
            </a:r>
            <a:endParaRPr lang="en-US" altLang="zh-CN" sz="3200" b="1" dirty="0">
              <a:solidFill>
                <a:srgbClr val="9966FF"/>
              </a:solidFill>
              <a:latin typeface="+mn-lt"/>
              <a:cs typeface="Tahoma" panose="020B0604030504040204" pitchFamily="34" charset="0"/>
            </a:endParaRPr>
          </a:p>
          <a:p>
            <a:pPr lvl="0">
              <a:lnSpc>
                <a:spcPct val="120000"/>
              </a:lnSpc>
            </a:pPr>
            <a:r>
              <a:rPr lang="en-US" altLang="zh-CN" sz="3200" b="1" dirty="0">
                <a:solidFill>
                  <a:srgbClr val="000000"/>
                </a:solidFill>
                <a:latin typeface="+mn-lt"/>
                <a:cs typeface="Tahoma" panose="020B0604030504040204" pitchFamily="34" charset="0"/>
              </a:rPr>
              <a:t>It has been 24 years since the release of the first Harry Potter book. </a:t>
            </a:r>
          </a:p>
          <a:p>
            <a:pPr lvl="0">
              <a:lnSpc>
                <a:spcPct val="120000"/>
              </a:lnSpc>
            </a:pPr>
            <a:r>
              <a:rPr lang="zh-CN" altLang="en-US" sz="3200" b="1" dirty="0">
                <a:solidFill>
                  <a:srgbClr val="FF0000"/>
                </a:solidFill>
                <a:latin typeface="+mn-lt"/>
                <a:cs typeface="Tahoma" panose="020B0604030504040204" pitchFamily="34" charset="0"/>
              </a:rPr>
              <a:t>距离第一本哈利</a:t>
            </a:r>
            <a:r>
              <a:rPr lang="en-US" altLang="zh-CN" sz="3200" b="1" dirty="0">
                <a:solidFill>
                  <a:srgbClr val="FF0000"/>
                </a:solidFill>
                <a:latin typeface="+mn-lt"/>
                <a:cs typeface="Tahoma" panose="020B0604030504040204" pitchFamily="34" charset="0"/>
              </a:rPr>
              <a:t>·</a:t>
            </a:r>
            <a:r>
              <a:rPr lang="zh-CN" altLang="en-US" sz="3200" b="1" dirty="0">
                <a:solidFill>
                  <a:srgbClr val="FF0000"/>
                </a:solidFill>
                <a:latin typeface="+mn-lt"/>
                <a:cs typeface="Tahoma" panose="020B0604030504040204" pitchFamily="34" charset="0"/>
              </a:rPr>
              <a:t>波特图书发布已经过去了</a:t>
            </a:r>
            <a:r>
              <a:rPr lang="en-US" altLang="zh-CN" sz="3200" b="1" dirty="0">
                <a:solidFill>
                  <a:srgbClr val="FF0000"/>
                </a:solidFill>
                <a:latin typeface="+mn-lt"/>
                <a:cs typeface="Tahoma" panose="020B0604030504040204" pitchFamily="34" charset="0"/>
              </a:rPr>
              <a:t>24</a:t>
            </a:r>
            <a:r>
              <a:rPr lang="zh-CN" altLang="en-US" sz="3200" b="1" dirty="0">
                <a:solidFill>
                  <a:srgbClr val="FF0000"/>
                </a:solidFill>
                <a:latin typeface="+mn-lt"/>
                <a:cs typeface="Tahoma" panose="020B0604030504040204" pitchFamily="34" charset="0"/>
              </a:rPr>
              <a:t>年。</a:t>
            </a:r>
          </a:p>
        </p:txBody>
      </p:sp>
      <p:sp>
        <p:nvSpPr>
          <p:cNvPr id="5" name="矩形 4"/>
          <p:cNvSpPr/>
          <p:nvPr/>
        </p:nvSpPr>
        <p:spPr>
          <a:xfrm>
            <a:off x="2905508" y="922089"/>
            <a:ext cx="2470933" cy="584775"/>
          </a:xfrm>
          <a:prstGeom prst="rect">
            <a:avLst/>
          </a:prstGeom>
        </p:spPr>
        <p:txBody>
          <a:bodyPr wrap="none">
            <a:spAutoFit/>
          </a:bodyPr>
          <a:lstStyle/>
          <a:p>
            <a:r>
              <a:rPr lang="en-US" altLang="zh-CN" sz="3200" b="1" dirty="0">
                <a:solidFill>
                  <a:srgbClr val="FF0000"/>
                </a:solidFill>
              </a:rPr>
              <a:t>was released</a:t>
            </a:r>
            <a:endParaRPr lang="zh-CN" altLang="en-US" sz="3200" b="1" dirty="0">
              <a:solidFill>
                <a:srgbClr val="FF0000"/>
              </a:solidFill>
            </a:endParaRPr>
          </a:p>
        </p:txBody>
      </p:sp>
      <p:sp>
        <p:nvSpPr>
          <p:cNvPr id="6" name="矩形 5"/>
          <p:cNvSpPr/>
          <p:nvPr/>
        </p:nvSpPr>
        <p:spPr>
          <a:xfrm>
            <a:off x="1441676" y="2092553"/>
            <a:ext cx="1042850" cy="584775"/>
          </a:xfrm>
          <a:prstGeom prst="rect">
            <a:avLst/>
          </a:prstGeom>
        </p:spPr>
        <p:txBody>
          <a:bodyPr wrap="none">
            <a:spAutoFit/>
          </a:bodyPr>
          <a:lstStyle/>
          <a:p>
            <a:r>
              <a:rPr lang="en-US" altLang="zh-CN" sz="3200" b="1" dirty="0">
                <a:solidFill>
                  <a:srgbClr val="FF0000"/>
                </a:solidFill>
              </a:rPr>
              <a:t>from</a:t>
            </a:r>
            <a:endParaRPr lang="zh-CN" altLang="en-US" sz="3200" b="1" dirty="0">
              <a:solidFill>
                <a:srgbClr val="FF0000"/>
              </a:solidFill>
            </a:endParaRPr>
          </a:p>
        </p:txBody>
      </p:sp>
      <p:sp>
        <p:nvSpPr>
          <p:cNvPr id="7" name="矩形 6"/>
          <p:cNvSpPr/>
          <p:nvPr/>
        </p:nvSpPr>
        <p:spPr>
          <a:xfrm>
            <a:off x="1582483" y="3229192"/>
            <a:ext cx="526106" cy="584775"/>
          </a:xfrm>
          <a:prstGeom prst="rect">
            <a:avLst/>
          </a:prstGeom>
        </p:spPr>
        <p:txBody>
          <a:bodyPr wrap="none">
            <a:spAutoFit/>
          </a:bodyPr>
          <a:lstStyle/>
          <a:p>
            <a:r>
              <a:rPr lang="en-US" altLang="zh-CN" sz="3200" b="1" dirty="0">
                <a:solidFill>
                  <a:srgbClr val="FF0000"/>
                </a:solidFill>
              </a:rPr>
              <a:t>to</a:t>
            </a:r>
            <a:endParaRPr lang="zh-CN" altLang="en-US" sz="3200" b="1" dirty="0">
              <a:solidFill>
                <a:srgbClr val="FF0000"/>
              </a:solidFil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randombar(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randombar(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randombar(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4">
                                            <p:txEl>
                                              <p:pRg st="6" end="6"/>
                                            </p:txEl>
                                          </p:spTgt>
                                        </p:tgtEl>
                                        <p:attrNameLst>
                                          <p:attrName>style.visibility</p:attrName>
                                        </p:attrNameLst>
                                      </p:cBhvr>
                                      <p:to>
                                        <p:strVal val="visible"/>
                                      </p:to>
                                    </p:set>
                                    <p:animEffect transition="in" filter="wipe(left)">
                                      <p:cBhvr>
                                        <p:cTn id="22" dur="500"/>
                                        <p:tgtEl>
                                          <p:spTgt spid="4">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7" name="文本框 6"/>
          <p:cNvSpPr txBox="1"/>
          <p:nvPr/>
        </p:nvSpPr>
        <p:spPr>
          <a:xfrm>
            <a:off x="283845" y="235585"/>
            <a:ext cx="11563985" cy="1195705"/>
          </a:xfrm>
          <a:prstGeom prst="rect">
            <a:avLst/>
          </a:prstGeom>
        </p:spPr>
        <p:txBody>
          <a:bodyPr vert="horz" lIns="91440" tIns="45720" rIns="91440" bIns="45720" rtlCol="0" anchor="b">
            <a:noAutofit/>
          </a:bodyPr>
          <a:lstStyle/>
          <a:p>
            <a:pPr>
              <a:spcBef>
                <a:spcPct val="0"/>
              </a:spcBef>
              <a:spcAft>
                <a:spcPts val="600"/>
              </a:spcAft>
            </a:pPr>
            <a:r>
              <a:rPr lang="en-US" altLang="zh-CN" sz="3200" b="1" kern="1200" dirty="0">
                <a:solidFill>
                  <a:schemeClr val="tx1"/>
                </a:solidFill>
                <a:effectLst/>
                <a:latin typeface="+mj-lt"/>
                <a:cs typeface="+mj-cs"/>
              </a:rPr>
              <a:t>By this time, the fire </a:t>
            </a:r>
            <a:r>
              <a:rPr lang="en-US" altLang="zh-CN" sz="3200" b="1" kern="1200" dirty="0">
                <a:solidFill>
                  <a:srgbClr val="FF0000"/>
                </a:solidFill>
                <a:effectLst/>
                <a:latin typeface="+mj-lt"/>
                <a:cs typeface="+mj-cs"/>
              </a:rPr>
              <a:t>had extended</a:t>
            </a:r>
            <a:r>
              <a:rPr lang="en-US" altLang="zh-CN" sz="3200" b="1" kern="1200" dirty="0">
                <a:solidFill>
                  <a:schemeClr val="tx1"/>
                </a:solidFill>
                <a:effectLst/>
                <a:latin typeface="+mj-lt"/>
                <a:cs typeface="+mj-cs"/>
              </a:rPr>
              <a:t> to the </a:t>
            </a:r>
            <a:r>
              <a:rPr lang="en-US" altLang="zh-CN" sz="3200" b="1" dirty="0">
                <a:latin typeface="+mj-lt"/>
                <a:cs typeface="+mj-cs"/>
              </a:rPr>
              <a:t>15th</a:t>
            </a:r>
            <a:r>
              <a:rPr lang="en-US" altLang="zh-CN" sz="3200" b="1" kern="1200" dirty="0">
                <a:solidFill>
                  <a:schemeClr val="tx1"/>
                </a:solidFill>
                <a:effectLst/>
                <a:latin typeface="+mj-lt"/>
                <a:cs typeface="+mj-cs"/>
              </a:rPr>
              <a:t> floor.</a:t>
            </a:r>
          </a:p>
          <a:p>
            <a:pPr>
              <a:spcBef>
                <a:spcPct val="0"/>
              </a:spcBef>
              <a:spcAft>
                <a:spcPts val="600"/>
              </a:spcAft>
            </a:pPr>
            <a:r>
              <a:rPr lang="zh-CN" altLang="en-US" sz="3200" b="1" dirty="0">
                <a:latin typeface="+mj-lt"/>
                <a:cs typeface="+mj-cs"/>
              </a:rPr>
              <a:t>蔓延到</a:t>
            </a:r>
            <a:r>
              <a:rPr lang="en-US" altLang="zh-CN" sz="3200" b="1" dirty="0">
                <a:latin typeface="+mj-lt"/>
                <a:cs typeface="+mj-cs"/>
              </a:rPr>
              <a:t>16</a:t>
            </a:r>
            <a:r>
              <a:rPr lang="zh-CN" altLang="en-US" sz="3200" b="1" dirty="0">
                <a:latin typeface="+mj-lt"/>
                <a:cs typeface="+mj-cs"/>
              </a:rPr>
              <a:t>楼</a:t>
            </a:r>
            <a:endParaRPr lang="en-US" altLang="zh-CN" sz="3200" b="1" kern="1200" dirty="0">
              <a:solidFill>
                <a:schemeClr val="tx1"/>
              </a:solidFill>
              <a:effectLst/>
              <a:latin typeface="+mj-lt"/>
              <a:cs typeface="+mj-cs"/>
            </a:endParaRPr>
          </a:p>
        </p:txBody>
      </p:sp>
      <p:sp>
        <p:nvSpPr>
          <p:cNvPr id="2" name="矩形 1"/>
          <p:cNvSpPr/>
          <p:nvPr/>
        </p:nvSpPr>
        <p:spPr>
          <a:xfrm>
            <a:off x="283845" y="1355090"/>
            <a:ext cx="11563350" cy="5406390"/>
          </a:xfrm>
          <a:prstGeom prst="rect">
            <a:avLst/>
          </a:prstGeom>
          <a:noFill/>
          <a:ln w="28575">
            <a:noFill/>
          </a:ln>
          <a:extLst>
            <a:ext uri="{909E8E84-426E-40DD-AFC4-6F175D3DCCD1}">
              <a14:hiddenFill xmlns:a14="http://schemas.microsoft.com/office/drawing/2010/main">
                <a:solidFill>
                  <a:srgbClr val="E6F1FE"/>
                </a:solidFill>
              </a14:hiddenFill>
            </a:ext>
          </a:extLst>
        </p:spPr>
        <p:txBody>
          <a:bodyPr wrap="square">
            <a:spAutoFit/>
          </a:bodyPr>
          <a:lstStyle/>
          <a:p>
            <a:pPr indent="-1787525">
              <a:lnSpc>
                <a:spcPct val="120000"/>
              </a:lnSpc>
            </a:pPr>
            <a:r>
              <a:rPr lang="en-US" altLang="zh-CN" sz="3200" b="1" dirty="0">
                <a:solidFill>
                  <a:srgbClr val="FF0000"/>
                </a:solidFill>
                <a:latin typeface="+mj-lt"/>
              </a:rPr>
              <a:t>extend  </a:t>
            </a:r>
            <a:r>
              <a:rPr lang="en-US" altLang="zh-CN" sz="3200" b="1" i="1" dirty="0">
                <a:solidFill>
                  <a:srgbClr val="FF0000"/>
                </a:solidFill>
                <a:latin typeface="+mj-lt"/>
              </a:rPr>
              <a:t>v.  </a:t>
            </a:r>
          </a:p>
          <a:p>
            <a:pPr indent="-1787525">
              <a:lnSpc>
                <a:spcPct val="120000"/>
              </a:lnSpc>
            </a:pPr>
            <a:r>
              <a:rPr lang="en-US" altLang="zh-CN" sz="3200" b="1" dirty="0">
                <a:solidFill>
                  <a:schemeClr val="tx1"/>
                </a:solidFill>
                <a:latin typeface="Times New Roman Bold" panose="02020503050405090304" charset="0"/>
                <a:cs typeface="Times New Roman Bold" panose="02020503050405090304" charset="0"/>
              </a:rPr>
              <a:t>1)</a:t>
            </a:r>
            <a:r>
              <a:rPr lang="en-US" altLang="zh-CN" sz="3200" b="1" i="1" dirty="0">
                <a:solidFill>
                  <a:srgbClr val="FF0000"/>
                </a:solidFill>
                <a:latin typeface="+mj-lt"/>
              </a:rPr>
              <a:t> vt. </a:t>
            </a:r>
            <a:r>
              <a:rPr lang="en-US" altLang="zh-CN" sz="3200" b="1" i="1" dirty="0">
                <a:latin typeface="+mj-lt"/>
              </a:rPr>
              <a:t>to make </a:t>
            </a:r>
            <a:r>
              <a:rPr lang="en-US" altLang="zh-CN" sz="3200" b="1" i="1" dirty="0" err="1">
                <a:latin typeface="+mj-lt"/>
              </a:rPr>
              <a:t>sth</a:t>
            </a:r>
            <a:r>
              <a:rPr lang="en-US" altLang="zh-CN" sz="3200" b="1" i="1" dirty="0">
                <a:latin typeface="+mj-lt"/>
              </a:rPr>
              <a:t>. longer or larger  </a:t>
            </a:r>
            <a:r>
              <a:rPr lang="zh-CN" altLang="en-US" sz="3200" b="1" dirty="0">
                <a:solidFill>
                  <a:srgbClr val="FF0000"/>
                </a:solidFill>
                <a:latin typeface="+mj-lt"/>
              </a:rPr>
              <a:t>使伸长</a:t>
            </a:r>
            <a:r>
              <a:rPr lang="en-US" altLang="zh-CN" sz="3200" b="1" dirty="0">
                <a:solidFill>
                  <a:srgbClr val="FF0000"/>
                </a:solidFill>
                <a:latin typeface="+mj-lt"/>
              </a:rPr>
              <a:t>; </a:t>
            </a:r>
            <a:r>
              <a:rPr lang="zh-CN" altLang="en-US" sz="3200" b="1" dirty="0">
                <a:solidFill>
                  <a:srgbClr val="FF0000"/>
                </a:solidFill>
                <a:latin typeface="+mj-lt"/>
              </a:rPr>
              <a:t>扩大</a:t>
            </a:r>
            <a:r>
              <a:rPr lang="en-US" altLang="zh-CN" sz="3200" b="1" dirty="0">
                <a:solidFill>
                  <a:srgbClr val="FF0000"/>
                </a:solidFill>
                <a:latin typeface="+mj-lt"/>
              </a:rPr>
              <a:t>; </a:t>
            </a:r>
            <a:r>
              <a:rPr lang="zh-CN" altLang="en-US" sz="3200" b="1" dirty="0">
                <a:solidFill>
                  <a:srgbClr val="FF0000"/>
                </a:solidFill>
                <a:latin typeface="+mj-lt"/>
              </a:rPr>
              <a:t>延期</a:t>
            </a:r>
            <a:r>
              <a:rPr lang="en-US" altLang="zh-CN" sz="3200" b="1" dirty="0">
                <a:solidFill>
                  <a:srgbClr val="FF0000"/>
                </a:solidFill>
                <a:latin typeface="+mj-lt"/>
              </a:rPr>
              <a:t>  </a:t>
            </a:r>
          </a:p>
          <a:p>
            <a:pPr>
              <a:lnSpc>
                <a:spcPct val="120000"/>
              </a:lnSpc>
            </a:pPr>
            <a:r>
              <a:rPr lang="en-US" altLang="zh-CN" sz="3200" b="1" dirty="0">
                <a:latin typeface="Times New Roman Bold" panose="02020503050405090304" charset="0"/>
                <a:cs typeface="Times New Roman Bold" panose="02020503050405090304" charset="0"/>
              </a:rPr>
              <a:t>2) </a:t>
            </a:r>
            <a:r>
              <a:rPr lang="en-US" altLang="zh-CN" sz="3200" b="1" i="1" dirty="0">
                <a:latin typeface="+mj-lt"/>
              </a:rPr>
              <a:t>to cover .. </a:t>
            </a:r>
            <a:r>
              <a:rPr lang="zh-CN" altLang="en-US" sz="3200" b="1" dirty="0">
                <a:solidFill>
                  <a:srgbClr val="FF0000"/>
                </a:solidFill>
                <a:latin typeface="+mj-lt"/>
              </a:rPr>
              <a:t>扩大</a:t>
            </a:r>
            <a:r>
              <a:rPr lang="en-US" altLang="zh-CN" sz="3200" b="1" dirty="0">
                <a:solidFill>
                  <a:srgbClr val="FF0000"/>
                </a:solidFill>
                <a:latin typeface="+mj-ea"/>
                <a:ea typeface="+mj-ea"/>
              </a:rPr>
              <a:t>……</a:t>
            </a:r>
            <a:r>
              <a:rPr lang="zh-CN" altLang="en-US" sz="3200" b="1" dirty="0">
                <a:solidFill>
                  <a:srgbClr val="FF0000"/>
                </a:solidFill>
                <a:latin typeface="+mj-lt"/>
              </a:rPr>
              <a:t>的范围</a:t>
            </a:r>
            <a:r>
              <a:rPr lang="en-US" altLang="zh-CN" sz="3200" b="1" dirty="0">
                <a:solidFill>
                  <a:srgbClr val="FF0000"/>
                </a:solidFill>
                <a:latin typeface="+mj-lt"/>
              </a:rPr>
              <a:t>(</a:t>
            </a:r>
            <a:r>
              <a:rPr lang="zh-CN" altLang="en-US" sz="3200" b="1" dirty="0">
                <a:solidFill>
                  <a:srgbClr val="FF0000"/>
                </a:solidFill>
                <a:latin typeface="+mj-lt"/>
              </a:rPr>
              <a:t>或影响</a:t>
            </a:r>
            <a:r>
              <a:rPr lang="en-US" altLang="zh-CN" sz="3200" b="1" dirty="0">
                <a:solidFill>
                  <a:srgbClr val="FF0000"/>
                </a:solidFill>
                <a:latin typeface="+mj-lt"/>
              </a:rPr>
              <a:t>)</a:t>
            </a:r>
            <a:r>
              <a:rPr lang="en-US" altLang="zh-CN" sz="3200" b="1" i="1" dirty="0">
                <a:solidFill>
                  <a:srgbClr val="FF0000"/>
                </a:solidFill>
                <a:latin typeface="+mj-lt"/>
              </a:rPr>
              <a:t> </a:t>
            </a:r>
            <a:r>
              <a:rPr lang="zh-CN" altLang="en-US" sz="3200" b="1" dirty="0">
                <a:solidFill>
                  <a:srgbClr val="FF0000"/>
                </a:solidFill>
                <a:latin typeface="+mj-lt"/>
              </a:rPr>
              <a:t>涉及</a:t>
            </a:r>
            <a:r>
              <a:rPr lang="en-US" altLang="zh-CN" sz="3200" b="1" dirty="0">
                <a:solidFill>
                  <a:srgbClr val="FF0000"/>
                </a:solidFill>
                <a:latin typeface="+mj-lt"/>
              </a:rPr>
              <a:t>(</a:t>
            </a:r>
            <a:r>
              <a:rPr lang="zh-CN" altLang="en-US" sz="3200" b="1" dirty="0">
                <a:solidFill>
                  <a:srgbClr val="FF0000"/>
                </a:solidFill>
                <a:latin typeface="+mj-lt"/>
              </a:rPr>
              <a:t>范围</a:t>
            </a:r>
            <a:r>
              <a:rPr lang="en-US" altLang="zh-CN" sz="3200" b="1" dirty="0">
                <a:solidFill>
                  <a:srgbClr val="FF0000"/>
                </a:solidFill>
                <a:latin typeface="+mj-lt"/>
              </a:rPr>
              <a:t>)...</a:t>
            </a:r>
          </a:p>
          <a:p>
            <a:pPr>
              <a:lnSpc>
                <a:spcPct val="120000"/>
              </a:lnSpc>
            </a:pPr>
            <a:r>
              <a:rPr lang="en-US" altLang="zh-CN" sz="3200" b="1" dirty="0">
                <a:solidFill>
                  <a:srgbClr val="FF0000"/>
                </a:solidFill>
                <a:latin typeface="+mj-lt"/>
              </a:rPr>
              <a:t>extend a road/a deadline/the range of products</a:t>
            </a:r>
          </a:p>
          <a:p>
            <a:pPr>
              <a:lnSpc>
                <a:spcPct val="120000"/>
              </a:lnSpc>
            </a:pPr>
            <a:r>
              <a:rPr lang="zh-CN" altLang="en-US" sz="3200" b="1" dirty="0">
                <a:solidFill>
                  <a:schemeClr val="tx1"/>
                </a:solidFill>
                <a:latin typeface="+mj-lt"/>
              </a:rPr>
              <a:t>扩建公路</a:t>
            </a:r>
            <a:r>
              <a:rPr lang="en-US" altLang="zh-CN" sz="3200" b="1" dirty="0">
                <a:solidFill>
                  <a:schemeClr val="tx1"/>
                </a:solidFill>
                <a:latin typeface="+mj-lt"/>
              </a:rPr>
              <a:t>/</a:t>
            </a:r>
            <a:r>
              <a:rPr lang="zh-CN" altLang="en-US" sz="3200" b="1" dirty="0">
                <a:solidFill>
                  <a:schemeClr val="tx1"/>
                </a:solidFill>
                <a:latin typeface="+mj-lt"/>
              </a:rPr>
              <a:t>延长最后期限</a:t>
            </a:r>
            <a:r>
              <a:rPr lang="en-US" altLang="zh-CN" sz="3200" b="1" dirty="0">
                <a:solidFill>
                  <a:schemeClr val="tx1"/>
                </a:solidFill>
                <a:latin typeface="+mj-lt"/>
              </a:rPr>
              <a:t>/</a:t>
            </a:r>
            <a:r>
              <a:rPr lang="zh-CN" altLang="en-US" sz="3200" b="1" dirty="0">
                <a:solidFill>
                  <a:schemeClr val="tx1"/>
                </a:solidFill>
                <a:latin typeface="+mj-lt"/>
              </a:rPr>
              <a:t>扩大产品范围</a:t>
            </a:r>
          </a:p>
          <a:p>
            <a:pPr>
              <a:lnSpc>
                <a:spcPct val="120000"/>
              </a:lnSpc>
            </a:pPr>
            <a:r>
              <a:rPr lang="zh-CN" altLang="en-US" sz="3200" b="1" dirty="0">
                <a:solidFill>
                  <a:schemeClr val="tx1"/>
                </a:solidFill>
                <a:latin typeface="+mj-lt"/>
              </a:rPr>
              <a:t>学校正在拓宽授课学科的范围。</a:t>
            </a:r>
          </a:p>
          <a:p>
            <a:pPr>
              <a:lnSpc>
                <a:spcPct val="120000"/>
              </a:lnSpc>
            </a:pPr>
            <a:r>
              <a:rPr lang="zh-CN" altLang="en-US" sz="3200" b="1" dirty="0">
                <a:solidFill>
                  <a:srgbClr val="FF0000"/>
                </a:solidFill>
                <a:latin typeface="+mj-lt"/>
                <a:sym typeface="+mn-ea"/>
              </a:rPr>
              <a:t>The school is extending the range of subjects taught.</a:t>
            </a:r>
          </a:p>
          <a:p>
            <a:pPr>
              <a:lnSpc>
                <a:spcPct val="120000"/>
              </a:lnSpc>
            </a:pPr>
            <a:r>
              <a:rPr lang="zh-CN" altLang="en-US" sz="3200" b="1" dirty="0">
                <a:solidFill>
                  <a:schemeClr val="tx1"/>
                </a:solidFill>
                <a:latin typeface="+mj-lt"/>
                <a:sym typeface="+mn-ea"/>
              </a:rPr>
              <a:t>遵循这些建议，你就可以延长寿命。</a:t>
            </a:r>
          </a:p>
          <a:p>
            <a:pPr>
              <a:lnSpc>
                <a:spcPct val="120000"/>
              </a:lnSpc>
            </a:pPr>
            <a:r>
              <a:rPr lang="en-US" altLang="zh-CN" sz="3200" b="1" dirty="0">
                <a:solidFill>
                  <a:srgbClr val="FF0000"/>
                </a:solidFill>
                <a:latin typeface="+mj-lt"/>
                <a:sym typeface="+mn-ea"/>
              </a:rPr>
              <a:t>Follow these tips and you can extend your life.</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矩形 1"/>
          <p:cNvSpPr/>
          <p:nvPr/>
        </p:nvSpPr>
        <p:spPr>
          <a:xfrm>
            <a:off x="283845" y="451485"/>
            <a:ext cx="11563350" cy="5406390"/>
          </a:xfrm>
          <a:prstGeom prst="rect">
            <a:avLst/>
          </a:prstGeom>
          <a:noFill/>
          <a:ln w="28575">
            <a:noFill/>
          </a:ln>
          <a:extLst>
            <a:ext uri="{909E8E84-426E-40DD-AFC4-6F175D3DCCD1}">
              <a14:hiddenFill xmlns:a14="http://schemas.microsoft.com/office/drawing/2010/main">
                <a:solidFill>
                  <a:srgbClr val="E6F1FE"/>
                </a:solidFill>
              </a14:hiddenFill>
            </a:ext>
          </a:extLst>
        </p:spPr>
        <p:txBody>
          <a:bodyPr wrap="square">
            <a:spAutoFit/>
          </a:bodyPr>
          <a:lstStyle/>
          <a:p>
            <a:pPr indent="-1787525">
              <a:lnSpc>
                <a:spcPct val="120000"/>
              </a:lnSpc>
            </a:pPr>
            <a:r>
              <a:rPr lang="en-US" altLang="zh-CN" sz="3200" b="1" dirty="0">
                <a:solidFill>
                  <a:srgbClr val="FF0000"/>
                </a:solidFill>
                <a:latin typeface="+mj-lt"/>
              </a:rPr>
              <a:t>extend  </a:t>
            </a:r>
            <a:r>
              <a:rPr lang="en-US" altLang="zh-CN" sz="3200" b="1" i="1" dirty="0">
                <a:solidFill>
                  <a:srgbClr val="FF0000"/>
                </a:solidFill>
                <a:latin typeface="+mj-lt"/>
              </a:rPr>
              <a:t>v.  </a:t>
            </a:r>
          </a:p>
          <a:p>
            <a:pPr indent="-1787525">
              <a:lnSpc>
                <a:spcPct val="120000"/>
              </a:lnSpc>
            </a:pPr>
            <a:r>
              <a:rPr lang="en-US" altLang="zh-CN" sz="3200" b="1" dirty="0">
                <a:solidFill>
                  <a:schemeClr val="tx1"/>
                </a:solidFill>
                <a:latin typeface="Times New Roman Bold" panose="02020503050405090304" charset="0"/>
                <a:cs typeface="Times New Roman Bold" panose="02020503050405090304" charset="0"/>
              </a:rPr>
              <a:t>1)</a:t>
            </a:r>
            <a:r>
              <a:rPr lang="en-US" altLang="zh-CN" sz="3200" b="1" i="1" dirty="0">
                <a:solidFill>
                  <a:srgbClr val="FF0000"/>
                </a:solidFill>
                <a:latin typeface="+mj-lt"/>
              </a:rPr>
              <a:t> vt. </a:t>
            </a:r>
            <a:r>
              <a:rPr lang="en-US" altLang="zh-CN" sz="3200" b="1" i="1" dirty="0">
                <a:latin typeface="+mj-lt"/>
              </a:rPr>
              <a:t>to make </a:t>
            </a:r>
            <a:r>
              <a:rPr lang="en-US" altLang="zh-CN" sz="3200" b="1" i="1" dirty="0" err="1">
                <a:latin typeface="+mj-lt"/>
              </a:rPr>
              <a:t>sth</a:t>
            </a:r>
            <a:r>
              <a:rPr lang="en-US" altLang="zh-CN" sz="3200" b="1" i="1" dirty="0">
                <a:latin typeface="+mj-lt"/>
              </a:rPr>
              <a:t>. longer or larger  </a:t>
            </a:r>
            <a:r>
              <a:rPr lang="zh-CN" altLang="en-US" sz="3200" b="1" dirty="0">
                <a:solidFill>
                  <a:srgbClr val="FF0000"/>
                </a:solidFill>
                <a:latin typeface="+mj-lt"/>
              </a:rPr>
              <a:t>使伸长</a:t>
            </a:r>
            <a:r>
              <a:rPr lang="en-US" altLang="zh-CN" sz="3200" b="1" dirty="0">
                <a:solidFill>
                  <a:srgbClr val="FF0000"/>
                </a:solidFill>
                <a:latin typeface="+mj-lt"/>
              </a:rPr>
              <a:t>; </a:t>
            </a:r>
            <a:r>
              <a:rPr lang="zh-CN" altLang="en-US" sz="3200" b="1" dirty="0">
                <a:solidFill>
                  <a:srgbClr val="FF0000"/>
                </a:solidFill>
                <a:latin typeface="+mj-lt"/>
              </a:rPr>
              <a:t>扩大</a:t>
            </a:r>
            <a:r>
              <a:rPr lang="en-US" altLang="zh-CN" sz="3200" b="1" dirty="0">
                <a:solidFill>
                  <a:srgbClr val="FF0000"/>
                </a:solidFill>
                <a:latin typeface="+mj-lt"/>
              </a:rPr>
              <a:t>; </a:t>
            </a:r>
            <a:r>
              <a:rPr lang="zh-CN" altLang="en-US" sz="3200" b="1" dirty="0">
                <a:solidFill>
                  <a:srgbClr val="FF0000"/>
                </a:solidFill>
                <a:latin typeface="+mj-lt"/>
              </a:rPr>
              <a:t>延期</a:t>
            </a:r>
            <a:r>
              <a:rPr lang="en-US" altLang="zh-CN" sz="3200" b="1" dirty="0">
                <a:solidFill>
                  <a:srgbClr val="FF0000"/>
                </a:solidFill>
                <a:latin typeface="+mj-lt"/>
              </a:rPr>
              <a:t>  </a:t>
            </a:r>
          </a:p>
          <a:p>
            <a:pPr>
              <a:lnSpc>
                <a:spcPct val="120000"/>
              </a:lnSpc>
            </a:pPr>
            <a:r>
              <a:rPr lang="en-US" altLang="zh-CN" sz="3200" b="1" dirty="0">
                <a:latin typeface="Times New Roman Bold" panose="02020503050405090304" charset="0"/>
                <a:cs typeface="Times New Roman Bold" panose="02020503050405090304" charset="0"/>
              </a:rPr>
              <a:t>2) </a:t>
            </a:r>
            <a:r>
              <a:rPr lang="en-US" altLang="zh-CN" sz="3200" b="1" i="1" dirty="0">
                <a:latin typeface="+mj-lt"/>
              </a:rPr>
              <a:t>to cover .. </a:t>
            </a:r>
            <a:r>
              <a:rPr lang="zh-CN" altLang="en-US" sz="3200" b="1" dirty="0">
                <a:solidFill>
                  <a:srgbClr val="FF0000"/>
                </a:solidFill>
                <a:latin typeface="+mj-lt"/>
              </a:rPr>
              <a:t>扩大</a:t>
            </a:r>
            <a:r>
              <a:rPr lang="en-US" altLang="zh-CN" sz="3200" b="1" dirty="0">
                <a:solidFill>
                  <a:srgbClr val="FF0000"/>
                </a:solidFill>
                <a:latin typeface="+mj-ea"/>
                <a:ea typeface="+mj-ea"/>
              </a:rPr>
              <a:t>……</a:t>
            </a:r>
            <a:r>
              <a:rPr lang="zh-CN" altLang="en-US" sz="3200" b="1" dirty="0">
                <a:solidFill>
                  <a:srgbClr val="FF0000"/>
                </a:solidFill>
                <a:latin typeface="+mj-lt"/>
              </a:rPr>
              <a:t>的范围</a:t>
            </a:r>
            <a:r>
              <a:rPr lang="en-US" altLang="zh-CN" sz="3200" b="1" dirty="0">
                <a:solidFill>
                  <a:srgbClr val="FF0000"/>
                </a:solidFill>
                <a:latin typeface="+mj-lt"/>
              </a:rPr>
              <a:t>(</a:t>
            </a:r>
            <a:r>
              <a:rPr lang="zh-CN" altLang="en-US" sz="3200" b="1" dirty="0">
                <a:solidFill>
                  <a:srgbClr val="FF0000"/>
                </a:solidFill>
                <a:latin typeface="+mj-lt"/>
              </a:rPr>
              <a:t>或影响</a:t>
            </a:r>
            <a:r>
              <a:rPr lang="en-US" altLang="zh-CN" sz="3200" b="1" dirty="0">
                <a:solidFill>
                  <a:srgbClr val="FF0000"/>
                </a:solidFill>
                <a:latin typeface="+mj-lt"/>
              </a:rPr>
              <a:t>)</a:t>
            </a:r>
            <a:r>
              <a:rPr lang="en-US" altLang="zh-CN" sz="3200" b="1" i="1" dirty="0">
                <a:solidFill>
                  <a:srgbClr val="FF0000"/>
                </a:solidFill>
                <a:latin typeface="+mj-lt"/>
              </a:rPr>
              <a:t> </a:t>
            </a:r>
            <a:r>
              <a:rPr lang="zh-CN" altLang="en-US" sz="3200" b="1" dirty="0">
                <a:solidFill>
                  <a:srgbClr val="FF0000"/>
                </a:solidFill>
                <a:latin typeface="+mj-lt"/>
              </a:rPr>
              <a:t>涉及</a:t>
            </a:r>
            <a:r>
              <a:rPr lang="en-US" altLang="zh-CN" sz="3200" b="1" dirty="0">
                <a:solidFill>
                  <a:srgbClr val="FF0000"/>
                </a:solidFill>
                <a:latin typeface="+mj-lt"/>
              </a:rPr>
              <a:t>(</a:t>
            </a:r>
            <a:r>
              <a:rPr lang="zh-CN" altLang="en-US" sz="3200" b="1" dirty="0">
                <a:solidFill>
                  <a:srgbClr val="FF0000"/>
                </a:solidFill>
                <a:latin typeface="+mj-lt"/>
              </a:rPr>
              <a:t>范围</a:t>
            </a:r>
            <a:r>
              <a:rPr lang="en-US" altLang="zh-CN" sz="3200" b="1" dirty="0">
                <a:solidFill>
                  <a:srgbClr val="FF0000"/>
                </a:solidFill>
                <a:latin typeface="+mj-lt"/>
              </a:rPr>
              <a:t>)...</a:t>
            </a:r>
          </a:p>
          <a:p>
            <a:pPr>
              <a:lnSpc>
                <a:spcPct val="120000"/>
              </a:lnSpc>
            </a:pPr>
            <a:r>
              <a:rPr lang="en-US" altLang="zh-CN" sz="3200" b="1" dirty="0">
                <a:latin typeface="Times New Roman Bold" panose="02020503050405090304" charset="0"/>
                <a:cs typeface="Times New Roman Bold" panose="02020503050405090304" charset="0"/>
                <a:sym typeface="+mn-ea"/>
              </a:rPr>
              <a:t>3)</a:t>
            </a:r>
            <a:r>
              <a:rPr lang="en-US" altLang="zh-CN" sz="3200" b="1" dirty="0">
                <a:solidFill>
                  <a:srgbClr val="FF0000"/>
                </a:solidFill>
                <a:latin typeface="+mj-lt"/>
                <a:sym typeface="+mn-ea"/>
              </a:rPr>
              <a:t> </a:t>
            </a:r>
            <a:r>
              <a:rPr lang="en-US" altLang="zh-CN" sz="3200" b="1" i="1" dirty="0">
                <a:solidFill>
                  <a:srgbClr val="FF0000"/>
                </a:solidFill>
                <a:latin typeface="Times New Roman Bold Italic" panose="02020503050405090304" charset="0"/>
                <a:cs typeface="Times New Roman Bold Italic" panose="02020503050405090304" charset="0"/>
                <a:sym typeface="+mn-ea"/>
              </a:rPr>
              <a:t>vi.</a:t>
            </a:r>
            <a:r>
              <a:rPr lang="en-US" altLang="zh-CN" sz="3200" b="1" dirty="0">
                <a:solidFill>
                  <a:srgbClr val="FF0000"/>
                </a:solidFill>
                <a:latin typeface="+mj-lt"/>
                <a:sym typeface="+mn-ea"/>
              </a:rPr>
              <a:t> </a:t>
            </a:r>
            <a:r>
              <a:rPr lang="zh-CN" altLang="en-US" sz="3200" b="1" dirty="0">
                <a:solidFill>
                  <a:srgbClr val="FF0000"/>
                </a:solidFill>
                <a:latin typeface="+mj-lt"/>
                <a:sym typeface="+mn-ea"/>
              </a:rPr>
              <a:t>延长</a:t>
            </a:r>
            <a:endParaRPr lang="en-US" altLang="zh-CN" sz="3200" b="1" dirty="0">
              <a:solidFill>
                <a:srgbClr val="FF0000"/>
              </a:solidFill>
              <a:latin typeface="+mj-lt"/>
            </a:endParaRPr>
          </a:p>
          <a:p>
            <a:pPr>
              <a:lnSpc>
                <a:spcPct val="120000"/>
              </a:lnSpc>
            </a:pPr>
            <a:r>
              <a:rPr lang="zh-CN" altLang="en-US" sz="3200" b="1" dirty="0">
                <a:solidFill>
                  <a:srgbClr val="FF0000"/>
                </a:solidFill>
                <a:latin typeface="+mj-lt"/>
                <a:sym typeface="+mn-ea"/>
              </a:rPr>
              <a:t>Our land extends as far as the river.</a:t>
            </a:r>
            <a:r>
              <a:rPr lang="en-US" altLang="zh-CN" sz="3200" b="1" dirty="0">
                <a:solidFill>
                  <a:srgbClr val="FF0000"/>
                </a:solidFill>
                <a:latin typeface="+mj-lt"/>
                <a:sym typeface="+mn-ea"/>
              </a:rPr>
              <a:t> </a:t>
            </a:r>
            <a:r>
              <a:rPr lang="zh-CN" altLang="en-US" sz="3200" b="1" dirty="0">
                <a:solidFill>
                  <a:schemeClr val="tx1"/>
                </a:solidFill>
                <a:latin typeface="+mj-lt"/>
                <a:sym typeface="+mn-ea"/>
              </a:rPr>
              <a:t>我们的土地一直延伸到河边。</a:t>
            </a:r>
          </a:p>
          <a:p>
            <a:pPr>
              <a:lnSpc>
                <a:spcPct val="120000"/>
              </a:lnSpc>
            </a:pPr>
            <a:r>
              <a:rPr lang="zh-CN" altLang="en-US" sz="3200" b="1" dirty="0">
                <a:solidFill>
                  <a:schemeClr val="tx1"/>
                </a:solidFill>
                <a:latin typeface="+mj-lt"/>
                <a:sym typeface="+mn-ea"/>
              </a:rPr>
              <a:t>他的写作生涯超过了 40 年。</a:t>
            </a:r>
          </a:p>
          <a:p>
            <a:pPr>
              <a:lnSpc>
                <a:spcPct val="120000"/>
              </a:lnSpc>
            </a:pPr>
            <a:r>
              <a:rPr lang="zh-CN" altLang="en-US" sz="3200" b="1" dirty="0">
                <a:solidFill>
                  <a:srgbClr val="FF0000"/>
                </a:solidFill>
                <a:latin typeface="+mj-lt"/>
                <a:sym typeface="+mn-ea"/>
              </a:rPr>
              <a:t>His writing career extended over a period of 40 years.</a:t>
            </a:r>
          </a:p>
          <a:p>
            <a:pPr>
              <a:lnSpc>
                <a:spcPct val="120000"/>
              </a:lnSpc>
            </a:pPr>
            <a:r>
              <a:rPr lang="zh-CN" altLang="en-US" sz="3200" b="1" dirty="0">
                <a:solidFill>
                  <a:schemeClr val="tx1"/>
                </a:solidFill>
                <a:latin typeface="+mj-lt"/>
                <a:sym typeface="+mn-ea"/>
              </a:rPr>
              <a:t>The offer does not </a:t>
            </a:r>
            <a:r>
              <a:rPr lang="zh-CN" altLang="en-US" sz="3200" b="1" dirty="0">
                <a:solidFill>
                  <a:srgbClr val="FF0000"/>
                </a:solidFill>
                <a:latin typeface="+mj-lt"/>
                <a:sym typeface="+mn-ea"/>
              </a:rPr>
              <a:t>extend </a:t>
            </a:r>
            <a:r>
              <a:rPr lang="zh-CN" altLang="en-US" sz="3200" b="1" u="sng" dirty="0">
                <a:solidFill>
                  <a:srgbClr val="FF0000"/>
                </a:solidFill>
                <a:latin typeface="+mj-lt"/>
                <a:sym typeface="+mn-ea"/>
              </a:rPr>
              <a:t>to</a:t>
            </a:r>
            <a:r>
              <a:rPr lang="zh-CN" altLang="en-US" sz="3200" b="1" dirty="0">
                <a:solidFill>
                  <a:schemeClr val="tx1"/>
                </a:solidFill>
                <a:latin typeface="+mj-lt"/>
                <a:sym typeface="+mn-ea"/>
              </a:rPr>
              <a:t> employees' partners.</a:t>
            </a:r>
          </a:p>
          <a:p>
            <a:pPr>
              <a:lnSpc>
                <a:spcPct val="120000"/>
              </a:lnSpc>
            </a:pPr>
            <a:r>
              <a:rPr lang="zh-CN" altLang="en-US" sz="3200" b="1" dirty="0">
                <a:solidFill>
                  <a:schemeClr val="tx1"/>
                </a:solidFill>
                <a:latin typeface="+mj-lt"/>
                <a:sym typeface="+mn-ea"/>
              </a:rPr>
              <a:t>这项优惠不</a:t>
            </a:r>
            <a:r>
              <a:rPr lang="zh-CN" altLang="en-US" sz="3200" b="1" u="sng" dirty="0">
                <a:solidFill>
                  <a:schemeClr val="tx1"/>
                </a:solidFill>
                <a:latin typeface="+mj-lt"/>
                <a:sym typeface="+mn-ea"/>
              </a:rPr>
              <a:t>包括</a:t>
            </a:r>
            <a:r>
              <a:rPr lang="zh-CN" altLang="en-US" sz="3200" b="1" dirty="0">
                <a:solidFill>
                  <a:schemeClr val="tx1"/>
                </a:solidFill>
                <a:latin typeface="+mj-lt"/>
                <a:sym typeface="+mn-ea"/>
              </a:rPr>
              <a:t>雇员的伴侣。</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矩形 1"/>
          <p:cNvSpPr/>
          <p:nvPr/>
        </p:nvSpPr>
        <p:spPr>
          <a:xfrm>
            <a:off x="156845" y="-203200"/>
            <a:ext cx="11744960" cy="7178040"/>
          </a:xfrm>
          <a:prstGeom prst="rect">
            <a:avLst/>
          </a:prstGeom>
          <a:noFill/>
          <a:ln w="28575">
            <a:noFill/>
          </a:ln>
          <a:extLst>
            <a:ext uri="{909E8E84-426E-40DD-AFC4-6F175D3DCCD1}">
              <a14:hiddenFill xmlns:a14="http://schemas.microsoft.com/office/drawing/2010/main">
                <a:solidFill>
                  <a:srgbClr val="E6F1FE"/>
                </a:solidFill>
              </a14:hiddenFill>
            </a:ext>
          </a:extLst>
        </p:spPr>
        <p:txBody>
          <a:bodyPr wrap="square">
            <a:spAutoFit/>
          </a:bodyPr>
          <a:lstStyle/>
          <a:p>
            <a:pPr indent="-1787525">
              <a:lnSpc>
                <a:spcPct val="120000"/>
              </a:lnSpc>
            </a:pPr>
            <a:r>
              <a:rPr lang="en-US" altLang="zh-CN" sz="3200" b="1" dirty="0">
                <a:solidFill>
                  <a:srgbClr val="FF0000"/>
                </a:solidFill>
                <a:latin typeface="+mj-lt"/>
              </a:rPr>
              <a:t>extend  </a:t>
            </a:r>
            <a:r>
              <a:rPr lang="en-US" altLang="zh-CN" sz="3200" b="1" i="1" dirty="0">
                <a:solidFill>
                  <a:srgbClr val="FF0000"/>
                </a:solidFill>
                <a:latin typeface="+mj-lt"/>
              </a:rPr>
              <a:t>v.  </a:t>
            </a:r>
          </a:p>
          <a:p>
            <a:pPr indent="-1787525">
              <a:lnSpc>
                <a:spcPct val="120000"/>
              </a:lnSpc>
            </a:pPr>
            <a:r>
              <a:rPr lang="en-US" altLang="zh-CN" sz="3200" b="1" dirty="0">
                <a:solidFill>
                  <a:schemeClr val="tx1"/>
                </a:solidFill>
                <a:latin typeface="Times New Roman Bold" panose="02020503050405090304" charset="0"/>
                <a:cs typeface="Times New Roman Bold" panose="02020503050405090304" charset="0"/>
              </a:rPr>
              <a:t>1)</a:t>
            </a:r>
            <a:r>
              <a:rPr lang="en-US" altLang="zh-CN" sz="3200" b="1" i="1" dirty="0">
                <a:solidFill>
                  <a:srgbClr val="FF0000"/>
                </a:solidFill>
                <a:latin typeface="+mj-lt"/>
              </a:rPr>
              <a:t> vt. </a:t>
            </a:r>
            <a:r>
              <a:rPr lang="en-US" altLang="zh-CN" sz="3200" b="1" i="1" dirty="0">
                <a:latin typeface="+mj-lt"/>
              </a:rPr>
              <a:t>to make </a:t>
            </a:r>
            <a:r>
              <a:rPr lang="en-US" altLang="zh-CN" sz="3200" b="1" i="1" dirty="0" err="1">
                <a:latin typeface="+mj-lt"/>
              </a:rPr>
              <a:t>sth</a:t>
            </a:r>
            <a:r>
              <a:rPr lang="en-US" altLang="zh-CN" sz="3200" b="1" i="1" dirty="0">
                <a:latin typeface="+mj-lt"/>
              </a:rPr>
              <a:t>. longer or larger  </a:t>
            </a:r>
            <a:r>
              <a:rPr lang="zh-CN" altLang="en-US" sz="3200" b="1" dirty="0">
                <a:solidFill>
                  <a:srgbClr val="FF0000"/>
                </a:solidFill>
                <a:latin typeface="+mj-lt"/>
              </a:rPr>
              <a:t>使伸长</a:t>
            </a:r>
            <a:r>
              <a:rPr lang="en-US" altLang="zh-CN" sz="3200" b="1" dirty="0">
                <a:solidFill>
                  <a:srgbClr val="FF0000"/>
                </a:solidFill>
                <a:latin typeface="+mj-lt"/>
              </a:rPr>
              <a:t>; </a:t>
            </a:r>
            <a:r>
              <a:rPr lang="zh-CN" altLang="en-US" sz="3200" b="1" dirty="0">
                <a:solidFill>
                  <a:srgbClr val="FF0000"/>
                </a:solidFill>
                <a:latin typeface="+mj-lt"/>
              </a:rPr>
              <a:t>扩大</a:t>
            </a:r>
            <a:r>
              <a:rPr lang="en-US" altLang="zh-CN" sz="3200" b="1" dirty="0">
                <a:solidFill>
                  <a:srgbClr val="FF0000"/>
                </a:solidFill>
                <a:latin typeface="+mj-lt"/>
              </a:rPr>
              <a:t>; </a:t>
            </a:r>
            <a:r>
              <a:rPr lang="zh-CN" altLang="en-US" sz="3200" b="1" dirty="0">
                <a:solidFill>
                  <a:srgbClr val="FF0000"/>
                </a:solidFill>
                <a:latin typeface="+mj-lt"/>
              </a:rPr>
              <a:t>延期</a:t>
            </a:r>
            <a:r>
              <a:rPr lang="en-US" altLang="zh-CN" sz="3200" b="1" dirty="0">
                <a:solidFill>
                  <a:srgbClr val="FF0000"/>
                </a:solidFill>
                <a:latin typeface="+mj-lt"/>
              </a:rPr>
              <a:t>  </a:t>
            </a:r>
          </a:p>
          <a:p>
            <a:pPr>
              <a:lnSpc>
                <a:spcPct val="120000"/>
              </a:lnSpc>
            </a:pPr>
            <a:r>
              <a:rPr lang="en-US" altLang="zh-CN" sz="3200" b="1" dirty="0">
                <a:latin typeface="Times New Roman Bold" panose="02020503050405090304" charset="0"/>
                <a:cs typeface="Times New Roman Bold" panose="02020503050405090304" charset="0"/>
              </a:rPr>
              <a:t>2) </a:t>
            </a:r>
            <a:r>
              <a:rPr lang="en-US" altLang="zh-CN" sz="3200" b="1" i="1" dirty="0">
                <a:latin typeface="+mj-lt"/>
              </a:rPr>
              <a:t>to cover .. </a:t>
            </a:r>
            <a:r>
              <a:rPr lang="zh-CN" altLang="en-US" sz="3200" b="1" dirty="0">
                <a:solidFill>
                  <a:srgbClr val="FF0000"/>
                </a:solidFill>
                <a:latin typeface="+mj-lt"/>
              </a:rPr>
              <a:t>扩大</a:t>
            </a:r>
            <a:r>
              <a:rPr lang="en-US" altLang="zh-CN" sz="3200" b="1" dirty="0">
                <a:solidFill>
                  <a:srgbClr val="FF0000"/>
                </a:solidFill>
                <a:latin typeface="+mj-ea"/>
                <a:ea typeface="+mj-ea"/>
              </a:rPr>
              <a:t>……</a:t>
            </a:r>
            <a:r>
              <a:rPr lang="zh-CN" altLang="en-US" sz="3200" b="1" dirty="0">
                <a:solidFill>
                  <a:srgbClr val="FF0000"/>
                </a:solidFill>
                <a:latin typeface="+mj-lt"/>
              </a:rPr>
              <a:t>的范围</a:t>
            </a:r>
            <a:r>
              <a:rPr lang="en-US" altLang="zh-CN" sz="3200" b="1" dirty="0">
                <a:solidFill>
                  <a:srgbClr val="FF0000"/>
                </a:solidFill>
                <a:latin typeface="+mj-lt"/>
              </a:rPr>
              <a:t>(</a:t>
            </a:r>
            <a:r>
              <a:rPr lang="zh-CN" altLang="en-US" sz="3200" b="1" dirty="0">
                <a:solidFill>
                  <a:srgbClr val="FF0000"/>
                </a:solidFill>
                <a:latin typeface="+mj-lt"/>
              </a:rPr>
              <a:t>或影响</a:t>
            </a:r>
            <a:r>
              <a:rPr lang="en-US" altLang="zh-CN" sz="3200" b="1" dirty="0">
                <a:solidFill>
                  <a:srgbClr val="FF0000"/>
                </a:solidFill>
                <a:latin typeface="+mj-lt"/>
              </a:rPr>
              <a:t>)</a:t>
            </a:r>
            <a:r>
              <a:rPr lang="en-US" altLang="zh-CN" sz="3200" b="1" i="1" dirty="0">
                <a:solidFill>
                  <a:srgbClr val="FF0000"/>
                </a:solidFill>
                <a:latin typeface="+mj-lt"/>
              </a:rPr>
              <a:t> </a:t>
            </a:r>
            <a:r>
              <a:rPr lang="zh-CN" altLang="en-US" sz="3200" b="1" dirty="0">
                <a:solidFill>
                  <a:srgbClr val="FF0000"/>
                </a:solidFill>
                <a:latin typeface="+mj-lt"/>
              </a:rPr>
              <a:t>涉及</a:t>
            </a:r>
            <a:r>
              <a:rPr lang="en-US" altLang="zh-CN" sz="3200" b="1" dirty="0">
                <a:solidFill>
                  <a:srgbClr val="FF0000"/>
                </a:solidFill>
                <a:latin typeface="+mj-lt"/>
              </a:rPr>
              <a:t>(</a:t>
            </a:r>
            <a:r>
              <a:rPr lang="zh-CN" altLang="en-US" sz="3200" b="1" dirty="0">
                <a:solidFill>
                  <a:srgbClr val="FF0000"/>
                </a:solidFill>
                <a:latin typeface="+mj-lt"/>
              </a:rPr>
              <a:t>范围</a:t>
            </a:r>
            <a:r>
              <a:rPr lang="en-US" altLang="zh-CN" sz="3200" b="1" dirty="0">
                <a:solidFill>
                  <a:srgbClr val="FF0000"/>
                </a:solidFill>
                <a:latin typeface="+mj-lt"/>
              </a:rPr>
              <a:t>)...</a:t>
            </a:r>
          </a:p>
          <a:p>
            <a:pPr>
              <a:lnSpc>
                <a:spcPct val="120000"/>
              </a:lnSpc>
            </a:pPr>
            <a:r>
              <a:rPr lang="en-US" altLang="zh-CN" sz="3200" b="1" dirty="0">
                <a:latin typeface="Times New Roman Bold" panose="02020503050405090304" charset="0"/>
                <a:cs typeface="Times New Roman Bold" panose="02020503050405090304" charset="0"/>
                <a:sym typeface="+mn-ea"/>
              </a:rPr>
              <a:t>3)</a:t>
            </a:r>
            <a:r>
              <a:rPr lang="en-US" altLang="zh-CN" sz="3200" b="1" dirty="0">
                <a:solidFill>
                  <a:srgbClr val="FF0000"/>
                </a:solidFill>
                <a:latin typeface="+mj-lt"/>
                <a:sym typeface="+mn-ea"/>
              </a:rPr>
              <a:t> </a:t>
            </a:r>
            <a:r>
              <a:rPr lang="en-US" altLang="zh-CN" sz="3200" b="1" i="1" dirty="0">
                <a:solidFill>
                  <a:srgbClr val="FF0000"/>
                </a:solidFill>
                <a:latin typeface="Times New Roman Bold Italic" panose="02020503050405090304" charset="0"/>
                <a:cs typeface="Times New Roman Bold Italic" panose="02020503050405090304" charset="0"/>
                <a:sym typeface="+mn-ea"/>
              </a:rPr>
              <a:t>vi.</a:t>
            </a:r>
            <a:r>
              <a:rPr lang="en-US" altLang="zh-CN" sz="3200" b="1" dirty="0">
                <a:solidFill>
                  <a:srgbClr val="FF0000"/>
                </a:solidFill>
                <a:latin typeface="+mj-lt"/>
                <a:sym typeface="+mn-ea"/>
              </a:rPr>
              <a:t> </a:t>
            </a:r>
            <a:r>
              <a:rPr lang="zh-CN" altLang="en-US" sz="3200" b="1" dirty="0">
                <a:solidFill>
                  <a:srgbClr val="FF0000"/>
                </a:solidFill>
                <a:latin typeface="+mj-lt"/>
                <a:sym typeface="+mn-ea"/>
              </a:rPr>
              <a:t>延长</a:t>
            </a:r>
            <a:endParaRPr lang="en-US" altLang="zh-CN" sz="3200" b="1" dirty="0">
              <a:solidFill>
                <a:srgbClr val="FF0000"/>
              </a:solidFill>
              <a:latin typeface="+mj-lt"/>
            </a:endParaRPr>
          </a:p>
          <a:p>
            <a:pPr>
              <a:lnSpc>
                <a:spcPct val="120000"/>
              </a:lnSpc>
            </a:pPr>
            <a:r>
              <a:rPr lang="en-US" altLang="zh-CN" sz="3200" b="1" dirty="0">
                <a:solidFill>
                  <a:schemeClr val="tx1"/>
                </a:solidFill>
                <a:latin typeface="+mj-lt"/>
              </a:rPr>
              <a:t>4) </a:t>
            </a:r>
            <a:r>
              <a:rPr lang="en-US" altLang="zh-CN" sz="3200" b="1" dirty="0">
                <a:solidFill>
                  <a:srgbClr val="0000FF"/>
                </a:solidFill>
                <a:latin typeface="+mj-lt"/>
              </a:rPr>
              <a:t>[formal] </a:t>
            </a:r>
            <a:r>
              <a:rPr lang="en-US" altLang="zh-CN" sz="3200" b="1" dirty="0">
                <a:solidFill>
                  <a:schemeClr val="tx1"/>
                </a:solidFill>
                <a:latin typeface="+mj-lt"/>
              </a:rPr>
              <a:t>to offer</a:t>
            </a:r>
            <a:r>
              <a:rPr lang="en-US" altLang="zh-CN" sz="3200" b="1" dirty="0">
                <a:solidFill>
                  <a:srgbClr val="FF0000"/>
                </a:solidFill>
                <a:latin typeface="+mj-lt"/>
              </a:rPr>
              <a:t> </a:t>
            </a:r>
            <a:r>
              <a:rPr lang="zh-CN" altLang="en-US" sz="3200" b="1" dirty="0">
                <a:solidFill>
                  <a:srgbClr val="FF0000"/>
                </a:solidFill>
                <a:latin typeface="+mj-lt"/>
              </a:rPr>
              <a:t>提供</a:t>
            </a:r>
          </a:p>
          <a:p>
            <a:pPr>
              <a:lnSpc>
                <a:spcPct val="120000"/>
              </a:lnSpc>
            </a:pPr>
            <a:r>
              <a:rPr lang="zh-CN" altLang="en-US" sz="3200" b="1" dirty="0">
                <a:solidFill>
                  <a:schemeClr val="tx1"/>
                </a:solidFill>
                <a:latin typeface="+mj-lt"/>
              </a:rPr>
              <a:t>He</a:t>
            </a:r>
            <a:r>
              <a:rPr lang="zh-CN" altLang="en-US" sz="3200" b="1" dirty="0">
                <a:solidFill>
                  <a:srgbClr val="FF0000"/>
                </a:solidFill>
                <a:latin typeface="+mj-lt"/>
              </a:rPr>
              <a:t> </a:t>
            </a:r>
            <a:r>
              <a:rPr lang="zh-CN" altLang="en-US" sz="3200" b="1" u="sng" dirty="0">
                <a:solidFill>
                  <a:srgbClr val="FF0000"/>
                </a:solidFill>
                <a:latin typeface="+mj-lt"/>
              </a:rPr>
              <a:t>extended his hand </a:t>
            </a:r>
            <a:r>
              <a:rPr lang="zh-CN" altLang="en-US" sz="3200" b="1" dirty="0">
                <a:solidFill>
                  <a:schemeClr val="tx1"/>
                </a:solidFill>
                <a:latin typeface="+mj-lt"/>
              </a:rPr>
              <a:t>to (= offered to shake hands with) the new employee.</a:t>
            </a:r>
            <a:r>
              <a:rPr lang="en-US" altLang="zh-CN" sz="3200" b="1" dirty="0">
                <a:solidFill>
                  <a:schemeClr val="tx1"/>
                </a:solidFill>
                <a:latin typeface="+mj-lt"/>
              </a:rPr>
              <a:t> </a:t>
            </a:r>
            <a:r>
              <a:rPr lang="zh-CN" altLang="en-US" sz="3200" b="1" dirty="0">
                <a:solidFill>
                  <a:schemeClr val="tx1"/>
                </a:solidFill>
                <a:latin typeface="+mj-lt"/>
              </a:rPr>
              <a:t>他伸出手来与新雇员握手。</a:t>
            </a:r>
          </a:p>
          <a:p>
            <a:pPr>
              <a:lnSpc>
                <a:spcPct val="120000"/>
              </a:lnSpc>
            </a:pPr>
            <a:r>
              <a:rPr lang="zh-CN" altLang="en-US" sz="3200" b="1" dirty="0">
                <a:solidFill>
                  <a:schemeClr val="tx1"/>
                </a:solidFill>
                <a:latin typeface="+mj-lt"/>
              </a:rPr>
              <a:t>I'm sure you will join me in </a:t>
            </a:r>
            <a:r>
              <a:rPr lang="zh-CN" altLang="en-US" sz="3200" b="1" u="sng" dirty="0">
                <a:solidFill>
                  <a:srgbClr val="FF0000"/>
                </a:solidFill>
                <a:latin typeface="+mj-lt"/>
              </a:rPr>
              <a:t>extending a very warm welcome</a:t>
            </a:r>
            <a:r>
              <a:rPr lang="zh-CN" altLang="en-US" sz="3200" b="1" dirty="0">
                <a:solidFill>
                  <a:schemeClr val="tx1"/>
                </a:solidFill>
                <a:latin typeface="+mj-lt"/>
              </a:rPr>
              <a:t> to our visitors.</a:t>
            </a:r>
            <a:endParaRPr lang="zh-CN" altLang="en-US" sz="3200" b="1" dirty="0">
              <a:solidFill>
                <a:srgbClr val="FF0000"/>
              </a:solidFill>
              <a:latin typeface="+mj-lt"/>
            </a:endParaRPr>
          </a:p>
          <a:p>
            <a:pPr>
              <a:lnSpc>
                <a:spcPct val="120000"/>
              </a:lnSpc>
            </a:pPr>
            <a:r>
              <a:rPr lang="zh-CN" altLang="en-US" sz="3200" b="1" dirty="0">
                <a:solidFill>
                  <a:schemeClr val="tx1"/>
                </a:solidFill>
                <a:latin typeface="+mj-lt"/>
              </a:rPr>
              <a:t>我肯定你们会同我一起</a:t>
            </a:r>
            <a:r>
              <a:rPr lang="zh-CN" altLang="en-US" sz="3200" b="1" u="sng" dirty="0">
                <a:solidFill>
                  <a:schemeClr val="tx1"/>
                </a:solidFill>
                <a:latin typeface="+mj-lt"/>
              </a:rPr>
              <a:t>向来访者表示热烈的欢迎</a:t>
            </a:r>
            <a:r>
              <a:rPr lang="zh-CN" altLang="en-US" sz="3200" b="1" dirty="0">
                <a:solidFill>
                  <a:schemeClr val="tx1"/>
                </a:solidFill>
                <a:latin typeface="+mj-lt"/>
              </a:rPr>
              <a:t>。</a:t>
            </a:r>
          </a:p>
          <a:p>
            <a:pPr>
              <a:lnSpc>
                <a:spcPct val="120000"/>
              </a:lnSpc>
            </a:pPr>
            <a:r>
              <a:rPr lang="zh-CN" altLang="en-US" sz="3200" b="1" u="sng" dirty="0">
                <a:solidFill>
                  <a:srgbClr val="FF0000"/>
                </a:solidFill>
                <a:latin typeface="+mj-lt"/>
              </a:rPr>
              <a:t>extend hospitality to</a:t>
            </a:r>
            <a:r>
              <a:rPr lang="zh-CN" altLang="en-US" sz="3200" b="1" dirty="0">
                <a:solidFill>
                  <a:srgbClr val="FF0000"/>
                </a:solidFill>
                <a:latin typeface="+mj-lt"/>
              </a:rPr>
              <a:t> overseas students</a:t>
            </a:r>
            <a:r>
              <a:rPr lang="en-US" altLang="zh-CN" sz="3200" b="1" dirty="0">
                <a:solidFill>
                  <a:srgbClr val="FF0000"/>
                </a:solidFill>
                <a:latin typeface="+mj-lt"/>
              </a:rPr>
              <a:t> </a:t>
            </a:r>
            <a:r>
              <a:rPr lang="zh-CN" altLang="en-US" sz="3200" b="1" dirty="0">
                <a:solidFill>
                  <a:schemeClr val="tx1"/>
                </a:solidFill>
                <a:latin typeface="+mj-lt"/>
              </a:rPr>
              <a:t>殷勤款待外国留学生</a:t>
            </a:r>
            <a:endParaRPr lang="zh-CN" altLang="en-US" sz="3200" b="1" dirty="0">
              <a:solidFill>
                <a:srgbClr val="FF0000"/>
              </a:solidFill>
              <a:latin typeface="+mj-lt"/>
            </a:endParaRPr>
          </a:p>
          <a:p>
            <a:pPr>
              <a:lnSpc>
                <a:spcPct val="120000"/>
              </a:lnSpc>
            </a:pPr>
            <a:r>
              <a:rPr lang="en-US" altLang="zh-CN" sz="3200" b="1" dirty="0">
                <a:solidFill>
                  <a:srgbClr val="FF0000"/>
                </a:solidFill>
                <a:latin typeface="+mj-lt"/>
              </a:rPr>
              <a:t>e</a:t>
            </a:r>
            <a:r>
              <a:rPr lang="zh-CN" altLang="en-US" sz="3200" b="1" dirty="0">
                <a:solidFill>
                  <a:srgbClr val="FF0000"/>
                </a:solidFill>
                <a:latin typeface="+mj-lt"/>
              </a:rPr>
              <a:t>xtend sb an invitation</a:t>
            </a:r>
            <a:r>
              <a:rPr lang="en-US" altLang="zh-CN" sz="3200" b="1" dirty="0">
                <a:solidFill>
                  <a:srgbClr val="FF0000"/>
                </a:solidFill>
                <a:latin typeface="+mj-lt"/>
              </a:rPr>
              <a:t> </a:t>
            </a:r>
            <a:r>
              <a:rPr lang="zh-CN" altLang="en-US" sz="3200" b="1" dirty="0">
                <a:solidFill>
                  <a:schemeClr val="tx1"/>
                </a:solidFill>
                <a:latin typeface="+mj-lt"/>
              </a:rPr>
              <a:t>向某人发出邀请</a:t>
            </a:r>
            <a:endParaRPr lang="zh-CN" altLang="en-US" sz="3200" b="1" dirty="0">
              <a:solidFill>
                <a:schemeClr val="tx1"/>
              </a:solidFill>
              <a:latin typeface="+mj-lt"/>
              <a:sym typeface="+mn-ea"/>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矩形 4"/>
          <p:cNvSpPr/>
          <p:nvPr/>
        </p:nvSpPr>
        <p:spPr>
          <a:xfrm>
            <a:off x="149225" y="0"/>
            <a:ext cx="12043410" cy="6587490"/>
          </a:xfrm>
          <a:prstGeom prst="rect">
            <a:avLst/>
          </a:prstGeom>
          <a:noFill/>
          <a:ln w="28575">
            <a:noFill/>
          </a:ln>
          <a:extLst>
            <a:ext uri="{909E8E84-426E-40DD-AFC4-6F175D3DCCD1}">
              <a14:hiddenFill xmlns:a14="http://schemas.microsoft.com/office/drawing/2010/main">
                <a:solidFill>
                  <a:srgbClr val="E6F1FE"/>
                </a:solidFill>
              </a14:hiddenFill>
            </a:ext>
          </a:extLst>
        </p:spPr>
        <p:txBody>
          <a:bodyPr wrap="square">
            <a:spAutoFit/>
          </a:bodyPr>
          <a:lstStyle/>
          <a:p>
            <a:pPr marL="446405" indent="-446405" eaLnBrk="0" fontAlgn="base" hangingPunct="0">
              <a:lnSpc>
                <a:spcPct val="120000"/>
              </a:lnSpc>
              <a:spcBef>
                <a:spcPct val="0"/>
              </a:spcBef>
              <a:spcAft>
                <a:spcPct val="0"/>
              </a:spcAft>
            </a:pPr>
            <a:r>
              <a:rPr lang="en-US" altLang="zh-CN" sz="3200" b="1" dirty="0">
                <a:solidFill>
                  <a:srgbClr val="9966FF"/>
                </a:solidFill>
                <a:cs typeface="Times New Roman" panose="02020503050405090304" pitchFamily="18" charset="0"/>
              </a:rPr>
              <a:t>【</a:t>
            </a:r>
            <a:r>
              <a:rPr lang="zh-CN" altLang="en-US" sz="3200" b="1" dirty="0">
                <a:solidFill>
                  <a:srgbClr val="9966FF"/>
                </a:solidFill>
                <a:cs typeface="Times New Roman" panose="02020503050405090304" pitchFamily="18" charset="0"/>
              </a:rPr>
              <a:t>归纳</a:t>
            </a:r>
            <a:r>
              <a:rPr lang="en-US" altLang="zh-CN" sz="3200" b="1" dirty="0">
                <a:solidFill>
                  <a:srgbClr val="9966FF"/>
                </a:solidFill>
                <a:cs typeface="Times New Roman" panose="02020503050405090304" pitchFamily="18" charset="0"/>
              </a:rPr>
              <a:t>】</a:t>
            </a:r>
          </a:p>
          <a:p>
            <a:pPr marL="446405" indent="-446405" eaLnBrk="0" fontAlgn="base" hangingPunct="0">
              <a:lnSpc>
                <a:spcPct val="120000"/>
              </a:lnSpc>
              <a:spcBef>
                <a:spcPct val="0"/>
              </a:spcBef>
              <a:spcAft>
                <a:spcPct val="0"/>
              </a:spcAft>
            </a:pPr>
            <a:r>
              <a:rPr lang="en-US" altLang="zh-CN" sz="3200" b="1" dirty="0">
                <a:solidFill>
                  <a:schemeClr val="tx1"/>
                </a:solidFill>
                <a:cs typeface="Times New Roman" panose="02020503050405090304" pitchFamily="18" charset="0"/>
              </a:rPr>
              <a:t>plan the </a:t>
            </a:r>
            <a:r>
              <a:rPr lang="en-US" altLang="zh-CN" sz="3200" b="1" dirty="0">
                <a:solidFill>
                  <a:srgbClr val="FF0000"/>
                </a:solidFill>
                <a:cs typeface="Times New Roman" panose="02020503050405090304" pitchFamily="18" charset="0"/>
              </a:rPr>
              <a:t>extension </a:t>
            </a:r>
            <a:r>
              <a:rPr lang="en-US" altLang="zh-CN" sz="3200" b="1" dirty="0">
                <a:solidFill>
                  <a:schemeClr val="tx1"/>
                </a:solidFill>
                <a:cs typeface="Times New Roman" panose="02020503050405090304" pitchFamily="18" charset="0"/>
              </a:rPr>
              <a:t>of the business </a:t>
            </a:r>
            <a:r>
              <a:rPr lang="en-US" altLang="zh-CN" sz="3200" b="1" i="1" dirty="0">
                <a:solidFill>
                  <a:srgbClr val="FF0000"/>
                </a:solidFill>
                <a:cs typeface="Times New Roman" panose="02020503050405090304" pitchFamily="18" charset="0"/>
              </a:rPr>
              <a:t>n.</a:t>
            </a:r>
            <a:r>
              <a:rPr lang="en-US" altLang="zh-CN" sz="3200" b="1" dirty="0">
                <a:solidFill>
                  <a:srgbClr val="FF0000"/>
                </a:solidFill>
                <a:cs typeface="Times New Roman" panose="02020503050405090304" pitchFamily="18" charset="0"/>
              </a:rPr>
              <a:t> </a:t>
            </a:r>
            <a:r>
              <a:rPr lang="zh-CN" altLang="en-US" sz="3200" b="1" dirty="0">
                <a:solidFill>
                  <a:srgbClr val="FF0000"/>
                </a:solidFill>
                <a:cs typeface="Times New Roman" panose="02020503050405090304" pitchFamily="18" charset="0"/>
              </a:rPr>
              <a:t>延长</a:t>
            </a:r>
            <a:r>
              <a:rPr lang="en-US" altLang="zh-CN" sz="3200" b="1" dirty="0">
                <a:solidFill>
                  <a:srgbClr val="FF0000"/>
                </a:solidFill>
                <a:cs typeface="Times New Roman" panose="02020503050405090304" pitchFamily="18" charset="0"/>
              </a:rPr>
              <a:t>; </a:t>
            </a:r>
            <a:r>
              <a:rPr lang="zh-CN" altLang="en-US" sz="3200" b="1" dirty="0">
                <a:solidFill>
                  <a:srgbClr val="FF0000"/>
                </a:solidFill>
                <a:cs typeface="Times New Roman" panose="02020503050405090304" pitchFamily="18" charset="0"/>
              </a:rPr>
              <a:t>伸展</a:t>
            </a:r>
            <a:r>
              <a:rPr lang="en-US" altLang="zh-CN" sz="3200" b="1" dirty="0">
                <a:solidFill>
                  <a:srgbClr val="FF0000"/>
                </a:solidFill>
                <a:cs typeface="Times New Roman" panose="02020503050405090304" pitchFamily="18" charset="0"/>
              </a:rPr>
              <a:t>; </a:t>
            </a:r>
            <a:r>
              <a:rPr lang="zh-CN" altLang="en-US" sz="3200" b="1" dirty="0">
                <a:solidFill>
                  <a:srgbClr val="FF0000"/>
                </a:solidFill>
                <a:cs typeface="Times New Roman" panose="02020503050405090304" pitchFamily="18" charset="0"/>
              </a:rPr>
              <a:t>延期</a:t>
            </a:r>
          </a:p>
          <a:p>
            <a:pPr marL="446405" indent="-446405" eaLnBrk="0" fontAlgn="base" hangingPunct="0">
              <a:lnSpc>
                <a:spcPct val="120000"/>
              </a:lnSpc>
              <a:spcBef>
                <a:spcPct val="0"/>
              </a:spcBef>
              <a:spcAft>
                <a:spcPct val="0"/>
              </a:spcAft>
            </a:pPr>
            <a:r>
              <a:rPr lang="en-US" altLang="zh-CN" sz="3200" b="1" dirty="0">
                <a:solidFill>
                  <a:srgbClr val="FF0000"/>
                </a:solidFill>
                <a:cs typeface="Times New Roman" panose="02020503050405090304" pitchFamily="18" charset="0"/>
              </a:rPr>
              <a:t>the extension of new technology into developing countries</a:t>
            </a:r>
          </a:p>
          <a:p>
            <a:pPr marL="446405" indent="-446405" eaLnBrk="0" fontAlgn="base" hangingPunct="0">
              <a:lnSpc>
                <a:spcPct val="120000"/>
              </a:lnSpc>
              <a:spcBef>
                <a:spcPct val="0"/>
              </a:spcBef>
              <a:spcAft>
                <a:spcPct val="0"/>
              </a:spcAft>
            </a:pPr>
            <a:endParaRPr lang="en-US" altLang="zh-CN" sz="3200" b="1" dirty="0">
              <a:solidFill>
                <a:srgbClr val="FF0000"/>
              </a:solidFill>
              <a:cs typeface="Times New Roman" panose="02020503050405090304" pitchFamily="18" charset="0"/>
            </a:endParaRPr>
          </a:p>
          <a:p>
            <a:pPr marL="446405" indent="-446405" eaLnBrk="0" fontAlgn="base" hangingPunct="0">
              <a:lnSpc>
                <a:spcPct val="120000"/>
              </a:lnSpc>
              <a:spcBef>
                <a:spcPct val="0"/>
              </a:spcBef>
              <a:spcAft>
                <a:spcPct val="0"/>
              </a:spcAft>
            </a:pPr>
            <a:r>
              <a:rPr lang="en-US" altLang="zh-CN" sz="3200" b="1" dirty="0">
                <a:solidFill>
                  <a:srgbClr val="FF0000"/>
                </a:solidFill>
                <a:cs typeface="Times New Roman" panose="02020503050405090304" pitchFamily="18" charset="0"/>
              </a:rPr>
              <a:t>extensive </a:t>
            </a:r>
            <a:r>
              <a:rPr lang="en-US" altLang="zh-CN" sz="3200" b="1" i="1" dirty="0">
                <a:solidFill>
                  <a:srgbClr val="FF0000"/>
                </a:solidFill>
                <a:latin typeface="Times New Roman Bold Italic" panose="02020503050405090304" charset="0"/>
                <a:cs typeface="Times New Roman Bold Italic" panose="02020503050405090304" charset="0"/>
              </a:rPr>
              <a:t>adj. </a:t>
            </a:r>
            <a:r>
              <a:rPr lang="zh-CN" altLang="en-US" sz="3200" b="1" dirty="0">
                <a:solidFill>
                  <a:schemeClr val="tx1"/>
                </a:solidFill>
                <a:cs typeface="Times New Roman" panose="02020503050405090304" pitchFamily="18" charset="0"/>
              </a:rPr>
              <a:t>广阔的，广大的，大量的</a:t>
            </a:r>
            <a:endParaRPr lang="en-US" altLang="zh-CN" sz="3200" b="1" dirty="0">
              <a:solidFill>
                <a:schemeClr val="tx1"/>
              </a:solidFill>
              <a:cs typeface="Times New Roman" panose="02020503050405090304" pitchFamily="18" charset="0"/>
            </a:endParaRPr>
          </a:p>
          <a:p>
            <a:pPr marL="446405" indent="-446405" eaLnBrk="0" fontAlgn="base" hangingPunct="0">
              <a:lnSpc>
                <a:spcPct val="120000"/>
              </a:lnSpc>
              <a:spcBef>
                <a:spcPct val="0"/>
              </a:spcBef>
              <a:spcAft>
                <a:spcPct val="0"/>
              </a:spcAft>
            </a:pPr>
            <a:r>
              <a:rPr lang="en-US" altLang="zh-CN" sz="3200" b="1" dirty="0">
                <a:solidFill>
                  <a:schemeClr val="tx1"/>
                </a:solidFill>
                <a:cs typeface="Times New Roman" panose="02020503050405090304" pitchFamily="18" charset="0"/>
              </a:rPr>
              <a:t>The fire caused </a:t>
            </a:r>
            <a:r>
              <a:rPr lang="en-US" altLang="zh-CN" sz="3200" b="1" dirty="0">
                <a:solidFill>
                  <a:srgbClr val="FF0000"/>
                </a:solidFill>
                <a:cs typeface="Times New Roman" panose="02020503050405090304" pitchFamily="18" charset="0"/>
              </a:rPr>
              <a:t>extensive damage</a:t>
            </a:r>
            <a:r>
              <a:rPr lang="en-US" altLang="zh-CN" sz="3200" b="1" dirty="0">
                <a:solidFill>
                  <a:schemeClr val="tx1"/>
                </a:solidFill>
                <a:cs typeface="Times New Roman" panose="02020503050405090304" pitchFamily="18" charset="0"/>
              </a:rPr>
              <a:t>.</a:t>
            </a:r>
          </a:p>
          <a:p>
            <a:pPr marL="446405" indent="-446405" eaLnBrk="0" fontAlgn="base" hangingPunct="0">
              <a:lnSpc>
                <a:spcPct val="120000"/>
              </a:lnSpc>
              <a:spcBef>
                <a:spcPct val="0"/>
              </a:spcBef>
              <a:spcAft>
                <a:spcPct val="0"/>
              </a:spcAft>
            </a:pPr>
            <a:r>
              <a:rPr lang="en-US" altLang="zh-CN" sz="3200" b="1" u="sng" dirty="0">
                <a:solidFill>
                  <a:srgbClr val="FF0000"/>
                </a:solidFill>
                <a:cs typeface="Times New Roman" panose="02020503050405090304" pitchFamily="18" charset="0"/>
              </a:rPr>
              <a:t>an extensive range of </a:t>
            </a:r>
            <a:r>
              <a:rPr lang="en-US" altLang="zh-CN" sz="3200" b="1" dirty="0">
                <a:solidFill>
                  <a:schemeClr val="tx1"/>
                </a:solidFill>
                <a:cs typeface="Times New Roman" panose="02020503050405090304" pitchFamily="18" charset="0"/>
              </a:rPr>
              <a:t>wines</a:t>
            </a:r>
          </a:p>
          <a:p>
            <a:pPr marL="446405" indent="-446405" eaLnBrk="0" fontAlgn="base" hangingPunct="0">
              <a:lnSpc>
                <a:spcPct val="120000"/>
              </a:lnSpc>
              <a:spcBef>
                <a:spcPct val="0"/>
              </a:spcBef>
              <a:spcAft>
                <a:spcPct val="0"/>
              </a:spcAft>
            </a:pPr>
            <a:r>
              <a:rPr lang="en-US" altLang="zh-CN" sz="3200" b="1" dirty="0">
                <a:solidFill>
                  <a:schemeClr val="tx1"/>
                </a:solidFill>
                <a:cs typeface="Times New Roman" panose="02020503050405090304" pitchFamily="18" charset="0"/>
              </a:rPr>
              <a:t>各种各样的葡萄酒</a:t>
            </a:r>
          </a:p>
          <a:p>
            <a:pPr marL="446405" indent="-446405" eaLnBrk="0" fontAlgn="base" hangingPunct="0">
              <a:lnSpc>
                <a:spcPct val="120000"/>
              </a:lnSpc>
              <a:spcBef>
                <a:spcPct val="0"/>
              </a:spcBef>
              <a:spcAft>
                <a:spcPct val="0"/>
              </a:spcAft>
            </a:pPr>
            <a:r>
              <a:rPr lang="en-US" altLang="zh-CN" sz="3200" b="1" dirty="0">
                <a:solidFill>
                  <a:srgbClr val="FF0000"/>
                </a:solidFill>
                <a:cs typeface="Times New Roman" panose="02020503050405090304" pitchFamily="18" charset="0"/>
              </a:rPr>
              <a:t>Extensive research</a:t>
            </a:r>
            <a:r>
              <a:rPr lang="en-US" altLang="zh-CN" sz="3200" b="1" dirty="0">
                <a:solidFill>
                  <a:schemeClr val="tx1"/>
                </a:solidFill>
                <a:cs typeface="Times New Roman" panose="02020503050405090304" pitchFamily="18" charset="0"/>
              </a:rPr>
              <a:t> has been done into this disease.</a:t>
            </a:r>
          </a:p>
          <a:p>
            <a:pPr marL="446405" indent="-446405" eaLnBrk="0" fontAlgn="base" hangingPunct="0">
              <a:lnSpc>
                <a:spcPct val="120000"/>
              </a:lnSpc>
              <a:spcBef>
                <a:spcPct val="0"/>
              </a:spcBef>
              <a:spcAft>
                <a:spcPct val="0"/>
              </a:spcAft>
            </a:pPr>
            <a:r>
              <a:rPr lang="en-US" altLang="zh-CN" sz="3200" b="1" dirty="0">
                <a:solidFill>
                  <a:schemeClr val="tx1"/>
                </a:solidFill>
                <a:cs typeface="Times New Roman" panose="02020503050405090304" pitchFamily="18" charset="0"/>
              </a:rPr>
              <a:t>广泛研究</a:t>
            </a:r>
          </a:p>
          <a:p>
            <a:pPr marL="446405" indent="-446405" eaLnBrk="0" fontAlgn="base" hangingPunct="0">
              <a:lnSpc>
                <a:spcPct val="120000"/>
              </a:lnSpc>
              <a:spcBef>
                <a:spcPct val="0"/>
              </a:spcBef>
              <a:spcAft>
                <a:spcPct val="0"/>
              </a:spcAft>
            </a:pPr>
            <a:r>
              <a:rPr lang="en-US" altLang="zh-CN" sz="3200" b="1" dirty="0">
                <a:solidFill>
                  <a:srgbClr val="FF0000"/>
                </a:solidFill>
                <a:cs typeface="Times New Roman" panose="02020503050405090304" pitchFamily="18" charset="0"/>
              </a:rPr>
              <a:t>extensive knowledge of sth </a:t>
            </a:r>
            <a:r>
              <a:rPr lang="en-US" altLang="zh-CN" sz="3200" b="1" dirty="0">
                <a:solidFill>
                  <a:schemeClr val="tx1"/>
                </a:solidFill>
                <a:cs typeface="Times New Roman" panose="02020503050405090304" pitchFamily="18" charset="0"/>
              </a:rPr>
              <a:t> 广博</a:t>
            </a:r>
            <a:r>
              <a:rPr lang="zh-CN" altLang="en-US" sz="3200" b="1" dirty="0">
                <a:solidFill>
                  <a:schemeClr val="tx1"/>
                </a:solidFill>
                <a:cs typeface="Times New Roman" panose="02020503050405090304" pitchFamily="18" charset="0"/>
              </a:rPr>
              <a:t>的……知识</a:t>
            </a:r>
            <a:endParaRPr lang="en-US" altLang="zh-CN" sz="3200" b="1" dirty="0">
              <a:solidFill>
                <a:schemeClr val="tx1"/>
              </a:solidFill>
              <a:cs typeface="Times New Roman" panose="0202050305040509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矩形 4"/>
          <p:cNvSpPr/>
          <p:nvPr/>
        </p:nvSpPr>
        <p:spPr>
          <a:xfrm>
            <a:off x="149225" y="0"/>
            <a:ext cx="12043410" cy="4815840"/>
          </a:xfrm>
          <a:prstGeom prst="rect">
            <a:avLst/>
          </a:prstGeom>
          <a:noFill/>
          <a:ln w="28575">
            <a:noFill/>
          </a:ln>
          <a:extLst>
            <a:ext uri="{909E8E84-426E-40DD-AFC4-6F175D3DCCD1}">
              <a14:hiddenFill xmlns:a14="http://schemas.microsoft.com/office/drawing/2010/main">
                <a:solidFill>
                  <a:srgbClr val="E6F1FE"/>
                </a:solidFill>
              </a14:hiddenFill>
            </a:ext>
          </a:extLst>
        </p:spPr>
        <p:txBody>
          <a:bodyPr wrap="square">
            <a:spAutoFit/>
          </a:bodyPr>
          <a:lstStyle/>
          <a:p>
            <a:pPr marL="446405" indent="-446405" eaLnBrk="0" fontAlgn="base" hangingPunct="0">
              <a:lnSpc>
                <a:spcPct val="120000"/>
              </a:lnSpc>
              <a:spcBef>
                <a:spcPct val="0"/>
              </a:spcBef>
              <a:spcAft>
                <a:spcPct val="0"/>
              </a:spcAft>
            </a:pPr>
            <a:r>
              <a:rPr lang="en-US" altLang="zh-CN" sz="3200" b="1" dirty="0">
                <a:solidFill>
                  <a:srgbClr val="9966FF"/>
                </a:solidFill>
                <a:cs typeface="Times New Roman" panose="02020503050405090304" pitchFamily="18" charset="0"/>
              </a:rPr>
              <a:t>【</a:t>
            </a:r>
            <a:r>
              <a:rPr lang="zh-CN" altLang="en-US" sz="3200" b="1" dirty="0">
                <a:solidFill>
                  <a:srgbClr val="9966FF"/>
                </a:solidFill>
                <a:cs typeface="Times New Roman" panose="02020503050405090304" pitchFamily="18" charset="0"/>
              </a:rPr>
              <a:t>归纳</a:t>
            </a:r>
            <a:r>
              <a:rPr lang="en-US" altLang="zh-CN" sz="3200" b="1" dirty="0">
                <a:solidFill>
                  <a:srgbClr val="9966FF"/>
                </a:solidFill>
                <a:cs typeface="Times New Roman" panose="02020503050405090304" pitchFamily="18" charset="0"/>
              </a:rPr>
              <a:t>】</a:t>
            </a:r>
          </a:p>
          <a:p>
            <a:pPr marL="446405" indent="-446405" eaLnBrk="0" fontAlgn="base" hangingPunct="0">
              <a:lnSpc>
                <a:spcPct val="120000"/>
              </a:lnSpc>
              <a:spcBef>
                <a:spcPct val="0"/>
              </a:spcBef>
              <a:spcAft>
                <a:spcPct val="0"/>
              </a:spcAft>
            </a:pPr>
            <a:r>
              <a:rPr lang="en-US" altLang="zh-CN" sz="3200" b="1" i="1" dirty="0">
                <a:solidFill>
                  <a:srgbClr val="FF0000"/>
                </a:solidFill>
                <a:latin typeface="Times New Roman Bold Italic" panose="02020503050405090304" charset="0"/>
                <a:cs typeface="Times New Roman Bold Italic" panose="02020503050405090304" charset="0"/>
                <a:sym typeface="+mn-ea"/>
              </a:rPr>
              <a:t>adv.</a:t>
            </a:r>
          </a:p>
          <a:p>
            <a:pPr marL="446405" indent="-446405" eaLnBrk="0" fontAlgn="base" hangingPunct="0">
              <a:lnSpc>
                <a:spcPct val="120000"/>
              </a:lnSpc>
              <a:spcBef>
                <a:spcPct val="0"/>
              </a:spcBef>
              <a:spcAft>
                <a:spcPct val="0"/>
              </a:spcAft>
            </a:pPr>
            <a:r>
              <a:rPr lang="en-US" altLang="zh-CN" sz="3200" b="1" dirty="0">
                <a:solidFill>
                  <a:srgbClr val="FF0000"/>
                </a:solidFill>
                <a:cs typeface="Times New Roman" panose="02020503050405090304" pitchFamily="18" charset="0"/>
                <a:sym typeface="+mn-ea"/>
              </a:rPr>
              <a:t>use extensively</a:t>
            </a:r>
            <a:r>
              <a:rPr lang="en-US" altLang="zh-CN" sz="3200" b="1" dirty="0">
                <a:cs typeface="Times New Roman" panose="02020503050405090304" pitchFamily="18" charset="0"/>
                <a:sym typeface="+mn-ea"/>
              </a:rPr>
              <a:t> 广泛使用</a:t>
            </a:r>
          </a:p>
          <a:p>
            <a:pPr marL="446405" indent="-446405" eaLnBrk="0" fontAlgn="base" hangingPunct="0">
              <a:lnSpc>
                <a:spcPct val="120000"/>
              </a:lnSpc>
              <a:spcBef>
                <a:spcPct val="0"/>
              </a:spcBef>
              <a:spcAft>
                <a:spcPct val="0"/>
              </a:spcAft>
            </a:pPr>
            <a:r>
              <a:rPr lang="en-US" altLang="zh-CN" sz="3200" b="1" dirty="0">
                <a:solidFill>
                  <a:srgbClr val="FF0000"/>
                </a:solidFill>
                <a:cs typeface="Times New Roman" panose="02020503050405090304" pitchFamily="18" charset="0"/>
                <a:sym typeface="+mn-ea"/>
              </a:rPr>
              <a:t>travel extensively </a:t>
            </a:r>
            <a:r>
              <a:rPr lang="zh-CN" altLang="en-US" sz="3200" b="1" dirty="0">
                <a:cs typeface="Times New Roman" panose="02020503050405090304" pitchFamily="18" charset="0"/>
                <a:sym typeface="+mn-ea"/>
              </a:rPr>
              <a:t>广泛游历</a:t>
            </a:r>
          </a:p>
          <a:p>
            <a:pPr marL="446405" indent="-446405" eaLnBrk="0" fontAlgn="base" hangingPunct="0">
              <a:lnSpc>
                <a:spcPct val="120000"/>
              </a:lnSpc>
              <a:spcBef>
                <a:spcPct val="0"/>
              </a:spcBef>
              <a:spcAft>
                <a:spcPct val="0"/>
              </a:spcAft>
            </a:pPr>
            <a:endParaRPr lang="en-US" altLang="zh-CN" sz="3200" b="1" dirty="0">
              <a:solidFill>
                <a:schemeClr val="tx1"/>
              </a:solidFill>
              <a:cs typeface="Times New Roman" panose="02020503050405090304" pitchFamily="18" charset="0"/>
            </a:endParaRPr>
          </a:p>
          <a:p>
            <a:pPr marL="446405" indent="-446405" eaLnBrk="0" fontAlgn="base" hangingPunct="0">
              <a:lnSpc>
                <a:spcPct val="120000"/>
              </a:lnSpc>
              <a:spcBef>
                <a:spcPct val="0"/>
              </a:spcBef>
              <a:spcAft>
                <a:spcPct val="0"/>
              </a:spcAft>
            </a:pPr>
            <a:r>
              <a:rPr lang="en-US" altLang="zh-CN" sz="3200" b="1" i="1" dirty="0">
                <a:solidFill>
                  <a:srgbClr val="FF0000"/>
                </a:solidFill>
                <a:latin typeface="Times New Roman Bold Italic" panose="02020503050405090304" charset="0"/>
                <a:cs typeface="Times New Roman Bold Italic" panose="02020503050405090304" charset="0"/>
              </a:rPr>
              <a:t>adj.</a:t>
            </a:r>
          </a:p>
          <a:p>
            <a:pPr marL="446405" indent="-446405" eaLnBrk="0" fontAlgn="base" hangingPunct="0">
              <a:lnSpc>
                <a:spcPct val="120000"/>
              </a:lnSpc>
              <a:spcBef>
                <a:spcPct val="0"/>
              </a:spcBef>
              <a:spcAft>
                <a:spcPct val="0"/>
              </a:spcAft>
            </a:pPr>
            <a:r>
              <a:rPr lang="en-US" altLang="zh-CN" sz="3200" b="1" dirty="0">
                <a:solidFill>
                  <a:schemeClr val="tx1"/>
                </a:solidFill>
                <a:cs typeface="Times New Roman" panose="02020503050405090304" pitchFamily="18" charset="0"/>
              </a:rPr>
              <a:t>an </a:t>
            </a:r>
            <a:r>
              <a:rPr lang="en-US" altLang="zh-CN" sz="3200" b="1" dirty="0">
                <a:solidFill>
                  <a:srgbClr val="FF0000"/>
                </a:solidFill>
                <a:cs typeface="Times New Roman" panose="02020503050405090304" pitchFamily="18" charset="0"/>
              </a:rPr>
              <a:t>extended </a:t>
            </a:r>
            <a:r>
              <a:rPr lang="en-US" altLang="zh-CN" sz="3200" b="1" dirty="0">
                <a:solidFill>
                  <a:schemeClr val="tx1"/>
                </a:solidFill>
                <a:cs typeface="Times New Roman" panose="02020503050405090304" pitchFamily="18" charset="0"/>
              </a:rPr>
              <a:t>holiday </a:t>
            </a:r>
            <a:r>
              <a:rPr lang="zh-CN" altLang="en-US" sz="3200" b="1" dirty="0">
                <a:solidFill>
                  <a:schemeClr val="tx1"/>
                </a:solidFill>
                <a:cs typeface="Times New Roman" panose="02020503050405090304" pitchFamily="18" charset="0"/>
              </a:rPr>
              <a:t>延长的假期</a:t>
            </a:r>
          </a:p>
          <a:p>
            <a:pPr marL="446405" indent="-446405" eaLnBrk="0" fontAlgn="base" hangingPunct="0">
              <a:lnSpc>
                <a:spcPct val="120000"/>
              </a:lnSpc>
              <a:spcBef>
                <a:spcPct val="0"/>
              </a:spcBef>
              <a:spcAft>
                <a:spcPct val="0"/>
              </a:spcAft>
            </a:pPr>
            <a:r>
              <a:rPr lang="en-US" altLang="zh-CN" sz="3200" b="1" dirty="0">
                <a:solidFill>
                  <a:schemeClr val="tx1"/>
                </a:solidFill>
                <a:cs typeface="Times New Roman" panose="02020503050405090304" pitchFamily="18" charset="0"/>
              </a:rPr>
              <a:t>an </a:t>
            </a:r>
            <a:r>
              <a:rPr lang="en-US" altLang="zh-CN" sz="3200" b="1" dirty="0">
                <a:solidFill>
                  <a:srgbClr val="FF0000"/>
                </a:solidFill>
                <a:cs typeface="Times New Roman" panose="02020503050405090304" pitchFamily="18" charset="0"/>
              </a:rPr>
              <a:t>extended </a:t>
            </a:r>
            <a:r>
              <a:rPr lang="en-US" altLang="zh-CN" sz="3200" b="1" dirty="0">
                <a:solidFill>
                  <a:schemeClr val="tx1"/>
                </a:solidFill>
                <a:cs typeface="Times New Roman" panose="02020503050405090304" pitchFamily="18" charset="0"/>
              </a:rPr>
              <a:t>family </a:t>
            </a:r>
            <a:r>
              <a:rPr lang="zh-CN" altLang="en-US" sz="3200" b="1" dirty="0">
                <a:solidFill>
                  <a:schemeClr val="tx1"/>
                </a:solidFill>
                <a:cs typeface="Times New Roman" panose="02020503050405090304" pitchFamily="18" charset="0"/>
              </a:rPr>
              <a:t>大家庭</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nvSpPr>
        <p:spPr>
          <a:xfrm>
            <a:off x="777913" y="808235"/>
            <a:ext cx="10795777" cy="3634740"/>
          </a:xfrm>
          <a:prstGeom prst="rect">
            <a:avLst/>
          </a:prstGeom>
        </p:spPr>
        <p:txBody>
          <a:bodyPr wrap="square">
            <a:spAutoFit/>
          </a:bodyPr>
          <a:lstStyle/>
          <a:p>
            <a:pPr>
              <a:lnSpc>
                <a:spcPct val="120000"/>
              </a:lnSpc>
            </a:pPr>
            <a:r>
              <a:rPr lang="en-US" altLang="zh-CN" sz="3200" b="1" dirty="0">
                <a:solidFill>
                  <a:srgbClr val="9966FF"/>
                </a:solidFill>
                <a:latin typeface="+mj-lt"/>
              </a:rPr>
              <a:t>【</a:t>
            </a:r>
            <a:r>
              <a:rPr lang="zh-CN" altLang="en-US" sz="3200" b="1" dirty="0">
                <a:solidFill>
                  <a:srgbClr val="9966FF"/>
                </a:solidFill>
                <a:latin typeface="+mj-lt"/>
              </a:rPr>
              <a:t>语境应用</a:t>
            </a:r>
            <a:r>
              <a:rPr lang="en-US" altLang="zh-CN" sz="3200" b="1" dirty="0">
                <a:solidFill>
                  <a:srgbClr val="9966FF"/>
                </a:solidFill>
                <a:latin typeface="+mj-lt"/>
              </a:rPr>
              <a:t>】</a:t>
            </a:r>
            <a:r>
              <a:rPr lang="zh-CN" altLang="en-US" sz="3200" b="1" dirty="0">
                <a:solidFill>
                  <a:srgbClr val="9966FF"/>
                </a:solidFill>
                <a:latin typeface="+mj-lt"/>
              </a:rPr>
              <a:t>翻译句子。</a:t>
            </a:r>
          </a:p>
          <a:p>
            <a:pPr>
              <a:lnSpc>
                <a:spcPct val="120000"/>
              </a:lnSpc>
            </a:pPr>
            <a:r>
              <a:rPr lang="en-US" altLang="zh-CN" sz="3200" b="1" dirty="0">
                <a:latin typeface="+mj-lt"/>
              </a:rPr>
              <a:t>1) </a:t>
            </a:r>
            <a:r>
              <a:rPr lang="zh-CN" altLang="en-US" sz="3200" b="1" dirty="0">
                <a:latin typeface="+mj-lt"/>
              </a:rPr>
              <a:t>中国在世界事务中的影响力已大大扩大。</a:t>
            </a:r>
          </a:p>
          <a:p>
            <a:pPr>
              <a:lnSpc>
                <a:spcPct val="120000"/>
              </a:lnSpc>
            </a:pPr>
            <a:endParaRPr lang="zh-CN" altLang="en-US" sz="3200" b="1" dirty="0">
              <a:latin typeface="+mj-lt"/>
            </a:endParaRPr>
          </a:p>
          <a:p>
            <a:pPr>
              <a:lnSpc>
                <a:spcPct val="120000"/>
              </a:lnSpc>
            </a:pPr>
            <a:r>
              <a:rPr lang="en-US" altLang="zh-CN" sz="3200" b="1" dirty="0">
                <a:latin typeface="+mj-lt"/>
              </a:rPr>
              <a:t>2) </a:t>
            </a:r>
            <a:r>
              <a:rPr lang="zh-CN" altLang="en-US" sz="3200" b="1" dirty="0">
                <a:latin typeface="+mj-lt"/>
              </a:rPr>
              <a:t>这个公园一直延伸到河边。</a:t>
            </a:r>
          </a:p>
          <a:p>
            <a:pPr>
              <a:lnSpc>
                <a:spcPct val="120000"/>
              </a:lnSpc>
            </a:pPr>
            <a:endParaRPr lang="zh-CN" altLang="en-US" sz="3200" b="1" dirty="0">
              <a:latin typeface="+mj-lt"/>
            </a:endParaRPr>
          </a:p>
          <a:p>
            <a:pPr>
              <a:lnSpc>
                <a:spcPct val="120000"/>
              </a:lnSpc>
            </a:pPr>
            <a:r>
              <a:rPr lang="en-US" altLang="zh-CN" sz="3200" b="1" dirty="0">
                <a:latin typeface="+mj-lt"/>
              </a:rPr>
              <a:t>3)</a:t>
            </a:r>
            <a:r>
              <a:rPr lang="zh-CN" altLang="en-US" sz="3200" b="1" dirty="0">
                <a:latin typeface="+mj-lt"/>
              </a:rPr>
              <a:t>大家都玩得很开心，所以我们把聚会又延长了一个小时。</a:t>
            </a:r>
            <a:endParaRPr lang="zh-CN" altLang="en-US" dirty="0"/>
          </a:p>
        </p:txBody>
      </p:sp>
      <p:sp>
        <p:nvSpPr>
          <p:cNvPr id="5" name="矩形 4"/>
          <p:cNvSpPr/>
          <p:nvPr/>
        </p:nvSpPr>
        <p:spPr>
          <a:xfrm>
            <a:off x="1198078" y="1985095"/>
            <a:ext cx="10094595" cy="583565"/>
          </a:xfrm>
          <a:prstGeom prst="rect">
            <a:avLst/>
          </a:prstGeom>
        </p:spPr>
        <p:txBody>
          <a:bodyPr wrap="none">
            <a:spAutoFit/>
          </a:bodyPr>
          <a:lstStyle/>
          <a:p>
            <a:pPr algn="l"/>
            <a:r>
              <a:rPr lang="en-US" altLang="zh-CN" sz="3200" b="1" dirty="0">
                <a:solidFill>
                  <a:srgbClr val="FF0000"/>
                </a:solidFill>
              </a:rPr>
              <a:t> </a:t>
            </a:r>
            <a:r>
              <a:rPr lang="en-US" altLang="zh-CN" sz="3200" b="1" dirty="0">
                <a:solidFill>
                  <a:srgbClr val="FF0000"/>
                </a:solidFill>
                <a:sym typeface="+mn-ea"/>
              </a:rPr>
              <a:t>China has greatly </a:t>
            </a:r>
            <a:r>
              <a:rPr lang="en-US" altLang="zh-CN" sz="3200" b="1" u="sng" dirty="0">
                <a:solidFill>
                  <a:srgbClr val="FF0000"/>
                </a:solidFill>
                <a:sym typeface="+mn-ea"/>
              </a:rPr>
              <a:t>extended its influence</a:t>
            </a:r>
            <a:r>
              <a:rPr lang="en-US" altLang="zh-CN" sz="3200" b="1" dirty="0">
                <a:solidFill>
                  <a:srgbClr val="FF0000"/>
                </a:solidFill>
                <a:sym typeface="+mn-ea"/>
              </a:rPr>
              <a:t> in world affairs.</a:t>
            </a:r>
          </a:p>
        </p:txBody>
      </p:sp>
      <p:sp>
        <p:nvSpPr>
          <p:cNvPr id="6" name="矩形 5"/>
          <p:cNvSpPr/>
          <p:nvPr/>
        </p:nvSpPr>
        <p:spPr>
          <a:xfrm>
            <a:off x="1298298" y="3188481"/>
            <a:ext cx="6479402" cy="584775"/>
          </a:xfrm>
          <a:prstGeom prst="rect">
            <a:avLst/>
          </a:prstGeom>
        </p:spPr>
        <p:txBody>
          <a:bodyPr wrap="none">
            <a:spAutoFit/>
          </a:bodyPr>
          <a:lstStyle/>
          <a:p>
            <a:r>
              <a:rPr lang="en-US" altLang="zh-CN" sz="3200" b="1" dirty="0">
                <a:solidFill>
                  <a:srgbClr val="FF0000"/>
                </a:solidFill>
              </a:rPr>
              <a:t>The park extends as far as the river.</a:t>
            </a:r>
            <a:endParaRPr lang="zh-CN" altLang="en-US" sz="3200" b="1" dirty="0">
              <a:solidFill>
                <a:srgbClr val="FF0000"/>
              </a:solidFill>
            </a:endParaRPr>
          </a:p>
        </p:txBody>
      </p:sp>
      <p:sp>
        <p:nvSpPr>
          <p:cNvPr id="7" name="矩形 6"/>
          <p:cNvSpPr/>
          <p:nvPr/>
        </p:nvSpPr>
        <p:spPr>
          <a:xfrm>
            <a:off x="1198079" y="4320939"/>
            <a:ext cx="9892288" cy="1076325"/>
          </a:xfrm>
          <a:prstGeom prst="rect">
            <a:avLst/>
          </a:prstGeom>
        </p:spPr>
        <p:txBody>
          <a:bodyPr wrap="square">
            <a:spAutoFit/>
          </a:bodyPr>
          <a:lstStyle/>
          <a:p>
            <a:r>
              <a:rPr lang="en-US" altLang="zh-CN" sz="3200" b="1" dirty="0">
                <a:solidFill>
                  <a:srgbClr val="FF0000"/>
                </a:solidFill>
              </a:rPr>
              <a:t>Everyone had a good time, so we extended the party for one more hour.</a:t>
            </a:r>
            <a:endParaRPr lang="zh-CN" altLang="en-US" sz="3200" b="1" dirty="0">
              <a:solidFill>
                <a:srgbClr val="FF0000"/>
              </a:solidFil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wipe(left)">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文本框 1"/>
          <p:cNvSpPr txBox="1"/>
          <p:nvPr/>
        </p:nvSpPr>
        <p:spPr>
          <a:xfrm>
            <a:off x="406611" y="272395"/>
            <a:ext cx="10723418" cy="1272540"/>
          </a:xfrm>
          <a:prstGeom prst="rect">
            <a:avLst/>
          </a:prstGeom>
          <a:noFill/>
        </p:spPr>
        <p:txBody>
          <a:bodyPr wrap="square" rtlCol="0">
            <a:spAutoFit/>
          </a:bodyPr>
          <a:lstStyle/>
          <a:p>
            <a:pPr marL="360680" indent="-360680">
              <a:lnSpc>
                <a:spcPct val="120000"/>
              </a:lnSpc>
            </a:pPr>
            <a:r>
              <a:rPr lang="en-US" altLang="zh-CN" sz="3200" b="1" dirty="0"/>
              <a:t>There is concern that the construction company that built the tower block had not followed fire safety rules. </a:t>
            </a:r>
          </a:p>
        </p:txBody>
      </p:sp>
      <p:sp>
        <p:nvSpPr>
          <p:cNvPr id="3" name="椭圆 2"/>
          <p:cNvSpPr/>
          <p:nvPr/>
        </p:nvSpPr>
        <p:spPr>
          <a:xfrm>
            <a:off x="3773264" y="347550"/>
            <a:ext cx="858982" cy="623455"/>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椭圆 3"/>
          <p:cNvSpPr/>
          <p:nvPr/>
        </p:nvSpPr>
        <p:spPr>
          <a:xfrm>
            <a:off x="9151797" y="374271"/>
            <a:ext cx="858982" cy="623455"/>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文本框 4"/>
          <p:cNvSpPr txBox="1"/>
          <p:nvPr/>
        </p:nvSpPr>
        <p:spPr>
          <a:xfrm>
            <a:off x="763661" y="4625109"/>
            <a:ext cx="10418619" cy="1865126"/>
          </a:xfrm>
          <a:prstGeom prst="rect">
            <a:avLst/>
          </a:prstGeom>
          <a:noFill/>
        </p:spPr>
        <p:txBody>
          <a:bodyPr wrap="square" rtlCol="0">
            <a:spAutoFit/>
          </a:bodyPr>
          <a:lstStyle/>
          <a:p>
            <a:pPr>
              <a:lnSpc>
                <a:spcPct val="120000"/>
              </a:lnSpc>
            </a:pPr>
            <a:r>
              <a:rPr lang="en-US" altLang="zh-CN" sz="3200" b="1" dirty="0">
                <a:solidFill>
                  <a:srgbClr val="9966FF"/>
                </a:solidFill>
              </a:rPr>
              <a:t>【</a:t>
            </a:r>
            <a:r>
              <a:rPr lang="zh-CN" altLang="en-US" sz="3200" b="1" dirty="0">
                <a:solidFill>
                  <a:srgbClr val="9966FF"/>
                </a:solidFill>
              </a:rPr>
              <a:t>翻译</a:t>
            </a:r>
            <a:r>
              <a:rPr lang="en-US" altLang="zh-CN" sz="3200" b="1" dirty="0">
                <a:solidFill>
                  <a:srgbClr val="9966FF"/>
                </a:solidFill>
              </a:rPr>
              <a:t>】</a:t>
            </a:r>
          </a:p>
          <a:p>
            <a:pPr marL="82550" indent="-82550">
              <a:lnSpc>
                <a:spcPct val="120000"/>
              </a:lnSpc>
            </a:pPr>
            <a:r>
              <a:rPr lang="zh-CN" altLang="en-US" sz="3200" b="1" dirty="0"/>
              <a:t> </a:t>
            </a:r>
            <a:r>
              <a:rPr lang="zh-CN" altLang="en-US" sz="3200" b="1" dirty="0">
                <a:solidFill>
                  <a:srgbClr val="FF0000"/>
                </a:solidFill>
              </a:rPr>
              <a:t>有人担心建造该公寓大楼的建筑公司没有遵守消防安全规定。</a:t>
            </a:r>
          </a:p>
        </p:txBody>
      </p:sp>
      <p:sp>
        <p:nvSpPr>
          <p:cNvPr id="6" name="矩形 5"/>
          <p:cNvSpPr/>
          <p:nvPr/>
        </p:nvSpPr>
        <p:spPr>
          <a:xfrm>
            <a:off x="845523" y="1596913"/>
            <a:ext cx="10398114" cy="3046988"/>
          </a:xfrm>
          <a:prstGeom prst="rect">
            <a:avLst/>
          </a:prstGeom>
          <a:solidFill>
            <a:srgbClr val="E6F1FE"/>
          </a:solidFill>
          <a:ln w="28575">
            <a:noFill/>
          </a:ln>
        </p:spPr>
        <p:txBody>
          <a:bodyPr wrap="square">
            <a:spAutoFit/>
          </a:bodyPr>
          <a:lstStyle/>
          <a:p>
            <a:pPr marL="719455" indent="-719455">
              <a:lnSpc>
                <a:spcPct val="120000"/>
              </a:lnSpc>
            </a:pPr>
            <a:r>
              <a:rPr lang="en-US" altLang="zh-CN" sz="3200" b="1" dirty="0">
                <a:solidFill>
                  <a:srgbClr val="9966FF"/>
                </a:solidFill>
              </a:rPr>
              <a:t>【</a:t>
            </a:r>
            <a:r>
              <a:rPr lang="zh-CN" altLang="en-US" sz="3200" b="1" dirty="0">
                <a:solidFill>
                  <a:srgbClr val="9966FF"/>
                </a:solidFill>
              </a:rPr>
              <a:t>分析</a:t>
            </a:r>
            <a:r>
              <a:rPr lang="en-US" altLang="zh-CN" sz="3200" b="1" dirty="0">
                <a:solidFill>
                  <a:srgbClr val="9966FF"/>
                </a:solidFill>
              </a:rPr>
              <a:t>】</a:t>
            </a:r>
          </a:p>
          <a:p>
            <a:pPr marL="719455" indent="-719455">
              <a:lnSpc>
                <a:spcPct val="120000"/>
              </a:lnSpc>
            </a:pPr>
            <a:r>
              <a:rPr lang="en-US" altLang="zh-CN" sz="3200" b="1" dirty="0"/>
              <a:t>1) </a:t>
            </a:r>
            <a:r>
              <a:rPr lang="en-US" altLang="zh-CN" sz="3200" b="1" dirty="0">
                <a:solidFill>
                  <a:srgbClr val="FF0000"/>
                </a:solidFill>
              </a:rPr>
              <a:t>There is concern that ...  </a:t>
            </a:r>
            <a:r>
              <a:rPr lang="zh-CN" altLang="en-US" sz="3200" b="1" dirty="0"/>
              <a:t>有人担心</a:t>
            </a:r>
            <a:r>
              <a:rPr lang="en-US" altLang="zh-CN" sz="3200" b="1" dirty="0">
                <a:latin typeface="+mn-ea"/>
              </a:rPr>
              <a:t>……</a:t>
            </a:r>
            <a:endParaRPr lang="en-US" altLang="zh-CN" sz="3200" b="1" dirty="0"/>
          </a:p>
          <a:p>
            <a:pPr marL="719455" indent="-719455">
              <a:lnSpc>
                <a:spcPct val="120000"/>
              </a:lnSpc>
            </a:pPr>
            <a:r>
              <a:rPr lang="en-US" altLang="zh-CN" sz="3200" b="1" dirty="0"/>
              <a:t>2) </a:t>
            </a:r>
            <a:r>
              <a:rPr lang="zh-CN" altLang="en-US" sz="3200" b="1" dirty="0">
                <a:solidFill>
                  <a:srgbClr val="FF0000"/>
                </a:solidFill>
              </a:rPr>
              <a:t>第一个</a:t>
            </a:r>
            <a:r>
              <a:rPr lang="en-US" altLang="zh-CN" sz="3200" b="1" dirty="0">
                <a:solidFill>
                  <a:srgbClr val="FF0000"/>
                </a:solidFill>
              </a:rPr>
              <a:t>that</a:t>
            </a:r>
            <a:r>
              <a:rPr lang="zh-CN" altLang="en-US" sz="3200" b="1" dirty="0">
                <a:solidFill>
                  <a:srgbClr val="FF0000"/>
                </a:solidFill>
              </a:rPr>
              <a:t>引导同位语从句，</a:t>
            </a:r>
            <a:r>
              <a:rPr lang="zh-CN" altLang="en-US" sz="3200" b="1" dirty="0"/>
              <a:t>解释说明</a:t>
            </a:r>
            <a:r>
              <a:rPr lang="en-US" altLang="zh-CN" sz="3200" b="1" dirty="0"/>
              <a:t>concern</a:t>
            </a:r>
            <a:r>
              <a:rPr lang="zh-CN" altLang="en-US" sz="3200" b="1" dirty="0"/>
              <a:t>。</a:t>
            </a:r>
            <a:endParaRPr lang="en-US" altLang="zh-CN" sz="3200" b="1" dirty="0"/>
          </a:p>
          <a:p>
            <a:pPr marL="719455" indent="-719455">
              <a:lnSpc>
                <a:spcPct val="120000"/>
              </a:lnSpc>
            </a:pPr>
            <a:r>
              <a:rPr lang="en-US" altLang="zh-CN" sz="3200" b="1" dirty="0"/>
              <a:t>3) </a:t>
            </a:r>
            <a:r>
              <a:rPr lang="zh-CN" altLang="en-US" sz="3200" b="1" dirty="0">
                <a:solidFill>
                  <a:srgbClr val="FF0000"/>
                </a:solidFill>
              </a:rPr>
              <a:t>第二个</a:t>
            </a:r>
            <a:r>
              <a:rPr lang="en-US" altLang="zh-CN" sz="3200" b="1" dirty="0">
                <a:solidFill>
                  <a:srgbClr val="FF0000"/>
                </a:solidFill>
              </a:rPr>
              <a:t>that</a:t>
            </a:r>
            <a:r>
              <a:rPr lang="zh-CN" altLang="en-US" sz="3200" b="1" dirty="0">
                <a:solidFill>
                  <a:srgbClr val="FF0000"/>
                </a:solidFill>
              </a:rPr>
              <a:t>引导定语从句，</a:t>
            </a:r>
            <a:r>
              <a:rPr lang="zh-CN" altLang="en-US" sz="3200" b="1" dirty="0"/>
              <a:t>对</a:t>
            </a:r>
            <a:r>
              <a:rPr lang="en-US" altLang="zh-CN" sz="3200" b="1" dirty="0"/>
              <a:t>the construction company</a:t>
            </a:r>
          </a:p>
          <a:p>
            <a:pPr marL="450850" indent="-450850">
              <a:lnSpc>
                <a:spcPct val="120000"/>
              </a:lnSpc>
            </a:pPr>
            <a:r>
              <a:rPr lang="en-US" altLang="zh-CN" sz="3200" b="1" dirty="0"/>
              <a:t>     </a:t>
            </a:r>
            <a:r>
              <a:rPr lang="zh-CN" altLang="en-US" sz="3200" b="1" dirty="0"/>
              <a:t>加以修饰。</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par>
                                <p:cTn id="8" presetID="22" presetClass="entr" presetSubtype="4"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wipe(down)">
                                      <p:cBhvr>
                                        <p:cTn id="10" dur="500"/>
                                        <p:tgtEl>
                                          <p:spTgt spid="4"/>
                                        </p:tgtEl>
                                      </p:cBhvr>
                                    </p:animEffect>
                                  </p:childTnLst>
                                </p:cTn>
                              </p:par>
                            </p:childTnLst>
                          </p:cTn>
                        </p:par>
                      </p:childTnLst>
                    </p:cTn>
                  </p:par>
                  <p:par>
                    <p:cTn id="11" fill="hold">
                      <p:stCondLst>
                        <p:cond delay="indefinite"/>
                      </p:stCondLst>
                      <p:childTnLst>
                        <p:par>
                          <p:cTn id="12" fill="hold">
                            <p:stCondLst>
                              <p:cond delay="0"/>
                            </p:stCondLst>
                            <p:childTnLst>
                              <p:par>
                                <p:cTn id="13" presetID="14" presetClass="entr" presetSubtype="10" fill="hold" nodeType="clickEffect">
                                  <p:stCondLst>
                                    <p:cond delay="0"/>
                                  </p:stCondLst>
                                  <p:childTnLst>
                                    <p:set>
                                      <p:cBhvr>
                                        <p:cTn id="14" dur="1" fill="hold">
                                          <p:stCondLst>
                                            <p:cond delay="0"/>
                                          </p:stCondLst>
                                        </p:cTn>
                                        <p:tgtEl>
                                          <p:spTgt spid="6">
                                            <p:txEl>
                                              <p:pRg st="0" end="0"/>
                                            </p:txEl>
                                          </p:spTgt>
                                        </p:tgtEl>
                                        <p:attrNameLst>
                                          <p:attrName>style.visibility</p:attrName>
                                        </p:attrNameLst>
                                      </p:cBhvr>
                                      <p:to>
                                        <p:strVal val="visible"/>
                                      </p:to>
                                    </p:set>
                                    <p:animEffect transition="in" filter="randombar(horizontal)">
                                      <p:cBhvr>
                                        <p:cTn id="15" dur="500"/>
                                        <p:tgtEl>
                                          <p:spTgt spid="6">
                                            <p:txEl>
                                              <p:pRg st="0" end="0"/>
                                            </p:txEl>
                                          </p:spTgt>
                                        </p:tgtEl>
                                      </p:cBhvr>
                                    </p:animEffect>
                                  </p:childTnLst>
                                </p:cTn>
                              </p:par>
                              <p:par>
                                <p:cTn id="16" presetID="14" presetClass="entr" presetSubtype="10" fill="hold" nodeType="withEffect">
                                  <p:stCondLst>
                                    <p:cond delay="0"/>
                                  </p:stCondLst>
                                  <p:childTnLst>
                                    <p:set>
                                      <p:cBhvr>
                                        <p:cTn id="17" dur="1" fill="hold">
                                          <p:stCondLst>
                                            <p:cond delay="0"/>
                                          </p:stCondLst>
                                        </p:cTn>
                                        <p:tgtEl>
                                          <p:spTgt spid="6">
                                            <p:txEl>
                                              <p:pRg st="1" end="1"/>
                                            </p:txEl>
                                          </p:spTgt>
                                        </p:tgtEl>
                                        <p:attrNameLst>
                                          <p:attrName>style.visibility</p:attrName>
                                        </p:attrNameLst>
                                      </p:cBhvr>
                                      <p:to>
                                        <p:strVal val="visible"/>
                                      </p:to>
                                    </p:set>
                                    <p:animEffect transition="in" filter="randombar(horizontal)">
                                      <p:cBhvr>
                                        <p:cTn id="18" dur="500"/>
                                        <p:tgtEl>
                                          <p:spTgt spid="6">
                                            <p:txEl>
                                              <p:pRg st="1" end="1"/>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4" presetClass="entr" presetSubtype="10" fill="hold" nodeType="clickEffect">
                                  <p:stCondLst>
                                    <p:cond delay="0"/>
                                  </p:stCondLst>
                                  <p:childTnLst>
                                    <p:set>
                                      <p:cBhvr>
                                        <p:cTn id="22" dur="1" fill="hold">
                                          <p:stCondLst>
                                            <p:cond delay="0"/>
                                          </p:stCondLst>
                                        </p:cTn>
                                        <p:tgtEl>
                                          <p:spTgt spid="6">
                                            <p:txEl>
                                              <p:pRg st="2" end="2"/>
                                            </p:txEl>
                                          </p:spTgt>
                                        </p:tgtEl>
                                        <p:attrNameLst>
                                          <p:attrName>style.visibility</p:attrName>
                                        </p:attrNameLst>
                                      </p:cBhvr>
                                      <p:to>
                                        <p:strVal val="visible"/>
                                      </p:to>
                                    </p:set>
                                    <p:animEffect transition="in" filter="randombar(horizontal)">
                                      <p:cBhvr>
                                        <p:cTn id="23" dur="500"/>
                                        <p:tgtEl>
                                          <p:spTgt spid="6">
                                            <p:txEl>
                                              <p:pRg st="2" end="2"/>
                                            </p:txEl>
                                          </p:spTgt>
                                        </p:tgtEl>
                                      </p:cBhvr>
                                    </p:animEffect>
                                  </p:childTnLst>
                                </p:cTn>
                              </p:par>
                            </p:childTnLst>
                          </p:cTn>
                        </p:par>
                      </p:childTnLst>
                    </p:cTn>
                  </p:par>
                  <p:par>
                    <p:cTn id="24" fill="hold">
                      <p:stCondLst>
                        <p:cond delay="indefinite"/>
                      </p:stCondLst>
                      <p:childTnLst>
                        <p:par>
                          <p:cTn id="25" fill="hold">
                            <p:stCondLst>
                              <p:cond delay="0"/>
                            </p:stCondLst>
                            <p:childTnLst>
                              <p:par>
                                <p:cTn id="26" presetID="14" presetClass="entr" presetSubtype="10" fill="hold" nodeType="clickEffect">
                                  <p:stCondLst>
                                    <p:cond delay="0"/>
                                  </p:stCondLst>
                                  <p:childTnLst>
                                    <p:set>
                                      <p:cBhvr>
                                        <p:cTn id="27" dur="1" fill="hold">
                                          <p:stCondLst>
                                            <p:cond delay="0"/>
                                          </p:stCondLst>
                                        </p:cTn>
                                        <p:tgtEl>
                                          <p:spTgt spid="6">
                                            <p:txEl>
                                              <p:pRg st="3" end="3"/>
                                            </p:txEl>
                                          </p:spTgt>
                                        </p:tgtEl>
                                        <p:attrNameLst>
                                          <p:attrName>style.visibility</p:attrName>
                                        </p:attrNameLst>
                                      </p:cBhvr>
                                      <p:to>
                                        <p:strVal val="visible"/>
                                      </p:to>
                                    </p:set>
                                    <p:animEffect transition="in" filter="randombar(horizontal)">
                                      <p:cBhvr>
                                        <p:cTn id="28" dur="500"/>
                                        <p:tgtEl>
                                          <p:spTgt spid="6">
                                            <p:txEl>
                                              <p:pRg st="3" end="3"/>
                                            </p:txEl>
                                          </p:spTgt>
                                        </p:tgtEl>
                                      </p:cBhvr>
                                    </p:animEffect>
                                  </p:childTnLst>
                                </p:cTn>
                              </p:par>
                              <p:par>
                                <p:cTn id="29" presetID="14" presetClass="entr" presetSubtype="10" fill="hold" nodeType="withEffect">
                                  <p:stCondLst>
                                    <p:cond delay="0"/>
                                  </p:stCondLst>
                                  <p:childTnLst>
                                    <p:set>
                                      <p:cBhvr>
                                        <p:cTn id="30" dur="1" fill="hold">
                                          <p:stCondLst>
                                            <p:cond delay="0"/>
                                          </p:stCondLst>
                                        </p:cTn>
                                        <p:tgtEl>
                                          <p:spTgt spid="6">
                                            <p:txEl>
                                              <p:pRg st="4" end="4"/>
                                            </p:txEl>
                                          </p:spTgt>
                                        </p:tgtEl>
                                        <p:attrNameLst>
                                          <p:attrName>style.visibility</p:attrName>
                                        </p:attrNameLst>
                                      </p:cBhvr>
                                      <p:to>
                                        <p:strVal val="visible"/>
                                      </p:to>
                                    </p:set>
                                    <p:animEffect transition="in" filter="randombar(horizontal)">
                                      <p:cBhvr>
                                        <p:cTn id="31" dur="500"/>
                                        <p:tgtEl>
                                          <p:spTgt spid="6">
                                            <p:txEl>
                                              <p:pRg st="4" end="4"/>
                                            </p:txEl>
                                          </p:spTgt>
                                        </p:tgtEl>
                                      </p:cBhvr>
                                    </p:animEffect>
                                  </p:childTnLst>
                                </p:cTn>
                              </p:par>
                            </p:childTnLst>
                          </p:cTn>
                        </p:par>
                      </p:childTnLst>
                    </p:cTn>
                  </p:par>
                  <p:par>
                    <p:cTn id="32" fill="hold">
                      <p:stCondLst>
                        <p:cond delay="indefinite"/>
                      </p:stCondLst>
                      <p:childTnLst>
                        <p:par>
                          <p:cTn id="33" fill="hold">
                            <p:stCondLst>
                              <p:cond delay="0"/>
                            </p:stCondLst>
                            <p:childTnLst>
                              <p:par>
                                <p:cTn id="34" presetID="22" presetClass="entr" presetSubtype="4" fill="hold" nodeType="clickEffect">
                                  <p:stCondLst>
                                    <p:cond delay="0"/>
                                  </p:stCondLst>
                                  <p:childTnLst>
                                    <p:set>
                                      <p:cBhvr>
                                        <p:cTn id="35" dur="1" fill="hold">
                                          <p:stCondLst>
                                            <p:cond delay="0"/>
                                          </p:stCondLst>
                                        </p:cTn>
                                        <p:tgtEl>
                                          <p:spTgt spid="5">
                                            <p:txEl>
                                              <p:pRg st="0" end="0"/>
                                            </p:txEl>
                                          </p:spTgt>
                                        </p:tgtEl>
                                        <p:attrNameLst>
                                          <p:attrName>style.visibility</p:attrName>
                                        </p:attrNameLst>
                                      </p:cBhvr>
                                      <p:to>
                                        <p:strVal val="visible"/>
                                      </p:to>
                                    </p:set>
                                    <p:animEffect transition="in" filter="wipe(down)">
                                      <p:cBhvr>
                                        <p:cTn id="36" dur="500"/>
                                        <p:tgtEl>
                                          <p:spTgt spid="5">
                                            <p:txEl>
                                              <p:pRg st="0" end="0"/>
                                            </p:txEl>
                                          </p:spTgt>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nodeType="clickEffect">
                                  <p:stCondLst>
                                    <p:cond delay="0"/>
                                  </p:stCondLst>
                                  <p:childTnLst>
                                    <p:set>
                                      <p:cBhvr>
                                        <p:cTn id="40" dur="1" fill="hold">
                                          <p:stCondLst>
                                            <p:cond delay="0"/>
                                          </p:stCondLst>
                                        </p:cTn>
                                        <p:tgtEl>
                                          <p:spTgt spid="5">
                                            <p:txEl>
                                              <p:pRg st="1" end="1"/>
                                            </p:txEl>
                                          </p:spTgt>
                                        </p:tgtEl>
                                        <p:attrNameLst>
                                          <p:attrName>style.visibility</p:attrName>
                                        </p:attrNameLst>
                                      </p:cBhvr>
                                      <p:to>
                                        <p:strVal val="visible"/>
                                      </p:to>
                                    </p:set>
                                    <p:animEffect transition="in" filter="wipe(left)">
                                      <p:cBhvr>
                                        <p:cTn id="41" dur="500"/>
                                        <p:tgtEl>
                                          <p:spTgt spid="5">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矩形 4"/>
          <p:cNvSpPr/>
          <p:nvPr/>
        </p:nvSpPr>
        <p:spPr>
          <a:xfrm>
            <a:off x="149225" y="0"/>
            <a:ext cx="12043410" cy="6587490"/>
          </a:xfrm>
          <a:prstGeom prst="rect">
            <a:avLst/>
          </a:prstGeom>
          <a:noFill/>
          <a:ln w="28575">
            <a:noFill/>
          </a:ln>
          <a:extLst>
            <a:ext uri="{909E8E84-426E-40DD-AFC4-6F175D3DCCD1}">
              <a14:hiddenFill xmlns:a14="http://schemas.microsoft.com/office/drawing/2010/main">
                <a:solidFill>
                  <a:srgbClr val="E6F1FE"/>
                </a:solidFill>
              </a14:hiddenFill>
            </a:ext>
          </a:extLst>
        </p:spPr>
        <p:txBody>
          <a:bodyPr wrap="square">
            <a:spAutoFit/>
          </a:bodyPr>
          <a:lstStyle/>
          <a:p>
            <a:pPr indent="0" eaLnBrk="0" fontAlgn="base" hangingPunct="0">
              <a:lnSpc>
                <a:spcPct val="120000"/>
              </a:lnSpc>
              <a:spcBef>
                <a:spcPct val="0"/>
              </a:spcBef>
              <a:spcAft>
                <a:spcPct val="0"/>
              </a:spcAft>
            </a:pPr>
            <a:r>
              <a:rPr lang="en-US" sz="3200" b="1" dirty="0">
                <a:solidFill>
                  <a:srgbClr val="FF0000"/>
                </a:solidFill>
                <a:cs typeface="Times New Roman" panose="02020503050405090304" pitchFamily="18" charset="0"/>
              </a:rPr>
              <a:t>under construction </a:t>
            </a:r>
            <a:r>
              <a:rPr lang="zh-CN" altLang="en-US" sz="3200" b="1" dirty="0">
                <a:solidFill>
                  <a:schemeClr val="tx1"/>
                </a:solidFill>
                <a:cs typeface="Times New Roman" panose="02020503050405090304" pitchFamily="18" charset="0"/>
              </a:rPr>
              <a:t>在建造中</a:t>
            </a:r>
          </a:p>
          <a:p>
            <a:pPr indent="0" eaLnBrk="0" fontAlgn="base" hangingPunct="0">
              <a:lnSpc>
                <a:spcPct val="120000"/>
              </a:lnSpc>
              <a:spcBef>
                <a:spcPct val="0"/>
              </a:spcBef>
              <a:spcAft>
                <a:spcPct val="0"/>
              </a:spcAft>
            </a:pPr>
            <a:r>
              <a:rPr lang="en-US" altLang="zh-CN" sz="3200" b="1" dirty="0">
                <a:solidFill>
                  <a:srgbClr val="FF0000"/>
                </a:solidFill>
                <a:cs typeface="Times New Roman" panose="02020503050405090304" pitchFamily="18" charset="0"/>
              </a:rPr>
              <a:t>the construction industry </a:t>
            </a:r>
            <a:r>
              <a:rPr lang="zh-CN" altLang="en-US" sz="3200" b="1" dirty="0">
                <a:solidFill>
                  <a:schemeClr val="tx1"/>
                </a:solidFill>
                <a:cs typeface="Times New Roman" panose="02020503050405090304" pitchFamily="18" charset="0"/>
              </a:rPr>
              <a:t>建筑业</a:t>
            </a:r>
          </a:p>
          <a:p>
            <a:pPr indent="0" eaLnBrk="0" fontAlgn="base" hangingPunct="0">
              <a:lnSpc>
                <a:spcPct val="120000"/>
              </a:lnSpc>
              <a:spcBef>
                <a:spcPct val="0"/>
              </a:spcBef>
              <a:spcAft>
                <a:spcPct val="0"/>
              </a:spcAft>
            </a:pPr>
            <a:r>
              <a:rPr lang="en-US" altLang="zh-CN" sz="3200" b="1" dirty="0">
                <a:solidFill>
                  <a:srgbClr val="FF0000"/>
                </a:solidFill>
                <a:cs typeface="Times New Roman" panose="02020503050405090304" pitchFamily="18" charset="0"/>
              </a:rPr>
              <a:t>a simple wooden construction</a:t>
            </a:r>
            <a:r>
              <a:rPr lang="en-US" altLang="zh-CN" sz="3200" b="1" dirty="0">
                <a:solidFill>
                  <a:schemeClr val="tx1"/>
                </a:solidFill>
                <a:cs typeface="Times New Roman" panose="02020503050405090304" pitchFamily="18" charset="0"/>
              </a:rPr>
              <a:t> </a:t>
            </a:r>
            <a:r>
              <a:rPr lang="zh-CN" altLang="en-US" sz="3200" b="1" dirty="0">
                <a:solidFill>
                  <a:schemeClr val="tx1"/>
                </a:solidFill>
                <a:cs typeface="Times New Roman" panose="02020503050405090304" pitchFamily="18" charset="0"/>
              </a:rPr>
              <a:t>一栋简单的木质建筑</a:t>
            </a:r>
            <a:r>
              <a:rPr lang="en-US" altLang="zh-CN" sz="3200" b="1" dirty="0">
                <a:solidFill>
                  <a:schemeClr val="tx1"/>
                </a:solidFill>
                <a:cs typeface="Times New Roman" panose="02020503050405090304" pitchFamily="18" charset="0"/>
              </a:rPr>
              <a:t> (structure, building)</a:t>
            </a:r>
          </a:p>
          <a:p>
            <a:pPr indent="0" eaLnBrk="0" fontAlgn="base" hangingPunct="0">
              <a:lnSpc>
                <a:spcPct val="120000"/>
              </a:lnSpc>
              <a:spcBef>
                <a:spcPct val="0"/>
              </a:spcBef>
              <a:spcAft>
                <a:spcPct val="0"/>
              </a:spcAft>
            </a:pPr>
            <a:endParaRPr lang="zh-CN" altLang="en-US" sz="3200" b="1" dirty="0">
              <a:solidFill>
                <a:schemeClr val="tx1"/>
              </a:solidFill>
              <a:cs typeface="Times New Roman" panose="02020503050405090304" pitchFamily="18" charset="0"/>
            </a:endParaRPr>
          </a:p>
          <a:p>
            <a:pPr indent="0" eaLnBrk="0" fontAlgn="base" hangingPunct="0">
              <a:lnSpc>
                <a:spcPct val="120000"/>
              </a:lnSpc>
              <a:spcBef>
                <a:spcPct val="0"/>
              </a:spcBef>
              <a:spcAft>
                <a:spcPct val="0"/>
              </a:spcAft>
            </a:pPr>
            <a:r>
              <a:rPr lang="en-US" altLang="zh-CN" sz="3200" b="1" dirty="0">
                <a:solidFill>
                  <a:srgbClr val="FF0000"/>
                </a:solidFill>
                <a:cs typeface="Times New Roman" panose="02020503050405090304" pitchFamily="18" charset="0"/>
              </a:rPr>
              <a:t>construct v. </a:t>
            </a:r>
          </a:p>
          <a:p>
            <a:pPr indent="0" eaLnBrk="0" fontAlgn="base" hangingPunct="0">
              <a:lnSpc>
                <a:spcPct val="120000"/>
              </a:lnSpc>
              <a:spcBef>
                <a:spcPct val="0"/>
              </a:spcBef>
              <a:spcAft>
                <a:spcPct val="0"/>
              </a:spcAft>
            </a:pPr>
            <a:r>
              <a:rPr lang="en-US" altLang="zh-CN" sz="3200" b="1" dirty="0">
                <a:solidFill>
                  <a:schemeClr val="tx1"/>
                </a:solidFill>
                <a:cs typeface="Times New Roman" panose="02020503050405090304" pitchFamily="18" charset="0"/>
              </a:rPr>
              <a:t>They </a:t>
            </a:r>
            <a:r>
              <a:rPr lang="en-US" altLang="zh-CN" sz="3200" b="1" dirty="0">
                <a:solidFill>
                  <a:srgbClr val="FF0000"/>
                </a:solidFill>
                <a:cs typeface="Times New Roman" panose="02020503050405090304" pitchFamily="18" charset="0"/>
              </a:rPr>
              <a:t>constructed</a:t>
            </a:r>
            <a:r>
              <a:rPr lang="en-US" altLang="zh-CN" sz="3200" b="1" dirty="0">
                <a:solidFill>
                  <a:schemeClr val="tx1"/>
                </a:solidFill>
                <a:cs typeface="Times New Roman" panose="02020503050405090304" pitchFamily="18" charset="0"/>
              </a:rPr>
              <a:t> a shelter </a:t>
            </a:r>
            <a:r>
              <a:rPr lang="en-US" altLang="zh-CN" sz="3200" b="1" dirty="0">
                <a:solidFill>
                  <a:srgbClr val="FF0000"/>
                </a:solidFill>
                <a:cs typeface="Times New Roman" panose="02020503050405090304" pitchFamily="18" charset="0"/>
              </a:rPr>
              <a:t>out of/from </a:t>
            </a:r>
            <a:r>
              <a:rPr lang="en-US" altLang="zh-CN" sz="3200" b="1" dirty="0">
                <a:solidFill>
                  <a:schemeClr val="tx1"/>
                </a:solidFill>
                <a:cs typeface="Times New Roman" panose="02020503050405090304" pitchFamily="18" charset="0"/>
              </a:rPr>
              <a:t>fallen branches.</a:t>
            </a:r>
          </a:p>
          <a:p>
            <a:pPr indent="0" eaLnBrk="0" fontAlgn="base" hangingPunct="0">
              <a:lnSpc>
                <a:spcPct val="120000"/>
              </a:lnSpc>
              <a:spcBef>
                <a:spcPct val="0"/>
              </a:spcBef>
              <a:spcAft>
                <a:spcPct val="0"/>
              </a:spcAft>
            </a:pPr>
            <a:r>
              <a:rPr lang="en-US" altLang="zh-CN" sz="3200" b="1" dirty="0">
                <a:solidFill>
                  <a:schemeClr val="tx1"/>
                </a:solidFill>
                <a:cs typeface="Times New Roman" panose="02020503050405090304" pitchFamily="18" charset="0"/>
              </a:rPr>
              <a:t>他们用落下的枯树枝搭了个窝棚。</a:t>
            </a:r>
          </a:p>
          <a:p>
            <a:pPr indent="0" eaLnBrk="0" fontAlgn="base" hangingPunct="0">
              <a:lnSpc>
                <a:spcPct val="120000"/>
              </a:lnSpc>
              <a:spcBef>
                <a:spcPct val="0"/>
              </a:spcBef>
              <a:spcAft>
                <a:spcPct val="0"/>
              </a:spcAft>
            </a:pPr>
            <a:r>
              <a:rPr lang="en-US" altLang="zh-CN" sz="3200" b="1" dirty="0">
                <a:solidFill>
                  <a:schemeClr val="tx1"/>
                </a:solidFill>
                <a:cs typeface="Times New Roman" panose="02020503050405090304" pitchFamily="18" charset="0"/>
              </a:rPr>
              <a:t>You must learn how to </a:t>
            </a:r>
            <a:r>
              <a:rPr lang="en-US" altLang="zh-CN" sz="3200" b="1" dirty="0">
                <a:solidFill>
                  <a:srgbClr val="FF0000"/>
                </a:solidFill>
                <a:cs typeface="Times New Roman" panose="02020503050405090304" pitchFamily="18" charset="0"/>
              </a:rPr>
              <a:t>construct a logical argument</a:t>
            </a:r>
            <a:r>
              <a:rPr lang="en-US" altLang="zh-CN" sz="3200" b="1" dirty="0">
                <a:solidFill>
                  <a:schemeClr val="tx1"/>
                </a:solidFill>
                <a:cs typeface="Times New Roman" panose="02020503050405090304" pitchFamily="18" charset="0"/>
              </a:rPr>
              <a:t>.</a:t>
            </a:r>
          </a:p>
          <a:p>
            <a:pPr indent="0" eaLnBrk="0" fontAlgn="base" hangingPunct="0">
              <a:lnSpc>
                <a:spcPct val="120000"/>
              </a:lnSpc>
              <a:spcBef>
                <a:spcPct val="0"/>
              </a:spcBef>
              <a:spcAft>
                <a:spcPct val="0"/>
              </a:spcAft>
            </a:pPr>
            <a:r>
              <a:rPr lang="en-US" altLang="zh-CN" sz="3200" b="1" dirty="0">
                <a:solidFill>
                  <a:schemeClr val="tx1"/>
                </a:solidFill>
                <a:cs typeface="Times New Roman" panose="02020503050405090304" pitchFamily="18" charset="0"/>
              </a:rPr>
              <a:t>你必须学会怎样</a:t>
            </a:r>
            <a:r>
              <a:rPr lang="en-US" altLang="zh-CN" sz="3200" b="1" u="sng" dirty="0">
                <a:solidFill>
                  <a:schemeClr val="tx1"/>
                </a:solidFill>
                <a:cs typeface="Times New Roman" panose="02020503050405090304" pitchFamily="18" charset="0"/>
              </a:rPr>
              <a:t>确立合乎逻辑的论点</a:t>
            </a:r>
            <a:r>
              <a:rPr lang="en-US" altLang="zh-CN" sz="3200" b="1" dirty="0">
                <a:solidFill>
                  <a:schemeClr val="tx1"/>
                </a:solidFill>
                <a:cs typeface="Times New Roman" panose="02020503050405090304" pitchFamily="18" charset="0"/>
              </a:rPr>
              <a:t>。</a:t>
            </a:r>
          </a:p>
          <a:p>
            <a:pPr indent="0" eaLnBrk="0" fontAlgn="base" hangingPunct="0">
              <a:lnSpc>
                <a:spcPct val="120000"/>
              </a:lnSpc>
              <a:spcBef>
                <a:spcPct val="0"/>
              </a:spcBef>
              <a:spcAft>
                <a:spcPct val="0"/>
              </a:spcAft>
            </a:pPr>
            <a:r>
              <a:rPr lang="en-US" altLang="zh-CN" sz="3200" b="1" dirty="0">
                <a:solidFill>
                  <a:srgbClr val="FF0000"/>
                </a:solidFill>
                <a:cs typeface="Times New Roman" panose="02020503050405090304" pitchFamily="18" charset="0"/>
              </a:rPr>
              <a:t>a well-constructed novel </a:t>
            </a:r>
            <a:r>
              <a:rPr lang="en-US" altLang="zh-CN" sz="3200" b="1" dirty="0">
                <a:solidFill>
                  <a:schemeClr val="tx1"/>
                </a:solidFill>
                <a:cs typeface="Times New Roman" panose="02020503050405090304" pitchFamily="18" charset="0"/>
              </a:rPr>
              <a:t>构思巧妙的小说</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5">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5">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5" name="矩形 4"/>
          <p:cNvSpPr/>
          <p:nvPr/>
        </p:nvSpPr>
        <p:spPr>
          <a:xfrm>
            <a:off x="149225" y="0"/>
            <a:ext cx="12043410" cy="4815840"/>
          </a:xfrm>
          <a:prstGeom prst="rect">
            <a:avLst/>
          </a:prstGeom>
          <a:noFill/>
          <a:ln w="28575">
            <a:noFill/>
          </a:ln>
          <a:extLst>
            <a:ext uri="{909E8E84-426E-40DD-AFC4-6F175D3DCCD1}">
              <a14:hiddenFill xmlns:a14="http://schemas.microsoft.com/office/drawing/2010/main">
                <a:solidFill>
                  <a:srgbClr val="E6F1FE"/>
                </a:solidFill>
              </a14:hiddenFill>
            </a:ext>
          </a:extLst>
        </p:spPr>
        <p:txBody>
          <a:bodyPr wrap="square">
            <a:spAutoFit/>
          </a:bodyPr>
          <a:lstStyle/>
          <a:p>
            <a:pPr indent="0" eaLnBrk="0" fontAlgn="base" hangingPunct="0">
              <a:lnSpc>
                <a:spcPct val="120000"/>
              </a:lnSpc>
              <a:spcBef>
                <a:spcPct val="0"/>
              </a:spcBef>
              <a:spcAft>
                <a:spcPct val="0"/>
              </a:spcAft>
            </a:pPr>
            <a:r>
              <a:rPr lang="en-US" altLang="zh-CN" sz="3200" b="1" dirty="0">
                <a:solidFill>
                  <a:srgbClr val="FF0000"/>
                </a:solidFill>
                <a:cs typeface="Times New Roman" panose="02020503050405090304" pitchFamily="18" charset="0"/>
              </a:rPr>
              <a:t>constructive </a:t>
            </a:r>
            <a:r>
              <a:rPr lang="en-US" altLang="zh-CN" sz="3200" b="1" i="1" dirty="0">
                <a:solidFill>
                  <a:srgbClr val="FF0000"/>
                </a:solidFill>
                <a:latin typeface="Times New Roman Bold Italic" panose="02020503050405090304" charset="0"/>
                <a:cs typeface="Times New Roman Bold Italic" panose="02020503050405090304" charset="0"/>
              </a:rPr>
              <a:t>adj.</a:t>
            </a:r>
            <a:r>
              <a:rPr lang="en-US" altLang="zh-CN" sz="3200" b="1" i="1" dirty="0">
                <a:solidFill>
                  <a:srgbClr val="0000FF"/>
                </a:solidFill>
                <a:latin typeface="Times New Roman Bold Italic" panose="02020503050405090304" charset="0"/>
                <a:cs typeface="Times New Roman Bold Italic" panose="02020503050405090304" charset="0"/>
              </a:rPr>
              <a:t> useful and helpful</a:t>
            </a:r>
            <a:r>
              <a:rPr lang="en-US" altLang="zh-CN" sz="3200" b="1" i="1" dirty="0">
                <a:solidFill>
                  <a:srgbClr val="FF0000"/>
                </a:solidFill>
                <a:latin typeface="Times New Roman Bold Italic" panose="02020503050405090304" charset="0"/>
                <a:cs typeface="Times New Roman Bold Italic" panose="02020503050405090304" charset="0"/>
              </a:rPr>
              <a:t> </a:t>
            </a:r>
            <a:r>
              <a:rPr lang="zh-CN" altLang="en-US" sz="3200" b="1" dirty="0">
                <a:solidFill>
                  <a:srgbClr val="FF0000"/>
                </a:solidFill>
                <a:latin typeface="Times New Roman Bold Italic" panose="02020503050405090304" charset="0"/>
                <a:cs typeface="Times New Roman Bold Italic" panose="02020503050405090304" charset="0"/>
              </a:rPr>
              <a:t>建设性的</a:t>
            </a:r>
            <a:endParaRPr lang="en-US" altLang="zh-CN" sz="3200" b="1" dirty="0">
              <a:solidFill>
                <a:srgbClr val="FF0000"/>
              </a:solidFill>
              <a:cs typeface="Times New Roman" panose="02020503050405090304" pitchFamily="18" charset="0"/>
            </a:endParaRPr>
          </a:p>
          <a:p>
            <a:pPr indent="0" eaLnBrk="0" fontAlgn="base" hangingPunct="0">
              <a:lnSpc>
                <a:spcPct val="120000"/>
              </a:lnSpc>
              <a:spcBef>
                <a:spcPct val="0"/>
              </a:spcBef>
              <a:spcAft>
                <a:spcPct val="0"/>
              </a:spcAft>
            </a:pPr>
            <a:endParaRPr lang="en-US" altLang="zh-CN" sz="3200" b="1" dirty="0">
              <a:solidFill>
                <a:schemeClr val="tx1"/>
              </a:solidFill>
              <a:cs typeface="Times New Roman" panose="02020503050405090304" pitchFamily="18" charset="0"/>
            </a:endParaRPr>
          </a:p>
          <a:p>
            <a:pPr indent="0" eaLnBrk="0" fontAlgn="base" hangingPunct="0">
              <a:lnSpc>
                <a:spcPct val="120000"/>
              </a:lnSpc>
              <a:spcBef>
                <a:spcPct val="0"/>
              </a:spcBef>
              <a:spcAft>
                <a:spcPct val="0"/>
              </a:spcAft>
            </a:pPr>
            <a:r>
              <a:rPr sz="3200" b="1" dirty="0">
                <a:solidFill>
                  <a:srgbClr val="FF0000"/>
                </a:solidFill>
                <a:cs typeface="Times New Roman" panose="02020503050405090304" pitchFamily="18" charset="0"/>
              </a:rPr>
              <a:t>constructive criticism/suggestions/advice</a:t>
            </a:r>
          </a:p>
          <a:p>
            <a:pPr indent="0" eaLnBrk="0" fontAlgn="base" hangingPunct="0">
              <a:lnSpc>
                <a:spcPct val="120000"/>
              </a:lnSpc>
              <a:spcBef>
                <a:spcPct val="0"/>
              </a:spcBef>
              <a:spcAft>
                <a:spcPct val="0"/>
              </a:spcAft>
            </a:pPr>
            <a:r>
              <a:rPr sz="3200" b="1" dirty="0">
                <a:solidFill>
                  <a:schemeClr val="tx1"/>
                </a:solidFill>
                <a:cs typeface="Times New Roman" panose="02020503050405090304" pitchFamily="18" charset="0"/>
              </a:rPr>
              <a:t>建设性的批评／提议／忠告</a:t>
            </a:r>
          </a:p>
          <a:p>
            <a:pPr indent="0" eaLnBrk="0" fontAlgn="base" hangingPunct="0">
              <a:lnSpc>
                <a:spcPct val="120000"/>
              </a:lnSpc>
              <a:spcBef>
                <a:spcPct val="0"/>
              </a:spcBef>
              <a:spcAft>
                <a:spcPct val="0"/>
              </a:spcAft>
            </a:pPr>
            <a:r>
              <a:rPr sz="3200" b="1" dirty="0">
                <a:solidFill>
                  <a:schemeClr val="tx1"/>
                </a:solidFill>
                <a:cs typeface="Times New Roman" panose="02020503050405090304" pitchFamily="18" charset="0"/>
              </a:rPr>
              <a:t>His work involved helping hyperactive children to use their energy </a:t>
            </a:r>
            <a:r>
              <a:rPr sz="3200" b="1" u="sng" dirty="0">
                <a:solidFill>
                  <a:srgbClr val="FF0000"/>
                </a:solidFill>
                <a:cs typeface="Times New Roman" panose="02020503050405090304" pitchFamily="18" charset="0"/>
              </a:rPr>
              <a:t>in a constructive way.</a:t>
            </a:r>
            <a:endParaRPr sz="3200" b="1" dirty="0">
              <a:solidFill>
                <a:schemeClr val="tx1"/>
              </a:solidFill>
              <a:cs typeface="Times New Roman" panose="02020503050405090304" pitchFamily="18" charset="0"/>
            </a:endParaRPr>
          </a:p>
          <a:p>
            <a:pPr indent="0" eaLnBrk="0" fontAlgn="base" hangingPunct="0">
              <a:lnSpc>
                <a:spcPct val="120000"/>
              </a:lnSpc>
              <a:spcBef>
                <a:spcPct val="0"/>
              </a:spcBef>
              <a:spcAft>
                <a:spcPct val="0"/>
              </a:spcAft>
            </a:pPr>
            <a:r>
              <a:rPr lang="zh-CN" sz="3200" b="1" dirty="0">
                <a:solidFill>
                  <a:schemeClr val="tx1"/>
                </a:solidFill>
                <a:cs typeface="Times New Roman" panose="02020503050405090304" pitchFamily="18" charset="0"/>
              </a:rPr>
              <a:t>用建设性的方法的</a:t>
            </a:r>
          </a:p>
          <a:p>
            <a:pPr indent="0" eaLnBrk="0" fontAlgn="base" hangingPunct="0">
              <a:lnSpc>
                <a:spcPct val="120000"/>
              </a:lnSpc>
              <a:spcBef>
                <a:spcPct val="0"/>
              </a:spcBef>
              <a:spcAft>
                <a:spcPct val="0"/>
              </a:spcAft>
            </a:pPr>
            <a:r>
              <a:rPr sz="3200" b="1" dirty="0">
                <a:solidFill>
                  <a:srgbClr val="FF0000"/>
                </a:solidFill>
                <a:cs typeface="Times New Roman" panose="02020503050405090304" pitchFamily="18" charset="0"/>
              </a:rPr>
              <a:t>play a constructive role </a:t>
            </a:r>
            <a:r>
              <a:rPr sz="3200" b="1" dirty="0">
                <a:solidFill>
                  <a:schemeClr val="tx1"/>
                </a:solidFill>
                <a:cs typeface="Times New Roman" panose="02020503050405090304" pitchFamily="18" charset="0"/>
              </a:rPr>
              <a:t>发挥建设性的作用</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0" y="0"/>
            <a:ext cx="12035790" cy="6858000"/>
          </a:xfrm>
          <a:prstGeom prst="rect">
            <a:avLst/>
          </a:prstGeom>
        </p:spPr>
        <p:txBody>
          <a:bodyPr>
            <a:noAutofit/>
          </a:bodyPr>
          <a:lstStyle/>
          <a:p>
            <a:pPr indent="0" fontAlgn="auto">
              <a:lnSpc>
                <a:spcPts val="4440"/>
              </a:lnSpc>
            </a:pPr>
            <a:r>
              <a:rPr lang="en-US" altLang="zh-CN" sz="3200" b="1">
                <a:solidFill>
                  <a:srgbClr val="FF0000"/>
                </a:solidFill>
                <a:latin typeface="Times New Roman Bold" panose="02020503050405090304" charset="0"/>
                <a:cs typeface="Times New Roman Bold" panose="02020503050405090304" charset="0"/>
              </a:rPr>
              <a:t>(vi.) </a:t>
            </a:r>
            <a:r>
              <a:rPr lang="en-US" altLang="zh-CN" sz="3200" b="1">
                <a:solidFill>
                  <a:schemeClr val="tx1"/>
                </a:solidFill>
                <a:latin typeface="Times New Roman Bold" panose="02020503050405090304" charset="0"/>
                <a:cs typeface="Times New Roman Bold" panose="02020503050405090304" charset="0"/>
              </a:rPr>
              <a:t>She almost </a:t>
            </a:r>
            <a:r>
              <a:rPr lang="en-US" altLang="zh-CN" sz="3200" b="1">
                <a:solidFill>
                  <a:srgbClr val="FF0000"/>
                </a:solidFill>
                <a:latin typeface="Times New Roman Bold" panose="02020503050405090304" charset="0"/>
                <a:cs typeface="Times New Roman Bold" panose="02020503050405090304" charset="0"/>
              </a:rPr>
              <a:t>choked to death</a:t>
            </a:r>
            <a:r>
              <a:rPr lang="en-US" altLang="zh-CN" sz="3200" b="1">
                <a:solidFill>
                  <a:schemeClr val="tx1"/>
                </a:solidFill>
                <a:latin typeface="Times New Roman Bold" panose="02020503050405090304" charset="0"/>
                <a:cs typeface="Times New Roman Bold" panose="02020503050405090304" charset="0"/>
              </a:rPr>
              <a:t> in the thick fumes.</a:t>
            </a:r>
          </a:p>
          <a:p>
            <a:pPr marL="457200" lvl="1" indent="457200" fontAlgn="auto">
              <a:lnSpc>
                <a:spcPts val="4440"/>
              </a:lnSpc>
            </a:pPr>
            <a:r>
              <a:rPr lang="en-US" altLang="zh-CN" sz="3200" b="1">
                <a:solidFill>
                  <a:srgbClr val="FF0000"/>
                </a:solidFill>
                <a:latin typeface="Times New Roman Bold" panose="02020503050405090304" charset="0"/>
                <a:cs typeface="Times New Roman Bold" panose="02020503050405090304" charset="0"/>
              </a:rPr>
              <a:t>choke on a piece of bread </a:t>
            </a:r>
            <a:r>
              <a:rPr lang="zh-CN" altLang="en-US" sz="3200" b="1">
                <a:solidFill>
                  <a:schemeClr val="tx1"/>
                </a:solidFill>
                <a:latin typeface="Times New Roman Bold" panose="02020503050405090304" charset="0"/>
                <a:cs typeface="Times New Roman Bold" panose="02020503050405090304" charset="0"/>
              </a:rPr>
              <a:t>被面包噎住</a:t>
            </a:r>
            <a:endParaRPr lang="en-US" altLang="zh-CN" sz="3200" b="1">
              <a:solidFill>
                <a:schemeClr val="tx1"/>
              </a:solidFill>
              <a:latin typeface="Times New Roman Bold" panose="02020503050405090304" charset="0"/>
              <a:cs typeface="Times New Roman Bold" panose="02020503050405090304" charset="0"/>
            </a:endParaRPr>
          </a:p>
          <a:p>
            <a:pPr indent="0" fontAlgn="auto">
              <a:lnSpc>
                <a:spcPts val="4440"/>
              </a:lnSpc>
            </a:pPr>
            <a:r>
              <a:rPr lang="en-US" altLang="zh-CN" sz="3200" b="1">
                <a:solidFill>
                  <a:srgbClr val="FF0000"/>
                </a:solidFill>
                <a:latin typeface="Times New Roman Bold" panose="02020503050405090304" charset="0"/>
                <a:cs typeface="Times New Roman Bold" panose="02020503050405090304" charset="0"/>
              </a:rPr>
              <a:t>(vt.) </a:t>
            </a:r>
            <a:r>
              <a:rPr lang="en-US" altLang="zh-CN" sz="3200" b="1">
                <a:solidFill>
                  <a:schemeClr val="tx1"/>
                </a:solidFill>
                <a:latin typeface="Times New Roman Bold" panose="02020503050405090304" charset="0"/>
                <a:cs typeface="Times New Roman Bold" panose="02020503050405090304" charset="0"/>
              </a:rPr>
              <a:t>Very small toys can </a:t>
            </a:r>
            <a:r>
              <a:rPr lang="en-US" altLang="zh-CN" sz="3200" b="1">
                <a:solidFill>
                  <a:srgbClr val="FF0000"/>
                </a:solidFill>
                <a:latin typeface="Times New Roman Bold" panose="02020503050405090304" charset="0"/>
                <a:cs typeface="Times New Roman Bold" panose="02020503050405090304" charset="0"/>
              </a:rPr>
              <a:t>choke a baby</a:t>
            </a:r>
            <a:r>
              <a:rPr lang="en-US" altLang="zh-CN" sz="3200" b="1">
                <a:solidFill>
                  <a:schemeClr val="tx1"/>
                </a:solidFill>
                <a:latin typeface="Times New Roman Bold" panose="02020503050405090304" charset="0"/>
                <a:cs typeface="Times New Roman Bold" panose="02020503050405090304" charset="0"/>
              </a:rPr>
              <a:t>.</a:t>
            </a:r>
          </a:p>
          <a:p>
            <a:pPr indent="0" fontAlgn="auto">
              <a:lnSpc>
                <a:spcPts val="4440"/>
              </a:lnSpc>
            </a:pPr>
            <a:endParaRPr lang="en-US" altLang="zh-CN" sz="3200" b="1">
              <a:solidFill>
                <a:srgbClr val="FF0000"/>
              </a:solidFill>
              <a:latin typeface="Times New Roman Bold" panose="02020503050405090304" charset="0"/>
              <a:cs typeface="Times New Roman Bold" panose="02020503050405090304" charset="0"/>
            </a:endParaRPr>
          </a:p>
          <a:p>
            <a:pPr indent="0" fontAlgn="auto">
              <a:lnSpc>
                <a:spcPts val="4440"/>
              </a:lnSpc>
            </a:pPr>
            <a:r>
              <a:rPr lang="en-US" altLang="zh-CN" sz="3200" b="1">
                <a:solidFill>
                  <a:srgbClr val="FF0000"/>
                </a:solidFill>
                <a:latin typeface="Times New Roman Bold" panose="02020503050405090304" charset="0"/>
                <a:cs typeface="Times New Roman Bold" panose="02020503050405090304" charset="0"/>
              </a:rPr>
              <a:t>choke v. </a:t>
            </a:r>
            <a:r>
              <a:rPr lang="en-US" altLang="zh-CN" sz="3200" b="1" i="1">
                <a:solidFill>
                  <a:schemeClr val="tx1"/>
                </a:solidFill>
                <a:latin typeface="Times New Roman Bold Italic" panose="02020503050405090304" charset="0"/>
                <a:cs typeface="Times New Roman Bold Italic" panose="02020503050405090304" charset="0"/>
              </a:rPr>
              <a:t>unable to speak normally </a:t>
            </a:r>
            <a:r>
              <a:rPr lang="zh-CN" altLang="en-US" sz="3200" b="1">
                <a:solidFill>
                  <a:srgbClr val="FF0000"/>
                </a:solidFill>
                <a:latin typeface="Times New Roman Bold Italic" panose="02020503050405090304" charset="0"/>
                <a:cs typeface="Times New Roman Bold Italic" panose="02020503050405090304" charset="0"/>
              </a:rPr>
              <a:t>使哽咽</a:t>
            </a:r>
            <a:endParaRPr lang="en-US" altLang="zh-CN" sz="3200" b="1">
              <a:solidFill>
                <a:srgbClr val="FF0000"/>
              </a:solidFill>
              <a:latin typeface="Times New Roman Bold" panose="02020503050405090304" charset="0"/>
              <a:cs typeface="Times New Roman Bold" panose="02020503050405090304" charset="0"/>
            </a:endParaRPr>
          </a:p>
          <a:p>
            <a:pPr indent="0" fontAlgn="auto">
              <a:lnSpc>
                <a:spcPts val="4440"/>
              </a:lnSpc>
            </a:pPr>
            <a:r>
              <a:rPr lang="en-US" altLang="zh-CN" sz="3200" b="1" u="sng">
                <a:solidFill>
                  <a:srgbClr val="FF0000"/>
                </a:solidFill>
                <a:latin typeface="Times New Roman Bold" panose="02020503050405090304" charset="0"/>
                <a:cs typeface="Times New Roman Bold" panose="02020503050405090304" charset="0"/>
              </a:rPr>
              <a:t>She was choked with emotion.</a:t>
            </a:r>
            <a:r>
              <a:rPr lang="en-US" altLang="zh-CN" sz="3200" b="1">
                <a:solidFill>
                  <a:srgbClr val="FF0000"/>
                </a:solidFill>
                <a:latin typeface="Times New Roman Bold" panose="02020503050405090304" charset="0"/>
                <a:cs typeface="Times New Roman Bold" panose="02020503050405090304" charset="0"/>
              </a:rPr>
              <a:t> </a:t>
            </a:r>
            <a:r>
              <a:rPr lang="zh-CN" altLang="en-US" sz="3200" b="1">
                <a:solidFill>
                  <a:schemeClr val="tx1"/>
                </a:solidFill>
                <a:latin typeface="Times New Roman Bold" panose="02020503050405090304" charset="0"/>
                <a:cs typeface="Times New Roman Bold" panose="02020503050405090304" charset="0"/>
              </a:rPr>
              <a:t>她激动得声音哽咽。</a:t>
            </a:r>
            <a:r>
              <a:rPr lang="en-US" altLang="zh-CN" sz="3200" b="1" u="sng">
                <a:solidFill>
                  <a:srgbClr val="FF0000"/>
                </a:solidFill>
                <a:latin typeface="Times New Roman Bold" panose="02020503050405090304" charset="0"/>
                <a:cs typeface="Times New Roman Bold" panose="02020503050405090304" charset="0"/>
              </a:rPr>
              <a:t>Despair choked her words</a:t>
            </a:r>
            <a:r>
              <a:rPr lang="en-US" altLang="zh-CN" sz="3200" b="1">
                <a:solidFill>
                  <a:srgbClr val="FF0000"/>
                </a:solidFill>
                <a:latin typeface="Times New Roman Bold" panose="02020503050405090304" charset="0"/>
                <a:cs typeface="Times New Roman Bold" panose="02020503050405090304" charset="0"/>
              </a:rPr>
              <a:t>.</a:t>
            </a:r>
            <a:r>
              <a:rPr lang="en-US" altLang="zh-CN" sz="3200" b="1">
                <a:latin typeface="Times New Roman Bold" panose="02020503050405090304" charset="0"/>
                <a:cs typeface="Times New Roman Bold" panose="02020503050405090304" charset="0"/>
              </a:rPr>
              <a:t> </a:t>
            </a:r>
            <a:r>
              <a:rPr lang="zh-CN" altLang="en-US" sz="3200" b="1">
                <a:latin typeface="Times New Roman Regular" panose="02020503050405090304" charset="0"/>
                <a:cs typeface="Times New Roman Regular" panose="02020503050405090304" charset="0"/>
              </a:rPr>
              <a:t>她绝望得说不出话来。</a:t>
            </a:r>
          </a:p>
          <a:p>
            <a:pPr indent="0" fontAlgn="auto">
              <a:lnSpc>
                <a:spcPts val="4440"/>
              </a:lnSpc>
            </a:pPr>
            <a:r>
              <a:rPr lang="en-US" altLang="zh-CN" sz="3200" b="1">
                <a:solidFill>
                  <a:srgbClr val="FF0000"/>
                </a:solidFill>
                <a:latin typeface="Times New Roman Bold" panose="02020503050405090304" charset="0"/>
                <a:cs typeface="Times New Roman Bold" panose="02020503050405090304" charset="0"/>
              </a:rPr>
              <a:t>in a choked voice</a:t>
            </a:r>
            <a:r>
              <a:rPr lang="en-US" altLang="zh-CN" sz="3200" b="1">
                <a:latin typeface="Times New Roman Bold" panose="02020503050405090304" charset="0"/>
                <a:cs typeface="Times New Roman Bold" panose="02020503050405090304" charset="0"/>
              </a:rPr>
              <a:t> </a:t>
            </a:r>
            <a:r>
              <a:rPr lang="zh-CN" altLang="en-US" sz="3200" b="1">
                <a:latin typeface="Times New Roman Regular" panose="02020503050405090304" charset="0"/>
                <a:cs typeface="Times New Roman Regular" panose="02020503050405090304" charset="0"/>
              </a:rPr>
              <a:t>声音哽咽地</a:t>
            </a:r>
          </a:p>
          <a:p>
            <a:pPr indent="0" fontAlgn="auto">
              <a:lnSpc>
                <a:spcPts val="4440"/>
              </a:lnSpc>
            </a:pPr>
            <a:r>
              <a:rPr lang="en-US" altLang="zh-CN" sz="3200" b="1">
                <a:solidFill>
                  <a:srgbClr val="FF0000"/>
                </a:solidFill>
                <a:latin typeface="Times New Roman Bold" panose="02020503050405090304" charset="0"/>
                <a:cs typeface="Times New Roman Bold" panose="02020503050405090304" charset="0"/>
                <a:sym typeface="+mn-ea"/>
              </a:rPr>
              <a:t>choke back tears</a:t>
            </a:r>
            <a:r>
              <a:rPr lang="en-US" altLang="zh-CN" sz="3200" b="1">
                <a:latin typeface="Times New Roman Regular" panose="02020503050405090304" charset="0"/>
                <a:cs typeface="Times New Roman Regular" panose="02020503050405090304" charset="0"/>
                <a:sym typeface="+mn-ea"/>
              </a:rPr>
              <a:t> </a:t>
            </a:r>
            <a:r>
              <a:rPr lang="zh-CN" altLang="en-US" sz="3200" b="1">
                <a:latin typeface="Times New Roman Regular" panose="02020503050405090304" charset="0"/>
                <a:cs typeface="Times New Roman Regular" panose="02020503050405090304" charset="0"/>
                <a:sym typeface="+mn-ea"/>
              </a:rPr>
              <a:t>强忍住泪水</a:t>
            </a:r>
          </a:p>
          <a:p>
            <a:pPr indent="0" fontAlgn="auto">
              <a:lnSpc>
                <a:spcPts val="4440"/>
              </a:lnSpc>
            </a:pPr>
            <a:r>
              <a:rPr lang="zh-CN" altLang="en-US" sz="3200" b="1">
                <a:latin typeface="Times New Roman Bold" panose="02020503050405090304" charset="0"/>
                <a:cs typeface="Times New Roman Bold" panose="02020503050405090304" charset="0"/>
                <a:sym typeface="+mn-ea"/>
              </a:rPr>
              <a:t>She </a:t>
            </a:r>
            <a:r>
              <a:rPr lang="zh-CN" altLang="en-US" sz="3200" b="1">
                <a:solidFill>
                  <a:srgbClr val="FF0000"/>
                </a:solidFill>
                <a:latin typeface="Times New Roman Bold" panose="02020503050405090304" charset="0"/>
                <a:cs typeface="Times New Roman Bold" panose="02020503050405090304" charset="0"/>
                <a:sym typeface="+mn-ea"/>
              </a:rPr>
              <a:t>choked up</a:t>
            </a:r>
            <a:r>
              <a:rPr lang="zh-CN" altLang="en-US" sz="3200" b="1">
                <a:latin typeface="Times New Roman Bold" panose="02020503050405090304" charset="0"/>
                <a:cs typeface="Times New Roman Bold" panose="02020503050405090304" charset="0"/>
                <a:sym typeface="+mn-ea"/>
              </a:rPr>
              <a:t> when she began to talk about her mother.</a:t>
            </a:r>
            <a:r>
              <a:rPr lang="en-US" altLang="zh-CN" sz="3200" b="1">
                <a:latin typeface="Times New Roman Bold" panose="02020503050405090304" charset="0"/>
                <a:cs typeface="Times New Roman Bold" panose="02020503050405090304" charset="0"/>
                <a:sym typeface="+mn-ea"/>
              </a:rPr>
              <a:t> </a:t>
            </a:r>
            <a:r>
              <a:rPr lang="zh-CN" altLang="en-US" sz="3200" b="1">
                <a:latin typeface="Times New Roman Bold" panose="02020503050405090304" charset="0"/>
                <a:cs typeface="Times New Roman Bold" panose="02020503050405090304" charset="0"/>
                <a:sym typeface="+mn-ea"/>
              </a:rPr>
              <a:t>哽咽</a:t>
            </a:r>
            <a:endParaRPr lang="zh-CN" altLang="en-US" sz="3200" b="1">
              <a:latin typeface="Times New Roman Bold" panose="02020503050405090304" charset="0"/>
              <a:cs typeface="Times New Roman Bold" panose="02020503050405090304" charset="0"/>
            </a:endParaRPr>
          </a:p>
          <a:p>
            <a:pPr indent="0" fontAlgn="auto">
              <a:lnSpc>
                <a:spcPts val="4440"/>
              </a:lnSpc>
            </a:pPr>
            <a:r>
              <a:rPr lang="en-US" altLang="zh-CN" sz="3200" b="1">
                <a:latin typeface="Times New Roman Bold" panose="02020503050405090304" charset="0"/>
                <a:cs typeface="Times New Roman Bold" panose="02020503050405090304" charset="0"/>
              </a:rPr>
              <a:t>The road </a:t>
            </a:r>
            <a:r>
              <a:rPr lang="en-US" altLang="zh-CN" sz="3200" b="1">
                <a:solidFill>
                  <a:srgbClr val="FF0000"/>
                </a:solidFill>
                <a:latin typeface="Times New Roman Bold" panose="02020503050405090304" charset="0"/>
                <a:cs typeface="Times New Roman Bold" panose="02020503050405090304" charset="0"/>
              </a:rPr>
              <a:t>is choked up with crowds</a:t>
            </a:r>
            <a:r>
              <a:rPr lang="en-US" altLang="zh-CN" sz="3200" b="1">
                <a:latin typeface="Times New Roman Bold" panose="02020503050405090304" charset="0"/>
                <a:cs typeface="Times New Roman Bold" panose="02020503050405090304" charset="0"/>
              </a:rPr>
              <a:t> with the approach of Chinese New Year.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Box 3"/>
          <p:cNvSpPr txBox="1"/>
          <p:nvPr/>
        </p:nvSpPr>
        <p:spPr>
          <a:xfrm>
            <a:off x="0" y="0"/>
            <a:ext cx="12035790" cy="6858000"/>
          </a:xfrm>
          <a:prstGeom prst="rect">
            <a:avLst/>
          </a:prstGeom>
        </p:spPr>
        <p:txBody>
          <a:bodyPr>
            <a:noAutofit/>
          </a:bodyPr>
          <a:lstStyle/>
          <a:p>
            <a:pPr indent="0" fontAlgn="auto">
              <a:lnSpc>
                <a:spcPts val="4440"/>
              </a:lnSpc>
            </a:pPr>
            <a:r>
              <a:rPr lang="zh-CN" altLang="en-US" sz="3200" b="1">
                <a:solidFill>
                  <a:schemeClr val="tx1"/>
                </a:solidFill>
                <a:latin typeface="Times New Roman Bold" panose="02020503050405090304" charset="0"/>
                <a:cs typeface="Times New Roman Bold" panose="02020503050405090304" charset="0"/>
              </a:rPr>
              <a:t>汤姆太伤心了，无法忍住泪水。</a:t>
            </a:r>
          </a:p>
          <a:p>
            <a:pPr indent="0" fontAlgn="auto">
              <a:lnSpc>
                <a:spcPts val="4440"/>
              </a:lnSpc>
            </a:pPr>
            <a:r>
              <a:rPr lang="en-US" altLang="zh-CN" sz="3200" b="1">
                <a:solidFill>
                  <a:srgbClr val="FF0000"/>
                </a:solidFill>
                <a:latin typeface="Times New Roman Bold" panose="02020503050405090304" charset="0"/>
                <a:cs typeface="Times New Roman Bold" panose="02020503050405090304" charset="0"/>
              </a:rPr>
              <a:t>Tom was too sad to choke back tears.</a:t>
            </a:r>
          </a:p>
          <a:p>
            <a:pPr indent="0" fontAlgn="auto">
              <a:lnSpc>
                <a:spcPts val="4440"/>
              </a:lnSpc>
            </a:pPr>
            <a:r>
              <a:rPr lang="zh-CN" altLang="en-US" sz="3200" b="1">
                <a:solidFill>
                  <a:schemeClr val="tx1"/>
                </a:solidFill>
                <a:latin typeface="Times New Roman Bold" panose="02020503050405090304" charset="0"/>
                <a:cs typeface="Times New Roman Bold" panose="02020503050405090304" charset="0"/>
              </a:rPr>
              <a:t>得知儿子得了冠军，老妇人激动得说不出来话。</a:t>
            </a:r>
          </a:p>
          <a:p>
            <a:pPr indent="0" fontAlgn="auto">
              <a:lnSpc>
                <a:spcPts val="4440"/>
              </a:lnSpc>
            </a:pPr>
            <a:r>
              <a:rPr lang="en-US" altLang="zh-CN" sz="3200" b="1">
                <a:solidFill>
                  <a:srgbClr val="FF0000"/>
                </a:solidFill>
                <a:latin typeface="Times New Roman Bold" panose="02020503050405090304" charset="0"/>
                <a:cs typeface="Times New Roman Bold" panose="02020503050405090304" charset="0"/>
              </a:rPr>
              <a:t>Knowing that her son had won the championship, the old woman was choked with excitement.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7" name="文本框 6"/>
          <p:cNvSpPr txBox="1"/>
          <p:nvPr/>
        </p:nvSpPr>
        <p:spPr>
          <a:xfrm>
            <a:off x="183993" y="186950"/>
            <a:ext cx="11166763" cy="1213485"/>
          </a:xfrm>
          <a:prstGeom prst="rect">
            <a:avLst/>
          </a:prstGeom>
          <a:noFill/>
        </p:spPr>
        <p:txBody>
          <a:bodyPr wrap="square">
            <a:spAutoFit/>
          </a:bodyPr>
          <a:lstStyle/>
          <a:p>
            <a:pPr indent="0" fontAlgn="auto">
              <a:lnSpc>
                <a:spcPct val="114000"/>
              </a:lnSpc>
            </a:pPr>
            <a:r>
              <a:rPr lang="en-US" altLang="zh-CN" sz="3200" b="1" dirty="0">
                <a:latin typeface="+mj-lt"/>
                <a:cs typeface="Times New Roman" panose="02020503050405090304" pitchFamily="18" charset="0"/>
              </a:rPr>
              <a:t>We </a:t>
            </a:r>
            <a:r>
              <a:rPr lang="en-US" altLang="zh-CN" sz="3200" b="1" dirty="0">
                <a:solidFill>
                  <a:srgbClr val="FF0000"/>
                </a:solidFill>
                <a:latin typeface="+mj-lt"/>
                <a:cs typeface="Times New Roman" panose="02020503050405090304" pitchFamily="18" charset="0"/>
              </a:rPr>
              <a:t>rely on news to learn about</a:t>
            </a:r>
            <a:r>
              <a:rPr lang="en-US" altLang="zh-CN" sz="3200" b="1" dirty="0">
                <a:latin typeface="+mj-lt"/>
                <a:cs typeface="Times New Roman" panose="02020503050405090304" pitchFamily="18" charset="0"/>
              </a:rPr>
              <a:t> </a:t>
            </a:r>
            <a:r>
              <a:rPr lang="en-US" altLang="zh-CN" sz="3200" b="1" dirty="0">
                <a:solidFill>
                  <a:srgbClr val="FF0000"/>
                </a:solidFill>
                <a:latin typeface="+mj-lt"/>
                <a:cs typeface="Times New Roman" panose="02020503050405090304" pitchFamily="18" charset="0"/>
              </a:rPr>
              <a:t>what</a:t>
            </a:r>
            <a:r>
              <a:rPr lang="en-US" altLang="zh-CN" sz="3200" b="1" dirty="0">
                <a:latin typeface="+mj-lt"/>
                <a:cs typeface="Times New Roman" panose="02020503050405090304" pitchFamily="18" charset="0"/>
              </a:rPr>
              <a:t> is happening in the world around us. </a:t>
            </a:r>
            <a:endParaRPr lang="zh-CN" altLang="en-US" sz="3200" b="1" dirty="0">
              <a:latin typeface="+mj-lt"/>
            </a:endParaRPr>
          </a:p>
        </p:txBody>
      </p:sp>
      <p:sp>
        <p:nvSpPr>
          <p:cNvPr id="2" name="矩形 1"/>
          <p:cNvSpPr/>
          <p:nvPr/>
        </p:nvSpPr>
        <p:spPr>
          <a:xfrm>
            <a:off x="383540" y="3324225"/>
            <a:ext cx="11457305" cy="2335530"/>
          </a:xfrm>
          <a:prstGeom prst="rect">
            <a:avLst/>
          </a:prstGeom>
        </p:spPr>
        <p:txBody>
          <a:bodyPr wrap="square">
            <a:spAutoFit/>
          </a:bodyPr>
          <a:lstStyle/>
          <a:p>
            <a:pPr marL="2416175" indent="-2416175">
              <a:lnSpc>
                <a:spcPct val="114000"/>
              </a:lnSpc>
            </a:pPr>
            <a:r>
              <a:rPr lang="en-US" altLang="zh-CN" sz="3200" b="1" dirty="0">
                <a:solidFill>
                  <a:srgbClr val="9966FF"/>
                </a:solidFill>
                <a:latin typeface="+mj-lt"/>
              </a:rPr>
              <a:t>【</a:t>
            </a:r>
            <a:r>
              <a:rPr lang="zh-CN" altLang="en-US" sz="3200" b="1" dirty="0">
                <a:solidFill>
                  <a:srgbClr val="9966FF"/>
                </a:solidFill>
                <a:latin typeface="+mj-lt"/>
              </a:rPr>
              <a:t>语境应用</a:t>
            </a:r>
            <a:r>
              <a:rPr lang="en-US" altLang="zh-CN" sz="3200" b="1" dirty="0">
                <a:solidFill>
                  <a:srgbClr val="9966FF"/>
                </a:solidFill>
                <a:latin typeface="+mj-lt"/>
              </a:rPr>
              <a:t>】</a:t>
            </a:r>
            <a:r>
              <a:rPr lang="zh-CN" altLang="en-US" sz="3200" b="1" dirty="0">
                <a:solidFill>
                  <a:srgbClr val="9966FF"/>
                </a:solidFill>
                <a:latin typeface="+mj-lt"/>
              </a:rPr>
              <a:t>仿写句子。</a:t>
            </a:r>
            <a:endParaRPr lang="en-US" altLang="zh-CN" sz="3200" b="1" dirty="0">
              <a:solidFill>
                <a:srgbClr val="9966FF"/>
              </a:solidFill>
              <a:latin typeface="+mj-lt"/>
            </a:endParaRPr>
          </a:p>
          <a:p>
            <a:pPr marL="2416175" indent="-2416175">
              <a:lnSpc>
                <a:spcPct val="114000"/>
              </a:lnSpc>
            </a:pPr>
            <a:r>
              <a:rPr lang="zh-CN" altLang="en-US" sz="3200" b="1" dirty="0">
                <a:latin typeface="+mj-lt"/>
              </a:rPr>
              <a:t> 现如今</a:t>
            </a:r>
            <a:r>
              <a:rPr lang="en-US" altLang="zh-CN" sz="3200" b="1" dirty="0">
                <a:latin typeface="+mj-lt"/>
              </a:rPr>
              <a:t>, </a:t>
            </a:r>
            <a:r>
              <a:rPr lang="zh-CN" altLang="en-US" sz="3200" b="1" dirty="0">
                <a:latin typeface="+mj-lt"/>
              </a:rPr>
              <a:t>我们大多数人依赖网络来了解国外的动态。</a:t>
            </a:r>
            <a:endParaRPr lang="en-US" altLang="zh-CN" sz="3200" b="1" dirty="0">
              <a:latin typeface="+mj-lt"/>
            </a:endParaRPr>
          </a:p>
          <a:p>
            <a:pPr marL="82550" indent="-82550">
              <a:lnSpc>
                <a:spcPct val="114000"/>
              </a:lnSpc>
            </a:pPr>
            <a:r>
              <a:rPr lang="en-US" altLang="zh-CN" sz="3200" b="1" dirty="0">
                <a:solidFill>
                  <a:srgbClr val="FF0000"/>
                </a:solidFill>
                <a:latin typeface="+mj-lt"/>
              </a:rPr>
              <a:t> Most of us now rely on the Internet to know what is going on overseas.</a:t>
            </a:r>
            <a:endParaRPr lang="zh-CN" altLang="en-US" sz="3200" b="1" dirty="0">
              <a:solidFill>
                <a:srgbClr val="FF0000"/>
              </a:solidFill>
              <a:latin typeface="+mj-lt"/>
            </a:endParaRPr>
          </a:p>
        </p:txBody>
      </p:sp>
      <p:sp>
        <p:nvSpPr>
          <p:cNvPr id="3" name="矩形 2"/>
          <p:cNvSpPr/>
          <p:nvPr/>
        </p:nvSpPr>
        <p:spPr>
          <a:xfrm>
            <a:off x="383540" y="1400175"/>
            <a:ext cx="11349355" cy="1774190"/>
          </a:xfrm>
          <a:prstGeom prst="rect">
            <a:avLst/>
          </a:prstGeom>
          <a:solidFill>
            <a:srgbClr val="E6F1FE"/>
          </a:solidFill>
          <a:ln w="28575">
            <a:noFill/>
          </a:ln>
        </p:spPr>
        <p:txBody>
          <a:bodyPr wrap="square">
            <a:spAutoFit/>
          </a:bodyPr>
          <a:lstStyle/>
          <a:p>
            <a:pPr marL="2416175" indent="-2416175">
              <a:lnSpc>
                <a:spcPct val="114000"/>
              </a:lnSpc>
            </a:pPr>
            <a:r>
              <a:rPr lang="zh-CN" altLang="en-US" sz="3200" b="1" dirty="0">
                <a:solidFill>
                  <a:srgbClr val="FF0000"/>
                </a:solidFill>
                <a:latin typeface="+mj-lt"/>
              </a:rPr>
              <a:t>本句是一个主从复合句。</a:t>
            </a:r>
          </a:p>
          <a:p>
            <a:pPr marL="624205" indent="-624205">
              <a:lnSpc>
                <a:spcPct val="114000"/>
              </a:lnSpc>
              <a:tabLst>
                <a:tab pos="623570" algn="l"/>
              </a:tabLst>
            </a:pPr>
            <a:r>
              <a:rPr lang="en-US" altLang="zh-CN" sz="3200" b="1" dirty="0">
                <a:latin typeface="+mj-lt"/>
              </a:rPr>
              <a:t>what is happening in the world around us</a:t>
            </a:r>
            <a:r>
              <a:rPr lang="zh-CN" altLang="en-US" sz="3200" b="1" dirty="0">
                <a:latin typeface="+mj-lt"/>
              </a:rPr>
              <a:t>是</a:t>
            </a:r>
            <a:r>
              <a:rPr lang="zh-CN" altLang="en-US" sz="3200" b="1" dirty="0">
                <a:solidFill>
                  <a:srgbClr val="FF0000"/>
                </a:solidFill>
                <a:latin typeface="+mj-lt"/>
              </a:rPr>
              <a:t>宾语从句</a:t>
            </a:r>
            <a:r>
              <a:rPr lang="zh-CN" altLang="en-US" sz="3200" b="1" dirty="0">
                <a:latin typeface="+mj-lt"/>
              </a:rPr>
              <a:t>。</a:t>
            </a:r>
          </a:p>
          <a:p>
            <a:pPr marL="2416175" indent="-2416175">
              <a:lnSpc>
                <a:spcPct val="114000"/>
              </a:lnSpc>
            </a:pPr>
            <a:r>
              <a:rPr lang="en-US" altLang="zh-CN" sz="3200" b="1" dirty="0">
                <a:solidFill>
                  <a:srgbClr val="FF0000"/>
                </a:solidFill>
                <a:latin typeface="+mj-lt"/>
              </a:rPr>
              <a:t>rely on ... to do ...   </a:t>
            </a:r>
            <a:r>
              <a:rPr lang="zh-CN" altLang="en-US" sz="3200" b="1" dirty="0">
                <a:solidFill>
                  <a:srgbClr val="FF0000"/>
                </a:solidFill>
                <a:latin typeface="+mn-ea"/>
              </a:rPr>
              <a:t>依赖</a:t>
            </a:r>
            <a:r>
              <a:rPr lang="en-US" altLang="zh-CN" sz="3200" b="1" dirty="0">
                <a:solidFill>
                  <a:srgbClr val="FF0000"/>
                </a:solidFill>
                <a:latin typeface="+mn-ea"/>
              </a:rPr>
              <a:t>……</a:t>
            </a:r>
            <a:r>
              <a:rPr lang="zh-CN" altLang="en-US" sz="3200" b="1" dirty="0">
                <a:solidFill>
                  <a:srgbClr val="FF0000"/>
                </a:solidFill>
                <a:latin typeface="+mn-ea"/>
              </a:rPr>
              <a:t>做</a:t>
            </a:r>
            <a:r>
              <a:rPr lang="en-US" altLang="zh-CN" sz="3200" b="1" dirty="0">
                <a:solidFill>
                  <a:srgbClr val="FF0000"/>
                </a:solidFill>
                <a:latin typeface="+mn-ea"/>
              </a:rPr>
              <a:t>……</a:t>
            </a:r>
            <a:endParaRPr lang="en-US" altLang="zh-CN" sz="3200" b="1" dirty="0">
              <a:solidFill>
                <a:srgbClr val="FF0000"/>
              </a:solidFill>
              <a:latin typeface="+mj-lt"/>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0" end="0"/>
                                            </p:txEl>
                                          </p:spTgt>
                                        </p:tgtEl>
                                        <p:attrNameLst>
                                          <p:attrName>style.visibility</p:attrName>
                                        </p:attrNameLst>
                                      </p:cBhvr>
                                      <p:to>
                                        <p:strVal val="visible"/>
                                      </p:to>
                                    </p:set>
                                    <p:animEffect transition="in" filter="randombar(horizontal)">
                                      <p:cBhvr>
                                        <p:cTn id="12" dur="500"/>
                                        <p:tgtEl>
                                          <p:spTgt spid="2">
                                            <p:txEl>
                                              <p:pRg st="0" end="0"/>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5" dur="500"/>
                                        <p:tgtEl>
                                          <p:spTgt spid="2">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
                                            <p:txEl>
                                              <p:pRg st="2" end="2"/>
                                            </p:txEl>
                                          </p:spTgt>
                                        </p:tgtEl>
                                        <p:attrNameLst>
                                          <p:attrName>style.visibility</p:attrName>
                                        </p:attrNameLst>
                                      </p:cBhvr>
                                      <p:to>
                                        <p:strVal val="visible"/>
                                      </p:to>
                                    </p:set>
                                    <p:animEffect transition="in" filter="wipe(left)">
                                      <p:cBhvr>
                                        <p:cTn id="20" dur="500"/>
                                        <p:tgtEl>
                                          <p:spTgt spid="2">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ldLvl="0" animBg="1"/>
    </p:bldLst>
  </p:timing>
</p:sld>
</file>

<file path=ppt/slides/slide2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文本框 3"/>
          <p:cNvSpPr txBox="1"/>
          <p:nvPr/>
        </p:nvSpPr>
        <p:spPr>
          <a:xfrm>
            <a:off x="204470" y="0"/>
            <a:ext cx="11988165" cy="1272540"/>
          </a:xfrm>
          <a:prstGeom prst="rect">
            <a:avLst/>
          </a:prstGeom>
          <a:noFill/>
        </p:spPr>
        <p:txBody>
          <a:bodyPr wrap="square" rtlCol="0">
            <a:spAutoFit/>
          </a:bodyPr>
          <a:lstStyle/>
          <a:p>
            <a:pPr>
              <a:lnSpc>
                <a:spcPct val="120000"/>
              </a:lnSpc>
            </a:pPr>
            <a:r>
              <a:rPr lang="en-US" altLang="zh-CN" sz="3200" b="1" dirty="0"/>
              <a:t>How do these differences </a:t>
            </a:r>
            <a:r>
              <a:rPr lang="en-US" altLang="zh-CN" sz="3200" b="1" dirty="0">
                <a:solidFill>
                  <a:srgbClr val="FF0000"/>
                </a:solidFill>
              </a:rPr>
              <a:t>come about</a:t>
            </a:r>
            <a:r>
              <a:rPr lang="en-US" altLang="zh-CN" sz="3200" b="1" dirty="0"/>
              <a:t>?</a:t>
            </a:r>
            <a:r>
              <a:rPr lang="zh-CN" altLang="en-US" sz="3200" b="1" dirty="0"/>
              <a:t>这些差异是如何产生的呢？</a:t>
            </a:r>
          </a:p>
          <a:p>
            <a:pPr>
              <a:lnSpc>
                <a:spcPct val="120000"/>
              </a:lnSpc>
            </a:pPr>
            <a:r>
              <a:rPr lang="en-US" altLang="zh-CN" sz="3200" b="1" dirty="0">
                <a:solidFill>
                  <a:srgbClr val="FF0000"/>
                </a:solidFill>
              </a:rPr>
              <a:t>come about:  </a:t>
            </a:r>
            <a:r>
              <a:rPr lang="en-US" altLang="zh-CN" sz="3200" b="1" i="1" dirty="0"/>
              <a:t>to happen </a:t>
            </a:r>
            <a:r>
              <a:rPr lang="zh-CN" altLang="en-US" sz="3200" b="1" dirty="0">
                <a:solidFill>
                  <a:srgbClr val="FF0000"/>
                </a:solidFill>
              </a:rPr>
              <a:t>发生</a:t>
            </a:r>
            <a:endParaRPr lang="en-US" altLang="zh-CN" sz="3200" b="1" dirty="0">
              <a:solidFill>
                <a:srgbClr val="FF0000"/>
              </a:solidFill>
            </a:endParaRPr>
          </a:p>
        </p:txBody>
      </p:sp>
      <p:sp>
        <p:nvSpPr>
          <p:cNvPr id="5" name="矩形 4"/>
          <p:cNvSpPr/>
          <p:nvPr/>
        </p:nvSpPr>
        <p:spPr>
          <a:xfrm>
            <a:off x="204470" y="1272540"/>
            <a:ext cx="11541760" cy="5140960"/>
          </a:xfrm>
          <a:prstGeom prst="rect">
            <a:avLst/>
          </a:prstGeom>
          <a:solidFill>
            <a:srgbClr val="E6F1FE"/>
          </a:solidFill>
          <a:ln w="28575">
            <a:noFill/>
          </a:ln>
        </p:spPr>
        <p:txBody>
          <a:bodyPr wrap="square">
            <a:spAutoFit/>
          </a:bodyPr>
          <a:lstStyle/>
          <a:p>
            <a:pPr>
              <a:lnSpc>
                <a:spcPct val="114000"/>
              </a:lnSpc>
            </a:pPr>
            <a:r>
              <a:rPr lang="en-US" altLang="zh-CN" sz="3200" b="1" dirty="0">
                <a:solidFill>
                  <a:srgbClr val="9966FF"/>
                </a:solidFill>
                <a:latin typeface="+mj-lt"/>
              </a:rPr>
              <a:t>【</a:t>
            </a:r>
            <a:r>
              <a:rPr lang="zh-CN" altLang="en-US" sz="3200" b="1" dirty="0">
                <a:solidFill>
                  <a:srgbClr val="9966FF"/>
                </a:solidFill>
                <a:latin typeface="+mj-lt"/>
              </a:rPr>
              <a:t>拓展</a:t>
            </a:r>
            <a:r>
              <a:rPr lang="en-US" altLang="zh-CN" sz="3200" b="1" dirty="0">
                <a:solidFill>
                  <a:srgbClr val="9966FF"/>
                </a:solidFill>
                <a:latin typeface="+mj-lt"/>
              </a:rPr>
              <a:t>】come</a:t>
            </a:r>
            <a:r>
              <a:rPr lang="zh-CN" altLang="en-US" sz="3200" b="1" dirty="0">
                <a:solidFill>
                  <a:srgbClr val="9966FF"/>
                </a:solidFill>
                <a:latin typeface="+mj-lt"/>
              </a:rPr>
              <a:t>短语</a:t>
            </a:r>
            <a:endParaRPr lang="en-US" altLang="zh-CN" sz="3200" b="1" dirty="0">
              <a:solidFill>
                <a:srgbClr val="9966FF"/>
              </a:solidFill>
              <a:latin typeface="+mj-lt"/>
            </a:endParaRPr>
          </a:p>
          <a:p>
            <a:pPr>
              <a:lnSpc>
                <a:spcPct val="114000"/>
              </a:lnSpc>
            </a:pPr>
            <a:r>
              <a:rPr lang="en-US" altLang="zh-CN" sz="3200" b="1" dirty="0">
                <a:solidFill>
                  <a:srgbClr val="FF0000"/>
                </a:solidFill>
                <a:latin typeface="+mj-lt"/>
              </a:rPr>
              <a:t>come across             </a:t>
            </a:r>
            <a:r>
              <a:rPr lang="zh-CN" altLang="en-US" sz="3200" b="1" dirty="0">
                <a:latin typeface="+mj-lt"/>
              </a:rPr>
              <a:t>偶然遇见</a:t>
            </a:r>
            <a:endParaRPr lang="en-US" altLang="zh-CN" sz="3200" b="1" dirty="0">
              <a:latin typeface="+mj-lt"/>
            </a:endParaRPr>
          </a:p>
          <a:p>
            <a:pPr>
              <a:lnSpc>
                <a:spcPct val="114000"/>
              </a:lnSpc>
            </a:pPr>
            <a:r>
              <a:rPr lang="en-US" altLang="zh-CN" sz="3200" b="1" dirty="0">
                <a:solidFill>
                  <a:srgbClr val="FF0000"/>
                </a:solidFill>
                <a:latin typeface="+mj-lt"/>
              </a:rPr>
              <a:t>come along 	       </a:t>
            </a:r>
            <a:r>
              <a:rPr lang="zh-CN" altLang="en-US" sz="3200" b="1" dirty="0">
                <a:latin typeface="+mj-lt"/>
              </a:rPr>
              <a:t>出现，一起来参加；进展，进步</a:t>
            </a:r>
          </a:p>
          <a:p>
            <a:pPr>
              <a:lnSpc>
                <a:spcPct val="114000"/>
              </a:lnSpc>
            </a:pPr>
            <a:r>
              <a:rPr lang="en-US" altLang="zh-CN" sz="3200" b="1" dirty="0">
                <a:solidFill>
                  <a:srgbClr val="FF0000"/>
                </a:solidFill>
                <a:latin typeface="+mj-lt"/>
              </a:rPr>
              <a:t>come over </a:t>
            </a:r>
            <a:r>
              <a:rPr lang="en-US" altLang="zh-CN" sz="3200" b="1" dirty="0">
                <a:latin typeface="+mj-lt"/>
              </a:rPr>
              <a:t>	       </a:t>
            </a:r>
            <a:r>
              <a:rPr lang="zh-CN" altLang="en-US" sz="3200" b="1" dirty="0">
                <a:latin typeface="+mj-lt"/>
              </a:rPr>
              <a:t>短暂造访</a:t>
            </a:r>
            <a:r>
              <a:rPr lang="en-US" altLang="zh-CN" sz="3200" b="1" dirty="0">
                <a:latin typeface="+mj-lt"/>
              </a:rPr>
              <a:t>  </a:t>
            </a:r>
          </a:p>
          <a:p>
            <a:pPr>
              <a:lnSpc>
                <a:spcPct val="114000"/>
              </a:lnSpc>
            </a:pPr>
            <a:r>
              <a:rPr lang="en-US" altLang="zh-CN" sz="3200" b="1" dirty="0">
                <a:solidFill>
                  <a:srgbClr val="FF0000"/>
                </a:solidFill>
                <a:latin typeface="+mj-lt"/>
              </a:rPr>
              <a:t>come back	     </a:t>
            </a:r>
            <a:r>
              <a:rPr lang="en-US" altLang="zh-CN" sz="3200" b="1" dirty="0">
                <a:solidFill>
                  <a:schemeClr val="tx1"/>
                </a:solidFill>
                <a:latin typeface="+mj-lt"/>
              </a:rPr>
              <a:t>  </a:t>
            </a:r>
            <a:r>
              <a:rPr lang="zh-CN" altLang="en-US" sz="3200" b="1" dirty="0">
                <a:solidFill>
                  <a:schemeClr val="tx1"/>
                </a:solidFill>
                <a:latin typeface="+mj-lt"/>
              </a:rPr>
              <a:t>再度流行；返回</a:t>
            </a:r>
            <a:endParaRPr lang="en-US" altLang="zh-CN" sz="3200" b="1" dirty="0">
              <a:latin typeface="+mj-lt"/>
            </a:endParaRPr>
          </a:p>
          <a:p>
            <a:pPr>
              <a:lnSpc>
                <a:spcPct val="114000"/>
              </a:lnSpc>
            </a:pPr>
            <a:r>
              <a:rPr lang="en-US" altLang="zh-CN" sz="3200" b="1" dirty="0">
                <a:solidFill>
                  <a:srgbClr val="FF0000"/>
                </a:solidFill>
                <a:latin typeface="+mj-lt"/>
              </a:rPr>
              <a:t>come in</a:t>
            </a:r>
            <a:r>
              <a:rPr lang="en-US" altLang="zh-CN" sz="3200" b="1" dirty="0">
                <a:solidFill>
                  <a:srgbClr val="000000"/>
                </a:solidFill>
                <a:latin typeface="+mj-lt"/>
              </a:rPr>
              <a:t> 		       </a:t>
            </a:r>
            <a:r>
              <a:rPr lang="zh-CN" altLang="en-US" sz="3200" b="1" dirty="0">
                <a:solidFill>
                  <a:srgbClr val="000000"/>
                </a:solidFill>
                <a:latin typeface="+mj-lt"/>
              </a:rPr>
              <a:t>变得流行；在……中起作用</a:t>
            </a:r>
          </a:p>
          <a:p>
            <a:pPr>
              <a:lnSpc>
                <a:spcPct val="114000"/>
              </a:lnSpc>
            </a:pPr>
            <a:r>
              <a:rPr lang="en-US" altLang="zh-CN" sz="3200" b="1" dirty="0">
                <a:solidFill>
                  <a:srgbClr val="FF0000"/>
                </a:solidFill>
                <a:latin typeface="+mj-lt"/>
                <a:sym typeface="+mn-ea"/>
              </a:rPr>
              <a:t>come out                  </a:t>
            </a:r>
            <a:r>
              <a:rPr lang="zh-CN" altLang="en-US" sz="3200" b="1" dirty="0">
                <a:solidFill>
                  <a:srgbClr val="000000"/>
                </a:solidFill>
                <a:latin typeface="+mj-lt"/>
                <a:sym typeface="+mn-ea"/>
              </a:rPr>
              <a:t>出来；出版；开花 </a:t>
            </a:r>
            <a:r>
              <a:rPr lang="zh-CN" altLang="en-US" sz="3200" b="1" dirty="0">
                <a:solidFill>
                  <a:srgbClr val="000000"/>
                </a:solidFill>
                <a:latin typeface="+mj-lt"/>
              </a:rPr>
              <a:t> </a:t>
            </a:r>
            <a:endParaRPr lang="en-US" altLang="zh-CN" sz="3200" b="1" dirty="0">
              <a:solidFill>
                <a:srgbClr val="000000"/>
              </a:solidFill>
              <a:latin typeface="+mj-lt"/>
            </a:endParaRPr>
          </a:p>
          <a:p>
            <a:pPr>
              <a:lnSpc>
                <a:spcPct val="114000"/>
              </a:lnSpc>
            </a:pPr>
            <a:r>
              <a:rPr lang="en-US" altLang="zh-CN" sz="3200" b="1" dirty="0">
                <a:solidFill>
                  <a:srgbClr val="FF0000"/>
                </a:solidFill>
                <a:latin typeface="+mj-lt"/>
              </a:rPr>
              <a:t>(sth) come up                   </a:t>
            </a:r>
            <a:r>
              <a:rPr lang="zh-CN" altLang="en-US" sz="3200" b="1" dirty="0">
                <a:solidFill>
                  <a:srgbClr val="000000"/>
                </a:solidFill>
                <a:latin typeface="+mj-lt"/>
                <a:ea typeface="宋体" pitchFamily="2" charset="-122"/>
              </a:rPr>
              <a:t>被提出</a:t>
            </a:r>
            <a:endParaRPr lang="en-US" altLang="zh-CN" sz="3200" b="1" dirty="0">
              <a:solidFill>
                <a:srgbClr val="000000"/>
              </a:solidFill>
              <a:latin typeface="+mj-lt"/>
              <a:ea typeface="宋体" pitchFamily="2" charset="-122"/>
            </a:endParaRPr>
          </a:p>
          <a:p>
            <a:pPr>
              <a:lnSpc>
                <a:spcPct val="114000"/>
              </a:lnSpc>
            </a:pPr>
            <a:r>
              <a:rPr lang="en-US" altLang="zh-CN" sz="3200" b="1" i="0" dirty="0">
                <a:solidFill>
                  <a:srgbClr val="FF0000"/>
                </a:solidFill>
                <a:effectLst/>
                <a:latin typeface="+mj-lt"/>
                <a:ea typeface="宋体" pitchFamily="2" charset="-122"/>
              </a:rPr>
              <a:t>(sb) come up with           </a:t>
            </a:r>
            <a:r>
              <a:rPr lang="zh-CN" altLang="en-US" sz="3200" b="1" i="0" dirty="0">
                <a:solidFill>
                  <a:srgbClr val="000000"/>
                </a:solidFill>
                <a:effectLst/>
                <a:latin typeface="+mj-lt"/>
                <a:ea typeface="宋体" pitchFamily="2" charset="-122"/>
              </a:rPr>
              <a:t>提出</a:t>
            </a:r>
            <a:r>
              <a:rPr lang="en-US" altLang="zh-CN" sz="3200" b="1" i="0" dirty="0">
                <a:solidFill>
                  <a:srgbClr val="000000"/>
                </a:solidFill>
                <a:effectLst/>
                <a:latin typeface="+mj-lt"/>
                <a:ea typeface="宋体" pitchFamily="2" charset="-122"/>
              </a:rPr>
              <a:t>; </a:t>
            </a:r>
            <a:r>
              <a:rPr lang="zh-CN" altLang="en-US" sz="3200" b="1" i="0" dirty="0">
                <a:solidFill>
                  <a:srgbClr val="000000"/>
                </a:solidFill>
                <a:effectLst/>
                <a:latin typeface="+mj-lt"/>
                <a:ea typeface="宋体" pitchFamily="2" charset="-122"/>
              </a:rPr>
              <a:t>想出</a:t>
            </a:r>
            <a:endParaRPr lang="zh-CN" altLang="en-US" sz="3200" b="1" i="0" dirty="0">
              <a:solidFill>
                <a:srgbClr val="000000"/>
              </a:solidFill>
              <a:effectLst/>
              <a:latin typeface="+mj-lt"/>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ldLvl="0" animBg="1"/>
    </p:bldLst>
  </p:timing>
</p:sld>
</file>

<file path=ppt/slides/slide2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矩形 1"/>
          <p:cNvSpPr/>
          <p:nvPr/>
        </p:nvSpPr>
        <p:spPr>
          <a:xfrm>
            <a:off x="77470" y="0"/>
            <a:ext cx="11991340" cy="5406390"/>
          </a:xfrm>
          <a:prstGeom prst="rect">
            <a:avLst/>
          </a:prstGeom>
        </p:spPr>
        <p:txBody>
          <a:bodyPr wrap="square">
            <a:spAutoFit/>
          </a:bodyPr>
          <a:lstStyle/>
          <a:p>
            <a:pPr>
              <a:lnSpc>
                <a:spcPct val="120000"/>
              </a:lnSpc>
            </a:pPr>
            <a:r>
              <a:rPr lang="en-US" altLang="zh-CN" sz="3200" b="1" dirty="0">
                <a:solidFill>
                  <a:srgbClr val="000000"/>
                </a:solidFill>
              </a:rPr>
              <a:t> 1) Alex decided to take a holiday after his book ___________.</a:t>
            </a:r>
          </a:p>
          <a:p>
            <a:pPr marL="539750" indent="-539750">
              <a:lnSpc>
                <a:spcPct val="120000"/>
              </a:lnSpc>
            </a:pPr>
            <a:r>
              <a:rPr lang="en-US" altLang="zh-CN" sz="3200" b="1" dirty="0">
                <a:solidFill>
                  <a:srgbClr val="000000"/>
                </a:solidFill>
              </a:rPr>
              <a:t> 2) Kevin _______________ as a very pleasant and charming young man in the interview.</a:t>
            </a:r>
          </a:p>
          <a:p>
            <a:pPr marL="539750" indent="-539750">
              <a:lnSpc>
                <a:spcPct val="120000"/>
              </a:lnSpc>
            </a:pPr>
            <a:r>
              <a:rPr lang="en-US" altLang="zh-CN" sz="3200" b="1" dirty="0">
                <a:solidFill>
                  <a:srgbClr val="000000"/>
                </a:solidFill>
              </a:rPr>
              <a:t> 3) Eric was late again, but I’m not sure how it ____________ this time.</a:t>
            </a:r>
          </a:p>
          <a:p>
            <a:pPr marL="539750" indent="-539750">
              <a:lnSpc>
                <a:spcPct val="120000"/>
              </a:lnSpc>
            </a:pPr>
            <a:r>
              <a:rPr lang="en-US" altLang="zh-CN" sz="3200" b="1" dirty="0">
                <a:solidFill>
                  <a:srgbClr val="000000"/>
                </a:solidFill>
              </a:rPr>
              <a:t> 4) I ______________ a beautiful poem in this book yesterday.</a:t>
            </a:r>
          </a:p>
          <a:p>
            <a:pPr marL="539750" indent="-539750">
              <a:lnSpc>
                <a:spcPct val="120000"/>
              </a:lnSpc>
            </a:pPr>
            <a:r>
              <a:rPr lang="en-US" altLang="zh-CN" sz="3200" b="1" dirty="0">
                <a:solidFill>
                  <a:srgbClr val="000000"/>
                </a:solidFill>
              </a:rPr>
              <a:t> 5) There's a big press launch today and you're most welcome to ____________.</a:t>
            </a:r>
          </a:p>
          <a:p>
            <a:pPr marL="539750" indent="-539750">
              <a:lnSpc>
                <a:spcPct val="120000"/>
              </a:lnSpc>
            </a:pPr>
            <a:r>
              <a:rPr lang="en-US" altLang="zh-CN" sz="3200" b="1" dirty="0">
                <a:solidFill>
                  <a:srgbClr val="000000"/>
                </a:solidFill>
                <a:effectLst/>
              </a:rPr>
              <a:t> 6) Other projects __________ and the emphasis of my work altered.</a:t>
            </a:r>
          </a:p>
        </p:txBody>
      </p:sp>
      <p:sp>
        <p:nvSpPr>
          <p:cNvPr id="7" name="矩形 6"/>
          <p:cNvSpPr/>
          <p:nvPr/>
        </p:nvSpPr>
        <p:spPr>
          <a:xfrm>
            <a:off x="8603524" y="-313"/>
            <a:ext cx="1939637" cy="584775"/>
          </a:xfrm>
          <a:prstGeom prst="rect">
            <a:avLst/>
          </a:prstGeom>
        </p:spPr>
        <p:txBody>
          <a:bodyPr wrap="square">
            <a:spAutoFit/>
          </a:bodyPr>
          <a:lstStyle/>
          <a:p>
            <a:r>
              <a:rPr lang="en-US" altLang="zh-CN" sz="3200" b="1" dirty="0">
                <a:solidFill>
                  <a:srgbClr val="FF0000"/>
                </a:solidFill>
              </a:rPr>
              <a:t>came out</a:t>
            </a:r>
            <a:endParaRPr lang="en-US" altLang="zh-CN" sz="3200" b="1" i="0" dirty="0">
              <a:solidFill>
                <a:srgbClr val="FF0000"/>
              </a:solidFill>
              <a:effectLst/>
            </a:endParaRPr>
          </a:p>
        </p:txBody>
      </p:sp>
      <p:sp>
        <p:nvSpPr>
          <p:cNvPr id="9" name="矩形 8"/>
          <p:cNvSpPr/>
          <p:nvPr/>
        </p:nvSpPr>
        <p:spPr>
          <a:xfrm>
            <a:off x="8454127" y="1856166"/>
            <a:ext cx="2201244" cy="584775"/>
          </a:xfrm>
          <a:prstGeom prst="rect">
            <a:avLst/>
          </a:prstGeom>
        </p:spPr>
        <p:txBody>
          <a:bodyPr wrap="none">
            <a:spAutoFit/>
          </a:bodyPr>
          <a:lstStyle/>
          <a:p>
            <a:r>
              <a:rPr lang="en-US" altLang="zh-CN" sz="3200" b="1" dirty="0">
                <a:solidFill>
                  <a:srgbClr val="FF0000"/>
                </a:solidFill>
              </a:rPr>
              <a:t>came about</a:t>
            </a:r>
            <a:endParaRPr lang="zh-CN" altLang="en-US" sz="3200" b="1" dirty="0">
              <a:solidFill>
                <a:srgbClr val="FF0000"/>
              </a:solidFill>
            </a:endParaRPr>
          </a:p>
        </p:txBody>
      </p:sp>
      <p:sp>
        <p:nvSpPr>
          <p:cNvPr id="10" name="矩形 9"/>
          <p:cNvSpPr/>
          <p:nvPr/>
        </p:nvSpPr>
        <p:spPr>
          <a:xfrm>
            <a:off x="877289" y="4074777"/>
            <a:ext cx="2237105" cy="583565"/>
          </a:xfrm>
          <a:prstGeom prst="rect">
            <a:avLst/>
          </a:prstGeom>
        </p:spPr>
        <p:txBody>
          <a:bodyPr wrap="none">
            <a:spAutoFit/>
          </a:bodyPr>
          <a:lstStyle/>
          <a:p>
            <a:r>
              <a:rPr lang="en-US" altLang="zh-CN" sz="3200" b="1" dirty="0">
                <a:solidFill>
                  <a:srgbClr val="FF0000"/>
                </a:solidFill>
              </a:rPr>
              <a:t>come along </a:t>
            </a:r>
            <a:endParaRPr lang="zh-CN" altLang="en-US" sz="3200" b="1" dirty="0">
              <a:solidFill>
                <a:srgbClr val="FF0000"/>
              </a:solidFill>
            </a:endParaRPr>
          </a:p>
        </p:txBody>
      </p:sp>
      <p:sp>
        <p:nvSpPr>
          <p:cNvPr id="3" name="矩形 2"/>
          <p:cNvSpPr/>
          <p:nvPr/>
        </p:nvSpPr>
        <p:spPr>
          <a:xfrm>
            <a:off x="1333398" y="2931234"/>
            <a:ext cx="2288383" cy="584775"/>
          </a:xfrm>
          <a:prstGeom prst="rect">
            <a:avLst/>
          </a:prstGeom>
        </p:spPr>
        <p:txBody>
          <a:bodyPr wrap="none">
            <a:spAutoFit/>
          </a:bodyPr>
          <a:lstStyle/>
          <a:p>
            <a:r>
              <a:rPr lang="en-US" altLang="zh-CN" sz="3200" b="1" dirty="0">
                <a:solidFill>
                  <a:srgbClr val="FF0000"/>
                </a:solidFill>
              </a:rPr>
              <a:t>came across</a:t>
            </a:r>
            <a:endParaRPr lang="zh-CN" altLang="en-US" sz="3200" dirty="0"/>
          </a:p>
        </p:txBody>
      </p:sp>
      <p:sp>
        <p:nvSpPr>
          <p:cNvPr id="11" name="矩形 10"/>
          <p:cNvSpPr/>
          <p:nvPr/>
        </p:nvSpPr>
        <p:spPr>
          <a:xfrm>
            <a:off x="2202002" y="584155"/>
            <a:ext cx="2288383" cy="584775"/>
          </a:xfrm>
          <a:prstGeom prst="rect">
            <a:avLst/>
          </a:prstGeom>
        </p:spPr>
        <p:txBody>
          <a:bodyPr wrap="none">
            <a:spAutoFit/>
          </a:bodyPr>
          <a:lstStyle/>
          <a:p>
            <a:r>
              <a:rPr lang="en-US" altLang="zh-CN" sz="3200" b="1" dirty="0">
                <a:solidFill>
                  <a:srgbClr val="FF0000"/>
                </a:solidFill>
              </a:rPr>
              <a:t>came across</a:t>
            </a:r>
          </a:p>
        </p:txBody>
      </p:sp>
      <p:sp>
        <p:nvSpPr>
          <p:cNvPr id="4" name="矩形 9"/>
          <p:cNvSpPr/>
          <p:nvPr>
            <p:custDataLst>
              <p:tags r:id="rId2"/>
            </p:custDataLst>
          </p:nvPr>
        </p:nvSpPr>
        <p:spPr>
          <a:xfrm>
            <a:off x="3485234" y="4761212"/>
            <a:ext cx="1638935" cy="583565"/>
          </a:xfrm>
          <a:prstGeom prst="rect">
            <a:avLst/>
          </a:prstGeom>
        </p:spPr>
        <p:txBody>
          <a:bodyPr wrap="none">
            <a:spAutoFit/>
          </a:bodyPr>
          <a:lstStyle/>
          <a:p>
            <a:r>
              <a:rPr lang="en-US" altLang="zh-CN" sz="3200" b="1" dirty="0">
                <a:solidFill>
                  <a:srgbClr val="FF0000"/>
                </a:solidFill>
              </a:rPr>
              <a:t>came up</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randombar(horizontal)">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randombar(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randombar(horizontal)">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randombar(horizont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randombar(horizontal)">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14" presetClass="entr" presetSubtype="10" fill="hold" grpId="0" nodeType="click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randombar(horizontal)">
                                      <p:cBhvr>
                                        <p:cTn id="3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P spid="3" grpId="0"/>
      <p:bldP spid="11" grpId="0"/>
      <p:bldP spid="4"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矩形 1"/>
          <p:cNvSpPr/>
          <p:nvPr/>
        </p:nvSpPr>
        <p:spPr>
          <a:xfrm>
            <a:off x="77470" y="0"/>
            <a:ext cx="11991340" cy="4225290"/>
          </a:xfrm>
          <a:prstGeom prst="rect">
            <a:avLst/>
          </a:prstGeom>
        </p:spPr>
        <p:txBody>
          <a:bodyPr wrap="square">
            <a:spAutoFit/>
          </a:bodyPr>
          <a:lstStyle/>
          <a:p>
            <a:pPr>
              <a:lnSpc>
                <a:spcPct val="120000"/>
              </a:lnSpc>
            </a:pPr>
            <a:r>
              <a:rPr lang="en-US" altLang="zh-CN" sz="3200" b="1" dirty="0">
                <a:solidFill>
                  <a:srgbClr val="000000"/>
                </a:solidFill>
              </a:rPr>
              <a:t>1. </a:t>
            </a:r>
            <a:r>
              <a:rPr lang="zh-CN" altLang="en-US" sz="3200" b="1" dirty="0">
                <a:solidFill>
                  <a:srgbClr val="000000"/>
                </a:solidFill>
              </a:rPr>
              <a:t>机会出现时，要努力抓住。</a:t>
            </a:r>
            <a:endParaRPr lang="en-US" altLang="zh-CN" sz="3200" b="1" dirty="0">
              <a:solidFill>
                <a:srgbClr val="000000"/>
              </a:solidFill>
            </a:endParaRPr>
          </a:p>
          <a:p>
            <a:pPr>
              <a:lnSpc>
                <a:spcPct val="120000"/>
              </a:lnSpc>
            </a:pPr>
            <a:r>
              <a:rPr lang="en-US" altLang="zh-CN" sz="3200" b="1" dirty="0">
                <a:solidFill>
                  <a:srgbClr val="000000"/>
                </a:solidFill>
              </a:rPr>
              <a:t>Try to _______________________ when it ______________.</a:t>
            </a:r>
            <a:endParaRPr lang="zh-CN" altLang="en-US" sz="3200" b="1" dirty="0">
              <a:solidFill>
                <a:srgbClr val="000000"/>
              </a:solidFill>
            </a:endParaRPr>
          </a:p>
          <a:p>
            <a:pPr>
              <a:lnSpc>
                <a:spcPct val="120000"/>
              </a:lnSpc>
            </a:pPr>
            <a:r>
              <a:rPr lang="en-US" altLang="zh-CN" sz="3200" b="1" dirty="0">
                <a:solidFill>
                  <a:srgbClr val="000000"/>
                </a:solidFill>
              </a:rPr>
              <a:t>2. This system is too complex and that’s _______________________.</a:t>
            </a:r>
          </a:p>
          <a:p>
            <a:pPr>
              <a:lnSpc>
                <a:spcPct val="120000"/>
              </a:lnSpc>
            </a:pPr>
            <a:r>
              <a:rPr lang="en-US" altLang="zh-CN" sz="3200" b="1" dirty="0">
                <a:solidFill>
                  <a:srgbClr val="000000"/>
                </a:solidFill>
              </a:rPr>
              <a:t>3. He was very happy because his parents would ___________ to see him during the holiday.</a:t>
            </a:r>
          </a:p>
          <a:p>
            <a:pPr>
              <a:lnSpc>
                <a:spcPct val="120000"/>
              </a:lnSpc>
            </a:pPr>
            <a:r>
              <a:rPr lang="en-US" altLang="zh-CN" sz="3200" b="1" dirty="0">
                <a:solidFill>
                  <a:srgbClr val="000000"/>
                </a:solidFill>
              </a:rPr>
              <a:t>4. </a:t>
            </a:r>
            <a:r>
              <a:rPr lang="zh-CN" altLang="en-US" sz="3200" b="1" dirty="0">
                <a:solidFill>
                  <a:srgbClr val="000000"/>
                </a:solidFill>
              </a:rPr>
              <a:t>他没能想出解决这个问题的方法。</a:t>
            </a:r>
          </a:p>
          <a:p>
            <a:pPr>
              <a:lnSpc>
                <a:spcPct val="120000"/>
              </a:lnSpc>
            </a:pPr>
            <a:r>
              <a:rPr lang="en-US" altLang="zh-CN" sz="3200" b="1" dirty="0">
                <a:solidFill>
                  <a:srgbClr val="000000"/>
                </a:solidFill>
              </a:rPr>
              <a:t>He ______ ____ ______ ____ ____  a solution to this problem. </a:t>
            </a:r>
            <a:endParaRPr lang="zh-CN" altLang="en-US" sz="3200" b="1" dirty="0">
              <a:solidFill>
                <a:srgbClr val="000000"/>
              </a:solidFill>
            </a:endParaRPr>
          </a:p>
        </p:txBody>
      </p:sp>
      <p:sp>
        <p:nvSpPr>
          <p:cNvPr id="7" name="矩形 6"/>
          <p:cNvSpPr/>
          <p:nvPr/>
        </p:nvSpPr>
        <p:spPr>
          <a:xfrm>
            <a:off x="7661275" y="583565"/>
            <a:ext cx="2882265" cy="583565"/>
          </a:xfrm>
          <a:prstGeom prst="rect">
            <a:avLst/>
          </a:prstGeom>
        </p:spPr>
        <p:txBody>
          <a:bodyPr wrap="square">
            <a:spAutoFit/>
          </a:bodyPr>
          <a:lstStyle/>
          <a:p>
            <a:r>
              <a:rPr lang="en-US" altLang="zh-CN" sz="3200" b="1" dirty="0">
                <a:solidFill>
                  <a:srgbClr val="FF0000"/>
                </a:solidFill>
              </a:rPr>
              <a:t>comes along</a:t>
            </a:r>
            <a:endParaRPr lang="en-US" altLang="zh-CN" sz="3200" b="1" i="0" dirty="0">
              <a:solidFill>
                <a:srgbClr val="FF0000"/>
              </a:solidFill>
              <a:effectLst/>
            </a:endParaRPr>
          </a:p>
        </p:txBody>
      </p:sp>
      <p:sp>
        <p:nvSpPr>
          <p:cNvPr id="8" name="矩形 7"/>
          <p:cNvSpPr/>
          <p:nvPr/>
        </p:nvSpPr>
        <p:spPr>
          <a:xfrm>
            <a:off x="1552306" y="584155"/>
            <a:ext cx="4077970" cy="583565"/>
          </a:xfrm>
          <a:prstGeom prst="rect">
            <a:avLst/>
          </a:prstGeom>
        </p:spPr>
        <p:txBody>
          <a:bodyPr wrap="none">
            <a:spAutoFit/>
          </a:bodyPr>
          <a:lstStyle/>
          <a:p>
            <a:pPr algn="l"/>
            <a:r>
              <a:rPr lang="en-US" altLang="zh-CN" sz="3200" b="1" dirty="0">
                <a:solidFill>
                  <a:srgbClr val="FF0000"/>
                </a:solidFill>
                <a:sym typeface="+mn-ea"/>
              </a:rPr>
              <a:t> grasp the opportunity</a:t>
            </a:r>
          </a:p>
        </p:txBody>
      </p:sp>
      <p:sp>
        <p:nvSpPr>
          <p:cNvPr id="9" name="矩形 8"/>
          <p:cNvSpPr/>
          <p:nvPr/>
        </p:nvSpPr>
        <p:spPr>
          <a:xfrm>
            <a:off x="8723367" y="1755836"/>
            <a:ext cx="1953895" cy="583565"/>
          </a:xfrm>
          <a:prstGeom prst="rect">
            <a:avLst/>
          </a:prstGeom>
        </p:spPr>
        <p:txBody>
          <a:bodyPr wrap="none">
            <a:spAutoFit/>
          </a:bodyPr>
          <a:lstStyle/>
          <a:p>
            <a:r>
              <a:rPr lang="en-US" altLang="zh-CN" sz="3200" b="1" dirty="0">
                <a:solidFill>
                  <a:srgbClr val="FF0000"/>
                </a:solidFill>
              </a:rPr>
              <a:t>come over</a:t>
            </a:r>
            <a:endParaRPr lang="zh-CN" altLang="en-US" sz="3200" b="1" dirty="0">
              <a:solidFill>
                <a:srgbClr val="FF0000"/>
              </a:solidFill>
            </a:endParaRPr>
          </a:p>
        </p:txBody>
      </p:sp>
      <p:sp>
        <p:nvSpPr>
          <p:cNvPr id="3" name="矩形 2"/>
          <p:cNvSpPr/>
          <p:nvPr/>
        </p:nvSpPr>
        <p:spPr>
          <a:xfrm>
            <a:off x="826033" y="3558614"/>
            <a:ext cx="5341620" cy="583565"/>
          </a:xfrm>
          <a:prstGeom prst="rect">
            <a:avLst/>
          </a:prstGeom>
        </p:spPr>
        <p:txBody>
          <a:bodyPr wrap="none">
            <a:spAutoFit/>
          </a:bodyPr>
          <a:lstStyle/>
          <a:p>
            <a:r>
              <a:rPr lang="en-US" altLang="zh-CN" sz="3200" b="1" dirty="0">
                <a:solidFill>
                  <a:srgbClr val="FF0000"/>
                </a:solidFill>
              </a:rPr>
              <a:t>failed     to     come    up   with</a:t>
            </a:r>
            <a:endParaRPr lang="zh-CN" altLang="en-US" sz="3200" dirty="0"/>
          </a:p>
        </p:txBody>
      </p:sp>
      <p:sp>
        <p:nvSpPr>
          <p:cNvPr id="11" name="矩形 10"/>
          <p:cNvSpPr/>
          <p:nvPr/>
        </p:nvSpPr>
        <p:spPr>
          <a:xfrm>
            <a:off x="7078167" y="1169625"/>
            <a:ext cx="4990465" cy="583565"/>
          </a:xfrm>
          <a:prstGeom prst="rect">
            <a:avLst/>
          </a:prstGeom>
        </p:spPr>
        <p:txBody>
          <a:bodyPr wrap="none">
            <a:spAutoFit/>
          </a:bodyPr>
          <a:lstStyle/>
          <a:p>
            <a:r>
              <a:rPr lang="en-US" altLang="zh-CN" sz="3200" b="1" dirty="0">
                <a:solidFill>
                  <a:srgbClr val="FF0000"/>
                </a:solidFill>
              </a:rPr>
              <a:t>where the scientist comes in</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randombar(horizontal)">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randombar(horizontal)">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randombar(horizontal)">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randombar(horizontal)">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9" grpId="0"/>
      <p:bldP spid="3" grpId="0"/>
      <p:bldP spid="11" grpId="0"/>
    </p:bldLst>
  </p:timing>
</p:sld>
</file>

<file path=ppt/slides/slide3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7" name="文本框 6"/>
          <p:cNvSpPr txBox="1"/>
          <p:nvPr/>
        </p:nvSpPr>
        <p:spPr>
          <a:xfrm>
            <a:off x="141605" y="165100"/>
            <a:ext cx="11721465" cy="6263005"/>
          </a:xfrm>
          <a:prstGeom prst="rect">
            <a:avLst/>
          </a:prstGeom>
          <a:noFill/>
        </p:spPr>
        <p:txBody>
          <a:bodyPr wrap="square">
            <a:spAutoFit/>
          </a:bodyPr>
          <a:lstStyle/>
          <a:p>
            <a:pPr indent="0" fontAlgn="auto">
              <a:lnSpc>
                <a:spcPct val="114000"/>
              </a:lnSpc>
            </a:pPr>
            <a:r>
              <a:rPr lang="en-US" altLang="zh-CN" sz="3200" b="1" dirty="0">
                <a:solidFill>
                  <a:srgbClr val="FF0000"/>
                </a:solidFill>
                <a:cs typeface="Times New Roman" panose="02020503050405090304" pitchFamily="18" charset="0"/>
              </a:rPr>
              <a:t>1. a top priority/the first priority </a:t>
            </a:r>
            <a:r>
              <a:rPr lang="zh-CN" altLang="en-US" sz="3200" b="1" dirty="0">
                <a:solidFill>
                  <a:schemeClr val="tx1"/>
                </a:solidFill>
                <a:cs typeface="Times New Roman" panose="02020503050405090304" pitchFamily="18" charset="0"/>
              </a:rPr>
              <a:t>当务之急</a:t>
            </a:r>
            <a:endParaRPr lang="zh-CN" altLang="en-US" sz="3200" b="1" dirty="0">
              <a:solidFill>
                <a:srgbClr val="FF0000"/>
              </a:solidFill>
              <a:cs typeface="Times New Roman" panose="02020503050405090304" pitchFamily="18" charset="0"/>
            </a:endParaRPr>
          </a:p>
          <a:p>
            <a:pPr indent="0" fontAlgn="auto">
              <a:lnSpc>
                <a:spcPct val="114000"/>
              </a:lnSpc>
            </a:pPr>
            <a:r>
              <a:rPr lang="zh-CN" altLang="en-US" sz="3200" b="1" u="sng" dirty="0">
                <a:solidFill>
                  <a:srgbClr val="FF0000"/>
                </a:solidFill>
                <a:cs typeface="Times New Roman" panose="02020503050405090304" pitchFamily="18" charset="0"/>
              </a:rPr>
              <a:t>Our first priority is to</a:t>
            </a:r>
            <a:r>
              <a:rPr lang="zh-CN" altLang="en-US" sz="3200" b="1" dirty="0">
                <a:solidFill>
                  <a:srgbClr val="FF0000"/>
                </a:solidFill>
                <a:cs typeface="Times New Roman" panose="02020503050405090304" pitchFamily="18" charset="0"/>
              </a:rPr>
              <a:t> </a:t>
            </a:r>
            <a:r>
              <a:rPr lang="zh-CN" altLang="en-US" sz="3200" b="1" dirty="0">
                <a:solidFill>
                  <a:schemeClr val="tx1"/>
                </a:solidFill>
                <a:cs typeface="Times New Roman" panose="02020503050405090304" pitchFamily="18" charset="0"/>
              </a:rPr>
              <a:t>improve standards</a:t>
            </a:r>
            <a:r>
              <a:rPr lang="zh-CN" altLang="en-US" sz="3200" b="1" dirty="0">
                <a:solidFill>
                  <a:srgbClr val="FF0000"/>
                </a:solidFill>
                <a:cs typeface="Times New Roman" panose="02020503050405090304" pitchFamily="18" charset="0"/>
              </a:rPr>
              <a:t>.</a:t>
            </a:r>
          </a:p>
          <a:p>
            <a:pPr indent="0" fontAlgn="auto">
              <a:lnSpc>
                <a:spcPct val="114000"/>
              </a:lnSpc>
            </a:pPr>
            <a:r>
              <a:rPr lang="en-US" altLang="zh-CN" sz="3200" b="1" dirty="0">
                <a:solidFill>
                  <a:schemeClr val="tx1"/>
                </a:solidFill>
                <a:cs typeface="Times New Roman" panose="02020503050405090304" pitchFamily="18" charset="0"/>
              </a:rPr>
              <a:t>2. </a:t>
            </a:r>
            <a:r>
              <a:rPr lang="zh-CN" altLang="en-US" sz="3200" b="1" dirty="0">
                <a:solidFill>
                  <a:schemeClr val="tx1"/>
                </a:solidFill>
                <a:cs typeface="Times New Roman" panose="02020503050405090304" pitchFamily="18" charset="0"/>
              </a:rPr>
              <a:t>The search for a new vaccine will </a:t>
            </a:r>
            <a:r>
              <a:rPr lang="zh-CN" altLang="en-US" sz="3200" b="1" u="sng" dirty="0">
                <a:solidFill>
                  <a:srgbClr val="FF0000"/>
                </a:solidFill>
                <a:cs typeface="Times New Roman" panose="02020503050405090304" pitchFamily="18" charset="0"/>
              </a:rPr>
              <a:t>take priority over</a:t>
            </a:r>
            <a:r>
              <a:rPr lang="zh-CN" altLang="en-US" sz="3200" b="1" dirty="0">
                <a:solidFill>
                  <a:srgbClr val="FF0000"/>
                </a:solidFill>
                <a:cs typeface="Times New Roman" panose="02020503050405090304" pitchFamily="18" charset="0"/>
              </a:rPr>
              <a:t> </a:t>
            </a:r>
            <a:r>
              <a:rPr lang="zh-CN" altLang="en-US" sz="3200" b="1" dirty="0">
                <a:solidFill>
                  <a:schemeClr val="tx1"/>
                </a:solidFill>
                <a:cs typeface="Times New Roman" panose="02020503050405090304" pitchFamily="18" charset="0"/>
              </a:rPr>
              <a:t>all other medical research.</a:t>
            </a:r>
            <a:r>
              <a:rPr lang="en-US" altLang="zh-CN" sz="3200" b="1" dirty="0">
                <a:solidFill>
                  <a:schemeClr val="tx1"/>
                </a:solidFill>
                <a:cs typeface="Times New Roman" panose="02020503050405090304" pitchFamily="18" charset="0"/>
              </a:rPr>
              <a:t> </a:t>
            </a:r>
            <a:r>
              <a:rPr lang="zh-CN" altLang="en-US" sz="3200" b="1" dirty="0">
                <a:solidFill>
                  <a:schemeClr val="tx1"/>
                </a:solidFill>
                <a:cs typeface="Times New Roman" panose="02020503050405090304" pitchFamily="18" charset="0"/>
              </a:rPr>
              <a:t>优先于</a:t>
            </a:r>
          </a:p>
          <a:p>
            <a:pPr indent="0" fontAlgn="auto">
              <a:lnSpc>
                <a:spcPct val="114000"/>
              </a:lnSpc>
            </a:pPr>
            <a:r>
              <a:rPr lang="en-US" altLang="zh-CN" sz="3200" b="1" dirty="0">
                <a:solidFill>
                  <a:schemeClr val="tx1"/>
                </a:solidFill>
                <a:cs typeface="Times New Roman" panose="02020503050405090304" pitchFamily="18" charset="0"/>
              </a:rPr>
              <a:t>3. Club members will be </a:t>
            </a:r>
            <a:r>
              <a:rPr lang="en-US" altLang="zh-CN" sz="3200" b="1" u="sng" dirty="0">
                <a:solidFill>
                  <a:srgbClr val="FF0000"/>
                </a:solidFill>
                <a:cs typeface="Times New Roman" panose="02020503050405090304" pitchFamily="18" charset="0"/>
              </a:rPr>
              <a:t>given priority</a:t>
            </a:r>
            <a:r>
              <a:rPr lang="en-US" altLang="zh-CN" sz="3200" b="1" dirty="0">
                <a:solidFill>
                  <a:schemeClr val="tx1"/>
                </a:solidFill>
                <a:cs typeface="Times New Roman" panose="02020503050405090304" pitchFamily="18" charset="0"/>
              </a:rPr>
              <a:t>. (</a:t>
            </a:r>
            <a:r>
              <a:rPr lang="en-US" altLang="zh-CN" sz="3200" b="1" dirty="0">
                <a:solidFill>
                  <a:srgbClr val="FF0000"/>
                </a:solidFill>
                <a:cs typeface="Times New Roman" panose="02020503050405090304" pitchFamily="18" charset="0"/>
              </a:rPr>
              <a:t>give priority to sth</a:t>
            </a:r>
            <a:r>
              <a:rPr lang="en-US" altLang="zh-CN" sz="3200" b="1" dirty="0">
                <a:solidFill>
                  <a:schemeClr val="tx1"/>
                </a:solidFill>
                <a:cs typeface="Times New Roman" panose="02020503050405090304" pitchFamily="18" charset="0"/>
              </a:rPr>
              <a:t> </a:t>
            </a:r>
            <a:r>
              <a:rPr lang="zh-CN" altLang="en-US" sz="3200" b="1" dirty="0">
                <a:solidFill>
                  <a:schemeClr val="tx1"/>
                </a:solidFill>
                <a:cs typeface="Times New Roman" panose="02020503050405090304" pitchFamily="18" charset="0"/>
              </a:rPr>
              <a:t>优先考虑某事</a:t>
            </a:r>
            <a:r>
              <a:rPr lang="en-US" altLang="zh-CN" sz="3200" b="1" dirty="0">
                <a:solidFill>
                  <a:schemeClr val="tx1"/>
                </a:solidFill>
                <a:cs typeface="Times New Roman" panose="02020503050405090304" pitchFamily="18" charset="0"/>
              </a:rPr>
              <a:t>)</a:t>
            </a:r>
          </a:p>
          <a:p>
            <a:pPr indent="0" fontAlgn="auto">
              <a:lnSpc>
                <a:spcPct val="114000"/>
              </a:lnSpc>
            </a:pPr>
            <a:endParaRPr lang="en-US" altLang="zh-CN" sz="3200" b="1" dirty="0">
              <a:solidFill>
                <a:schemeClr val="tx1"/>
              </a:solidFill>
              <a:cs typeface="Times New Roman" panose="02020503050405090304" pitchFamily="18" charset="0"/>
            </a:endParaRPr>
          </a:p>
          <a:p>
            <a:pPr indent="0" fontAlgn="auto">
              <a:lnSpc>
                <a:spcPct val="114000"/>
              </a:lnSpc>
            </a:pPr>
            <a:r>
              <a:rPr lang="en-US" altLang="zh-CN" sz="3200" b="1" dirty="0">
                <a:solidFill>
                  <a:srgbClr val="FF0000"/>
                </a:solidFill>
                <a:cs typeface="Times New Roman" panose="02020503050405090304" pitchFamily="18" charset="0"/>
              </a:rPr>
              <a:t>priorities</a:t>
            </a:r>
            <a:r>
              <a:rPr lang="en-US" altLang="zh-CN" sz="3200" b="1" dirty="0">
                <a:solidFill>
                  <a:schemeClr val="tx1"/>
                </a:solidFill>
                <a:cs typeface="Times New Roman" panose="02020503050405090304" pitchFamily="18" charset="0"/>
              </a:rPr>
              <a:t> </a:t>
            </a:r>
            <a:r>
              <a:rPr lang="zh-CN" altLang="en-US" sz="3200" b="1" dirty="0">
                <a:solidFill>
                  <a:schemeClr val="tx1"/>
                </a:solidFill>
                <a:cs typeface="Times New Roman" panose="02020503050405090304" pitchFamily="18" charset="0"/>
              </a:rPr>
              <a:t>优先事项</a:t>
            </a:r>
            <a:endParaRPr lang="en-US" altLang="zh-CN" sz="3200" b="1" dirty="0">
              <a:solidFill>
                <a:schemeClr val="tx1"/>
              </a:solidFill>
              <a:cs typeface="Times New Roman" panose="02020503050405090304" pitchFamily="18" charset="0"/>
            </a:endParaRPr>
          </a:p>
          <a:p>
            <a:pPr indent="0" fontAlgn="auto">
              <a:lnSpc>
                <a:spcPct val="114000"/>
              </a:lnSpc>
            </a:pPr>
            <a:r>
              <a:rPr lang="en-US" altLang="zh-CN" sz="3200" b="1" dirty="0">
                <a:cs typeface="Times New Roman" panose="02020503050405090304" pitchFamily="18" charset="0"/>
                <a:sym typeface="+mn-ea"/>
              </a:rPr>
              <a:t>1. </a:t>
            </a:r>
            <a:r>
              <a:rPr lang="zh-CN" altLang="en-US" sz="3200" b="1" dirty="0">
                <a:cs typeface="Times New Roman" panose="02020503050405090304" pitchFamily="18" charset="0"/>
                <a:sym typeface="+mn-ea"/>
              </a:rPr>
              <a:t>Financial security </a:t>
            </a:r>
            <a:r>
              <a:rPr lang="zh-CN" altLang="en-US" sz="3200" b="1" u="sng" dirty="0">
                <a:solidFill>
                  <a:srgbClr val="FF0000"/>
                </a:solidFill>
                <a:cs typeface="Times New Roman" panose="02020503050405090304" pitchFamily="18" charset="0"/>
                <a:sym typeface="+mn-ea"/>
              </a:rPr>
              <a:t>was high on his list of priorities</a:t>
            </a:r>
            <a:r>
              <a:rPr lang="zh-CN" altLang="en-US" sz="3200" b="1" dirty="0">
                <a:solidFill>
                  <a:srgbClr val="FF0000"/>
                </a:solidFill>
                <a:cs typeface="Times New Roman" panose="02020503050405090304" pitchFamily="18" charset="0"/>
                <a:sym typeface="+mn-ea"/>
              </a:rPr>
              <a:t>.</a:t>
            </a:r>
            <a:endParaRPr lang="en-US" altLang="zh-CN" sz="3200" b="1" dirty="0">
              <a:solidFill>
                <a:schemeClr val="tx1"/>
              </a:solidFill>
              <a:cs typeface="Times New Roman" panose="02020503050405090304" pitchFamily="18" charset="0"/>
            </a:endParaRPr>
          </a:p>
          <a:p>
            <a:pPr indent="0" fontAlgn="auto">
              <a:lnSpc>
                <a:spcPct val="114000"/>
              </a:lnSpc>
            </a:pPr>
            <a:r>
              <a:rPr lang="en-US" altLang="zh-CN" sz="3200" b="1" u="sng" dirty="0">
                <a:solidFill>
                  <a:srgbClr val="FF0000"/>
                </a:solidFill>
                <a:cs typeface="Times New Roman" panose="02020503050405090304" pitchFamily="18" charset="0"/>
              </a:rPr>
              <a:t>2. Set your priorities</a:t>
            </a:r>
            <a:r>
              <a:rPr lang="en-US" altLang="zh-CN" sz="3200" b="1" dirty="0">
                <a:solidFill>
                  <a:srgbClr val="FF0000"/>
                </a:solidFill>
                <a:cs typeface="Times New Roman" panose="02020503050405090304" pitchFamily="18" charset="0"/>
              </a:rPr>
              <a:t> in a reasonable way</a:t>
            </a:r>
            <a:r>
              <a:rPr lang="en-US" altLang="zh-CN" sz="3200" b="1" dirty="0">
                <a:solidFill>
                  <a:schemeClr val="tx1"/>
                </a:solidFill>
                <a:cs typeface="Times New Roman" panose="02020503050405090304" pitchFamily="18" charset="0"/>
              </a:rPr>
              <a:t>, and you will succeed.</a:t>
            </a:r>
          </a:p>
          <a:p>
            <a:pPr indent="0" fontAlgn="auto">
              <a:lnSpc>
                <a:spcPct val="114000"/>
              </a:lnSpc>
            </a:pPr>
            <a:r>
              <a:rPr lang="zh-CN" altLang="en-US" sz="3200" b="1" dirty="0">
                <a:solidFill>
                  <a:schemeClr val="tx1"/>
                </a:solidFill>
                <a:cs typeface="Times New Roman" panose="02020503050405090304" pitchFamily="18" charset="0"/>
              </a:rPr>
              <a:t>合理安排事务的优先顺序</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7" name="文本框 6"/>
          <p:cNvSpPr txBox="1"/>
          <p:nvPr/>
        </p:nvSpPr>
        <p:spPr>
          <a:xfrm>
            <a:off x="427829" y="160254"/>
            <a:ext cx="11166763" cy="1774190"/>
          </a:xfrm>
          <a:prstGeom prst="rect">
            <a:avLst/>
          </a:prstGeom>
          <a:noFill/>
        </p:spPr>
        <p:txBody>
          <a:bodyPr wrap="square">
            <a:spAutoFit/>
          </a:bodyPr>
          <a:lstStyle/>
          <a:p>
            <a:pPr indent="0" fontAlgn="auto">
              <a:lnSpc>
                <a:spcPct val="114000"/>
              </a:lnSpc>
            </a:pPr>
            <a:r>
              <a:rPr lang="en-US" altLang="zh-CN" sz="3200" b="1" dirty="0">
                <a:solidFill>
                  <a:srgbClr val="FF0000"/>
                </a:solidFill>
                <a:cs typeface="Times New Roman" panose="02020503050405090304" pitchFamily="18" charset="0"/>
              </a:rPr>
              <a:t>We can see that </a:t>
            </a:r>
            <a:r>
              <a:rPr lang="en-US" altLang="zh-CN" sz="3200" b="1" dirty="0">
                <a:solidFill>
                  <a:prstClr val="black"/>
                </a:solidFill>
                <a:cs typeface="Times New Roman" panose="02020503050405090304" pitchFamily="18" charset="0"/>
              </a:rPr>
              <a:t>the first news report pays more attention to the rescue efforts, </a:t>
            </a:r>
            <a:r>
              <a:rPr lang="en-US" altLang="zh-CN" sz="3200" b="1" dirty="0">
                <a:solidFill>
                  <a:srgbClr val="FF0000"/>
                </a:solidFill>
                <a:cs typeface="Times New Roman" panose="02020503050405090304" pitchFamily="18" charset="0"/>
              </a:rPr>
              <a:t>while</a:t>
            </a:r>
            <a:r>
              <a:rPr lang="en-US" altLang="zh-CN" sz="3200" b="1" dirty="0">
                <a:solidFill>
                  <a:prstClr val="black"/>
                </a:solidFill>
                <a:cs typeface="Times New Roman" panose="02020503050405090304" pitchFamily="18" charset="0"/>
              </a:rPr>
              <a:t> the second talks more about deaths and injuries.  </a:t>
            </a:r>
            <a:endParaRPr lang="zh-CN" altLang="en-US" sz="3200" b="1" dirty="0">
              <a:solidFill>
                <a:prstClr val="black"/>
              </a:solidFill>
            </a:endParaRPr>
          </a:p>
        </p:txBody>
      </p:sp>
      <p:sp>
        <p:nvSpPr>
          <p:cNvPr id="2" name="矩形 1"/>
          <p:cNvSpPr/>
          <p:nvPr/>
        </p:nvSpPr>
        <p:spPr>
          <a:xfrm>
            <a:off x="427990" y="2063115"/>
            <a:ext cx="11358245" cy="3044190"/>
          </a:xfrm>
          <a:prstGeom prst="rect">
            <a:avLst/>
          </a:prstGeom>
          <a:solidFill>
            <a:srgbClr val="E6F1FE"/>
          </a:solidFill>
          <a:ln w="28575">
            <a:noFill/>
          </a:ln>
        </p:spPr>
        <p:txBody>
          <a:bodyPr wrap="square">
            <a:spAutoFit/>
          </a:bodyPr>
          <a:lstStyle/>
          <a:p>
            <a:pPr marL="443230" indent="-443230">
              <a:lnSpc>
                <a:spcPct val="120000"/>
              </a:lnSpc>
            </a:pPr>
            <a:r>
              <a:rPr lang="en-US" altLang="zh-CN" sz="3200" b="1" dirty="0">
                <a:solidFill>
                  <a:srgbClr val="9966FF"/>
                </a:solidFill>
                <a:cs typeface="Times New Roman" panose="02020503050405090304" pitchFamily="18" charset="0"/>
              </a:rPr>
              <a:t>【</a:t>
            </a:r>
            <a:r>
              <a:rPr lang="zh-CN" altLang="en-US" sz="3200" b="1" dirty="0">
                <a:solidFill>
                  <a:srgbClr val="9966FF"/>
                </a:solidFill>
                <a:cs typeface="Times New Roman" panose="02020503050405090304" pitchFamily="18" charset="0"/>
              </a:rPr>
              <a:t>分析</a:t>
            </a:r>
            <a:r>
              <a:rPr lang="en-US" altLang="zh-CN" sz="3200" b="1" dirty="0">
                <a:solidFill>
                  <a:srgbClr val="9966FF"/>
                </a:solidFill>
                <a:cs typeface="Times New Roman" panose="02020503050405090304" pitchFamily="18" charset="0"/>
              </a:rPr>
              <a:t>】</a:t>
            </a:r>
          </a:p>
          <a:p>
            <a:pPr marL="443230" indent="-443230">
              <a:lnSpc>
                <a:spcPct val="120000"/>
              </a:lnSpc>
            </a:pPr>
            <a:r>
              <a:rPr lang="zh-CN" altLang="en-US" sz="3200" b="1" dirty="0">
                <a:solidFill>
                  <a:srgbClr val="FF0000"/>
                </a:solidFill>
                <a:cs typeface="Times New Roman" panose="02020503050405090304" pitchFamily="18" charset="0"/>
              </a:rPr>
              <a:t>本句为主从复合句。</a:t>
            </a:r>
          </a:p>
          <a:p>
            <a:pPr>
              <a:lnSpc>
                <a:spcPct val="120000"/>
              </a:lnSpc>
            </a:pPr>
            <a:r>
              <a:rPr lang="en-US" altLang="zh-CN" sz="3200" b="1" dirty="0">
                <a:solidFill>
                  <a:prstClr val="black"/>
                </a:solidFill>
                <a:cs typeface="Times New Roman" panose="02020503050405090304" pitchFamily="18" charset="0"/>
              </a:rPr>
              <a:t>We can see</a:t>
            </a:r>
            <a:r>
              <a:rPr lang="zh-CN" altLang="en-US" sz="3200" b="1" dirty="0">
                <a:solidFill>
                  <a:prstClr val="black"/>
                </a:solidFill>
                <a:cs typeface="Times New Roman" panose="02020503050405090304" pitchFamily="18" charset="0"/>
              </a:rPr>
              <a:t>为</a:t>
            </a:r>
            <a:r>
              <a:rPr lang="zh-CN" altLang="en-US" sz="3200" b="1" dirty="0">
                <a:cs typeface="Times New Roman" panose="02020503050405090304" pitchFamily="18" charset="0"/>
              </a:rPr>
              <a:t>主句；</a:t>
            </a:r>
            <a:r>
              <a:rPr lang="en-US" altLang="zh-CN" sz="3200" b="1" dirty="0">
                <a:solidFill>
                  <a:srgbClr val="FF0000"/>
                </a:solidFill>
                <a:cs typeface="Times New Roman" panose="02020503050405090304" pitchFamily="18" charset="0"/>
              </a:rPr>
              <a:t>that</a:t>
            </a:r>
            <a:r>
              <a:rPr lang="en-US" altLang="zh-CN" sz="3200" b="1" dirty="0">
                <a:cs typeface="Times New Roman" panose="02020503050405090304" pitchFamily="18" charset="0"/>
              </a:rPr>
              <a:t> the first news report ... and injuries</a:t>
            </a:r>
            <a:r>
              <a:rPr lang="zh-CN" altLang="en-US" sz="3200" b="1" dirty="0">
                <a:cs typeface="Times New Roman" panose="02020503050405090304" pitchFamily="18" charset="0"/>
              </a:rPr>
              <a:t>为</a:t>
            </a:r>
            <a:r>
              <a:rPr lang="zh-CN" altLang="en-US" sz="3200" b="1" dirty="0">
                <a:solidFill>
                  <a:srgbClr val="FF0000"/>
                </a:solidFill>
                <a:cs typeface="Times New Roman" panose="02020503050405090304" pitchFamily="18" charset="0"/>
              </a:rPr>
              <a:t>宾语从句</a:t>
            </a:r>
            <a:r>
              <a:rPr lang="zh-CN" altLang="en-US" sz="3200" b="1" dirty="0">
                <a:cs typeface="Times New Roman" panose="02020503050405090304" pitchFamily="18" charset="0"/>
              </a:rPr>
              <a:t>。</a:t>
            </a:r>
            <a:endParaRPr lang="en-US" altLang="zh-CN" sz="3200" b="1" dirty="0">
              <a:cs typeface="Times New Roman" panose="02020503050405090304" pitchFamily="18" charset="0"/>
            </a:endParaRPr>
          </a:p>
          <a:p>
            <a:pPr marL="803275" indent="-803275">
              <a:lnSpc>
                <a:spcPct val="120000"/>
              </a:lnSpc>
            </a:pPr>
            <a:r>
              <a:rPr lang="en-US" altLang="zh-CN" sz="3200" b="1" dirty="0">
                <a:solidFill>
                  <a:prstClr val="black"/>
                </a:solidFill>
                <a:cs typeface="Times New Roman" panose="02020503050405090304" pitchFamily="18" charset="0"/>
              </a:rPr>
              <a:t>that</a:t>
            </a:r>
            <a:r>
              <a:rPr lang="zh-CN" altLang="en-US" sz="3200" b="1" dirty="0">
                <a:solidFill>
                  <a:prstClr val="black"/>
                </a:solidFill>
                <a:cs typeface="Times New Roman" panose="02020503050405090304" pitchFamily="18" charset="0"/>
              </a:rPr>
              <a:t>引导的宾语从句中，</a:t>
            </a:r>
            <a:r>
              <a:rPr lang="en-US" altLang="zh-CN" sz="3200" b="1" dirty="0">
                <a:solidFill>
                  <a:srgbClr val="FF0000"/>
                </a:solidFill>
                <a:cs typeface="Times New Roman" panose="02020503050405090304" pitchFamily="18" charset="0"/>
              </a:rPr>
              <a:t>while</a:t>
            </a:r>
            <a:r>
              <a:rPr lang="zh-CN" altLang="en-US" sz="3200" b="1" dirty="0">
                <a:solidFill>
                  <a:srgbClr val="FF0000"/>
                </a:solidFill>
                <a:cs typeface="Times New Roman" panose="02020503050405090304" pitchFamily="18" charset="0"/>
              </a:rPr>
              <a:t>连接两个分句，表示对比</a:t>
            </a:r>
            <a:r>
              <a:rPr lang="zh-CN" altLang="en-US" sz="3200" b="1" dirty="0">
                <a:solidFill>
                  <a:prstClr val="black"/>
                </a:solidFill>
                <a:cs typeface="Times New Roman" panose="02020503050405090304" pitchFamily="18" charset="0"/>
              </a:rPr>
              <a:t>。</a:t>
            </a:r>
            <a:endParaRPr lang="zh-CN" altLang="en-US" sz="3200" b="1" dirty="0">
              <a:solidFill>
                <a:prstClr val="black"/>
              </a:solidFil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ldLvl="0" animBg="1"/>
    </p:bldLst>
  </p:timing>
</p:sld>
</file>

<file path=ppt/slides/slide3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矩形 1"/>
          <p:cNvSpPr/>
          <p:nvPr/>
        </p:nvSpPr>
        <p:spPr>
          <a:xfrm>
            <a:off x="748144" y="931362"/>
            <a:ext cx="10903527" cy="4819781"/>
          </a:xfrm>
          <a:prstGeom prst="rect">
            <a:avLst/>
          </a:prstGeom>
        </p:spPr>
        <p:txBody>
          <a:bodyPr wrap="square">
            <a:spAutoFit/>
          </a:bodyPr>
          <a:lstStyle/>
          <a:p>
            <a:pPr>
              <a:lnSpc>
                <a:spcPct val="120000"/>
              </a:lnSpc>
            </a:pPr>
            <a:r>
              <a:rPr lang="en-US" altLang="zh-CN" sz="3200" b="1" dirty="0">
                <a:solidFill>
                  <a:srgbClr val="9966FF"/>
                </a:solidFill>
              </a:rPr>
              <a:t>【</a:t>
            </a:r>
            <a:r>
              <a:rPr lang="zh-CN" altLang="en-US" sz="3200" b="1" dirty="0">
                <a:solidFill>
                  <a:srgbClr val="9966FF"/>
                </a:solidFill>
              </a:rPr>
              <a:t>翻译</a:t>
            </a:r>
            <a:r>
              <a:rPr lang="en-US" altLang="zh-CN" sz="3200" b="1" dirty="0">
                <a:solidFill>
                  <a:srgbClr val="9966FF"/>
                </a:solidFill>
              </a:rPr>
              <a:t>】</a:t>
            </a:r>
          </a:p>
          <a:p>
            <a:pPr marL="179705" indent="-179705">
              <a:lnSpc>
                <a:spcPct val="120000"/>
              </a:lnSpc>
            </a:pPr>
            <a:r>
              <a:rPr lang="en-US" altLang="zh-CN" sz="3200" b="1" dirty="0">
                <a:solidFill>
                  <a:srgbClr val="0000FF"/>
                </a:solidFill>
              </a:rPr>
              <a:t>  </a:t>
            </a:r>
            <a:r>
              <a:rPr lang="zh-CN" altLang="en-US" sz="3200" b="1" dirty="0">
                <a:solidFill>
                  <a:srgbClr val="FF0000"/>
                </a:solidFill>
              </a:rPr>
              <a:t>我们可以看到第一篇新闻报道更多的是关注救援工作，而第二篇新闻报道更多的是谈论伤亡情况。</a:t>
            </a:r>
            <a:endParaRPr lang="en-US" altLang="zh-CN" sz="3200" b="1" dirty="0">
              <a:solidFill>
                <a:srgbClr val="FF0000"/>
              </a:solidFill>
            </a:endParaRPr>
          </a:p>
          <a:p>
            <a:pPr>
              <a:lnSpc>
                <a:spcPct val="120000"/>
              </a:lnSpc>
            </a:pPr>
            <a:r>
              <a:rPr lang="en-US" altLang="zh-CN" sz="3200" b="1" dirty="0">
                <a:solidFill>
                  <a:srgbClr val="9966FF"/>
                </a:solidFill>
              </a:rPr>
              <a:t>【</a:t>
            </a:r>
            <a:r>
              <a:rPr lang="zh-CN" altLang="en-US" sz="3200" b="1" dirty="0">
                <a:solidFill>
                  <a:srgbClr val="9966FF"/>
                </a:solidFill>
              </a:rPr>
              <a:t>仿写</a:t>
            </a:r>
            <a:r>
              <a:rPr lang="en-US" altLang="zh-CN" sz="3200" b="1" dirty="0">
                <a:solidFill>
                  <a:srgbClr val="9966FF"/>
                </a:solidFill>
              </a:rPr>
              <a:t>】</a:t>
            </a:r>
          </a:p>
          <a:p>
            <a:pPr marL="179705">
              <a:lnSpc>
                <a:spcPct val="120000"/>
              </a:lnSpc>
            </a:pPr>
            <a:r>
              <a:rPr lang="zh-CN" altLang="en-US" sz="3200" b="1" dirty="0">
                <a:solidFill>
                  <a:srgbClr val="000000"/>
                </a:solidFill>
              </a:rPr>
              <a:t>我们知道城市的学校设施往往要好一些，而乡村学校里的设施则相对差一些。</a:t>
            </a:r>
            <a:endParaRPr lang="en-US" altLang="zh-CN" sz="3200" b="1" dirty="0">
              <a:solidFill>
                <a:srgbClr val="000000"/>
              </a:solidFill>
            </a:endParaRPr>
          </a:p>
          <a:p>
            <a:pPr marL="179705" indent="-179705">
              <a:lnSpc>
                <a:spcPct val="120000"/>
              </a:lnSpc>
            </a:pPr>
            <a:r>
              <a:rPr lang="en-US" altLang="zh-CN" sz="3200" b="1" dirty="0">
                <a:solidFill>
                  <a:srgbClr val="000000"/>
                </a:solidFill>
              </a:rPr>
              <a:t>  </a:t>
            </a:r>
            <a:r>
              <a:rPr lang="en-US" altLang="zh-CN" sz="3200" b="1" dirty="0">
                <a:solidFill>
                  <a:srgbClr val="FF0000"/>
                </a:solidFill>
              </a:rPr>
              <a:t>We know that schools in the city tend to be better equipped, while those in the countryside are relatively poor.</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1" end="1"/>
                                            </p:txEl>
                                          </p:spTgt>
                                        </p:tgtEl>
                                        <p:attrNameLst>
                                          <p:attrName>style.visibility</p:attrName>
                                        </p:attrNameLst>
                                      </p:cBhvr>
                                      <p:to>
                                        <p:strVal val="visible"/>
                                      </p:to>
                                    </p:set>
                                    <p:animEffect transition="in" filter="wipe(left)">
                                      <p:cBhvr>
                                        <p:cTn id="7" dur="500"/>
                                        <p:tgtEl>
                                          <p:spTgt spid="2">
                                            <p:txEl>
                                              <p:pRg st="1" end="1"/>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2" end="2"/>
                                            </p:txEl>
                                          </p:spTgt>
                                        </p:tgtEl>
                                        <p:attrNameLst>
                                          <p:attrName>style.visibility</p:attrName>
                                        </p:attrNameLst>
                                      </p:cBhvr>
                                      <p:to>
                                        <p:strVal val="visible"/>
                                      </p:to>
                                    </p:set>
                                    <p:animEffect transition="in" filter="randombar(horizontal)">
                                      <p:cBhvr>
                                        <p:cTn id="12" dur="500"/>
                                        <p:tgtEl>
                                          <p:spTgt spid="2">
                                            <p:txEl>
                                              <p:pRg st="2" end="2"/>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5" dur="500"/>
                                        <p:tgtEl>
                                          <p:spTgt spid="2">
                                            <p:txEl>
                                              <p:pRg st="3" end="3"/>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22" presetClass="entr" presetSubtype="8" fill="hold" nodeType="clickEffect">
                                  <p:stCondLst>
                                    <p:cond delay="0"/>
                                  </p:stCondLst>
                                  <p:childTnLst>
                                    <p:set>
                                      <p:cBhvr>
                                        <p:cTn id="19" dur="1" fill="hold">
                                          <p:stCondLst>
                                            <p:cond delay="0"/>
                                          </p:stCondLst>
                                        </p:cTn>
                                        <p:tgtEl>
                                          <p:spTgt spid="2">
                                            <p:txEl>
                                              <p:pRg st="4" end="4"/>
                                            </p:txEl>
                                          </p:spTgt>
                                        </p:tgtEl>
                                        <p:attrNameLst>
                                          <p:attrName>style.visibility</p:attrName>
                                        </p:attrNameLst>
                                      </p:cBhvr>
                                      <p:to>
                                        <p:strVal val="visible"/>
                                      </p:to>
                                    </p:set>
                                    <p:animEffect transition="in" filter="wipe(left)">
                                      <p:cBhvr>
                                        <p:cTn id="20"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文本框 1"/>
          <p:cNvSpPr txBox="1"/>
          <p:nvPr/>
        </p:nvSpPr>
        <p:spPr>
          <a:xfrm>
            <a:off x="351350" y="164038"/>
            <a:ext cx="11430000" cy="6587490"/>
          </a:xfrm>
          <a:prstGeom prst="rect">
            <a:avLst/>
          </a:prstGeom>
          <a:noFill/>
        </p:spPr>
        <p:txBody>
          <a:bodyPr wrap="square" rtlCol="0">
            <a:spAutoFit/>
          </a:bodyPr>
          <a:lstStyle/>
          <a:p>
            <a:pPr indent="-450850" fontAlgn="auto">
              <a:lnSpc>
                <a:spcPct val="120000"/>
              </a:lnSpc>
            </a:pPr>
            <a:r>
              <a:rPr lang="en-US" altLang="zh-CN" sz="3200" b="1" dirty="0"/>
              <a:t>Even if news reports are written</a:t>
            </a:r>
            <a:r>
              <a:rPr lang="en-US" altLang="zh-CN" sz="3200" b="1" dirty="0">
                <a:solidFill>
                  <a:srgbClr val="FF0000"/>
                </a:solidFill>
              </a:rPr>
              <a:t> from basically the same perspective</a:t>
            </a:r>
            <a:r>
              <a:rPr lang="en-US" altLang="zh-CN" sz="3200" b="1" dirty="0"/>
              <a:t>, they may </a:t>
            </a:r>
            <a:r>
              <a:rPr lang="en-US" altLang="zh-CN" sz="3200" b="1" dirty="0">
                <a:solidFill>
                  <a:srgbClr val="FF0000"/>
                </a:solidFill>
              </a:rPr>
              <a:t>contradict</a:t>
            </a:r>
            <a:r>
              <a:rPr lang="en-US" altLang="zh-CN" sz="3200" b="1" dirty="0"/>
              <a:t> each other </a:t>
            </a:r>
            <a:r>
              <a:rPr lang="en-US" altLang="zh-CN" sz="3200" b="1" dirty="0">
                <a:solidFill>
                  <a:srgbClr val="FF0000"/>
                </a:solidFill>
              </a:rPr>
              <a:t>in terms of</a:t>
            </a:r>
            <a:r>
              <a:rPr lang="en-US" altLang="zh-CN" sz="3200" b="1" dirty="0"/>
              <a:t> factual detail.</a:t>
            </a:r>
          </a:p>
          <a:p>
            <a:pPr indent="-450850" fontAlgn="auto">
              <a:lnSpc>
                <a:spcPct val="120000"/>
              </a:lnSpc>
            </a:pPr>
            <a:r>
              <a:rPr lang="zh-CN" altLang="en-US" sz="3200" b="1" dirty="0"/>
              <a:t>即使新闻报道的撰写角度基本相同，它们也可能在事实性的细节上相互矛盾</a:t>
            </a:r>
            <a:r>
              <a:rPr lang="en-US" altLang="zh-CN" sz="3200" b="1" dirty="0">
                <a:latin typeface="+mj-ea"/>
                <a:ea typeface="+mj-ea"/>
              </a:rPr>
              <a:t>……</a:t>
            </a:r>
            <a:endParaRPr lang="en-US" altLang="zh-CN" sz="3200" b="1" dirty="0"/>
          </a:p>
          <a:p>
            <a:pPr indent="-638175" fontAlgn="auto">
              <a:lnSpc>
                <a:spcPct val="120000"/>
              </a:lnSpc>
            </a:pPr>
            <a:r>
              <a:rPr lang="en-US" altLang="zh-CN" sz="3200" b="1" dirty="0">
                <a:solidFill>
                  <a:srgbClr val="FF0000"/>
                </a:solidFill>
                <a:sym typeface="+mn-ea"/>
              </a:rPr>
              <a:t>contradict  </a:t>
            </a:r>
            <a:r>
              <a:rPr lang="en-US" altLang="zh-CN" sz="3200" b="1" i="1" dirty="0">
                <a:solidFill>
                  <a:srgbClr val="FF0000"/>
                </a:solidFill>
                <a:sym typeface="+mn-ea"/>
              </a:rPr>
              <a:t>vt. </a:t>
            </a:r>
            <a:r>
              <a:rPr lang="zh-CN" altLang="en-US" sz="3200" b="1" dirty="0">
                <a:solidFill>
                  <a:srgbClr val="FF0000"/>
                </a:solidFill>
                <a:sym typeface="+mn-ea"/>
              </a:rPr>
              <a:t>与……相矛盾；反驳</a:t>
            </a:r>
            <a:endParaRPr lang="en-US" altLang="zh-CN" sz="3200" b="1" dirty="0"/>
          </a:p>
          <a:p>
            <a:pPr indent="-638175" fontAlgn="auto">
              <a:lnSpc>
                <a:spcPct val="120000"/>
              </a:lnSpc>
            </a:pPr>
            <a:r>
              <a:rPr lang="en-US" altLang="zh-CN" sz="3200" b="1" dirty="0"/>
              <a:t>这个报告与我们昨天听到的情况相矛盾。</a:t>
            </a:r>
          </a:p>
          <a:p>
            <a:pPr indent="-638175" fontAlgn="auto">
              <a:lnSpc>
                <a:spcPct val="120000"/>
              </a:lnSpc>
            </a:pPr>
            <a:r>
              <a:rPr lang="en-US" altLang="zh-CN" sz="3200" b="1" dirty="0"/>
              <a:t>The report </a:t>
            </a:r>
            <a:r>
              <a:rPr lang="en-US" altLang="zh-CN" sz="3200" b="1" dirty="0">
                <a:solidFill>
                  <a:srgbClr val="FF0000"/>
                </a:solidFill>
              </a:rPr>
              <a:t>contradicts </a:t>
            </a:r>
            <a:r>
              <a:rPr lang="en-US" altLang="zh-CN" sz="3200" b="1" dirty="0"/>
              <a:t>what we heard yesterday.</a:t>
            </a:r>
          </a:p>
          <a:p>
            <a:pPr indent="-638175" fontAlgn="auto">
              <a:lnSpc>
                <a:spcPct val="120000"/>
              </a:lnSpc>
            </a:pPr>
            <a:r>
              <a:rPr lang="en-US" altLang="zh-CN" sz="3200" b="1" dirty="0"/>
              <a:t>All evening her daughter </a:t>
            </a:r>
            <a:r>
              <a:rPr lang="en-US" altLang="zh-CN" sz="3200" b="1" dirty="0">
                <a:solidFill>
                  <a:srgbClr val="FF0000"/>
                </a:solidFill>
              </a:rPr>
              <a:t>contradicted </a:t>
            </a:r>
            <a:r>
              <a:rPr lang="en-US" altLang="zh-CN" sz="3200" b="1" dirty="0"/>
              <a:t>everything she said.</a:t>
            </a:r>
          </a:p>
          <a:p>
            <a:pPr indent="-638175" fontAlgn="auto">
              <a:lnSpc>
                <a:spcPct val="120000"/>
              </a:lnSpc>
            </a:pPr>
            <a:r>
              <a:rPr lang="en-US" altLang="zh-CN" sz="3200" b="1" dirty="0"/>
              <a:t>整个晚上她说什么丈夫都反驳。</a:t>
            </a:r>
          </a:p>
          <a:p>
            <a:pPr indent="-638175" fontAlgn="auto">
              <a:lnSpc>
                <a:spcPct val="120000"/>
              </a:lnSpc>
            </a:pPr>
            <a:r>
              <a:rPr lang="en-US" altLang="zh-CN" sz="3200" b="1" dirty="0"/>
              <a:t>You've just </a:t>
            </a:r>
            <a:r>
              <a:rPr lang="en-US" altLang="zh-CN" sz="3200" b="1" dirty="0">
                <a:solidFill>
                  <a:srgbClr val="FF0000"/>
                </a:solidFill>
              </a:rPr>
              <a:t>contradicted yourself</a:t>
            </a:r>
            <a:r>
              <a:rPr lang="en-US" altLang="zh-CN" sz="3200" b="1" dirty="0"/>
              <a:t>. 自相矛盾</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文本框 1"/>
          <p:cNvSpPr txBox="1"/>
          <p:nvPr/>
        </p:nvSpPr>
        <p:spPr>
          <a:xfrm>
            <a:off x="873944" y="3937588"/>
            <a:ext cx="10796561" cy="1272540"/>
          </a:xfrm>
          <a:prstGeom prst="rect">
            <a:avLst/>
          </a:prstGeom>
          <a:noFill/>
        </p:spPr>
        <p:txBody>
          <a:bodyPr wrap="square" rtlCol="0">
            <a:spAutoFit/>
          </a:bodyPr>
          <a:lstStyle/>
          <a:p>
            <a:pPr>
              <a:lnSpc>
                <a:spcPct val="120000"/>
              </a:lnSpc>
            </a:pPr>
            <a:r>
              <a:rPr lang="en-US" altLang="zh-CN" sz="3200" b="1" dirty="0"/>
              <a:t>His statement </a:t>
            </a:r>
            <a:r>
              <a:rPr lang="en-US" altLang="zh-CN" sz="3200" b="1" dirty="0">
                <a:solidFill>
                  <a:srgbClr val="FF0000"/>
                </a:solidFill>
              </a:rPr>
              <a:t>is contradictory to </a:t>
            </a:r>
            <a:r>
              <a:rPr lang="en-US" altLang="zh-CN" sz="3200" b="1" dirty="0"/>
              <a:t>the one he made earlier.</a:t>
            </a:r>
          </a:p>
          <a:p>
            <a:pPr>
              <a:lnSpc>
                <a:spcPct val="120000"/>
              </a:lnSpc>
            </a:pPr>
            <a:r>
              <a:rPr lang="en-US" altLang="zh-CN" sz="3200" b="1" dirty="0"/>
              <a:t>Your attitude is </a:t>
            </a:r>
            <a:r>
              <a:rPr lang="en-US" altLang="zh-CN" sz="3200" b="1" dirty="0">
                <a:solidFill>
                  <a:srgbClr val="FF0000"/>
                </a:solidFill>
              </a:rPr>
              <a:t>in contradiction </a:t>
            </a:r>
            <a:r>
              <a:rPr lang="en-US" altLang="zh-CN" sz="3200" b="1" dirty="0"/>
              <a:t>to your character.</a:t>
            </a:r>
            <a:endParaRPr lang="zh-CN" altLang="en-US" sz="3200" b="1" dirty="0"/>
          </a:p>
        </p:txBody>
      </p:sp>
      <p:sp>
        <p:nvSpPr>
          <p:cNvPr id="3" name="文本框 2"/>
          <p:cNvSpPr txBox="1"/>
          <p:nvPr/>
        </p:nvSpPr>
        <p:spPr>
          <a:xfrm>
            <a:off x="902682" y="754041"/>
            <a:ext cx="9887238" cy="3046988"/>
          </a:xfrm>
          <a:prstGeom prst="rect">
            <a:avLst/>
          </a:prstGeom>
          <a:solidFill>
            <a:srgbClr val="E6F1FE"/>
          </a:solidFill>
          <a:ln w="28575">
            <a:noFill/>
          </a:ln>
        </p:spPr>
        <p:txBody>
          <a:bodyPr wrap="square" rtlCol="0">
            <a:spAutoFit/>
          </a:bodyPr>
          <a:lstStyle/>
          <a:p>
            <a:pPr>
              <a:lnSpc>
                <a:spcPct val="120000"/>
              </a:lnSpc>
            </a:pPr>
            <a:r>
              <a:rPr lang="en-US" altLang="zh-CN" sz="3200" b="1" dirty="0">
                <a:solidFill>
                  <a:srgbClr val="9966FF"/>
                </a:solidFill>
              </a:rPr>
              <a:t>【</a:t>
            </a:r>
            <a:r>
              <a:rPr lang="zh-CN" altLang="en-US" sz="3200" b="1" dirty="0">
                <a:solidFill>
                  <a:srgbClr val="9966FF"/>
                </a:solidFill>
              </a:rPr>
              <a:t>拓展</a:t>
            </a:r>
            <a:r>
              <a:rPr lang="en-US" altLang="zh-CN" sz="3200" b="1" dirty="0">
                <a:solidFill>
                  <a:srgbClr val="9966FF"/>
                </a:solidFill>
              </a:rPr>
              <a:t>】</a:t>
            </a:r>
          </a:p>
          <a:p>
            <a:pPr>
              <a:lnSpc>
                <a:spcPct val="120000"/>
              </a:lnSpc>
            </a:pPr>
            <a:r>
              <a:rPr lang="en-US" altLang="zh-CN" sz="3200" b="1" dirty="0">
                <a:solidFill>
                  <a:srgbClr val="FF0000"/>
                </a:solidFill>
              </a:rPr>
              <a:t>contradiction   </a:t>
            </a:r>
            <a:r>
              <a:rPr lang="en-US" altLang="zh-CN" sz="3200" b="1" i="1" dirty="0">
                <a:solidFill>
                  <a:srgbClr val="FF0000"/>
                </a:solidFill>
              </a:rPr>
              <a:t>n.</a:t>
            </a:r>
            <a:r>
              <a:rPr lang="en-US" altLang="zh-CN" sz="3200" b="1" dirty="0">
                <a:solidFill>
                  <a:srgbClr val="FF0000"/>
                </a:solidFill>
              </a:rPr>
              <a:t> </a:t>
            </a:r>
            <a:r>
              <a:rPr lang="zh-CN" altLang="en-US" sz="3200" b="1" dirty="0">
                <a:solidFill>
                  <a:srgbClr val="FF0000"/>
                </a:solidFill>
              </a:rPr>
              <a:t>矛盾</a:t>
            </a:r>
            <a:r>
              <a:rPr lang="en-US" altLang="zh-CN" sz="3200" b="1" dirty="0">
                <a:solidFill>
                  <a:srgbClr val="FF0000"/>
                </a:solidFill>
              </a:rPr>
              <a:t>; </a:t>
            </a:r>
            <a:r>
              <a:rPr lang="zh-CN" altLang="en-US" sz="3200" b="1" dirty="0">
                <a:solidFill>
                  <a:srgbClr val="FF0000"/>
                </a:solidFill>
              </a:rPr>
              <a:t>反驳</a:t>
            </a:r>
            <a:r>
              <a:rPr lang="en-US" altLang="zh-CN" sz="3200" b="1" dirty="0">
                <a:solidFill>
                  <a:srgbClr val="FF0000"/>
                </a:solidFill>
              </a:rPr>
              <a:t>; </a:t>
            </a:r>
            <a:r>
              <a:rPr lang="zh-CN" altLang="en-US" sz="3200" b="1" dirty="0">
                <a:solidFill>
                  <a:srgbClr val="FF0000"/>
                </a:solidFill>
              </a:rPr>
              <a:t>不一致</a:t>
            </a:r>
            <a:endParaRPr lang="en-US" altLang="zh-CN" sz="3200" b="1" dirty="0">
              <a:solidFill>
                <a:srgbClr val="FF0000"/>
              </a:solidFill>
            </a:endParaRPr>
          </a:p>
          <a:p>
            <a:pPr>
              <a:lnSpc>
                <a:spcPct val="120000"/>
              </a:lnSpc>
            </a:pPr>
            <a:r>
              <a:rPr lang="en-US" altLang="zh-CN" sz="3200" b="1" dirty="0">
                <a:solidFill>
                  <a:srgbClr val="FF0000"/>
                </a:solidFill>
              </a:rPr>
              <a:t>in contradiction to      </a:t>
            </a:r>
            <a:r>
              <a:rPr lang="zh-CN" altLang="en-US" sz="3200" b="1" dirty="0">
                <a:latin typeface="+mn-ea"/>
              </a:rPr>
              <a:t>同</a:t>
            </a:r>
            <a:r>
              <a:rPr lang="en-US" altLang="zh-CN" sz="3200" b="1" dirty="0">
                <a:latin typeface="+mn-ea"/>
              </a:rPr>
              <a:t>……</a:t>
            </a:r>
            <a:r>
              <a:rPr lang="zh-CN" altLang="en-US" sz="3200" b="1" dirty="0">
                <a:latin typeface="+mn-ea"/>
              </a:rPr>
              <a:t>相矛盾</a:t>
            </a:r>
            <a:endParaRPr lang="en-US" altLang="zh-CN" sz="3200" b="1" dirty="0">
              <a:latin typeface="+mn-ea"/>
            </a:endParaRPr>
          </a:p>
          <a:p>
            <a:pPr>
              <a:lnSpc>
                <a:spcPct val="120000"/>
              </a:lnSpc>
            </a:pPr>
            <a:r>
              <a:rPr lang="en-US" altLang="zh-CN" sz="3200" b="1" dirty="0">
                <a:solidFill>
                  <a:srgbClr val="FF0000"/>
                </a:solidFill>
              </a:rPr>
              <a:t>contradictory   </a:t>
            </a:r>
            <a:r>
              <a:rPr lang="en-US" altLang="zh-CN" sz="3200" b="1" i="1" dirty="0">
                <a:solidFill>
                  <a:srgbClr val="FF0000"/>
                </a:solidFill>
              </a:rPr>
              <a:t>adj.</a:t>
            </a:r>
            <a:r>
              <a:rPr lang="en-US" altLang="zh-CN" sz="3200" b="1" dirty="0">
                <a:solidFill>
                  <a:srgbClr val="FF0000"/>
                </a:solidFill>
              </a:rPr>
              <a:t>  </a:t>
            </a:r>
            <a:r>
              <a:rPr lang="zh-CN" altLang="en-US" sz="3200" b="1" dirty="0">
                <a:solidFill>
                  <a:srgbClr val="FF0000"/>
                </a:solidFill>
              </a:rPr>
              <a:t>矛盾的</a:t>
            </a:r>
            <a:r>
              <a:rPr lang="en-US" altLang="zh-CN" sz="3200" b="1" dirty="0">
                <a:solidFill>
                  <a:srgbClr val="FF0000"/>
                </a:solidFill>
              </a:rPr>
              <a:t>, </a:t>
            </a:r>
            <a:r>
              <a:rPr lang="zh-CN" altLang="en-US" sz="3200" b="1" dirty="0">
                <a:solidFill>
                  <a:srgbClr val="FF0000"/>
                </a:solidFill>
              </a:rPr>
              <a:t>抵触的</a:t>
            </a:r>
            <a:endParaRPr lang="en-US" altLang="zh-CN" sz="3200" b="1" dirty="0">
              <a:solidFill>
                <a:srgbClr val="FF0000"/>
              </a:solidFill>
            </a:endParaRPr>
          </a:p>
          <a:p>
            <a:pPr>
              <a:lnSpc>
                <a:spcPct val="120000"/>
              </a:lnSpc>
            </a:pPr>
            <a:r>
              <a:rPr lang="en-US" altLang="zh-CN" sz="3200" b="1" dirty="0">
                <a:solidFill>
                  <a:srgbClr val="FF0000"/>
                </a:solidFill>
              </a:rPr>
              <a:t>be contradictory to …  </a:t>
            </a:r>
            <a:r>
              <a:rPr lang="zh-CN" altLang="en-US" sz="3200" b="1" dirty="0"/>
              <a:t>与</a:t>
            </a:r>
            <a:r>
              <a:rPr lang="en-US" altLang="zh-CN" sz="3200" b="1" dirty="0">
                <a:latin typeface="+mn-ea"/>
              </a:rPr>
              <a:t>……</a:t>
            </a:r>
            <a:r>
              <a:rPr lang="zh-CN" altLang="en-US" sz="3200" b="1" dirty="0">
                <a:latin typeface="+mn-ea"/>
              </a:rPr>
              <a:t>相</a:t>
            </a:r>
            <a:r>
              <a:rPr lang="zh-CN" altLang="en-US" sz="3200" b="1" dirty="0"/>
              <a:t>矛盾</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par>
                                <p:cTn id="8" presetID="14" presetClass="entr" presetSubtype="10" fill="hold" nodeType="withEffect">
                                  <p:stCondLst>
                                    <p:cond delay="0"/>
                                  </p:stCondLst>
                                  <p:childTnLst>
                                    <p:set>
                                      <p:cBhvr>
                                        <p:cTn id="9"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0" dur="500"/>
                                        <p:tgtEl>
                                          <p:spTgt spid="2">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矩形 1"/>
          <p:cNvSpPr/>
          <p:nvPr/>
        </p:nvSpPr>
        <p:spPr>
          <a:xfrm>
            <a:off x="342900" y="236220"/>
            <a:ext cx="11447780" cy="5406390"/>
          </a:xfrm>
          <a:prstGeom prst="rect">
            <a:avLst/>
          </a:prstGeom>
        </p:spPr>
        <p:txBody>
          <a:bodyPr wrap="square">
            <a:spAutoFit/>
          </a:bodyPr>
          <a:lstStyle/>
          <a:p>
            <a:pPr>
              <a:lnSpc>
                <a:spcPct val="120000"/>
              </a:lnSpc>
            </a:pPr>
            <a:r>
              <a:rPr lang="en-US" altLang="zh-CN" sz="3200" b="1" dirty="0">
                <a:solidFill>
                  <a:srgbClr val="FF0000"/>
                </a:solidFill>
                <a:sym typeface="+mn-ea"/>
              </a:rPr>
              <a:t>Even if</a:t>
            </a:r>
            <a:r>
              <a:rPr lang="en-US" altLang="zh-CN" sz="3200" b="1" dirty="0">
                <a:solidFill>
                  <a:schemeClr val="tx1"/>
                </a:solidFill>
                <a:sym typeface="+mn-ea"/>
              </a:rPr>
              <a:t> news reports are written from basically the same perspective, they may contradict each other in terms of factual detail, </a:t>
            </a:r>
            <a:r>
              <a:rPr lang="en-US" altLang="zh-CN" sz="3200" b="1" dirty="0">
                <a:solidFill>
                  <a:srgbClr val="FF0000"/>
                </a:solidFill>
                <a:sym typeface="+mn-ea"/>
              </a:rPr>
              <a:t>as </a:t>
            </a:r>
            <a:r>
              <a:rPr lang="en-US" altLang="zh-CN" sz="3200" b="1" dirty="0">
                <a:solidFill>
                  <a:schemeClr val="tx1"/>
                </a:solidFill>
                <a:sym typeface="+mn-ea"/>
              </a:rPr>
              <a:t>events in the real world are usually complicated and constantly changing.</a:t>
            </a:r>
            <a:endParaRPr lang="en-US" altLang="zh-CN" sz="3200" b="1" dirty="0">
              <a:solidFill>
                <a:schemeClr val="tx1"/>
              </a:solidFill>
            </a:endParaRPr>
          </a:p>
          <a:p>
            <a:pPr>
              <a:lnSpc>
                <a:spcPct val="120000"/>
              </a:lnSpc>
            </a:pPr>
            <a:r>
              <a:rPr lang="en-US" altLang="zh-CN" sz="3200" b="1" dirty="0">
                <a:solidFill>
                  <a:srgbClr val="9966FF"/>
                </a:solidFill>
              </a:rPr>
              <a:t>【</a:t>
            </a:r>
            <a:r>
              <a:rPr lang="zh-CN" altLang="en-US" sz="3200" b="1" dirty="0">
                <a:solidFill>
                  <a:srgbClr val="9966FF"/>
                </a:solidFill>
              </a:rPr>
              <a:t>仿写</a:t>
            </a:r>
            <a:r>
              <a:rPr lang="en-US" altLang="zh-CN" sz="3200" b="1" dirty="0">
                <a:solidFill>
                  <a:srgbClr val="9966FF"/>
                </a:solidFill>
              </a:rPr>
              <a:t>】</a:t>
            </a:r>
          </a:p>
          <a:p>
            <a:pPr marL="179705" indent="-179705">
              <a:lnSpc>
                <a:spcPct val="120000"/>
              </a:lnSpc>
            </a:pPr>
            <a:r>
              <a:rPr lang="zh-CN" altLang="en-US" sz="3200" b="1" dirty="0">
                <a:solidFill>
                  <a:srgbClr val="000000"/>
                </a:solidFill>
              </a:rPr>
              <a:t>即使你肤色黝黑，你仍然需要防晒，因为这可以降低患皮肤疾病的风险。</a:t>
            </a:r>
          </a:p>
          <a:p>
            <a:pPr marL="179705" indent="-179705">
              <a:lnSpc>
                <a:spcPct val="120000"/>
              </a:lnSpc>
            </a:pPr>
            <a:r>
              <a:rPr lang="en-US" altLang="zh-CN" sz="3200" b="1" dirty="0">
                <a:solidFill>
                  <a:srgbClr val="FF0000"/>
                </a:solidFill>
              </a:rPr>
              <a:t>Even if you have dark skin, you will need protection from the sun, as it can reduce the risk of skin disease.</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randombar(horizontal)">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randombar(horizontal)">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wipe(left)">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wipe(left)">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文本框 1"/>
          <p:cNvSpPr txBox="1"/>
          <p:nvPr/>
        </p:nvSpPr>
        <p:spPr>
          <a:xfrm>
            <a:off x="116933" y="356895"/>
            <a:ext cx="11665526" cy="632460"/>
          </a:xfrm>
          <a:prstGeom prst="rect">
            <a:avLst/>
          </a:prstGeom>
          <a:noFill/>
        </p:spPr>
        <p:txBody>
          <a:bodyPr wrap="square" rtlCol="0">
            <a:spAutoFit/>
          </a:bodyPr>
          <a:lstStyle/>
          <a:p>
            <a:pPr indent="-624205" fontAlgn="auto">
              <a:lnSpc>
                <a:spcPct val="110000"/>
              </a:lnSpc>
            </a:pPr>
            <a:r>
              <a:rPr lang="en-US" altLang="zh-CN" sz="3200" b="1" dirty="0">
                <a:solidFill>
                  <a:srgbClr val="FF0000"/>
                </a:solidFill>
              </a:rPr>
              <a:t>For instance</a:t>
            </a:r>
            <a:r>
              <a:rPr lang="en-US" altLang="zh-CN" sz="3200" b="1" dirty="0"/>
              <a:t>, the numbers of deaths </a:t>
            </a:r>
            <a:r>
              <a:rPr lang="en-US" altLang="zh-CN" sz="3200" b="1" dirty="0">
                <a:solidFill>
                  <a:srgbClr val="FF0000"/>
                </a:solidFill>
              </a:rPr>
              <a:t>differ</a:t>
            </a:r>
            <a:r>
              <a:rPr lang="en-US" altLang="zh-CN" sz="3200" b="1" dirty="0"/>
              <a:t> ...</a:t>
            </a:r>
            <a:endParaRPr lang="zh-CN" altLang="en-US" sz="3200" b="1" dirty="0"/>
          </a:p>
        </p:txBody>
      </p:sp>
      <p:sp>
        <p:nvSpPr>
          <p:cNvPr id="3" name="矩形 2"/>
          <p:cNvSpPr/>
          <p:nvPr/>
        </p:nvSpPr>
        <p:spPr>
          <a:xfrm>
            <a:off x="116840" y="989330"/>
            <a:ext cx="11880850" cy="4824095"/>
          </a:xfrm>
          <a:prstGeom prst="rect">
            <a:avLst/>
          </a:prstGeom>
          <a:noFill/>
          <a:ln w="28575">
            <a:noFill/>
          </a:ln>
          <a:extLst>
            <a:ext uri="{909E8E84-426E-40DD-AFC4-6F175D3DCCD1}">
              <a14:hiddenFill xmlns:a14="http://schemas.microsoft.com/office/drawing/2010/main">
                <a:solidFill>
                  <a:srgbClr val="E6F1FE"/>
                </a:solidFill>
              </a14:hiddenFill>
            </a:ext>
          </a:extLst>
        </p:spPr>
        <p:txBody>
          <a:bodyPr wrap="square">
            <a:noAutofit/>
          </a:bodyPr>
          <a:lstStyle/>
          <a:p>
            <a:pPr indent="-1621155">
              <a:lnSpc>
                <a:spcPct val="110000"/>
              </a:lnSpc>
            </a:pPr>
            <a:r>
              <a:rPr lang="en-US" altLang="zh-CN" sz="3200" b="1" dirty="0">
                <a:solidFill>
                  <a:srgbClr val="FF0000"/>
                </a:solidFill>
              </a:rPr>
              <a:t>differ  </a:t>
            </a:r>
            <a:r>
              <a:rPr lang="en-US" altLang="zh-CN" sz="3200" b="1" i="1" dirty="0">
                <a:solidFill>
                  <a:srgbClr val="FF0000"/>
                </a:solidFill>
              </a:rPr>
              <a:t>vi.</a:t>
            </a:r>
            <a:r>
              <a:rPr lang="en-US" altLang="zh-CN" sz="3200" b="1" dirty="0">
                <a:solidFill>
                  <a:srgbClr val="FF0000"/>
                </a:solidFill>
              </a:rPr>
              <a:t> </a:t>
            </a:r>
            <a:r>
              <a:rPr lang="en-US" altLang="zh-CN" sz="3200" b="1" i="1" dirty="0"/>
              <a:t>to be different from sb./</a:t>
            </a:r>
            <a:r>
              <a:rPr lang="en-US" altLang="zh-CN" sz="3200" b="1" i="1" dirty="0" err="1"/>
              <a:t>sth</a:t>
            </a:r>
            <a:r>
              <a:rPr lang="en-US" altLang="zh-CN" sz="3200" b="1" i="1" dirty="0"/>
              <a:t>.  </a:t>
            </a:r>
            <a:r>
              <a:rPr lang="zh-CN" altLang="en-US" sz="3200" b="1" dirty="0">
                <a:solidFill>
                  <a:srgbClr val="FF0000"/>
                </a:solidFill>
              </a:rPr>
              <a:t>相异</a:t>
            </a:r>
            <a:r>
              <a:rPr lang="en-US" altLang="zh-CN" sz="3200" b="1" dirty="0">
                <a:solidFill>
                  <a:srgbClr val="FF0000"/>
                </a:solidFill>
              </a:rPr>
              <a:t>; </a:t>
            </a:r>
            <a:r>
              <a:rPr lang="zh-CN" altLang="en-US" sz="3200" b="1" dirty="0">
                <a:solidFill>
                  <a:srgbClr val="FF0000"/>
                </a:solidFill>
              </a:rPr>
              <a:t>有区别</a:t>
            </a:r>
            <a:r>
              <a:rPr lang="en-US" altLang="zh-CN" sz="3200" b="1" dirty="0">
                <a:solidFill>
                  <a:srgbClr val="FF0000"/>
                </a:solidFill>
              </a:rPr>
              <a:t>; </a:t>
            </a:r>
            <a:r>
              <a:rPr lang="zh-CN" altLang="en-US" sz="3200" b="1" dirty="0">
                <a:solidFill>
                  <a:srgbClr val="FF0000"/>
                </a:solidFill>
              </a:rPr>
              <a:t>不同于</a:t>
            </a:r>
            <a:r>
              <a:rPr lang="en-US" altLang="zh-CN" sz="3200" b="1" dirty="0">
                <a:solidFill>
                  <a:srgbClr val="FF0000"/>
                </a:solidFill>
              </a:rPr>
              <a:t>    </a:t>
            </a:r>
          </a:p>
          <a:p>
            <a:pPr indent="-1621155">
              <a:lnSpc>
                <a:spcPct val="110000"/>
              </a:lnSpc>
            </a:pPr>
            <a:r>
              <a:rPr lang="en-US" altLang="zh-CN" sz="3200" b="1" i="1" dirty="0">
                <a:solidFill>
                  <a:srgbClr val="FF0000"/>
                </a:solidFill>
              </a:rPr>
              <a:t>               </a:t>
            </a:r>
            <a:r>
              <a:rPr lang="en-US" altLang="zh-CN" sz="3200" b="1" i="1" dirty="0"/>
              <a:t>to disagree with sb. </a:t>
            </a:r>
            <a:r>
              <a:rPr lang="zh-CN" altLang="en-US" sz="3200" b="1" dirty="0">
                <a:solidFill>
                  <a:srgbClr val="FF0000"/>
                </a:solidFill>
              </a:rPr>
              <a:t>意见相左</a:t>
            </a:r>
            <a:r>
              <a:rPr lang="en-US" altLang="zh-CN" sz="3200" b="1" dirty="0">
                <a:solidFill>
                  <a:srgbClr val="FF0000"/>
                </a:solidFill>
              </a:rPr>
              <a:t>; </a:t>
            </a:r>
            <a:r>
              <a:rPr lang="zh-CN" altLang="en-US" sz="3200" b="1" dirty="0">
                <a:solidFill>
                  <a:srgbClr val="FF0000"/>
                </a:solidFill>
              </a:rPr>
              <a:t>不同意</a:t>
            </a:r>
            <a:endParaRPr lang="en-US" altLang="zh-CN" sz="3200" b="1" dirty="0">
              <a:solidFill>
                <a:srgbClr val="FF0000"/>
              </a:solidFill>
            </a:endParaRPr>
          </a:p>
          <a:p>
            <a:pPr indent="-1621155">
              <a:lnSpc>
                <a:spcPct val="110000"/>
              </a:lnSpc>
            </a:pPr>
            <a:r>
              <a:rPr lang="en-US" altLang="zh-CN" sz="3200" b="1" dirty="0">
                <a:solidFill>
                  <a:srgbClr val="9966FF"/>
                </a:solidFill>
              </a:rPr>
              <a:t>【</a:t>
            </a:r>
            <a:r>
              <a:rPr lang="zh-CN" altLang="en-US" sz="3200" b="1" dirty="0">
                <a:solidFill>
                  <a:srgbClr val="9966FF"/>
                </a:solidFill>
              </a:rPr>
              <a:t>归纳</a:t>
            </a:r>
            <a:r>
              <a:rPr lang="en-US" altLang="zh-CN" sz="3200" b="1" dirty="0">
                <a:solidFill>
                  <a:srgbClr val="9966FF"/>
                </a:solidFill>
              </a:rPr>
              <a:t>】</a:t>
            </a:r>
          </a:p>
          <a:p>
            <a:pPr indent="-1621155">
              <a:lnSpc>
                <a:spcPct val="110000"/>
              </a:lnSpc>
            </a:pPr>
            <a:r>
              <a:rPr lang="en-US" altLang="zh-CN" sz="3200" b="1" dirty="0">
                <a:solidFill>
                  <a:srgbClr val="FF0000"/>
                </a:solidFill>
              </a:rPr>
              <a:t> differ from  </a:t>
            </a:r>
            <a:r>
              <a:rPr lang="zh-CN" altLang="en-US" sz="3200" b="1" dirty="0"/>
              <a:t>不同于</a:t>
            </a:r>
            <a:r>
              <a:rPr lang="en-US" altLang="zh-CN" sz="3200" b="1" dirty="0">
                <a:latin typeface="+mn-ea"/>
              </a:rPr>
              <a:t>…… </a:t>
            </a:r>
            <a:r>
              <a:rPr lang="en-US" altLang="zh-CN" sz="3200" b="1" dirty="0"/>
              <a:t>   </a:t>
            </a:r>
            <a:r>
              <a:rPr lang="en-US" altLang="zh-CN" sz="3200" b="1" dirty="0">
                <a:solidFill>
                  <a:srgbClr val="FF0000"/>
                </a:solidFill>
              </a:rPr>
              <a:t>differ in   </a:t>
            </a:r>
            <a:r>
              <a:rPr lang="zh-CN" altLang="en-US" sz="3200" b="1" dirty="0"/>
              <a:t>在</a:t>
            </a:r>
            <a:r>
              <a:rPr lang="en-US" altLang="zh-CN" sz="3200" b="1" dirty="0">
                <a:latin typeface="+mn-ea"/>
              </a:rPr>
              <a:t>……</a:t>
            </a:r>
            <a:r>
              <a:rPr lang="zh-CN" altLang="en-US" sz="3200" b="1" dirty="0"/>
              <a:t>方面不同</a:t>
            </a:r>
            <a:endParaRPr lang="en-US" altLang="zh-CN" sz="3200" b="1" dirty="0"/>
          </a:p>
          <a:p>
            <a:pPr indent="-1621155">
              <a:lnSpc>
                <a:spcPct val="110000"/>
              </a:lnSpc>
            </a:pPr>
            <a:r>
              <a:rPr lang="en-US" altLang="zh-CN" sz="3200" b="1" dirty="0">
                <a:solidFill>
                  <a:srgbClr val="FF0000"/>
                </a:solidFill>
              </a:rPr>
              <a:t> differ with sb. </a:t>
            </a:r>
            <a:r>
              <a:rPr lang="en-US" altLang="zh-CN" sz="3200" b="1" dirty="0">
                <a:solidFill>
                  <a:srgbClr val="FF0000"/>
                </a:solidFill>
                <a:sym typeface="+mn-ea"/>
              </a:rPr>
              <a:t>about/on/over </a:t>
            </a:r>
            <a:r>
              <a:rPr lang="en-US" altLang="zh-CN" sz="3200" b="1" dirty="0" err="1">
                <a:solidFill>
                  <a:srgbClr val="FF0000"/>
                </a:solidFill>
                <a:sym typeface="+mn-ea"/>
              </a:rPr>
              <a:t>sth</a:t>
            </a:r>
            <a:r>
              <a:rPr lang="en-US" altLang="zh-CN" sz="3200" b="1" dirty="0">
                <a:solidFill>
                  <a:srgbClr val="FF0000"/>
                </a:solidFill>
                <a:sym typeface="+mn-ea"/>
              </a:rPr>
              <a:t>. </a:t>
            </a:r>
            <a:r>
              <a:rPr lang="en-US" altLang="zh-CN" sz="3200" b="1" dirty="0">
                <a:solidFill>
                  <a:srgbClr val="FF0000"/>
                </a:solidFill>
              </a:rPr>
              <a:t>   </a:t>
            </a:r>
            <a:r>
              <a:rPr lang="zh-CN" altLang="en-US" sz="3200" b="1" dirty="0"/>
              <a:t>与某人在某事上有不同意见</a:t>
            </a:r>
            <a:endParaRPr lang="en-US" altLang="zh-CN" sz="3200" b="1" dirty="0"/>
          </a:p>
          <a:p>
            <a:pPr>
              <a:lnSpc>
                <a:spcPct val="110000"/>
              </a:lnSpc>
            </a:pPr>
            <a:r>
              <a:rPr lang="en-US" altLang="zh-CN" sz="3200" b="1" dirty="0">
                <a:solidFill>
                  <a:srgbClr val="9966FF"/>
                </a:solidFill>
                <a:ea typeface="宋体" pitchFamily="2" charset="-122"/>
              </a:rPr>
              <a:t>【</a:t>
            </a:r>
            <a:r>
              <a:rPr lang="zh-CN" altLang="en-US" sz="3200" b="1" dirty="0">
                <a:solidFill>
                  <a:srgbClr val="9966FF"/>
                </a:solidFill>
                <a:ea typeface="宋体" pitchFamily="2" charset="-122"/>
              </a:rPr>
              <a:t>拓展</a:t>
            </a:r>
            <a:r>
              <a:rPr lang="en-US" altLang="zh-CN" sz="3200" b="1" dirty="0">
                <a:solidFill>
                  <a:srgbClr val="9966FF"/>
                </a:solidFill>
                <a:ea typeface="宋体" pitchFamily="2" charset="-122"/>
              </a:rPr>
              <a:t>】</a:t>
            </a:r>
            <a:r>
              <a:rPr lang="en-US" altLang="zh-CN" sz="3200" b="1" dirty="0"/>
              <a:t> </a:t>
            </a:r>
            <a:r>
              <a:rPr lang="en-US" altLang="zh-CN" sz="3200" b="1" dirty="0">
                <a:solidFill>
                  <a:srgbClr val="FF0000"/>
                </a:solidFill>
              </a:rPr>
              <a:t>different   </a:t>
            </a:r>
            <a:r>
              <a:rPr lang="en-US" altLang="zh-CN" sz="3200" b="1" i="1" dirty="0">
                <a:solidFill>
                  <a:srgbClr val="FF0000"/>
                </a:solidFill>
              </a:rPr>
              <a:t>adj.</a:t>
            </a:r>
            <a:r>
              <a:rPr lang="en-US" altLang="zh-CN" sz="3200" b="1" dirty="0">
                <a:solidFill>
                  <a:srgbClr val="FF0000"/>
                </a:solidFill>
              </a:rPr>
              <a:t> </a:t>
            </a:r>
            <a:r>
              <a:rPr lang="zh-CN" altLang="en-US" sz="3200" b="1" dirty="0">
                <a:solidFill>
                  <a:srgbClr val="FF0000"/>
                </a:solidFill>
              </a:rPr>
              <a:t>不同的     </a:t>
            </a:r>
            <a:r>
              <a:rPr lang="en-US" altLang="zh-CN" sz="3200" b="1" dirty="0">
                <a:solidFill>
                  <a:srgbClr val="FF0000"/>
                </a:solidFill>
              </a:rPr>
              <a:t>difference   </a:t>
            </a:r>
            <a:r>
              <a:rPr lang="en-US" altLang="zh-CN" sz="3200" b="1" i="1" dirty="0">
                <a:solidFill>
                  <a:srgbClr val="FF0000"/>
                </a:solidFill>
              </a:rPr>
              <a:t>n</a:t>
            </a:r>
            <a:r>
              <a:rPr lang="en-US" altLang="zh-CN" sz="3200" b="1" dirty="0">
                <a:solidFill>
                  <a:srgbClr val="FF0000"/>
                </a:solidFill>
              </a:rPr>
              <a:t>. </a:t>
            </a:r>
            <a:r>
              <a:rPr lang="zh-CN" altLang="en-US" sz="3200" b="1" dirty="0">
                <a:solidFill>
                  <a:srgbClr val="FF0000"/>
                </a:solidFill>
              </a:rPr>
              <a:t>不同，差别</a:t>
            </a:r>
            <a:endParaRPr lang="en-US" altLang="zh-CN" sz="3200" b="1" dirty="0">
              <a:solidFill>
                <a:srgbClr val="FF0000"/>
              </a:solidFill>
            </a:endParaRPr>
          </a:p>
          <a:p>
            <a:pPr>
              <a:lnSpc>
                <a:spcPct val="110000"/>
              </a:lnSpc>
            </a:pPr>
            <a:r>
              <a:rPr lang="en-US" altLang="zh-CN" sz="3200" b="1" dirty="0">
                <a:solidFill>
                  <a:srgbClr val="FF0000"/>
                </a:solidFill>
              </a:rPr>
              <a:t> make a/no/some difference to ...  </a:t>
            </a:r>
            <a:r>
              <a:rPr lang="zh-CN" altLang="en-US" sz="3200" b="1" dirty="0"/>
              <a:t>对</a:t>
            </a:r>
            <a:r>
              <a:rPr lang="en-US" altLang="zh-CN" sz="3200" b="1" dirty="0">
                <a:latin typeface="+mn-ea"/>
              </a:rPr>
              <a:t>……</a:t>
            </a:r>
            <a:r>
              <a:rPr lang="zh-CN" altLang="en-US" sz="3200" b="1" dirty="0"/>
              <a:t>有</a:t>
            </a:r>
            <a:r>
              <a:rPr lang="en-US" altLang="zh-CN" sz="3200" b="1" dirty="0"/>
              <a:t>/</a:t>
            </a:r>
            <a:r>
              <a:rPr lang="zh-CN" altLang="en-US" sz="3200" b="1" dirty="0"/>
              <a:t>没有</a:t>
            </a:r>
            <a:r>
              <a:rPr lang="en-US" altLang="zh-CN" sz="3200" b="1" dirty="0"/>
              <a:t>/</a:t>
            </a:r>
            <a:r>
              <a:rPr lang="zh-CN" altLang="en-US" sz="3200" b="1" dirty="0"/>
              <a:t>有一些影响</a:t>
            </a:r>
            <a:endParaRPr lang="en-US" altLang="zh-CN" sz="3200" b="1" dirty="0"/>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6" name="矩形 5"/>
          <p:cNvSpPr/>
          <p:nvPr/>
        </p:nvSpPr>
        <p:spPr>
          <a:xfrm>
            <a:off x="0" y="-125730"/>
            <a:ext cx="12191365" cy="7178040"/>
          </a:xfrm>
          <a:prstGeom prst="rect">
            <a:avLst/>
          </a:prstGeom>
        </p:spPr>
        <p:txBody>
          <a:bodyPr wrap="square">
            <a:spAutoFit/>
          </a:bodyPr>
          <a:lstStyle/>
          <a:p>
            <a:pPr indent="0" fontAlgn="auto">
              <a:lnSpc>
                <a:spcPct val="120000"/>
              </a:lnSpc>
            </a:pPr>
            <a:r>
              <a:rPr lang="en-US" altLang="zh-CN" sz="3200" b="1" dirty="0">
                <a:latin typeface="+mj-lt"/>
                <a:ea typeface="宋体" pitchFamily="2" charset="-122"/>
              </a:rPr>
              <a:t>1. 人们对电影的品味确实不同。</a:t>
            </a:r>
          </a:p>
          <a:p>
            <a:pPr indent="0" fontAlgn="auto">
              <a:lnSpc>
                <a:spcPct val="120000"/>
              </a:lnSpc>
            </a:pPr>
            <a:r>
              <a:rPr lang="en-US" altLang="zh-CN" sz="3200" b="1" dirty="0">
                <a:solidFill>
                  <a:srgbClr val="FF0000"/>
                </a:solidFill>
                <a:latin typeface="+mj-lt"/>
                <a:ea typeface="宋体" pitchFamily="2" charset="-122"/>
              </a:rPr>
              <a:t>People’s tastes in films really differ.</a:t>
            </a:r>
          </a:p>
          <a:p>
            <a:pPr indent="0" fontAlgn="auto">
              <a:lnSpc>
                <a:spcPct val="120000"/>
              </a:lnSpc>
            </a:pPr>
            <a:r>
              <a:rPr lang="en-US" altLang="zh-CN" sz="3200" b="1" dirty="0">
                <a:latin typeface="+mj-lt"/>
                <a:ea typeface="宋体" pitchFamily="2" charset="-122"/>
              </a:rPr>
              <a:t>2. The story Tom told the police ________ from the one he told his mother.</a:t>
            </a:r>
          </a:p>
          <a:p>
            <a:pPr indent="0" fontAlgn="auto">
              <a:lnSpc>
                <a:spcPct val="120000"/>
              </a:lnSpc>
            </a:pPr>
            <a:r>
              <a:rPr lang="en-US" altLang="zh-CN" sz="3200" b="1" dirty="0">
                <a:latin typeface="+mj-lt"/>
                <a:ea typeface="宋体" pitchFamily="2" charset="-122"/>
              </a:rPr>
              <a:t>3. The footprints in the desert differ ____ size and shape.</a:t>
            </a:r>
          </a:p>
          <a:p>
            <a:pPr indent="0" fontAlgn="auto">
              <a:lnSpc>
                <a:spcPct val="120000"/>
              </a:lnSpc>
            </a:pPr>
            <a:r>
              <a:rPr lang="en-US" altLang="zh-CN" sz="3200" b="1" dirty="0">
                <a:latin typeface="+mj-lt"/>
                <a:ea typeface="宋体" pitchFamily="2" charset="-122"/>
              </a:rPr>
              <a:t>4. The two sides still differ ____________ details of the plan.</a:t>
            </a:r>
          </a:p>
          <a:p>
            <a:pPr>
              <a:lnSpc>
                <a:spcPct val="120000"/>
              </a:lnSpc>
            </a:pPr>
            <a:r>
              <a:rPr lang="en-US" altLang="zh-CN" sz="3200" b="1" dirty="0">
                <a:latin typeface="+mj-lt"/>
                <a:ea typeface="宋体" pitchFamily="2" charset="-122"/>
              </a:rPr>
              <a:t>5. </a:t>
            </a:r>
            <a:r>
              <a:rPr lang="zh-CN" altLang="en-US" sz="3200" b="1" dirty="0">
                <a:solidFill>
                  <a:srgbClr val="000000"/>
                </a:solidFill>
                <a:ea typeface="宋体" pitchFamily="2" charset="-122"/>
                <a:sym typeface="+mn-ea"/>
              </a:rPr>
              <a:t>这对年轻的夫妇在孩子的教育上总是有分歧。</a:t>
            </a:r>
          </a:p>
          <a:p>
            <a:pPr>
              <a:lnSpc>
                <a:spcPct val="120000"/>
              </a:lnSpc>
            </a:pPr>
            <a:r>
              <a:rPr lang="en-US" altLang="zh-CN" sz="3200" b="1" dirty="0">
                <a:solidFill>
                  <a:srgbClr val="FF0000"/>
                </a:solidFill>
                <a:ea typeface="宋体" pitchFamily="2" charset="-122"/>
                <a:sym typeface="+mn-ea"/>
              </a:rPr>
              <a:t>The young couple always differ with each other on / about / over children's education.</a:t>
            </a:r>
          </a:p>
          <a:p>
            <a:pPr>
              <a:lnSpc>
                <a:spcPct val="120000"/>
              </a:lnSpc>
            </a:pPr>
            <a:r>
              <a:rPr lang="en-US" altLang="zh-CN" sz="3200" b="1" dirty="0">
                <a:solidFill>
                  <a:srgbClr val="000000"/>
                </a:solidFill>
                <a:ea typeface="宋体" pitchFamily="2" charset="-122"/>
                <a:sym typeface="+mn-ea"/>
              </a:rPr>
              <a:t>6. </a:t>
            </a:r>
            <a:r>
              <a:rPr lang="zh-CN" altLang="en-US" sz="3200" b="1" dirty="0">
                <a:solidFill>
                  <a:srgbClr val="000000"/>
                </a:solidFill>
                <a:ea typeface="宋体" pitchFamily="2" charset="-122"/>
                <a:sym typeface="+mn-ea"/>
              </a:rPr>
              <a:t>你能否得到这份工作应该与你的年龄无关。</a:t>
            </a:r>
            <a:endParaRPr lang="en-US" altLang="zh-CN" sz="3200" b="1" dirty="0">
              <a:latin typeface="+mj-lt"/>
              <a:ea typeface="宋体" pitchFamily="2" charset="-122"/>
            </a:endParaRPr>
          </a:p>
          <a:p>
            <a:pPr>
              <a:lnSpc>
                <a:spcPct val="120000"/>
              </a:lnSpc>
            </a:pPr>
            <a:r>
              <a:rPr lang="en-US" altLang="zh-CN" sz="3200" b="1" dirty="0">
                <a:solidFill>
                  <a:srgbClr val="FF0000"/>
                </a:solidFill>
                <a:ea typeface="宋体" pitchFamily="2" charset="-122"/>
                <a:sym typeface="+mn-ea"/>
              </a:rPr>
              <a:t>Your age should make no difference to whether you get the job or not.</a:t>
            </a:r>
            <a:endParaRPr lang="en-US" altLang="zh-CN" sz="3200" b="1" dirty="0">
              <a:latin typeface="+mj-lt"/>
              <a:ea typeface="宋体" pitchFamily="2" charset="-122"/>
            </a:endParaRPr>
          </a:p>
        </p:txBody>
      </p:sp>
      <p:sp>
        <p:nvSpPr>
          <p:cNvPr id="2" name="Text Box 1"/>
          <p:cNvSpPr txBox="1"/>
          <p:nvPr/>
        </p:nvSpPr>
        <p:spPr>
          <a:xfrm>
            <a:off x="5784215" y="944880"/>
            <a:ext cx="1700530" cy="681990"/>
          </a:xfrm>
          <a:prstGeom prst="rect">
            <a:avLst/>
          </a:prstGeom>
          <a:noFill/>
        </p:spPr>
        <p:txBody>
          <a:bodyPr wrap="square" rtlCol="0" anchor="t">
            <a:spAutoFit/>
          </a:bodyPr>
          <a:lstStyle/>
          <a:p>
            <a:pPr>
              <a:lnSpc>
                <a:spcPct val="120000"/>
              </a:lnSpc>
            </a:pPr>
            <a:r>
              <a:rPr lang="en-US" altLang="zh-CN" sz="3200" b="1" dirty="0">
                <a:solidFill>
                  <a:srgbClr val="FF0000"/>
                </a:solidFill>
                <a:latin typeface="+mj-lt"/>
                <a:ea typeface="宋体" pitchFamily="2" charset="-122"/>
                <a:sym typeface="+mn-ea"/>
              </a:rPr>
              <a:t>differed</a:t>
            </a:r>
            <a:r>
              <a:rPr lang="en-US" altLang="zh-CN" sz="3200" b="1" dirty="0">
                <a:latin typeface="+mj-lt"/>
                <a:ea typeface="宋体" pitchFamily="2" charset="-122"/>
                <a:sym typeface="+mn-ea"/>
              </a:rPr>
              <a:t> </a:t>
            </a:r>
          </a:p>
        </p:txBody>
      </p:sp>
      <p:sp>
        <p:nvSpPr>
          <p:cNvPr id="3" name="Text Box 2"/>
          <p:cNvSpPr txBox="1"/>
          <p:nvPr/>
        </p:nvSpPr>
        <p:spPr>
          <a:xfrm>
            <a:off x="6404610" y="2101215"/>
            <a:ext cx="1700530" cy="681990"/>
          </a:xfrm>
          <a:prstGeom prst="rect">
            <a:avLst/>
          </a:prstGeom>
          <a:noFill/>
        </p:spPr>
        <p:txBody>
          <a:bodyPr wrap="square" rtlCol="0" anchor="t">
            <a:spAutoFit/>
          </a:bodyPr>
          <a:lstStyle/>
          <a:p>
            <a:pPr>
              <a:lnSpc>
                <a:spcPct val="120000"/>
              </a:lnSpc>
            </a:pPr>
            <a:r>
              <a:rPr lang="en-US" altLang="zh-CN" sz="3200" b="1" dirty="0">
                <a:solidFill>
                  <a:srgbClr val="FF0000"/>
                </a:solidFill>
                <a:latin typeface="+mj-lt"/>
                <a:ea typeface="宋体" pitchFamily="2" charset="-122"/>
                <a:sym typeface="+mn-ea"/>
              </a:rPr>
              <a:t>in</a:t>
            </a:r>
            <a:endParaRPr lang="en-US" altLang="zh-CN" sz="3200" b="1" dirty="0">
              <a:latin typeface="+mj-lt"/>
              <a:ea typeface="宋体" pitchFamily="2" charset="-122"/>
              <a:sym typeface="+mn-ea"/>
            </a:endParaRPr>
          </a:p>
        </p:txBody>
      </p:sp>
      <p:sp>
        <p:nvSpPr>
          <p:cNvPr id="4" name="Text Box 3"/>
          <p:cNvSpPr txBox="1"/>
          <p:nvPr/>
        </p:nvSpPr>
        <p:spPr>
          <a:xfrm>
            <a:off x="4704080" y="2783205"/>
            <a:ext cx="3401060" cy="681990"/>
          </a:xfrm>
          <a:prstGeom prst="rect">
            <a:avLst/>
          </a:prstGeom>
          <a:noFill/>
        </p:spPr>
        <p:txBody>
          <a:bodyPr wrap="square" rtlCol="0" anchor="t">
            <a:spAutoFit/>
          </a:bodyPr>
          <a:lstStyle/>
          <a:p>
            <a:pPr>
              <a:lnSpc>
                <a:spcPct val="120000"/>
              </a:lnSpc>
            </a:pPr>
            <a:r>
              <a:rPr lang="en-US" altLang="zh-CN" sz="3200" b="1" dirty="0">
                <a:solidFill>
                  <a:srgbClr val="FF0000"/>
                </a:solidFill>
                <a:latin typeface="+mj-lt"/>
                <a:ea typeface="宋体" pitchFamily="2" charset="-122"/>
                <a:sym typeface="+mn-ea"/>
              </a:rPr>
              <a:t>about/over/on</a:t>
            </a:r>
            <a:endParaRPr lang="en-US" altLang="zh-CN" sz="3200" b="1" dirty="0">
              <a:latin typeface="+mj-lt"/>
              <a:ea typeface="宋体" pitchFamily="2" charset="-122"/>
              <a:sym typeface="+mn-ea"/>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P spid="3" grpId="0"/>
      <p:bldP spid="3" grpId="1"/>
      <p:bldP spid="4" grpId="0"/>
      <p:bldP spid="4" grpId="1"/>
    </p:bldLst>
  </p:timing>
</p:sld>
</file>

<file path=ppt/slides/slide3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7" name="文本框 6"/>
          <p:cNvSpPr txBox="1"/>
          <p:nvPr/>
        </p:nvSpPr>
        <p:spPr>
          <a:xfrm>
            <a:off x="328930" y="431165"/>
            <a:ext cx="11680825" cy="6196330"/>
          </a:xfrm>
          <a:prstGeom prst="rect">
            <a:avLst/>
          </a:prstGeom>
        </p:spPr>
        <p:txBody>
          <a:bodyPr vert="horz" lIns="91440" tIns="45720" rIns="91440" bIns="45720" rtlCol="0">
            <a:noAutofit/>
          </a:bodyPr>
          <a:lstStyle/>
          <a:p>
            <a:pPr indent="0" fontAlgn="auto">
              <a:lnSpc>
                <a:spcPct val="120000"/>
              </a:lnSpc>
              <a:spcAft>
                <a:spcPts val="600"/>
              </a:spcAft>
            </a:pPr>
            <a:r>
              <a:rPr lang="en-US" altLang="zh-CN" sz="3200" b="1" dirty="0">
                <a:effectLst/>
              </a:rPr>
              <a:t>rush to the </a:t>
            </a:r>
            <a:r>
              <a:rPr lang="en-US" altLang="zh-CN" sz="3200" b="1" dirty="0">
                <a:solidFill>
                  <a:srgbClr val="FF0000"/>
                </a:solidFill>
                <a:effectLst/>
              </a:rPr>
              <a:t>conclusion</a:t>
            </a:r>
            <a:r>
              <a:rPr lang="en-US" altLang="zh-CN" sz="3200" b="1" dirty="0">
                <a:effectLst/>
              </a:rPr>
              <a:t> that one of the news reports gives false information.</a:t>
            </a:r>
          </a:p>
          <a:p>
            <a:pPr marL="2508250" indent="-2508250">
              <a:lnSpc>
                <a:spcPct val="110000"/>
              </a:lnSpc>
            </a:pPr>
            <a:r>
              <a:rPr lang="en-US" altLang="zh-CN" sz="3200" b="1" dirty="0">
                <a:solidFill>
                  <a:srgbClr val="FF0000"/>
                </a:solidFill>
                <a:latin typeface="+mj-lt"/>
                <a:sym typeface="+mn-ea"/>
              </a:rPr>
              <a:t>conclusion  </a:t>
            </a:r>
            <a:r>
              <a:rPr lang="en-US" altLang="zh-CN" sz="3200" b="1" i="1" dirty="0">
                <a:solidFill>
                  <a:srgbClr val="FF0000"/>
                </a:solidFill>
                <a:latin typeface="+mj-lt"/>
                <a:sym typeface="+mn-ea"/>
              </a:rPr>
              <a:t>n.</a:t>
            </a:r>
            <a:r>
              <a:rPr lang="en-US" altLang="zh-CN" sz="3200" b="1" dirty="0">
                <a:latin typeface="+mj-lt"/>
                <a:sym typeface="+mn-ea"/>
              </a:rPr>
              <a:t> </a:t>
            </a:r>
          </a:p>
          <a:p>
            <a:pPr marL="2508250" indent="-2508250">
              <a:lnSpc>
                <a:spcPct val="110000"/>
              </a:lnSpc>
            </a:pPr>
            <a:r>
              <a:rPr lang="en-US" altLang="zh-CN" sz="3200" b="1" dirty="0">
                <a:latin typeface="+mj-lt"/>
                <a:sym typeface="+mn-ea"/>
              </a:rPr>
              <a:t>1) </a:t>
            </a:r>
            <a:r>
              <a:rPr lang="zh-CN" altLang="en-US" sz="3200" b="1" dirty="0">
                <a:solidFill>
                  <a:srgbClr val="FF0000"/>
                </a:solidFill>
                <a:latin typeface="+mj-lt"/>
                <a:sym typeface="+mn-ea"/>
              </a:rPr>
              <a:t>结论</a:t>
            </a:r>
            <a:r>
              <a:rPr lang="en-US" altLang="zh-CN" sz="3200" b="1" dirty="0">
                <a:solidFill>
                  <a:srgbClr val="FF0000"/>
                </a:solidFill>
                <a:latin typeface="+mj-lt"/>
                <a:sym typeface="+mn-ea"/>
              </a:rPr>
              <a:t>; </a:t>
            </a:r>
            <a:r>
              <a:rPr lang="zh-CN" altLang="en-US" sz="3200" b="1" dirty="0">
                <a:solidFill>
                  <a:srgbClr val="FF0000"/>
                </a:solidFill>
                <a:latin typeface="+mj-lt"/>
                <a:sym typeface="+mn-ea"/>
              </a:rPr>
              <a:t>推论</a:t>
            </a:r>
            <a:endParaRPr lang="en-US" altLang="zh-CN" sz="3200" b="1" dirty="0">
              <a:solidFill>
                <a:srgbClr val="FF0000"/>
              </a:solidFill>
              <a:latin typeface="+mj-lt"/>
            </a:endParaRPr>
          </a:p>
          <a:p>
            <a:pPr marL="2416175" indent="-4832350">
              <a:lnSpc>
                <a:spcPct val="110000"/>
              </a:lnSpc>
            </a:pPr>
            <a:r>
              <a:rPr lang="en-US" altLang="zh-CN" sz="3200" b="1" dirty="0">
                <a:latin typeface="Times New Roman Bold" panose="02020503050405090304" charset="0"/>
                <a:cs typeface="Times New Roman Bold" panose="02020503050405090304" charset="0"/>
                <a:sym typeface="+mn-ea"/>
              </a:rPr>
              <a:t>2) </a:t>
            </a:r>
            <a:r>
              <a:rPr lang="en-US" altLang="zh-CN" sz="3200" b="1" i="1" dirty="0">
                <a:latin typeface="+mj-lt"/>
                <a:sym typeface="+mn-ea"/>
              </a:rPr>
              <a:t>the end of </a:t>
            </a:r>
            <a:r>
              <a:rPr lang="en-US" altLang="zh-CN" sz="3200" b="1" i="1" dirty="0" err="1">
                <a:latin typeface="+mj-lt"/>
                <a:sym typeface="+mn-ea"/>
              </a:rPr>
              <a:t>sth </a:t>
            </a:r>
            <a:r>
              <a:rPr lang="zh-CN" altLang="en-US" sz="3200" b="1" dirty="0">
                <a:solidFill>
                  <a:srgbClr val="FF0000"/>
                </a:solidFill>
                <a:latin typeface="+mj-lt"/>
                <a:sym typeface="+mn-ea"/>
              </a:rPr>
              <a:t>结束</a:t>
            </a:r>
            <a:r>
              <a:rPr lang="en-US" altLang="zh-CN" sz="3200" b="1" dirty="0">
                <a:solidFill>
                  <a:srgbClr val="FF0000"/>
                </a:solidFill>
                <a:latin typeface="+mj-lt"/>
                <a:sym typeface="+mn-ea"/>
              </a:rPr>
              <a:t>; </a:t>
            </a:r>
            <a:r>
              <a:rPr lang="zh-CN" altLang="en-US" sz="3200" b="1" dirty="0">
                <a:solidFill>
                  <a:srgbClr val="FF0000"/>
                </a:solidFill>
                <a:latin typeface="+mj-lt"/>
                <a:sym typeface="+mn-ea"/>
              </a:rPr>
              <a:t>结果</a:t>
            </a:r>
            <a:r>
              <a:rPr lang="en-US" altLang="zh-CN" sz="3200" b="1" dirty="0">
                <a:solidFill>
                  <a:srgbClr val="FF0000"/>
                </a:solidFill>
                <a:latin typeface="+mj-lt"/>
                <a:sym typeface="+mn-ea"/>
              </a:rPr>
              <a:t>; </a:t>
            </a:r>
            <a:r>
              <a:rPr lang="zh-CN" altLang="en-US" sz="3200" b="1" dirty="0">
                <a:solidFill>
                  <a:srgbClr val="FF0000"/>
                </a:solidFill>
                <a:latin typeface="+mj-lt"/>
                <a:sym typeface="+mn-ea"/>
              </a:rPr>
              <a:t>结尾</a:t>
            </a:r>
            <a:r>
              <a:rPr lang="en-US" altLang="zh-CN" sz="3200" b="1" dirty="0">
                <a:solidFill>
                  <a:srgbClr val="FF0000"/>
                </a:solidFill>
                <a:latin typeface="+mj-lt"/>
                <a:sym typeface="+mn-ea"/>
              </a:rPr>
              <a:t>; </a:t>
            </a:r>
            <a:r>
              <a:rPr lang="zh-CN" altLang="en-US" sz="3200" b="1" dirty="0">
                <a:solidFill>
                  <a:srgbClr val="FF0000"/>
                </a:solidFill>
                <a:latin typeface="+mj-lt"/>
                <a:sym typeface="+mn-ea"/>
              </a:rPr>
              <a:t>结局</a:t>
            </a:r>
            <a:endParaRPr lang="en-US" altLang="zh-CN" sz="3200" b="1" dirty="0">
              <a:solidFill>
                <a:srgbClr val="FF0000"/>
              </a:solidFill>
              <a:latin typeface="+mj-lt"/>
            </a:endParaRPr>
          </a:p>
          <a:p>
            <a:pPr marL="2416175" indent="-2416175">
              <a:lnSpc>
                <a:spcPct val="110000"/>
              </a:lnSpc>
            </a:pPr>
            <a:r>
              <a:rPr lang="en-US" altLang="zh-CN" sz="3200" b="1" dirty="0">
                <a:latin typeface="Times New Roman Bold" panose="02020503050405090304" charset="0"/>
                <a:cs typeface="Times New Roman Bold" panose="02020503050405090304" charset="0"/>
                <a:sym typeface="+mn-ea"/>
              </a:rPr>
              <a:t>3)</a:t>
            </a:r>
            <a:r>
              <a:rPr lang="en-US" altLang="zh-CN" sz="3200" b="1" i="1" dirty="0">
                <a:latin typeface="+mj-lt"/>
                <a:sym typeface="+mn-ea"/>
              </a:rPr>
              <a:t> the formal and final arrangement of </a:t>
            </a:r>
            <a:r>
              <a:rPr lang="en-US" altLang="zh-CN" sz="3200" b="1" i="1" dirty="0" err="1">
                <a:latin typeface="+mj-lt"/>
                <a:sym typeface="+mn-ea"/>
              </a:rPr>
              <a:t>sth</a:t>
            </a:r>
            <a:r>
              <a:rPr lang="en-US" altLang="zh-CN" sz="3200" b="1" i="1" dirty="0">
                <a:latin typeface="+mj-lt"/>
                <a:sym typeface="+mn-ea"/>
              </a:rPr>
              <a:t>. official</a:t>
            </a:r>
            <a:r>
              <a:rPr lang="zh-CN" altLang="en-US" sz="3200" b="1" dirty="0">
                <a:solidFill>
                  <a:srgbClr val="FF0000"/>
                </a:solidFill>
                <a:latin typeface="+mj-lt"/>
                <a:sym typeface="+mn-ea"/>
              </a:rPr>
              <a:t> 签订</a:t>
            </a:r>
            <a:r>
              <a:rPr lang="en-US" altLang="zh-CN" sz="3200" b="1" dirty="0">
                <a:solidFill>
                  <a:srgbClr val="FF0000"/>
                </a:solidFill>
                <a:latin typeface="+mj-lt"/>
                <a:sym typeface="+mn-ea"/>
              </a:rPr>
              <a:t>; </a:t>
            </a:r>
            <a:r>
              <a:rPr lang="zh-CN" altLang="en-US" sz="3200" b="1" dirty="0">
                <a:solidFill>
                  <a:srgbClr val="FF0000"/>
                </a:solidFill>
                <a:latin typeface="+mj-lt"/>
                <a:sym typeface="+mn-ea"/>
              </a:rPr>
              <a:t>达成</a:t>
            </a:r>
          </a:p>
          <a:p>
            <a:pPr>
              <a:lnSpc>
                <a:spcPct val="114000"/>
              </a:lnSpc>
            </a:pPr>
            <a:r>
              <a:rPr lang="en-US" altLang="zh-CN" sz="3200" b="1" dirty="0">
                <a:solidFill>
                  <a:srgbClr val="FF0000"/>
                </a:solidFill>
                <a:sym typeface="+mn-ea"/>
              </a:rPr>
              <a:t> in conclusion                                        		</a:t>
            </a:r>
            <a:r>
              <a:rPr lang="zh-CN" altLang="en-US" sz="3200" b="1" dirty="0">
                <a:sym typeface="+mn-ea"/>
              </a:rPr>
              <a:t>总之</a:t>
            </a:r>
            <a:r>
              <a:rPr lang="en-US" altLang="zh-CN" sz="3200" b="1" dirty="0">
                <a:sym typeface="+mn-ea"/>
              </a:rPr>
              <a:t>, </a:t>
            </a:r>
            <a:r>
              <a:rPr lang="zh-CN" altLang="en-US" sz="3200" b="1" dirty="0">
                <a:sym typeface="+mn-ea"/>
              </a:rPr>
              <a:t>最后</a:t>
            </a:r>
            <a:endParaRPr lang="en-US" altLang="zh-CN" sz="3200" b="1" dirty="0"/>
          </a:p>
          <a:p>
            <a:pPr>
              <a:lnSpc>
                <a:spcPct val="114000"/>
              </a:lnSpc>
            </a:pPr>
            <a:r>
              <a:rPr lang="en-US" altLang="zh-CN" sz="3200" b="1" dirty="0">
                <a:sym typeface="+mn-ea"/>
              </a:rPr>
              <a:t> </a:t>
            </a:r>
            <a:r>
              <a:rPr lang="en-US" altLang="zh-CN" sz="3200" b="1" dirty="0">
                <a:solidFill>
                  <a:srgbClr val="FF0000"/>
                </a:solidFill>
                <a:sym typeface="+mn-ea"/>
              </a:rPr>
              <a:t>come to / draw / reach / lead to a conclusion      </a:t>
            </a:r>
            <a:r>
              <a:rPr lang="zh-CN" altLang="en-US" sz="3200" b="1" dirty="0">
                <a:sym typeface="+mn-ea"/>
              </a:rPr>
              <a:t>得出结论</a:t>
            </a:r>
            <a:endParaRPr lang="zh-CN" altLang="en-US" sz="3200" b="1" dirty="0"/>
          </a:p>
          <a:p>
            <a:pPr>
              <a:lnSpc>
                <a:spcPct val="114000"/>
              </a:lnSpc>
            </a:pPr>
            <a:r>
              <a:rPr lang="en-US" altLang="zh-CN" sz="3200" b="1" dirty="0">
                <a:sym typeface="+mn-ea"/>
              </a:rPr>
              <a:t> </a:t>
            </a:r>
            <a:r>
              <a:rPr lang="en-US" altLang="zh-CN" sz="3200" b="1" dirty="0">
                <a:solidFill>
                  <a:srgbClr val="FF0000"/>
                </a:solidFill>
                <a:sym typeface="+mn-ea"/>
              </a:rPr>
              <a:t>come to the conclusion that ...            		</a:t>
            </a:r>
            <a:r>
              <a:rPr lang="zh-CN" altLang="en-US" sz="3200" b="1" dirty="0">
                <a:sym typeface="+mn-ea"/>
              </a:rPr>
              <a:t>所得结论是</a:t>
            </a:r>
            <a:r>
              <a:rPr lang="en-US" altLang="zh-CN" sz="3200" b="1" dirty="0">
                <a:latin typeface="+mn-ea"/>
                <a:sym typeface="+mn-ea"/>
              </a:rPr>
              <a:t>……</a:t>
            </a:r>
            <a:endParaRPr lang="zh-CN" altLang="en-US" sz="3200" b="1" dirty="0">
              <a:latin typeface="+mn-ea"/>
            </a:endParaRPr>
          </a:p>
          <a:p>
            <a:pPr>
              <a:lnSpc>
                <a:spcPct val="114000"/>
              </a:lnSpc>
            </a:pPr>
            <a:r>
              <a:rPr lang="en-US" altLang="zh-CN" sz="3200" b="1" dirty="0">
                <a:sym typeface="+mn-ea"/>
              </a:rPr>
              <a:t> </a:t>
            </a:r>
            <a:r>
              <a:rPr lang="en-US" altLang="zh-CN" sz="3200" b="1" dirty="0">
                <a:solidFill>
                  <a:srgbClr val="FF0000"/>
                </a:solidFill>
                <a:sym typeface="+mn-ea"/>
              </a:rPr>
              <a:t>jump / rush to conclusions / a conclusion  </a:t>
            </a:r>
            <a:r>
              <a:rPr lang="zh-CN" altLang="en-US" sz="3200" b="1" dirty="0">
                <a:sym typeface="+mn-ea"/>
              </a:rPr>
              <a:t>  冒然断定</a:t>
            </a:r>
            <a:r>
              <a:rPr lang="en-US" altLang="zh-CN" sz="3200" b="1" dirty="0">
                <a:sym typeface="+mn-ea"/>
              </a:rPr>
              <a:t>, </a:t>
            </a:r>
            <a:r>
              <a:rPr lang="zh-CN" altLang="en-US" sz="3200" b="1" dirty="0">
                <a:sym typeface="+mn-ea"/>
              </a:rPr>
              <a:t>过早下结论</a:t>
            </a:r>
          </a:p>
          <a:p>
            <a:pPr>
              <a:lnSpc>
                <a:spcPct val="114000"/>
              </a:lnSpc>
            </a:pPr>
            <a:r>
              <a:rPr lang="zh-CN" altLang="en-US" sz="3200" b="1" dirty="0">
                <a:solidFill>
                  <a:schemeClr val="tx1"/>
                </a:solidFill>
                <a:latin typeface="+mj-lt"/>
                <a:sym typeface="+mn-ea"/>
              </a:rPr>
              <a:t>the successful </a:t>
            </a:r>
            <a:r>
              <a:rPr lang="zh-CN" altLang="en-US" sz="3200" b="1" dirty="0">
                <a:solidFill>
                  <a:srgbClr val="FF0000"/>
                </a:solidFill>
                <a:latin typeface="+mj-lt"/>
                <a:sym typeface="+mn-ea"/>
              </a:rPr>
              <a:t>conclusion </a:t>
            </a:r>
            <a:r>
              <a:rPr lang="zh-CN" altLang="en-US" sz="3200" b="1" dirty="0">
                <a:solidFill>
                  <a:schemeClr val="tx1"/>
                </a:solidFill>
                <a:latin typeface="+mj-lt"/>
                <a:sym typeface="+mn-ea"/>
              </a:rPr>
              <a:t>of a trade treaty</a:t>
            </a:r>
            <a:r>
              <a:rPr lang="en-US" altLang="zh-CN" sz="3200" b="1" dirty="0">
                <a:solidFill>
                  <a:schemeClr val="tx1"/>
                </a:solidFill>
                <a:latin typeface="+mj-lt"/>
                <a:sym typeface="+mn-ea"/>
              </a:rPr>
              <a:t> </a:t>
            </a:r>
            <a:r>
              <a:rPr lang="en-US" altLang="zh-CN" sz="3200" b="1" dirty="0">
                <a:solidFill>
                  <a:srgbClr val="FF0000"/>
                </a:solidFill>
                <a:latin typeface="+mj-lt"/>
                <a:sym typeface="+mn-ea"/>
              </a:rPr>
              <a:t>     </a:t>
            </a:r>
            <a:r>
              <a:rPr lang="zh-CN" altLang="en-US" sz="3200" b="1" dirty="0">
                <a:solidFill>
                  <a:schemeClr val="tx1"/>
                </a:solidFill>
                <a:latin typeface="+mj-lt"/>
                <a:sym typeface="+mn-ea"/>
              </a:rPr>
              <a:t>贸易条约的成功签署</a:t>
            </a:r>
          </a:p>
          <a:p>
            <a:pPr marL="2416175" indent="-2416175">
              <a:lnSpc>
                <a:spcPct val="110000"/>
              </a:lnSpc>
            </a:pPr>
            <a:endParaRPr lang="en-US" altLang="zh-CN" sz="3200" b="1" dirty="0">
              <a:solidFill>
                <a:srgbClr val="FF0000"/>
              </a:solidFill>
              <a:latin typeface="+mj-lt"/>
            </a:endParaRPr>
          </a:p>
          <a:p>
            <a:pPr indent="0" fontAlgn="auto">
              <a:lnSpc>
                <a:spcPct val="120000"/>
              </a:lnSpc>
              <a:spcAft>
                <a:spcPts val="600"/>
              </a:spcAft>
            </a:pPr>
            <a:endParaRPr lang="en-US" altLang="zh-CN" sz="3200" b="1" dirty="0">
              <a:effectLst/>
            </a:endParaRPr>
          </a:p>
        </p:txBody>
      </p:sp>
      <p:sp>
        <p:nvSpPr>
          <p:cNvPr id="6" name="椭圆 5"/>
          <p:cNvSpPr/>
          <p:nvPr/>
        </p:nvSpPr>
        <p:spPr>
          <a:xfrm>
            <a:off x="4282840" y="450751"/>
            <a:ext cx="858982" cy="623455"/>
          </a:xfrm>
          <a:prstGeom prst="ellipse">
            <a:avLst/>
          </a:prstGeom>
          <a:noFill/>
          <a:ln w="2540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圆角矩形标注 7"/>
          <p:cNvSpPr/>
          <p:nvPr/>
        </p:nvSpPr>
        <p:spPr>
          <a:xfrm>
            <a:off x="4933945" y="1183360"/>
            <a:ext cx="3413511" cy="557029"/>
          </a:xfrm>
          <a:prstGeom prst="wedgeRoundRectCallout">
            <a:avLst>
              <a:gd name="adj1" fmla="val -36685"/>
              <a:gd name="adj2" fmla="val -77293"/>
              <a:gd name="adj3" fmla="val 16667"/>
            </a:avLst>
          </a:prstGeom>
          <a:solidFill>
            <a:srgbClr val="00B0F0"/>
          </a:solidFill>
          <a:ln w="254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zh-CN" sz="2800" b="1" dirty="0">
                <a:solidFill>
                  <a:schemeClr val="bg1"/>
                </a:solidFill>
              </a:rPr>
              <a:t>that</a:t>
            </a:r>
            <a:r>
              <a:rPr lang="zh-CN" altLang="en-US" sz="2800" b="1" dirty="0">
                <a:solidFill>
                  <a:schemeClr val="bg1"/>
                </a:solidFill>
              </a:rPr>
              <a:t>引导同位语从句</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up)">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ldLvl="0" animBg="1"/>
      <p:bldP spid="8" grpId="0" bldLvl="0" animBg="1"/>
    </p:bldLst>
  </p:timing>
</p:sld>
</file>

<file path=ppt/slides/slide40.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nvSpPr>
        <p:spPr>
          <a:xfrm>
            <a:off x="761998" y="1149800"/>
            <a:ext cx="10557166" cy="4579620"/>
          </a:xfrm>
          <a:prstGeom prst="rect">
            <a:avLst/>
          </a:prstGeom>
          <a:solidFill>
            <a:srgbClr val="E6F1FE"/>
          </a:solidFill>
          <a:ln w="28575">
            <a:noFill/>
          </a:ln>
        </p:spPr>
        <p:txBody>
          <a:bodyPr wrap="square">
            <a:spAutoFit/>
          </a:bodyPr>
          <a:lstStyle/>
          <a:p>
            <a:pPr>
              <a:lnSpc>
                <a:spcPct val="114000"/>
              </a:lnSpc>
            </a:pPr>
            <a:r>
              <a:rPr lang="en-US" altLang="zh-CN" sz="3200" b="1" dirty="0">
                <a:solidFill>
                  <a:srgbClr val="0000FF"/>
                </a:solidFill>
              </a:rPr>
              <a:t>【</a:t>
            </a:r>
            <a:r>
              <a:rPr lang="zh-CN" altLang="en-US" sz="3200" b="1" dirty="0">
                <a:solidFill>
                  <a:srgbClr val="0000FF"/>
                </a:solidFill>
              </a:rPr>
              <a:t>归纳</a:t>
            </a:r>
            <a:r>
              <a:rPr lang="en-US" altLang="zh-CN" sz="3200" b="1" dirty="0">
                <a:solidFill>
                  <a:srgbClr val="0000FF"/>
                </a:solidFill>
              </a:rPr>
              <a:t>】</a:t>
            </a:r>
          </a:p>
          <a:p>
            <a:pPr>
              <a:lnSpc>
                <a:spcPct val="114000"/>
              </a:lnSpc>
            </a:pPr>
            <a:r>
              <a:rPr lang="en-US" altLang="zh-CN" sz="3200" b="1" dirty="0">
                <a:solidFill>
                  <a:srgbClr val="FF0000"/>
                </a:solidFill>
              </a:rPr>
              <a:t> conclude   </a:t>
            </a:r>
            <a:r>
              <a:rPr lang="en-US" altLang="zh-CN" sz="3200" b="1" i="1" dirty="0">
                <a:solidFill>
                  <a:srgbClr val="FF0000"/>
                </a:solidFill>
              </a:rPr>
              <a:t>v</a:t>
            </a:r>
            <a:r>
              <a:rPr lang="en-US" altLang="zh-CN" sz="3200" b="1" dirty="0">
                <a:solidFill>
                  <a:srgbClr val="FF0000"/>
                </a:solidFill>
              </a:rPr>
              <a:t>.  </a:t>
            </a:r>
            <a:r>
              <a:rPr lang="zh-CN" altLang="en-US" sz="3200" b="1" dirty="0">
                <a:solidFill>
                  <a:srgbClr val="FF0000"/>
                </a:solidFill>
              </a:rPr>
              <a:t>推断出</a:t>
            </a:r>
            <a:r>
              <a:rPr lang="en-US" altLang="zh-CN" sz="3200" b="1" dirty="0">
                <a:solidFill>
                  <a:srgbClr val="FF0000"/>
                </a:solidFill>
              </a:rPr>
              <a:t>; </a:t>
            </a:r>
            <a:r>
              <a:rPr lang="zh-CN" altLang="en-US" sz="3200" b="1" dirty="0">
                <a:solidFill>
                  <a:srgbClr val="FF0000"/>
                </a:solidFill>
              </a:rPr>
              <a:t>结束</a:t>
            </a:r>
            <a:endParaRPr lang="en-US" altLang="zh-CN" sz="3200" b="1" dirty="0">
              <a:solidFill>
                <a:srgbClr val="FF0000"/>
              </a:solidFill>
            </a:endParaRPr>
          </a:p>
          <a:p>
            <a:pPr>
              <a:lnSpc>
                <a:spcPct val="114000"/>
              </a:lnSpc>
            </a:pPr>
            <a:r>
              <a:rPr lang="en-US" altLang="zh-CN" sz="3200" b="1" dirty="0">
                <a:solidFill>
                  <a:srgbClr val="FF0000"/>
                </a:solidFill>
              </a:rPr>
              <a:t> conclude … from …    </a:t>
            </a:r>
            <a:r>
              <a:rPr lang="zh-CN" altLang="en-US" sz="3200" b="1" dirty="0">
                <a:latin typeface="+mn-ea"/>
              </a:rPr>
              <a:t>从</a:t>
            </a:r>
            <a:r>
              <a:rPr lang="en-US" altLang="zh-CN" sz="3200" b="1" dirty="0">
                <a:latin typeface="+mn-ea"/>
              </a:rPr>
              <a:t>……</a:t>
            </a:r>
            <a:r>
              <a:rPr lang="zh-CN" altLang="en-US" sz="3200" b="1" dirty="0">
                <a:latin typeface="+mn-ea"/>
              </a:rPr>
              <a:t>中得出</a:t>
            </a:r>
            <a:r>
              <a:rPr lang="en-US" altLang="zh-CN" sz="3200" b="1" dirty="0">
                <a:latin typeface="+mn-ea"/>
              </a:rPr>
              <a:t>/</a:t>
            </a:r>
            <a:r>
              <a:rPr lang="zh-CN" altLang="en-US" sz="3200" b="1" dirty="0">
                <a:latin typeface="+mn-ea"/>
              </a:rPr>
              <a:t>推断出</a:t>
            </a:r>
            <a:r>
              <a:rPr lang="en-US" altLang="zh-CN" sz="3200" b="1" dirty="0">
                <a:latin typeface="+mn-ea"/>
              </a:rPr>
              <a:t>……</a:t>
            </a:r>
          </a:p>
          <a:p>
            <a:pPr>
              <a:lnSpc>
                <a:spcPct val="114000"/>
              </a:lnSpc>
            </a:pPr>
            <a:r>
              <a:rPr lang="en-US" altLang="zh-CN" sz="3200" b="1" dirty="0">
                <a:solidFill>
                  <a:srgbClr val="FF0000"/>
                </a:solidFill>
              </a:rPr>
              <a:t> conclude … with …   </a:t>
            </a:r>
            <a:r>
              <a:rPr lang="zh-CN" altLang="en-US" sz="3200" b="1" dirty="0">
                <a:latin typeface="+mn-ea"/>
              </a:rPr>
              <a:t>以</a:t>
            </a:r>
            <a:r>
              <a:rPr lang="en-US" altLang="zh-CN" sz="3200" b="1" dirty="0">
                <a:latin typeface="+mn-ea"/>
              </a:rPr>
              <a:t>……</a:t>
            </a:r>
            <a:r>
              <a:rPr lang="zh-CN" altLang="en-US" sz="3200" b="1" dirty="0">
                <a:latin typeface="+mn-ea"/>
              </a:rPr>
              <a:t>结束</a:t>
            </a:r>
            <a:r>
              <a:rPr lang="en-US" altLang="zh-CN" sz="3200" b="1" dirty="0">
                <a:latin typeface="+mn-ea"/>
              </a:rPr>
              <a:t>……</a:t>
            </a:r>
          </a:p>
          <a:p>
            <a:pPr>
              <a:lnSpc>
                <a:spcPct val="114000"/>
              </a:lnSpc>
            </a:pPr>
            <a:r>
              <a:rPr lang="en-US" altLang="zh-CN" sz="3200" b="1" dirty="0">
                <a:solidFill>
                  <a:srgbClr val="FF0000"/>
                </a:solidFill>
              </a:rPr>
              <a:t> It is concluded that ... </a:t>
            </a:r>
            <a:r>
              <a:rPr lang="en-US" altLang="zh-CN" sz="3200" b="1" dirty="0">
                <a:latin typeface="+mn-ea"/>
              </a:rPr>
              <a:t>  </a:t>
            </a:r>
            <a:r>
              <a:rPr lang="zh-CN" altLang="en-US" sz="3200" b="1" dirty="0">
                <a:latin typeface="+mn-ea"/>
              </a:rPr>
              <a:t>据推断</a:t>
            </a:r>
          </a:p>
          <a:p>
            <a:pPr>
              <a:lnSpc>
                <a:spcPct val="114000"/>
              </a:lnSpc>
            </a:pPr>
            <a:endParaRPr lang="en-US" altLang="zh-CN" sz="3200" b="1" dirty="0">
              <a:solidFill>
                <a:srgbClr val="FF0000"/>
              </a:solidFill>
            </a:endParaRPr>
          </a:p>
          <a:p>
            <a:pPr>
              <a:lnSpc>
                <a:spcPct val="114000"/>
              </a:lnSpc>
            </a:pPr>
            <a:r>
              <a:rPr lang="en-US" altLang="zh-CN" sz="3200" b="1" dirty="0">
                <a:solidFill>
                  <a:srgbClr val="FF0000"/>
                </a:solidFill>
              </a:rPr>
              <a:t>conclusive </a:t>
            </a:r>
            <a:r>
              <a:rPr lang="en-US" altLang="zh-CN" sz="3200" b="1" i="1" dirty="0">
                <a:solidFill>
                  <a:srgbClr val="FF0000"/>
                </a:solidFill>
                <a:latin typeface="Times New Roman Bold Italic" panose="02020503050405090304" charset="0"/>
                <a:cs typeface="Times New Roman Bold Italic" panose="02020503050405090304" charset="0"/>
              </a:rPr>
              <a:t>(adj.)</a:t>
            </a:r>
            <a:r>
              <a:rPr lang="en-US" altLang="zh-CN" sz="3200" b="1" dirty="0">
                <a:solidFill>
                  <a:srgbClr val="FF0000"/>
                </a:solidFill>
              </a:rPr>
              <a:t> evidence/results</a:t>
            </a:r>
          </a:p>
          <a:p>
            <a:pPr>
              <a:lnSpc>
                <a:spcPct val="114000"/>
              </a:lnSpc>
            </a:pPr>
            <a:r>
              <a:rPr lang="en-US" altLang="zh-CN" sz="3200" b="1" dirty="0">
                <a:latin typeface="+mn-ea"/>
              </a:rPr>
              <a:t>确凿的证据；不容置疑的结果 </a:t>
            </a:r>
            <a:r>
              <a:rPr lang="en-US" altLang="zh-CN" sz="3200" b="1" dirty="0">
                <a:solidFill>
                  <a:schemeClr val="tx1"/>
                </a:solidFill>
                <a:latin typeface="Times New Roman Bold" panose="02020503050405090304" charset="0"/>
                <a:cs typeface="Times New Roman Bold" panose="02020503050405090304" charset="0"/>
              </a:rPr>
              <a:t>(prove sth, without doubt)</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nvSpPr>
        <p:spPr>
          <a:xfrm>
            <a:off x="67945" y="0"/>
            <a:ext cx="12124055" cy="6587490"/>
          </a:xfrm>
          <a:prstGeom prst="rect">
            <a:avLst/>
          </a:prstGeom>
        </p:spPr>
        <p:txBody>
          <a:bodyPr wrap="square">
            <a:spAutoFit/>
          </a:bodyPr>
          <a:lstStyle/>
          <a:p>
            <a:pPr>
              <a:lnSpc>
                <a:spcPct val="120000"/>
              </a:lnSpc>
            </a:pPr>
            <a:r>
              <a:rPr lang="en-US" altLang="zh-CN" sz="3200" b="1" dirty="0">
                <a:solidFill>
                  <a:srgbClr val="9966FF"/>
                </a:solidFill>
              </a:rPr>
              <a:t>【</a:t>
            </a:r>
            <a:r>
              <a:rPr lang="zh-CN" altLang="en-US" sz="3200" b="1" dirty="0">
                <a:solidFill>
                  <a:srgbClr val="9966FF"/>
                </a:solidFill>
              </a:rPr>
              <a:t>语境应用</a:t>
            </a:r>
            <a:r>
              <a:rPr lang="en-US" altLang="zh-CN" sz="3200" b="1" dirty="0">
                <a:solidFill>
                  <a:srgbClr val="9966FF"/>
                </a:solidFill>
              </a:rPr>
              <a:t>】</a:t>
            </a:r>
            <a:r>
              <a:rPr lang="zh-CN" altLang="en-US" sz="3200" b="1" dirty="0">
                <a:solidFill>
                  <a:srgbClr val="9966FF"/>
                </a:solidFill>
              </a:rPr>
              <a:t>根据括号内的汉语提示补全下面句子</a:t>
            </a:r>
            <a:r>
              <a:rPr lang="en-US" altLang="zh-CN" sz="3200" b="1" dirty="0">
                <a:solidFill>
                  <a:srgbClr val="9966FF"/>
                </a:solidFill>
              </a:rPr>
              <a:t>(</a:t>
            </a:r>
            <a:r>
              <a:rPr lang="zh-CN" altLang="en-US" sz="3200" b="1" dirty="0">
                <a:solidFill>
                  <a:srgbClr val="9966FF"/>
                </a:solidFill>
              </a:rPr>
              <a:t>每空一词</a:t>
            </a:r>
            <a:r>
              <a:rPr lang="en-US" altLang="zh-CN" sz="3200" b="1" dirty="0">
                <a:solidFill>
                  <a:srgbClr val="9966FF"/>
                </a:solidFill>
              </a:rPr>
              <a:t>)</a:t>
            </a:r>
            <a:r>
              <a:rPr lang="zh-CN" altLang="en-US" sz="3200" b="1" dirty="0">
                <a:solidFill>
                  <a:srgbClr val="9966FF"/>
                </a:solidFill>
              </a:rPr>
              <a:t>。</a:t>
            </a:r>
          </a:p>
          <a:p>
            <a:pPr marL="535305" indent="-535305">
              <a:lnSpc>
                <a:spcPct val="120000"/>
              </a:lnSpc>
            </a:pPr>
            <a:r>
              <a:rPr lang="en-US" altLang="zh-CN" sz="3200" b="1" dirty="0"/>
              <a:t> 1) So what can we _________ ________ ________ ________ (</a:t>
            </a:r>
            <a:r>
              <a:rPr lang="zh-CN" altLang="en-US" sz="3200" b="1" dirty="0"/>
              <a:t>从这场辩论中得出结论</a:t>
            </a:r>
            <a:r>
              <a:rPr lang="en-US" altLang="zh-CN" sz="3200" b="1" dirty="0"/>
              <a:t>)?</a:t>
            </a:r>
          </a:p>
          <a:p>
            <a:pPr marL="535305" indent="-535305">
              <a:lnSpc>
                <a:spcPct val="120000"/>
              </a:lnSpc>
            </a:pPr>
            <a:r>
              <a:rPr lang="en-US" altLang="zh-CN" sz="3200" b="1" dirty="0"/>
              <a:t> 2) When the group discussion is nearing its end, make sure to ________ ____ _____ ___________ ______ (</a:t>
            </a:r>
            <a:r>
              <a:rPr lang="zh-CN" altLang="en-US" sz="3200" b="1" dirty="0"/>
              <a:t>以要点结束它</a:t>
            </a:r>
            <a:r>
              <a:rPr lang="en-US" altLang="zh-CN" sz="3200" b="1" dirty="0"/>
              <a:t>).</a:t>
            </a:r>
          </a:p>
          <a:p>
            <a:pPr marL="535305" indent="-535305">
              <a:lnSpc>
                <a:spcPct val="120000"/>
              </a:lnSpc>
            </a:pPr>
            <a:r>
              <a:rPr lang="en-US" altLang="zh-CN" sz="3200" b="1" dirty="0"/>
              <a:t> 3) ________ __________ (</a:t>
            </a:r>
            <a:r>
              <a:rPr lang="zh-CN" altLang="en-US" sz="3200" b="1" dirty="0"/>
              <a:t>最后</a:t>
            </a:r>
            <a:r>
              <a:rPr lang="en-US" altLang="zh-CN" sz="3200" b="1" dirty="0"/>
              <a:t>), I'd like to express my thanks to my family.</a:t>
            </a:r>
          </a:p>
          <a:p>
            <a:pPr marL="535305" indent="-535305">
              <a:lnSpc>
                <a:spcPct val="120000"/>
              </a:lnSpc>
            </a:pPr>
            <a:r>
              <a:rPr lang="en-US" altLang="zh-CN" sz="3200" b="1" dirty="0"/>
              <a:t>4) </a:t>
            </a:r>
            <a:r>
              <a:rPr lang="zh-CN" altLang="en-US" sz="3200" b="1" dirty="0"/>
              <a:t>只有事实确凿，我们才能下结论。</a:t>
            </a:r>
          </a:p>
          <a:p>
            <a:pPr marL="535305" indent="-535305">
              <a:lnSpc>
                <a:spcPct val="120000"/>
              </a:lnSpc>
            </a:pPr>
            <a:r>
              <a:rPr lang="en-US" altLang="zh-CN" sz="3200" b="1" dirty="0"/>
              <a:t>Only with solid facts _________________________.</a:t>
            </a:r>
          </a:p>
          <a:p>
            <a:pPr marL="535305" indent="-535305">
              <a:lnSpc>
                <a:spcPct val="120000"/>
              </a:lnSpc>
            </a:pPr>
            <a:r>
              <a:rPr lang="en-US" altLang="zh-CN" sz="3200" b="1" dirty="0"/>
              <a:t>5) The professor told us that research on the matter was far from _________ (conclude).</a:t>
            </a:r>
          </a:p>
        </p:txBody>
      </p:sp>
      <p:sp>
        <p:nvSpPr>
          <p:cNvPr id="5" name="矩形 4"/>
          <p:cNvSpPr/>
          <p:nvPr/>
        </p:nvSpPr>
        <p:spPr>
          <a:xfrm>
            <a:off x="1173480" y="2946400"/>
            <a:ext cx="4053840" cy="583565"/>
          </a:xfrm>
          <a:prstGeom prst="rect">
            <a:avLst/>
          </a:prstGeom>
        </p:spPr>
        <p:txBody>
          <a:bodyPr wrap="square">
            <a:spAutoFit/>
          </a:bodyPr>
          <a:lstStyle/>
          <a:p>
            <a:r>
              <a:rPr lang="en-US" altLang="zh-CN" sz="3200" b="1" dirty="0">
                <a:solidFill>
                  <a:srgbClr val="FF0000"/>
                </a:solidFill>
              </a:rPr>
              <a:t>In         conclusion</a:t>
            </a:r>
            <a:endParaRPr lang="en-US" altLang="zh-CN" sz="3200" b="1" i="0" dirty="0">
              <a:solidFill>
                <a:srgbClr val="FF0000"/>
              </a:solidFill>
              <a:effectLst/>
            </a:endParaRPr>
          </a:p>
        </p:txBody>
      </p:sp>
      <p:sp>
        <p:nvSpPr>
          <p:cNvPr id="6" name="矩形 5"/>
          <p:cNvSpPr/>
          <p:nvPr/>
        </p:nvSpPr>
        <p:spPr>
          <a:xfrm>
            <a:off x="3498215" y="641985"/>
            <a:ext cx="7512050" cy="583565"/>
          </a:xfrm>
          <a:prstGeom prst="rect">
            <a:avLst/>
          </a:prstGeom>
        </p:spPr>
        <p:txBody>
          <a:bodyPr wrap="square">
            <a:spAutoFit/>
          </a:bodyPr>
          <a:lstStyle/>
          <a:p>
            <a:r>
              <a:rPr lang="en-US" altLang="zh-CN" sz="3200" b="1" dirty="0">
                <a:solidFill>
                  <a:srgbClr val="FF0000"/>
                </a:solidFill>
              </a:rPr>
              <a:t> conclude      from        this         debate </a:t>
            </a:r>
            <a:endParaRPr lang="zh-CN" altLang="en-US" sz="3200" b="1" dirty="0">
              <a:solidFill>
                <a:srgbClr val="FF0000"/>
              </a:solidFill>
            </a:endParaRPr>
          </a:p>
        </p:txBody>
      </p:sp>
      <p:sp>
        <p:nvSpPr>
          <p:cNvPr id="7" name="矩形 6"/>
          <p:cNvSpPr/>
          <p:nvPr/>
        </p:nvSpPr>
        <p:spPr>
          <a:xfrm>
            <a:off x="651510" y="2338705"/>
            <a:ext cx="8025130" cy="583565"/>
          </a:xfrm>
          <a:prstGeom prst="rect">
            <a:avLst/>
          </a:prstGeom>
        </p:spPr>
        <p:txBody>
          <a:bodyPr wrap="square">
            <a:spAutoFit/>
          </a:bodyPr>
          <a:lstStyle/>
          <a:p>
            <a:r>
              <a:rPr lang="en-US" altLang="zh-CN" sz="3200" b="1" dirty="0">
                <a:solidFill>
                  <a:srgbClr val="FF0000"/>
                </a:solidFill>
              </a:rPr>
              <a:t>conclude    it      with    important    points </a:t>
            </a:r>
          </a:p>
        </p:txBody>
      </p:sp>
      <p:sp>
        <p:nvSpPr>
          <p:cNvPr id="2" name="矩形 4"/>
          <p:cNvSpPr/>
          <p:nvPr>
            <p:custDataLst>
              <p:tags r:id="rId1"/>
            </p:custDataLst>
          </p:nvPr>
        </p:nvSpPr>
        <p:spPr>
          <a:xfrm>
            <a:off x="3837940" y="4657090"/>
            <a:ext cx="5203825" cy="583565"/>
          </a:xfrm>
          <a:prstGeom prst="rect">
            <a:avLst/>
          </a:prstGeom>
        </p:spPr>
        <p:txBody>
          <a:bodyPr wrap="square">
            <a:spAutoFit/>
          </a:bodyPr>
          <a:lstStyle/>
          <a:p>
            <a:r>
              <a:rPr lang="en-US" altLang="zh-CN" sz="3200" b="1" dirty="0">
                <a:solidFill>
                  <a:srgbClr val="FF0000"/>
                </a:solidFill>
              </a:rPr>
              <a:t>can we come to a conclusion</a:t>
            </a:r>
            <a:endParaRPr lang="en-US" altLang="zh-CN" sz="3200" b="1" i="0" dirty="0">
              <a:solidFill>
                <a:srgbClr val="FF0000"/>
              </a:solidFill>
              <a:effectLst/>
            </a:endParaRPr>
          </a:p>
        </p:txBody>
      </p:sp>
      <p:sp>
        <p:nvSpPr>
          <p:cNvPr id="3" name="矩形 4"/>
          <p:cNvSpPr/>
          <p:nvPr>
            <p:custDataLst>
              <p:tags r:id="rId2"/>
            </p:custDataLst>
          </p:nvPr>
        </p:nvSpPr>
        <p:spPr>
          <a:xfrm>
            <a:off x="651510" y="5854065"/>
            <a:ext cx="5203825" cy="583565"/>
          </a:xfrm>
          <a:prstGeom prst="rect">
            <a:avLst/>
          </a:prstGeom>
        </p:spPr>
        <p:txBody>
          <a:bodyPr wrap="square">
            <a:spAutoFit/>
          </a:bodyPr>
          <a:lstStyle/>
          <a:p>
            <a:r>
              <a:rPr lang="en-US" altLang="zh-CN" sz="3200" b="1" dirty="0">
                <a:solidFill>
                  <a:srgbClr val="FF0000"/>
                </a:solidFill>
              </a:rPr>
              <a:t>conclusive</a:t>
            </a:r>
            <a:endParaRPr lang="en-US" altLang="zh-CN" sz="3200" b="1" i="0" dirty="0">
              <a:solidFill>
                <a:srgbClr val="FF0000"/>
              </a:solidFill>
              <a:effectLs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randombar(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randombar(horizont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randombar(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randombar(horizontal)">
                                      <p:cBhvr>
                                        <p:cTn id="22" dur="500"/>
                                        <p:tgtEl>
                                          <p:spTgt spid="2"/>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randombar(horizontal)">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p:bldP spid="2" grpId="0"/>
      <p:bldP spid="3" grpId="0"/>
    </p:bldLst>
  </p:timing>
</p:sld>
</file>

<file path=ppt/slides/slide42.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7" name="文本框 6"/>
          <p:cNvSpPr txBox="1"/>
          <p:nvPr/>
        </p:nvSpPr>
        <p:spPr>
          <a:xfrm>
            <a:off x="330450" y="498942"/>
            <a:ext cx="11166763" cy="1863090"/>
          </a:xfrm>
          <a:prstGeom prst="rect">
            <a:avLst/>
          </a:prstGeom>
          <a:noFill/>
        </p:spPr>
        <p:txBody>
          <a:bodyPr wrap="square">
            <a:spAutoFit/>
          </a:bodyPr>
          <a:lstStyle/>
          <a:p>
            <a:pPr indent="0" fontAlgn="auto">
              <a:lnSpc>
                <a:spcPct val="120000"/>
              </a:lnSpc>
            </a:pPr>
            <a:r>
              <a:rPr lang="en-US" altLang="zh-CN" sz="3200" b="1" dirty="0">
                <a:latin typeface="+mj-lt"/>
                <a:cs typeface="Times New Roman" panose="02020503050405090304" pitchFamily="18" charset="0"/>
              </a:rPr>
              <a:t>Another aspect worthy of mention is </a:t>
            </a:r>
            <a:r>
              <a:rPr lang="en-US" altLang="zh-CN" sz="3200" b="1" dirty="0">
                <a:solidFill>
                  <a:srgbClr val="FF0000"/>
                </a:solidFill>
                <a:latin typeface="+mj-lt"/>
                <a:cs typeface="Times New Roman" panose="02020503050405090304" pitchFamily="18" charset="0"/>
              </a:rPr>
              <a:t>that</a:t>
            </a:r>
            <a:r>
              <a:rPr lang="en-US" altLang="zh-CN" sz="3200" b="1" dirty="0">
                <a:latin typeface="+mj-lt"/>
                <a:cs typeface="Times New Roman" panose="02020503050405090304" pitchFamily="18" charset="0"/>
              </a:rPr>
              <a:t> journalists may approach </a:t>
            </a:r>
            <a:r>
              <a:rPr lang="en-US" altLang="zh-CN" sz="3200" b="1" dirty="0">
                <a:solidFill>
                  <a:srgbClr val="FF0000"/>
                </a:solidFill>
                <a:latin typeface="+mj-lt"/>
                <a:cs typeface="Times New Roman" panose="02020503050405090304" pitchFamily="18" charset="0"/>
              </a:rPr>
              <a:t>information</a:t>
            </a:r>
            <a:r>
              <a:rPr lang="en-US" altLang="zh-CN" sz="3200" b="1" dirty="0">
                <a:latin typeface="+mj-lt"/>
                <a:cs typeface="Times New Roman" panose="02020503050405090304" pitchFamily="18" charset="0"/>
              </a:rPr>
              <a:t> they get from research or interviews differently.</a:t>
            </a:r>
            <a:endParaRPr lang="en-US" altLang="zh-CN" sz="3200" b="1" dirty="0">
              <a:effectLst/>
              <a:latin typeface="+mj-lt"/>
              <a:cs typeface="Times New Roman" panose="02020503050405090304" pitchFamily="18" charset="0"/>
            </a:endParaRPr>
          </a:p>
        </p:txBody>
      </p:sp>
      <p:sp>
        <p:nvSpPr>
          <p:cNvPr id="2" name="矩形 1"/>
          <p:cNvSpPr/>
          <p:nvPr/>
        </p:nvSpPr>
        <p:spPr>
          <a:xfrm>
            <a:off x="960240" y="2390194"/>
            <a:ext cx="10911285" cy="3637919"/>
          </a:xfrm>
          <a:prstGeom prst="rect">
            <a:avLst/>
          </a:prstGeom>
          <a:solidFill>
            <a:srgbClr val="E6F1FE"/>
          </a:solidFill>
          <a:ln w="28575">
            <a:noFill/>
          </a:ln>
        </p:spPr>
        <p:txBody>
          <a:bodyPr wrap="square">
            <a:spAutoFit/>
          </a:bodyPr>
          <a:lstStyle/>
          <a:p>
            <a:pPr>
              <a:lnSpc>
                <a:spcPct val="120000"/>
              </a:lnSpc>
            </a:pPr>
            <a:r>
              <a:rPr lang="en-US" altLang="zh-CN" sz="3200" b="1" dirty="0">
                <a:solidFill>
                  <a:srgbClr val="9966FF"/>
                </a:solidFill>
                <a:latin typeface="+mj-lt"/>
                <a:cs typeface="Times New Roman" panose="02020503050405090304" pitchFamily="18" charset="0"/>
              </a:rPr>
              <a:t>【</a:t>
            </a:r>
            <a:r>
              <a:rPr lang="zh-CN" altLang="en-US" sz="3200" b="1" dirty="0">
                <a:solidFill>
                  <a:srgbClr val="9966FF"/>
                </a:solidFill>
                <a:latin typeface="+mj-lt"/>
                <a:cs typeface="Times New Roman" panose="02020503050405090304" pitchFamily="18" charset="0"/>
              </a:rPr>
              <a:t>分析</a:t>
            </a:r>
            <a:r>
              <a:rPr lang="en-US" altLang="zh-CN" sz="3200" b="1" dirty="0">
                <a:solidFill>
                  <a:srgbClr val="9966FF"/>
                </a:solidFill>
                <a:latin typeface="+mj-lt"/>
                <a:cs typeface="Times New Roman" panose="02020503050405090304" pitchFamily="18" charset="0"/>
              </a:rPr>
              <a:t>】</a:t>
            </a:r>
          </a:p>
          <a:p>
            <a:pPr>
              <a:lnSpc>
                <a:spcPct val="120000"/>
              </a:lnSpc>
            </a:pPr>
            <a:r>
              <a:rPr lang="zh-CN" altLang="en-US" sz="3200" b="1" dirty="0">
                <a:latin typeface="+mj-lt"/>
                <a:cs typeface="Times New Roman" panose="02020503050405090304" pitchFamily="18" charset="0"/>
              </a:rPr>
              <a:t>本句是</a:t>
            </a:r>
            <a:r>
              <a:rPr lang="zh-CN" altLang="en-US" sz="3200" b="1" dirty="0">
                <a:solidFill>
                  <a:srgbClr val="FF0000"/>
                </a:solidFill>
                <a:latin typeface="+mj-lt"/>
                <a:cs typeface="Times New Roman" panose="02020503050405090304" pitchFamily="18" charset="0"/>
              </a:rPr>
              <a:t>主从复合句</a:t>
            </a:r>
            <a:r>
              <a:rPr lang="zh-CN" altLang="en-US" sz="3200" b="1" dirty="0">
                <a:latin typeface="+mj-lt"/>
                <a:cs typeface="Times New Roman" panose="02020503050405090304" pitchFamily="18" charset="0"/>
              </a:rPr>
              <a:t>。</a:t>
            </a:r>
          </a:p>
          <a:p>
            <a:pPr>
              <a:lnSpc>
                <a:spcPct val="120000"/>
              </a:lnSpc>
            </a:pPr>
            <a:r>
              <a:rPr lang="en-US" altLang="zh-CN" sz="3200" b="1" dirty="0">
                <a:latin typeface="+mj-lt"/>
                <a:cs typeface="Times New Roman" panose="02020503050405090304" pitchFamily="18" charset="0"/>
              </a:rPr>
              <a:t>Another aspect worthy of mention is </a:t>
            </a:r>
            <a:r>
              <a:rPr lang="zh-CN" altLang="en-US" sz="3200" b="1" dirty="0">
                <a:latin typeface="+mj-lt"/>
                <a:cs typeface="Times New Roman" panose="02020503050405090304" pitchFamily="18" charset="0"/>
              </a:rPr>
              <a:t>是</a:t>
            </a:r>
            <a:r>
              <a:rPr lang="zh-CN" altLang="en-US" sz="3200" b="1" dirty="0">
                <a:solidFill>
                  <a:srgbClr val="FF0000"/>
                </a:solidFill>
                <a:latin typeface="+mj-lt"/>
                <a:cs typeface="Times New Roman" panose="02020503050405090304" pitchFamily="18" charset="0"/>
              </a:rPr>
              <a:t>主句</a:t>
            </a:r>
            <a:r>
              <a:rPr lang="zh-CN" altLang="en-US" sz="3200" b="1" dirty="0">
                <a:latin typeface="+mj-lt"/>
                <a:cs typeface="Times New Roman" panose="02020503050405090304" pitchFamily="18" charset="0"/>
              </a:rPr>
              <a:t>；</a:t>
            </a:r>
            <a:endParaRPr lang="en-US" altLang="zh-CN" sz="3200" b="1" dirty="0">
              <a:latin typeface="+mj-lt"/>
              <a:cs typeface="Times New Roman" panose="02020503050405090304" pitchFamily="18" charset="0"/>
            </a:endParaRPr>
          </a:p>
          <a:p>
            <a:pPr>
              <a:lnSpc>
                <a:spcPct val="120000"/>
              </a:lnSpc>
            </a:pPr>
            <a:r>
              <a:rPr lang="en-US" altLang="zh-CN" sz="3200" b="1" dirty="0">
                <a:latin typeface="+mj-lt"/>
                <a:cs typeface="Times New Roman" panose="02020503050405090304" pitchFamily="18" charset="0"/>
              </a:rPr>
              <a:t>that journalists ... differently</a:t>
            </a:r>
            <a:r>
              <a:rPr lang="zh-CN" altLang="en-US" sz="3200" b="1" dirty="0">
                <a:latin typeface="+mj-lt"/>
                <a:cs typeface="Times New Roman" panose="02020503050405090304" pitchFamily="18" charset="0"/>
              </a:rPr>
              <a:t>是</a:t>
            </a:r>
            <a:r>
              <a:rPr lang="zh-CN" altLang="en-US" sz="3200" b="1" dirty="0">
                <a:solidFill>
                  <a:srgbClr val="FF0000"/>
                </a:solidFill>
                <a:latin typeface="+mj-lt"/>
                <a:cs typeface="Times New Roman" panose="02020503050405090304" pitchFamily="18" charset="0"/>
              </a:rPr>
              <a:t>表语从句</a:t>
            </a:r>
            <a:r>
              <a:rPr lang="zh-CN" altLang="en-US" sz="3200" b="1" dirty="0">
                <a:latin typeface="+mj-lt"/>
                <a:cs typeface="Times New Roman" panose="02020503050405090304" pitchFamily="18" charset="0"/>
              </a:rPr>
              <a:t>；</a:t>
            </a:r>
            <a:endParaRPr lang="en-US" altLang="zh-CN" sz="3200" b="1" dirty="0">
              <a:latin typeface="+mj-lt"/>
              <a:cs typeface="Times New Roman" panose="02020503050405090304" pitchFamily="18" charset="0"/>
            </a:endParaRPr>
          </a:p>
          <a:p>
            <a:pPr>
              <a:lnSpc>
                <a:spcPct val="120000"/>
              </a:lnSpc>
            </a:pPr>
            <a:r>
              <a:rPr lang="zh-CN" altLang="en-US" sz="3200" b="1" dirty="0">
                <a:latin typeface="+mj-lt"/>
                <a:cs typeface="Times New Roman" panose="02020503050405090304" pitchFamily="18" charset="0"/>
              </a:rPr>
              <a:t>其中</a:t>
            </a:r>
            <a:r>
              <a:rPr lang="en-US" altLang="zh-CN" sz="3200" b="1" dirty="0">
                <a:latin typeface="+mj-lt"/>
                <a:cs typeface="Times New Roman" panose="02020503050405090304" pitchFamily="18" charset="0"/>
              </a:rPr>
              <a:t>they get from  research or interviews</a:t>
            </a:r>
            <a:r>
              <a:rPr lang="zh-CN" altLang="en-US" sz="3200" b="1" dirty="0">
                <a:latin typeface="+mj-lt"/>
                <a:cs typeface="Times New Roman" panose="02020503050405090304" pitchFamily="18" charset="0"/>
              </a:rPr>
              <a:t>是</a:t>
            </a:r>
            <a:r>
              <a:rPr lang="zh-CN" altLang="en-US" sz="3200" b="1" dirty="0">
                <a:solidFill>
                  <a:srgbClr val="FF0000"/>
                </a:solidFill>
                <a:latin typeface="+mj-lt"/>
                <a:cs typeface="Times New Roman" panose="02020503050405090304" pitchFamily="18" charset="0"/>
              </a:rPr>
              <a:t>定语</a:t>
            </a:r>
            <a:r>
              <a:rPr lang="zh-CN" altLang="en-US" sz="3200" b="1" dirty="0">
                <a:latin typeface="+mj-lt"/>
                <a:cs typeface="Times New Roman" panose="02020503050405090304" pitchFamily="18" charset="0"/>
              </a:rPr>
              <a:t>从句，修饰先行词</a:t>
            </a:r>
            <a:r>
              <a:rPr lang="en-US" altLang="zh-CN" sz="3200" b="1" dirty="0">
                <a:solidFill>
                  <a:srgbClr val="FF0000"/>
                </a:solidFill>
                <a:latin typeface="+mj-lt"/>
                <a:cs typeface="Times New Roman" panose="02020503050405090304" pitchFamily="18" charset="0"/>
              </a:rPr>
              <a:t>information</a:t>
            </a:r>
            <a:r>
              <a:rPr lang="zh-CN" altLang="en-US" sz="3200" b="1" dirty="0">
                <a:latin typeface="+mj-lt"/>
                <a:cs typeface="Times New Roman" panose="02020503050405090304" pitchFamily="18" charset="0"/>
              </a:rPr>
              <a:t>。</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矩形 1"/>
          <p:cNvSpPr/>
          <p:nvPr/>
        </p:nvSpPr>
        <p:spPr>
          <a:xfrm>
            <a:off x="178435" y="0"/>
            <a:ext cx="11763375" cy="5034915"/>
          </a:xfrm>
          <a:prstGeom prst="rect">
            <a:avLst/>
          </a:prstGeom>
        </p:spPr>
        <p:txBody>
          <a:bodyPr wrap="square">
            <a:noAutofit/>
          </a:bodyPr>
          <a:lstStyle/>
          <a:p>
            <a:pPr>
              <a:lnSpc>
                <a:spcPct val="120000"/>
              </a:lnSpc>
            </a:pPr>
            <a:r>
              <a:rPr lang="en-US" altLang="zh-CN" sz="3200" b="1" dirty="0">
                <a:latin typeface="+mj-lt"/>
                <a:cs typeface="Times New Roman" panose="02020503050405090304" pitchFamily="18" charset="0"/>
                <a:sym typeface="+mn-ea"/>
              </a:rPr>
              <a:t>Another aspect </a:t>
            </a:r>
            <a:r>
              <a:rPr lang="en-US" altLang="zh-CN" sz="3200" b="1" dirty="0">
                <a:solidFill>
                  <a:srgbClr val="FF0000"/>
                </a:solidFill>
                <a:latin typeface="+mj-lt"/>
                <a:cs typeface="Times New Roman" panose="02020503050405090304" pitchFamily="18" charset="0"/>
                <a:sym typeface="+mn-ea"/>
              </a:rPr>
              <a:t>worthy of mention is that</a:t>
            </a:r>
            <a:r>
              <a:rPr lang="en-US" altLang="zh-CN" sz="3200" b="1" dirty="0">
                <a:latin typeface="+mj-lt"/>
                <a:cs typeface="Times New Roman" panose="02020503050405090304" pitchFamily="18" charset="0"/>
                <a:sym typeface="+mn-ea"/>
              </a:rPr>
              <a:t> journalists may approach </a:t>
            </a:r>
            <a:r>
              <a:rPr lang="en-US" altLang="zh-CN" sz="3200" b="1" dirty="0">
                <a:solidFill>
                  <a:srgbClr val="FF0000"/>
                </a:solidFill>
                <a:latin typeface="+mj-lt"/>
                <a:cs typeface="Times New Roman" panose="02020503050405090304" pitchFamily="18" charset="0"/>
                <a:sym typeface="+mn-ea"/>
              </a:rPr>
              <a:t>information</a:t>
            </a:r>
            <a:r>
              <a:rPr lang="en-US" altLang="zh-CN" sz="3200" b="1" dirty="0">
                <a:latin typeface="+mj-lt"/>
                <a:cs typeface="Times New Roman" panose="02020503050405090304" pitchFamily="18" charset="0"/>
                <a:sym typeface="+mn-ea"/>
              </a:rPr>
              <a:t> they get from research or interviews differently.</a:t>
            </a:r>
            <a:endParaRPr lang="en-US" altLang="zh-CN" sz="3200" b="1" dirty="0">
              <a:solidFill>
                <a:srgbClr val="9966FF"/>
              </a:solidFill>
            </a:endParaRPr>
          </a:p>
          <a:p>
            <a:pPr>
              <a:lnSpc>
                <a:spcPct val="120000"/>
              </a:lnSpc>
            </a:pPr>
            <a:r>
              <a:rPr lang="en-US" altLang="zh-CN" sz="3200" b="1" dirty="0">
                <a:solidFill>
                  <a:srgbClr val="9966FF"/>
                </a:solidFill>
              </a:rPr>
              <a:t>【</a:t>
            </a:r>
            <a:r>
              <a:rPr lang="zh-CN" altLang="en-US" sz="3200" b="1" dirty="0">
                <a:solidFill>
                  <a:srgbClr val="9966FF"/>
                </a:solidFill>
              </a:rPr>
              <a:t>翻译</a:t>
            </a:r>
            <a:r>
              <a:rPr lang="en-US" altLang="zh-CN" sz="3200" b="1" dirty="0">
                <a:solidFill>
                  <a:srgbClr val="9966FF"/>
                </a:solidFill>
              </a:rPr>
              <a:t>】</a:t>
            </a:r>
          </a:p>
          <a:p>
            <a:pPr marL="179705" indent="-179705">
              <a:lnSpc>
                <a:spcPct val="120000"/>
              </a:lnSpc>
            </a:pPr>
            <a:r>
              <a:rPr lang="en-US" altLang="zh-CN" sz="3200" b="1" dirty="0">
                <a:solidFill>
                  <a:srgbClr val="FF0000"/>
                </a:solidFill>
              </a:rPr>
              <a:t>  </a:t>
            </a:r>
            <a:r>
              <a:rPr lang="zh-CN" altLang="en-US" sz="3200" b="1" dirty="0">
                <a:solidFill>
                  <a:srgbClr val="FF0000"/>
                </a:solidFill>
              </a:rPr>
              <a:t>另一个值得一提的方面是，记者可能会以不同的方式处理他们从调查或采访中获得的信息。</a:t>
            </a:r>
            <a:endParaRPr lang="en-US" altLang="zh-CN" sz="3200" b="1" dirty="0">
              <a:solidFill>
                <a:srgbClr val="FF0000"/>
              </a:solidFill>
            </a:endParaRPr>
          </a:p>
          <a:p>
            <a:pPr>
              <a:lnSpc>
                <a:spcPct val="120000"/>
              </a:lnSpc>
            </a:pPr>
            <a:r>
              <a:rPr lang="en-US" altLang="zh-CN" sz="3200" b="1" dirty="0">
                <a:solidFill>
                  <a:srgbClr val="9966FF"/>
                </a:solidFill>
              </a:rPr>
              <a:t>【</a:t>
            </a:r>
            <a:r>
              <a:rPr lang="zh-CN" altLang="en-US" sz="3200" b="1" dirty="0">
                <a:solidFill>
                  <a:srgbClr val="9966FF"/>
                </a:solidFill>
              </a:rPr>
              <a:t>仿写</a:t>
            </a:r>
            <a:r>
              <a:rPr lang="en-US" altLang="zh-CN" sz="3200" b="1" dirty="0">
                <a:solidFill>
                  <a:srgbClr val="9966FF"/>
                </a:solidFill>
              </a:rPr>
              <a:t>】</a:t>
            </a:r>
          </a:p>
          <a:p>
            <a:pPr marL="179705">
              <a:lnSpc>
                <a:spcPct val="120000"/>
              </a:lnSpc>
            </a:pPr>
            <a:r>
              <a:rPr lang="zh-CN" altLang="en-US" sz="3200" b="1" dirty="0">
                <a:solidFill>
                  <a:srgbClr val="000000"/>
                </a:solidFill>
              </a:rPr>
              <a:t>一件值得庆祝的事情是这支球队终于获得了这场球迷们期待已久的胜利。</a:t>
            </a:r>
          </a:p>
          <a:p>
            <a:pPr marL="179705">
              <a:lnSpc>
                <a:spcPct val="120000"/>
              </a:lnSpc>
            </a:pPr>
            <a:r>
              <a:rPr lang="en-US" altLang="zh-CN" sz="3200" b="1" dirty="0">
                <a:solidFill>
                  <a:srgbClr val="FF0000"/>
                </a:solidFill>
              </a:rPr>
              <a:t>One thing worthy of a celebration is that the team finally won the victory their fans had waited for long. </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xEl>
                                              <p:pRg st="2" end="2"/>
                                            </p:txEl>
                                          </p:spTgt>
                                        </p:tgtEl>
                                        <p:attrNameLst>
                                          <p:attrName>style.visibility</p:attrName>
                                        </p:attrNameLst>
                                      </p:cBhvr>
                                      <p:to>
                                        <p:strVal val="visible"/>
                                      </p:to>
                                    </p:set>
                                    <p:animEffect transition="in" filter="wipe(left)">
                                      <p:cBhvr>
                                        <p:cTn id="7" dur="500"/>
                                        <p:tgtEl>
                                          <p:spTgt spid="2">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nodeType="clickEffect">
                                  <p:stCondLst>
                                    <p:cond delay="0"/>
                                  </p:stCondLst>
                                  <p:childTnLst>
                                    <p:set>
                                      <p:cBhvr>
                                        <p:cTn id="11" dur="1" fill="hold">
                                          <p:stCondLst>
                                            <p:cond delay="0"/>
                                          </p:stCondLst>
                                        </p:cTn>
                                        <p:tgtEl>
                                          <p:spTgt spid="2">
                                            <p:txEl>
                                              <p:pRg st="3" end="3"/>
                                            </p:txEl>
                                          </p:spTgt>
                                        </p:tgtEl>
                                        <p:attrNameLst>
                                          <p:attrName>style.visibility</p:attrName>
                                        </p:attrNameLst>
                                      </p:cBhvr>
                                      <p:to>
                                        <p:strVal val="visible"/>
                                      </p:to>
                                    </p:set>
                                    <p:animEffect transition="in" filter="randombar(horizontal)">
                                      <p:cBhvr>
                                        <p:cTn id="12" dur="500"/>
                                        <p:tgtEl>
                                          <p:spTgt spid="2">
                                            <p:txEl>
                                              <p:pRg st="3" end="3"/>
                                            </p:txEl>
                                          </p:spTgt>
                                        </p:tgtEl>
                                      </p:cBhvr>
                                    </p:animEffect>
                                  </p:childTnLst>
                                </p:cTn>
                              </p:par>
                              <p:par>
                                <p:cTn id="13" presetID="14" presetClass="entr" presetSubtype="10" fill="hold" nodeType="withEffect">
                                  <p:stCondLst>
                                    <p:cond delay="0"/>
                                  </p:stCondLst>
                                  <p:childTnLst>
                                    <p:set>
                                      <p:cBhvr>
                                        <p:cTn id="14" dur="1" fill="hold">
                                          <p:stCondLst>
                                            <p:cond delay="0"/>
                                          </p:stCondLst>
                                        </p:cTn>
                                        <p:tgtEl>
                                          <p:spTgt spid="2">
                                            <p:txEl>
                                              <p:pRg st="4" end="4"/>
                                            </p:txEl>
                                          </p:spTgt>
                                        </p:tgtEl>
                                        <p:attrNameLst>
                                          <p:attrName>style.visibility</p:attrName>
                                        </p:attrNameLst>
                                      </p:cBhvr>
                                      <p:to>
                                        <p:strVal val="visible"/>
                                      </p:to>
                                    </p:set>
                                    <p:animEffect transition="in" filter="randombar(horizontal)">
                                      <p:cBhvr>
                                        <p:cTn id="15" dur="500"/>
                                        <p:tgtEl>
                                          <p:spTgt spid="2">
                                            <p:txEl>
                                              <p:pRg st="4" end="4"/>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14" presetClass="entr" presetSubtype="10" fill="hold" nodeType="clickEffect">
                                  <p:stCondLst>
                                    <p:cond delay="0"/>
                                  </p:stCondLst>
                                  <p:childTnLst>
                                    <p:set>
                                      <p:cBhvr>
                                        <p:cTn id="19" dur="1" fill="hold">
                                          <p:stCondLst>
                                            <p:cond delay="0"/>
                                          </p:stCondLst>
                                        </p:cTn>
                                        <p:tgtEl>
                                          <p:spTgt spid="2">
                                            <p:txEl>
                                              <p:pRg st="5" end="5"/>
                                            </p:txEl>
                                          </p:spTgt>
                                        </p:tgtEl>
                                        <p:attrNameLst>
                                          <p:attrName>style.visibility</p:attrName>
                                        </p:attrNameLst>
                                      </p:cBhvr>
                                      <p:to>
                                        <p:strVal val="visible"/>
                                      </p:to>
                                    </p:set>
                                    <p:animEffect transition="in" filter="randombar(horizontal)">
                                      <p:cBhvr>
                                        <p:cTn id="20"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矩形 1"/>
          <p:cNvSpPr/>
          <p:nvPr/>
        </p:nvSpPr>
        <p:spPr>
          <a:xfrm>
            <a:off x="168910" y="249555"/>
            <a:ext cx="11327765" cy="6587490"/>
          </a:xfrm>
          <a:prstGeom prst="rect">
            <a:avLst/>
          </a:prstGeom>
        </p:spPr>
        <p:txBody>
          <a:bodyPr wrap="square">
            <a:spAutoFit/>
          </a:bodyPr>
          <a:lstStyle/>
          <a:p>
            <a:pPr>
              <a:lnSpc>
                <a:spcPct val="120000"/>
              </a:lnSpc>
            </a:pPr>
            <a:r>
              <a:rPr lang="en-US" sz="3200" b="1" dirty="0">
                <a:solidFill>
                  <a:srgbClr val="FF0000"/>
                </a:solidFill>
              </a:rPr>
              <a:t>sum n.</a:t>
            </a:r>
          </a:p>
          <a:p>
            <a:pPr>
              <a:lnSpc>
                <a:spcPct val="120000"/>
              </a:lnSpc>
            </a:pPr>
            <a:r>
              <a:rPr lang="en-US" sz="3200" b="1" dirty="0">
                <a:solidFill>
                  <a:schemeClr val="tx1"/>
                </a:solidFill>
              </a:rPr>
              <a:t>1) </a:t>
            </a:r>
            <a:r>
              <a:rPr lang="zh-CN" altLang="en-US" sz="3200" b="1" dirty="0">
                <a:solidFill>
                  <a:schemeClr val="tx1"/>
                </a:solidFill>
              </a:rPr>
              <a:t>金额，款项</a:t>
            </a:r>
            <a:endParaRPr lang="en-US" sz="3200" b="1" dirty="0">
              <a:solidFill>
                <a:schemeClr val="tx1"/>
              </a:solidFill>
            </a:endParaRPr>
          </a:p>
          <a:p>
            <a:pPr>
              <a:lnSpc>
                <a:spcPct val="120000"/>
              </a:lnSpc>
            </a:pPr>
            <a:r>
              <a:rPr lang="en-US" sz="3200" b="1" dirty="0">
                <a:solidFill>
                  <a:srgbClr val="FF0000"/>
                </a:solidFill>
              </a:rPr>
              <a:t>a large sum of money </a:t>
            </a:r>
            <a:r>
              <a:rPr lang="zh-CN" altLang="en-US" sz="3200" b="1" dirty="0">
                <a:solidFill>
                  <a:schemeClr val="tx1"/>
                </a:solidFill>
              </a:rPr>
              <a:t>一大笔钱</a:t>
            </a:r>
          </a:p>
          <a:p>
            <a:pPr>
              <a:lnSpc>
                <a:spcPct val="120000"/>
              </a:lnSpc>
            </a:pPr>
            <a:r>
              <a:rPr lang="en-US" altLang="zh-CN" sz="3200" b="1" dirty="0">
                <a:solidFill>
                  <a:schemeClr val="tx1"/>
                </a:solidFill>
              </a:rPr>
              <a:t>You’ll be fined the </a:t>
            </a:r>
            <a:r>
              <a:rPr lang="en-US" altLang="zh-CN" sz="3200" b="1" dirty="0">
                <a:solidFill>
                  <a:srgbClr val="FF0000"/>
                </a:solidFill>
              </a:rPr>
              <a:t>sum of</a:t>
            </a:r>
            <a:r>
              <a:rPr lang="en-US" altLang="zh-CN" sz="3200" b="1" dirty="0">
                <a:solidFill>
                  <a:schemeClr val="tx1"/>
                </a:solidFill>
              </a:rPr>
              <a:t> £200.</a:t>
            </a:r>
            <a:endParaRPr lang="zh-CN" altLang="en-US" sz="3200" b="1" dirty="0">
              <a:solidFill>
                <a:schemeClr val="tx1"/>
              </a:solidFill>
            </a:endParaRPr>
          </a:p>
          <a:p>
            <a:pPr>
              <a:lnSpc>
                <a:spcPct val="120000"/>
              </a:lnSpc>
            </a:pPr>
            <a:r>
              <a:rPr lang="en-US" altLang="zh-CN" sz="3200" b="1" dirty="0">
                <a:solidFill>
                  <a:schemeClr val="tx1"/>
                </a:solidFill>
              </a:rPr>
              <a:t>2) </a:t>
            </a:r>
            <a:r>
              <a:rPr lang="zh-CN" altLang="en-US" sz="3200" b="1" dirty="0">
                <a:solidFill>
                  <a:schemeClr val="tx1"/>
                </a:solidFill>
              </a:rPr>
              <a:t>总和</a:t>
            </a:r>
            <a:r>
              <a:rPr lang="en-US" altLang="zh-CN" sz="3200" b="1" dirty="0">
                <a:solidFill>
                  <a:schemeClr val="tx1"/>
                </a:solidFill>
              </a:rPr>
              <a:t> (</a:t>
            </a:r>
            <a:r>
              <a:rPr lang="en-US" altLang="zh-CN" sz="3200" b="1" dirty="0">
                <a:solidFill>
                  <a:srgbClr val="FF0000"/>
                </a:solidFill>
              </a:rPr>
              <a:t>the sum of ...</a:t>
            </a:r>
            <a:r>
              <a:rPr lang="en-US" altLang="zh-CN" sz="3200" b="1" dirty="0">
                <a:solidFill>
                  <a:schemeClr val="tx1"/>
                </a:solidFill>
              </a:rPr>
              <a:t>)</a:t>
            </a:r>
          </a:p>
          <a:p>
            <a:pPr>
              <a:lnSpc>
                <a:spcPct val="120000"/>
              </a:lnSpc>
            </a:pPr>
            <a:endParaRPr lang="en-US" altLang="zh-CN" sz="3200" b="1" dirty="0">
              <a:solidFill>
                <a:schemeClr val="tx1"/>
              </a:solidFill>
            </a:endParaRPr>
          </a:p>
          <a:p>
            <a:pPr>
              <a:lnSpc>
                <a:spcPct val="120000"/>
              </a:lnSpc>
            </a:pPr>
            <a:r>
              <a:rPr lang="en-US" altLang="zh-CN" sz="3200" b="1" dirty="0">
                <a:solidFill>
                  <a:srgbClr val="FF0000"/>
                </a:solidFill>
              </a:rPr>
              <a:t>sum up</a:t>
            </a:r>
            <a:r>
              <a:rPr lang="en-US" altLang="zh-CN" sz="3200" b="1" dirty="0">
                <a:solidFill>
                  <a:schemeClr val="tx1"/>
                </a:solidFill>
              </a:rPr>
              <a:t> </a:t>
            </a:r>
            <a:r>
              <a:rPr lang="zh-CN" altLang="en-US" sz="3200" b="1" dirty="0">
                <a:solidFill>
                  <a:schemeClr val="tx1"/>
                </a:solidFill>
              </a:rPr>
              <a:t>总结，概括</a:t>
            </a:r>
            <a:endParaRPr lang="en-US" altLang="zh-CN" sz="3200" b="1" dirty="0">
              <a:solidFill>
                <a:schemeClr val="tx1"/>
              </a:solidFill>
            </a:endParaRPr>
          </a:p>
          <a:p>
            <a:pPr>
              <a:lnSpc>
                <a:spcPct val="120000"/>
              </a:lnSpc>
            </a:pPr>
            <a:r>
              <a:rPr lang="en-US" altLang="zh-CN" sz="3200" b="1" dirty="0">
                <a:solidFill>
                  <a:schemeClr val="tx1"/>
                </a:solidFill>
              </a:rPr>
              <a:t>我可否就我们目前已经达成的共识作个概括？</a:t>
            </a:r>
          </a:p>
          <a:p>
            <a:pPr>
              <a:lnSpc>
                <a:spcPct val="120000"/>
              </a:lnSpc>
            </a:pPr>
            <a:r>
              <a:rPr lang="en-US" altLang="zh-CN" sz="3200" b="1" dirty="0">
                <a:sym typeface="+mn-ea"/>
              </a:rPr>
              <a:t>Can I just </a:t>
            </a:r>
            <a:r>
              <a:rPr lang="en-US" altLang="zh-CN" sz="3200" b="1" dirty="0">
                <a:solidFill>
                  <a:srgbClr val="FF0000"/>
                </a:solidFill>
                <a:sym typeface="+mn-ea"/>
              </a:rPr>
              <a:t>sum up</a:t>
            </a:r>
            <a:r>
              <a:rPr lang="en-US" altLang="zh-CN" sz="3200" b="1" dirty="0">
                <a:sym typeface="+mn-ea"/>
              </a:rPr>
              <a:t> what we've agreed so far?</a:t>
            </a:r>
            <a:endParaRPr lang="en-US" altLang="zh-CN" sz="3200" b="1" dirty="0">
              <a:solidFill>
                <a:schemeClr val="tx1"/>
              </a:solidFill>
            </a:endParaRPr>
          </a:p>
          <a:p>
            <a:pPr>
              <a:lnSpc>
                <a:spcPct val="120000"/>
              </a:lnSpc>
            </a:pPr>
            <a:r>
              <a:rPr lang="en-US" altLang="zh-CN" sz="3200" b="1" dirty="0">
                <a:solidFill>
                  <a:srgbClr val="FF0000"/>
                </a:solidFill>
              </a:rPr>
              <a:t> = summarize </a:t>
            </a:r>
            <a:endParaRPr lang="zh-CN" altLang="en-US" sz="3200" b="1" dirty="0">
              <a:solidFill>
                <a:srgbClr val="FF0000"/>
              </a:solidFill>
            </a:endParaRPr>
          </a:p>
          <a:p>
            <a:pPr>
              <a:lnSpc>
                <a:spcPct val="120000"/>
              </a:lnSpc>
            </a:pPr>
            <a:endParaRPr lang="zh-CN" altLang="en-US" sz="3200" b="1" dirty="0">
              <a:solidFill>
                <a:srgbClr val="FF0000"/>
              </a:solidFill>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7" name="文本框 6"/>
          <p:cNvSpPr txBox="1"/>
          <p:nvPr/>
        </p:nvSpPr>
        <p:spPr>
          <a:xfrm>
            <a:off x="0" y="-171450"/>
            <a:ext cx="12191365" cy="7178040"/>
          </a:xfrm>
          <a:prstGeom prst="rect">
            <a:avLst/>
          </a:prstGeom>
          <a:noFill/>
        </p:spPr>
        <p:txBody>
          <a:bodyPr wrap="square">
            <a:spAutoFit/>
          </a:bodyPr>
          <a:lstStyle/>
          <a:p>
            <a:pPr indent="-622300" fontAlgn="auto">
              <a:lnSpc>
                <a:spcPct val="120000"/>
              </a:lnSpc>
            </a:pPr>
            <a:r>
              <a:rPr lang="en-US" altLang="zh-CN" sz="3200" b="1" dirty="0">
                <a:effectLst/>
                <a:latin typeface="+mj-lt"/>
                <a:cs typeface="Times New Roman" panose="02020503050405090304" pitchFamily="18" charset="0"/>
              </a:rPr>
              <a:t>Though journalists </a:t>
            </a:r>
            <a:r>
              <a:rPr lang="en-US" altLang="zh-CN" sz="3200" b="1" dirty="0">
                <a:solidFill>
                  <a:srgbClr val="FF0000"/>
                </a:solidFill>
                <a:effectLst/>
                <a:latin typeface="+mj-lt"/>
                <a:cs typeface="Times New Roman" panose="02020503050405090304" pitchFamily="18" charset="0"/>
              </a:rPr>
              <a:t>are committed to presenting the truth</a:t>
            </a:r>
            <a:r>
              <a:rPr lang="en-US" altLang="zh-CN" sz="3200" b="1" dirty="0">
                <a:effectLst/>
                <a:latin typeface="+mj-lt"/>
                <a:cs typeface="Times New Roman" panose="02020503050405090304" pitchFamily="18" charset="0"/>
              </a:rPr>
              <a:t>, it is better to</a:t>
            </a:r>
            <a:r>
              <a:rPr lang="en-US" altLang="zh-CN" sz="3200" b="1" dirty="0">
                <a:solidFill>
                  <a:srgbClr val="FF0000"/>
                </a:solidFill>
                <a:effectLst/>
                <a:latin typeface="+mj-lt"/>
                <a:cs typeface="Times New Roman" panose="02020503050405090304" pitchFamily="18" charset="0"/>
              </a:rPr>
              <a:t> use our own judgement</a:t>
            </a:r>
            <a:r>
              <a:rPr lang="en-US" altLang="zh-CN" sz="3200" b="1" dirty="0">
                <a:effectLst/>
                <a:latin typeface="+mj-lt"/>
                <a:cs typeface="Times New Roman" panose="02020503050405090304" pitchFamily="18" charset="0"/>
              </a:rPr>
              <a:t> than </a:t>
            </a:r>
            <a:r>
              <a:rPr lang="en-US" altLang="zh-CN" sz="3200" b="1" dirty="0">
                <a:solidFill>
                  <a:srgbClr val="FF0000"/>
                </a:solidFill>
                <a:effectLst/>
                <a:latin typeface="+mj-lt"/>
                <a:cs typeface="Times New Roman" panose="02020503050405090304" pitchFamily="18" charset="0"/>
              </a:rPr>
              <a:t>rely entirely on news reports</a:t>
            </a:r>
            <a:r>
              <a:rPr lang="en-US" altLang="zh-CN" sz="3200" b="1" dirty="0">
                <a:effectLst/>
                <a:latin typeface="+mj-lt"/>
                <a:cs typeface="Times New Roman" panose="02020503050405090304" pitchFamily="18" charset="0"/>
              </a:rPr>
              <a:t>.</a:t>
            </a:r>
          </a:p>
          <a:p>
            <a:pPr indent="-535305" fontAlgn="auto">
              <a:lnSpc>
                <a:spcPct val="120000"/>
              </a:lnSpc>
            </a:pPr>
            <a:r>
              <a:rPr lang="zh-CN" altLang="en-US" sz="3200" b="1" dirty="0">
                <a:latin typeface="+mj-lt"/>
                <a:cs typeface="Times New Roman" panose="02020503050405090304" pitchFamily="18" charset="0"/>
              </a:rPr>
              <a:t>致力于呈现真相</a:t>
            </a:r>
            <a:r>
              <a:rPr lang="en-US" altLang="zh-CN" sz="3200" b="1" dirty="0">
                <a:latin typeface="+mj-lt"/>
                <a:cs typeface="Times New Roman" panose="02020503050405090304" pitchFamily="18" charset="0"/>
              </a:rPr>
              <a:t>/</a:t>
            </a:r>
            <a:r>
              <a:rPr lang="zh-CN" altLang="en-US" sz="3200" b="1" dirty="0">
                <a:latin typeface="+mj-lt"/>
                <a:cs typeface="Times New Roman" panose="02020503050405090304" pitchFamily="18" charset="0"/>
              </a:rPr>
              <a:t>运用自己的判断力</a:t>
            </a:r>
            <a:r>
              <a:rPr lang="en-US" altLang="zh-CN" sz="3200" b="1" dirty="0">
                <a:latin typeface="+mj-lt"/>
                <a:cs typeface="Times New Roman" panose="02020503050405090304" pitchFamily="18" charset="0"/>
              </a:rPr>
              <a:t>/</a:t>
            </a:r>
            <a:r>
              <a:rPr lang="zh-CN" altLang="en-US" sz="3200" b="1" dirty="0">
                <a:latin typeface="+mj-lt"/>
                <a:cs typeface="Times New Roman" panose="02020503050405090304" pitchFamily="18" charset="0"/>
              </a:rPr>
              <a:t>完全依赖新闻报道</a:t>
            </a:r>
          </a:p>
          <a:p>
            <a:pPr>
              <a:lnSpc>
                <a:spcPct val="120000"/>
              </a:lnSpc>
            </a:pPr>
            <a:r>
              <a:rPr lang="en-US" altLang="zh-CN" sz="3200" b="1" dirty="0">
                <a:solidFill>
                  <a:srgbClr val="FF0000"/>
                </a:solidFill>
                <a:sym typeface="+mn-ea"/>
              </a:rPr>
              <a:t>committed  </a:t>
            </a:r>
            <a:r>
              <a:rPr lang="en-US" altLang="zh-CN" sz="3200" b="1" i="1" dirty="0">
                <a:solidFill>
                  <a:srgbClr val="FF0000"/>
                </a:solidFill>
                <a:sym typeface="+mn-ea"/>
              </a:rPr>
              <a:t>adj</a:t>
            </a:r>
            <a:r>
              <a:rPr lang="en-US" altLang="zh-CN" sz="3200" b="1" dirty="0">
                <a:solidFill>
                  <a:srgbClr val="FF0000"/>
                </a:solidFill>
                <a:sym typeface="+mn-ea"/>
              </a:rPr>
              <a:t>.  </a:t>
            </a:r>
            <a:r>
              <a:rPr lang="en-US" altLang="zh-CN" sz="3200" b="1" i="1" dirty="0">
                <a:sym typeface="+mn-ea"/>
              </a:rPr>
              <a:t>willing to work very hard at something</a:t>
            </a:r>
            <a:endParaRPr lang="en-US" altLang="zh-CN" sz="3200" b="1" i="1" dirty="0"/>
          </a:p>
          <a:p>
            <a:pPr>
              <a:lnSpc>
                <a:spcPct val="120000"/>
              </a:lnSpc>
            </a:pPr>
            <a:r>
              <a:rPr lang="zh-CN" altLang="en-US" sz="3200" b="1" dirty="0">
                <a:solidFill>
                  <a:srgbClr val="FF0000"/>
                </a:solidFill>
                <a:sym typeface="+mn-ea"/>
              </a:rPr>
              <a:t>                            坚定的，尽心尽责的，忠诚的</a:t>
            </a:r>
            <a:endParaRPr lang="en-US" altLang="zh-CN" sz="3200" b="1" dirty="0">
              <a:solidFill>
                <a:srgbClr val="FF0000"/>
              </a:solidFill>
            </a:endParaRPr>
          </a:p>
          <a:p>
            <a:pPr>
              <a:lnSpc>
                <a:spcPct val="120000"/>
              </a:lnSpc>
            </a:pPr>
            <a:r>
              <a:rPr lang="en-US" altLang="zh-CN" sz="3200" b="1" dirty="0">
                <a:sym typeface="+mn-ea"/>
              </a:rPr>
              <a:t>This government </a:t>
            </a:r>
            <a:r>
              <a:rPr lang="en-US" altLang="zh-CN" sz="3200" b="1" dirty="0">
                <a:solidFill>
                  <a:srgbClr val="FF0000"/>
                </a:solidFill>
                <a:sym typeface="+mn-ea"/>
              </a:rPr>
              <a:t>is committed to</a:t>
            </a:r>
            <a:r>
              <a:rPr lang="en-US" altLang="zh-CN" sz="3200" b="1" dirty="0">
                <a:sym typeface="+mn-ea"/>
              </a:rPr>
              <a:t> extending parental choice in education. </a:t>
            </a:r>
            <a:r>
              <a:rPr lang="zh-CN" altLang="en-US" sz="3200" b="1" dirty="0">
                <a:sym typeface="+mn-ea"/>
              </a:rPr>
              <a:t>致力于……</a:t>
            </a:r>
          </a:p>
          <a:p>
            <a:pPr>
              <a:lnSpc>
                <a:spcPct val="120000"/>
              </a:lnSpc>
            </a:pPr>
            <a:r>
              <a:rPr lang="zh-CN" altLang="en-US" sz="3200" b="1" dirty="0">
                <a:solidFill>
                  <a:schemeClr val="tx1"/>
                </a:solidFill>
                <a:sym typeface="+mn-ea"/>
              </a:rPr>
              <a:t>他是一个完美的人，</a:t>
            </a:r>
            <a:r>
              <a:rPr lang="zh-CN" altLang="en-US" sz="3200" b="1" u="sng" dirty="0">
                <a:solidFill>
                  <a:schemeClr val="tx1"/>
                </a:solidFill>
                <a:sym typeface="+mn-ea"/>
              </a:rPr>
              <a:t>对</a:t>
            </a:r>
            <a:r>
              <a:rPr lang="zh-CN" altLang="en-US" sz="3200" b="1" dirty="0">
                <a:solidFill>
                  <a:schemeClr val="tx1"/>
                </a:solidFill>
                <a:sym typeface="+mn-ea"/>
              </a:rPr>
              <a:t>家庭和工作都</a:t>
            </a:r>
            <a:r>
              <a:rPr lang="zh-CN" altLang="en-US" sz="3200" b="1" u="sng" dirty="0">
                <a:solidFill>
                  <a:schemeClr val="tx1"/>
                </a:solidFill>
                <a:sym typeface="+mn-ea"/>
              </a:rPr>
              <a:t>尽心尽责</a:t>
            </a:r>
            <a:r>
              <a:rPr lang="zh-CN" altLang="en-US" sz="3200" b="1" dirty="0">
                <a:solidFill>
                  <a:schemeClr val="tx1"/>
                </a:solidFill>
                <a:sym typeface="+mn-ea"/>
              </a:rPr>
              <a:t>。</a:t>
            </a:r>
          </a:p>
          <a:p>
            <a:pPr>
              <a:lnSpc>
                <a:spcPct val="120000"/>
              </a:lnSpc>
            </a:pPr>
            <a:r>
              <a:rPr lang="zh-CN" altLang="en-US" sz="3200" b="1" dirty="0">
                <a:solidFill>
                  <a:schemeClr val="tx1"/>
                </a:solidFill>
                <a:sym typeface="+mn-ea"/>
              </a:rPr>
              <a:t>He is a perfect man who </a:t>
            </a:r>
            <a:r>
              <a:rPr lang="zh-CN" altLang="en-US" sz="3200" b="1" dirty="0">
                <a:solidFill>
                  <a:srgbClr val="FF0000"/>
                </a:solidFill>
                <a:sym typeface="+mn-ea"/>
              </a:rPr>
              <a:t>is committed to his family as well as to his work. </a:t>
            </a:r>
          </a:p>
          <a:p>
            <a:pPr>
              <a:lnSpc>
                <a:spcPct val="120000"/>
              </a:lnSpc>
            </a:pPr>
            <a:r>
              <a:rPr lang="en-US" altLang="zh-CN" sz="3200" b="1" dirty="0">
                <a:solidFill>
                  <a:srgbClr val="FF0000"/>
                </a:solidFill>
                <a:effectLst/>
                <a:latin typeface="+mj-lt"/>
                <a:cs typeface="Times New Roman" panose="02020503050405090304" pitchFamily="18" charset="0"/>
              </a:rPr>
              <a:t>a committed actor / teacher </a:t>
            </a:r>
            <a:r>
              <a:rPr lang="zh-CN" altLang="en-US" sz="3200" b="1" dirty="0">
                <a:effectLst/>
                <a:latin typeface="+mj-lt"/>
                <a:cs typeface="Times New Roman" panose="02020503050405090304" pitchFamily="18" charset="0"/>
              </a:rPr>
              <a:t>一位尽心尽力的演员</a:t>
            </a:r>
            <a:r>
              <a:rPr lang="en-US" altLang="zh-CN" sz="3200" b="1" dirty="0">
                <a:effectLst/>
                <a:latin typeface="+mj-lt"/>
                <a:cs typeface="Times New Roman" panose="02020503050405090304" pitchFamily="18" charset="0"/>
              </a:rPr>
              <a:t>/</a:t>
            </a:r>
            <a:r>
              <a:rPr lang="zh-CN" altLang="en-US" sz="3200" b="1" dirty="0">
                <a:effectLst/>
                <a:latin typeface="+mj-lt"/>
                <a:cs typeface="Times New Roman" panose="02020503050405090304" pitchFamily="18" charset="0"/>
              </a:rPr>
              <a:t>老师</a:t>
            </a:r>
          </a:p>
          <a:p>
            <a:pPr>
              <a:lnSpc>
                <a:spcPct val="120000"/>
              </a:lnSpc>
            </a:pPr>
            <a:r>
              <a:rPr lang="en-US" altLang="zh-CN" sz="3200" b="1" dirty="0">
                <a:solidFill>
                  <a:srgbClr val="FF0000"/>
                </a:solidFill>
                <a:effectLst/>
                <a:latin typeface="+mj-lt"/>
                <a:cs typeface="Times New Roman" panose="02020503050405090304" pitchFamily="18" charset="0"/>
              </a:rPr>
              <a:t>a committed Communist </a:t>
            </a:r>
            <a:r>
              <a:rPr lang="zh-CN" altLang="en-US" sz="3200" b="1" dirty="0">
                <a:effectLst/>
                <a:latin typeface="+mj-lt"/>
                <a:cs typeface="Times New Roman" panose="02020503050405090304" pitchFamily="18" charset="0"/>
              </a:rPr>
              <a:t>一位忠诚的共产主义者</a:t>
            </a:r>
            <a:endParaRPr lang="en-US" altLang="zh-CN" sz="3200" b="1" dirty="0">
              <a:effectLst/>
              <a:latin typeface="+mj-lt"/>
              <a:cs typeface="Times New Roman" panose="02020503050405090304" pitchFamily="18" charset="0"/>
            </a:endParaRP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7">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nvSpPr>
        <p:spPr>
          <a:xfrm>
            <a:off x="0" y="0"/>
            <a:ext cx="12191365" cy="5120005"/>
          </a:xfrm>
          <a:prstGeom prst="rect">
            <a:avLst/>
          </a:prstGeom>
          <a:noFill/>
          <a:ln w="28575">
            <a:noFill/>
          </a:ln>
          <a:extLst>
            <a:ext uri="{909E8E84-426E-40DD-AFC4-6F175D3DCCD1}">
              <a14:hiddenFill xmlns:a14="http://schemas.microsoft.com/office/drawing/2010/main">
                <a:solidFill>
                  <a:srgbClr val="E6F1FE"/>
                </a:solidFill>
              </a14:hiddenFill>
            </a:ext>
          </a:extLst>
        </p:spPr>
        <p:txBody>
          <a:bodyPr wrap="square">
            <a:noAutofit/>
          </a:bodyPr>
          <a:lstStyle/>
          <a:p>
            <a:pPr lvl="0" indent="0" fontAlgn="auto">
              <a:lnSpc>
                <a:spcPct val="120000"/>
              </a:lnSpc>
            </a:pPr>
            <a:r>
              <a:rPr lang="en-US" altLang="zh-CN" sz="3200" b="1" dirty="0">
                <a:solidFill>
                  <a:srgbClr val="FF0000"/>
                </a:solidFill>
                <a:cs typeface="Times New Roman" panose="02020503050405090304" pitchFamily="18" charset="0"/>
              </a:rPr>
              <a:t>commit  </a:t>
            </a:r>
            <a:r>
              <a:rPr lang="en-US" altLang="zh-CN" sz="3200" b="1" i="1" dirty="0">
                <a:solidFill>
                  <a:srgbClr val="FF0000"/>
                </a:solidFill>
                <a:cs typeface="Times New Roman" panose="02020503050405090304" pitchFamily="18" charset="0"/>
              </a:rPr>
              <a:t>vt.</a:t>
            </a:r>
          </a:p>
          <a:p>
            <a:pPr lvl="0" indent="0" fontAlgn="auto">
              <a:lnSpc>
                <a:spcPct val="120000"/>
              </a:lnSpc>
            </a:pPr>
            <a:r>
              <a:rPr lang="en-US" altLang="zh-CN" sz="3200" b="1" dirty="0">
                <a:solidFill>
                  <a:schemeClr val="tx1"/>
                </a:solidFill>
                <a:cs typeface="Times New Roman" panose="02020503050405090304" pitchFamily="18" charset="0"/>
              </a:rPr>
              <a:t>1) </a:t>
            </a:r>
            <a:r>
              <a:rPr lang="en-US" altLang="zh-CN" sz="3200" b="1" i="1" dirty="0">
                <a:solidFill>
                  <a:srgbClr val="0000FF"/>
                </a:solidFill>
                <a:latin typeface="Times New Roman Bold Italic" panose="02020503050405090304" charset="0"/>
                <a:cs typeface="Times New Roman Bold Italic" panose="02020503050405090304" charset="0"/>
              </a:rPr>
              <a:t>do</a:t>
            </a:r>
            <a:r>
              <a:rPr lang="en-US" altLang="zh-CN" sz="3200" b="1" dirty="0">
                <a:solidFill>
                  <a:schemeClr val="tx1"/>
                </a:solidFill>
                <a:cs typeface="Times New Roman" panose="02020503050405090304" pitchFamily="18" charset="0"/>
              </a:rPr>
              <a:t> </a:t>
            </a:r>
            <a:r>
              <a:rPr lang="zh-CN" altLang="en-US" sz="3200" b="1" dirty="0">
                <a:solidFill>
                  <a:schemeClr val="tx1"/>
                </a:solidFill>
                <a:cs typeface="Times New Roman" panose="02020503050405090304" pitchFamily="18" charset="0"/>
              </a:rPr>
              <a:t>犯</a:t>
            </a:r>
            <a:r>
              <a:rPr lang="en-US" altLang="zh-CN" sz="3200" b="1" dirty="0">
                <a:solidFill>
                  <a:schemeClr val="tx1"/>
                </a:solidFill>
                <a:cs typeface="Times New Roman" panose="02020503050405090304" pitchFamily="18" charset="0"/>
              </a:rPr>
              <a:t>(</a:t>
            </a:r>
            <a:r>
              <a:rPr lang="zh-CN" altLang="en-US" sz="3200" b="1" dirty="0">
                <a:solidFill>
                  <a:schemeClr val="tx1"/>
                </a:solidFill>
                <a:cs typeface="Times New Roman" panose="02020503050405090304" pitchFamily="18" charset="0"/>
              </a:rPr>
              <a:t>错误或罪行</a:t>
            </a:r>
            <a:r>
              <a:rPr lang="en-US" altLang="zh-CN" sz="3200" b="1" dirty="0">
                <a:solidFill>
                  <a:schemeClr val="tx1"/>
                </a:solidFill>
                <a:cs typeface="Times New Roman" panose="02020503050405090304" pitchFamily="18" charset="0"/>
              </a:rPr>
              <a:t>)</a:t>
            </a:r>
            <a:r>
              <a:rPr lang="en-US" altLang="zh-CN" sz="3200" b="1" dirty="0">
                <a:solidFill>
                  <a:srgbClr val="FF0000"/>
                </a:solidFill>
                <a:cs typeface="Times New Roman" panose="02020503050405090304" pitchFamily="18" charset="0"/>
              </a:rPr>
              <a:t> commit a crime/murder </a:t>
            </a:r>
            <a:r>
              <a:rPr lang="zh-CN" altLang="en-US" sz="3200" b="1" dirty="0">
                <a:solidFill>
                  <a:schemeClr val="tx1"/>
                </a:solidFill>
                <a:cs typeface="Times New Roman" panose="02020503050405090304" pitchFamily="18" charset="0"/>
              </a:rPr>
              <a:t>犯罪</a:t>
            </a:r>
            <a:r>
              <a:rPr lang="en-US" altLang="zh-CN" sz="3200" b="1" dirty="0">
                <a:solidFill>
                  <a:schemeClr val="tx1"/>
                </a:solidFill>
                <a:cs typeface="Times New Roman" panose="02020503050405090304" pitchFamily="18" charset="0"/>
              </a:rPr>
              <a:t>/</a:t>
            </a:r>
            <a:r>
              <a:rPr lang="zh-CN" altLang="en-US" sz="3200" b="1" dirty="0">
                <a:solidFill>
                  <a:schemeClr val="tx1"/>
                </a:solidFill>
                <a:cs typeface="Times New Roman" panose="02020503050405090304" pitchFamily="18" charset="0"/>
              </a:rPr>
              <a:t>犯谋杀罪</a:t>
            </a:r>
          </a:p>
          <a:p>
            <a:pPr lvl="0" indent="0" fontAlgn="auto">
              <a:lnSpc>
                <a:spcPct val="120000"/>
              </a:lnSpc>
            </a:pPr>
            <a:r>
              <a:rPr lang="en-US" altLang="zh-CN" sz="3200" b="1" dirty="0">
                <a:solidFill>
                  <a:schemeClr val="tx1"/>
                </a:solidFill>
                <a:cs typeface="Times New Roman" panose="02020503050405090304" pitchFamily="18" charset="0"/>
              </a:rPr>
              <a:t>2) </a:t>
            </a:r>
            <a:r>
              <a:rPr lang="en-US" altLang="zh-CN" sz="3200" b="1" i="1" dirty="0">
                <a:solidFill>
                  <a:schemeClr val="tx1"/>
                </a:solidFill>
                <a:latin typeface="Times New Roman Bold Italic" panose="02020503050405090304" charset="0"/>
                <a:cs typeface="Times New Roman Bold Italic" panose="02020503050405090304" charset="0"/>
              </a:rPr>
              <a:t>to </a:t>
            </a:r>
            <a:r>
              <a:rPr lang="en-US" altLang="zh-CN" sz="3200" b="1" i="1" dirty="0">
                <a:solidFill>
                  <a:srgbClr val="0000FF"/>
                </a:solidFill>
                <a:latin typeface="Times New Roman Bold Italic" panose="02020503050405090304" charset="0"/>
                <a:cs typeface="Times New Roman Bold Italic" panose="02020503050405090304" charset="0"/>
              </a:rPr>
              <a:t>promise </a:t>
            </a:r>
            <a:r>
              <a:rPr lang="en-US" altLang="zh-CN" sz="3200" b="1" i="1" dirty="0">
                <a:solidFill>
                  <a:schemeClr val="tx1"/>
                </a:solidFill>
                <a:latin typeface="Times New Roman Bold Italic" panose="02020503050405090304" charset="0"/>
                <a:cs typeface="Times New Roman Bold Italic" panose="02020503050405090304" charset="0"/>
              </a:rPr>
              <a:t>sincerely </a:t>
            </a:r>
            <a:r>
              <a:rPr lang="zh-CN" altLang="en-US" sz="3200" b="1" dirty="0">
                <a:solidFill>
                  <a:schemeClr val="tx1"/>
                </a:solidFill>
                <a:latin typeface="Times New Roman Bold Italic" panose="02020503050405090304" charset="0"/>
                <a:cs typeface="Times New Roman Bold Italic" panose="02020503050405090304" charset="0"/>
              </a:rPr>
              <a:t>承诺</a:t>
            </a:r>
            <a:r>
              <a:rPr lang="en-US" altLang="zh-CN" sz="3200" b="1" dirty="0">
                <a:solidFill>
                  <a:schemeClr val="tx1"/>
                </a:solidFill>
                <a:latin typeface="Times New Roman Bold Italic" panose="02020503050405090304" charset="0"/>
                <a:cs typeface="Times New Roman Bold Italic" panose="02020503050405090304" charset="0"/>
              </a:rPr>
              <a:t> </a:t>
            </a:r>
            <a:r>
              <a:rPr lang="en-US" altLang="zh-CN" sz="3200" b="1" dirty="0">
                <a:solidFill>
                  <a:srgbClr val="FF0000"/>
                </a:solidFill>
                <a:latin typeface="Times New Roman Bold" panose="02020503050405090304" charset="0"/>
                <a:cs typeface="Times New Roman Bold" panose="02020503050405090304" charset="0"/>
              </a:rPr>
              <a:t>sb commit oneself to (doing) sth</a:t>
            </a:r>
            <a:endParaRPr lang="zh-CN" altLang="en-US" sz="3200" b="1" dirty="0">
              <a:solidFill>
                <a:srgbClr val="FF0000"/>
              </a:solidFill>
              <a:latin typeface="Times New Roman Bold" panose="02020503050405090304" charset="0"/>
              <a:cs typeface="Times New Roman Bold" panose="02020503050405090304" charset="0"/>
            </a:endParaRPr>
          </a:p>
          <a:p>
            <a:pPr lvl="0" indent="0" fontAlgn="auto">
              <a:lnSpc>
                <a:spcPct val="120000"/>
              </a:lnSpc>
            </a:pPr>
            <a:r>
              <a:rPr lang="en-US" altLang="zh-CN" sz="3200" b="1" dirty="0">
                <a:solidFill>
                  <a:schemeClr val="tx1"/>
                </a:solidFill>
                <a:cs typeface="Times New Roman" panose="02020503050405090304" pitchFamily="18" charset="0"/>
              </a:rPr>
              <a:t>The President</a:t>
            </a:r>
            <a:r>
              <a:rPr lang="en-US" altLang="zh-CN" sz="3200" b="1" dirty="0">
                <a:solidFill>
                  <a:srgbClr val="FF0000"/>
                </a:solidFill>
                <a:cs typeface="Times New Roman" panose="02020503050405090304" pitchFamily="18" charset="0"/>
              </a:rPr>
              <a:t> is committed to</a:t>
            </a:r>
            <a:r>
              <a:rPr lang="en-US" altLang="zh-CN" sz="3200" b="1" dirty="0">
                <a:solidFill>
                  <a:schemeClr val="tx1"/>
                </a:solidFill>
                <a:cs typeface="Times New Roman" panose="02020503050405090304" pitchFamily="18" charset="0"/>
              </a:rPr>
              <a:t> reforming health care.</a:t>
            </a:r>
          </a:p>
          <a:p>
            <a:pPr lvl="0" indent="0" fontAlgn="auto">
              <a:lnSpc>
                <a:spcPct val="120000"/>
              </a:lnSpc>
            </a:pPr>
            <a:r>
              <a:rPr lang="en-US" altLang="zh-CN" sz="3200" b="1" dirty="0">
                <a:solidFill>
                  <a:schemeClr val="tx1"/>
                </a:solidFill>
                <a:cs typeface="Times New Roman" panose="02020503050405090304" pitchFamily="18" charset="0"/>
              </a:rPr>
              <a:t>3) </a:t>
            </a:r>
            <a:r>
              <a:rPr lang="en-US" altLang="zh-CN" sz="3200" b="1" i="1" dirty="0">
                <a:solidFill>
                  <a:srgbClr val="0000FF"/>
                </a:solidFill>
                <a:latin typeface="Times New Roman Bold Italic" panose="02020503050405090304" charset="0"/>
                <a:cs typeface="Times New Roman Bold Italic" panose="02020503050405090304" charset="0"/>
              </a:rPr>
              <a:t>devote</a:t>
            </a:r>
            <a:r>
              <a:rPr lang="en-US" altLang="zh-CN" sz="3200" b="1" dirty="0">
                <a:solidFill>
                  <a:schemeClr val="tx1"/>
                </a:solidFill>
                <a:cs typeface="Times New Roman" panose="02020503050405090304" pitchFamily="18" charset="0"/>
              </a:rPr>
              <a:t> </a:t>
            </a:r>
            <a:r>
              <a:rPr lang="zh-CN" altLang="en-US" sz="3200" b="1" dirty="0">
                <a:solidFill>
                  <a:schemeClr val="tx1"/>
                </a:solidFill>
                <a:cs typeface="Times New Roman" panose="02020503050405090304" pitchFamily="18" charset="0"/>
              </a:rPr>
              <a:t>投入</a:t>
            </a:r>
            <a:r>
              <a:rPr lang="en-US" altLang="zh-CN" sz="3200" b="1" dirty="0">
                <a:solidFill>
                  <a:schemeClr val="tx1"/>
                </a:solidFill>
                <a:cs typeface="Times New Roman" panose="02020503050405090304" pitchFamily="18" charset="0"/>
              </a:rPr>
              <a:t>(</a:t>
            </a:r>
            <a:r>
              <a:rPr lang="zh-CN" altLang="en-US" sz="3200" b="1" dirty="0">
                <a:solidFill>
                  <a:schemeClr val="tx1"/>
                </a:solidFill>
                <a:cs typeface="Times New Roman" panose="02020503050405090304" pitchFamily="18" charset="0"/>
              </a:rPr>
              <a:t>钱、时间、人力等</a:t>
            </a:r>
            <a:r>
              <a:rPr lang="en-US" altLang="zh-CN" sz="3200" b="1" dirty="0">
                <a:solidFill>
                  <a:schemeClr val="tx1"/>
                </a:solidFill>
                <a:cs typeface="Times New Roman" panose="02020503050405090304" pitchFamily="18" charset="0"/>
              </a:rPr>
              <a:t>)</a:t>
            </a:r>
            <a:endParaRPr lang="zh-CN" altLang="en-US" sz="3200" b="1" dirty="0">
              <a:solidFill>
                <a:schemeClr val="tx1"/>
              </a:solidFill>
              <a:cs typeface="Times New Roman" panose="02020503050405090304" pitchFamily="18" charset="0"/>
            </a:endParaRPr>
          </a:p>
          <a:p>
            <a:pPr lvl="0" indent="0" fontAlgn="auto">
              <a:lnSpc>
                <a:spcPct val="120000"/>
              </a:lnSpc>
            </a:pPr>
            <a:r>
              <a:rPr lang="en-US" altLang="zh-CN" sz="3200" b="1" dirty="0">
                <a:solidFill>
                  <a:schemeClr val="tx1"/>
                </a:solidFill>
                <a:cs typeface="Times New Roman" panose="02020503050405090304" pitchFamily="18" charset="0"/>
              </a:rPr>
              <a:t>The council has </a:t>
            </a:r>
            <a:r>
              <a:rPr lang="en-US" altLang="zh-CN" sz="3200" b="1" u="sng" dirty="0">
                <a:solidFill>
                  <a:srgbClr val="FF0000"/>
                </a:solidFill>
                <a:cs typeface="Times New Roman" panose="02020503050405090304" pitchFamily="18" charset="0"/>
              </a:rPr>
              <a:t>committed large amounts of money to</a:t>
            </a:r>
            <a:r>
              <a:rPr lang="en-US" altLang="zh-CN" sz="3200" b="1" dirty="0">
                <a:solidFill>
                  <a:schemeClr val="tx1"/>
                </a:solidFill>
                <a:cs typeface="Times New Roman" panose="02020503050405090304" pitchFamily="18" charset="0"/>
              </a:rPr>
              <a:t> housing projects.</a:t>
            </a:r>
          </a:p>
          <a:p>
            <a:pPr lvl="0" indent="0" fontAlgn="auto">
              <a:lnSpc>
                <a:spcPct val="120000"/>
              </a:lnSpc>
            </a:pPr>
            <a:r>
              <a:rPr lang="en-US" altLang="zh-CN" sz="3200" b="1" dirty="0">
                <a:solidFill>
                  <a:schemeClr val="tx1"/>
                </a:solidFill>
                <a:cs typeface="Times New Roman" panose="02020503050405090304" pitchFamily="18" charset="0"/>
              </a:rPr>
              <a:t>市政会在住宅项目上投入了大量资金。</a:t>
            </a:r>
          </a:p>
          <a:p>
            <a:pPr lvl="0" indent="0" fontAlgn="auto">
              <a:lnSpc>
                <a:spcPct val="120000"/>
              </a:lnSpc>
            </a:pPr>
            <a:r>
              <a:rPr lang="en-US" altLang="zh-CN" sz="3200" b="1" dirty="0">
                <a:solidFill>
                  <a:srgbClr val="FF0000"/>
                </a:solidFill>
                <a:cs typeface="Times New Roman" panose="02020503050405090304" pitchFamily="18" charset="0"/>
              </a:rPr>
              <a:t>  commitment   </a:t>
            </a:r>
            <a:r>
              <a:rPr lang="en-US" altLang="zh-CN" sz="3200" b="1" i="1" dirty="0">
                <a:solidFill>
                  <a:srgbClr val="FF0000"/>
                </a:solidFill>
                <a:cs typeface="Times New Roman" panose="02020503050405090304" pitchFamily="18" charset="0"/>
              </a:rPr>
              <a:t>n</a:t>
            </a:r>
            <a:r>
              <a:rPr lang="en-US" altLang="zh-CN" sz="3200" b="1" dirty="0">
                <a:solidFill>
                  <a:srgbClr val="FF0000"/>
                </a:solidFill>
                <a:cs typeface="Times New Roman" panose="02020503050405090304" pitchFamily="18" charset="0"/>
              </a:rPr>
              <a:t>. </a:t>
            </a:r>
            <a:r>
              <a:rPr lang="zh-CN" altLang="en-US" sz="3200" b="1" dirty="0">
                <a:solidFill>
                  <a:srgbClr val="FF0000"/>
                </a:solidFill>
                <a:cs typeface="Times New Roman" panose="02020503050405090304" pitchFamily="18" charset="0"/>
              </a:rPr>
              <a:t>承诺</a:t>
            </a:r>
            <a:r>
              <a:rPr lang="en-US" altLang="zh-CN" sz="3200" b="1" dirty="0">
                <a:solidFill>
                  <a:srgbClr val="FF0000"/>
                </a:solidFill>
                <a:cs typeface="Times New Roman" panose="02020503050405090304" pitchFamily="18" charset="0"/>
              </a:rPr>
              <a:t>, </a:t>
            </a:r>
            <a:r>
              <a:rPr lang="zh-CN" altLang="en-US" sz="3200" b="1" dirty="0">
                <a:solidFill>
                  <a:srgbClr val="FF0000"/>
                </a:solidFill>
                <a:cs typeface="Times New Roman" panose="02020503050405090304" pitchFamily="18" charset="0"/>
              </a:rPr>
              <a:t>许诺</a:t>
            </a:r>
            <a:r>
              <a:rPr lang="en-US" altLang="zh-CN" sz="3200" b="1" dirty="0">
                <a:solidFill>
                  <a:srgbClr val="FF0000"/>
                </a:solidFill>
                <a:cs typeface="Times New Roman" panose="02020503050405090304" pitchFamily="18" charset="0"/>
              </a:rPr>
              <a:t>; </a:t>
            </a:r>
            <a:r>
              <a:rPr lang="zh-CN" altLang="en-US" sz="3200" b="1" dirty="0">
                <a:solidFill>
                  <a:srgbClr val="FF0000"/>
                </a:solidFill>
                <a:cs typeface="Times New Roman" panose="02020503050405090304" pitchFamily="18" charset="0"/>
              </a:rPr>
              <a:t>献身</a:t>
            </a:r>
            <a:r>
              <a:rPr lang="en-US" altLang="zh-CN" sz="3200" b="1" dirty="0">
                <a:solidFill>
                  <a:srgbClr val="FF0000"/>
                </a:solidFill>
                <a:cs typeface="Times New Roman" panose="02020503050405090304" pitchFamily="18" charset="0"/>
              </a:rPr>
              <a:t>, </a:t>
            </a:r>
            <a:r>
              <a:rPr lang="zh-CN" altLang="en-US" sz="3200" b="1" dirty="0">
                <a:solidFill>
                  <a:srgbClr val="FF0000"/>
                </a:solidFill>
                <a:cs typeface="Times New Roman" panose="02020503050405090304" pitchFamily="18" charset="0"/>
              </a:rPr>
              <a:t>投入</a:t>
            </a:r>
            <a:r>
              <a:rPr lang="en-US" altLang="zh-CN" sz="3200" b="1" dirty="0">
                <a:solidFill>
                  <a:srgbClr val="FF0000"/>
                </a:solidFill>
                <a:cs typeface="Times New Roman" panose="02020503050405090304" pitchFamily="18" charset="0"/>
              </a:rPr>
              <a:t>; </a:t>
            </a:r>
            <a:r>
              <a:rPr lang="zh-CN" altLang="en-US" sz="3200" b="1" dirty="0">
                <a:solidFill>
                  <a:srgbClr val="FF0000"/>
                </a:solidFill>
                <a:cs typeface="Times New Roman" panose="02020503050405090304" pitchFamily="18" charset="0"/>
              </a:rPr>
              <a:t>花费</a:t>
            </a:r>
            <a:endParaRPr lang="en-US" altLang="zh-CN" sz="3200" b="1" dirty="0">
              <a:solidFill>
                <a:srgbClr val="FF0000"/>
              </a:solidFill>
              <a:cs typeface="Times New Roman" panose="02020503050405090304" pitchFamily="18" charset="0"/>
            </a:endParaRPr>
          </a:p>
          <a:p>
            <a:pPr lvl="0" indent="0" fontAlgn="auto">
              <a:lnSpc>
                <a:spcPct val="120000"/>
              </a:lnSpc>
            </a:pPr>
            <a:r>
              <a:rPr lang="en-US" altLang="zh-CN" sz="3200" b="1" dirty="0">
                <a:solidFill>
                  <a:srgbClr val="FF0000"/>
                </a:solidFill>
                <a:cs typeface="Times New Roman" panose="02020503050405090304" pitchFamily="18" charset="0"/>
              </a:rPr>
              <a:t>  make a commitment to do/doing sth  </a:t>
            </a:r>
            <a:r>
              <a:rPr lang="zh-CN" altLang="en-US" sz="3200" b="1" dirty="0">
                <a:cs typeface="Times New Roman" panose="02020503050405090304" pitchFamily="18" charset="0"/>
              </a:rPr>
              <a:t>承诺做某事</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nvSpPr>
        <p:spPr>
          <a:xfrm>
            <a:off x="0" y="0"/>
            <a:ext cx="12191365" cy="8322945"/>
          </a:xfrm>
          <a:prstGeom prst="rect">
            <a:avLst/>
          </a:prstGeom>
          <a:noFill/>
          <a:ln w="28575">
            <a:noFill/>
          </a:ln>
          <a:extLst>
            <a:ext uri="{909E8E84-426E-40DD-AFC4-6F175D3DCCD1}">
              <a14:hiddenFill xmlns:a14="http://schemas.microsoft.com/office/drawing/2010/main">
                <a:solidFill>
                  <a:srgbClr val="E6F1FE"/>
                </a:solidFill>
              </a14:hiddenFill>
            </a:ext>
          </a:extLst>
        </p:spPr>
        <p:txBody>
          <a:bodyPr wrap="square">
            <a:noAutofit/>
          </a:bodyPr>
          <a:lstStyle/>
          <a:p>
            <a:pPr lvl="0" indent="0" fontAlgn="auto">
              <a:lnSpc>
                <a:spcPct val="120000"/>
              </a:lnSpc>
            </a:pPr>
            <a:r>
              <a:rPr lang="zh-CN" altLang="en-US" sz="3200" b="1" dirty="0">
                <a:cs typeface="Times New Roman" panose="02020503050405090304" pitchFamily="18" charset="0"/>
              </a:rPr>
              <a:t>政府对公共服务作出的</a:t>
            </a:r>
            <a:r>
              <a:rPr lang="zh-CN" altLang="en-US" sz="3200" b="1" u="sng" dirty="0">
                <a:cs typeface="Times New Roman" panose="02020503050405090304" pitchFamily="18" charset="0"/>
              </a:rPr>
              <a:t>承诺</a:t>
            </a:r>
            <a:endParaRPr lang="zh-CN" altLang="en-US" sz="3200" b="1" dirty="0">
              <a:cs typeface="Times New Roman" panose="02020503050405090304" pitchFamily="18" charset="0"/>
            </a:endParaRPr>
          </a:p>
          <a:p>
            <a:pPr lvl="0" indent="0" fontAlgn="auto">
              <a:lnSpc>
                <a:spcPct val="120000"/>
              </a:lnSpc>
            </a:pPr>
            <a:r>
              <a:rPr lang="zh-CN" altLang="en-US" sz="3200" b="1" dirty="0">
                <a:solidFill>
                  <a:srgbClr val="FF0000"/>
                </a:solidFill>
                <a:cs typeface="Times New Roman" panose="02020503050405090304" pitchFamily="18" charset="0"/>
                <a:sym typeface="+mn-ea"/>
              </a:rPr>
              <a:t>the government's commitment to public services</a:t>
            </a:r>
            <a:endParaRPr lang="zh-CN" altLang="en-US" sz="3200" b="1" dirty="0">
              <a:solidFill>
                <a:srgbClr val="FF0000"/>
              </a:solidFill>
              <a:cs typeface="Times New Roman" panose="02020503050405090304" pitchFamily="18" charset="0"/>
            </a:endParaRPr>
          </a:p>
          <a:p>
            <a:pPr lvl="0" indent="0" fontAlgn="auto">
              <a:lnSpc>
                <a:spcPct val="120000"/>
              </a:lnSpc>
            </a:pPr>
            <a:r>
              <a:rPr lang="en-US" altLang="zh-CN" sz="3200" b="1" dirty="0">
                <a:cs typeface="Times New Roman" panose="02020503050405090304" pitchFamily="18" charset="0"/>
              </a:rPr>
              <a:t>A career as an actor requires one hundred per cent </a:t>
            </a:r>
            <a:r>
              <a:rPr lang="en-US" altLang="zh-CN" sz="3200" b="1" dirty="0">
                <a:solidFill>
                  <a:srgbClr val="FF0000"/>
                </a:solidFill>
                <a:cs typeface="Times New Roman" panose="02020503050405090304" pitchFamily="18" charset="0"/>
              </a:rPr>
              <a:t>commitment</a:t>
            </a:r>
            <a:r>
              <a:rPr lang="en-US" altLang="zh-CN" sz="3200" b="1" dirty="0">
                <a:cs typeface="Times New Roman" panose="02020503050405090304" pitchFamily="18" charset="0"/>
              </a:rPr>
              <a:t>.</a:t>
            </a:r>
          </a:p>
          <a:p>
            <a:pPr lvl="0" indent="0" fontAlgn="auto">
              <a:lnSpc>
                <a:spcPct val="120000"/>
              </a:lnSpc>
            </a:pPr>
            <a:r>
              <a:rPr lang="en-US" altLang="zh-CN" sz="3200" b="1" dirty="0">
                <a:cs typeface="Times New Roman" panose="02020503050405090304" pitchFamily="18" charset="0"/>
              </a:rPr>
              <a:t>干演员这一行需要百分之百的</a:t>
            </a:r>
            <a:r>
              <a:rPr lang="en-US" altLang="zh-CN" sz="3200" b="1" u="sng" dirty="0">
                <a:cs typeface="Times New Roman" panose="02020503050405090304" pitchFamily="18" charset="0"/>
              </a:rPr>
              <a:t>投入</a:t>
            </a:r>
            <a:r>
              <a:rPr lang="en-US" altLang="zh-CN" sz="3200" b="1" dirty="0">
                <a:cs typeface="Times New Roman" panose="02020503050405090304" pitchFamily="18" charset="0"/>
              </a:rPr>
              <a:t>。</a:t>
            </a:r>
          </a:p>
          <a:p>
            <a:pPr lvl="0" indent="0" fontAlgn="auto">
              <a:lnSpc>
                <a:spcPct val="120000"/>
              </a:lnSpc>
            </a:pPr>
            <a:r>
              <a:rPr lang="en-US" altLang="zh-CN" sz="3200" b="1" dirty="0">
                <a:cs typeface="Times New Roman" panose="02020503050405090304" pitchFamily="18" charset="0"/>
              </a:rPr>
              <a:t>Women very often have to juggle work with their family </a:t>
            </a:r>
            <a:r>
              <a:rPr lang="en-US" altLang="zh-CN" sz="3200" b="1" dirty="0">
                <a:solidFill>
                  <a:srgbClr val="FF0000"/>
                </a:solidFill>
                <a:cs typeface="Times New Roman" panose="02020503050405090304" pitchFamily="18" charset="0"/>
              </a:rPr>
              <a:t>commitment</a:t>
            </a:r>
            <a:r>
              <a:rPr lang="en-US" altLang="zh-CN" sz="3200" b="1" u="sng" dirty="0">
                <a:solidFill>
                  <a:srgbClr val="FF0000"/>
                </a:solidFill>
                <a:cs typeface="Times New Roman" panose="02020503050405090304" pitchFamily="18" charset="0"/>
              </a:rPr>
              <a:t>s</a:t>
            </a:r>
            <a:r>
              <a:rPr lang="en-US" altLang="zh-CN" sz="3200" b="1" dirty="0">
                <a:cs typeface="Times New Roman" panose="02020503050405090304" pitchFamily="18" charset="0"/>
              </a:rPr>
              <a:t>.</a:t>
            </a:r>
          </a:p>
          <a:p>
            <a:pPr lvl="0" indent="0" fontAlgn="auto">
              <a:lnSpc>
                <a:spcPct val="120000"/>
              </a:lnSpc>
            </a:pPr>
            <a:r>
              <a:rPr lang="zh-CN" altLang="en-US" sz="3200" b="1" dirty="0">
                <a:cs typeface="Times New Roman" panose="02020503050405090304" pitchFamily="18" charset="0"/>
              </a:rPr>
              <a:t>已承诺的的事，不得不做的事</a:t>
            </a:r>
            <a:r>
              <a:rPr lang="en-US" altLang="zh-CN" sz="3200" b="1" dirty="0">
                <a:solidFill>
                  <a:srgbClr val="FF0000"/>
                </a:solidFill>
                <a:cs typeface="Times New Roman" panose="02020503050405090304" pitchFamily="18" charset="0"/>
              </a:rPr>
              <a:t>[C]</a:t>
            </a:r>
            <a:endParaRPr lang="zh-CN" altLang="en-US" sz="3200" b="1" dirty="0">
              <a:cs typeface="Times New Roman" panose="02020503050405090304" pitchFamily="18" charset="0"/>
            </a:endParaRPr>
          </a:p>
          <a:p>
            <a:pPr lvl="0" indent="0" fontAlgn="auto">
              <a:lnSpc>
                <a:spcPct val="120000"/>
              </a:lnSpc>
            </a:pPr>
            <a:r>
              <a:rPr lang="en-US" altLang="zh-CN" sz="3200" b="1" dirty="0">
                <a:solidFill>
                  <a:srgbClr val="FF0000"/>
                </a:solidFill>
                <a:cs typeface="Times New Roman" panose="02020503050405090304" pitchFamily="18" charset="0"/>
              </a:rPr>
              <a:t>the commitment of resources to education</a:t>
            </a:r>
          </a:p>
          <a:p>
            <a:pPr lvl="0" indent="0" fontAlgn="auto">
              <a:lnSpc>
                <a:spcPct val="120000"/>
              </a:lnSpc>
            </a:pPr>
            <a:r>
              <a:rPr lang="en-US" altLang="zh-CN" sz="3200" b="1" dirty="0">
                <a:cs typeface="Times New Roman" panose="02020503050405090304" pitchFamily="18" charset="0"/>
              </a:rPr>
              <a:t>对教育的资源投入</a:t>
            </a:r>
          </a:p>
          <a:p>
            <a:pPr lvl="0" indent="0" fontAlgn="auto">
              <a:lnSpc>
                <a:spcPct val="120000"/>
              </a:lnSpc>
            </a:pPr>
            <a:r>
              <a:rPr lang="zh-CN" altLang="en-US" sz="3200" b="1" dirty="0">
                <a:cs typeface="Times New Roman" panose="02020503050405090304" pitchFamily="18" charset="0"/>
                <a:sym typeface="+mn-ea"/>
              </a:rPr>
              <a:t>需要投入</a:t>
            </a:r>
            <a:r>
              <a:rPr lang="en-US" altLang="zh-CN" sz="3200" b="1" dirty="0">
                <a:cs typeface="Times New Roman" panose="02020503050405090304" pitchFamily="18" charset="0"/>
                <a:sym typeface="+mn-ea"/>
              </a:rPr>
              <a:t>时间和精力</a:t>
            </a:r>
            <a:endParaRPr lang="en-US" altLang="zh-CN" sz="3200" b="1" dirty="0">
              <a:cs typeface="Times New Roman" panose="02020503050405090304" pitchFamily="18" charset="0"/>
            </a:endParaRPr>
          </a:p>
          <a:p>
            <a:pPr lvl="0" indent="0" fontAlgn="auto">
              <a:lnSpc>
                <a:spcPct val="120000"/>
              </a:lnSpc>
            </a:pPr>
            <a:r>
              <a:rPr lang="en-US" altLang="zh-CN" sz="3200" b="1" dirty="0">
                <a:cs typeface="Times New Roman" panose="02020503050405090304" pitchFamily="18" charset="0"/>
              </a:rPr>
              <a:t>require ________________ time and energy.</a:t>
            </a:r>
          </a:p>
          <a:p>
            <a:pPr lvl="0" indent="0" fontAlgn="auto">
              <a:lnSpc>
                <a:spcPct val="120000"/>
              </a:lnSpc>
            </a:pPr>
            <a:endParaRPr lang="en-US" altLang="zh-CN" sz="3200" b="1" dirty="0">
              <a:cs typeface="Times New Roman" panose="02020503050405090304" pitchFamily="18" charset="0"/>
            </a:endParaRPr>
          </a:p>
        </p:txBody>
      </p:sp>
      <p:sp>
        <p:nvSpPr>
          <p:cNvPr id="2" name="Text Box 1"/>
          <p:cNvSpPr txBox="1"/>
          <p:nvPr/>
        </p:nvSpPr>
        <p:spPr>
          <a:xfrm>
            <a:off x="1579245" y="5774055"/>
            <a:ext cx="6096000" cy="681990"/>
          </a:xfrm>
          <a:prstGeom prst="rect">
            <a:avLst/>
          </a:prstGeom>
          <a:noFill/>
        </p:spPr>
        <p:txBody>
          <a:bodyPr wrap="square" rtlCol="0" anchor="t">
            <a:spAutoFit/>
          </a:bodyPr>
          <a:lstStyle/>
          <a:p>
            <a:pPr>
              <a:lnSpc>
                <a:spcPct val="120000"/>
              </a:lnSpc>
            </a:pPr>
            <a:r>
              <a:rPr lang="en-US" altLang="zh-CN" sz="3200" b="1" dirty="0">
                <a:solidFill>
                  <a:srgbClr val="FF0000"/>
                </a:solidFill>
                <a:cs typeface="Times New Roman" panose="02020503050405090304" pitchFamily="18" charset="0"/>
                <a:sym typeface="+mn-ea"/>
              </a:rPr>
              <a:t>a commitment of</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2" grpId="1"/>
    </p:bldLst>
  </p:timing>
</p:sld>
</file>

<file path=ppt/slides/slide48.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2" name="矩形 1"/>
          <p:cNvSpPr/>
          <p:nvPr/>
        </p:nvSpPr>
        <p:spPr>
          <a:xfrm>
            <a:off x="0" y="0"/>
            <a:ext cx="12191365" cy="6862445"/>
          </a:xfrm>
          <a:prstGeom prst="rect">
            <a:avLst/>
          </a:prstGeom>
        </p:spPr>
        <p:txBody>
          <a:bodyPr wrap="square">
            <a:spAutoFit/>
          </a:bodyPr>
          <a:lstStyle/>
          <a:p>
            <a:pPr marL="444500" indent="-444500">
              <a:lnSpc>
                <a:spcPct val="125000"/>
              </a:lnSpc>
            </a:pPr>
            <a:r>
              <a:rPr lang="en-US" altLang="zh-CN" sz="3200" b="1" dirty="0">
                <a:latin typeface="+mj-lt"/>
              </a:rPr>
              <a:t>1) When taken to the police station for questioning, the man said, “I have never ___________ ________ ________ (</a:t>
            </a:r>
            <a:r>
              <a:rPr lang="zh-CN" altLang="en-US" sz="3200" b="1" dirty="0">
                <a:latin typeface="+mj-lt"/>
              </a:rPr>
              <a:t>犯任何罪</a:t>
            </a:r>
            <a:r>
              <a:rPr lang="en-US" altLang="zh-CN" sz="3200" b="1" dirty="0">
                <a:latin typeface="+mj-lt"/>
              </a:rPr>
              <a:t>).”</a:t>
            </a:r>
          </a:p>
          <a:p>
            <a:pPr marL="444500" indent="-444500">
              <a:lnSpc>
                <a:spcPct val="125000"/>
              </a:lnSpc>
            </a:pPr>
            <a:r>
              <a:rPr lang="en-US" altLang="zh-CN" sz="3200" b="1" dirty="0">
                <a:latin typeface="+mj-lt"/>
              </a:rPr>
              <a:t>2) She has</a:t>
            </a:r>
            <a:r>
              <a:rPr lang="zh-CN" altLang="en-US" sz="3200" b="1" dirty="0">
                <a:latin typeface="+mj-lt"/>
              </a:rPr>
              <a:t> </a:t>
            </a:r>
            <a:r>
              <a:rPr lang="en-US" altLang="zh-CN" sz="3200" b="1" dirty="0">
                <a:latin typeface="+mj-lt"/>
              </a:rPr>
              <a:t>__________ ________ ________ _________ ______ (</a:t>
            </a:r>
            <a:r>
              <a:rPr lang="zh-CN" altLang="en-US" sz="3200" b="1" dirty="0">
                <a:latin typeface="+mj-lt"/>
              </a:rPr>
              <a:t>答应</a:t>
            </a:r>
          </a:p>
          <a:p>
            <a:pPr marL="444500" indent="-444500">
              <a:lnSpc>
                <a:spcPct val="125000"/>
              </a:lnSpc>
            </a:pPr>
            <a:r>
              <a:rPr lang="zh-CN" altLang="en-US" sz="3200" b="1" dirty="0">
                <a:latin typeface="+mj-lt"/>
              </a:rPr>
              <a:t>去诊所</a:t>
            </a:r>
            <a:r>
              <a:rPr lang="en-US" altLang="zh-CN" sz="3200" b="1" dirty="0">
                <a:latin typeface="+mj-lt"/>
              </a:rPr>
              <a:t>) at once.</a:t>
            </a:r>
          </a:p>
          <a:p>
            <a:pPr marL="444500" indent="-444500">
              <a:lnSpc>
                <a:spcPct val="125000"/>
              </a:lnSpc>
            </a:pPr>
            <a:r>
              <a:rPr lang="en-US" altLang="zh-CN" sz="3200" b="1" dirty="0">
                <a:latin typeface="+mj-lt"/>
              </a:rPr>
              <a:t>3) They’ll have to _________ _________ _________ (</a:t>
            </a:r>
            <a:r>
              <a:rPr lang="zh-CN" altLang="en-US" sz="3200" b="1" dirty="0">
                <a:latin typeface="+mj-lt"/>
              </a:rPr>
              <a:t>花更多的钱</a:t>
            </a:r>
            <a:r>
              <a:rPr lang="en-US" altLang="zh-CN" sz="3200" b="1" dirty="0">
                <a:latin typeface="+mj-lt"/>
              </a:rPr>
              <a:t>) to the project if they want it to succeed.</a:t>
            </a:r>
          </a:p>
          <a:p>
            <a:pPr marL="444500" indent="-444500">
              <a:lnSpc>
                <a:spcPct val="125000"/>
              </a:lnSpc>
            </a:pPr>
            <a:r>
              <a:rPr lang="en-US" altLang="zh-CN" sz="3200" b="1" dirty="0">
                <a:latin typeface="+mj-lt"/>
              </a:rPr>
              <a:t>4) They have ________ ________ ___________ (</a:t>
            </a:r>
            <a:r>
              <a:rPr lang="zh-CN" altLang="en-US" sz="3200" b="1" dirty="0">
                <a:latin typeface="+mj-lt"/>
              </a:rPr>
              <a:t>作出承诺</a:t>
            </a:r>
            <a:r>
              <a:rPr lang="en-US" altLang="zh-CN" sz="3200" b="1" dirty="0">
                <a:latin typeface="+mj-lt"/>
              </a:rPr>
              <a:t>) to keep working together to cope with the issue.</a:t>
            </a:r>
          </a:p>
          <a:p>
            <a:pPr marL="444500" indent="-444500">
              <a:lnSpc>
                <a:spcPct val="125000"/>
              </a:lnSpc>
            </a:pPr>
            <a:r>
              <a:rPr lang="en-US" altLang="zh-CN" sz="3200" b="1" dirty="0">
                <a:latin typeface="+mj-lt"/>
              </a:rPr>
              <a:t>5) ______________the cause of charity, he won the respect of our community.</a:t>
            </a:r>
          </a:p>
          <a:p>
            <a:pPr marL="444500" indent="-444500">
              <a:lnSpc>
                <a:spcPct val="125000"/>
              </a:lnSpc>
            </a:pPr>
            <a:r>
              <a:rPr lang="en-US" altLang="zh-CN" sz="3200" b="1" dirty="0">
                <a:latin typeface="+mj-lt"/>
              </a:rPr>
              <a:t>6) They are charged with __________ crimes (</a:t>
            </a:r>
            <a:r>
              <a:rPr lang="zh-CN" altLang="en-US" sz="3200" b="1" dirty="0">
                <a:latin typeface="+mj-lt"/>
              </a:rPr>
              <a:t>犯罪</a:t>
            </a:r>
            <a:r>
              <a:rPr lang="en-US" altLang="zh-CN" sz="3200" b="1" dirty="0">
                <a:latin typeface="+mj-lt"/>
              </a:rPr>
              <a:t>) against children.</a:t>
            </a:r>
          </a:p>
        </p:txBody>
      </p:sp>
      <p:sp>
        <p:nvSpPr>
          <p:cNvPr id="3" name="矩形 2"/>
          <p:cNvSpPr/>
          <p:nvPr/>
        </p:nvSpPr>
        <p:spPr>
          <a:xfrm>
            <a:off x="2554379" y="677012"/>
            <a:ext cx="5642891" cy="584775"/>
          </a:xfrm>
          <a:prstGeom prst="rect">
            <a:avLst/>
          </a:prstGeom>
        </p:spPr>
        <p:txBody>
          <a:bodyPr wrap="none">
            <a:spAutoFit/>
          </a:bodyPr>
          <a:lstStyle/>
          <a:p>
            <a:r>
              <a:rPr lang="en-US" altLang="zh-CN" sz="3200" b="1" dirty="0">
                <a:solidFill>
                  <a:srgbClr val="FF0000"/>
                </a:solidFill>
              </a:rPr>
              <a:t> committed        any         crime </a:t>
            </a:r>
            <a:endParaRPr lang="zh-CN" altLang="en-US" sz="3200" b="1" dirty="0">
              <a:solidFill>
                <a:srgbClr val="FF0000"/>
              </a:solidFill>
            </a:endParaRPr>
          </a:p>
        </p:txBody>
      </p:sp>
      <p:sp>
        <p:nvSpPr>
          <p:cNvPr id="4" name="矩形 3"/>
          <p:cNvSpPr/>
          <p:nvPr/>
        </p:nvSpPr>
        <p:spPr>
          <a:xfrm>
            <a:off x="1925555" y="1261649"/>
            <a:ext cx="8872711" cy="681990"/>
          </a:xfrm>
          <a:prstGeom prst="rect">
            <a:avLst/>
          </a:prstGeom>
        </p:spPr>
        <p:txBody>
          <a:bodyPr wrap="square">
            <a:spAutoFit/>
          </a:bodyPr>
          <a:lstStyle/>
          <a:p>
            <a:pPr>
              <a:lnSpc>
                <a:spcPct val="120000"/>
              </a:lnSpc>
            </a:pPr>
            <a:r>
              <a:rPr lang="en-US" altLang="zh-CN" sz="3200" b="1" dirty="0">
                <a:solidFill>
                  <a:srgbClr val="FF0000"/>
                </a:solidFill>
              </a:rPr>
              <a:t>committed    herself    to    going   to   the    clinic            </a:t>
            </a:r>
            <a:endParaRPr lang="zh-CN" altLang="en-US" sz="3200" b="1" dirty="0">
              <a:solidFill>
                <a:srgbClr val="FF0000"/>
              </a:solidFill>
            </a:endParaRPr>
          </a:p>
        </p:txBody>
      </p:sp>
      <p:sp>
        <p:nvSpPr>
          <p:cNvPr id="5" name="矩形 4"/>
          <p:cNvSpPr/>
          <p:nvPr/>
        </p:nvSpPr>
        <p:spPr>
          <a:xfrm>
            <a:off x="2508087" y="3678152"/>
            <a:ext cx="5688874" cy="584775"/>
          </a:xfrm>
          <a:prstGeom prst="rect">
            <a:avLst/>
          </a:prstGeom>
        </p:spPr>
        <p:txBody>
          <a:bodyPr wrap="square">
            <a:spAutoFit/>
          </a:bodyPr>
          <a:lstStyle/>
          <a:p>
            <a:r>
              <a:rPr lang="en-US" altLang="zh-CN" sz="3200" b="1" dirty="0">
                <a:solidFill>
                  <a:srgbClr val="FF0000"/>
                </a:solidFill>
              </a:rPr>
              <a:t>made           a        commitment</a:t>
            </a:r>
            <a:endParaRPr lang="en-US" altLang="zh-CN" sz="3200" b="1" i="0" dirty="0">
              <a:solidFill>
                <a:srgbClr val="FF0000"/>
              </a:solidFill>
              <a:effectLst/>
            </a:endParaRPr>
          </a:p>
        </p:txBody>
      </p:sp>
      <p:sp>
        <p:nvSpPr>
          <p:cNvPr id="7" name="矩形 6"/>
          <p:cNvSpPr/>
          <p:nvPr/>
        </p:nvSpPr>
        <p:spPr>
          <a:xfrm>
            <a:off x="3460118" y="2499332"/>
            <a:ext cx="5213863" cy="584775"/>
          </a:xfrm>
          <a:prstGeom prst="rect">
            <a:avLst/>
          </a:prstGeom>
        </p:spPr>
        <p:txBody>
          <a:bodyPr wrap="none">
            <a:spAutoFit/>
          </a:bodyPr>
          <a:lstStyle/>
          <a:p>
            <a:r>
              <a:rPr lang="en-US" altLang="zh-CN" sz="3200" b="1" dirty="0">
                <a:solidFill>
                  <a:srgbClr val="FF0000"/>
                </a:solidFill>
              </a:rPr>
              <a:t>commit        more        money</a:t>
            </a:r>
            <a:endParaRPr lang="zh-CN" altLang="en-US" sz="3200" b="1" dirty="0">
              <a:solidFill>
                <a:srgbClr val="FF0000"/>
              </a:solidFill>
            </a:endParaRPr>
          </a:p>
        </p:txBody>
      </p:sp>
      <p:sp>
        <p:nvSpPr>
          <p:cNvPr id="8" name="矩形 4"/>
          <p:cNvSpPr/>
          <p:nvPr>
            <p:custDataLst>
              <p:tags r:id="rId2"/>
            </p:custDataLst>
          </p:nvPr>
        </p:nvSpPr>
        <p:spPr>
          <a:xfrm>
            <a:off x="594360" y="4980305"/>
            <a:ext cx="2870200" cy="583565"/>
          </a:xfrm>
          <a:prstGeom prst="rect">
            <a:avLst/>
          </a:prstGeom>
        </p:spPr>
        <p:txBody>
          <a:bodyPr wrap="square">
            <a:spAutoFit/>
          </a:bodyPr>
          <a:lstStyle/>
          <a:p>
            <a:r>
              <a:rPr lang="en-US" altLang="zh-CN" sz="3200" b="1" dirty="0">
                <a:solidFill>
                  <a:srgbClr val="FF0000"/>
                </a:solidFill>
              </a:rPr>
              <a:t>Committed to</a:t>
            </a:r>
            <a:endParaRPr lang="en-US" altLang="zh-CN" sz="3200" b="1" i="0" dirty="0">
              <a:solidFill>
                <a:srgbClr val="FF0000"/>
              </a:solidFill>
              <a:effectLst/>
            </a:endParaRPr>
          </a:p>
        </p:txBody>
      </p:sp>
      <p:sp>
        <p:nvSpPr>
          <p:cNvPr id="9" name="Text Box 8"/>
          <p:cNvSpPr txBox="1"/>
          <p:nvPr/>
        </p:nvSpPr>
        <p:spPr>
          <a:xfrm>
            <a:off x="4466590" y="6052820"/>
            <a:ext cx="2279015" cy="681990"/>
          </a:xfrm>
          <a:prstGeom prst="rect">
            <a:avLst/>
          </a:prstGeom>
          <a:noFill/>
        </p:spPr>
        <p:txBody>
          <a:bodyPr wrap="square" rtlCol="0" anchor="t">
            <a:spAutoFit/>
          </a:bodyPr>
          <a:lstStyle/>
          <a:p>
            <a:pPr>
              <a:lnSpc>
                <a:spcPct val="120000"/>
              </a:lnSpc>
            </a:pPr>
            <a:r>
              <a:rPr lang="en-US" altLang="zh-CN" sz="3200" b="1" dirty="0">
                <a:solidFill>
                  <a:srgbClr val="FF0000"/>
                </a:solidFill>
                <a:sym typeface="+mn-ea"/>
              </a:rPr>
              <a:t>committing</a:t>
            </a:r>
          </a:p>
        </p:txBody>
      </p:sp>
    </p:spTree>
  </p:cSld>
  <p:clrMapOvr>
    <a:overrideClrMapping bg1="lt1" tx1="dk1" bg2="lt2" tx2="dk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4" presetClass="entr" presetSubtype="1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randombar(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4"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randombar(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4" presetClass="entr" presetSubtype="10"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randombar(horizontal)">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14" presetClass="entr" presetSubtype="10"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randombar(horizontal)">
                                      <p:cBhvr>
                                        <p:cTn id="22" dur="500"/>
                                        <p:tgtEl>
                                          <p:spTgt spid="5"/>
                                        </p:tgtEl>
                                      </p:cBhvr>
                                    </p:animEffect>
                                  </p:childTnLst>
                                </p:cTn>
                              </p:par>
                            </p:childTnLst>
                          </p:cTn>
                        </p:par>
                      </p:childTnLst>
                    </p:cTn>
                  </p:par>
                  <p:par>
                    <p:cTn id="23" fill="hold">
                      <p:stCondLst>
                        <p:cond delay="indefinite"/>
                      </p:stCondLst>
                      <p:childTnLst>
                        <p:par>
                          <p:cTn id="24" fill="hold">
                            <p:stCondLst>
                              <p:cond delay="0"/>
                            </p:stCondLst>
                            <p:childTnLst>
                              <p:par>
                                <p:cTn id="25" presetID="14" presetClass="entr" presetSubtype="10" fill="hold" grpId="0"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randombar(horizontal)">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7" grpId="0"/>
      <p:bldP spid="8" grpId="0"/>
      <p:bldP spid="9" grpId="0"/>
      <p:bldP spid="9" grpId="1"/>
    </p:bldLst>
  </p:timing>
</p:sld>
</file>

<file path=ppt/slides/slide49.xml><?xml version="1.0" encoding="utf-8"?>
<p:sld xmlns:a="http://schemas.openxmlformats.org/drawingml/2006/main" xmlns:r="http://schemas.openxmlformats.org/officeDocument/2006/relationships" xmlns:p="http://schemas.openxmlformats.org/presentationml/2006/main">
  <p:cSld>
    <p:bg>
      <p:bgPr>
        <a:noFill/>
        <a:effectLst/>
      </p:bgPr>
    </p:bg>
    <p:spTree>
      <p:nvGrpSpPr>
        <p:cNvPr id="1" name=""/>
        <p:cNvGrpSpPr/>
        <p:nvPr/>
      </p:nvGrpSpPr>
      <p:grpSpPr>
        <a:xfrm>
          <a:off x="0" y="0"/>
          <a:ext cx="0" cy="0"/>
          <a:chOff x="0" y="0"/>
          <a:chExt cx="0" cy="0"/>
        </a:xfrm>
      </p:grpSpPr>
      <p:sp>
        <p:nvSpPr>
          <p:cNvPr id="4" name="矩形 3"/>
          <p:cNvSpPr/>
          <p:nvPr/>
        </p:nvSpPr>
        <p:spPr>
          <a:xfrm>
            <a:off x="635" y="-172085"/>
            <a:ext cx="12190730" cy="6858635"/>
          </a:xfrm>
          <a:prstGeom prst="rect">
            <a:avLst/>
          </a:prstGeom>
          <a:noFill/>
          <a:ln w="28575">
            <a:noFill/>
          </a:ln>
          <a:extLst>
            <a:ext uri="{909E8E84-426E-40DD-AFC4-6F175D3DCCD1}">
              <a14:hiddenFill xmlns:a14="http://schemas.microsoft.com/office/drawing/2010/main">
                <a:solidFill>
                  <a:srgbClr val="E6F1FE"/>
                </a:solidFill>
              </a14:hiddenFill>
            </a:ext>
          </a:extLst>
        </p:spPr>
        <p:txBody>
          <a:bodyPr wrap="square">
            <a:noAutofit/>
          </a:bodyPr>
          <a:lstStyle/>
          <a:p>
            <a:pPr lvl="0" indent="0" fontAlgn="auto">
              <a:lnSpc>
                <a:spcPct val="120000"/>
              </a:lnSpc>
            </a:pPr>
            <a:r>
              <a:rPr lang="en-US" altLang="zh-CN" sz="3200" b="1" dirty="0">
                <a:solidFill>
                  <a:srgbClr val="FF0000"/>
                </a:solidFill>
                <a:cs typeface="Times New Roman" panose="02020503050405090304" pitchFamily="18" charset="0"/>
              </a:rPr>
              <a:t>discrimination </a:t>
            </a:r>
            <a:r>
              <a:rPr lang="en-US" altLang="zh-CN" sz="3200" b="1" i="1" dirty="0">
                <a:solidFill>
                  <a:srgbClr val="FF0000"/>
                </a:solidFill>
                <a:latin typeface="Times New Roman Bold Italic" panose="02020503050405090304" charset="0"/>
                <a:cs typeface="Times New Roman Bold Italic" panose="02020503050405090304" charset="0"/>
              </a:rPr>
              <a:t>n.</a:t>
            </a:r>
            <a:endParaRPr lang="en-US" altLang="zh-CN" sz="3200" b="1" dirty="0">
              <a:solidFill>
                <a:srgbClr val="FF0000"/>
              </a:solidFill>
              <a:cs typeface="Times New Roman" panose="02020503050405090304" pitchFamily="18" charset="0"/>
            </a:endParaRPr>
          </a:p>
          <a:p>
            <a:pPr lvl="0" indent="0" fontAlgn="auto">
              <a:lnSpc>
                <a:spcPct val="120000"/>
              </a:lnSpc>
            </a:pPr>
            <a:r>
              <a:rPr lang="en-US" altLang="zh-CN" sz="3200" b="1" dirty="0">
                <a:cs typeface="Times New Roman" panose="02020503050405090304" pitchFamily="18" charset="0"/>
              </a:rPr>
              <a:t>1) </a:t>
            </a:r>
            <a:r>
              <a:rPr lang="zh-CN" altLang="en-US" sz="3200" b="1" dirty="0">
                <a:cs typeface="Times New Roman" panose="02020503050405090304" pitchFamily="18" charset="0"/>
              </a:rPr>
              <a:t>辨别力</a:t>
            </a:r>
            <a:r>
              <a:rPr lang="en-US" altLang="zh-CN" sz="3200" b="1" dirty="0">
                <a:cs typeface="Times New Roman" panose="02020503050405090304" pitchFamily="18" charset="0"/>
              </a:rPr>
              <a:t> </a:t>
            </a:r>
            <a:r>
              <a:rPr lang="en-US" altLang="zh-CN" sz="3200" b="1" i="1" dirty="0">
                <a:latin typeface="Times New Roman Bold Italic" panose="02020503050405090304" charset="0"/>
                <a:cs typeface="Times New Roman Bold Italic" panose="02020503050405090304" charset="0"/>
              </a:rPr>
              <a:t>ability to judge what is true</a:t>
            </a:r>
          </a:p>
          <a:p>
            <a:pPr lvl="0" indent="0" fontAlgn="auto">
              <a:lnSpc>
                <a:spcPct val="120000"/>
              </a:lnSpc>
            </a:pPr>
            <a:r>
              <a:rPr lang="en-US" altLang="zh-CN" sz="3200" b="1" dirty="0">
                <a:latin typeface="Times New Roman Bold" panose="02020503050405090304" charset="0"/>
                <a:cs typeface="Times New Roman Bold" panose="02020503050405090304" charset="0"/>
              </a:rPr>
              <a:t>He </a:t>
            </a:r>
            <a:r>
              <a:rPr lang="en-US" altLang="zh-CN" sz="3200" b="1" u="sng" dirty="0">
                <a:solidFill>
                  <a:srgbClr val="FF0000"/>
                </a:solidFill>
                <a:latin typeface="Times New Roman Bold" panose="02020503050405090304" charset="0"/>
                <a:cs typeface="Times New Roman Bold" panose="02020503050405090304" charset="0"/>
              </a:rPr>
              <a:t>showed great discrimination in</a:t>
            </a:r>
            <a:r>
              <a:rPr lang="en-US" altLang="zh-CN" sz="3200" b="1" dirty="0">
                <a:latin typeface="Times New Roman Bold" panose="02020503050405090304" charset="0"/>
                <a:cs typeface="Times New Roman Bold" panose="02020503050405090304" charset="0"/>
              </a:rPr>
              <a:t> his choice of friends.</a:t>
            </a:r>
          </a:p>
          <a:p>
            <a:pPr lvl="0" indent="0" fontAlgn="auto">
              <a:lnSpc>
                <a:spcPct val="120000"/>
              </a:lnSpc>
            </a:pPr>
            <a:r>
              <a:rPr lang="en-US" altLang="zh-CN" sz="3200" b="1" dirty="0">
                <a:latin typeface="Times New Roman Bold Italic" panose="02020503050405090304" charset="0"/>
                <a:cs typeface="Times New Roman Bold Italic" panose="02020503050405090304" charset="0"/>
              </a:rPr>
              <a:t>他在择友方面颇具慧眼。</a:t>
            </a:r>
            <a:endParaRPr lang="en-US" altLang="zh-CN" sz="3200" b="1" i="1" dirty="0">
              <a:latin typeface="Times New Roman Bold Italic" panose="02020503050405090304" charset="0"/>
              <a:cs typeface="Times New Roman Bold Italic" panose="02020503050405090304" charset="0"/>
            </a:endParaRPr>
          </a:p>
          <a:p>
            <a:pPr lvl="0" indent="0" fontAlgn="auto">
              <a:lnSpc>
                <a:spcPct val="120000"/>
              </a:lnSpc>
            </a:pPr>
            <a:r>
              <a:rPr lang="en-US" altLang="zh-CN" sz="3200" b="1" dirty="0">
                <a:latin typeface="Times New Roman Bold Italic" panose="02020503050405090304" charset="0"/>
                <a:cs typeface="Times New Roman Bold Italic" panose="02020503050405090304" charset="0"/>
              </a:rPr>
              <a:t>2) </a:t>
            </a:r>
            <a:r>
              <a:rPr lang="zh-CN" altLang="en-US" sz="3200" b="1" dirty="0">
                <a:latin typeface="Times New Roman Bold Italic" panose="02020503050405090304" charset="0"/>
                <a:cs typeface="Times New Roman Bold Italic" panose="02020503050405090304" charset="0"/>
              </a:rPr>
              <a:t>区别</a:t>
            </a:r>
            <a:r>
              <a:rPr lang="en-US" altLang="zh-CN" sz="3200" b="1" i="1" dirty="0">
                <a:solidFill>
                  <a:srgbClr val="FF0000"/>
                </a:solidFill>
                <a:latin typeface="Times New Roman Bold" panose="02020503050405090304" charset="0"/>
                <a:cs typeface="Times New Roman Bold" panose="02020503050405090304" charset="0"/>
              </a:rPr>
              <a:t> </a:t>
            </a:r>
            <a:r>
              <a:rPr lang="en-US" altLang="zh-CN" sz="3200" b="1" i="1" dirty="0">
                <a:solidFill>
                  <a:schemeClr val="tx1"/>
                </a:solidFill>
                <a:latin typeface="Times New Roman Bold" panose="02020503050405090304" charset="0"/>
                <a:cs typeface="Times New Roman Bold" panose="02020503050405090304" charset="0"/>
              </a:rPr>
              <a:t>ability to recognize a difference [</a:t>
            </a:r>
            <a:r>
              <a:rPr lang="en-US" altLang="zh-CN" sz="3200" b="1" i="1" dirty="0">
                <a:solidFill>
                  <a:srgbClr val="0000FF"/>
                </a:solidFill>
                <a:latin typeface="Times New Roman Bold" panose="02020503050405090304" charset="0"/>
                <a:cs typeface="Times New Roman Bold" panose="02020503050405090304" charset="0"/>
              </a:rPr>
              <a:t>discriminate A from B</a:t>
            </a:r>
            <a:r>
              <a:rPr lang="en-US" altLang="zh-CN" sz="3200" b="1" i="1" dirty="0">
                <a:latin typeface="Times New Roman Bold Italic" panose="02020503050405090304" charset="0"/>
                <a:cs typeface="Times New Roman Bold Italic" panose="02020503050405090304" charset="0"/>
              </a:rPr>
              <a:t>]</a:t>
            </a:r>
          </a:p>
          <a:p>
            <a:pPr lvl="0" indent="0" fontAlgn="auto">
              <a:lnSpc>
                <a:spcPct val="120000"/>
              </a:lnSpc>
            </a:pPr>
            <a:r>
              <a:rPr lang="en-US" altLang="zh-CN" sz="3200" b="1" dirty="0">
                <a:solidFill>
                  <a:srgbClr val="FF0000"/>
                </a:solidFill>
                <a:latin typeface="Times New Roman Bold" panose="02020503050405090304" charset="0"/>
                <a:cs typeface="Times New Roman Bold" panose="02020503050405090304" charset="0"/>
              </a:rPr>
              <a:t>learn discrimination between right and wrong </a:t>
            </a:r>
            <a:r>
              <a:rPr lang="en-US" altLang="zh-CN" sz="3200" b="1" i="1" dirty="0">
                <a:latin typeface="Times New Roman Bold Italic" panose="02020503050405090304" charset="0"/>
                <a:cs typeface="Times New Roman Bold Italic" panose="02020503050405090304" charset="0"/>
              </a:rPr>
              <a:t>学会分辨是非</a:t>
            </a:r>
          </a:p>
          <a:p>
            <a:pPr lvl="0" indent="0" fontAlgn="auto">
              <a:lnSpc>
                <a:spcPct val="120000"/>
              </a:lnSpc>
            </a:pPr>
            <a:r>
              <a:rPr lang="en-US" altLang="zh-CN" sz="3200" b="1" dirty="0">
                <a:latin typeface="Times New Roman Bold" panose="02020503050405090304" charset="0"/>
                <a:cs typeface="Times New Roman Bold" panose="02020503050405090304" charset="0"/>
              </a:rPr>
              <a:t>He finds it difficult to </a:t>
            </a:r>
            <a:r>
              <a:rPr lang="en-US" altLang="zh-CN" sz="3200" b="1" u="sng" dirty="0">
                <a:solidFill>
                  <a:srgbClr val="FF0000"/>
                </a:solidFill>
                <a:latin typeface="Times New Roman Bold" panose="02020503050405090304" charset="0"/>
                <a:cs typeface="Times New Roman Bold" panose="02020503050405090304" charset="0"/>
              </a:rPr>
              <a:t>make fine discriminations between</a:t>
            </a:r>
            <a:r>
              <a:rPr lang="en-US" altLang="zh-CN" sz="3200" b="1" dirty="0">
                <a:latin typeface="Times New Roman Bold" panose="02020503050405090304" charset="0"/>
                <a:cs typeface="Times New Roman Bold" panose="02020503050405090304" charset="0"/>
              </a:rPr>
              <a:t> these two colors. </a:t>
            </a:r>
            <a:r>
              <a:rPr lang="zh-CN" altLang="en-US" sz="3200" b="1" dirty="0">
                <a:latin typeface="Times New Roman Bold Italic" panose="02020503050405090304" charset="0"/>
                <a:cs typeface="Times New Roman Bold Italic" panose="02020503050405090304" charset="0"/>
              </a:rPr>
              <a:t>找到</a:t>
            </a:r>
            <a:r>
              <a:rPr lang="en-US" altLang="zh-CN" sz="3200" b="1" dirty="0">
                <a:latin typeface="Times New Roman Bold Italic" panose="02020503050405090304" charset="0"/>
                <a:cs typeface="Times New Roman Bold Italic" panose="02020503050405090304" charset="0"/>
              </a:rPr>
              <a:t>细微区别</a:t>
            </a:r>
          </a:p>
          <a:p>
            <a:pPr lvl="0" indent="0" fontAlgn="auto">
              <a:lnSpc>
                <a:spcPct val="120000"/>
              </a:lnSpc>
            </a:pPr>
            <a:r>
              <a:rPr lang="en-US" altLang="zh-CN" sz="3200" b="1" dirty="0">
                <a:latin typeface="Times New Roman Bold Italic" panose="02020503050405090304" charset="0"/>
                <a:cs typeface="Times New Roman Bold Italic" panose="02020503050405090304" charset="0"/>
              </a:rPr>
              <a:t>3) </a:t>
            </a:r>
            <a:r>
              <a:rPr lang="zh-CN" altLang="en-US" sz="3200" b="1" dirty="0">
                <a:latin typeface="Times New Roman Bold Italic" panose="02020503050405090304" charset="0"/>
                <a:cs typeface="Times New Roman Bold Italic" panose="02020503050405090304" charset="0"/>
              </a:rPr>
              <a:t>歧视</a:t>
            </a:r>
          </a:p>
          <a:p>
            <a:pPr lvl="0" indent="0" fontAlgn="auto">
              <a:lnSpc>
                <a:spcPct val="120000"/>
              </a:lnSpc>
            </a:pPr>
            <a:r>
              <a:rPr lang="zh-CN" altLang="en-US" sz="3200" b="1" dirty="0">
                <a:solidFill>
                  <a:srgbClr val="FF0000"/>
                </a:solidFill>
                <a:latin typeface="Times New Roman Bold" panose="02020503050405090304" charset="0"/>
                <a:cs typeface="Times New Roman Bold" panose="02020503050405090304" charset="0"/>
              </a:rPr>
              <a:t>discrimination against the </a:t>
            </a:r>
            <a:r>
              <a:rPr lang="en-US" altLang="zh-CN" sz="3200" b="1" dirty="0">
                <a:solidFill>
                  <a:srgbClr val="FF0000"/>
                </a:solidFill>
                <a:latin typeface="Times New Roman Bold" panose="02020503050405090304" charset="0"/>
                <a:cs typeface="Times New Roman Bold" panose="02020503050405090304" charset="0"/>
              </a:rPr>
              <a:t>young / </a:t>
            </a:r>
            <a:r>
              <a:rPr lang="zh-CN" altLang="en-US" sz="3200" b="1" dirty="0">
                <a:solidFill>
                  <a:srgbClr val="FF0000"/>
                </a:solidFill>
                <a:latin typeface="Times New Roman Bold" panose="02020503050405090304" charset="0"/>
                <a:cs typeface="Times New Roman Bold" panose="02020503050405090304" charset="0"/>
                <a:sym typeface="+mn-ea"/>
              </a:rPr>
              <a:t>in favour of the </a:t>
            </a:r>
            <a:r>
              <a:rPr lang="en-US" altLang="zh-CN" sz="3200" b="1" dirty="0">
                <a:solidFill>
                  <a:srgbClr val="FF0000"/>
                </a:solidFill>
                <a:latin typeface="Times New Roman Bold" panose="02020503050405090304" charset="0"/>
                <a:cs typeface="Times New Roman Bold" panose="02020503050405090304" charset="0"/>
                <a:sym typeface="+mn-ea"/>
              </a:rPr>
              <a:t>elderly </a:t>
            </a:r>
            <a:r>
              <a:rPr lang="zh-CN" altLang="en-US" sz="3200" b="1" dirty="0">
                <a:solidFill>
                  <a:schemeClr val="tx1"/>
                </a:solidFill>
                <a:latin typeface="Times New Roman Bold" panose="02020503050405090304" charset="0"/>
                <a:cs typeface="Times New Roman Bold" panose="02020503050405090304" charset="0"/>
                <a:sym typeface="+mn-ea"/>
              </a:rPr>
              <a:t>偏袒</a:t>
            </a:r>
          </a:p>
          <a:p>
            <a:pPr lvl="0" indent="0" fontAlgn="auto">
              <a:lnSpc>
                <a:spcPct val="120000"/>
              </a:lnSpc>
            </a:pPr>
            <a:r>
              <a:rPr lang="en-US" altLang="zh-CN" sz="3200" b="1" dirty="0">
                <a:solidFill>
                  <a:schemeClr val="tx1"/>
                </a:solidFill>
                <a:latin typeface="Times New Roman Bold" panose="02020503050405090304" charset="0"/>
                <a:cs typeface="Times New Roman Bold" panose="02020503050405090304" charset="0"/>
              </a:rPr>
              <a:t>Action has been taken _____________ (discriminate) facts from opinions.</a:t>
            </a:r>
          </a:p>
        </p:txBody>
      </p:sp>
      <p:sp>
        <p:nvSpPr>
          <p:cNvPr id="3" name="Text Box 2"/>
          <p:cNvSpPr txBox="1"/>
          <p:nvPr/>
        </p:nvSpPr>
        <p:spPr>
          <a:xfrm>
            <a:off x="4002405" y="5680710"/>
            <a:ext cx="3047365" cy="681990"/>
          </a:xfrm>
          <a:prstGeom prst="rect">
            <a:avLst/>
          </a:prstGeom>
          <a:noFill/>
        </p:spPr>
        <p:txBody>
          <a:bodyPr wrap="square" rtlCol="0" anchor="t">
            <a:spAutoFit/>
          </a:bodyPr>
          <a:lstStyle/>
          <a:p>
            <a:pPr>
              <a:lnSpc>
                <a:spcPct val="120000"/>
              </a:lnSpc>
            </a:pPr>
            <a:r>
              <a:rPr lang="en-US" altLang="zh-CN" sz="3200" b="1" i="1" dirty="0">
                <a:solidFill>
                  <a:srgbClr val="FF0000"/>
                </a:solidFill>
                <a:latin typeface="Times New Roman Bold" panose="02020503050405090304" charset="0"/>
                <a:cs typeface="Times New Roman Bold" panose="02020503050405090304" charset="0"/>
                <a:sym typeface="+mn-ea"/>
              </a:rPr>
              <a:t>to discriminate</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grpId="0" nodeType="clickEffect">
                                  <p:stCondLst>
                                    <p:cond delay="0"/>
                                  </p:stCondLst>
                                  <p:childTnLst>
                                    <p:set>
                                      <p:cBhvr>
                                        <p:cTn id="4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3" grpId="1"/>
    </p:bldLst>
  </p:timing>
</p:sld>
</file>

<file path=ppt/tags/tag1.xml><?xml version="1.0" encoding="utf-8"?>
<p:tagLst xmlns:a="http://schemas.openxmlformats.org/drawingml/2006/main" xmlns:r="http://schemas.openxmlformats.org/officeDocument/2006/relationships" xmlns:p="http://schemas.openxmlformats.org/presentationml/2006/main">
  <p:tag name="COMMONDATA" val="eyJoZGlkIjoiMmZiYWZlYTIzNGZiMjFhNTBkNTdkY2IwNzZiNDZhMjMifQ=="/>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自定义 51">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nSpc>
            <a:spcPct val="120000"/>
          </a:lnSpc>
          <a:defRPr sz="3200" b="1" dirty="0" smtClean="0"/>
        </a:defPPr>
      </a:lstStyle>
    </a:tx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8.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19.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0.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2.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3.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4.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5.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6.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ppt/theme/themeOverride27.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4312</Words>
  <Application>Microsoft Macintosh PowerPoint</Application>
  <PresentationFormat>Widescreen</PresentationFormat>
  <Paragraphs>460</Paragraphs>
  <Slides>49</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49</vt:i4>
      </vt:variant>
    </vt:vector>
  </HeadingPairs>
  <TitlesOfParts>
    <vt:vector size="58" baseType="lpstr">
      <vt:lpstr>宋体</vt:lpstr>
      <vt:lpstr>Times New Roman Bold</vt:lpstr>
      <vt:lpstr>Times New Roman Bold Italic</vt:lpstr>
      <vt:lpstr>Times New Roman Regular</vt:lpstr>
      <vt:lpstr>Arial</vt:lpstr>
      <vt:lpstr>Calibri</vt:lpstr>
      <vt:lpstr>Calibri Light</vt:lpstr>
      <vt:lpstr>Times New Roman</vt:lpstr>
      <vt:lpstr>Office 主题​​</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
  <cp:lastModifiedBy>Qing NI</cp:lastModifiedBy>
  <cp:revision>51</cp:revision>
  <dcterms:created xsi:type="dcterms:W3CDTF">2024-09-24T00:06:01Z</dcterms:created>
  <dcterms:modified xsi:type="dcterms:W3CDTF">2026-07-23T01:02:38Z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D7CA2B55E0514ABE5820E966E1A8CFE5_42</vt:lpwstr>
  </property>
  <property fmtid="{D5CDD505-2E9C-101B-9397-08002B2CF9AE}" pid="3" name="KSOProductBuildVer">
    <vt:lpwstr>1033-6.11.0.8885</vt:lpwstr>
  </property>
</Properties>
</file>