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58" r:id="rId2"/>
    <p:sldId id="488" r:id="rId3"/>
    <p:sldId id="476" r:id="rId4"/>
    <p:sldId id="482" r:id="rId5"/>
    <p:sldId id="489" r:id="rId6"/>
    <p:sldId id="463" r:id="rId7"/>
    <p:sldId id="491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66FF"/>
    <a:srgbClr val="E6F1FE"/>
    <a:srgbClr val="A2C46C"/>
    <a:srgbClr val="5FC73E"/>
    <a:srgbClr val="8A5314"/>
    <a:srgbClr val="FCD0AD"/>
    <a:srgbClr val="F38F6B"/>
    <a:srgbClr val="89ABD9"/>
    <a:srgbClr val="932E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which </a:t>
            </a:r>
            <a:r>
              <a:rPr lang="zh-CN" altLang="en-US"/>
              <a:t>只能主句之后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26085" y="688340"/>
            <a:ext cx="11765915" cy="1140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10000"/>
              </a:lnSpc>
            </a:pPr>
            <a:r>
              <a:rPr lang="en-US" altLang="zh-CN" sz="31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</a:t>
            </a:r>
            <a:r>
              <a:rPr lang="en-US" altLang="zh-CN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past decades have witnessed the rapid development of</a:t>
            </a:r>
            <a:r>
              <a:rPr lang="en-US" altLang="zh-CN" sz="31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online news media. </a:t>
            </a:r>
            <a:r>
              <a:rPr lang="zh-CN" altLang="en-US" sz="31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过去数十年见证了</a:t>
            </a:r>
            <a:r>
              <a:rPr lang="zh-CN" altLang="en-US" sz="31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网络新闻媒体</a:t>
            </a:r>
            <a:r>
              <a:rPr lang="zh-CN" altLang="en-US" sz="31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的快速发展</a:t>
            </a:r>
            <a:r>
              <a:rPr lang="zh-CN" altLang="en-US" sz="31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altLang="zh-CN" sz="31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6085" y="1828800"/>
            <a:ext cx="11729720" cy="499618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6F1FE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witness  </a:t>
            </a:r>
            <a:r>
              <a:rPr lang="en-US" altLang="zh-CN" sz="29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1) </a:t>
            </a:r>
            <a:r>
              <a:rPr lang="en-US" altLang="zh-CN" sz="29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see </a:t>
            </a:r>
            <a:r>
              <a:rPr lang="en-US" altLang="zh-CN" sz="2900" b="1" i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29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happen </a:t>
            </a:r>
            <a:r>
              <a:rPr lang="zh-CN" altLang="en-US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当场看到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目击</a:t>
            </a: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Jack 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witnessed </a:t>
            </a:r>
            <a:r>
              <a:rPr lang="en-US" altLang="zh-CN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incident where several people were injured.</a:t>
            </a:r>
          </a:p>
          <a:p>
            <a:pPr>
              <a:lnSpc>
                <a:spcPct val="110000"/>
              </a:lnSpc>
            </a:pPr>
            <a:r>
              <a:rPr lang="zh-CN" altLang="en-US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杰克目睹了数人受伤的事件。</a:t>
            </a: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arrived home just in time to 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witness his brother being</a:t>
            </a:r>
            <a:r>
              <a:rPr lang="en-US" altLang="zh-CN" sz="29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taken away by the police.</a:t>
            </a:r>
            <a:endParaRPr lang="en-US" altLang="zh-CN" sz="29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2) </a:t>
            </a:r>
            <a:r>
              <a:rPr lang="zh-CN" altLang="en-US" sz="29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见证</a:t>
            </a:r>
            <a:endParaRPr lang="zh-CN" altLang="en-US" sz="29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那些年见证了整个欧洲的许多变化。</a:t>
            </a: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Those years 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witnessed</a:t>
            </a:r>
            <a:r>
              <a:rPr lang="en-US" altLang="zh-CN" sz="29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many changes throughout Europe.</a:t>
            </a: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India 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has witnessed </a:t>
            </a:r>
            <a:r>
              <a:rPr lang="en-US" altLang="zh-CN" sz="29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many political changes in recent years.</a:t>
            </a:r>
            <a:endParaRPr lang="en-US" altLang="zh-CN" sz="29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173" y="113373"/>
            <a:ext cx="4081942" cy="765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4320" y="483235"/>
            <a:ext cx="11729720" cy="5977255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6F1FE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witness  </a:t>
            </a:r>
            <a:r>
              <a:rPr lang="en-US" altLang="zh-CN" sz="29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</a:p>
          <a:p>
            <a:pPr indent="-1884680" fontAlgn="auto">
              <a:lnSpc>
                <a:spcPct val="110000"/>
              </a:lnSpc>
            </a:pPr>
            <a:r>
              <a:rPr lang="en-US" altLang="zh-CN" sz="29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3) </a:t>
            </a:r>
            <a:r>
              <a:rPr lang="en-US" altLang="zh-CN" sz="29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be</a:t>
            </a:r>
            <a:r>
              <a:rPr lang="en-US" altLang="zh-CN" sz="2900" b="1" i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 sign or proof of</a:t>
            </a:r>
            <a:r>
              <a:rPr lang="en-US" altLang="zh-CN" sz="29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2900" b="1" i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29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  </a:t>
            </a:r>
            <a:r>
              <a:rPr lang="zh-CN" altLang="en-US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是</a:t>
            </a:r>
            <a:r>
              <a:rPr lang="en-US" altLang="zh-CN" sz="29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的迹象</a:t>
            </a:r>
          </a:p>
          <a:p>
            <a:pPr indent="-1884680" fontAlgn="auto">
              <a:lnSpc>
                <a:spcPct val="110000"/>
              </a:lnSpc>
            </a:pPr>
            <a:r>
              <a:rPr lang="zh-CN" altLang="en-US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There has been increasing interest in her life and work, </a:t>
            </a:r>
            <a:r>
              <a:rPr lang="zh-CN" altLang="en-US" sz="29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 witnessed by</a:t>
            </a:r>
            <a:r>
              <a:rPr lang="zh-CN" altLang="en-US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publication of two new biographies.</a:t>
            </a:r>
          </a:p>
          <a:p>
            <a:pPr indent="-1884680" fontAlgn="auto">
              <a:lnSpc>
                <a:spcPct val="110000"/>
              </a:lnSpc>
            </a:pPr>
            <a:r>
              <a:rPr lang="zh-CN" altLang="en-US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从……可以看出</a:t>
            </a:r>
          </a:p>
          <a:p>
            <a:pPr indent="-1884680" fontAlgn="auto">
              <a:lnSpc>
                <a:spcPct val="110000"/>
              </a:lnSpc>
            </a:pPr>
            <a:r>
              <a:rPr lang="en-US" altLang="zh-CN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great many people showed up at the exhibition, </a:t>
            </a:r>
            <a:r>
              <a:rPr lang="en-US" altLang="zh-CN" sz="29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witnessing to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increasing interest in modern art.</a:t>
            </a:r>
          </a:p>
          <a:p>
            <a:pPr indent="-1884680" fontAlgn="auto">
              <a:lnSpc>
                <a:spcPct val="110000"/>
              </a:lnSpc>
            </a:pPr>
            <a:r>
              <a:rPr lang="zh-CN" altLang="en-US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可见，为……作证</a:t>
            </a:r>
            <a:r>
              <a:rPr lang="en-US" altLang="zh-CN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</a:t>
            </a:r>
            <a:r>
              <a:rPr lang="en-US" altLang="zh-CN" sz="29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prove</a:t>
            </a:r>
            <a:r>
              <a:rPr lang="en-US" altLang="zh-CN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indent="-1884680" fontAlgn="auto">
              <a:lnSpc>
                <a:spcPct val="110000"/>
              </a:lnSpc>
            </a:pPr>
            <a:endParaRPr lang="en-US" altLang="zh-CN" sz="29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9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4) </a:t>
            </a:r>
            <a:r>
              <a:rPr lang="en-US" altLang="zh-CN" sz="29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be present when an official document is signed  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为正式文件的签署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lang="zh-CN" altLang="en-US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作证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联署</a:t>
            </a:r>
          </a:p>
          <a:p>
            <a:pPr fontAlgn="auto">
              <a:lnSpc>
                <a:spcPct val="110000"/>
              </a:lnSpc>
            </a:pP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Will you witness my signature? </a:t>
            </a:r>
            <a:r>
              <a:rPr lang="zh-CN" altLang="en-US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连署作证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74320" y="483235"/>
            <a:ext cx="11729720" cy="450596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6F1FE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witness  </a:t>
            </a:r>
            <a:r>
              <a:rPr lang="en-US" altLang="zh-CN" sz="29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目击者，证人</a:t>
            </a: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(a) witness to …                    </a:t>
            </a:r>
            <a:r>
              <a:rPr lang="en-US" altLang="zh-CN" sz="2900" b="1" dirty="0">
                <a:solidFill>
                  <a:srgbClr val="000000"/>
                </a:solidFill>
                <a:latin typeface="宋体" pitchFamily="2" charset="-122"/>
                <a:sym typeface="+mn-ea"/>
              </a:rPr>
              <a:t>……</a:t>
            </a:r>
            <a:r>
              <a:rPr lang="zh-CN" altLang="en-US" sz="2900" b="1" dirty="0">
                <a:solidFill>
                  <a:srgbClr val="000000"/>
                </a:solidFill>
                <a:latin typeface="宋体" pitchFamily="2" charset="-122"/>
                <a:sym typeface="+mn-ea"/>
              </a:rPr>
              <a:t>的见证人</a:t>
            </a:r>
            <a:r>
              <a:rPr lang="en-US" altLang="zh-CN" sz="2900" b="1" dirty="0">
                <a:solidFill>
                  <a:srgbClr val="000000"/>
                </a:solidFill>
                <a:latin typeface="宋体" pitchFamily="2" charset="-122"/>
                <a:sym typeface="+mn-ea"/>
              </a:rPr>
              <a:t>/</a:t>
            </a:r>
            <a:r>
              <a:rPr lang="zh-CN" altLang="en-US" sz="2900" b="1" dirty="0">
                <a:solidFill>
                  <a:srgbClr val="000000"/>
                </a:solidFill>
                <a:latin typeface="宋体" pitchFamily="2" charset="-122"/>
                <a:sym typeface="+mn-ea"/>
              </a:rPr>
              <a:t>目击者</a:t>
            </a:r>
            <a:endParaRPr lang="zh-CN" altLang="en-US" sz="2900" b="1" dirty="0">
              <a:solidFill>
                <a:srgbClr val="000000"/>
              </a:solidFill>
              <a:latin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bear/give witness to </a:t>
            </a:r>
            <a:r>
              <a:rPr lang="en-US" altLang="zh-CN" sz="2900" b="1" dirty="0" err="1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sth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.    </a:t>
            </a:r>
            <a:r>
              <a:rPr lang="zh-CN" altLang="en-US" sz="2900" b="1" dirty="0">
                <a:solidFill>
                  <a:srgbClr val="000000"/>
                </a:solidFill>
                <a:latin typeface="Times New Roman" panose="02020503050405090304" pitchFamily="18" charset="0"/>
                <a:sym typeface="+mn-ea"/>
              </a:rPr>
              <a:t>为</a:t>
            </a:r>
            <a:r>
              <a:rPr lang="en-US" altLang="zh-CN" sz="2900" b="1" dirty="0">
                <a:solidFill>
                  <a:srgbClr val="000000"/>
                </a:solidFill>
                <a:latin typeface="宋体" pitchFamily="2" charset="-122"/>
                <a:sym typeface="+mn-ea"/>
              </a:rPr>
              <a:t>……</a:t>
            </a:r>
            <a:r>
              <a:rPr lang="zh-CN" altLang="en-US" sz="2900" b="1" dirty="0">
                <a:solidFill>
                  <a:srgbClr val="000000"/>
                </a:solidFill>
                <a:latin typeface="宋体" pitchFamily="2" charset="-122"/>
                <a:sym typeface="+mn-ea"/>
              </a:rPr>
              <a:t>作</a:t>
            </a:r>
            <a:r>
              <a:rPr lang="zh-CN" altLang="en-US" sz="2900" b="1" dirty="0">
                <a:solidFill>
                  <a:srgbClr val="000000"/>
                </a:solidFill>
                <a:latin typeface="Times New Roman" panose="02020503050405090304" pitchFamily="18" charset="0"/>
                <a:sym typeface="+mn-ea"/>
              </a:rPr>
              <a:t>证</a:t>
            </a:r>
          </a:p>
          <a:p>
            <a:pPr>
              <a:lnSpc>
                <a:spcPct val="110000"/>
              </a:lnSpc>
            </a:pPr>
            <a:endParaRPr lang="zh-CN" altLang="en-US" sz="2900" b="1" dirty="0">
              <a:solidFill>
                <a:srgbClr val="000000"/>
              </a:solidFill>
              <a:latin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According to </a:t>
            </a: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witnesses</a:t>
            </a:r>
            <a:r>
              <a:rPr lang="en-US" altLang="zh-CN" sz="29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the accident was caused by a man in black.</a:t>
            </a: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Too often children </a:t>
            </a:r>
            <a:r>
              <a:rPr lang="en-US" altLang="zh-CN" sz="29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are witness to</a:t>
            </a:r>
            <a:r>
              <a:rPr lang="en-US" altLang="zh-CN" sz="29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disturbing amount of violence.</a:t>
            </a: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孩子们经常会目睹暴力事件，其数量之多令人不安。</a:t>
            </a:r>
          </a:p>
          <a:p>
            <a:pPr>
              <a:lnSpc>
                <a:spcPct val="110000"/>
              </a:lnSpc>
            </a:pPr>
            <a:r>
              <a:rPr lang="en-US" altLang="zh-CN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 show photos that ________________ modern slavery.</a:t>
            </a:r>
          </a:p>
          <a:p>
            <a:pPr>
              <a:lnSpc>
                <a:spcPct val="110000"/>
              </a:lnSpc>
            </a:pPr>
            <a:r>
              <a:rPr lang="zh-CN" altLang="en-US" sz="29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他们展示了证明现代奴隶制的照片。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056380" y="3775075"/>
            <a:ext cx="2642235" cy="6267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9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bear witness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9245" y="548005"/>
            <a:ext cx="11667490" cy="561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</a:rPr>
              <a:t>近年来，人们对于新发明的兴趣越来越浓厚。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Recent years have witnessed a growing interest in new inventions.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</a:rPr>
              <a:t>今年慈善舞会是最为成功的一次，这可以从售出的门票数量上看出来。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This year’s charity ball was the most successful one ever, as witnessed by the number of tickets sold.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3) 他破旧的衣服证明了他的贫穷。(witness n.)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His ragged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sym typeface="+mn-ea"/>
              </a:rPr>
              <a:t>/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ˈræɡɪd/ clothes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are a witness 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his poverty.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9245" y="548005"/>
            <a:ext cx="11667490" cy="561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edition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</a:rPr>
              <a:t>版本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the online edition / the electronic edition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</a:rPr>
              <a:t>电子版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edit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. (edited, editing)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经校订的演讲稿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an ______ verison of a speech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He sat in on much of the filming and early _______. 他在旁参与了大量拍摄和初期剪辑工作。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rPr>
              <a:t>编辑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869055" y="26555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edited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788275" y="3213735"/>
            <a:ext cx="15113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editing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858645" y="4441190"/>
            <a:ext cx="15113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+mn-ea"/>
              </a:rPr>
              <a:t>editor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3825" y="401320"/>
            <a:ext cx="113188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People can read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same</a:t>
            </a:r>
            <a:r>
              <a:rPr lang="en-US" altLang="zh-CN" sz="30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content online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 </a:t>
            </a:r>
            <a:r>
              <a:rPr lang="en-US" altLang="zh-CN" sz="30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is printed in the newspapers every day.</a:t>
            </a:r>
          </a:p>
        </p:txBody>
      </p:sp>
      <p:sp>
        <p:nvSpPr>
          <p:cNvPr id="3" name="矩形 2"/>
          <p:cNvSpPr/>
          <p:nvPr/>
        </p:nvSpPr>
        <p:spPr>
          <a:xfrm>
            <a:off x="237617" y="1600069"/>
            <a:ext cx="10241280" cy="1272540"/>
          </a:xfrm>
          <a:prstGeom prst="rect">
            <a:avLst/>
          </a:prstGeom>
          <a:solidFill>
            <a:srgbClr val="E6F1FE"/>
          </a:solidFill>
          <a:ln w="28575">
            <a:noFill/>
          </a:ln>
        </p:spPr>
        <p:txBody>
          <a:bodyPr wrap="square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限制性定语从句，先行词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content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通常用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as, so, such, the same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修饰。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81250" name="Rectangle 2"/>
          <p:cNvSpPr>
            <a:spLocks noChangeArrowheads="1"/>
          </p:cNvSpPr>
          <p:nvPr/>
        </p:nvSpPr>
        <p:spPr bwMode="auto">
          <a:xfrm>
            <a:off x="236855" y="2931795"/>
            <a:ext cx="11205845" cy="3044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80962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9893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This was so noisy a film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that I couldn’t bear it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结果状语从句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)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This was so noisy a film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as I couldn’t bear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定语从句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This is the same book as I bought.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This is the same book that I bought.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557010" y="4703445"/>
            <a:ext cx="609600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这本书和我买的那本一模一样。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这是我买的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那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本书。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1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1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ChangeArrowheads="1"/>
          </p:cNvSpPr>
          <p:nvPr/>
        </p:nvSpPr>
        <p:spPr bwMode="auto">
          <a:xfrm>
            <a:off x="237490" y="1260475"/>
            <a:ext cx="11205845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80962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9893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As is reported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, the athlete has been fines a large sum of money.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正如报到所说……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The earth,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as is known to all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, goes around the Sun.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常见搭配：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as is often said/known, as is often the case ...</a:t>
            </a:r>
          </a:p>
        </p:txBody>
      </p:sp>
      <p:sp>
        <p:nvSpPr>
          <p:cNvPr id="5" name="矩形 2"/>
          <p:cNvSpPr/>
          <p:nvPr>
            <p:custDataLst>
              <p:tags r:id="rId1"/>
            </p:custDataLst>
          </p:nvPr>
        </p:nvSpPr>
        <p:spPr>
          <a:xfrm>
            <a:off x="237490" y="578485"/>
            <a:ext cx="11510645" cy="681990"/>
          </a:xfrm>
          <a:prstGeom prst="rect">
            <a:avLst/>
          </a:prstGeom>
          <a:solidFill>
            <a:srgbClr val="E6F1FE"/>
          </a:solidFill>
          <a:ln w="28575">
            <a:noFill/>
          </a:ln>
        </p:spPr>
        <p:txBody>
          <a:bodyPr wrap="square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非限制性定语从句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可插入不同的位置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1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1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3200" b="1" dirty="0">
            <a:solidFill>
              <a:srgbClr val="FF0000"/>
            </a:solidFill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Macintosh PowerPoint</Application>
  <PresentationFormat>Widescreen</PresentationFormat>
  <Paragraphs>62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等线</vt:lpstr>
      <vt:lpstr>等线 Light</vt:lpstr>
      <vt:lpstr>宋体</vt:lpstr>
      <vt:lpstr>Times New Roman Bold</vt:lpstr>
      <vt:lpstr>Times New Roman Bold Italic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/>
  <cp:lastModifiedBy>Qing NI</cp:lastModifiedBy>
  <cp:revision>20</cp:revision>
  <dcterms:created xsi:type="dcterms:W3CDTF">2024-10-08T04:35:39Z</dcterms:created>
  <dcterms:modified xsi:type="dcterms:W3CDTF">2026-07-23T01:03:30Z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CC68A89EE88EA003C32CF266E28AE486_42</vt:lpwstr>
  </property>
  <property fmtid="{D5CDD505-2E9C-101B-9397-08002B2CF9AE}" pid="3" name="KSOProductBuildVer">
    <vt:lpwstr>1033-6.11.0.8885</vt:lpwstr>
  </property>
</Properties>
</file>