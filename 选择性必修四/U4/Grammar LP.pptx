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16" r:id="rId2"/>
    <p:sldId id="318" r:id="rId3"/>
    <p:sldId id="309" r:id="rId4"/>
    <p:sldId id="310" r:id="rId5"/>
    <p:sldId id="32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2B853"/>
    <a:srgbClr val="7AE1ED"/>
    <a:srgbClr val="FC9D23"/>
    <a:srgbClr val="FBD53F"/>
    <a:srgbClr val="4891CA"/>
    <a:srgbClr val="08049E"/>
    <a:srgbClr val="FFFFFF"/>
    <a:srgbClr val="0E039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66" autoAdjust="0"/>
    <p:restoredTop sz="66323"/>
  </p:normalViewPr>
  <p:slideViewPr>
    <p:cSldViewPr snapToGrid="0">
      <p:cViewPr varScale="1">
        <p:scale>
          <a:sx n="70" d="100"/>
          <a:sy n="70" d="100"/>
        </p:scale>
        <p:origin x="1864" y="176"/>
      </p:cViewPr>
      <p:guideLst>
        <p:guide orient="horz" pos="2160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32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235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我靠给孩子们读书吸引他们的注意力</a:t>
            </a:r>
            <a:endParaRPr lang="en-GB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酒店入住率最低达到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</a:t>
            </a:r>
            <a:endParaRPr lang="en-GB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1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做某事极有希望</a:t>
            </a:r>
            <a:endParaRPr lang="en-US" dirty="0"/>
          </a:p>
          <a:p>
            <a:r>
              <a:rPr lang="en-US" dirty="0"/>
              <a:t>The prospect of </a:t>
            </a:r>
            <a:r>
              <a:rPr lang="en-US" dirty="0" err="1"/>
              <a:t>sth</a:t>
            </a:r>
            <a:endParaRPr lang="en-US" dirty="0"/>
          </a:p>
          <a:p>
            <a:r>
              <a:rPr lang="en-US" dirty="0" err="1"/>
              <a:t>有望</a:t>
            </a:r>
            <a:r>
              <a:rPr lang="en-US" altLang="zh-CN" dirty="0"/>
              <a:t>……</a:t>
            </a:r>
          </a:p>
          <a:p>
            <a:r>
              <a:rPr lang="en-US" dirty="0" err="1"/>
              <a:t>前景</a:t>
            </a:r>
            <a:endParaRPr lang="en-US" dirty="0"/>
          </a:p>
          <a:p>
            <a:r>
              <a:rPr lang="en-US" dirty="0" err="1"/>
              <a:t>潜在的客户</a:t>
            </a:r>
            <a:endParaRPr lang="en-US" dirty="0"/>
          </a:p>
          <a:p>
            <a:r>
              <a:rPr lang="en-US" dirty="0" err="1"/>
              <a:t>勘探</a:t>
            </a:r>
            <a:r>
              <a:rPr lang="zh-CN" altLang="en-US" dirty="0"/>
              <a:t> </a:t>
            </a:r>
            <a:r>
              <a:rPr lang="en-US" altLang="zh-CN" dirty="0"/>
              <a:t>oil</a:t>
            </a:r>
            <a:r>
              <a:rPr lang="zh-CN" altLang="en-US" dirty="0"/>
              <a:t> </a:t>
            </a:r>
            <a:r>
              <a:rPr lang="en-GB" altLang="zh-CN" dirty="0"/>
              <a:t>prospecting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66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有人提议钻探更多的石油。</a:t>
            </a:r>
            <a:endParaRPr lang="en-GB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drilled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five holes at equal distance.[VERB noun]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我钻了 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5 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个等间距的孔。</a:t>
            </a:r>
          </a:p>
          <a:p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激励而不是重复性操练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31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E14E-331C-4818-AF38-E22971B4B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F277E-27BF-24D1-1E2D-EB862991C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50D25-7680-AC9A-80FC-335BD5C0F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获得高水平的英语能力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3B768-4269-4481-B925-14ED2CFCF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926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Everyone deserves respect ___________________________________.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不管是性别还是职业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Her main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occupation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seems to be shopping.</a:t>
            </a:r>
          </a:p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The area is _________________.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被占领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When the first scientists came to the region they found little evidence of human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occupation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.</a:t>
            </a:r>
          </a:p>
          <a:p>
            <a:pPr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第一批科学家来到这个地区时，他们基本没发现任何人类居住过的痕迹。（居住，使用）</a:t>
            </a:r>
          </a:p>
          <a:p>
            <a:pPr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occupational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disease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职业病</a:t>
            </a:r>
          </a:p>
          <a:p>
            <a:pPr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occupy (take up)</a:t>
            </a:r>
          </a:p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She is fully ______ ______ work.</a:t>
            </a:r>
          </a:p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I kept the kids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occupied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 by reading them a book.</a:t>
            </a:r>
          </a:p>
          <a:p>
            <a:pPr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occupant —resident</a:t>
            </a:r>
          </a:p>
          <a:p>
            <a:pPr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Hotel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occupancy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 has been as low as 40%.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246E4-172B-55B6-C3EB-4640CC7DE8EE}"/>
              </a:ext>
            </a:extLst>
          </p:cNvPr>
          <p:cNvSpPr txBox="1"/>
          <p:nvPr/>
        </p:nvSpPr>
        <p:spPr>
          <a:xfrm>
            <a:off x="4794738" y="38073"/>
            <a:ext cx="7631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regardless of the gender and occupation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45DE8-7AE1-457E-BB25-5672E0ABE741}"/>
              </a:ext>
            </a:extLst>
          </p:cNvPr>
          <p:cNvSpPr txBox="1"/>
          <p:nvPr/>
        </p:nvSpPr>
        <p:spPr>
          <a:xfrm>
            <a:off x="2086705" y="1486709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under occupation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B9FD5-3624-004B-3C94-45A278206087}"/>
              </a:ext>
            </a:extLst>
          </p:cNvPr>
          <p:cNvSpPr txBox="1"/>
          <p:nvPr/>
        </p:nvSpPr>
        <p:spPr>
          <a:xfrm>
            <a:off x="2086704" y="4856855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occupied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with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09BED7-D231-DFCF-3774-2C7BA48518D5}"/>
              </a:ext>
            </a:extLst>
          </p:cNvPr>
          <p:cNvSpPr txBox="1"/>
          <p:nvPr/>
        </p:nvSpPr>
        <p:spPr>
          <a:xfrm>
            <a:off x="7696200" y="901934"/>
            <a:ext cx="65766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Arial" panose="020B0604020202020204" pitchFamily="34" charset="0"/>
              </a:rPr>
              <a:t>pastime</a:t>
            </a:r>
          </a:p>
        </p:txBody>
      </p:sp>
    </p:spTree>
    <p:extLst>
      <p:ext uri="{BB962C8B-B14F-4D97-AF65-F5344CB8AC3E}">
        <p14:creationId xmlns:p14="http://schemas.microsoft.com/office/powerpoint/2010/main" val="39490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0933" y="132713"/>
            <a:ext cx="11401777" cy="4177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training course will qualify you ____ a better job.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qualify sb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sth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 qualified ____ a doctor last year. </a:t>
            </a:r>
          </a:p>
          <a:p>
            <a:pPr marL="361950" indent="-36195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他去年获得了医生的资格。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These guides are ________ to lead groups.</a:t>
            </a:r>
          </a:p>
          <a:p>
            <a:pPr marL="361950" indent="-361950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have the right ___________ to do 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sth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361950" indent="-361950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质量高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 _____ high _______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50838-2731-0285-C7D7-BA8A0E726E50}"/>
              </a:ext>
            </a:extLst>
          </p:cNvPr>
          <p:cNvSpPr txBox="1"/>
          <p:nvPr/>
        </p:nvSpPr>
        <p:spPr>
          <a:xfrm>
            <a:off x="6799382" y="132713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6F232-DD0F-E828-D2D7-407D498A6D15}"/>
              </a:ext>
            </a:extLst>
          </p:cNvPr>
          <p:cNvSpPr txBox="1"/>
          <p:nvPr/>
        </p:nvSpPr>
        <p:spPr>
          <a:xfrm>
            <a:off x="2684582" y="1316744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as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A06FD-D3F2-5F99-E873-612080F59902}"/>
              </a:ext>
            </a:extLst>
          </p:cNvPr>
          <p:cNvSpPr txBox="1"/>
          <p:nvPr/>
        </p:nvSpPr>
        <p:spPr>
          <a:xfrm>
            <a:off x="3273287" y="2470267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qualified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567FC-00F2-E1A7-E929-8FBBE337F34D}"/>
              </a:ext>
            </a:extLst>
          </p:cNvPr>
          <p:cNvSpPr txBox="1"/>
          <p:nvPr/>
        </p:nvSpPr>
        <p:spPr>
          <a:xfrm>
            <a:off x="2672861" y="3061103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qualifications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402CEB-575D-0AEA-5489-6169902BDA16}"/>
              </a:ext>
            </a:extLst>
          </p:cNvPr>
          <p:cNvSpPr txBox="1"/>
          <p:nvPr/>
        </p:nvSpPr>
        <p:spPr>
          <a:xfrm>
            <a:off x="2267328" y="3603496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of              quality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887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397F6B-79EC-8EB1-6EF4-5B857A03E902}"/>
              </a:ext>
            </a:extLst>
          </p:cNvPr>
          <p:cNvSpPr txBox="1"/>
          <p:nvPr/>
        </p:nvSpPr>
        <p:spPr>
          <a:xfrm>
            <a:off x="164122" y="0"/>
            <a:ext cx="1202787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There is little prospect of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any improvement in the weather.</a:t>
            </a:r>
          </a:p>
          <a:p>
            <a:pPr>
              <a:buNone/>
            </a:pPr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1) possibility</a:t>
            </a:r>
          </a:p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T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here is every prospect of </a:t>
            </a:r>
            <a:r>
              <a:rPr lang="en-GB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sth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/doing </a:t>
            </a:r>
            <a:r>
              <a:rPr lang="en-GB" sz="32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sth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Major developments are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in prospect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 the company. </a:t>
            </a:r>
            <a:r>
              <a:rPr lang="en-GB" sz="32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(coming soon</a:t>
            </a:r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buNone/>
            </a:pPr>
            <a:r>
              <a:rPr lang="en-GB" sz="32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2) chances of success</a:t>
            </a:r>
            <a:endParaRPr lang="en-GB" sz="3200" i="1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Job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/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Employment/Career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prospect</a:t>
            </a:r>
            <a:r>
              <a:rPr lang="en-GB" sz="32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for graduates do not look good.</a:t>
            </a:r>
          </a:p>
          <a:p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an industry with good prospect</a:t>
            </a:r>
            <a:r>
              <a:rPr lang="en-GB" sz="3200" b="1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s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</a:rPr>
              <a:t>= a __________ industry</a:t>
            </a:r>
            <a:endParaRPr lang="en-GB" sz="3200" b="1" dirty="0">
              <a:effectLst/>
              <a:latin typeface="Times New Roman" panose="02020603050405020304" pitchFamily="18" charset="0"/>
            </a:endParaRPr>
          </a:p>
          <a:p>
            <a:r>
              <a:rPr lang="en-GB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3) vision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or an idea</a:t>
            </a:r>
          </a:p>
          <a:p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She wasn’t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overjoyed at the prospect of </a:t>
            </a: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looking after her niece.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GB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___________ candidate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可能成功的候选人</a:t>
            </a:r>
            <a:endParaRPr lang="en-GB" altLang="zh-CN" sz="3200" b="1" dirty="0">
              <a:solidFill>
                <a:srgbClr val="000000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a prospective buyer/client</a:t>
            </a:r>
            <a:endParaRPr lang="en-GB" altLang="zh-CN" sz="32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GB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He had </a:t>
            </a:r>
            <a:r>
              <a:rPr lang="en-GB" altLang="zh-C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prospected</a:t>
            </a:r>
            <a:r>
              <a:rPr lang="en-GB" altLang="zh-CN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 for minerals everywhere from the Gobi Desert to the Transvaal.</a:t>
            </a:r>
            <a:endParaRPr lang="zh-CN" altLang="en-US" sz="32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8C5F1-CAFE-87D1-0EEF-D0D4C14EB2FA}"/>
              </a:ext>
            </a:extLst>
          </p:cNvPr>
          <p:cNvSpPr txBox="1"/>
          <p:nvPr/>
        </p:nvSpPr>
        <p:spPr>
          <a:xfrm>
            <a:off x="578988" y="4821350"/>
            <a:ext cx="23872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prospective</a:t>
            </a: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CFBA52-7097-BFEB-C2AE-BD18CDCAA1B3}"/>
              </a:ext>
            </a:extLst>
          </p:cNvPr>
          <p:cNvSpPr txBox="1"/>
          <p:nvPr/>
        </p:nvSpPr>
        <p:spPr>
          <a:xfrm>
            <a:off x="914706" y="3399972"/>
            <a:ext cx="37044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promising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3382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E62F41-76AD-1095-158B-EAC09A78111A}"/>
              </a:ext>
            </a:extLst>
          </p:cNvPr>
          <p:cNvSpPr txBox="1"/>
          <p:nvPr/>
        </p:nvSpPr>
        <p:spPr>
          <a:xfrm>
            <a:off x="164122" y="0"/>
            <a:ext cx="1202787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an electric drill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</a:rPr>
              <a:t>There have been proposals to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drill</a:t>
            </a:r>
            <a:r>
              <a:rPr lang="en-US" altLang="zh-CN" sz="3200" b="1" dirty="0">
                <a:latin typeface="Times New Roman" panose="02020603050405020304" pitchFamily="18" charset="0"/>
              </a:rPr>
              <a:t> for more oil.</a:t>
            </a:r>
          </a:p>
          <a:p>
            <a:pPr>
              <a:buNone/>
            </a:pP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do/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practise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/go through a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fire drill</a:t>
            </a:r>
          </a:p>
          <a:p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The children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were drilled to leave </a:t>
            </a:r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the classroom quickly </a:t>
            </a:r>
            <a:r>
              <a:rPr lang="zh-CN" altLang="en-GB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火警铃</a:t>
            </a:r>
            <a:r>
              <a:rPr lang="zh-CN" altLang="en-GB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拉响时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_________________________.</a:t>
            </a:r>
          </a:p>
          <a:p>
            <a:r>
              <a:rPr lang="zh-CN" altLang="en-GB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训练某人</a:t>
            </a:r>
            <a:r>
              <a:rPr lang="zh-CN" altLang="en-US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做某事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drill </a:t>
            </a:r>
            <a:r>
              <a:rPr lang="en-GB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sb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to do </a:t>
            </a:r>
            <a:r>
              <a:rPr lang="en-GB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sth</a:t>
            </a:r>
            <a:endParaRPr lang="en-GB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teach by stimulation rather than 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repetitive drilling</a:t>
            </a:r>
          </a:p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pronunciation/grammar drills</a:t>
            </a:r>
          </a:p>
          <a:p>
            <a:endParaRPr lang="en-GB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What's the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drill</a:t>
            </a:r>
            <a:r>
              <a:rPr lang="en-GB" altLang="zh-CN" sz="3200" b="1" dirty="0"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 for filling in time sheets?</a:t>
            </a:r>
          </a:p>
          <a:p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GB" altLang="zh-CN" sz="3200" b="1" i="1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rocedure</a:t>
            </a:r>
            <a:r>
              <a:rPr lang="en-GB" altLang="zh-CN" sz="32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正确</a:t>
            </a:r>
            <a:r>
              <a:rPr lang="zh-CN" altLang="en-GB" sz="3200" b="1" i="1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的步骤</a:t>
            </a:r>
            <a:endParaRPr lang="zh-CN" altLang="en-US" sz="3200" b="1" i="1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37545-DC0D-1F85-59D3-38AE8162A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478" y="0"/>
            <a:ext cx="2057400" cy="1644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A305AB-7657-3B09-3787-FC02F238D338}"/>
              </a:ext>
            </a:extLst>
          </p:cNvPr>
          <p:cNvSpPr txBox="1"/>
          <p:nvPr/>
        </p:nvSpPr>
        <p:spPr>
          <a:xfrm>
            <a:off x="1008183" y="2380839"/>
            <a:ext cx="53457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when the fire bell/alarm rang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62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B99BC-B8FD-E925-B5E8-52828308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17B18A-F3AE-5AF0-D200-47DFD0EDD17E}"/>
              </a:ext>
            </a:extLst>
          </p:cNvPr>
          <p:cNvSpPr txBox="1"/>
          <p:nvPr/>
        </p:nvSpPr>
        <p:spPr>
          <a:xfrm>
            <a:off x="164122" y="0"/>
            <a:ext cx="12027877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I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gained a high level of competence</a:t>
            </a:r>
            <a:r>
              <a:rPr lang="en-US" altLang="zh-CN" sz="3200" b="1" dirty="0">
                <a:latin typeface="Times New Roman" panose="02020603050405020304" pitchFamily="18" charset="0"/>
              </a:rPr>
              <a:t> _____ English.</a:t>
            </a: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We've always regarded him as a man of integrity and high professional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competence</a:t>
            </a:r>
            <a:r>
              <a:rPr lang="en-US" altLang="zh-CN" sz="3200" b="1" dirty="0">
                <a:latin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zh-CN" altLang="en-US" sz="3200" b="1" dirty="0">
                <a:latin typeface="Songti SC" panose="02010600040101010101" pitchFamily="2" charset="-122"/>
                <a:ea typeface="Songti SC" panose="02010600040101010101" pitchFamily="2" charset="-122"/>
              </a:rPr>
              <a:t>我们一直都认为他是个正直而且业务能力很强的人。</a:t>
            </a:r>
            <a:endParaRPr lang="en-GB" altLang="zh-CN" sz="3200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language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linguistic competence</a:t>
            </a:r>
          </a:p>
          <a:p>
            <a:pPr>
              <a:buNone/>
            </a:pP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have the competence to do </a:t>
            </a:r>
            <a:r>
              <a:rPr lang="en-GB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sth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Songti SC" panose="02010600040101010101" pitchFamily="2" charset="-122"/>
                <a:ea typeface="Songti SC" panose="02010600040101010101" pitchFamily="2" charset="-122"/>
              </a:rPr>
              <a:t>有做某事的能力</a:t>
            </a:r>
            <a:endParaRPr lang="en-GB" altLang="zh-CN" sz="3200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He was dismissed for ______________. </a:t>
            </a:r>
            <a:r>
              <a:rPr lang="zh-CN" altLang="en-US" sz="3200" b="1" dirty="0">
                <a:latin typeface="Songti SC" panose="02010600040101010101" pitchFamily="2" charset="-122"/>
                <a:ea typeface="Songti SC" panose="02010600040101010101" pitchFamily="2" charset="-122"/>
              </a:rPr>
              <a:t>没能力</a:t>
            </a:r>
            <a:endParaRPr lang="en-US" altLang="zh-CN" sz="3200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It is not ___________________ to make such judgements.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Songti SC" panose="02010600040101010101" pitchFamily="2" charset="-122"/>
                <a:ea typeface="Songti SC" panose="02010600040101010101" pitchFamily="2" charset="-122"/>
              </a:rPr>
              <a:t>权限</a:t>
            </a:r>
            <a:endParaRPr lang="en-GB" altLang="zh-CN" sz="3200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endParaRPr lang="en-US" altLang="zh-CN" sz="3200" b="1" dirty="0"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He is very ________ ______ his work. </a:t>
            </a:r>
          </a:p>
          <a:p>
            <a:pPr>
              <a:buNone/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= be equal to</a:t>
            </a: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18" charset="0"/>
              </a:rPr>
              <a:t>He is __________________________ the work.</a:t>
            </a:r>
          </a:p>
          <a:p>
            <a:pPr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incompetent</a:t>
            </a:r>
            <a:endParaRPr lang="zh-CN" altLang="en-US" sz="32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Songti SC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D6CE5E-2CFE-31C9-3729-F8FA2BCEFBD6}"/>
              </a:ext>
            </a:extLst>
          </p:cNvPr>
          <p:cNvSpPr txBox="1"/>
          <p:nvPr/>
        </p:nvSpPr>
        <p:spPr>
          <a:xfrm>
            <a:off x="7526214" y="0"/>
            <a:ext cx="9144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of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5928DA-8ECB-510B-C8B4-18B88B112D5B}"/>
              </a:ext>
            </a:extLst>
          </p:cNvPr>
          <p:cNvSpPr txBox="1"/>
          <p:nvPr/>
        </p:nvSpPr>
        <p:spPr>
          <a:xfrm>
            <a:off x="4091356" y="2844225"/>
            <a:ext cx="26845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incompetence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D8E6BF-C163-D126-A07B-6E3C292B6AE6}"/>
              </a:ext>
            </a:extLst>
          </p:cNvPr>
          <p:cNvSpPr txBox="1"/>
          <p:nvPr/>
        </p:nvSpPr>
        <p:spPr>
          <a:xfrm>
            <a:off x="1547449" y="3404174"/>
            <a:ext cx="5556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within my competence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ADBF0-4DD2-D8E3-D430-552CEC1B3AA0}"/>
              </a:ext>
            </a:extLst>
          </p:cNvPr>
          <p:cNvSpPr txBox="1"/>
          <p:nvPr/>
        </p:nvSpPr>
        <p:spPr>
          <a:xfrm>
            <a:off x="1969477" y="4387878"/>
            <a:ext cx="34609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competent   at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AAD7F-A4A4-8FA4-1692-AE5A12E3AE00}"/>
              </a:ext>
            </a:extLst>
          </p:cNvPr>
          <p:cNvSpPr txBox="1"/>
          <p:nvPr/>
        </p:nvSpPr>
        <p:spPr>
          <a:xfrm>
            <a:off x="1219202" y="5371582"/>
            <a:ext cx="5556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Songti SC" panose="02010600040101010101" pitchFamily="2" charset="-122"/>
                <a:cs typeface="Times New Roman" panose="02020603050405020304" pitchFamily="18" charset="0"/>
              </a:rPr>
              <a:t>competent to carry out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95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8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603050405020304" pitchFamily="18" charset="0"/>
            <a:ea typeface="宋体" panose="02010600030101010101" pitchFamily="2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536</Words>
  <Application>Microsoft Macintosh PowerPoint</Application>
  <PresentationFormat>Widescreen</PresentationFormat>
  <Paragraphs>88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Songti SC</vt:lpstr>
      <vt:lpstr>Arial</vt:lpstr>
      <vt:lpstr>Calibri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360</cp:revision>
  <dcterms:created xsi:type="dcterms:W3CDTF">2019-06-19T02:08:00Z</dcterms:created>
  <dcterms:modified xsi:type="dcterms:W3CDTF">2026-07-23T01:32:22Z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80F7F42461DB40D4BFDB08F00223B9CE</vt:lpwstr>
  </property>
</Properties>
</file>