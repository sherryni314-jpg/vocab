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7" r:id="rId2"/>
    <p:sldId id="263" r:id="rId3"/>
    <p:sldId id="264" r:id="rId4"/>
    <p:sldId id="306" r:id="rId5"/>
    <p:sldId id="265" r:id="rId6"/>
    <p:sldId id="289" r:id="rId7"/>
    <p:sldId id="267" r:id="rId8"/>
    <p:sldId id="274" r:id="rId9"/>
    <p:sldId id="275" r:id="rId10"/>
    <p:sldId id="269" r:id="rId11"/>
    <p:sldId id="27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EDE43"/>
    <a:srgbClr val="FFFFCC"/>
    <a:srgbClr val="FFFFFF"/>
    <a:srgbClr val="CC66FF"/>
    <a:srgbClr val="CC99FF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16" autoAdjust="0"/>
    <p:restoredTop sz="88986" autoAdjust="0"/>
  </p:normalViewPr>
  <p:slideViewPr>
    <p:cSldViewPr snapToGrid="0">
      <p:cViewPr varScale="1">
        <p:scale>
          <a:sx n="96" d="100"/>
          <a:sy n="96" d="100"/>
        </p:scale>
        <p:origin x="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B9862-40A8-442D-803C-A5D324CCBF37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0D4C8-82EA-407C-8746-EC98158718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46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他让我们认识到立刻采取行动的必要。</a:t>
            </a:r>
            <a:endParaRPr lang="en-GB" altLang="zh-CN" sz="1200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GB" sz="1200" b="1" dirty="0"/>
              <a:t>铭记</a:t>
            </a:r>
            <a:r>
              <a:rPr lang="zh-CN" altLang="en-US" sz="1200" b="1" dirty="0"/>
              <a:t> </a:t>
            </a:r>
            <a:r>
              <a:rPr lang="en-US" altLang="zh-CN" sz="1200" b="1" dirty="0"/>
              <a:t>fix an idea in the mind of sb</a:t>
            </a:r>
            <a:endParaRPr lang="zh-CN" alt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如果回答不了问题，就空着它。</a:t>
            </a:r>
          </a:p>
          <a:p>
            <a:endParaRPr lang="en-US" dirty="0"/>
          </a:p>
          <a:p>
            <a:r>
              <a:rPr lang="zh-CN" altLang="en-US" sz="1200" b="1" dirty="0"/>
              <a:t>她两眼发直，不知道下面该说什么。</a:t>
            </a:r>
            <a:endParaRPr lang="en-GB" altLang="zh-CN" sz="1200" b="1" dirty="0"/>
          </a:p>
          <a:p>
            <a:r>
              <a:rPr lang="zh-CN" altLang="en-GB" sz="1200" b="1" dirty="0"/>
              <a:t>没什么表情的</a:t>
            </a:r>
            <a:r>
              <a:rPr lang="zh-CN" altLang="en-US" sz="1200" b="1" dirty="0"/>
              <a:t>，很迷惑，不理解，木然的</a:t>
            </a:r>
            <a:r>
              <a:rPr lang="en-GB" altLang="zh-CN" sz="1200" b="1" dirty="0"/>
              <a:t>show no feeling, interest</a:t>
            </a:r>
          </a:p>
          <a:p>
            <a:r>
              <a:rPr lang="en-GB" sz="1200" b="1" dirty="0" err="1"/>
              <a:t>突然忘掉</a:t>
            </a:r>
            <a:endParaRPr lang="en-GB" sz="1200" b="1" dirty="0"/>
          </a:p>
          <a:p>
            <a:r>
              <a:rPr lang="en-GB" sz="1200" b="1" dirty="0" err="1"/>
              <a:t>不理睬ignore</a:t>
            </a:r>
            <a:endParaRPr lang="en-GB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D4C8-82EA-407C-8746-EC98158718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07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领先</a:t>
            </a:r>
            <a:endParaRPr lang="en-US" altLang="zh-CN" sz="12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D4C8-82EA-407C-8746-EC98158718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22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我们已经决定早点动身。</a:t>
            </a:r>
            <a:endParaRPr lang="en-GB" altLang="zh-CN" sz="12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参议院通过决议，同意他的提案。</a:t>
            </a:r>
            <a:r>
              <a:rPr lang="zh-CN" altLang="en-GB" sz="1200" b="1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正式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投票作出决议</a:t>
            </a:r>
            <a:endParaRPr lang="zh-CN" altLang="en-US" sz="1200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她所遇到的困难只是让她更加坚定。</a:t>
            </a:r>
            <a:endParaRPr lang="en-GB" sz="12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新年计划</a:t>
            </a:r>
            <a:r>
              <a:rPr lang="zh-CN" altLang="en-US" sz="1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，新年决心</a:t>
            </a:r>
            <a:endParaRPr lang="en-GB" sz="1200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D0D4C8-82EA-407C-8746-EC98158718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281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</a:t>
            </a:r>
          </a:p>
          <a:p>
            <a:r>
              <a:rPr lang="en-US" dirty="0" err="1"/>
              <a:t>打听</a:t>
            </a:r>
            <a:r>
              <a:rPr lang="zh-CN" altLang="en-US" dirty="0"/>
              <a:t>，调查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/>
              <a:t>他询问是否有留给他的口信。</a:t>
            </a:r>
            <a:endParaRPr lang="en-GB" sz="1200" b="1" dirty="0"/>
          </a:p>
          <a:p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 inquired where he lived.</a:t>
            </a:r>
          </a:p>
          <a:p>
            <a:r>
              <a:rPr lang="en-GB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探寻的神色</a:t>
            </a:r>
            <a:endParaRPr lang="en-GB" sz="1200" b="0" i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D4C8-82EA-407C-8746-EC98158718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97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中国对外国干涉正式提出了抗议</a:t>
            </a:r>
            <a:r>
              <a:rPr lang="zh-CN" altLang="en-US" dirty="0"/>
              <a:t>。</a:t>
            </a:r>
            <a:endParaRPr lang="en-GB" altLang="zh-CN" dirty="0"/>
          </a:p>
          <a:p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 face registered gathering anger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她突然意识到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just hadn’t registered that I would never see him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D4C8-82EA-407C-8746-EC98158718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77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赞同</a:t>
            </a:r>
            <a:endParaRPr lang="en-US" dirty="0"/>
          </a:p>
          <a:p>
            <a:r>
              <a:rPr lang="en-US" dirty="0" err="1"/>
              <a:t>用户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D4C8-82EA-407C-8746-EC98158718A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686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cessation of animal testing of cosmetics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0D4C8-82EA-407C-8746-EC98158718A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079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A95B18-2C95-4065-8C9C-992A4A4BF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9E0479-AA9A-44E9-9CD7-8ECD09403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7D4BF-F62D-43DE-8842-DB425EF0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1E899C-F6A4-4A00-8C0B-629B151D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31CBD-A7BB-4C48-A8EA-A9328FEC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48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DC9BD-EA4E-4362-B96A-B58D0165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EFB4BD-0328-4029-B14C-29F33FEAA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E4BA4-29EE-4CC9-96D1-BA064412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0CBCCB-D023-4FAB-8768-99631033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E39310-FFDC-4DF8-86C5-E9C7978B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83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D97F2-9A1B-46A9-AAA9-8A77ED90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EB1A59-61F1-4CC8-A49C-F0812AF97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DE8B4-3CC5-494E-B78F-6694CAC3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2CB1E-771A-4629-B74F-3D40EB7F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F7A4A6-A083-4703-8426-75F774B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39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01316-53A4-41D5-B269-0148542A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BEE10-A957-4485-AD25-FFA48CC1D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FAC9E9-BE19-41FA-BCEC-DB1F728E7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614684-5793-4F6B-8756-E1B6D40B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AE5124-884C-4B44-910A-E23D4EB3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8B43A6-F156-49F2-B016-66B8D32D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65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9E104-54AA-4520-92E7-3650B178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3AF880-95FF-4FE3-A5A3-503BE12FB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97724-9C75-46C6-BDF3-F806188DA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CDCEE-6619-4EAC-8DEC-DF4C81831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7286A7-0CA1-4D29-913A-59A977CA9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3D72DD-A177-46B3-B7C1-32B07EB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52BC8C-CCEB-40DF-B7B8-5BFF0900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A07C04-318D-46D2-AE19-89CC79CA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49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CBECC-3160-4452-A291-C256A90A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D5A312D-781B-4CB6-A6F8-3A0E3434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B469FD-D3AE-493D-81E6-42A54319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6C5D95-A5E2-48A1-B9AD-7F0DF57A8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49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5E0007-D9D0-4EA2-AF91-C16C890F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FCC7E0-1B5C-4294-A856-207680DE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941A1D-B1C8-404C-B7A3-19A7DF8D5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680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01542-95BA-48DC-85B9-D26A1D1EF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EABF10-F13B-43F8-89C1-75E4711D3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89F900-B54C-4011-A526-7A4203723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F80653-54E1-4A6E-BF7E-4964A27C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10EE37-6304-4BE0-9CE4-0D23D265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C24F4B-5549-4EA5-A504-19EC38C3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96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22105-FDD3-43B2-9FD5-AB630A0E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A71866-DCA9-43D7-800E-51829BF23D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A7E8B4-F57B-41B3-B8A8-2FA114A38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B04FE-1563-4FD1-96F1-E1A7EC187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47B619-7052-42BC-A1B6-7D91834F9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F8844E-3965-43AB-8625-6EB6B9ECF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69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32946-7753-4537-9864-9C5E49B30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7C6EB7-A7F9-4359-A852-E55709B40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6EED9D-4F2D-48C1-8942-9358EF39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A5457-EF99-4363-84B3-07764F00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49AE00-95AA-4970-8E9A-6AB2CF34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6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B7A886-C16C-4534-89AF-05D83B8EF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BD9C32-9A79-4EBE-8B89-6B96BC2AA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BA3E0E-5FB7-4B94-A64B-DDC75A11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C6961D-1CC7-48F2-BFA0-5725E6FB6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C1CA6-96C8-4AC0-99A6-0D30CE9E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523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2026/7/23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2348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66973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9689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3DB972-0F94-43DD-A8D5-9FEA1659C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616674-5D6C-4B7F-A9E6-D463E61B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A34223-33A4-400C-94E4-5D914B9C3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8CC17-613C-4E60-8E5F-B9D4A326465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2E3881-EA07-411F-9D0F-970B81ABE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900610-FF7E-492A-96FC-7935881B8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E0785-3AF2-48A7-9C1D-472145A53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99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8" r:id="rId12"/>
    <p:sldLayoutId id="2147483730" r:id="rId13"/>
    <p:sldLayoutId id="214748373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1858" y="0"/>
            <a:ext cx="11828283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He </a:t>
            </a:r>
            <a:r>
              <a:rPr lang="en-GB" sz="3200" b="1" dirty="0">
                <a:solidFill>
                  <a:srgbClr val="FF0000"/>
                </a:solidFill>
              </a:rPr>
              <a:t>impressed on us the need for immediate action</a:t>
            </a:r>
            <a:r>
              <a:rPr lang="en-GB" sz="3200" b="1" dirty="0"/>
              <a:t>. </a:t>
            </a:r>
            <a:endParaRPr lang="en-GB" sz="3200" dirty="0"/>
          </a:p>
          <a:p>
            <a:pPr lvl="0">
              <a:defRPr/>
            </a:pPr>
            <a:r>
              <a:rPr lang="en-US" altLang="zh-CN" sz="3200" b="1" i="1" dirty="0">
                <a:solidFill>
                  <a:srgbClr val="0000FF"/>
                </a:solidFill>
              </a:rPr>
              <a:t>fix an idea in the mind of sb</a:t>
            </a:r>
            <a:endParaRPr lang="zh-CN" altLang="en-US" sz="3200" i="1" dirty="0">
              <a:solidFill>
                <a:srgbClr val="0000FF"/>
              </a:solidFill>
            </a:endParaRPr>
          </a:p>
          <a:p>
            <a:r>
              <a:rPr lang="zh-CN" altLang="en-US" sz="3200" b="1" dirty="0"/>
              <a:t>父亲向我强调努力工作的重要意义。</a:t>
            </a:r>
            <a:endParaRPr lang="en-GB" sz="3200" b="1" dirty="0"/>
          </a:p>
          <a:p>
            <a:r>
              <a:rPr lang="en-GB" sz="3200" b="1" dirty="0"/>
              <a:t>My father </a:t>
            </a:r>
            <a:r>
              <a:rPr lang="en-GB" sz="3200" b="1" dirty="0">
                <a:solidFill>
                  <a:srgbClr val="FF0000"/>
                </a:solidFill>
              </a:rPr>
              <a:t>impressed on me the value of hard work</a:t>
            </a:r>
            <a:r>
              <a:rPr lang="en-GB" sz="3200" b="1" dirty="0"/>
              <a:t>.</a:t>
            </a:r>
            <a:endParaRPr lang="en-GB" sz="3200" dirty="0"/>
          </a:p>
          <a:p>
            <a:r>
              <a:rPr lang="en-GB" altLang="zh-CN" sz="3200" b="1" dirty="0">
                <a:solidFill>
                  <a:srgbClr val="FF0000"/>
                </a:solidFill>
              </a:rPr>
              <a:t>Her words impressed themselves on my memory.</a:t>
            </a:r>
          </a:p>
          <a:p>
            <a:r>
              <a:rPr lang="en-GB" sz="3200" b="1" dirty="0" err="1"/>
              <a:t>她的话我铭记在心</a:t>
            </a:r>
            <a:r>
              <a:rPr lang="zh-CN" altLang="en-US" sz="3200" b="1" dirty="0"/>
              <a:t>。</a:t>
            </a:r>
            <a:endParaRPr lang="en-GB" sz="3200" b="1" dirty="0"/>
          </a:p>
          <a:p>
            <a:endParaRPr lang="en-GB" sz="3200" b="1" dirty="0"/>
          </a:p>
          <a:p>
            <a:r>
              <a:rPr lang="en-GB" sz="3200" b="1" dirty="0"/>
              <a:t>fill in the </a:t>
            </a:r>
            <a:r>
              <a:rPr lang="en-GB" sz="3200" b="1" dirty="0">
                <a:solidFill>
                  <a:srgbClr val="FF0000"/>
                </a:solidFill>
              </a:rPr>
              <a:t>blanks</a:t>
            </a:r>
            <a:r>
              <a:rPr lang="en-GB" sz="3200" b="1" dirty="0"/>
              <a:t> </a:t>
            </a:r>
            <a:r>
              <a:rPr lang="zh-CN" altLang="en-US" sz="3200" b="1" dirty="0"/>
              <a:t>填表格</a:t>
            </a:r>
            <a:endParaRPr lang="en-GB" altLang="zh-CN" sz="3200" b="1" dirty="0"/>
          </a:p>
          <a:p>
            <a:r>
              <a:rPr lang="en-GB" altLang="zh-CN" sz="3200" b="1" dirty="0"/>
              <a:t>If you can't answer the question, leave a </a:t>
            </a:r>
            <a:r>
              <a:rPr lang="en-GB" altLang="zh-CN" sz="3200" b="1" dirty="0">
                <a:solidFill>
                  <a:srgbClr val="FF0000"/>
                </a:solidFill>
              </a:rPr>
              <a:t>blank</a:t>
            </a:r>
            <a:r>
              <a:rPr lang="en-GB" altLang="zh-CN" sz="3200" b="1" dirty="0"/>
              <a:t>.</a:t>
            </a:r>
          </a:p>
          <a:p>
            <a:r>
              <a:rPr lang="en-GB" sz="3200" b="1" dirty="0" err="1"/>
              <a:t>我的脑子突然一片空白</a:t>
            </a:r>
            <a:r>
              <a:rPr lang="zh-CN" altLang="en-US" sz="3200" b="1" dirty="0"/>
              <a:t>。</a:t>
            </a:r>
            <a:r>
              <a:rPr lang="en-GB" altLang="zh-CN" sz="3200" b="1" dirty="0"/>
              <a:t>My mind suddenly ______ ______.</a:t>
            </a:r>
            <a:endParaRPr lang="en-GB" sz="3200" b="1" dirty="0"/>
          </a:p>
          <a:p>
            <a:r>
              <a:rPr lang="en-GB" sz="3200" b="1" dirty="0"/>
              <a:t>She looked at me </a:t>
            </a:r>
            <a:r>
              <a:rPr lang="en-GB" sz="3200" b="1" dirty="0">
                <a:solidFill>
                  <a:srgbClr val="FF0000"/>
                </a:solidFill>
              </a:rPr>
              <a:t>with a blank expression</a:t>
            </a:r>
            <a:r>
              <a:rPr lang="en-GB" sz="3200" b="1" dirty="0"/>
              <a:t>.</a:t>
            </a:r>
            <a:r>
              <a:rPr lang="zh-CN" altLang="en-US" sz="3200" b="1" dirty="0"/>
              <a:t> </a:t>
            </a:r>
            <a:r>
              <a:rPr lang="en-GB" altLang="zh-CN" sz="3200" b="1" dirty="0"/>
              <a:t>(She </a:t>
            </a:r>
            <a:r>
              <a:rPr lang="en-GB" altLang="zh-CN" sz="3200" b="1" dirty="0">
                <a:solidFill>
                  <a:srgbClr val="FF0000"/>
                </a:solidFill>
              </a:rPr>
              <a:t>looked blank</a:t>
            </a:r>
            <a:r>
              <a:rPr lang="en-GB" altLang="zh-CN" sz="3200" b="1" dirty="0"/>
              <a:t>)</a:t>
            </a:r>
            <a:endParaRPr lang="en-GB" sz="3200" b="1" dirty="0"/>
          </a:p>
          <a:p>
            <a:r>
              <a:rPr lang="en-GB" sz="3200" b="1" dirty="0"/>
              <a:t>I just </a:t>
            </a:r>
            <a:r>
              <a:rPr lang="en-GB" sz="3200" b="1" dirty="0">
                <a:solidFill>
                  <a:srgbClr val="FF0000"/>
                </a:solidFill>
              </a:rPr>
              <a:t>blanked</a:t>
            </a:r>
            <a:r>
              <a:rPr lang="en-GB" sz="3200" b="1" dirty="0"/>
              <a:t> in the oral exam.</a:t>
            </a:r>
          </a:p>
          <a:p>
            <a:r>
              <a:rPr lang="en-US" altLang="zh-CN" sz="3200" b="1" dirty="0"/>
              <a:t>I saw her this morning, but she totally </a:t>
            </a:r>
            <a:r>
              <a:rPr lang="en-US" altLang="zh-CN" sz="3200" b="1" dirty="0">
                <a:solidFill>
                  <a:srgbClr val="FF0000"/>
                </a:solidFill>
              </a:rPr>
              <a:t>blanked</a:t>
            </a:r>
            <a:r>
              <a:rPr lang="en-US" altLang="zh-CN" sz="3200" b="1" dirty="0"/>
              <a:t> me.</a:t>
            </a:r>
            <a:endParaRPr lang="en-GB" sz="3200" dirty="0"/>
          </a:p>
          <a:p>
            <a:r>
              <a:rPr lang="en-GB" sz="3200" b="1" dirty="0"/>
              <a:t>She stared </a:t>
            </a:r>
            <a:r>
              <a:rPr lang="en-GB" sz="3200" b="1" dirty="0">
                <a:solidFill>
                  <a:srgbClr val="FF0000"/>
                </a:solidFill>
              </a:rPr>
              <a:t>blankly</a:t>
            </a:r>
            <a:r>
              <a:rPr lang="en-GB" sz="3200" b="1" dirty="0"/>
              <a:t> into space, not knowing what to say next.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3EFFD-AD69-4269-A86B-707FC8BDFB66}"/>
              </a:ext>
            </a:extLst>
          </p:cNvPr>
          <p:cNvSpPr txBox="1"/>
          <p:nvPr/>
        </p:nvSpPr>
        <p:spPr>
          <a:xfrm>
            <a:off x="8261583" y="4388735"/>
            <a:ext cx="2766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went   blank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93601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地球的气候在未来必然会有很大的变化。</a:t>
            </a:r>
            <a:endParaRPr lang="zh-CN" altLang="en-US" sz="3200" dirty="0"/>
          </a:p>
          <a:p>
            <a:r>
              <a:rPr lang="en-GB" sz="3200" b="1" dirty="0"/>
              <a:t>The earth's climate </a:t>
            </a:r>
            <a:r>
              <a:rPr lang="en-GB" sz="3200" b="1" dirty="0">
                <a:solidFill>
                  <a:srgbClr val="FF0000"/>
                </a:solidFill>
              </a:rPr>
              <a:t>is bound to </a:t>
            </a:r>
            <a:r>
              <a:rPr lang="en-GB" sz="3200" b="1" dirty="0"/>
              <a:t>change greatly in the future.</a:t>
            </a:r>
            <a:endParaRPr lang="en-GB" sz="3200" dirty="0"/>
          </a:p>
          <a:p>
            <a:r>
              <a:rPr lang="zh-CN" altLang="en-US" sz="3200" b="1" dirty="0"/>
              <a:t>明天肯定又是阳光灿烂。</a:t>
            </a:r>
            <a:endParaRPr lang="zh-CN" altLang="en-US" sz="3200" dirty="0"/>
          </a:p>
          <a:p>
            <a:r>
              <a:rPr lang="en-GB" sz="3200" b="1" dirty="0">
                <a:solidFill>
                  <a:srgbClr val="FF0000"/>
                </a:solidFill>
              </a:rPr>
              <a:t>It's bound to </a:t>
            </a:r>
            <a:r>
              <a:rPr lang="en-GB" sz="3200" b="1" dirty="0"/>
              <a:t>be sunny again tomorrow.</a:t>
            </a:r>
          </a:p>
          <a:p>
            <a:endParaRPr lang="en-GB" sz="3200" dirty="0"/>
          </a:p>
          <a:p>
            <a:r>
              <a:rPr lang="en-GB" sz="3200" b="1" dirty="0"/>
              <a:t>You </a:t>
            </a:r>
            <a:r>
              <a:rPr lang="en-GB" sz="3200" b="1" dirty="0">
                <a:solidFill>
                  <a:srgbClr val="FF0000"/>
                </a:solidFill>
              </a:rPr>
              <a:t>are bound by </a:t>
            </a:r>
            <a:r>
              <a:rPr lang="en-GB" sz="3200" b="1" dirty="0"/>
              <a:t>the contract </a:t>
            </a:r>
            <a:r>
              <a:rPr lang="en-GB" sz="3200" b="1" dirty="0">
                <a:solidFill>
                  <a:srgbClr val="FF0000"/>
                </a:solidFill>
              </a:rPr>
              <a:t>to pay </a:t>
            </a:r>
            <a:r>
              <a:rPr lang="en-GB" sz="3200" b="1" dirty="0"/>
              <a:t>before the end of the month. </a:t>
            </a:r>
            <a:endParaRPr lang="en-GB" sz="3200" dirty="0"/>
          </a:p>
          <a:p>
            <a:r>
              <a:rPr lang="zh-CN" altLang="en-US" sz="3200" b="1" dirty="0"/>
              <a:t>受</a:t>
            </a:r>
            <a:r>
              <a:rPr lang="en-US" altLang="zh-CN" sz="3200" b="1" dirty="0"/>
              <a:t>……</a:t>
            </a:r>
            <a:r>
              <a:rPr lang="zh-CN" altLang="en-US" sz="3200" b="1" dirty="0"/>
              <a:t>约束，有义务做某事</a:t>
            </a:r>
            <a:endParaRPr lang="en-GB" altLang="zh-CN" sz="3200" b="1" dirty="0"/>
          </a:p>
          <a:p>
            <a:r>
              <a:rPr lang="zh-CN" altLang="en-US" sz="3200" b="1" dirty="0"/>
              <a:t>按照风俗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传统必须参加典礼</a:t>
            </a:r>
            <a:endParaRPr lang="en-GB" altLang="zh-CN" sz="3200" b="1" dirty="0"/>
          </a:p>
          <a:p>
            <a:r>
              <a:rPr lang="en-GB" sz="3200" b="1" dirty="0"/>
              <a:t>The ship </a:t>
            </a:r>
            <a:r>
              <a:rPr lang="en-GB" sz="3200" b="1" dirty="0">
                <a:solidFill>
                  <a:srgbClr val="FF0000"/>
                </a:solidFill>
              </a:rPr>
              <a:t>is bound for </a:t>
            </a:r>
            <a:r>
              <a:rPr lang="en-GB" sz="3200" b="1" dirty="0"/>
              <a:t>South America.</a:t>
            </a:r>
            <a:r>
              <a:rPr lang="zh-CN" altLang="en-US" sz="3200" b="1" dirty="0"/>
              <a:t> 准备前往</a:t>
            </a:r>
            <a:r>
              <a:rPr lang="en-US" altLang="zh-CN" sz="3200" b="1" dirty="0"/>
              <a:t>……</a:t>
            </a:r>
            <a:endParaRPr lang="en-GB" sz="3200" dirty="0"/>
          </a:p>
          <a:p>
            <a:r>
              <a:rPr lang="en-GB" sz="3200" b="1" dirty="0"/>
              <a:t>homeward</a:t>
            </a:r>
            <a:r>
              <a:rPr lang="en-GB" sz="3200" b="1" dirty="0">
                <a:solidFill>
                  <a:srgbClr val="FF0000"/>
                </a:solidFill>
              </a:rPr>
              <a:t>-bound</a:t>
            </a:r>
            <a:r>
              <a:rPr lang="en-GB" sz="3200" b="1" dirty="0"/>
              <a:t> commuters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/ Paris</a:t>
            </a:r>
            <a:r>
              <a:rPr lang="en-US" altLang="zh-CN" sz="3200" b="1" dirty="0">
                <a:solidFill>
                  <a:srgbClr val="FF0000"/>
                </a:solidFill>
              </a:rPr>
              <a:t>-bound</a:t>
            </a:r>
            <a:r>
              <a:rPr lang="en-US" altLang="zh-CN" sz="3200" b="1" dirty="0"/>
              <a:t> plane</a:t>
            </a:r>
            <a:endParaRPr lang="en-GB" sz="3200" b="1" dirty="0"/>
          </a:p>
          <a:p>
            <a:r>
              <a:rPr lang="en-GB" sz="3200" b="1" dirty="0"/>
              <a:t>The driver </a:t>
            </a:r>
            <a:r>
              <a:rPr lang="en-GB" sz="3200" b="1" dirty="0">
                <a:solidFill>
                  <a:srgbClr val="FF0000"/>
                </a:solidFill>
              </a:rPr>
              <a:t>is bound up with </a:t>
            </a:r>
            <a:r>
              <a:rPr lang="en-GB" sz="3200" b="1" dirty="0"/>
              <a:t>the terrible accident.</a:t>
            </a:r>
            <a:endParaRPr lang="en-GB" sz="3200" dirty="0"/>
          </a:p>
          <a:p>
            <a:r>
              <a:rPr lang="en-GB" sz="3200" b="1" i="1" dirty="0">
                <a:solidFill>
                  <a:srgbClr val="0000FF"/>
                </a:solidFill>
              </a:rPr>
              <a:t>be closely connected with…</a:t>
            </a:r>
            <a:endParaRPr lang="en-GB" sz="3200" i="1" dirty="0">
              <a:solidFill>
                <a:srgbClr val="0000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0D071-81D0-D308-9F68-DF09F2DED920}"/>
              </a:ext>
            </a:extLst>
          </p:cNvPr>
          <p:cNvSpPr txBox="1"/>
          <p:nvPr/>
        </p:nvSpPr>
        <p:spPr>
          <a:xfrm>
            <a:off x="5343524" y="3019735"/>
            <a:ext cx="61803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u="none" strike="noStrike" dirty="0">
                <a:solidFill>
                  <a:srgbClr val="FF0000"/>
                </a:solidFill>
                <a:effectLst/>
                <a:latin typeface="+mj-lt"/>
              </a:rPr>
              <a:t>be bound by custom/tradition to take part in the ceremony</a:t>
            </a:r>
            <a:endParaRPr lang="en-US" sz="32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0139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9406" y="204656"/>
            <a:ext cx="11274266" cy="320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1200" lvl="0" indent="-711200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</a:rPr>
              <a:t>bounded</a:t>
            </a:r>
            <a:r>
              <a:rPr lang="en-US" altLang="zh-CN" sz="3200" b="1" dirty="0">
                <a:solidFill>
                  <a:prstClr val="black"/>
                </a:solidFill>
              </a:rPr>
              <a:t> to her feet and waved her right hand happily.</a:t>
            </a:r>
          </a:p>
          <a:p>
            <a:pPr marL="711200" lvl="0" indent="-711200">
              <a:lnSpc>
                <a:spcPct val="130000"/>
              </a:lnSpc>
            </a:pPr>
            <a:r>
              <a:rPr lang="zh-CN" altLang="en-US" sz="3200" b="1" dirty="0"/>
              <a:t>她跳了起来，高兴地挥动着右手。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1698625" lvl="0" indent="-1698625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</a:rPr>
              <a:t>With one </a:t>
            </a:r>
            <a:r>
              <a:rPr lang="en-US" altLang="zh-CN" sz="3200" b="1" dirty="0">
                <a:solidFill>
                  <a:srgbClr val="FF0000"/>
                </a:solidFill>
              </a:rPr>
              <a:t>bound</a:t>
            </a:r>
            <a:r>
              <a:rPr lang="en-US" altLang="zh-CN" sz="3200" b="1" dirty="0">
                <a:solidFill>
                  <a:prstClr val="black"/>
                </a:solidFill>
              </a:rPr>
              <a:t> the deer disappeared in the thick woods.</a:t>
            </a:r>
          </a:p>
          <a:p>
            <a:pPr marL="711200" lvl="0" indent="-711200">
              <a:lnSpc>
                <a:spcPct val="130000"/>
              </a:lnSpc>
            </a:pPr>
            <a:r>
              <a:rPr lang="zh-CN" altLang="en-US" sz="3200" b="1" dirty="0">
                <a:latin typeface="+mn-ea"/>
              </a:rPr>
              <a:t>鹿一跳就消失在密林里了。</a:t>
            </a:r>
            <a:endParaRPr lang="en-GB" altLang="zh-CN" sz="3200" b="1" dirty="0">
              <a:latin typeface="+mn-ea"/>
            </a:endParaRPr>
          </a:p>
          <a:p>
            <a:pPr marL="711200" lvl="0" indent="-711200">
              <a:lnSpc>
                <a:spcPct val="130000"/>
              </a:lnSpc>
            </a:pPr>
            <a:endParaRPr lang="en-GB" altLang="zh-CN" sz="32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823300-27E9-ED59-E00D-4161DF7A67FD}"/>
              </a:ext>
            </a:extLst>
          </p:cNvPr>
          <p:cNvSpPr/>
          <p:nvPr/>
        </p:nvSpPr>
        <p:spPr>
          <a:xfrm>
            <a:off x="139406" y="2783823"/>
            <a:ext cx="11233248" cy="3869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There ______________________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一定会有变化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when the news system is introduced.</a:t>
            </a: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cs typeface="Times New Roman" panose="02020603050405020304" pitchFamily="18" charset="0"/>
              </a:rPr>
              <a:t>2) The fight has taken off at 8:01 from Nanjing ____________ (</a:t>
            </a:r>
            <a:r>
              <a:rPr lang="zh-CN" altLang="en-US" sz="3200" b="1" dirty="0">
                <a:cs typeface="Times New Roman" panose="02020603050405020304" pitchFamily="18" charset="0"/>
              </a:rPr>
              <a:t>飞往</a:t>
            </a:r>
            <a:r>
              <a:rPr lang="en-US" altLang="zh-CN" sz="3200" b="1" dirty="0">
                <a:cs typeface="Times New Roman" panose="02020603050405020304" pitchFamily="18" charset="0"/>
              </a:rPr>
              <a:t>) Wuhan.</a:t>
            </a: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I ___________________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没有义务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give you everything you want.</a:t>
            </a:r>
            <a:r>
              <a:rPr lang="en-US" altLang="zh-CN" sz="3200" b="1" dirty="0">
                <a:cs typeface="Times New Roman" panose="02020603050405020304" pitchFamily="18" charset="0"/>
              </a:rPr>
              <a:t>     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319AAF6E-E723-0A2B-5B98-740CFE3BDCDF}"/>
              </a:ext>
            </a:extLst>
          </p:cNvPr>
          <p:cNvSpPr/>
          <p:nvPr/>
        </p:nvSpPr>
        <p:spPr>
          <a:xfrm>
            <a:off x="2193527" y="2868652"/>
            <a:ext cx="4417171" cy="668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bound to be changes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E5501CBD-1FB4-E03D-5B87-D3F07ACB54F0}"/>
              </a:ext>
            </a:extLst>
          </p:cNvPr>
          <p:cNvSpPr/>
          <p:nvPr/>
        </p:nvSpPr>
        <p:spPr>
          <a:xfrm>
            <a:off x="8986705" y="4136761"/>
            <a:ext cx="1927131" cy="6686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 for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04EA6A5D-1AD3-95A9-FCA1-60C8A554B621}"/>
              </a:ext>
            </a:extLst>
          </p:cNvPr>
          <p:cNvSpPr/>
          <p:nvPr/>
        </p:nvSpPr>
        <p:spPr>
          <a:xfrm>
            <a:off x="1063377" y="5413616"/>
            <a:ext cx="37721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do not feel bound to 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923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763" y="81643"/>
            <a:ext cx="11890066" cy="653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/>
              <a:t>工资的增长</a:t>
            </a:r>
            <a:r>
              <a:rPr lang="zh-CN" altLang="en-GB" sz="3200" b="1" dirty="0"/>
              <a:t>总是</a:t>
            </a:r>
            <a:r>
              <a:rPr lang="zh-CN" altLang="en-US" sz="3200" b="1" dirty="0"/>
              <a:t>与社会发展保持同步。</a:t>
            </a:r>
            <a:endParaRPr lang="en-GB" altLang="zh-CN" sz="3200" b="1" dirty="0"/>
          </a:p>
          <a:p>
            <a:pPr>
              <a:lnSpc>
                <a:spcPct val="120000"/>
              </a:lnSpc>
            </a:pPr>
            <a:r>
              <a:rPr lang="en-GB" altLang="zh-CN" sz="3200" b="1" dirty="0"/>
              <a:t>Wage increases have always </a:t>
            </a:r>
            <a:r>
              <a:rPr lang="en-GB" altLang="zh-CN" sz="3200" b="1" dirty="0">
                <a:solidFill>
                  <a:srgbClr val="FF0000"/>
                </a:solidFill>
              </a:rPr>
              <a:t>kept pace with </a:t>
            </a:r>
            <a:r>
              <a:rPr lang="en-GB" altLang="zh-CN" sz="3200" b="1" dirty="0"/>
              <a:t>social development.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The captain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set the pace </a:t>
            </a:r>
            <a:r>
              <a:rPr lang="en-US" altLang="zh-CN" sz="3200" b="1" dirty="0"/>
              <a:t>for most of the course in this year’s marathon.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按自己的节奏</a:t>
            </a:r>
            <a:endParaRPr lang="en-GB" altLang="zh-CN" sz="3200" b="1" dirty="0"/>
          </a:p>
          <a:p>
            <a:pPr>
              <a:lnSpc>
                <a:spcPct val="120000"/>
              </a:lnSpc>
            </a:pPr>
            <a:r>
              <a:rPr lang="zh-CN" altLang="en-GB" sz="3200" b="1" dirty="0"/>
              <a:t>加快了</a:t>
            </a:r>
            <a:r>
              <a:rPr lang="zh-CN" altLang="en-US" sz="3200" b="1" dirty="0"/>
              <a:t>脚步</a:t>
            </a:r>
            <a:endParaRPr lang="en-GB" altLang="zh-CN" sz="3200" b="1" dirty="0"/>
          </a:p>
          <a:p>
            <a:pPr>
              <a:lnSpc>
                <a:spcPct val="120000"/>
              </a:lnSpc>
            </a:pPr>
            <a:r>
              <a:rPr lang="zh-CN" altLang="en-GB" sz="3200" b="1" dirty="0"/>
              <a:t>轻松的</a:t>
            </a:r>
            <a:r>
              <a:rPr lang="zh-CN" altLang="en-US" sz="3200" b="1" dirty="0"/>
              <a:t>生活节奏</a:t>
            </a:r>
            <a:endParaRPr lang="en-GB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She</a:t>
            </a:r>
            <a:r>
              <a:rPr lang="zh-CN" altLang="en-US" sz="3200" b="1" dirty="0"/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paced up and down </a:t>
            </a:r>
            <a:r>
              <a:rPr lang="en-US" altLang="zh-CN" sz="3200" b="1" dirty="0"/>
              <a:t>outside the room.</a:t>
            </a:r>
            <a:endParaRPr lang="en-GB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pace the floor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He'll have to learn to </a:t>
            </a:r>
            <a:r>
              <a:rPr lang="en-US" altLang="zh-CN" sz="3200" b="1" dirty="0">
                <a:solidFill>
                  <a:srgbClr val="FF0000"/>
                </a:solidFill>
              </a:rPr>
              <a:t>pace himself </a:t>
            </a:r>
            <a:r>
              <a:rPr lang="en-US" altLang="zh-CN" sz="3200" b="1" dirty="0"/>
              <a:t>in this job.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他必须学会使自己适应这项工作的节奏。</a:t>
            </a:r>
            <a:endParaRPr lang="en-US" altLang="zh-CN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B9BCE-F8B3-8096-8ED6-369FA4FBDA8B}"/>
              </a:ext>
            </a:extLst>
          </p:cNvPr>
          <p:cNvSpPr txBox="1"/>
          <p:nvPr/>
        </p:nvSpPr>
        <p:spPr>
          <a:xfrm>
            <a:off x="2898322" y="2433099"/>
            <a:ext cx="6286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one’s own pace 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597BA-0984-E863-7A07-77E633444AD2}"/>
              </a:ext>
            </a:extLst>
          </p:cNvPr>
          <p:cNvSpPr txBox="1"/>
          <p:nvPr/>
        </p:nvSpPr>
        <p:spPr>
          <a:xfrm>
            <a:off x="2407070" y="3017874"/>
            <a:ext cx="6286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quicken one’s pace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A24DDD-5C4A-82D5-064E-19E997EF513F}"/>
              </a:ext>
            </a:extLst>
          </p:cNvPr>
          <p:cNvSpPr txBox="1"/>
          <p:nvPr/>
        </p:nvSpPr>
        <p:spPr>
          <a:xfrm>
            <a:off x="3375899" y="3602649"/>
            <a:ext cx="6286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relaxed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pace of life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3908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B586C8-F91A-AFEE-EEA2-3F506C3F8C8A}"/>
              </a:ext>
            </a:extLst>
          </p:cNvPr>
          <p:cNvSpPr txBox="1"/>
          <p:nvPr/>
        </p:nvSpPr>
        <p:spPr>
          <a:xfrm>
            <a:off x="-2720" y="0"/>
            <a:ext cx="1219472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resolve a dispute/ a conflict/ a problem</a:t>
            </a:r>
            <a:endParaRPr lang="en-GB" sz="320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GB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</a:t>
            </a:r>
            <a:r>
              <a:rPr lang="en-GB" sz="3200" b="1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ettle</a:t>
            </a:r>
            <a:endParaRPr lang="en-GB" sz="3200" i="1" dirty="0">
              <a:solidFill>
                <a:srgbClr val="0000FF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resolved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not to tell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her the truth.</a:t>
            </a: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She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resolved (that)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she would never see him again.</a:t>
            </a:r>
          </a:p>
          <a:p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2) be determined to do / that …</a:t>
            </a:r>
          </a:p>
          <a:p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make a resolution to do </a:t>
            </a:r>
            <a:r>
              <a:rPr lang="en-GB" sz="3200" b="1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/make a resolve to do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sth</a:t>
            </a:r>
            <a:endParaRPr lang="en-GB" sz="3200" b="1" i="1" dirty="0">
              <a:solidFill>
                <a:srgbClr val="0000FF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We had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resolved on making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 early start.</a:t>
            </a: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3)The Senate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resolved to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accept his proposal.</a:t>
            </a:r>
          </a:p>
          <a:p>
            <a:pPr>
              <a:buNone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It is resolved that … </a:t>
            </a:r>
            <a:r>
              <a:rPr lang="en-GB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经表决</a:t>
            </a:r>
            <a:endParaRPr lang="en-GB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pass a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resolution</a:t>
            </a:r>
            <a:r>
              <a:rPr lang="en-GB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r>
              <a:rPr lang="en-GB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通过一项决议</a:t>
            </a:r>
            <a:endParaRPr lang="en-GB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4) The difficulties in her way merely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strengthened her resolve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altLang="zh-CN" sz="3200" b="1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=resolution</a:t>
            </a:r>
          </a:p>
          <a:p>
            <a:pPr>
              <a:buNone/>
            </a:pPr>
            <a:r>
              <a:rPr lang="en-GB" sz="3200" b="1" dirty="0">
                <a:effectLst/>
                <a:latin typeface="Times New Roman" panose="02020603050405020304" pitchFamily="18" charset="0"/>
              </a:rPr>
              <a:t>Have you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made any New Year's resolutions</a:t>
            </a:r>
            <a:r>
              <a:rPr lang="en-GB" sz="3200" b="1" dirty="0">
                <a:effectLst/>
                <a:latin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51889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8646" y="261257"/>
            <a:ext cx="65532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603050405020304" pitchFamily="18" charset="0"/>
              </a:rPr>
              <a:t>完成句子。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0670" y="853388"/>
            <a:ext cx="10945216" cy="2404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02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director _______________________ (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已经决定了一项计划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to save the film.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AutoNum type="arabicParenR"/>
            </a:pP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 __________________ (</a:t>
            </a:r>
            <a:r>
              <a:rPr lang="zh-CN" altLang="en-US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决心</a:t>
            </a:r>
            <a:r>
              <a:rPr lang="en-US" altLang="zh-CN" sz="32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go on a journey early in the next morning.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493054" y="827612"/>
            <a:ext cx="4608512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has resolved on a plan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686814" y="2055640"/>
            <a:ext cx="4104456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made a resolve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24F2F-B316-1F3F-E0DD-03295B77AA60}"/>
              </a:ext>
            </a:extLst>
          </p:cNvPr>
          <p:cNvSpPr txBox="1"/>
          <p:nvPr/>
        </p:nvSpPr>
        <p:spPr>
          <a:xfrm>
            <a:off x="228646" y="3257892"/>
            <a:ext cx="12194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refresh</a:t>
            </a:r>
          </a:p>
          <a:p>
            <a:pPr marL="514350" indent="-514350">
              <a:buAutoNum type="arabicParenR"/>
            </a:pPr>
            <a:r>
              <a:rPr lang="zh-CN" altLang="en-US" sz="3200" b="1" dirty="0">
                <a:latin typeface="Times New Roman" panose="02020603050405020304" pitchFamily="18" charset="0"/>
              </a:rPr>
              <a:t>长时间的睡眠使她精神焕发</a:t>
            </a:r>
            <a:r>
              <a:rPr lang="zh-CN" altLang="en-GB" sz="3200" b="1" dirty="0">
                <a:latin typeface="Times New Roman" panose="02020603050405020304" pitchFamily="18" charset="0"/>
              </a:rPr>
              <a:t>。</a:t>
            </a:r>
            <a:endParaRPr lang="en-GB" altLang="zh-CN" sz="3200" b="1" dirty="0">
              <a:latin typeface="Times New Roman" panose="02020603050405020304" pitchFamily="18" charset="0"/>
            </a:endParaRPr>
          </a:p>
          <a:p>
            <a:r>
              <a:rPr lang="en-US" altLang="zh-CN" sz="3200" b="1" dirty="0"/>
              <a:t>The long sleep had </a:t>
            </a:r>
            <a:r>
              <a:rPr lang="en-US" altLang="zh-CN" sz="3200" b="1" dirty="0">
                <a:solidFill>
                  <a:srgbClr val="FF0000"/>
                </a:solidFill>
              </a:rPr>
              <a:t>refreshed</a:t>
            </a:r>
            <a:r>
              <a:rPr lang="en-US" altLang="zh-CN" sz="3200" b="1" dirty="0"/>
              <a:t> her.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</a:rPr>
              <a:t>2</a:t>
            </a:r>
            <a:r>
              <a:rPr lang="en-GB" altLang="zh-CN" sz="3200" b="1" dirty="0">
                <a:latin typeface="Times New Roman" panose="02020603050405020304" pitchFamily="18" charset="0"/>
              </a:rPr>
              <a:t>) </a:t>
            </a:r>
            <a:r>
              <a:rPr lang="zh-CN" altLang="en-US" sz="3200" b="1" dirty="0">
                <a:latin typeface="Times New Roman" panose="02020603050405020304" pitchFamily="18" charset="0"/>
              </a:rPr>
              <a:t>他不得不通过查看笔记来</a:t>
            </a:r>
            <a:r>
              <a:rPr lang="zh-CN" altLang="en-GB" sz="3200" b="1" dirty="0">
                <a:latin typeface="Times New Roman" panose="02020603050405020304" pitchFamily="18" charset="0"/>
              </a:rPr>
              <a:t>提醒自己</a:t>
            </a:r>
            <a:r>
              <a:rPr lang="zh-CN" altLang="en-US" sz="3200" b="1" dirty="0">
                <a:latin typeface="Times New Roman" panose="02020603050405020304" pitchFamily="18" charset="0"/>
              </a:rPr>
              <a:t>。</a:t>
            </a:r>
            <a:endParaRPr lang="en-GB" altLang="zh-CN" sz="3200" b="1" dirty="0">
              <a:latin typeface="Times New Roman" panose="02020603050405020304" pitchFamily="18" charset="0"/>
            </a:endParaRPr>
          </a:p>
          <a:p>
            <a:r>
              <a:rPr lang="en-US" altLang="zh-CN" sz="3200" b="1" dirty="0"/>
              <a:t>He had to </a:t>
            </a:r>
            <a:r>
              <a:rPr lang="en-US" altLang="zh-CN" sz="3200" b="1" dirty="0">
                <a:solidFill>
                  <a:srgbClr val="FF0000"/>
                </a:solidFill>
              </a:rPr>
              <a:t>refresh</a:t>
            </a:r>
            <a:r>
              <a:rPr lang="en-US" altLang="zh-CN" sz="3200" b="1" dirty="0"/>
              <a:t> his memory by looking at his notes.</a:t>
            </a:r>
          </a:p>
          <a:p>
            <a:r>
              <a:rPr lang="en-US" altLang="zh-CN" sz="3200" b="1" dirty="0">
                <a:effectLst/>
                <a:latin typeface="Times New Roman" panose="02020603050405020304" pitchFamily="18" charset="0"/>
              </a:rPr>
              <a:t>3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He __________ __________ ________ (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用</a:t>
            </a:r>
            <a:r>
              <a:rPr lang="en-US" altLang="zh-CN" sz="3200" b="1" dirty="0">
                <a:latin typeface="+mn-ea"/>
                <a:cs typeface="Times New Roman" pitchFamily="18" charset="0"/>
              </a:rPr>
              <a:t>……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使自己恢复精神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) a cold shower, then went back to work.</a:t>
            </a:r>
          </a:p>
        </p:txBody>
      </p:sp>
      <p:sp>
        <p:nvSpPr>
          <p:cNvPr id="9" name="矩形 6">
            <a:extLst>
              <a:ext uri="{FF2B5EF4-FFF2-40B4-BE49-F238E27FC236}">
                <a16:creationId xmlns:a16="http://schemas.microsoft.com/office/drawing/2014/main" id="{44E3D91E-3A0D-4F95-4E75-4A30411C71C5}"/>
              </a:ext>
            </a:extLst>
          </p:cNvPr>
          <p:cNvSpPr/>
          <p:nvPr/>
        </p:nvSpPr>
        <p:spPr>
          <a:xfrm>
            <a:off x="1484159" y="5662396"/>
            <a:ext cx="59373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refreshed      himself         with   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981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1443" y="265426"/>
            <a:ext cx="114931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达到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实现某人的目标</a:t>
            </a:r>
            <a:endParaRPr lang="zh-CN" altLang="en-US" sz="3200" dirty="0"/>
          </a:p>
          <a:p>
            <a:r>
              <a:rPr lang="zh-CN" altLang="en-US" sz="3200" b="1" dirty="0"/>
              <a:t>主要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首要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主要目标</a:t>
            </a:r>
            <a:endParaRPr lang="zh-CN" altLang="en-US" sz="3200" dirty="0"/>
          </a:p>
          <a:p>
            <a:r>
              <a:rPr lang="en-GB" sz="3200" b="1" dirty="0">
                <a:solidFill>
                  <a:srgbClr val="FF0000"/>
                </a:solidFill>
              </a:rPr>
              <a:t>set realistic aims and objectives for yourself</a:t>
            </a:r>
            <a:endParaRPr lang="en-GB" sz="3200" dirty="0">
              <a:solidFill>
                <a:srgbClr val="FF0000"/>
              </a:solidFill>
            </a:endParaRPr>
          </a:p>
          <a:p>
            <a:r>
              <a:rPr lang="en-GB" sz="3200" b="1" dirty="0"/>
              <a:t>The main objective of the meeting is _______ (give) more information on our plan.</a:t>
            </a:r>
            <a:endParaRPr lang="en-GB" sz="3200" dirty="0"/>
          </a:p>
          <a:p>
            <a:r>
              <a:rPr lang="en-GB" sz="3200" b="1" dirty="0"/>
              <a:t>We should be objective ___ others ’ criticism and don’t be oversensitive to their opinions.</a:t>
            </a:r>
            <a:endParaRPr lang="en-GB" sz="3200" dirty="0"/>
          </a:p>
          <a:p>
            <a:r>
              <a:rPr lang="en-GB" sz="3200" b="1" dirty="0"/>
              <a:t>The expert ___________________________ on this report.</a:t>
            </a:r>
            <a:endParaRPr lang="en-GB" sz="3200" dirty="0"/>
          </a:p>
          <a:p>
            <a:r>
              <a:rPr lang="zh-CN" altLang="en-US" sz="3200" b="1" dirty="0"/>
              <a:t>那位专家就这份报告作了客观的分析。</a:t>
            </a:r>
            <a:endParaRPr lang="zh-CN" altLang="en-US" sz="3200" dirty="0"/>
          </a:p>
          <a:p>
            <a:r>
              <a:rPr lang="en-GB" sz="3200" b="1" dirty="0" err="1">
                <a:solidFill>
                  <a:srgbClr val="FF0000"/>
                </a:solidFill>
              </a:rPr>
              <a:t>syn</a:t>
            </a:r>
            <a:r>
              <a:rPr lang="en-GB" sz="3200" b="1" dirty="0">
                <a:solidFill>
                  <a:srgbClr val="FF0000"/>
                </a:solidFill>
              </a:rPr>
              <a:t>—unbiased</a:t>
            </a:r>
            <a:r>
              <a:rPr lang="en-US" altLang="zh-CN" sz="3200" b="1" dirty="0">
                <a:solidFill>
                  <a:srgbClr val="FF0000"/>
                </a:solidFill>
              </a:rPr>
              <a:t>,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unprejudiced</a:t>
            </a:r>
            <a:endParaRPr lang="en-GB" sz="3200" dirty="0">
              <a:solidFill>
                <a:srgbClr val="FF0000"/>
              </a:solidFill>
            </a:endParaRPr>
          </a:p>
          <a:p>
            <a:r>
              <a:rPr lang="en-GB" sz="3200" b="1" dirty="0" err="1">
                <a:solidFill>
                  <a:srgbClr val="FF0000"/>
                </a:solidFill>
              </a:rPr>
              <a:t>opp</a:t>
            </a:r>
            <a:r>
              <a:rPr lang="en-GB" sz="3200" b="1" dirty="0">
                <a:solidFill>
                  <a:srgbClr val="FF0000"/>
                </a:solidFill>
              </a:rPr>
              <a:t>—subjective</a:t>
            </a:r>
            <a:endParaRPr lang="en-GB" sz="3200" dirty="0">
              <a:solidFill>
                <a:srgbClr val="FF0000"/>
              </a:solidFill>
            </a:endParaRPr>
          </a:p>
          <a:p>
            <a:r>
              <a:rPr lang="en-GB" sz="3200" b="1" dirty="0">
                <a:solidFill>
                  <a:srgbClr val="FF0000"/>
                </a:solidFill>
              </a:rPr>
              <a:t>objectively</a:t>
            </a:r>
            <a:endParaRPr lang="en-GB" sz="3200" dirty="0">
              <a:solidFill>
                <a:srgbClr val="FF0000"/>
              </a:solidFill>
            </a:endParaRPr>
          </a:p>
          <a:p>
            <a:r>
              <a:rPr lang="en-GB" sz="3200" b="1" dirty="0">
                <a:solidFill>
                  <a:srgbClr val="FF0000"/>
                </a:solidFill>
              </a:rPr>
              <a:t>objectivity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903597E0-2D64-4FC8-0646-31C4BB5E414E}"/>
              </a:ext>
            </a:extLst>
          </p:cNvPr>
          <p:cNvSpPr/>
          <p:nvPr/>
        </p:nvSpPr>
        <p:spPr>
          <a:xfrm>
            <a:off x="6790945" y="1678225"/>
            <a:ext cx="14382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to  give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E11C6-5773-4A9D-CE0C-DB285F50D109}"/>
              </a:ext>
            </a:extLst>
          </p:cNvPr>
          <p:cNvSpPr txBox="1"/>
          <p:nvPr/>
        </p:nvSpPr>
        <p:spPr>
          <a:xfrm>
            <a:off x="4061731" y="754502"/>
            <a:ext cx="7792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the main/primary/principal objective</a:t>
            </a:r>
            <a:r>
              <a:rPr lang="en-GB" sz="3200" b="1" dirty="0"/>
              <a:t> 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977B9-372D-ACCF-0C46-628E7C01ADCC}"/>
              </a:ext>
            </a:extLst>
          </p:cNvPr>
          <p:cNvSpPr txBox="1"/>
          <p:nvPr/>
        </p:nvSpPr>
        <p:spPr>
          <a:xfrm>
            <a:off x="4379047" y="215166"/>
            <a:ext cx="6098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meet/achieve one’s objective </a:t>
            </a:r>
            <a:endParaRPr lang="en-US" sz="3200" dirty="0"/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10E01A27-4CF7-E358-0B7B-2BDEE9F111B2}"/>
              </a:ext>
            </a:extLst>
          </p:cNvPr>
          <p:cNvSpPr/>
          <p:nvPr/>
        </p:nvSpPr>
        <p:spPr>
          <a:xfrm>
            <a:off x="4577930" y="2665553"/>
            <a:ext cx="5261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to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矩形 6">
            <a:extLst>
              <a:ext uri="{FF2B5EF4-FFF2-40B4-BE49-F238E27FC236}">
                <a16:creationId xmlns:a16="http://schemas.microsoft.com/office/drawing/2014/main" id="{DEC664A4-4F1B-F6DA-F44B-02CEBCD0D878}"/>
              </a:ext>
            </a:extLst>
          </p:cNvPr>
          <p:cNvSpPr/>
          <p:nvPr/>
        </p:nvSpPr>
        <p:spPr>
          <a:xfrm>
            <a:off x="2833236" y="3607673"/>
            <a:ext cx="48461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made an objective analysis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674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3663" y="382012"/>
            <a:ext cx="1138467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inquire (enquire): </a:t>
            </a:r>
            <a:r>
              <a:rPr lang="en-GB" sz="3200" b="1" i="1" dirty="0">
                <a:solidFill>
                  <a:srgbClr val="0000FF"/>
                </a:solidFill>
              </a:rPr>
              <a:t>ask </a:t>
            </a:r>
            <a:r>
              <a:rPr lang="en-GB" sz="3200" b="1" i="1" dirty="0" err="1">
                <a:solidFill>
                  <a:srgbClr val="0000FF"/>
                </a:solidFill>
              </a:rPr>
              <a:t>sb</a:t>
            </a:r>
            <a:r>
              <a:rPr lang="en-GB" sz="3200" b="1" i="1" dirty="0">
                <a:solidFill>
                  <a:srgbClr val="0000FF"/>
                </a:solidFill>
              </a:rPr>
              <a:t> for some information</a:t>
            </a:r>
            <a:endParaRPr lang="en-GB" sz="3200" i="1" dirty="0">
              <a:solidFill>
                <a:srgbClr val="0000FF"/>
              </a:solidFill>
            </a:endParaRPr>
          </a:p>
          <a:p>
            <a:r>
              <a:rPr lang="en-GB" sz="3200" b="1" dirty="0"/>
              <a:t>I called the station to inquire _______ train times.</a:t>
            </a:r>
          </a:p>
          <a:p>
            <a:r>
              <a:rPr lang="en-GB" sz="3200" b="1" dirty="0"/>
              <a:t>He </a:t>
            </a:r>
            <a:r>
              <a:rPr lang="en-GB" sz="3200" b="1" dirty="0">
                <a:solidFill>
                  <a:srgbClr val="FF0000"/>
                </a:solidFill>
              </a:rPr>
              <a:t>inquired whether </a:t>
            </a:r>
            <a:r>
              <a:rPr lang="en-GB" sz="3200" b="1" dirty="0"/>
              <a:t>there had been any messages for him.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 an inquiry about</a:t>
            </a:r>
          </a:p>
          <a:p>
            <a:r>
              <a:rPr lang="en-GB" sz="3200" b="1" dirty="0"/>
              <a:t>make some _________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GB" sz="3200" b="1" dirty="0"/>
              <a:t>A committee was appointed to inquire _______ the case.</a:t>
            </a:r>
            <a:endParaRPr lang="en-GB" sz="3200" dirty="0"/>
          </a:p>
          <a:p>
            <a:r>
              <a:rPr lang="en-GB" sz="3200" b="1" dirty="0" err="1"/>
              <a:t>调查</a:t>
            </a:r>
            <a:r>
              <a:rPr lang="zh-CN" altLang="en-US" sz="3200" b="1" dirty="0"/>
              <a:t>，查问</a:t>
            </a:r>
            <a:endParaRPr lang="en-GB" sz="3200" b="1" dirty="0"/>
          </a:p>
          <a:p>
            <a:r>
              <a:rPr lang="en-GB" sz="3200" b="1" dirty="0"/>
              <a:t>“Where is the station?” she _____________________.</a:t>
            </a:r>
          </a:p>
          <a:p>
            <a:r>
              <a:rPr lang="zh-CN" altLang="en-US" sz="3200" b="1" dirty="0"/>
              <a:t>向某人打听</a:t>
            </a:r>
            <a:endParaRPr lang="en-GB" sz="3200" dirty="0"/>
          </a:p>
          <a:p>
            <a:r>
              <a:rPr lang="en-GB" sz="3200" b="1" dirty="0"/>
              <a:t>She raised an _________ eyebrow towards him.</a:t>
            </a:r>
          </a:p>
          <a:p>
            <a:r>
              <a:rPr lang="en-GB" sz="3200" b="1" dirty="0">
                <a:solidFill>
                  <a:srgbClr val="FF0000"/>
                </a:solidFill>
              </a:rPr>
              <a:t>A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GB" altLang="zh-CN" sz="3200" b="1" dirty="0">
                <a:solidFill>
                  <a:srgbClr val="FF0000"/>
                </a:solidFill>
              </a:rPr>
              <a:t>child with an inquiring mind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07282421-997C-EB9F-7DC1-0040B7F3F3F9}"/>
              </a:ext>
            </a:extLst>
          </p:cNvPr>
          <p:cNvSpPr/>
          <p:nvPr/>
        </p:nvSpPr>
        <p:spPr>
          <a:xfrm>
            <a:off x="5631618" y="845468"/>
            <a:ext cx="11865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about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40246688-1E19-F274-2BA3-FF0BD297463A}"/>
              </a:ext>
            </a:extLst>
          </p:cNvPr>
          <p:cNvSpPr/>
          <p:nvPr/>
        </p:nvSpPr>
        <p:spPr>
          <a:xfrm>
            <a:off x="7313153" y="2749091"/>
            <a:ext cx="8675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into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矩形 6">
            <a:extLst>
              <a:ext uri="{FF2B5EF4-FFF2-40B4-BE49-F238E27FC236}">
                <a16:creationId xmlns:a16="http://schemas.microsoft.com/office/drawing/2014/main" id="{B6F6158F-F672-B005-4579-E4072E623CF3}"/>
              </a:ext>
            </a:extLst>
          </p:cNvPr>
          <p:cNvSpPr/>
          <p:nvPr/>
        </p:nvSpPr>
        <p:spPr>
          <a:xfrm>
            <a:off x="5463529" y="3719483"/>
            <a:ext cx="42544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inquired</a:t>
            </a:r>
            <a:r>
              <a:rPr lang="zh-CN" altLang="en-US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of a passer-by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5A756094-CB80-4750-C5C1-664AE90BF175}"/>
              </a:ext>
            </a:extLst>
          </p:cNvPr>
          <p:cNvSpPr/>
          <p:nvPr/>
        </p:nvSpPr>
        <p:spPr>
          <a:xfrm>
            <a:off x="2474037" y="2295820"/>
            <a:ext cx="17347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inquiries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12D73C-7969-B5DA-20CC-9D3C0235D345}"/>
              </a:ext>
            </a:extLst>
          </p:cNvPr>
          <p:cNvSpPr/>
          <p:nvPr/>
        </p:nvSpPr>
        <p:spPr>
          <a:xfrm>
            <a:off x="2968153" y="4813995"/>
            <a:ext cx="1824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inquiring</a:t>
            </a:r>
            <a:endParaRPr lang="zh-CN" altLang="en-US" sz="32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028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23488" y="-136976"/>
            <a:ext cx="12215488" cy="713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GB" altLang="zh-CN" sz="3200" b="1" dirty="0">
                <a:solidFill>
                  <a:srgbClr val="FF0000"/>
                </a:solidFill>
              </a:rPr>
              <a:t>register</a:t>
            </a:r>
            <a:r>
              <a:rPr lang="en-US" altLang="zh-CN" sz="3200" b="1" dirty="0"/>
              <a:t> a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company/marriage</a:t>
            </a:r>
          </a:p>
          <a:p>
            <a:pPr>
              <a:lnSpc>
                <a:spcPct val="120000"/>
              </a:lnSpc>
            </a:pPr>
            <a:r>
              <a:rPr lang="en-GB" altLang="zh-CN" sz="3200" b="1" dirty="0"/>
              <a:t>Students will be </a:t>
            </a:r>
            <a:r>
              <a:rPr lang="en-GB" altLang="zh-CN" sz="3200" b="1" dirty="0">
                <a:solidFill>
                  <a:srgbClr val="FF0000"/>
                </a:solidFill>
              </a:rPr>
              <a:t>registered for </a:t>
            </a:r>
            <a:r>
              <a:rPr lang="en-GB" altLang="zh-CN" sz="3200" b="1" dirty="0"/>
              <a:t>new courses at the beginning of term.</a:t>
            </a:r>
          </a:p>
          <a:p>
            <a:pPr>
              <a:lnSpc>
                <a:spcPct val="120000"/>
              </a:lnSpc>
            </a:pPr>
            <a:r>
              <a:rPr lang="en-GB" altLang="zh-CN" sz="3200" b="1" dirty="0">
                <a:solidFill>
                  <a:srgbClr val="FF0000"/>
                </a:solidFill>
              </a:rPr>
              <a:t>register </a:t>
            </a:r>
            <a:r>
              <a:rPr lang="en-GB" altLang="zh-CN" sz="3200" b="1" dirty="0" err="1">
                <a:solidFill>
                  <a:srgbClr val="FF0000"/>
                </a:solidFill>
              </a:rPr>
              <a:t>sb</a:t>
            </a:r>
            <a:r>
              <a:rPr lang="en-GB" altLang="zh-CN" sz="3200" b="1" dirty="0">
                <a:solidFill>
                  <a:srgbClr val="FF0000"/>
                </a:solidFill>
              </a:rPr>
              <a:t>/</a:t>
            </a:r>
            <a:r>
              <a:rPr lang="en-GB" altLang="zh-CN" sz="3200" b="1" dirty="0" err="1">
                <a:solidFill>
                  <a:srgbClr val="FF0000"/>
                </a:solidFill>
              </a:rPr>
              <a:t>sth</a:t>
            </a:r>
            <a:r>
              <a:rPr lang="en-GB" altLang="zh-CN" sz="3200" b="1" dirty="0">
                <a:solidFill>
                  <a:srgbClr val="FF0000"/>
                </a:solidFill>
              </a:rPr>
              <a:t> for </a:t>
            </a:r>
            <a:r>
              <a:rPr lang="en-GB" altLang="zh-CN" sz="3200" b="1" dirty="0" err="1">
                <a:solidFill>
                  <a:srgbClr val="FF0000"/>
                </a:solidFill>
              </a:rPr>
              <a:t>sth</a:t>
            </a:r>
            <a:endParaRPr lang="en-GB" altLang="zh-CN" sz="3200" b="1" dirty="0">
              <a:solidFill>
                <a:srgbClr val="FF0000"/>
              </a:solidFill>
            </a:endParaRPr>
          </a:p>
          <a:p>
            <a:pPr lvl="0">
              <a:lnSpc>
                <a:spcPct val="120000"/>
              </a:lnSpc>
            </a:pPr>
            <a:r>
              <a:rPr lang="en-GB" altLang="zh-CN" sz="3200" b="1" dirty="0">
                <a:solidFill>
                  <a:srgbClr val="FF0000"/>
                </a:solidFill>
              </a:rPr>
              <a:t>register </a:t>
            </a:r>
            <a:r>
              <a:rPr lang="en-GB" altLang="zh-CN" sz="3200" b="1" dirty="0"/>
              <a:t>at a hotel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China has </a:t>
            </a:r>
            <a:r>
              <a:rPr lang="en-US" altLang="zh-CN" sz="3200" b="1" dirty="0">
                <a:solidFill>
                  <a:srgbClr val="FF0000"/>
                </a:solidFill>
              </a:rPr>
              <a:t>registered</a:t>
            </a:r>
            <a:r>
              <a:rPr lang="en-US" altLang="zh-CN" sz="3200" b="1" dirty="0"/>
              <a:t> a protest over foreign intervention.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The thermometer </a:t>
            </a:r>
            <a:r>
              <a:rPr lang="en-US" altLang="zh-CN" sz="3200" b="1" dirty="0">
                <a:solidFill>
                  <a:srgbClr val="FF0000"/>
                </a:solidFill>
              </a:rPr>
              <a:t>registered</a:t>
            </a:r>
            <a:r>
              <a:rPr lang="en-US" altLang="zh-CN" sz="3200" b="1" dirty="0"/>
              <a:t> 32℃.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她脸上流露出</a:t>
            </a:r>
            <a:r>
              <a:rPr lang="zh-CN" altLang="en-GB" sz="3200" b="1" dirty="0"/>
              <a:t>惊讶</a:t>
            </a:r>
            <a:r>
              <a:rPr lang="zh-CN" altLang="en-US" sz="3200" b="1" dirty="0"/>
              <a:t>。</a:t>
            </a:r>
            <a:endParaRPr lang="en-GB" altLang="zh-CN" sz="3200" b="1" dirty="0"/>
          </a:p>
          <a:p>
            <a:pPr>
              <a:lnSpc>
                <a:spcPct val="120000"/>
              </a:lnSpc>
            </a:pPr>
            <a:r>
              <a:rPr lang="en-GB" altLang="zh-CN" sz="3200" b="1" dirty="0"/>
              <a:t>Surprise </a:t>
            </a:r>
            <a:r>
              <a:rPr lang="en-GB" altLang="zh-CN" sz="3200" b="1" dirty="0">
                <a:solidFill>
                  <a:srgbClr val="FF0000"/>
                </a:solidFill>
              </a:rPr>
              <a:t>registered</a:t>
            </a:r>
            <a:r>
              <a:rPr lang="en-GB" altLang="zh-CN" sz="3200" b="1" dirty="0"/>
              <a:t> </a:t>
            </a:r>
            <a:r>
              <a:rPr lang="en-GB" altLang="zh-CN" sz="3200" b="1" dirty="0">
                <a:solidFill>
                  <a:srgbClr val="FF0000"/>
                </a:solidFill>
              </a:rPr>
              <a:t>on</a:t>
            </a:r>
            <a:r>
              <a:rPr lang="en-GB" altLang="zh-CN" sz="3200" b="1" dirty="0"/>
              <a:t> her face.</a:t>
            </a:r>
          </a:p>
          <a:p>
            <a:pPr>
              <a:lnSpc>
                <a:spcPct val="120000"/>
              </a:lnSpc>
            </a:pPr>
            <a:r>
              <a:rPr lang="en-GB" altLang="zh-CN" sz="3200" b="1" dirty="0"/>
              <a:t>Her face </a:t>
            </a:r>
            <a:r>
              <a:rPr lang="en-GB" altLang="zh-CN" sz="3200" b="1" dirty="0">
                <a:solidFill>
                  <a:srgbClr val="FF0000"/>
                </a:solidFill>
              </a:rPr>
              <a:t>registered</a:t>
            </a:r>
            <a:r>
              <a:rPr lang="en-GB" altLang="zh-CN" sz="3200" b="1" dirty="0"/>
              <a:t> surprise.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What I said sometimes didn't </a:t>
            </a:r>
            <a:r>
              <a:rPr lang="en-US" altLang="zh-CN" sz="3200" b="1" dirty="0">
                <a:solidFill>
                  <a:srgbClr val="FF0000"/>
                </a:solidFill>
              </a:rPr>
              <a:t>register</a:t>
            </a:r>
            <a:r>
              <a:rPr lang="en-US" altLang="zh-CN" sz="3200" b="1" dirty="0"/>
              <a:t> in her brain.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It suddenly registered (with her) that </a:t>
            </a:r>
            <a:r>
              <a:rPr lang="en-US" altLang="zh-CN" sz="3200" b="1" dirty="0"/>
              <a:t>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registration fee</a:t>
            </a:r>
          </a:p>
        </p:txBody>
      </p:sp>
      <p:sp>
        <p:nvSpPr>
          <p:cNvPr id="3" name="矩形 6">
            <a:extLst>
              <a:ext uri="{FF2B5EF4-FFF2-40B4-BE49-F238E27FC236}">
                <a16:creationId xmlns:a16="http://schemas.microsoft.com/office/drawing/2014/main" id="{A097D05E-83C2-92A3-4488-A1756C93C41D}"/>
              </a:ext>
            </a:extLst>
          </p:cNvPr>
          <p:cNvSpPr/>
          <p:nvPr/>
        </p:nvSpPr>
        <p:spPr>
          <a:xfrm>
            <a:off x="3732096" y="3395134"/>
            <a:ext cx="13708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32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display</a:t>
            </a:r>
            <a:endParaRPr lang="zh-CN" altLang="en-US" sz="3200" b="1" i="1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87954078-D3A0-A38C-C41A-1FC23D40B063}"/>
              </a:ext>
            </a:extLst>
          </p:cNvPr>
          <p:cNvSpPr/>
          <p:nvPr/>
        </p:nvSpPr>
        <p:spPr>
          <a:xfrm>
            <a:off x="8766135" y="5149744"/>
            <a:ext cx="3583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32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make an impression</a:t>
            </a:r>
            <a:endParaRPr lang="zh-CN" altLang="en-US" sz="3200" b="1" i="1" dirty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685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7987" y="255578"/>
            <a:ext cx="113079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I </a:t>
            </a:r>
            <a:r>
              <a:rPr lang="en-GB" sz="3200" b="1" dirty="0">
                <a:solidFill>
                  <a:srgbClr val="FF0000"/>
                </a:solidFill>
              </a:rPr>
              <a:t>subscribe wholeheartedly to</a:t>
            </a:r>
            <a:r>
              <a:rPr lang="en-GB" sz="3200" b="1" dirty="0"/>
              <a:t> this theory.</a:t>
            </a:r>
          </a:p>
          <a:p>
            <a:r>
              <a:rPr lang="en-GB" sz="3200" b="1" i="1" dirty="0">
                <a:solidFill>
                  <a:srgbClr val="0000FF"/>
                </a:solidFill>
              </a:rPr>
              <a:t>agree with</a:t>
            </a:r>
            <a:r>
              <a:rPr lang="en-US" altLang="zh-CN" sz="3200" b="1" i="1" dirty="0">
                <a:solidFill>
                  <a:srgbClr val="0000FF"/>
                </a:solidFill>
              </a:rPr>
              <a:t>/approve of</a:t>
            </a:r>
          </a:p>
          <a:p>
            <a:r>
              <a:rPr lang="zh-CN" altLang="en-US" sz="3200" dirty="0">
                <a:latin typeface="Songti SC" panose="02010600040101010101" pitchFamily="2" charset="-122"/>
                <a:ea typeface="Songti SC" panose="02010600040101010101" pitchFamily="2" charset="-122"/>
              </a:rPr>
              <a:t>图书馆订阅哪些期刊</a:t>
            </a:r>
            <a:r>
              <a:rPr lang="en-US" altLang="zh-CN" sz="3200" dirty="0">
                <a:latin typeface="Songti SC" panose="02010600040101010101" pitchFamily="2" charset="-122"/>
                <a:ea typeface="Songti SC" panose="02010600040101010101" pitchFamily="2" charset="-122"/>
              </a:rPr>
              <a:t>?</a:t>
            </a:r>
            <a:endParaRPr lang="en-GB" sz="3200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lang="en-GB" sz="3200" b="1" dirty="0"/>
              <a:t>Which journals does the library </a:t>
            </a:r>
            <a:r>
              <a:rPr lang="en-GB" sz="3200" b="1" dirty="0">
                <a:solidFill>
                  <a:srgbClr val="FF0000"/>
                </a:solidFill>
              </a:rPr>
              <a:t>subscribe to</a:t>
            </a:r>
            <a:r>
              <a:rPr lang="en-GB" sz="3200" b="1" dirty="0"/>
              <a:t>?</a:t>
            </a:r>
            <a:endParaRPr lang="en-GB" sz="3200" dirty="0"/>
          </a:p>
          <a:p>
            <a:r>
              <a:rPr lang="en-GB" sz="3200" b="1" dirty="0"/>
              <a:t>She </a:t>
            </a:r>
            <a:r>
              <a:rPr lang="en-GB" sz="3200" b="1" dirty="0">
                <a:solidFill>
                  <a:srgbClr val="FF0000"/>
                </a:solidFill>
              </a:rPr>
              <a:t>subscribes to </a:t>
            </a:r>
            <a:r>
              <a:rPr lang="en-GB" sz="3200" b="1" dirty="0"/>
              <a:t>an environmental action group.</a:t>
            </a:r>
          </a:p>
          <a:p>
            <a:r>
              <a:rPr lang="en-GB" sz="3200" b="1" dirty="0" err="1"/>
              <a:t>定期捐助</a:t>
            </a:r>
            <a:r>
              <a:rPr lang="en-GB" sz="3200" b="1" dirty="0"/>
              <a:t> </a:t>
            </a:r>
            <a:r>
              <a:rPr lang="en-GB" sz="3200" b="1" i="1" dirty="0">
                <a:solidFill>
                  <a:srgbClr val="0000FF"/>
                </a:solidFill>
              </a:rPr>
              <a:t>support a charity</a:t>
            </a:r>
            <a:endParaRPr lang="en-GB" sz="3200" i="1" dirty="0">
              <a:solidFill>
                <a:srgbClr val="0000FF"/>
              </a:solidFill>
            </a:endParaRPr>
          </a:p>
          <a:p>
            <a:r>
              <a:rPr lang="en-GB" sz="3200" b="1" dirty="0">
                <a:solidFill>
                  <a:srgbClr val="FF0000"/>
                </a:solidFill>
              </a:rPr>
              <a:t>subscriber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renew a subscription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216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1298" y="231121"/>
            <a:ext cx="11375721" cy="417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1825" indent="-631825" defTabSz="923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One should never cease to learn</a:t>
            </a:r>
            <a:r>
              <a:rPr lang="en-US" altLang="zh-CN" sz="3200" b="1" dirty="0"/>
              <a:t>. </a:t>
            </a:r>
            <a:r>
              <a:rPr lang="zh-CN" altLang="en-US" sz="3200" b="1" dirty="0"/>
              <a:t>人不能停止学习。</a:t>
            </a:r>
            <a:endParaRPr lang="en-GB" altLang="zh-CN" sz="3200" b="1" dirty="0"/>
          </a:p>
          <a:p>
            <a:pPr marL="631825" indent="-631825" defTabSz="923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Wonders will never cease.</a:t>
            </a:r>
            <a:r>
              <a:rPr lang="zh-CN" altLang="en-US" sz="3200" b="1" dirty="0"/>
              <a:t>真是无奇不有。</a:t>
            </a:r>
            <a:endParaRPr lang="en-GB" altLang="zh-CN" sz="3200" b="1" dirty="0">
              <a:solidFill>
                <a:srgbClr val="FF0000"/>
              </a:solidFill>
            </a:endParaRPr>
          </a:p>
          <a:p>
            <a:pPr marL="631825" indent="-631825" defTabSz="923925">
              <a:lnSpc>
                <a:spcPct val="120000"/>
              </a:lnSpc>
            </a:pPr>
            <a:r>
              <a:rPr lang="zh-CN" altLang="en-US" sz="3200" b="1" dirty="0"/>
              <a:t>你总能让我感到惊奇！</a:t>
            </a:r>
            <a:endParaRPr lang="en-GB" altLang="zh-CN" sz="3200" b="1" dirty="0"/>
          </a:p>
          <a:p>
            <a:pPr marL="631825" indent="-631825" defTabSz="923925">
              <a:lnSpc>
                <a:spcPct val="120000"/>
              </a:lnSpc>
            </a:pPr>
            <a:r>
              <a:rPr lang="en-US" altLang="zh-CN" sz="3200" b="1" dirty="0"/>
              <a:t>You never </a:t>
            </a:r>
            <a:r>
              <a:rPr lang="en-US" altLang="zh-CN" sz="3200" b="1" dirty="0">
                <a:solidFill>
                  <a:srgbClr val="FF0000"/>
                </a:solidFill>
              </a:rPr>
              <a:t>cease to amaze </a:t>
            </a:r>
            <a:r>
              <a:rPr lang="en-US" altLang="zh-CN" sz="3200" b="1" dirty="0"/>
              <a:t>me!</a:t>
            </a:r>
            <a:endParaRPr lang="zh-CN" altLang="en-US" sz="3200" b="1" dirty="0"/>
          </a:p>
          <a:p>
            <a:pPr marL="631825" indent="-631825" defTabSz="923925">
              <a:lnSpc>
                <a:spcPct val="120000"/>
              </a:lnSpc>
            </a:pPr>
            <a:r>
              <a:rPr lang="en-US" altLang="zh-CN" sz="3200" b="1" dirty="0"/>
              <a:t>He ordered his men to </a:t>
            </a:r>
            <a:r>
              <a:rPr lang="en-US" altLang="zh-CN" sz="3200" b="1" dirty="0">
                <a:solidFill>
                  <a:srgbClr val="FF0000"/>
                </a:solidFill>
              </a:rPr>
              <a:t>cease fire/shooting</a:t>
            </a:r>
            <a:r>
              <a:rPr lang="en-US" altLang="zh-CN" sz="3200" b="1" dirty="0"/>
              <a:t>.</a:t>
            </a:r>
          </a:p>
          <a:p>
            <a:pPr marL="631825" indent="-631825" defTabSz="923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ceaseless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/>
              <a:t>无休止的</a:t>
            </a:r>
          </a:p>
          <a:p>
            <a:pPr marL="631825" indent="-631825" defTabSz="9239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without cessation</a:t>
            </a:r>
          </a:p>
        </p:txBody>
      </p:sp>
    </p:spTree>
    <p:extLst>
      <p:ext uri="{BB962C8B-B14F-4D97-AF65-F5344CB8AC3E}">
        <p14:creationId xmlns:p14="http://schemas.microsoft.com/office/powerpoint/2010/main" val="11060248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6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449263" indent="-449263">
          <a:lnSpc>
            <a:spcPct val="120000"/>
          </a:lnSpc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2736</TotalTime>
  <Words>1174</Words>
  <Application>Microsoft Macintosh PowerPoint</Application>
  <PresentationFormat>Widescreen</PresentationFormat>
  <Paragraphs>169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宋体</vt:lpstr>
      <vt:lpstr>Songti SC</vt:lpstr>
      <vt:lpstr>Arial</vt:lpstr>
      <vt:lpstr>Calibri</vt:lpstr>
      <vt:lpstr>Times New Roman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169</cp:revision>
  <dcterms:created xsi:type="dcterms:W3CDTF">2022-03-02T03:12:17Z</dcterms:created>
  <dcterms:modified xsi:type="dcterms:W3CDTF">2026-07-23T01:31:48Z</dcterms:modified>
</cp:coreProperties>
</file>