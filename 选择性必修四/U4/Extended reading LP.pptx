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6.xml" ContentType="application/vnd.openxmlformats-officedocument.presentationml.tags+xml"/>
  <Override PartName="/ppt/notesSlides/notesSlide4.xml" ContentType="application/vnd.openxmlformats-officedocument.presentationml.notesSlide+xml"/>
  <Override PartName="/ppt/tags/tag17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6" r:id="rId3"/>
    <p:sldId id="293" r:id="rId4"/>
    <p:sldId id="282" r:id="rId5"/>
    <p:sldId id="263" r:id="rId6"/>
    <p:sldId id="295" r:id="rId7"/>
    <p:sldId id="286" r:id="rId8"/>
    <p:sldId id="271" r:id="rId9"/>
    <p:sldId id="274" r:id="rId10"/>
    <p:sldId id="296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0"/>
    <p:restoredTop sz="81458"/>
  </p:normalViewPr>
  <p:slideViewPr>
    <p:cSldViewPr snapToGrid="0">
      <p:cViewPr varScale="1">
        <p:scale>
          <a:sx n="87" d="100"/>
          <a:sy n="87" d="100"/>
        </p:scale>
        <p:origin x="12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5DEA48-7F3A-41C2-B8AB-15342E587F50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3F3498-2C3F-46ED-9050-EC54C751C2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6754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Certificate</a:t>
            </a:r>
            <a:r>
              <a:rPr lang="en-GB" altLang="zh-CN" sz="1200" b="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:</a:t>
            </a:r>
            <a:r>
              <a:rPr lang="en-US" altLang="zh-CN" sz="1200" b="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an official document</a:t>
            </a:r>
          </a:p>
          <a:p>
            <a:r>
              <a:rPr lang="zh-CN" altLang="en-US" sz="1200" b="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奋斗取得（事业）</a:t>
            </a:r>
            <a:endParaRPr lang="en-GB" altLang="zh-CN" sz="1200" b="0" dirty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200" b="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在</a:t>
            </a:r>
            <a:r>
              <a:rPr lang="en-US" altLang="zh-CN" sz="1200" b="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……</a:t>
            </a:r>
            <a:r>
              <a:rPr lang="zh-CN" altLang="en-US" sz="1200" b="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谋得一席之地</a:t>
            </a:r>
            <a:endParaRPr lang="en-US" altLang="zh-CN" sz="1200" b="0" dirty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F3498-2C3F-46ED-9050-EC54C751C2F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0106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38F4D-BC35-D6B1-13CD-D5409DBF1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07BDAD-89F3-B44C-567F-1FBFF6130C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0CF0B7-590E-CC95-58A9-2C6BB8B16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Certificate</a:t>
            </a:r>
            <a:r>
              <a:rPr lang="en-GB" altLang="zh-CN" sz="1200" b="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:</a:t>
            </a:r>
            <a:r>
              <a:rPr lang="en-US" altLang="zh-CN" sz="1200" b="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an official document</a:t>
            </a:r>
          </a:p>
          <a:p>
            <a:r>
              <a:rPr lang="zh-CN" altLang="en-US" sz="1200" b="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奋斗取得（事业）</a:t>
            </a:r>
            <a:endParaRPr lang="en-GB" altLang="zh-CN" sz="1200" b="0" dirty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200" b="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在</a:t>
            </a:r>
            <a:r>
              <a:rPr lang="en-US" altLang="zh-CN" sz="1200" b="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……</a:t>
            </a:r>
            <a:r>
              <a:rPr lang="zh-CN" altLang="en-US" sz="1200" b="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谋得一席之地</a:t>
            </a:r>
            <a:endParaRPr lang="en-US" altLang="zh-CN" sz="1200" b="0" dirty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200" b="0" dirty="0">
                <a:solidFill>
                  <a:srgbClr val="000000"/>
                </a:solidFill>
                <a:cs typeface="Times New Roman" panose="02020603050405020304" charset="0"/>
              </a:rPr>
              <a:t>The idea came to me </a:t>
            </a:r>
            <a:r>
              <a:rPr lang="en-US" altLang="zh-CN" sz="1200" b="0" dirty="0">
                <a:solidFill>
                  <a:srgbClr val="FF0000"/>
                </a:solidFill>
                <a:cs typeface="Times New Roman" panose="02020603050405020304" charset="0"/>
              </a:rPr>
              <a:t>in a flash</a:t>
            </a: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6718BD-D94B-A140-3E82-EFFF73D762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F3498-2C3F-46ED-9050-EC54C751C2F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28316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on/have a tight budget/a tight schedule</a:t>
            </a:r>
          </a:p>
          <a:p>
            <a:r>
              <a:rPr lang="en-US" dirty="0" err="1"/>
              <a:t>勉强一笑</a:t>
            </a:r>
            <a:r>
              <a:rPr lang="zh-CN" altLang="en-US" dirty="0"/>
              <a:t>，</a:t>
            </a:r>
            <a:r>
              <a:rPr lang="en-GB" altLang="zh-CN" dirty="0"/>
              <a:t>looking and sounding anxious, upset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Sit tight </a:t>
            </a:r>
            <a:r>
              <a:rPr lang="zh-CN" altLang="en-US" dirty="0"/>
              <a:t>稳坐不动</a:t>
            </a:r>
            <a:r>
              <a:rPr lang="en-US" altLang="zh-CN" dirty="0"/>
              <a:t>; </a:t>
            </a:r>
            <a:r>
              <a:rPr lang="zh-CN" altLang="en-US" dirty="0"/>
              <a:t>静观其变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F3498-2C3F-46ED-9050-EC54C751C2F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7436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 felt out of </a:t>
            </a:r>
            <a:r>
              <a:rPr lang="en-GB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place here.</a:t>
            </a:r>
          </a:p>
          <a:p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恰好能融入</a:t>
            </a:r>
            <a:endParaRPr lang="en-GB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 err="1"/>
              <a:t>安排好时间处理每件事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F3498-2C3F-46ED-9050-EC54C751C2F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5673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6B91C-FE5F-9714-0BC6-A894E1A52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A23F73-7699-6B88-81E6-EAAE189FB9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AE0E0F-1C62-0F85-08C2-22B32BF33A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她已经成长为这个国家一位最优秀的演员。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D86B0D-F28D-B0FA-5FA1-AAD1AF08F2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F3498-2C3F-46ED-9050-EC54C751C2F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2483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我写此信是为了回应你那篇探讨科学家薪水的文章。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F3498-2C3F-46ED-9050-EC54C751C2F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03421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对着墙打球</a:t>
            </a: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在沙发上蹦来蹦去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bounce into the office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有时候我们向别人征求意见来帮助理清自己的思路。</a:t>
            </a:r>
            <a:endParaRPr lang="en-GB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弹跳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、活力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F3498-2C3F-46ED-9050-EC54C751C2F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58922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胁迫某人做某事</a:t>
            </a:r>
            <a:endParaRPr lang="en-US" dirty="0"/>
          </a:p>
          <a:p>
            <a:r>
              <a:rPr lang="en-US" dirty="0" err="1"/>
              <a:t>被</a:t>
            </a:r>
            <a:r>
              <a:rPr lang="en-US" altLang="zh-CN" dirty="0"/>
              <a:t>……</a:t>
            </a:r>
            <a:r>
              <a:rPr lang="zh-CN" altLang="en-US" dirty="0"/>
              <a:t>吓到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F3498-2C3F-46ED-9050-EC54C751C2F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8517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D8655-6734-4FC0-A0C1-C96D214191FF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E7DE4-98BC-43AF-8C10-AF0C14C2C7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8384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D8655-6734-4FC0-A0C1-C96D214191FF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E7DE4-98BC-43AF-8C10-AF0C14C2C7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2540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D8655-6734-4FC0-A0C1-C96D214191FF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E7DE4-98BC-43AF-8C10-AF0C14C2C7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2008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D8655-6734-4FC0-A0C1-C96D214191FF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E7DE4-98BC-43AF-8C10-AF0C14C2C7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9238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D8655-6734-4FC0-A0C1-C96D214191FF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E7DE4-98BC-43AF-8C10-AF0C14C2C7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0122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D8655-6734-4FC0-A0C1-C96D214191FF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E7DE4-98BC-43AF-8C10-AF0C14C2C7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1705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D8655-6734-4FC0-A0C1-C96D214191FF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E7DE4-98BC-43AF-8C10-AF0C14C2C7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689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D8655-6734-4FC0-A0C1-C96D214191FF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E7DE4-98BC-43AF-8C10-AF0C14C2C7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709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D8655-6734-4FC0-A0C1-C96D214191FF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E7DE4-98BC-43AF-8C10-AF0C14C2C7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200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D8655-6734-4FC0-A0C1-C96D214191FF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E7DE4-98BC-43AF-8C10-AF0C14C2C7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205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D8655-6734-4FC0-A0C1-C96D214191FF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E7DE4-98BC-43AF-8C10-AF0C14C2C7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61219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2026/7/23</a:t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7503978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2026/7/23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787638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2026/7/23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52660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0D8655-6734-4FC0-A0C1-C96D214191FF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1E7DE4-98BC-43AF-8C10-AF0C14C2C7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8827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8" r:id="rId12"/>
    <p:sldLayoutId id="2147483670" r:id="rId13"/>
    <p:sldLayoutId id="2147483671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3913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12192000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launched into 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a lengthy explanation.</a:t>
            </a:r>
          </a:p>
          <a:p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(</a:t>
            </a: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</a:rPr>
              <a:t>热情地</a:t>
            </a:r>
            <a:r>
              <a:rPr lang="en-GB" altLang="zh-CN" sz="3200" b="1" dirty="0">
                <a:latin typeface="Times New Roman" panose="02020603050405020304" charset="0"/>
                <a:cs typeface="Times New Roman" panose="02020603050405020304" charset="0"/>
              </a:rPr>
              <a:t>)</a:t>
            </a:r>
            <a:r>
              <a:rPr lang="zh-CN" altLang="en-GB" sz="3200" b="1" dirty="0">
                <a:latin typeface="Times New Roman" panose="02020603050405020304" charset="0"/>
                <a:cs typeface="Times New Roman" panose="02020603050405020304" charset="0"/>
              </a:rPr>
              <a:t>开始做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……</a:t>
            </a:r>
          </a:p>
          <a:p>
            <a:endParaRPr lang="en-US" altLang="zh-CN" sz="32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She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carved out a successful career 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in the fashion world.</a:t>
            </a:r>
          </a:p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carve a place for herself in…</a:t>
            </a:r>
          </a:p>
          <a:p>
            <a:endParaRPr lang="en-US" altLang="zh-CN" sz="3200" b="1" dirty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The ceremony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brought down the curtain on 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my university life.</a:t>
            </a:r>
          </a:p>
          <a:p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</a:rPr>
              <a:t>标志着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…</a:t>
            </a: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</a:rPr>
              <a:t>终结</a:t>
            </a:r>
          </a:p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draw/close/pull 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the curtains</a:t>
            </a: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</a:rPr>
              <a:t> 拉上窗帘</a:t>
            </a:r>
            <a:endParaRPr lang="en-US" altLang="zh-CN" sz="32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draw back/open/pull back 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the curtains</a:t>
            </a: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</a:rPr>
              <a:t> 把窗帘拉开</a:t>
            </a:r>
            <a:endParaRPr lang="en-GB" altLang="zh-CN" sz="32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The audience was waiting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for the curtain to rise</a:t>
            </a:r>
            <a:r>
              <a:rPr lang="en-GB" altLang="zh-CN" sz="3200" b="1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altLang="zh-CN" sz="32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There was ___________________________________________.</a:t>
            </a:r>
          </a:p>
          <a:p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</a:rPr>
              <a:t>落幕时响起了雷鸣般的掌声</a:t>
            </a:r>
            <a:r>
              <a:rPr lang="zh-CN" altLang="en-GB" sz="3200" b="1" dirty="0">
                <a:latin typeface="Times New Roman" panose="02020603050405020304" charset="0"/>
                <a:cs typeface="Times New Roman" panose="02020603050405020304" charset="0"/>
              </a:rPr>
              <a:t>。</a:t>
            </a:r>
            <a:endParaRPr lang="en-US" altLang="zh-CN" sz="32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1FA53C-6EF9-FE84-442F-E9DEEB32CA64}"/>
              </a:ext>
            </a:extLst>
          </p:cNvPr>
          <p:cNvSpPr txBox="1"/>
          <p:nvPr/>
        </p:nvSpPr>
        <p:spPr>
          <a:xfrm>
            <a:off x="1991032" y="5295000"/>
            <a:ext cx="97129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thunderous applause when the curtain came down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07733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AAE27-48F3-7AE0-4348-3A63AC637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D862D2D-59D5-0044-8B08-EEF39978CF92}"/>
              </a:ext>
            </a:extLst>
          </p:cNvPr>
          <p:cNvSpPr txBox="1"/>
          <p:nvPr/>
        </p:nvSpPr>
        <p:spPr>
          <a:xfrm>
            <a:off x="0" y="0"/>
            <a:ext cx="121920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</a:rPr>
              <a:t>她眼中闪出怒火。</a:t>
            </a:r>
            <a:endParaRPr lang="en-GB" altLang="zh-CN" sz="32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Her eyes flashed with anger.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A look of terror ___________________. </a:t>
            </a: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</a:rPr>
              <a:t>他脸上掠过惊恐的神色。</a:t>
            </a:r>
          </a:p>
          <a:p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A terrible thought</a:t>
            </a: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GB" altLang="zh-CN" sz="3200" b="1" dirty="0">
                <a:latin typeface="Times New Roman" panose="02020603050405020304" charset="0"/>
                <a:cs typeface="Times New Roman" panose="02020603050405020304" charset="0"/>
              </a:rPr>
              <a:t>______________________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. </a:t>
            </a: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</a:rPr>
              <a:t>一个可怕的想法闪过我的脑海。</a:t>
            </a:r>
            <a:endParaRPr lang="en-GB" altLang="zh-CN" sz="32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A flash of anger/inspiration</a:t>
            </a:r>
            <a:endParaRPr lang="en-GB" altLang="zh-CN" sz="32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</a:rPr>
              <a:t>她的思绪闪回到毕业典礼那天。</a:t>
            </a:r>
            <a:endParaRPr lang="en-GB" altLang="zh-CN" sz="32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GB" altLang="zh-CN" sz="3200" b="1" dirty="0">
                <a:latin typeface="Times New Roman" panose="02020603050405020304" charset="0"/>
                <a:cs typeface="Times New Roman" panose="02020603050405020304" charset="0"/>
              </a:rPr>
              <a:t>Her thoughts </a:t>
            </a:r>
            <a:r>
              <a:rPr lang="en-GB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flashed back to</a:t>
            </a:r>
            <a:r>
              <a:rPr lang="en-GB" altLang="zh-CN" sz="3200" b="1" dirty="0">
                <a:latin typeface="Times New Roman" panose="02020603050405020304" charset="0"/>
                <a:cs typeface="Times New Roman" panose="02020603050405020304" charset="0"/>
              </a:rPr>
              <a:t> the graduation day.</a:t>
            </a:r>
            <a:endParaRPr lang="zh-CN" altLang="en-US" sz="32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</a:rPr>
              <a:t>我突然想起 </a:t>
            </a:r>
            <a:r>
              <a:rPr lang="en-GB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It flashed on me that …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</a:rPr>
              <a:t>转瞬间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very quickly and suddenly</a:t>
            </a:r>
          </a:p>
          <a:p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___ __ _____</a:t>
            </a:r>
            <a:endParaRPr lang="zh-CN" altLang="en-US" sz="32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D55BB9-1018-29B5-AEA4-29D35E3E9297}"/>
              </a:ext>
            </a:extLst>
          </p:cNvPr>
          <p:cNvSpPr txBox="1"/>
          <p:nvPr/>
        </p:nvSpPr>
        <p:spPr>
          <a:xfrm>
            <a:off x="2863516" y="970365"/>
            <a:ext cx="40827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flashed across his face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8B4681-E7D8-C7E7-3A23-68AC9D176440}"/>
              </a:ext>
            </a:extLst>
          </p:cNvPr>
          <p:cNvSpPr txBox="1"/>
          <p:nvPr/>
        </p:nvSpPr>
        <p:spPr>
          <a:xfrm>
            <a:off x="3300663" y="1490972"/>
            <a:ext cx="63446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flashed through my mind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C170E3-B474-0B86-8FAC-26B834741499}"/>
              </a:ext>
            </a:extLst>
          </p:cNvPr>
          <p:cNvSpPr txBox="1"/>
          <p:nvPr/>
        </p:nvSpPr>
        <p:spPr>
          <a:xfrm>
            <a:off x="4865118" y="2434460"/>
            <a:ext cx="63446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shot through/passed through </a:t>
            </a:r>
            <a:r>
              <a:rPr lang="en-US" sz="3200" b="1" dirty="0">
                <a:latin typeface="Times New Roman" panose="02020603050405020304" charset="0"/>
                <a:cs typeface="Times New Roman" panose="02020603050405020304" charset="0"/>
              </a:rPr>
              <a:t>her.</a:t>
            </a:r>
            <a:endParaRPr lang="en-US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32D0A0-5E2F-1B19-D0EE-1C193AF1BC1B}"/>
              </a:ext>
            </a:extLst>
          </p:cNvPr>
          <p:cNvSpPr txBox="1"/>
          <p:nvPr/>
        </p:nvSpPr>
        <p:spPr>
          <a:xfrm>
            <a:off x="128337" y="4876299"/>
            <a:ext cx="23581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in   a   flash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241629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001" y="-136976"/>
            <a:ext cx="12030013" cy="6541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4500" indent="-444500">
              <a:lnSpc>
                <a:spcPct val="120000"/>
              </a:lnSpc>
            </a:pPr>
            <a:r>
              <a:rPr lang="en-US" altLang="zh-CN" sz="3200" b="1" dirty="0"/>
              <a:t>1) Just hold tight ______ my hand and follow along. </a:t>
            </a:r>
          </a:p>
          <a:p>
            <a:pPr marL="444500" indent="-444500">
              <a:lnSpc>
                <a:spcPct val="120000"/>
              </a:lnSpc>
            </a:pPr>
            <a:r>
              <a:rPr lang="en-US" altLang="zh-CN" sz="3200" b="1" dirty="0"/>
              <a:t>2) Money was </a:t>
            </a:r>
            <a:r>
              <a:rPr lang="en-US" altLang="zh-CN" sz="3200" b="1" dirty="0">
                <a:solidFill>
                  <a:srgbClr val="FF0000"/>
                </a:solidFill>
              </a:rPr>
              <a:t>tight</a:t>
            </a:r>
            <a:r>
              <a:rPr lang="en-US" altLang="zh-CN" sz="3200" b="1" dirty="0"/>
              <a:t> and he needed a job badly. </a:t>
            </a:r>
          </a:p>
          <a:p>
            <a:pPr marL="444500" indent="-444500">
              <a:lnSpc>
                <a:spcPct val="120000"/>
              </a:lnSpc>
            </a:pPr>
            <a:r>
              <a:rPr lang="zh-CN" altLang="en-US" sz="3200" b="1" dirty="0"/>
              <a:t>他手头拮据，急需找到工作。</a:t>
            </a:r>
          </a:p>
          <a:p>
            <a:pPr marL="444500" indent="-444500">
              <a:lnSpc>
                <a:spcPct val="120000"/>
              </a:lnSpc>
            </a:pPr>
            <a:r>
              <a:rPr lang="en-US" altLang="zh-CN" sz="3200" b="1" dirty="0"/>
              <a:t>3) The old man ______________ his money.  </a:t>
            </a:r>
            <a:r>
              <a:rPr lang="zh-CN" altLang="en-US" sz="3200" b="1" dirty="0"/>
              <a:t>那位老人花钱很抠门。</a:t>
            </a:r>
          </a:p>
          <a:p>
            <a:pPr marL="444500" indent="-444500">
              <a:lnSpc>
                <a:spcPct val="120000"/>
              </a:lnSpc>
            </a:pPr>
            <a:r>
              <a:rPr lang="en-US" altLang="zh-CN" sz="3200" b="1" dirty="0"/>
              <a:t>4) The girl’s dress is </a:t>
            </a:r>
            <a:r>
              <a:rPr lang="en-GB" altLang="zh-CN" sz="3200" b="1" dirty="0">
                <a:solidFill>
                  <a:srgbClr val="FF0000"/>
                </a:solidFill>
              </a:rPr>
              <a:t>a tight fit</a:t>
            </a:r>
            <a:r>
              <a:rPr lang="en-US" altLang="zh-CN" sz="3200" b="1" dirty="0"/>
              <a:t>. </a:t>
            </a:r>
          </a:p>
          <a:p>
            <a:pPr marL="444500" indent="-444500">
              <a:lnSpc>
                <a:spcPct val="120000"/>
              </a:lnSpc>
            </a:pPr>
            <a:r>
              <a:rPr lang="zh-CN" altLang="en-US" sz="3200" b="1" dirty="0"/>
              <a:t>那位姑娘的连衣裙刚好合身。</a:t>
            </a:r>
          </a:p>
          <a:p>
            <a:pPr marL="444500" indent="-444500">
              <a:lnSpc>
                <a:spcPct val="120000"/>
              </a:lnSpc>
            </a:pPr>
            <a:r>
              <a:rPr lang="en-US" altLang="zh-CN" sz="3200" b="1" dirty="0"/>
              <a:t>5) It was </a:t>
            </a:r>
            <a:r>
              <a:rPr lang="en-US" altLang="zh-CN" sz="3200" b="1" dirty="0">
                <a:solidFill>
                  <a:srgbClr val="FF0000"/>
                </a:solidFill>
              </a:rPr>
              <a:t>a tight community </a:t>
            </a:r>
            <a:r>
              <a:rPr lang="en-US" altLang="zh-CN" sz="3200" b="1" dirty="0"/>
              <a:t>and newcomers were not welcome.</a:t>
            </a:r>
          </a:p>
          <a:p>
            <a:pPr marL="444500" indent="-444500">
              <a:lnSpc>
                <a:spcPct val="120000"/>
              </a:lnSpc>
            </a:pPr>
            <a:r>
              <a:rPr lang="en-GB" altLang="zh-CN" sz="3200" b="1" dirty="0"/>
              <a:t>6) “I’m sorry, ”she said, with </a:t>
            </a:r>
            <a:r>
              <a:rPr lang="en-GB" altLang="zh-CN" sz="3200" b="1" dirty="0">
                <a:solidFill>
                  <a:srgbClr val="FF0000"/>
                </a:solidFill>
              </a:rPr>
              <a:t>a tight smile</a:t>
            </a:r>
            <a:r>
              <a:rPr lang="en-GB" altLang="zh-CN" sz="3200" b="1" dirty="0"/>
              <a:t>.</a:t>
            </a:r>
          </a:p>
          <a:p>
            <a:pPr marL="444500" indent="-444500">
              <a:lnSpc>
                <a:spcPct val="120000"/>
              </a:lnSpc>
            </a:pPr>
            <a:r>
              <a:rPr lang="en-GB" altLang="zh-CN" sz="3200" b="1" dirty="0"/>
              <a:t>7) </a:t>
            </a:r>
            <a:r>
              <a:rPr lang="en-GB" altLang="zh-CN" sz="3200" b="1" dirty="0">
                <a:solidFill>
                  <a:srgbClr val="FF0000"/>
                </a:solidFill>
              </a:rPr>
              <a:t>Her throat felt tight</a:t>
            </a:r>
            <a:r>
              <a:rPr lang="en-GB" altLang="zh-CN" sz="3200" b="1" dirty="0"/>
              <a:t>, just looking at her baby.</a:t>
            </a:r>
          </a:p>
          <a:p>
            <a:pPr marL="444500" indent="-444500">
              <a:lnSpc>
                <a:spcPct val="120000"/>
              </a:lnSpc>
            </a:pPr>
            <a:r>
              <a:rPr lang="en-GB" altLang="zh-CN" sz="3200" b="1" dirty="0"/>
              <a:t>8) His fists were clenched </a:t>
            </a:r>
            <a:r>
              <a:rPr lang="en-GB" altLang="zh-CN" sz="3200" b="1" dirty="0">
                <a:solidFill>
                  <a:srgbClr val="FF0000"/>
                </a:solidFill>
              </a:rPr>
              <a:t>tight</a:t>
            </a:r>
            <a:r>
              <a:rPr lang="en-GB" altLang="zh-CN" sz="3200" b="1" dirty="0"/>
              <a:t>.</a:t>
            </a:r>
          </a:p>
          <a:p>
            <a:pPr marL="444500" indent="-444500">
              <a:lnSpc>
                <a:spcPct val="120000"/>
              </a:lnSpc>
            </a:pPr>
            <a:r>
              <a:rPr lang="en-GB" altLang="zh-CN" sz="3200" b="1" dirty="0"/>
              <a:t>9) </a:t>
            </a:r>
            <a:r>
              <a:rPr lang="en-GB" altLang="zh-CN" sz="3200" b="1" dirty="0">
                <a:solidFill>
                  <a:srgbClr val="FF0000"/>
                </a:solidFill>
              </a:rPr>
              <a:t>Sleep tight!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7C0DF7-F9FD-7FFC-7528-183AB29E317C}"/>
              </a:ext>
            </a:extLst>
          </p:cNvPr>
          <p:cNvSpPr txBox="1"/>
          <p:nvPr/>
        </p:nvSpPr>
        <p:spPr>
          <a:xfrm>
            <a:off x="3599497" y="0"/>
            <a:ext cx="6825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to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2BD9AA-9AB1-FCFB-DD45-24C3DEF27946}"/>
              </a:ext>
            </a:extLst>
          </p:cNvPr>
          <p:cNvSpPr txBox="1"/>
          <p:nvPr/>
        </p:nvSpPr>
        <p:spPr>
          <a:xfrm>
            <a:off x="3037923" y="1632983"/>
            <a:ext cx="2849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was tight with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0826450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63842" y="203918"/>
            <a:ext cx="11664315" cy="4768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GB" sz="3200" b="1" dirty="0"/>
              <a:t>I don't </a:t>
            </a:r>
            <a:r>
              <a:rPr lang="en-GB" sz="3200" b="1" dirty="0">
                <a:solidFill>
                  <a:srgbClr val="FF0000"/>
                </a:solidFill>
              </a:rPr>
              <a:t>fit in </a:t>
            </a:r>
            <a:r>
              <a:rPr lang="en-GB" sz="3200" b="1" dirty="0"/>
              <a:t>here at all.</a:t>
            </a:r>
          </a:p>
          <a:p>
            <a:pPr>
              <a:lnSpc>
                <a:spcPct val="120000"/>
              </a:lnSpc>
            </a:pPr>
            <a:r>
              <a:rPr lang="en-GB" altLang="zh-CN" sz="3200" b="1" dirty="0">
                <a:cs typeface="Times New Roman" panose="02020603050405020304" charset="0"/>
              </a:rPr>
              <a:t>This masterwork </a:t>
            </a:r>
            <a:r>
              <a:rPr lang="en-GB" altLang="zh-CN" sz="3200" b="1" dirty="0">
                <a:solidFill>
                  <a:srgbClr val="FF0000"/>
                </a:solidFill>
                <a:cs typeface="Times New Roman" panose="02020603050405020304" charset="0"/>
              </a:rPr>
              <a:t>fits</a:t>
            </a:r>
            <a:r>
              <a:rPr lang="en-GB" altLang="zh-CN" sz="3200" b="1" dirty="0">
                <a:cs typeface="Times New Roman" panose="02020603050405020304" charset="0"/>
              </a:rPr>
              <a:t> right </a:t>
            </a:r>
            <a:r>
              <a:rPr lang="en-GB" altLang="zh-CN" sz="3200" b="1" dirty="0">
                <a:solidFill>
                  <a:srgbClr val="FF0000"/>
                </a:solidFill>
                <a:cs typeface="Times New Roman" panose="02020603050405020304" charset="0"/>
              </a:rPr>
              <a:t>in</a:t>
            </a:r>
            <a:r>
              <a:rPr lang="en-GB" altLang="zh-CN" sz="3200" b="1" dirty="0">
                <a:cs typeface="Times New Roman" panose="02020603050405020304" charset="0"/>
              </a:rPr>
              <a:t> the setting of a warm home.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cs typeface="Times New Roman" panose="02020603050405020304" charset="0"/>
              </a:rPr>
              <a:t>他知道我在哪里能发挥作用，以及他怎样做才能激发出我最好的一面。</a:t>
            </a:r>
            <a:endParaRPr lang="en-GB" altLang="zh-CN" sz="3200" b="1" dirty="0"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GB" altLang="zh-CN" sz="3200" b="1" dirty="0">
                <a:cs typeface="Times New Roman" panose="02020603050405020304" charset="0"/>
              </a:rPr>
              <a:t>He knew _______________ and what he had to do to _____________________. </a:t>
            </a:r>
            <a:endParaRPr lang="en-US" altLang="zh-CN" sz="3200" b="1" dirty="0"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GB" altLang="zh-CN" sz="3200" b="1" dirty="0">
                <a:cs typeface="Times New Roman" panose="02020603050405020304" charset="0"/>
              </a:rPr>
              <a:t>We work long hours both outside and inside the home and we rush around trying to </a:t>
            </a:r>
            <a:r>
              <a:rPr lang="en-GB" altLang="zh-CN" sz="3200" b="1" dirty="0">
                <a:solidFill>
                  <a:srgbClr val="FF0000"/>
                </a:solidFill>
                <a:cs typeface="Times New Roman" panose="02020603050405020304" charset="0"/>
              </a:rPr>
              <a:t>fit everything in</a:t>
            </a:r>
            <a:r>
              <a:rPr lang="en-GB" altLang="zh-CN" sz="3200" b="1" dirty="0">
                <a:cs typeface="Times New Roman" panose="02020603050405020304" charset="0"/>
              </a:rPr>
              <a:t>.</a:t>
            </a:r>
            <a:endParaRPr lang="zh-CN" altLang="en-US" sz="3200" b="1" dirty="0">
              <a:cs typeface="Times New Roman" panose="0202060305040502030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C9222C-7543-0507-3760-64EB07AFF2D3}"/>
              </a:ext>
            </a:extLst>
          </p:cNvPr>
          <p:cNvSpPr txBox="1"/>
          <p:nvPr/>
        </p:nvSpPr>
        <p:spPr>
          <a:xfrm>
            <a:off x="1929161" y="2558534"/>
            <a:ext cx="36018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3200" b="1" dirty="0">
                <a:solidFill>
                  <a:srgbClr val="FF0000"/>
                </a:solidFill>
                <a:cs typeface="Times New Roman" panose="02020603050405020304" charset="0"/>
              </a:rPr>
              <a:t>where I fitted in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0F7DA1-E349-64AD-D847-EB0FB9E4D943}"/>
              </a:ext>
            </a:extLst>
          </p:cNvPr>
          <p:cNvSpPr txBox="1"/>
          <p:nvPr/>
        </p:nvSpPr>
        <p:spPr>
          <a:xfrm>
            <a:off x="308446" y="3143309"/>
            <a:ext cx="63115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3200" b="1" dirty="0">
                <a:solidFill>
                  <a:srgbClr val="FF0000"/>
                </a:solidFill>
                <a:cs typeface="Times New Roman" panose="02020603050405020304" charset="0"/>
              </a:rPr>
              <a:t>bring out the best in me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8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4D6A5-BD8F-338F-5F4C-60EF6457F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CB6C192-802A-C3C8-3D84-34948B43DA4F}"/>
              </a:ext>
            </a:extLst>
          </p:cNvPr>
          <p:cNvSpPr txBox="1"/>
          <p:nvPr/>
        </p:nvSpPr>
        <p:spPr>
          <a:xfrm>
            <a:off x="263842" y="203918"/>
            <a:ext cx="1166431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Jane is very </a:t>
            </a:r>
            <a:r>
              <a:rPr lang="en-GB" sz="3200" b="1" dirty="0">
                <a:solidFill>
                  <a:srgbClr val="FF0000"/>
                </a:solidFill>
              </a:rPr>
              <a:t>mature</a:t>
            </a:r>
            <a:r>
              <a:rPr lang="en-GB" sz="3200" b="1" dirty="0"/>
              <a:t> for her age. </a:t>
            </a:r>
          </a:p>
          <a:p>
            <a:r>
              <a:rPr lang="zh-CN" altLang="en-US" sz="3200" b="1" dirty="0"/>
              <a:t>简年龄不大，却很成熟。</a:t>
            </a:r>
          </a:p>
          <a:p>
            <a:r>
              <a:rPr lang="en-GB" sz="3200" b="1" dirty="0">
                <a:solidFill>
                  <a:srgbClr val="FF0000"/>
                </a:solidFill>
              </a:rPr>
              <a:t>on mature reflection/consideration</a:t>
            </a:r>
          </a:p>
          <a:p>
            <a:r>
              <a:rPr lang="zh-CN" altLang="en-US" sz="3200" b="1" dirty="0"/>
              <a:t>经过深思熟虑</a:t>
            </a:r>
          </a:p>
          <a:p>
            <a:r>
              <a:rPr lang="en-GB" sz="3200" b="1" dirty="0">
                <a:solidFill>
                  <a:srgbClr val="FF0000"/>
                </a:solidFill>
              </a:rPr>
              <a:t>immature</a:t>
            </a:r>
          </a:p>
          <a:p>
            <a:r>
              <a:rPr lang="en-GB" sz="3200" b="1" dirty="0"/>
              <a:t>reach</a:t>
            </a:r>
            <a:r>
              <a:rPr lang="en-GB" sz="3200" b="1" dirty="0">
                <a:solidFill>
                  <a:srgbClr val="FF0000"/>
                </a:solidFill>
              </a:rPr>
              <a:t> maturity</a:t>
            </a:r>
          </a:p>
          <a:p>
            <a:r>
              <a:rPr lang="en-GB" sz="3200" b="1" dirty="0"/>
              <a:t>Technology in this field has </a:t>
            </a:r>
            <a:r>
              <a:rPr lang="en-GB" sz="3200" b="1" dirty="0">
                <a:solidFill>
                  <a:srgbClr val="FF0000"/>
                </a:solidFill>
              </a:rPr>
              <a:t>matured</a:t>
            </a:r>
            <a:r>
              <a:rPr lang="en-GB" sz="3200" b="1" dirty="0"/>
              <a:t> considerably over the last decade.</a:t>
            </a:r>
          </a:p>
          <a:p>
            <a:r>
              <a:rPr lang="zh-CN" altLang="en-US" sz="3200" b="1" dirty="0"/>
              <a:t>这一领域的技术经过过去十年的发展已经相当完善。</a:t>
            </a:r>
            <a:endParaRPr lang="en-GB" sz="3200" b="1" dirty="0"/>
          </a:p>
          <a:p>
            <a:r>
              <a:rPr lang="en-GB" sz="3200" b="1" dirty="0"/>
              <a:t>She had </a:t>
            </a:r>
            <a:r>
              <a:rPr lang="en-GB" sz="3200" b="1" dirty="0">
                <a:solidFill>
                  <a:srgbClr val="FF0000"/>
                </a:solidFill>
              </a:rPr>
              <a:t>matured into </a:t>
            </a:r>
            <a:r>
              <a:rPr lang="en-GB" sz="3200" b="1" dirty="0"/>
              <a:t>one of the country’s finest actresses.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56395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58942" y="1425533"/>
            <a:ext cx="10644554" cy="4177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3200" b="1" dirty="0">
                <a:solidFill>
                  <a:srgbClr val="0000FF"/>
                </a:solidFill>
                <a:cs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cs typeface="Times New Roman" panose="0202060305040502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cs typeface="Times New Roman" panose="0202060305040502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cs typeface="Times New Roman" panose="02020603050405020304" pitchFamily="18" charset="0"/>
              </a:rPr>
              <a:t>完成句子。</a:t>
            </a:r>
            <a:endParaRPr lang="en-US" altLang="zh-CN" sz="3200" b="1" dirty="0">
              <a:solidFill>
                <a:srgbClr val="0000FF"/>
              </a:solidFill>
              <a:cs typeface="Times New Roman" panose="02020603050405020304" pitchFamily="18" charset="0"/>
            </a:endParaRPr>
          </a:p>
          <a:p>
            <a:pPr marL="631825" indent="-631825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3200" b="1" dirty="0">
                <a:solidFill>
                  <a:prstClr val="black"/>
                </a:solidFill>
                <a:cs typeface="Times New Roman" panose="02020603050405020304" pitchFamily="18" charset="0"/>
              </a:rPr>
              <a:t>  1) The film is perfect, ___________________________ (</a:t>
            </a:r>
            <a:r>
              <a:rPr lang="zh-CN" altLang="en-US" sz="3200" b="1" dirty="0">
                <a:solidFill>
                  <a:prstClr val="black"/>
                </a:solidFill>
                <a:cs typeface="Times New Roman" panose="02020603050405020304" pitchFamily="18" charset="0"/>
              </a:rPr>
              <a:t>我从来没有看过比这更好的电影了</a:t>
            </a:r>
            <a:r>
              <a:rPr lang="en-US" altLang="zh-CN" sz="3200" b="1" dirty="0">
                <a:solidFill>
                  <a:prstClr val="black"/>
                </a:solidFill>
                <a:cs typeface="Times New Roman" panose="02020603050405020304" pitchFamily="18" charset="0"/>
              </a:rPr>
              <a:t>) before.</a:t>
            </a:r>
          </a:p>
          <a:p>
            <a:pPr marL="631825" indent="-631825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3200" b="1" dirty="0">
                <a:solidFill>
                  <a:prstClr val="black"/>
                </a:solidFill>
                <a:cs typeface="Times New Roman" panose="02020603050405020304" pitchFamily="18" charset="0"/>
              </a:rPr>
              <a:t>  2) Not until someone reminded him ___________________ (</a:t>
            </a:r>
            <a:r>
              <a:rPr lang="zh-CN" altLang="en-US" sz="3200" b="1" dirty="0">
                <a:solidFill>
                  <a:prstClr val="black"/>
                </a:solidFill>
                <a:cs typeface="Times New Roman" panose="02020603050405020304" pitchFamily="18" charset="0"/>
              </a:rPr>
              <a:t>他才知道</a:t>
            </a:r>
            <a:r>
              <a:rPr lang="en-US" altLang="zh-CN" sz="3200" b="1" dirty="0">
                <a:solidFill>
                  <a:prstClr val="black"/>
                </a:solidFill>
                <a:cs typeface="Times New Roman" panose="02020603050405020304" pitchFamily="18" charset="0"/>
              </a:rPr>
              <a:t>) the man told a lie.</a:t>
            </a:r>
          </a:p>
          <a:p>
            <a:pPr marL="631825" indent="-631825">
              <a:lnSpc>
                <a:spcPct val="120000"/>
              </a:lnSpc>
            </a:pPr>
            <a:r>
              <a:rPr lang="zh-CN" altLang="en-US" sz="3200" b="1" dirty="0">
                <a:solidFill>
                  <a:prstClr val="black"/>
                </a:solidFill>
                <a:cs typeface="Times New Roman" panose="02020603050405020304" pitchFamily="18" charset="0"/>
              </a:rPr>
              <a:t>  </a:t>
            </a:r>
            <a:r>
              <a:rPr lang="en-US" altLang="zh-CN" sz="3200" b="1" dirty="0">
                <a:solidFill>
                  <a:prstClr val="black"/>
                </a:solidFill>
                <a:cs typeface="Times New Roman" panose="02020603050405020304" pitchFamily="18" charset="0"/>
              </a:rPr>
              <a:t>3</a:t>
            </a:r>
            <a:r>
              <a:rPr lang="en-GB" altLang="zh-CN" sz="3200" b="1" dirty="0">
                <a:solidFill>
                  <a:prstClr val="black"/>
                </a:solidFill>
                <a:cs typeface="Times New Roman" panose="02020603050405020304" pitchFamily="18" charset="0"/>
              </a:rPr>
              <a:t>)</a:t>
            </a:r>
            <a:r>
              <a:rPr lang="en-US" altLang="zh-CN" sz="3200" b="1" dirty="0">
                <a:solidFill>
                  <a:prstClr val="black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Scarcely/Hardly 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 _______________ (</a:t>
            </a: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</a:rPr>
              <a:t>他一出去</a:t>
            </a:r>
            <a:r>
              <a:rPr lang="en-GB" altLang="zh-CN" sz="3200" b="1" dirty="0">
                <a:latin typeface="Times New Roman" panose="02020603050405020304" charset="0"/>
                <a:cs typeface="Times New Roman" panose="02020603050405020304" charset="0"/>
              </a:rPr>
              <a:t>) 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when it began to rain.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806098" y="1969650"/>
            <a:ext cx="5369932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never have I seen a better one</a:t>
            </a:r>
            <a:endParaRPr lang="zh-CN" altLang="en-US" sz="32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500065" y="3169542"/>
            <a:ext cx="2326278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did he know</a:t>
            </a:r>
            <a:endParaRPr lang="zh-CN" altLang="en-US" sz="32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8883AB-7A4C-2025-3137-C0D481C00221}"/>
              </a:ext>
            </a:extLst>
          </p:cNvPr>
          <p:cNvSpPr txBox="1"/>
          <p:nvPr/>
        </p:nvSpPr>
        <p:spPr>
          <a:xfrm>
            <a:off x="4294826" y="4369434"/>
            <a:ext cx="29754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had he gone out 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8773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121920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The article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made no reference to 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previous research on the subject.</a:t>
            </a:r>
          </a:p>
          <a:p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__________________________ (</a:t>
            </a: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</a:rPr>
              <a:t>没有直接提及</a:t>
            </a:r>
            <a:r>
              <a:rPr lang="en-GB" altLang="zh-CN" sz="3200" b="1" dirty="0">
                <a:latin typeface="Times New Roman" panose="02020603050405020304" charset="0"/>
                <a:cs typeface="Times New Roman" panose="02020603050405020304" charset="0"/>
              </a:rPr>
              <a:t>) previous research on the subject in this article</a:t>
            </a:r>
            <a:endParaRPr lang="en-US" altLang="zh-CN" sz="32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GB" altLang="zh-CN" sz="3200" b="1" dirty="0">
                <a:latin typeface="Times New Roman" panose="02020603050405020304" charset="0"/>
                <a:cs typeface="Times New Roman" panose="02020603050405020304" charset="0"/>
              </a:rPr>
              <a:t>1) </a:t>
            </a: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</a:rPr>
              <a:t>提及，谈及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mention </a:t>
            </a:r>
            <a:r>
              <a:rPr lang="en-US" altLang="zh-CN" sz="3200" b="1" i="1" dirty="0" err="1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sth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/sb</a:t>
            </a:r>
          </a:p>
          <a:p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The book is organized alphabetically for easy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reference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r>
              <a:rPr lang="en-GB" altLang="zh-CN" sz="3200" b="1" dirty="0">
                <a:latin typeface="Times New Roman" panose="02020603050405020304" charset="0"/>
                <a:cs typeface="Times New Roman" panose="02020603050405020304" charset="0"/>
              </a:rPr>
              <a:t>2) </a:t>
            </a: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</a:rPr>
              <a:t>以便</a:t>
            </a:r>
            <a:r>
              <a:rPr lang="en-GB" altLang="zh-CN" sz="3200" b="1" dirty="0">
                <a:latin typeface="Times New Roman" panose="02020603050405020304" charset="0"/>
                <a:cs typeface="Times New Roman" panose="02020603050405020304" charset="0"/>
              </a:rPr>
              <a:t>(</a:t>
            </a:r>
            <a:r>
              <a:rPr lang="zh-CN" altLang="en-GB" sz="3200" b="1" dirty="0">
                <a:latin typeface="Times New Roman" panose="02020603050405020304" charset="0"/>
                <a:cs typeface="Times New Roman" panose="02020603050405020304" charset="0"/>
              </a:rPr>
              <a:t>日后</a:t>
            </a:r>
            <a:r>
              <a:rPr lang="en-GB" altLang="zh-CN" sz="3200" b="1" dirty="0">
                <a:latin typeface="Times New Roman" panose="02020603050405020304" charset="0"/>
                <a:cs typeface="Times New Roman" panose="02020603050405020304" charset="0"/>
              </a:rPr>
              <a:t>)</a:t>
            </a: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</a:rPr>
              <a:t>查询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for future reference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[C] </a:t>
            </a:r>
            <a:r>
              <a:rPr lang="zh-CN" altLang="en-GB" sz="3200" b="1" dirty="0">
                <a:latin typeface="Times New Roman" panose="02020603050405020304" charset="0"/>
                <a:cs typeface="Times New Roman" panose="02020603050405020304" charset="0"/>
              </a:rPr>
              <a:t>推荐</a:t>
            </a: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</a:rPr>
              <a:t>信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(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letter of reference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); </a:t>
            </a: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</a:rPr>
              <a:t>推荐人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referee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; </a:t>
            </a: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</a:rPr>
              <a:t>参考书目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a list of references</a:t>
            </a:r>
            <a:endParaRPr lang="zh-CN" altLang="en-US" sz="32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3)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in/with reference to…</a:t>
            </a: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</a:rPr>
              <a:t>关于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……(formal)</a:t>
            </a:r>
          </a:p>
          <a:p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I am writing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 with reference to 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your article on salaries for scientists.</a:t>
            </a:r>
          </a:p>
          <a:p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The article does not need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reference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 anything.</a:t>
            </a:r>
          </a:p>
          <a:p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</a:rPr>
              <a:t>查阅，参考，附有参考书目</a:t>
            </a:r>
          </a:p>
        </p:txBody>
      </p:sp>
      <p:sp>
        <p:nvSpPr>
          <p:cNvPr id="3" name="文本框 7">
            <a:extLst>
              <a:ext uri="{FF2B5EF4-FFF2-40B4-BE49-F238E27FC236}">
                <a16:creationId xmlns:a16="http://schemas.microsoft.com/office/drawing/2014/main" id="{A6121972-DC95-A961-5F9A-DD41F4F1B798}"/>
              </a:ext>
            </a:extLst>
          </p:cNvPr>
          <p:cNvSpPr txBox="1"/>
          <p:nvPr/>
        </p:nvSpPr>
        <p:spPr>
          <a:xfrm>
            <a:off x="0" y="436591"/>
            <a:ext cx="5435206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There is no direct reference to</a:t>
            </a:r>
            <a:endParaRPr lang="zh-CN" altLang="en-US" sz="32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8237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1165860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bounce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 a ball against the wall</a:t>
            </a:r>
          </a:p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bounce up and down 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on the sofa</a:t>
            </a:r>
          </a:p>
          <a:p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</a:rPr>
              <a:t>有时我们</a:t>
            </a:r>
            <a:r>
              <a:rPr lang="zh-CN" altLang="en-GB" sz="3200" b="1" dirty="0">
                <a:latin typeface="Times New Roman" panose="02020603050405020304" charset="0"/>
                <a:cs typeface="Times New Roman" panose="02020603050405020304" charset="0"/>
              </a:rPr>
              <a:t>试探着</a:t>
            </a: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</a:rPr>
              <a:t>和别人讲自己的想法，以帮助澄清我们的想法。</a:t>
            </a:r>
            <a:endParaRPr lang="en-US" altLang="zh-CN" sz="32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Sometimes we bounce ideas off others to help clarify our thinking.</a:t>
            </a:r>
          </a:p>
          <a:p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It was good to 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bounce ideas off another mind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Let‘s 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bounce a few ideas around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. </a:t>
            </a: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</a:rPr>
              <a:t>我们交流一下看法吧。</a:t>
            </a:r>
            <a:endParaRPr lang="en-US" altLang="zh-CN" sz="32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With the problems _______</a:t>
            </a: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GB" altLang="zh-CN" sz="3200" b="1" dirty="0">
                <a:latin typeface="Times New Roman" panose="02020603050405020304" charset="0"/>
                <a:cs typeface="Times New Roman" panose="02020603050405020304" charset="0"/>
              </a:rPr>
              <a:t>(</a:t>
            </a:r>
            <a:r>
              <a:rPr lang="zh-CN" altLang="en-GB" sz="3200" b="1" dirty="0">
                <a:latin typeface="Times New Roman" panose="02020603050405020304" charset="0"/>
                <a:cs typeface="Times New Roman" panose="02020603050405020304" charset="0"/>
              </a:rPr>
              <a:t>解决</a:t>
            </a:r>
            <a:r>
              <a:rPr lang="en-GB" altLang="zh-CN" sz="3200" b="1" dirty="0">
                <a:latin typeface="Times New Roman" panose="02020603050405020304" charset="0"/>
                <a:cs typeface="Times New Roman" panose="02020603050405020304" charset="0"/>
              </a:rPr>
              <a:t>)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, the company managed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bounce back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r>
              <a:rPr lang="en-US" altLang="zh-CN" sz="3200" b="1" dirty="0"/>
              <a:t>He’s had a lot of problems, but he always seems to ______ _____ pretty quickly.</a:t>
            </a:r>
            <a:endParaRPr lang="en-US" altLang="zh-CN" sz="32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968500" indent="-1968500"/>
            <a:r>
              <a:rPr lang="en-GB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n.</a:t>
            </a:r>
          </a:p>
          <a:p>
            <a:pPr marL="1968500" indent="-1968500"/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Try to catch the ball on the second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bounce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pPr marL="1968500" indent="-1968500"/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Exercise is great. I feel like there's a new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bounce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 in my step.</a:t>
            </a:r>
            <a:endParaRPr lang="zh-CN" altLang="en-US" sz="32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zh-CN" altLang="en-US" sz="32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DC2B69-CF45-F437-B29F-B06452DFB10C}"/>
              </a:ext>
            </a:extLst>
          </p:cNvPr>
          <p:cNvSpPr txBox="1"/>
          <p:nvPr/>
        </p:nvSpPr>
        <p:spPr>
          <a:xfrm>
            <a:off x="3359848" y="2908489"/>
            <a:ext cx="29754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resolved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D9550F-3ACE-85FD-DCFE-F894AE8D4F94}"/>
              </a:ext>
            </a:extLst>
          </p:cNvPr>
          <p:cNvSpPr txBox="1"/>
          <p:nvPr/>
        </p:nvSpPr>
        <p:spPr>
          <a:xfrm>
            <a:off x="2504914" y="3429000"/>
            <a:ext cx="6338806" cy="589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i="1" dirty="0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recover</a:t>
            </a: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</a:rPr>
              <a:t> 重振旗鼓，恢复健康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/</a:t>
            </a: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</a:rPr>
              <a:t>信心</a:t>
            </a:r>
            <a:endParaRPr lang="en-GB" altLang="zh-CN" sz="32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FD692A-005C-695D-CE6E-F0626D4F6972}"/>
              </a:ext>
            </a:extLst>
          </p:cNvPr>
          <p:cNvSpPr txBox="1"/>
          <p:nvPr/>
        </p:nvSpPr>
        <p:spPr>
          <a:xfrm>
            <a:off x="8843720" y="3841023"/>
            <a:ext cx="10534382" cy="589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GB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bounce  back</a:t>
            </a:r>
          </a:p>
        </p:txBody>
      </p:sp>
    </p:spTree>
    <p:extLst>
      <p:ext uri="{BB962C8B-B14F-4D97-AF65-F5344CB8AC3E}">
        <p14:creationId xmlns:p14="http://schemas.microsoft.com/office/powerpoint/2010/main" val="3000089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3C526C-9BFB-F371-5AAC-BC6BF6EE2D84}"/>
              </a:ext>
            </a:extLst>
          </p:cNvPr>
          <p:cNvSpPr txBox="1"/>
          <p:nvPr/>
        </p:nvSpPr>
        <p:spPr>
          <a:xfrm>
            <a:off x="166606" y="170942"/>
            <a:ext cx="1202539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3200" b="1" dirty="0">
                <a:solidFill>
                  <a:srgbClr val="000000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他们被控胁迫选民投他们的票。</a:t>
            </a:r>
            <a:endParaRPr lang="zh-CN" altLang="en-US" sz="3200" dirty="0">
              <a:solidFill>
                <a:srgbClr val="000000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>
              <a:buNone/>
            </a:pPr>
            <a:r>
              <a:rPr lang="en-GB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They were accused ________ _______ people ____ ______ for them.</a:t>
            </a:r>
            <a:endParaRPr lang="en-GB" sz="320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>
              <a:buNone/>
            </a:pPr>
            <a:r>
              <a:rPr lang="en-GB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be intimidated by…</a:t>
            </a:r>
            <a:endParaRPr lang="en-GB" sz="3200" dirty="0">
              <a:solidFill>
                <a:srgbClr val="FF0000"/>
              </a:solidFill>
              <a:effectLst/>
              <a:latin typeface="Times New Roman" panose="02020603050405020304" pitchFamily="18" charset="0"/>
            </a:endParaRPr>
          </a:p>
          <a:p>
            <a:pPr>
              <a:buNone/>
            </a:pPr>
            <a:r>
              <a:rPr lang="en-GB" sz="3200" b="1" dirty="0">
                <a:effectLst/>
                <a:latin typeface="Times New Roman" panose="02020603050405020304" pitchFamily="18" charset="0"/>
              </a:rPr>
              <a:t>We try to make sure children don’t </a:t>
            </a:r>
            <a:r>
              <a:rPr lang="en-GB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feel intimidated </a:t>
            </a:r>
            <a:r>
              <a:rPr lang="en-GB" sz="3200" b="1" dirty="0">
                <a:effectLst/>
                <a:latin typeface="Times New Roman" panose="02020603050405020304" pitchFamily="18" charset="0"/>
              </a:rPr>
              <a:t>on their first day at school.</a:t>
            </a:r>
          </a:p>
          <a:p>
            <a:pPr>
              <a:buNone/>
            </a:pPr>
            <a:r>
              <a:rPr lang="en-GB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find the situation __________</a:t>
            </a:r>
            <a:endParaRPr lang="en-GB" sz="320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>
              <a:buNone/>
            </a:pPr>
            <a:r>
              <a:rPr lang="en-GB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endure years of __________</a:t>
            </a:r>
            <a:endParaRPr lang="en-GB" sz="320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DCEAE8-97A9-9FFD-DEFC-82BF69A916DB}"/>
              </a:ext>
            </a:extLst>
          </p:cNvPr>
          <p:cNvSpPr txBox="1"/>
          <p:nvPr/>
        </p:nvSpPr>
        <p:spPr>
          <a:xfrm>
            <a:off x="3611320" y="589823"/>
            <a:ext cx="10534382" cy="589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GB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of    intimidating                into  voting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1C4420-1B3C-5B83-53CD-547B0DFDC687}"/>
              </a:ext>
            </a:extLst>
          </p:cNvPr>
          <p:cNvSpPr txBox="1"/>
          <p:nvPr/>
        </p:nvSpPr>
        <p:spPr>
          <a:xfrm>
            <a:off x="3237422" y="2545623"/>
            <a:ext cx="10534382" cy="589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GB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intimidating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6F20F7-9ED1-32BB-ABD8-3A56A1FE264B}"/>
              </a:ext>
            </a:extLst>
          </p:cNvPr>
          <p:cNvSpPr txBox="1"/>
          <p:nvPr/>
        </p:nvSpPr>
        <p:spPr>
          <a:xfrm>
            <a:off x="2983422" y="3113193"/>
            <a:ext cx="10534382" cy="589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GB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intimidation</a:t>
            </a:r>
          </a:p>
        </p:txBody>
      </p:sp>
    </p:spTree>
    <p:extLst>
      <p:ext uri="{BB962C8B-B14F-4D97-AF65-F5344CB8AC3E}">
        <p14:creationId xmlns:p14="http://schemas.microsoft.com/office/powerpoint/2010/main" val="1014739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54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2453</TotalTime>
  <Words>1022</Words>
  <Application>Microsoft Macintosh PowerPoint</Application>
  <PresentationFormat>Widescreen</PresentationFormat>
  <Paragraphs>127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Songti SC</vt:lpstr>
      <vt:lpstr>Arial</vt:lpstr>
      <vt:lpstr>Calibri</vt:lpstr>
      <vt:lpstr>Times New Roman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68</cp:revision>
  <dcterms:created xsi:type="dcterms:W3CDTF">2022-03-02T06:06:31Z</dcterms:created>
  <dcterms:modified xsi:type="dcterms:W3CDTF">2026-07-23T01:32:06Z</dcterms:modified>
</cp:coreProperties>
</file>