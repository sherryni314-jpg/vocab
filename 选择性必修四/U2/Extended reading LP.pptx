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ags/tag63.xml" ContentType="application/vnd.openxmlformats-officedocument.presentationml.tags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tags/tag64.xml" ContentType="application/vnd.openxmlformats-officedocument.presentationml.tags+xml"/>
  <Override PartName="/ppt/theme/themeOverride3.xml" ContentType="application/vnd.openxmlformats-officedocument.themeOverride+xml"/>
  <Override PartName="/ppt/tags/tag65.xml" ContentType="application/vnd.openxmlformats-officedocument.presentationml.tags+xml"/>
  <Override PartName="/ppt/notesSlides/notesSlide2.xml" ContentType="application/vnd.openxmlformats-officedocument.presentationml.notesSlide+xml"/>
  <Override PartName="/ppt/theme/themeOverride4.xml" ContentType="application/vnd.openxmlformats-officedocument.themeOverride+xml"/>
  <Override PartName="/ppt/tags/tag66.xml" ContentType="application/vnd.openxmlformats-officedocument.presentationml.tags+xml"/>
  <Override PartName="/ppt/notesSlides/notesSlide3.xml" ContentType="application/vnd.openxmlformats-officedocument.presentationml.notesSlide+xml"/>
  <Override PartName="/ppt/theme/themeOverride5.xml" ContentType="application/vnd.openxmlformats-officedocument.themeOverride+xml"/>
  <Override PartName="/ppt/tags/tag67.xml" ContentType="application/vnd.openxmlformats-officedocument.presentationml.tags+xml"/>
  <Override PartName="/ppt/notesSlides/notesSlide4.xml" ContentType="application/vnd.openxmlformats-officedocument.presentationml.notesSlide+xml"/>
  <Override PartName="/ppt/theme/themeOverride6.xml" ContentType="application/vnd.openxmlformats-officedocument.themeOverride+xml"/>
  <Override PartName="/ppt/tags/tag68.xml" ContentType="application/vnd.openxmlformats-officedocument.presentationml.tags+xml"/>
  <Override PartName="/ppt/notesSlides/notesSlide5.xml" ContentType="application/vnd.openxmlformats-officedocument.presentationml.notesSlide+xml"/>
  <Override PartName="/ppt/theme/themeOverride7.xml" ContentType="application/vnd.openxmlformats-officedocument.themeOverride+xml"/>
  <Override PartName="/ppt/tags/tag69.xml" ContentType="application/vnd.openxmlformats-officedocument.presentationml.tags+xml"/>
  <Override PartName="/ppt/notesSlides/notesSlide6.xml" ContentType="application/vnd.openxmlformats-officedocument.presentationml.notesSlide+xml"/>
  <Override PartName="/ppt/theme/themeOverride8.xml" ContentType="application/vnd.openxmlformats-officedocument.themeOverride+xml"/>
  <Override PartName="/ppt/tags/tag70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2"/>
  </p:notesMasterIdLst>
  <p:sldIdLst>
    <p:sldId id="477" r:id="rId3"/>
    <p:sldId id="604" r:id="rId4"/>
    <p:sldId id="612" r:id="rId5"/>
    <p:sldId id="624" r:id="rId6"/>
    <p:sldId id="605" r:id="rId7"/>
    <p:sldId id="625" r:id="rId8"/>
    <p:sldId id="606" r:id="rId9"/>
    <p:sldId id="626" r:id="rId10"/>
    <p:sldId id="628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CC"/>
    <a:srgbClr val="0A74F9"/>
    <a:srgbClr val="FF9914"/>
    <a:srgbClr val="FF9C15"/>
    <a:srgbClr val="56ADE1"/>
    <a:srgbClr val="C5D6E6"/>
    <a:srgbClr val="FFFFFF"/>
    <a:srgbClr val="E9EBF5"/>
    <a:srgbClr val="CFD5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28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play-based learning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阻碍，阻挠</a:t>
            </a:r>
            <a:r>
              <a:rPr lang="en-US" altLang="zh-CN"/>
              <a:t> / </a:t>
            </a:r>
            <a:r>
              <a:rPr lang="en-US" altLang="en-US"/>
              <a:t>ˌ</a:t>
            </a:r>
            <a:r>
              <a:rPr lang="" altLang="en-US"/>
              <a:t>ɪ</a:t>
            </a:r>
            <a:r>
              <a:rPr lang="en-US" altLang="en-US"/>
              <a:t>nt</a:t>
            </a:r>
            <a:r>
              <a:rPr lang="" altLang="en-US"/>
              <a:t>ə</a:t>
            </a:r>
            <a:r>
              <a:rPr lang="en-US" altLang="en-US"/>
              <a:t>ˈviːn /</a:t>
            </a:r>
          </a:p>
          <a:p>
            <a:endParaRPr lang="en-US" altLang="en-US"/>
          </a:p>
          <a:p>
            <a:r>
              <a:rPr lang="en-US" altLang="en-US"/>
              <a:t> regulate one's lifestyle to fit in with sth</a:t>
            </a:r>
          </a:p>
          <a:p>
            <a:r>
              <a:rPr lang="zh-CN" altLang="en-US"/>
              <a:t>调节生活方式以适应某事物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被断然否决</a:t>
            </a:r>
          </a:p>
          <a:p>
            <a:r>
              <a:rPr lang="zh-CN" altLang="en-US"/>
              <a:t>被慢待，不够关心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growing</a:t>
            </a:r>
            <a:endParaRPr lang="zh-CN" altLang="en-US"/>
          </a:p>
          <a:p>
            <a:r>
              <a:rPr lang="zh-CN" altLang="en-US"/>
              <a:t>倾向，偏好</a:t>
            </a:r>
            <a:r>
              <a:rPr lang="en-US" altLang="zh-CN"/>
              <a:t> (</a:t>
            </a:r>
            <a:r>
              <a:rPr lang="zh-CN" altLang="en-US"/>
              <a:t>性格</a:t>
            </a:r>
            <a:r>
              <a:rPr lang="en-US" altLang="zh-CN"/>
              <a:t>)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他们俩的脸上都流露出真挚友好的表情。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他在冰上滑倒了。</a:t>
            </a:r>
          </a:p>
          <a:p>
            <a:r>
              <a:rPr lang="zh-CN" altLang="en-US"/>
              <a:t>他在冰上的滑倒摔断了他的腿。</a:t>
            </a:r>
          </a:p>
          <a:p>
            <a:r>
              <a:rPr lang="zh-CN" altLang="en-US"/>
              <a:t>孩子从他的怀里溜走了。</a:t>
            </a:r>
            <a:r>
              <a:rPr lang="en-US" altLang="zh-CN"/>
              <a:t> sneak, creep, slide</a:t>
            </a:r>
            <a:endParaRPr lang="zh-CN" altLang="en-US"/>
          </a:p>
          <a:p>
            <a:r>
              <a:rPr lang="zh-CN" altLang="en-US"/>
              <a:t>她在其他人醒来之前溜出了房子。</a:t>
            </a:r>
          </a:p>
          <a:p>
            <a:r>
              <a:rPr lang="zh-CN" altLang="en-US"/>
              <a:t>他们偷偷给警卫一些钱。</a:t>
            </a:r>
          </a:p>
          <a:p>
            <a:r>
              <a:rPr lang="zh-CN" altLang="en-US"/>
              <a:t>时间在流逝。</a:t>
            </a:r>
          </a:p>
          <a:p>
            <a:r>
              <a:rPr lang="zh-CN" altLang="en-US"/>
              <a:t>我来的原因显然已经忘记了。</a:t>
            </a:r>
          </a:p>
          <a:p>
            <a:r>
              <a:rPr lang="zh-CN" altLang="en-US"/>
              <a:t>不要让出国工作的机会从您的指缝中溜走。</a:t>
            </a:r>
          </a:p>
          <a:p>
            <a:r>
              <a:rPr lang="zh-CN" altLang="en-US"/>
              <a:t>她养成了坏习惯。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她尽量不让她知道的事情溜走。</a:t>
            </a:r>
          </a:p>
          <a:p>
            <a:r>
              <a:rPr lang="zh-CN" altLang="en-US"/>
              <a:t>我把她的名字写在一张纸条上。</a:t>
            </a:r>
          </a:p>
          <a:p>
            <a:r>
              <a:rPr lang="zh-CN" altLang="en-US"/>
              <a:t>他背诵了整首诗，没有犯一个错误。</a:t>
            </a:r>
          </a:p>
          <a:p>
            <a:r>
              <a:rPr lang="zh-CN" altLang="en-US"/>
              <a:t>这只是笔</a:t>
            </a:r>
            <a:r>
              <a:rPr lang="en-US" altLang="en-US"/>
              <a:t>/</a:t>
            </a:r>
            <a:r>
              <a:rPr lang="zh-CN" altLang="en-US"/>
              <a:t>舌头的滑落</a:t>
            </a:r>
          </a:p>
          <a:p>
            <a:r>
              <a:rPr lang="zh-CN" altLang="en-US"/>
              <a:t>谨慎！地板湿滑！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39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57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2026/7/23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‹#›</a:t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2026/7/23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2026/7/23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2026/7/23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2026/7/23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2026/7/23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>
          <a:blip r:embed="rId5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2026/7/23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2026/7/23</a:t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2026/7/23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2026/7/23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2026/7/23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13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CF8D2-1FBB-4566-BAA4-CFEBD45A3143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2026/7/23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‹#›</a:t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63.xml"/><Relationship Id="rId1" Type="http://schemas.openxmlformats.org/officeDocument/2006/relationships/themeOverride" Target="../theme/themeOverride1.xml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64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65.xml"/><Relationship Id="rId1" Type="http://schemas.openxmlformats.org/officeDocument/2006/relationships/themeOverride" Target="../theme/themeOverride3.xml"/><Relationship Id="rId4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66.xml"/><Relationship Id="rId1" Type="http://schemas.openxmlformats.org/officeDocument/2006/relationships/themeOverride" Target="../theme/themeOverride4.xml"/><Relationship Id="rId4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67.xml"/><Relationship Id="rId1" Type="http://schemas.openxmlformats.org/officeDocument/2006/relationships/themeOverride" Target="../theme/themeOverride5.xml"/><Relationship Id="rId4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68.xml"/><Relationship Id="rId1" Type="http://schemas.openxmlformats.org/officeDocument/2006/relationships/themeOverride" Target="../theme/themeOverride6.xml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69.xml"/><Relationship Id="rId1" Type="http://schemas.openxmlformats.org/officeDocument/2006/relationships/themeOverride" Target="../theme/themeOverride7.xml"/><Relationship Id="rId4" Type="http://schemas.openxmlformats.org/officeDocument/2006/relationships/notesSlide" Target="../notesSlides/notesSlid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70.xml"/><Relationship Id="rId1" Type="http://schemas.openxmlformats.org/officeDocument/2006/relationships/themeOverride" Target="../theme/themeOverride8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18440" y="251460"/>
            <a:ext cx="11853545" cy="6043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65655" lvl="0" indent="-2065655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integrate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v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.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endParaRPr lang="en-US" altLang="zh-CN" sz="3200" b="1" dirty="0">
              <a:solidFill>
                <a:srgbClr val="FF0000"/>
              </a:solidFill>
              <a:latin typeface="宋体" pitchFamily="2" charset="-122"/>
              <a:ea typeface="宋体" pitchFamily="2" charset="-122"/>
              <a:cs typeface="Times New Roman" panose="02020503050405090304" charset="0"/>
            </a:endParaRPr>
          </a:p>
          <a:p>
            <a:pPr marL="2065655" lvl="0" indent="-2065655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integrate A into / with B</a:t>
            </a:r>
          </a:p>
          <a:p>
            <a:pPr marL="2065655" indent="-2065655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integrate A and B</a:t>
            </a:r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It's very difficult to _______ _______ _______ a society _______ culture is so different from your own.                                                                                          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让自己融入一个文化上完全不同的社会是非常困难的。</a:t>
            </a:r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The idea with young children is to ________ learning ____ play.                            </a:t>
            </a:r>
          </a:p>
          <a:p>
            <a:pPr indent="0"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寓教于乐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play-based learning</a:t>
            </a:r>
          </a:p>
          <a:p>
            <a:pPr indent="0" fontAlgn="auto">
              <a:lnSpc>
                <a:spcPct val="110000"/>
              </a:lnSpc>
            </a:pP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charset="0"/>
                <a:sym typeface="+mn-ea"/>
              </a:rPr>
              <a:t>融合中西方音乐元素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charset="0"/>
              <a:cs typeface="Times New Roman" panose="02020503050405090304" charset="0"/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His music is an __________ of tradition and new technology. </a:t>
            </a:r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rPr>
              <a:t>___________ skills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3738245" y="1831975"/>
            <a:ext cx="77597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integrate  yourself  into                     whose 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6325235" y="3429000"/>
            <a:ext cx="77597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integrate                 with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2983865" y="5023485"/>
            <a:ext cx="77597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integration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372745" y="5575300"/>
            <a:ext cx="77597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integrated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867785" y="4479925"/>
            <a:ext cx="864425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integrate Chinese and Western musical elments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/>
      <p:bldP spid="4" grpId="1"/>
      <p:bldP spid="6" grpId="0"/>
      <p:bldP spid="6" grpId="1"/>
      <p:bldP spid="7" grpId="0"/>
      <p:bldP spid="7" grpId="1"/>
      <p:bldP spid="8" grpId="0"/>
      <p:bldP spid="8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7" y="160331"/>
            <a:ext cx="11829415" cy="4815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说他们真正意思的反话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I ______ ________ ________ . </a:t>
            </a:r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反对双语教育</a:t>
            </a: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= I ____ ________ ___ bilingual education.</a:t>
            </a:r>
          </a:p>
          <a:p>
            <a:pPr indent="0" fontAlgn="auto">
              <a:lnSpc>
                <a:spcPct val="120000"/>
              </a:lnSpc>
            </a:pPr>
            <a:r>
              <a:rPr lang="en-US" altLang="zh-CN" sz="32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微软雅黑"/>
                <a:cs typeface="Times New Roman" panose="02020503050405090304" charset="0"/>
                <a:sym typeface="+mn-ea"/>
              </a:rPr>
              <a:t>Who is _________ ____ in the match? </a:t>
            </a:r>
            <a:r>
              <a:rPr lang="zh-CN" altLang="en-US" sz="32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503050405090304" charset="0"/>
                <a:ea typeface="微软雅黑"/>
                <a:cs typeface="Times New Roman" panose="02020503050405090304" charset="0"/>
                <a:sym typeface="+mn-ea"/>
              </a:rPr>
              <a:t>和你对垒</a:t>
            </a:r>
            <a:endParaRPr lang="en-US" altLang="en-US" sz="3200" b="1" dirty="0"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This exercise develops flexibility ___ _______ __ (</a:t>
            </a:r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相对于</a:t>
            </a:r>
            <a:r>
              <a:rPr lang="en-US" altLang="zh-CN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)</a:t>
            </a: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strength.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 ________ armies were preparing for war.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Much of the _________ ____ this plan has come from the media.</a:t>
            </a:r>
          </a:p>
          <a:p>
            <a:pPr indent="0" fontAlgn="auto">
              <a:lnSpc>
                <a:spcPct val="120000"/>
              </a:lnSpc>
            </a:pPr>
            <a:endParaRPr lang="en-US" altLang="en-US" sz="3200" b="1" dirty="0"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235450" y="125730"/>
            <a:ext cx="813117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say the complete opposite of what they mean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310515" y="756285"/>
            <a:ext cx="721169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oppose bilingual education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668020" y="1290320"/>
            <a:ext cx="4699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am   opposed   to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5749925" y="2494280"/>
            <a:ext cx="4699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as   opposed  to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851535" y="3017520"/>
            <a:ext cx="4699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opposing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2233930" y="3615055"/>
            <a:ext cx="269875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opposition  to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1414145" y="1856105"/>
            <a:ext cx="4699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opposing   you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9" grpId="0"/>
      <p:bldP spid="9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7" y="160331"/>
            <a:ext cx="11829415" cy="59969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make interventions to do sth / in sh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intervene </a:t>
            </a:r>
            <a:r>
              <a:rPr lang="en-US" altLang="en-US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vi.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 US doesn’t want to _____ _____ disputes between Ukraine and Russia.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“…,” she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intervened</a:t>
            </a: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call for government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intervention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to regulate prices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They were planning to get married and then the war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intervened</a:t>
            </a: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pure- purity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defend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 (guard, protect)</a:t>
            </a: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________ ______the attack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防御进攻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4235450" y="1283970"/>
            <a:ext cx="260096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intervene in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3866515" y="2489200"/>
            <a:ext cx="194373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interrupt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118110" y="5418455"/>
            <a:ext cx="345948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defend   against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1" grpId="0"/>
      <p:bldP spid="11" grpId="1"/>
      <p:bldP spid="12" grpId="0"/>
      <p:bldP spid="1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-14" y="-28"/>
            <a:ext cx="11361630" cy="4420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04975" indent="-1704975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reject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v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</a:rPr>
              <a:t>. </a:t>
            </a:r>
          </a:p>
          <a:p>
            <a:pPr marL="1704975" indent="-1704975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The proposal was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firmly rejected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  <a:p>
            <a:pPr marL="1704975" indent="-1704975">
              <a:lnSpc>
                <a:spcPct val="110000"/>
              </a:lnSpc>
            </a:pP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I have _____ _____ _____ all the universities I ____ ____.</a:t>
            </a:r>
          </a:p>
          <a:p>
            <a:pPr marL="1704975" indent="-1704975">
              <a:lnSpc>
                <a:spcPct val="110000"/>
              </a:lnSpc>
            </a:pPr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所有我申请的大学都没录取我</a:t>
            </a:r>
            <a:r>
              <a:rPr lang="en-US" altLang="zh-CN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。</a:t>
            </a:r>
          </a:p>
          <a:p>
            <a:pPr marL="1704975" indent="-1704975">
              <a:lnSpc>
                <a:spcPct val="110000"/>
              </a:lnSpc>
            </a:pP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When her husband left home she felt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rejected </a:t>
            </a: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and useless.</a:t>
            </a:r>
          </a:p>
          <a:p>
            <a:pPr marL="1704975" indent="-1704975">
              <a:lnSpc>
                <a:spcPct val="11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meet with/encounter rejection</a:t>
            </a:r>
          </a:p>
          <a:p>
            <a:pPr marL="1704975" indent="-1704975">
              <a:lnSpc>
                <a:spcPct val="110000"/>
              </a:lnSpc>
            </a:pP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 risk of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rejection </a:t>
            </a: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of a newly transplanted organ</a:t>
            </a:r>
          </a:p>
          <a:p>
            <a:pPr marL="1704975" indent="-1704975">
              <a:lnSpc>
                <a:spcPct val="110000"/>
              </a:lnSpc>
            </a:pP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a _________ letter </a:t>
            </a:r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一封拒信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1260475" y="1024255"/>
            <a:ext cx="956945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been  rejected   by                                    applied to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396875" y="3679825"/>
            <a:ext cx="186309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rejection              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2" grpId="0"/>
      <p:bldP spid="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-14" y="-28"/>
            <a:ext cx="11361630" cy="38792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There is ______ ______ ______ ______ women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to</a:t>
            </a: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have children later in life. </a:t>
            </a:r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某人做某事这一趋势在增加</a:t>
            </a:r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She has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a</a:t>
            </a: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strong natural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tendency to/towards</a:t>
            </a: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art.</a:t>
            </a:r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She has displayed artistic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tendencies</a:t>
            </a: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.</a:t>
            </a:r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Some people may inherit _________________ alcoholism.</a:t>
            </a:r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tend to do sth</a:t>
            </a:r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Sofia was in the bedroom ___________ her son.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619885" y="0"/>
            <a:ext cx="617283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an  increasing  tendency  for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4481830" y="2084705"/>
            <a:ext cx="956945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a tendency towards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4608830" y="3197225"/>
            <a:ext cx="439864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charset="0"/>
                <a:cs typeface="Times New Roman" panose="02020503050405090304" charset="0"/>
                <a:sym typeface="+mn-ea"/>
              </a:rPr>
              <a:t>tending  to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5" grpId="0"/>
      <p:bldP spid="5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11455" y="182880"/>
            <a:ext cx="11750675" cy="387921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apologize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sincerely</a:t>
            </a:r>
            <a:endParaRPr lang="en-US" altLang="en-US" sz="3200" b="1" dirty="0">
              <a:solidFill>
                <a:srgbClr val="00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>
              <a:lnSpc>
                <a:spcPct val="11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There was a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sincere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expression of friendliness on both their faces.</a:t>
            </a:r>
          </a:p>
          <a:p>
            <a:pPr>
              <a:lnSpc>
                <a:spcPct val="11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genuinely</a:t>
            </a:r>
            <a:endParaRPr lang="en-US" altLang="en-US" sz="3200" b="1" dirty="0">
              <a:solidFill>
                <a:srgbClr val="00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>
              <a:lnSpc>
                <a:spcPct val="110000"/>
              </a:lnSpc>
            </a:pP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She is not ______ ______ what she says.</a:t>
            </a:r>
          </a:p>
          <a:p>
            <a:pPr>
              <a:lnSpc>
                <a:spcPct val="11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insincere</a:t>
            </a:r>
            <a:endParaRPr lang="en-US" altLang="en-US" sz="3200" b="1" dirty="0">
              <a:solidFill>
                <a:srgbClr val="00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>
              <a:lnSpc>
                <a:spcPct val="110000"/>
              </a:lnSpc>
            </a:pP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I was impressed with his deep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sincerity</a:t>
            </a: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I can say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in all ________</a:t>
            </a: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that…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2069465" y="178117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sincere    in 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2895600" y="330136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sincerity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5" grpId="0"/>
      <p:bldP spid="5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12349480" cy="496189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He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slipped </a:t>
            </a: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on the ice.</a:t>
            </a:r>
          </a:p>
          <a:p>
            <a:pPr>
              <a:lnSpc>
                <a:spcPct val="110000"/>
              </a:lnSpc>
            </a:pP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His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slip (n.) </a:t>
            </a: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on the ice broke his legs.</a:t>
            </a:r>
          </a:p>
          <a:p>
            <a:pPr>
              <a:lnSpc>
                <a:spcPct val="110000"/>
              </a:lnSpc>
            </a:pP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 child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slipped </a:t>
            </a: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from his grasp and ran off. </a:t>
            </a:r>
          </a:p>
          <a:p>
            <a:pPr>
              <a:lnSpc>
                <a:spcPct val="11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She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slipped </a:t>
            </a: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out of the house before the others were awake.</a:t>
            </a:r>
          </a:p>
          <a:p>
            <a:pPr>
              <a:lnSpc>
                <a:spcPct val="110000"/>
              </a:lnSpc>
            </a:pP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They'd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slipped </a:t>
            </a: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some money to the guards.</a:t>
            </a:r>
          </a:p>
          <a:p>
            <a:pPr>
              <a:lnSpc>
                <a:spcPct val="110000"/>
              </a:lnSpc>
            </a:pP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Time was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slipping </a:t>
            </a: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away.</a:t>
            </a:r>
            <a:endParaRPr lang="en-US" altLang="en-US" sz="3200" b="1" dirty="0">
              <a:solidFill>
                <a:srgbClr val="00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>
              <a:lnSpc>
                <a:spcPct val="110000"/>
              </a:lnSpc>
            </a:pP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The reason for my visit had obviously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slipped his mind</a:t>
            </a: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.</a:t>
            </a:r>
            <a:endParaRPr lang="en-US" altLang="en-US" sz="3200" b="1" dirty="0">
              <a:solidFill>
                <a:srgbClr val="00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>
              <a:lnSpc>
                <a:spcPct val="110000"/>
              </a:lnSpc>
            </a:pP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Don't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let the chance</a:t>
            </a: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to work abroad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slip through your fingers</a:t>
            </a: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She</a:t>
            </a:r>
            <a:r>
              <a:rPr lang="en-US" altLang="en-US" sz="3200" b="1" u="sng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slipped into bad habits</a:t>
            </a: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. </a:t>
            </a:r>
            <a:endParaRPr lang="en-US" altLang="en-US" sz="3200" b="1" dirty="0">
              <a:solidFill>
                <a:srgbClr val="00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12349480" cy="658558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She tried not to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let slip </a:t>
            </a: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what she knew.</a:t>
            </a:r>
            <a:endParaRPr lang="en-US" altLang="en-US" sz="3200" b="1" dirty="0">
              <a:solidFill>
                <a:srgbClr val="00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>
              <a:lnSpc>
                <a:spcPct val="110000"/>
              </a:lnSpc>
            </a:pP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I put her name on a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slip </a:t>
            </a: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of paper.</a:t>
            </a:r>
          </a:p>
          <a:p>
            <a:pPr>
              <a:lnSpc>
                <a:spcPct val="110000"/>
              </a:lnSpc>
            </a:pP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He recited the whole poem without making a single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slip</a:t>
            </a: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It’s just a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slip </a:t>
            </a: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of the pen/ tongue</a:t>
            </a:r>
          </a:p>
          <a:p>
            <a:pPr>
              <a:lnSpc>
                <a:spcPct val="110000"/>
              </a:lnSpc>
            </a:pP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CAUTION!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Slippery </a:t>
            </a: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floor!</a:t>
            </a:r>
          </a:p>
          <a:p>
            <a:pPr>
              <a:lnSpc>
                <a:spcPct val="110000"/>
              </a:lnSpc>
            </a:pPr>
            <a:endParaRPr lang="en-US" altLang="en-US" sz="3200" b="1" dirty="0">
              <a:solidFill>
                <a:srgbClr val="00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>
              <a:lnSpc>
                <a:spcPct val="11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hold a contest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/'kɒntest/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>
              <a:lnSpc>
                <a:spcPct val="110000"/>
              </a:lnSpc>
            </a:pP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a contest ____ the leadership of the party </a:t>
            </a:r>
            <a:r>
              <a:rPr lang="zh-CN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争夺政党的领导权</a:t>
            </a:r>
          </a:p>
          <a:p>
            <a:pPr>
              <a:lnSpc>
                <a:spcPct val="110000"/>
              </a:lnSpc>
            </a:pP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Three candidates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contested </a:t>
            </a: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 leadership. </a:t>
            </a:r>
          </a:p>
          <a:p>
            <a:pPr>
              <a:lnSpc>
                <a:spcPct val="110000"/>
              </a:lnSpc>
            </a:pP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a fiercely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contested </a:t>
            </a: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game</a:t>
            </a:r>
          </a:p>
          <a:p>
            <a:pPr>
              <a:lnSpc>
                <a:spcPct val="110000"/>
              </a:lnSpc>
            </a:pP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His brothers are contesting the will.</a:t>
            </a:r>
          </a:p>
          <a:p>
            <a:pPr>
              <a:lnSpc>
                <a:spcPct val="11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contestant   </a:t>
            </a:r>
            <a:r>
              <a:rPr lang="zh-CN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竞争者，选手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1769745" y="3657600"/>
            <a:ext cx="84455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for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450850" indent="-450850">
          <a:lnSpc>
            <a:spcPct val="120000"/>
          </a:lnSpc>
          <a:defRPr sz="3200" b="1" dirty="0" smtClean="0">
            <a:solidFill>
              <a:srgbClr val="000000"/>
            </a:solidFill>
            <a:latin typeface="Times New Roman" panose="02020503050405090304" charset="0"/>
            <a:cs typeface="Times New Roman" panose="0202050305040509030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2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3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4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5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6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7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ppt/theme/themeOverride8.xml><?xml version="1.0" encoding="utf-8"?>
<a:themeOverride xmlns:a="http://schemas.openxmlformats.org/drawingml/2006/main">
  <a:clrScheme name="新版空白演示配色">
    <a:dk1>
      <a:srgbClr val="000000"/>
    </a:dk1>
    <a:lt1>
      <a:srgbClr val="FFFFFF"/>
    </a:lt1>
    <a:dk2>
      <a:srgbClr val="0F1423"/>
    </a:dk2>
    <a:lt2>
      <a:srgbClr val="FFFFFF"/>
    </a:lt2>
    <a:accent1>
      <a:srgbClr val="6096E6"/>
    </a:accent1>
    <a:accent2>
      <a:srgbClr val="58B6E5"/>
    </a:accent2>
    <a:accent3>
      <a:srgbClr val="56CA95"/>
    </a:accent3>
    <a:accent4>
      <a:srgbClr val="FFBA55"/>
    </a:accent4>
    <a:accent5>
      <a:srgbClr val="F18870"/>
    </a:accent5>
    <a:accent6>
      <a:srgbClr val="EC5F74"/>
    </a:accent6>
    <a:hlink>
      <a:srgbClr val="0563C1"/>
    </a:hlink>
    <a:folHlink>
      <a:srgbClr val="954D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789</Words>
  <Application>Microsoft Macintosh PowerPoint</Application>
  <PresentationFormat>Widescreen</PresentationFormat>
  <Paragraphs>114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等线</vt:lpstr>
      <vt:lpstr>等线 Light</vt:lpstr>
      <vt:lpstr>宋体</vt:lpstr>
      <vt:lpstr>Times New Roman Bold</vt:lpstr>
      <vt:lpstr>Times New Roman Bold Italic</vt:lpstr>
      <vt:lpstr>Arial</vt:lpstr>
      <vt:lpstr>Calibri</vt:lpstr>
      <vt:lpstr>Times New Roman</vt:lpstr>
      <vt:lpstr>Wingdings</vt:lpstr>
      <vt:lpstr>Office 主题​​</vt:lpstr>
      <vt:lpstr>1_Office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16</cp:revision>
  <dcterms:created xsi:type="dcterms:W3CDTF">2025-05-27T03:04:10Z</dcterms:created>
  <dcterms:modified xsi:type="dcterms:W3CDTF">2026-07-23T01:20:45Z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3D9D226C3CD0806A928B2E68BF49028A_42</vt:lpwstr>
  </property>
  <property fmtid="{D5CDD505-2E9C-101B-9397-08002B2CF9AE}" pid="3" name="KSOProductBuildVer">
    <vt:lpwstr>1033-7.4.1.8983</vt:lpwstr>
  </property>
</Properties>
</file>