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ebp" ContentType="image/webp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300" r:id="rId4"/>
    <p:sldId id="301" r:id="rId5"/>
    <p:sldId id="261" r:id="rId6"/>
    <p:sldId id="265" r:id="rId7"/>
    <p:sldId id="269" r:id="rId8"/>
    <p:sldId id="302" r:id="rId9"/>
    <p:sldId id="275" r:id="rId10"/>
    <p:sldId id="303" r:id="rId11"/>
    <p:sldId id="278" r:id="rId12"/>
    <p:sldId id="283" r:id="rId13"/>
    <p:sldId id="304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1"/>
  </p:normalViewPr>
  <p:slideViewPr>
    <p:cSldViewPr snapToGrid="0">
      <p:cViewPr varScale="1">
        <p:scale>
          <a:sx n="103" d="100"/>
          <a:sy n="103" d="100"/>
        </p:scale>
        <p:origin x="800" y="1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0CB010-4087-4DC1-99B4-6E7C6863F47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91317F-7FED-4383-84FF-069441E8D51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b="1" dirty="0">
                <a:sym typeface="+mn-ea"/>
              </a:rPr>
              <a:t>反应敏捷的熟练司机</a:t>
            </a:r>
            <a:r>
              <a:rPr lang="en-US" altLang="zh-CN" b="1" dirty="0">
                <a:sym typeface="+mn-ea"/>
              </a:rPr>
              <a:t>(</a:t>
            </a:r>
            <a:r>
              <a:rPr lang="zh-CN" altLang="en-US" b="1" dirty="0">
                <a:sym typeface="+mn-ea"/>
              </a:rPr>
              <a:t>反应能力</a:t>
            </a:r>
            <a:r>
              <a:rPr lang="en-US" altLang="zh-CN" b="1" dirty="0">
                <a:sym typeface="+mn-ea"/>
              </a:rPr>
              <a:t>)</a:t>
            </a:r>
          </a:p>
          <a:p>
            <a:endParaRPr lang="en-US" altLang="zh-CN" b="1" dirty="0">
              <a:sym typeface="+mn-ea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错误地阐释</a:t>
            </a:r>
          </a:p>
          <a:p>
            <a:r>
              <a:rPr lang="zh-CN" altLang="en-US"/>
              <a:t>温和的运动</a:t>
            </a:r>
            <a:r>
              <a:rPr lang="en-US" altLang="en-US"/>
              <a:t> </a:t>
            </a:r>
          </a:p>
          <a:p>
            <a:r>
              <a:rPr lang="zh-CN" altLang="en-US"/>
              <a:t>轻柔而且抚慰人心</a:t>
            </a:r>
            <a:r>
              <a:rPr lang="en-US" altLang="zh-CN"/>
              <a:t> consoling</a:t>
            </a:r>
            <a:endParaRPr lang="zh-CN" altLang="en-US"/>
          </a:p>
          <a:p>
            <a:r>
              <a:rPr lang="zh-CN" altLang="en-US"/>
              <a:t>缓缓起伏的牧场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sym typeface="+mn-ea"/>
              </a:rPr>
              <a:t>获得高水平的英语能力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b="1">
                <a:solidFill>
                  <a:srgbClr val="000000"/>
                </a:solidFill>
                <a:sym typeface="+mn-ea"/>
              </a:rPr>
              <a:t>专业／技术能力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/>
              <a:t>gains / advantages </a:t>
            </a:r>
          </a:p>
          <a:p>
            <a:r>
              <a:rPr lang="zh-CN" altLang="en-US"/>
              <a:t>大胆去做</a:t>
            </a:r>
            <a:r>
              <a:rPr lang="en-US" altLang="zh-CN"/>
              <a:t>venture to do </a:t>
            </a:r>
            <a:r>
              <a:rPr lang="zh-CN" altLang="en-US"/>
              <a:t>不入虎穴焉得虎子</a:t>
            </a:r>
          </a:p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file a suit to sb</a:t>
            </a:r>
          </a:p>
          <a:p>
            <a:r>
              <a:rPr lang="zh-CN" altLang="en-US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要是你想坐公共汽车走，我也没问题。</a:t>
            </a:r>
            <a:endParaRPr lang="zh-CN" altLang="en-US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达成解决措施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企业家</a:t>
            </a:r>
          </a:p>
          <a:p>
            <a:r>
              <a:rPr lang="en-US" altLang="zh-CN"/>
              <a:t>easy: </a:t>
            </a:r>
            <a:r>
              <a:rPr lang="en-US" altLang="en-US"/>
              <a:t>simple straightforward language</a:t>
            </a:r>
          </a:p>
          <a:p>
            <a:r>
              <a:rPr lang="zh-CN" altLang="en-US"/>
              <a:t>她非常直率，很坦诚，也非常诚实。</a:t>
            </a:r>
            <a:r>
              <a:rPr lang="en-US" altLang="en-US"/>
              <a:t>in blunt terms</a:t>
            </a:r>
          </a:p>
          <a:p>
            <a:endParaRPr lang="en-US" altLang="en-US"/>
          </a:p>
          <a:p>
            <a:r>
              <a:rPr lang="en-US" altLang="en-US"/>
              <a:t>tensions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共鸣，同感</a:t>
            </a:r>
          </a:p>
          <a:p>
            <a:r>
              <a:rPr lang="zh-CN" altLang="en-US"/>
              <a:t>同情</a:t>
            </a:r>
          </a:p>
          <a:p>
            <a:r>
              <a:rPr lang="zh-CN" altLang="en-US"/>
              <a:t>善解人意的，会移情的</a:t>
            </a:r>
          </a:p>
          <a:p>
            <a:pPr indent="0" fontAlgn="auto"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她对成年学生的问题深表同情</a:t>
            </a:r>
          </a:p>
          <a:p>
            <a:r>
              <a:rPr lang="zh-CN" altLang="en-US"/>
              <a:t>她在伦敦结识了一些支持印度独立运动的人。</a:t>
            </a:r>
          </a:p>
          <a:p>
            <a:r>
              <a:rPr lang="zh-CN" altLang="en-US"/>
              <a:t>她听起来是个很招人喜欢的人物。富有同情心，形容人或人的态度时，表示关心并愿意帮助解决问题</a:t>
            </a:r>
          </a:p>
          <a:p>
            <a:r>
              <a:rPr lang="en-US" altLang="zh-CN"/>
              <a:t>nice, likable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en-US"/>
              <a:t>I wouldn't want to be in his shoes</a:t>
            </a:r>
          </a:p>
          <a:p>
            <a:r>
              <a:rPr lang="en-US" altLang="en-US"/>
              <a:t>to be cross with sb;</a:t>
            </a:r>
          </a:p>
          <a:p>
            <a:r>
              <a:rPr lang="zh-CN" altLang="en-US"/>
              <a:t>生某人的气</a:t>
            </a:r>
          </a:p>
          <a:p>
            <a:r>
              <a:rPr lang="en-US" altLang="zh-CN"/>
              <a:t>explain</a:t>
            </a:r>
          </a:p>
          <a:p>
            <a:r>
              <a:rPr lang="en-US" altLang="zh-CN"/>
              <a:t>make up / comprises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可能遭受，受……支配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/>
              <a:t>手势</a:t>
            </a:r>
          </a:p>
          <a:p>
            <a:r>
              <a:rPr lang="zh-CN" altLang="en-US" b="1">
                <a:latin typeface="Times New Roman Regular" panose="02020503050405090304" charset="0"/>
                <a:ea typeface="Optima" panose="02000503060000020004"/>
                <a:cs typeface="Times New Roman Regular" panose="02020503050405090304" charset="0"/>
                <a:sym typeface="+mn-ea"/>
              </a:rPr>
              <a:t>以表示</a:t>
            </a:r>
          </a:p>
          <a:p>
            <a:r>
              <a:rPr lang="zh-CN" altLang="en-US"/>
              <a:t>也是友好的表示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1D354C-DC19-47CD-AE36-A755CE36E79C}" type="datetimeFigureOut">
              <a:rPr lang="zh-CN" altLang="en-US" smtClean="0"/>
              <a:t>2026/7/23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4A927-F82F-4486-A178-D7CECCB0DD5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ebp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04800" y="103505"/>
            <a:ext cx="11614150" cy="65855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10000"/>
              </a:lnSpc>
            </a:pPr>
            <a:r>
              <a:rPr lang="en-US" altLang="en-US" sz="3200" b="1" dirty="0"/>
              <a:t>The industry has been slow to _____ ___ these ____________ in technology. </a:t>
            </a:r>
            <a:r>
              <a:rPr lang="zh-CN" altLang="en-US" sz="3200" b="1" dirty="0"/>
              <a:t>对科技的突破作出反应</a:t>
            </a:r>
            <a:endParaRPr lang="en-US" altLang="en-US" sz="3200" b="1" dirty="0"/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/>
              <a:t>Many young people _____ _____ traditional values. </a:t>
            </a:r>
            <a:r>
              <a:rPr lang="zh-CN" altLang="en-US" sz="3200" b="1" dirty="0"/>
              <a:t>反对，反抗</a:t>
            </a:r>
            <a:endParaRPr lang="en-US" altLang="en-US" sz="3200" b="1" dirty="0"/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/>
              <a:t>Iron ____ ____ water and air to produce rust. </a:t>
            </a:r>
            <a:r>
              <a:rPr lang="zh-CN" altLang="en-US" sz="3200" b="1" dirty="0"/>
              <a:t>发生化学反应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reaction</a:t>
            </a:r>
          </a:p>
          <a:p>
            <a:pPr indent="0" fontAlgn="auto"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</a:rPr>
              <a:t>My _________ _______ was a shock. </a:t>
            </a:r>
            <a:r>
              <a:rPr lang="zh-CN" altLang="en-US" sz="3200" b="1" dirty="0">
                <a:solidFill>
                  <a:schemeClr val="tx1"/>
                </a:solidFill>
              </a:rPr>
              <a:t>当即的反应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/>
              <a:t>An emergency fund was ___ ___ (</a:t>
            </a:r>
            <a:r>
              <a:rPr lang="zh-CN" altLang="en-US" sz="3200" b="1" dirty="0"/>
              <a:t>设立</a:t>
            </a:r>
            <a:r>
              <a:rPr lang="en-US" altLang="zh-CN" sz="3200" b="1" dirty="0"/>
              <a:t>)</a:t>
            </a:r>
            <a:r>
              <a:rPr lang="en-US" altLang="en-US" sz="3200" b="1" dirty="0"/>
              <a:t>___ _______ ___ the famine. </a:t>
            </a:r>
            <a:r>
              <a:rPr lang="zh-CN" altLang="en-US" sz="3200" b="1" dirty="0"/>
              <a:t>针对……作出反应</a:t>
            </a:r>
            <a:endParaRPr lang="en-US" altLang="en-US" sz="3200" b="1" dirty="0"/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/>
              <a:t>She had a severe allergic ________ ____ the drug. </a:t>
            </a:r>
            <a:r>
              <a:rPr lang="zh-CN" altLang="en-US" sz="3200" b="1" dirty="0"/>
              <a:t>对……有过敏反应</a:t>
            </a:r>
            <a:endParaRPr lang="en-US" altLang="en-US" sz="3200" b="1" dirty="0"/>
          </a:p>
          <a:p>
            <a:pPr indent="0" fontAlgn="auto">
              <a:lnSpc>
                <a:spcPct val="11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a skilled driver with</a:t>
            </a:r>
            <a:r>
              <a:rPr lang="en-US" altLang="en-US" sz="3200" b="1" dirty="0">
                <a:solidFill>
                  <a:srgbClr val="FF0000"/>
                </a:solidFill>
              </a:rPr>
              <a:t> quick-reactions </a:t>
            </a:r>
          </a:p>
          <a:p>
            <a:pPr indent="0" fontAlgn="auto"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5575300" y="349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react    to           breakthroughs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822700" y="1119505"/>
            <a:ext cx="47117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react against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1064260" y="1701800"/>
            <a:ext cx="47117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reacts with</a:t>
            </a:r>
          </a:p>
        </p:txBody>
      </p:sp>
      <p:sp>
        <p:nvSpPr>
          <p:cNvPr id="9" name="Text Box 8"/>
          <p:cNvSpPr txBox="1"/>
          <p:nvPr/>
        </p:nvSpPr>
        <p:spPr>
          <a:xfrm>
            <a:off x="4609465" y="330009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set   up             in  reaction  to</a:t>
            </a:r>
          </a:p>
        </p:txBody>
      </p:sp>
      <p:sp>
        <p:nvSpPr>
          <p:cNvPr id="10" name="Text Box 9"/>
          <p:cNvSpPr txBox="1"/>
          <p:nvPr/>
        </p:nvSpPr>
        <p:spPr>
          <a:xfrm>
            <a:off x="4736465" y="4345305"/>
            <a:ext cx="32035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reaction    to</a:t>
            </a:r>
          </a:p>
        </p:txBody>
      </p:sp>
      <p:sp>
        <p:nvSpPr>
          <p:cNvPr id="11" name="Text Box 10"/>
          <p:cNvSpPr txBox="1"/>
          <p:nvPr/>
        </p:nvSpPr>
        <p:spPr>
          <a:xfrm>
            <a:off x="1064260" y="27324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immediate reaction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7" grpId="0"/>
      <p:bldP spid="7" grpId="1"/>
      <p:bldP spid="8" grpId="0"/>
      <p:bldP spid="8" grpId="1"/>
      <p:bldP spid="9" grpId="0"/>
      <p:bldP spid="9" grpId="1"/>
      <p:bldP spid="10" grpId="0"/>
      <p:bldP spid="10" grpId="1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84150" y="0"/>
            <a:ext cx="12007215" cy="60007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sym typeface="+mn-ea"/>
              </a:rPr>
              <a:t>interpret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er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  <a:sym typeface="+mn-ea"/>
              </a:rPr>
              <a:t>interpret</a:t>
            </a:r>
            <a:r>
              <a:rPr lang="en-US" altLang="zh-CN" sz="3200" b="1">
                <a:solidFill>
                  <a:srgbClr val="FF0000"/>
                </a:solidFill>
                <a:sym typeface="+mn-ea"/>
              </a:rPr>
              <a:t>ation</a:t>
            </a:r>
            <a:endParaRPr lang="en-US" altLang="zh-CN" sz="3200" b="1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0000"/>
                </a:solidFill>
              </a:rPr>
              <a:t>mis</a:t>
            </a:r>
            <a:r>
              <a:rPr lang="en-US" altLang="zh-CN" sz="3200" b="1">
                <a:solidFill>
                  <a:srgbClr val="000000"/>
                </a:solidFill>
              </a:rPr>
              <a:t>interpret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gentler, gentlest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gently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gentleness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FF0000"/>
                </a:solidFill>
              </a:rPr>
              <a:t>gentle exercise</a:t>
            </a:r>
            <a:r>
              <a:rPr lang="en-US" altLang="zh-CN" sz="3200" b="1">
                <a:solidFill>
                  <a:srgbClr val="000000"/>
                </a:solidFill>
              </a:rPr>
              <a:t> /</a:t>
            </a:r>
            <a:r>
              <a:rPr lang="en-US" altLang="zh-CN" sz="3200" b="1">
                <a:solidFill>
                  <a:srgbClr val="FF0000"/>
                </a:solidFill>
              </a:rPr>
              <a:t> a gentle breeze</a:t>
            </a:r>
            <a:r>
              <a:rPr lang="en-US" altLang="zh-CN" sz="3200" b="1">
                <a:solidFill>
                  <a:srgbClr val="000000"/>
                </a:solidFill>
              </a:rPr>
              <a:t> / </a:t>
            </a:r>
            <a:r>
              <a:rPr lang="en-US" altLang="en-US" sz="3200" b="1">
                <a:solidFill>
                  <a:srgbClr val="FF0000"/>
                </a:solidFill>
              </a:rPr>
              <a:t>gentle and comforting </a:t>
            </a:r>
            <a:r>
              <a:rPr lang="en-US" altLang="en-US" sz="3200" b="1">
                <a:solidFill>
                  <a:schemeClr val="tx1"/>
                </a:solidFill>
              </a:rPr>
              <a:t>/ </a:t>
            </a:r>
            <a:r>
              <a:rPr lang="en-US" altLang="en-US" sz="3200" b="1">
                <a:solidFill>
                  <a:srgbClr val="FF0000"/>
                </a:solidFill>
              </a:rPr>
              <a:t>gentle, rolling meadows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chemeClr val="tx1"/>
                </a:solidFill>
              </a:rPr>
              <a:t>Cook for 30 minutes over </a:t>
            </a:r>
            <a:r>
              <a:rPr lang="en-US" altLang="en-US" sz="3200" b="1">
                <a:solidFill>
                  <a:srgbClr val="FF0000"/>
                </a:solidFill>
              </a:rPr>
              <a:t>a gentle heat</a:t>
            </a:r>
            <a:r>
              <a:rPr lang="en-US" altLang="en-US" sz="3200" b="1">
                <a:solidFill>
                  <a:schemeClr val="tx1"/>
                </a:solidFill>
              </a:rPr>
              <a:t>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chemeClr val="tx1"/>
                </a:solidFill>
              </a:rPr>
              <a:t>despite </a:t>
            </a:r>
            <a:r>
              <a:rPr lang="en-US" altLang="zh-CN" sz="3200" b="1">
                <a:solidFill>
                  <a:srgbClr val="FF0000"/>
                </a:solidFill>
              </a:rPr>
              <a:t>repeated </a:t>
            </a:r>
            <a:r>
              <a:rPr lang="en-US" altLang="zh-CN" sz="3200" b="1">
                <a:solidFill>
                  <a:srgbClr val="000000"/>
                </a:solidFill>
              </a:rPr>
              <a:t>requests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rgbClr val="000000"/>
                </a:solidFill>
              </a:rPr>
              <a:t>the work is </a:t>
            </a:r>
            <a:r>
              <a:rPr lang="en-US" altLang="zh-CN" sz="3200" b="1">
                <a:solidFill>
                  <a:srgbClr val="FF0000"/>
                </a:solidFill>
              </a:rPr>
              <a:t>dull and repetitive</a:t>
            </a:r>
            <a:r>
              <a:rPr lang="en-US" altLang="zh-CN" sz="3200" b="1">
                <a:solidFill>
                  <a:schemeClr val="tx1"/>
                </a:solidFill>
              </a:rPr>
              <a:t>.</a:t>
            </a:r>
            <a:endParaRPr lang="en-US" altLang="zh-CN" sz="3200" b="1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zh-CN" sz="3200" b="1">
                <a:solidFill>
                  <a:schemeClr val="tx1"/>
                </a:solidFill>
              </a:rPr>
              <a:t>All musicians learn by </a:t>
            </a:r>
            <a:r>
              <a:rPr lang="en-US" altLang="zh-CN" sz="3200" b="1">
                <a:solidFill>
                  <a:srgbClr val="FF0000"/>
                </a:solidFill>
              </a:rPr>
              <a:t>repetition</a:t>
            </a:r>
            <a:r>
              <a:rPr lang="en-US" altLang="zh-CN" sz="3200" b="1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184150" y="0"/>
            <a:ext cx="12007215" cy="6985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Make sure the firm </a:t>
            </a:r>
            <a:r>
              <a:rPr lang="en-US" altLang="en-US" sz="3200" b="1">
                <a:solidFill>
                  <a:srgbClr val="FF0000"/>
                </a:solidFill>
              </a:rPr>
              <a:t>is competent to carry </a:t>
            </a:r>
            <a:r>
              <a:rPr lang="en-US" altLang="en-US" sz="3200" b="1">
                <a:solidFill>
                  <a:srgbClr val="000000"/>
                </a:solidFill>
              </a:rPr>
              <a:t>out the work.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FF0000"/>
                </a:solidFill>
              </a:rPr>
              <a:t>be competent in/at</a:t>
            </a:r>
            <a:r>
              <a:rPr lang="en-US" altLang="en-US" sz="3200" b="1">
                <a:solidFill>
                  <a:srgbClr val="000000"/>
                </a:solidFill>
              </a:rPr>
              <a:t> his work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FF0000"/>
                </a:solidFill>
                <a:sym typeface="+mn-ea"/>
              </a:rPr>
              <a:t>incompetent</a:t>
            </a:r>
            <a:endParaRPr lang="en-US" altLang="en-US" sz="3200" b="1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FF0000"/>
                </a:solidFill>
              </a:rPr>
              <a:t>have the competence to do sth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chemeClr val="tx1"/>
                </a:solidFill>
              </a:rPr>
              <a:t>学生将获得各种技能的能力。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Students will </a:t>
            </a:r>
            <a:r>
              <a:rPr lang="en-US" altLang="en-US" sz="3200" b="1">
                <a:solidFill>
                  <a:srgbClr val="FF0000"/>
                </a:solidFill>
              </a:rPr>
              <a:t>gain </a:t>
            </a:r>
            <a:r>
              <a:rPr lang="en-US" altLang="en-US" sz="3200" b="1">
                <a:solidFill>
                  <a:srgbClr val="FF0000"/>
                </a:solidFill>
                <a:sym typeface="+mn-ea"/>
              </a:rPr>
              <a:t>competence in</a:t>
            </a:r>
            <a:r>
              <a:rPr lang="en-US" altLang="en-US" sz="3200" b="1">
                <a:solidFill>
                  <a:srgbClr val="000000"/>
                </a:solidFill>
              </a:rPr>
              <a:t> a wide range of skills.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</a:rPr>
              <a:t>gain a high level of </a:t>
            </a:r>
            <a:r>
              <a:rPr lang="en-US" altLang="en-US" sz="3200" b="1">
                <a:solidFill>
                  <a:srgbClr val="FF0000"/>
                </a:solidFill>
              </a:rPr>
              <a:t>competence </a:t>
            </a:r>
            <a:r>
              <a:rPr lang="en-US" altLang="en-US" sz="3200" b="1">
                <a:solidFill>
                  <a:srgbClr val="000000"/>
                </a:solidFill>
              </a:rPr>
              <a:t>in English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chemeClr val="tx1"/>
                </a:solidFill>
              </a:rPr>
              <a:t>我们一直都认为他是个正直而且</a:t>
            </a:r>
            <a:r>
              <a:rPr lang="zh-CN" altLang="en-US" sz="3200" b="1" u="sng">
                <a:solidFill>
                  <a:schemeClr val="tx1"/>
                </a:solidFill>
              </a:rPr>
              <a:t>专业能力</a:t>
            </a:r>
            <a:r>
              <a:rPr lang="zh-CN" altLang="en-US" sz="3200" b="1">
                <a:solidFill>
                  <a:schemeClr val="tx1"/>
                </a:solidFill>
              </a:rPr>
              <a:t>很强的人。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chemeClr val="tx1"/>
                </a:solidFill>
              </a:rPr>
              <a:t>We've always regarded him as a man of ________</a:t>
            </a:r>
            <a:r>
              <a:rPr lang="en-US" altLang="en-US" sz="3200" b="1">
                <a:solidFill>
                  <a:srgbClr val="FF0000"/>
                </a:solidFill>
              </a:rPr>
              <a:t> </a:t>
            </a:r>
            <a:r>
              <a:rPr lang="en-US" altLang="en-US" sz="3200" b="1">
                <a:solidFill>
                  <a:schemeClr val="tx1"/>
                </a:solidFill>
              </a:rPr>
              <a:t>and high _____________________. </a:t>
            </a:r>
            <a:endParaRPr lang="en-US" altLang="en-US" sz="3200" b="1">
              <a:solidFill>
                <a:srgbClr val="FF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zh-CN" altLang="en-US" sz="3200" b="1">
                <a:solidFill>
                  <a:srgbClr val="000000"/>
                </a:solidFill>
                <a:sym typeface="+mn-ea"/>
              </a:rPr>
              <a:t>技术能力</a:t>
            </a:r>
            <a:r>
              <a:rPr lang="en-US" altLang="zh-CN" sz="3200" b="1">
                <a:solidFill>
                  <a:srgbClr val="000000"/>
                </a:solidFill>
                <a:sym typeface="+mn-ea"/>
              </a:rPr>
              <a:t> </a:t>
            </a: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000000"/>
                </a:solidFill>
                <a:sym typeface="+mn-ea"/>
              </a:rPr>
              <a:t>The government performed ___________ in the face of multiple challenges.</a:t>
            </a:r>
            <a:endParaRPr lang="en-US" altLang="en-US" sz="3200" b="1">
              <a:solidFill>
                <a:srgbClr val="000000"/>
              </a:solidFill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</a:pPr>
            <a:endParaRPr lang="en-US" altLang="en-US" sz="3200" b="1">
              <a:solidFill>
                <a:srgbClr val="FF0000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78425" y="526605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sym typeface="+mn-ea"/>
              </a:rPr>
              <a:t>competently 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249160" y="383286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ym typeface="+mn-ea"/>
              </a:rPr>
              <a:t> </a:t>
            </a:r>
            <a:r>
              <a:rPr lang="en-US" altLang="en-US" sz="3200" b="1">
                <a:solidFill>
                  <a:srgbClr val="FF0000"/>
                </a:solidFill>
                <a:sym typeface="+mn-ea"/>
              </a:rPr>
              <a:t>integrity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84150" y="429387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sym typeface="+mn-ea"/>
              </a:rPr>
              <a:t>professional competence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1928495" y="4892040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>
              <a:spcBef>
                <a:spcPct val="0"/>
              </a:spcBef>
              <a:spcAft>
                <a:spcPct val="0"/>
              </a:spcAft>
            </a:pPr>
            <a:r>
              <a:rPr lang="en-US" altLang="en-US" sz="3200" b="1">
                <a:solidFill>
                  <a:srgbClr val="FF0000"/>
                </a:solidFill>
                <a:sym typeface="+mn-ea"/>
              </a:rPr>
              <a:t>technical competence</a:t>
            </a:r>
            <a:endParaRPr lang="en-US" altLang="en-US" sz="3200" b="1" dirty="0">
              <a:solidFill>
                <a:srgbClr val="FF0000"/>
              </a:solidFill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4315" y="128905"/>
            <a:ext cx="12326620" cy="5996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obtain v.</a:t>
            </a:r>
            <a:r>
              <a:rPr lang="en-US" altLang="en-US" sz="3200" b="1" dirty="0"/>
              <a:t> </a:t>
            </a:r>
            <a:r>
              <a:rPr lang="en-US" alt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get sth, especially by making an effort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(attain)</a:t>
            </a:r>
            <a:endParaRPr lang="en-US" altLang="en-US" sz="3200" b="1" i="1" dirty="0">
              <a:latin typeface="Times New Roman Bold Italic" panose="02020503050405090304" charset="0"/>
              <a:cs typeface="Times New Roman Bold Italic" panose="02020503050405090304" charset="0"/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You will need to ______ __________ ______ the manager. </a:t>
            </a:r>
            <a:r>
              <a:rPr lang="zh-CN" altLang="en-US" sz="3200" b="1" dirty="0"/>
              <a:t>得到允许</a:t>
            </a:r>
            <a:endParaRPr lang="en-US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gain v. </a:t>
            </a:r>
            <a:r>
              <a:rPr lang="en-US" altLang="en-US" sz="3200" b="1" dirty="0"/>
              <a:t> </a:t>
            </a:r>
            <a:r>
              <a:rPr lang="en-US" alt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to obtain or win sth, especially sth that you need or want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获得……的机会</a:t>
            </a:r>
            <a:endParaRPr lang="en-US" altLang="en-US" sz="3200" b="1" dirty="0">
              <a:solidFill>
                <a:schemeClr val="tx1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获得声誉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获得信心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</a:rPr>
              <a:t>体重增加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The party made considerable </a:t>
            </a:r>
            <a:r>
              <a:rPr lang="en-US" altLang="en-US" sz="3200" b="1" dirty="0">
                <a:solidFill>
                  <a:srgbClr val="FF0000"/>
                </a:solidFill>
              </a:rPr>
              <a:t>gains </a:t>
            </a:r>
            <a:r>
              <a:rPr lang="en-US" altLang="en-US" sz="3200" b="1" dirty="0"/>
              <a:t>at local elections.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Nothing ventured, nothing </a:t>
            </a:r>
            <a:r>
              <a:rPr lang="en-US" altLang="en-US" sz="3200" b="1" dirty="0">
                <a:solidFill>
                  <a:srgbClr val="FF0000"/>
                </a:solidFill>
              </a:rPr>
              <a:t>gained</a:t>
            </a:r>
            <a:r>
              <a:rPr lang="en-US" altLang="en-US" sz="3200" b="1" dirty="0"/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No pain, no </a:t>
            </a:r>
            <a:r>
              <a:rPr lang="en-US" altLang="en-US" sz="3200" b="1" dirty="0">
                <a:solidFill>
                  <a:srgbClr val="FF0000"/>
                </a:solidFill>
              </a:rPr>
              <a:t>gain</a:t>
            </a:r>
            <a:r>
              <a:rPr lang="en-US" altLang="en-US" sz="3200" b="1" dirty="0"/>
              <a:t>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222625" y="71056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>
                <a:solidFill>
                  <a:srgbClr val="FF0000"/>
                </a:solidFill>
                <a:sym typeface="+mn-ea"/>
              </a:rPr>
              <a:t>obatin  permission   from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394075" y="1861820"/>
            <a:ext cx="6096000" cy="2453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gain </a:t>
            </a:r>
            <a:r>
              <a:rPr lang="en-US" altLang="en-US" sz="3200" b="1" dirty="0">
                <a:sym typeface="+mn-ea"/>
              </a:rPr>
              <a:t>access to…</a:t>
            </a:r>
            <a:endParaRPr lang="en-US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gain </a:t>
            </a:r>
            <a:r>
              <a:rPr lang="en-US" altLang="en-US" sz="3200" b="1" dirty="0">
                <a:sym typeface="+mn-ea"/>
              </a:rPr>
              <a:t>a reputation</a:t>
            </a:r>
            <a:endParaRPr lang="en-US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gain </a:t>
            </a:r>
            <a:r>
              <a:rPr lang="en-US" altLang="en-US" sz="3200" b="1" dirty="0">
                <a:sym typeface="+mn-ea"/>
              </a:rPr>
              <a:t>confidence</a:t>
            </a:r>
            <a:endParaRPr lang="en-US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gain </a:t>
            </a:r>
            <a:r>
              <a:rPr lang="en-US" altLang="en-US" sz="3200" b="1" dirty="0">
                <a:sym typeface="+mn-ea"/>
              </a:rPr>
              <a:t>weight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5675630" y="361442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ym typeface="+mn-ea"/>
              </a:rPr>
              <a:t>/ prevent weight 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gain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7" grpId="0"/>
      <p:bldP spid="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23215" y="265430"/>
            <a:ext cx="5772785" cy="30441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444500" indent="-4445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998855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406525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81483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2225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6797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31369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5941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40513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marL="0" indent="0" eaLnBrk="1" fontAlgn="auto" hangingPunct="1">
              <a:lnSpc>
                <a:spcPct val="12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business suit / a diving suit</a:t>
            </a:r>
          </a:p>
          <a:p>
            <a:pPr marL="0" indent="0" eaLnBrk="1" fontAlgn="auto" hangingPunct="1">
              <a:lnSpc>
                <a:spcPct val="120000"/>
              </a:lnSpc>
            </a:pP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suits </a:t>
            </a:r>
            <a:r>
              <a:rPr lang="en-US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 called hearts, clubs, diamonds and spades.</a:t>
            </a:r>
          </a:p>
          <a:p>
            <a:pPr marL="0" indent="0" eaLnBrk="1" fontAlgn="auto" hangingPunct="1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divorce suit</a:t>
            </a:r>
          </a:p>
          <a:p>
            <a:pPr marL="0" indent="0" eaLnBrk="1" fontAlgn="auto" hangingPunct="1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follow suit</a:t>
            </a: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6316980" y="265430"/>
            <a:ext cx="5530850" cy="267906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323850" y="3309620"/>
            <a:ext cx="11523980" cy="32143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indent="0" eaLnBrk="1" fontAlgn="auto" hangingPunct="1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If you want to go by bus,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that suits me fine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</a:t>
            </a:r>
          </a:p>
          <a:p>
            <a:pPr eaLnBrk="1" hangingPunct="1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I’ve found a job that ________ very well. </a:t>
            </a: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适合我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eaLnBrk="1" fontAlgn="auto" hangingPunct="1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Blue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suits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you. You should wear it more often.</a:t>
            </a:r>
            <a:endParaRPr lang="en-US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0" indent="0" eaLnBrk="1" fontAlgn="auto" hangingPunct="1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have been offering a wide variety of walking holidays to _____ _____ _____ for just three years.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满足不同需求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口味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483870" y="561403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suit   all     tastes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088130" y="3886200"/>
            <a:ext cx="20078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suits me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8106" y="204245"/>
            <a:ext cx="11435787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We have been </a:t>
            </a:r>
            <a:r>
              <a:rPr lang="zh-CN" altLang="en-US" sz="3200" b="1" dirty="0">
                <a:solidFill>
                  <a:srgbClr val="FF0000"/>
                </a:solidFill>
              </a:rPr>
              <a:t>negotiating wit</a:t>
            </a:r>
            <a:r>
              <a:rPr lang="en-US" altLang="zh-CN" sz="3200" b="1" dirty="0">
                <a:solidFill>
                  <a:srgbClr val="FF0000"/>
                </a:solidFill>
              </a:rPr>
              <a:t>h</a:t>
            </a:r>
            <a:r>
              <a:rPr lang="en-US" altLang="en-US" sz="3200" b="1" dirty="0"/>
              <a:t> the company </a:t>
            </a:r>
            <a:r>
              <a:rPr lang="en-US" altLang="en-US" sz="3200" b="1" dirty="0">
                <a:solidFill>
                  <a:srgbClr val="FF0000"/>
                </a:solidFill>
              </a:rPr>
              <a:t>for </a:t>
            </a:r>
            <a:r>
              <a:rPr lang="en-US" altLang="en-US" sz="3200" b="1" dirty="0"/>
              <a:t>more pay.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谈判技巧</a:t>
            </a:r>
            <a:endParaRPr lang="en-US" altLang="en-US" sz="3200" b="1" dirty="0"/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Union leaders have </a:t>
            </a:r>
            <a:r>
              <a:rPr lang="en-US" altLang="en-US" sz="3200" b="1" dirty="0">
                <a:solidFill>
                  <a:srgbClr val="FF0000"/>
                </a:solidFill>
              </a:rPr>
              <a:t>negotiated an agreement</a:t>
            </a:r>
            <a:r>
              <a:rPr lang="en-US" altLang="en-US" sz="3200" b="1" dirty="0"/>
              <a:t> for a shorter working week. </a:t>
            </a:r>
            <a:r>
              <a:rPr lang="zh-CN" altLang="en-US" sz="3200" b="1" dirty="0"/>
              <a:t>达成一致</a:t>
            </a:r>
          </a:p>
          <a:p>
            <a:pPr indent="0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</a:rPr>
              <a:t>negotiate a settlement</a:t>
            </a:r>
            <a:endParaRPr lang="en-US" altLang="en-US" sz="3200" b="1" dirty="0">
              <a:solidFill>
                <a:srgbClr val="FF0000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We want to settle the problem calmly by direct ___________ with that company.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The terms of employment are ____________.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__________ for both sides agreed to meet again tomorrow.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2249170" y="76581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negotiating</a:t>
            </a: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 skills</a:t>
            </a:r>
            <a:r>
              <a:rPr lang="zh-CN" altLang="en-US" sz="3200" b="1" dirty="0">
                <a:solidFill>
                  <a:srgbClr val="FF0000"/>
                </a:solidFill>
                <a:sym typeface="+mn-ea"/>
              </a:rPr>
              <a:t>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8640445" y="30880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negotiation 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718175" y="429260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negotiable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77825" y="490093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sym typeface="+mn-ea"/>
              </a:rPr>
              <a:t>Negotiators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  <p:bldP spid="6" grpId="0"/>
      <p:bldP spid="6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8106" y="204245"/>
            <a:ext cx="11435787" cy="42252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entrepreneur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a </a:t>
            </a:r>
            <a:r>
              <a:rPr lang="en-US" altLang="en-US" sz="3200" b="1" dirty="0">
                <a:solidFill>
                  <a:srgbClr val="FF0000"/>
                </a:solidFill>
              </a:rPr>
              <a:t>straightforward </a:t>
            </a:r>
            <a:r>
              <a:rPr lang="en-US" altLang="en-US" sz="3200" b="1" dirty="0"/>
              <a:t>process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我来把它说得更直截了当一些。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ym typeface="+mn-ea"/>
              </a:rPr>
              <a:t>Let me put it more </a:t>
            </a: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straightforwardly</a:t>
            </a:r>
            <a:r>
              <a:rPr lang="en-US" altLang="en-US" sz="3200" b="1" dirty="0">
                <a:sym typeface="+mn-ea"/>
              </a:rPr>
              <a:t>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/>
              <a:t>She is very blunt, very </a:t>
            </a:r>
            <a:r>
              <a:rPr lang="en-US" altLang="en-US" sz="3200" b="1" dirty="0">
                <a:solidFill>
                  <a:srgbClr val="FF0000"/>
                </a:solidFill>
              </a:rPr>
              <a:t>straightforward </a:t>
            </a:r>
            <a:r>
              <a:rPr lang="en-US" altLang="en-US" sz="3200" b="1" dirty="0"/>
              <a:t>and very honest.</a:t>
            </a:r>
          </a:p>
          <a:p>
            <a:pPr indent="0" fontAlgn="auto">
              <a:lnSpc>
                <a:spcPct val="120000"/>
              </a:lnSpc>
            </a:pPr>
            <a:r>
              <a:rPr lang="zh-CN" altLang="en-US" sz="3200" b="1" dirty="0"/>
              <a:t>仍有待解决的冲突和摩擦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conflicts and frictions</a:t>
            </a:r>
            <a:r>
              <a:rPr lang="en-US" altLang="en-US" sz="3200" b="1" dirty="0"/>
              <a:t> that remain to be resolved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7490" y="241935"/>
            <a:ext cx="11797030" cy="579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ts val="434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empathy: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understand </a:t>
            </a: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another person’s feelings</a:t>
            </a:r>
          </a:p>
          <a:p>
            <a:pPr indent="0" fontAlgn="auto">
              <a:lnSpc>
                <a:spcPts val="434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sympathy: </a:t>
            </a: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feel sorry</a:t>
            </a:r>
            <a:r>
              <a:rPr lang="en-US" altLang="en-US" sz="3200" b="1" i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 for another person’s misfortune</a:t>
            </a:r>
            <a:endParaRPr lang="en-US" altLang="en-US" sz="3200" b="1" dirty="0"/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empathetic</a:t>
            </a:r>
            <a:endParaRPr lang="en-US" altLang="en-US" sz="3200" b="1" dirty="0">
              <a:solidFill>
                <a:srgbClr val="FF0000"/>
              </a:solidFill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sympathetic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empathize</a:t>
            </a:r>
            <a:endParaRPr lang="en-US" altLang="en-US" sz="3200" b="1" dirty="0">
              <a:solidFill>
                <a:srgbClr val="FF0000"/>
              </a:solidFill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sympathize </a:t>
            </a:r>
            <a:endParaRPr lang="en-US" altLang="en-US" sz="3200" b="1" dirty="0"/>
          </a:p>
          <a:p>
            <a:pPr indent="0" fontAlgn="auto">
              <a:lnSpc>
                <a:spcPts val="4340"/>
              </a:lnSpc>
            </a:pPr>
            <a:r>
              <a:rPr lang="en-US" altLang="en-US" sz="3200" b="1" dirty="0"/>
              <a:t>He </a:t>
            </a:r>
            <a:r>
              <a:rPr lang="en-US" altLang="en-US" sz="3200" b="1" dirty="0">
                <a:solidFill>
                  <a:srgbClr val="FF0000"/>
                </a:solidFill>
              </a:rPr>
              <a:t>had great empathy for </a:t>
            </a:r>
            <a:r>
              <a:rPr lang="en-US" altLang="en-US" sz="3200" b="1" dirty="0"/>
              <a:t>other people's situations</a:t>
            </a:r>
          </a:p>
          <a:p>
            <a:pPr indent="0" fontAlgn="auto">
              <a:lnSpc>
                <a:spcPts val="4340"/>
              </a:lnSpc>
            </a:pPr>
            <a:r>
              <a:rPr lang="zh-CN" altLang="en-US" sz="3200" b="1" dirty="0"/>
              <a:t>对他人所处境况有同感</a:t>
            </a:r>
          </a:p>
          <a:p>
            <a:pPr indent="0" fontAlgn="auto">
              <a:lnSpc>
                <a:spcPts val="434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empathize with sb</a:t>
            </a:r>
          </a:p>
          <a:p>
            <a:pPr indent="0" fontAlgn="auto">
              <a:lnSpc>
                <a:spcPts val="434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an empathetic listener </a:t>
            </a:r>
            <a:r>
              <a:rPr lang="zh-CN" altLang="en-US" sz="3200" b="1" dirty="0">
                <a:solidFill>
                  <a:schemeClr val="tx1"/>
                </a:solidFill>
                <a:sym typeface="+mn-ea"/>
              </a:rPr>
              <a:t>善解人意的听者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634740" y="4773930"/>
            <a:ext cx="818642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i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relate to / identify with / resonate with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3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237490" y="241935"/>
            <a:ext cx="11797030" cy="6492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00000"/>
              </a:lnSpc>
            </a:pPr>
            <a:r>
              <a:rPr lang="zh-CN" altLang="en-US" sz="3200" b="1" dirty="0">
                <a:sym typeface="+mn-ea"/>
              </a:rPr>
              <a:t>我不同情简，那都是她自己的错。</a:t>
            </a:r>
            <a:endParaRPr lang="en-US" altLang="en-US" sz="3200" b="1" dirty="0"/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/>
              <a:t>I _____ ___ ________ _____ Jan, it's ____ ____ _____ ______.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/>
              <a:t>I’d like to</a:t>
            </a:r>
            <a:r>
              <a:rPr lang="en-US" altLang="en-US" sz="3200" b="1" dirty="0">
                <a:solidFill>
                  <a:srgbClr val="FF0000"/>
                </a:solidFill>
              </a:rPr>
              <a:t> express/offer/extend my deepest sympathy to</a:t>
            </a:r>
            <a:r>
              <a:rPr lang="en-US" altLang="en-US" sz="3200" b="1" dirty="0"/>
              <a:t> the victim’s family.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/>
              <a:t>The seamen went on strike </a:t>
            </a:r>
            <a:r>
              <a:rPr lang="en-US" altLang="en-US" sz="3200" b="1" dirty="0">
                <a:solidFill>
                  <a:srgbClr val="FF0000"/>
                </a:solidFill>
              </a:rPr>
              <a:t>in sympathy with</a:t>
            </a:r>
            <a:r>
              <a:rPr lang="en-US" altLang="en-US" sz="3200" b="1" dirty="0"/>
              <a:t> the dockers.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out of sympathy with</a:t>
            </a:r>
          </a:p>
          <a:p>
            <a:pPr indent="0" fontAlgn="auto">
              <a:lnSpc>
                <a:spcPct val="100000"/>
              </a:lnSpc>
            </a:pPr>
            <a:endParaRPr lang="en-US" altLang="en-US" sz="3200" b="1" dirty="0">
              <a:solidFill>
                <a:srgbClr val="FF0000"/>
              </a:solidFill>
            </a:endParaRP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sympathize with sb </a:t>
            </a:r>
            <a:r>
              <a:rPr lang="zh-CN" altLang="en-US" sz="3200" b="1" dirty="0">
                <a:solidFill>
                  <a:schemeClr val="tx1"/>
                </a:solidFill>
              </a:rPr>
              <a:t>同情某人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She </a:t>
            </a:r>
            <a:r>
              <a:rPr lang="en-US" altLang="en-US" sz="3200" b="1" dirty="0">
                <a:solidFill>
                  <a:srgbClr val="FF0000"/>
                </a:solidFill>
              </a:rPr>
              <a:t>was</a:t>
            </a:r>
            <a:r>
              <a:rPr lang="en-US" altLang="en-US" sz="3200" b="1" dirty="0">
                <a:solidFill>
                  <a:schemeClr val="tx1"/>
                </a:solidFill>
              </a:rPr>
              <a:t> very </a:t>
            </a:r>
            <a:r>
              <a:rPr lang="en-US" altLang="en-US" sz="3200" b="1" dirty="0">
                <a:solidFill>
                  <a:srgbClr val="FF0000"/>
                </a:solidFill>
              </a:rPr>
              <a:t>sympathetic to</a:t>
            </a:r>
            <a:r>
              <a:rPr lang="en-US" altLang="en-US" sz="3200" b="1" dirty="0">
                <a:solidFill>
                  <a:schemeClr val="tx1"/>
                </a:solidFill>
              </a:rPr>
              <a:t> the problems of adult students.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a </a:t>
            </a:r>
            <a:r>
              <a:rPr lang="en-US" altLang="en-US" sz="3200" b="1" dirty="0">
                <a:solidFill>
                  <a:srgbClr val="FF0000"/>
                </a:solidFill>
              </a:rPr>
              <a:t>sympathetic </a:t>
            </a:r>
            <a:r>
              <a:rPr lang="en-US" altLang="en-US" sz="3200" b="1" dirty="0">
                <a:solidFill>
                  <a:schemeClr val="tx1"/>
                </a:solidFill>
              </a:rPr>
              <a:t>listener </a:t>
            </a:r>
            <a:r>
              <a:rPr lang="zh-CN" altLang="en-US" sz="3200" b="1" dirty="0">
                <a:solidFill>
                  <a:schemeClr val="tx1"/>
                </a:solidFill>
              </a:rPr>
              <a:t>体恤别人、有同情心的听者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She met people in London who </a:t>
            </a:r>
            <a:r>
              <a:rPr lang="en-US" altLang="en-US" sz="3200" b="1" dirty="0">
                <a:solidFill>
                  <a:srgbClr val="FF0000"/>
                </a:solidFill>
              </a:rPr>
              <a:t>were sympathetic to </a:t>
            </a:r>
            <a:r>
              <a:rPr lang="en-US" altLang="en-US" sz="3200" b="1" dirty="0">
                <a:solidFill>
                  <a:schemeClr val="tx1"/>
                </a:solidFill>
              </a:rPr>
              <a:t>the Indian freedom struggle.</a:t>
            </a:r>
          </a:p>
          <a:p>
            <a:pPr indent="0" fontAlgn="auto">
              <a:lnSpc>
                <a:spcPct val="100000"/>
              </a:lnSpc>
            </a:pPr>
            <a:r>
              <a:rPr lang="en-US" altLang="en-US" sz="3200" b="1" dirty="0">
                <a:solidFill>
                  <a:schemeClr val="tx1"/>
                </a:solidFill>
              </a:rPr>
              <a:t>She sounds a most </a:t>
            </a:r>
            <a:r>
              <a:rPr lang="en-US" altLang="en-US" sz="3200" b="1" dirty="0">
                <a:solidFill>
                  <a:srgbClr val="FF0000"/>
                </a:solidFill>
              </a:rPr>
              <a:t>sympathetic</a:t>
            </a:r>
            <a:r>
              <a:rPr lang="en-US" altLang="en-US" sz="3200" b="1" dirty="0">
                <a:solidFill>
                  <a:schemeClr val="tx1"/>
                </a:solidFill>
              </a:rPr>
              <a:t> character. </a:t>
            </a:r>
            <a:r>
              <a:rPr lang="zh-CN" altLang="en-US" sz="3200" b="1" dirty="0">
                <a:solidFill>
                  <a:schemeClr val="tx1"/>
                </a:solidFill>
              </a:rPr>
              <a:t>讨人喜欢的</a:t>
            </a:r>
            <a:r>
              <a:rPr lang="en-US" altLang="zh-CN" sz="3200" b="1" dirty="0">
                <a:solidFill>
                  <a:schemeClr val="tx1"/>
                </a:solidFill>
              </a:rPr>
              <a:t>(</a:t>
            </a:r>
            <a:r>
              <a:rPr lang="zh-CN" altLang="en-US" sz="3200" b="1" dirty="0">
                <a:solidFill>
                  <a:schemeClr val="tx1"/>
                </a:solidFill>
              </a:rPr>
              <a:t>角色</a:t>
            </a:r>
            <a:r>
              <a:rPr lang="en-US" altLang="zh-CN" sz="3200" b="1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608330" y="6267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have   no  sympathy    for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6704330" y="6267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all    her    own     fault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5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49169" y="178218"/>
            <a:ext cx="11493661" cy="65874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prstClr val="black"/>
                </a:solidFill>
              </a:rPr>
              <a:t>____________________, I would resign immediately. </a:t>
            </a:r>
            <a:r>
              <a:rPr lang="zh-CN" altLang="en-US" sz="3200" b="1" dirty="0">
                <a:solidFill>
                  <a:prstClr val="black"/>
                </a:solidFill>
              </a:rPr>
              <a:t>如果我在你的处境下</a:t>
            </a:r>
            <a:r>
              <a:rPr lang="en-US" altLang="zh-CN" sz="3200" b="1" dirty="0">
                <a:solidFill>
                  <a:prstClr val="black"/>
                </a:solidFill>
              </a:rPr>
              <a:t> (</a:t>
            </a:r>
            <a:r>
              <a:rPr lang="en-US" altLang="zh-CN" sz="3200" b="1" dirty="0">
                <a:solidFill>
                  <a:srgbClr val="FF0000"/>
                </a:solidFill>
              </a:rPr>
              <a:t>be in one’s shoes </a:t>
            </a:r>
            <a:r>
              <a:rPr lang="zh-CN" altLang="en-US" sz="3200" b="1" dirty="0">
                <a:solidFill>
                  <a:schemeClr val="tx1"/>
                </a:solidFill>
              </a:rPr>
              <a:t>处在……的境地</a:t>
            </a:r>
            <a:r>
              <a:rPr lang="en-US" altLang="zh-CN" sz="3200" b="1" dirty="0">
                <a:solidFill>
                  <a:prstClr val="black"/>
                </a:solidFill>
              </a:rPr>
              <a:t>)</a:t>
            </a:r>
            <a:endParaRPr lang="en-US" altLang="en-US" sz="3200" b="1" dirty="0">
              <a:solidFill>
                <a:prstClr val="black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prstClr val="black"/>
                </a:solidFill>
              </a:rPr>
              <a:t>Don’t be cross with him. Try to </a:t>
            </a:r>
            <a:r>
              <a:rPr lang="en-US" altLang="en-US" sz="3200" b="1" dirty="0">
                <a:solidFill>
                  <a:srgbClr val="FF0000"/>
                </a:solidFill>
              </a:rPr>
              <a:t>put yourself in his shoes</a:t>
            </a:r>
            <a:r>
              <a:rPr lang="en-US" altLang="en-US" sz="3200" b="1" dirty="0">
                <a:solidFill>
                  <a:prstClr val="black"/>
                </a:solidFill>
              </a:rPr>
              <a:t>.</a:t>
            </a:r>
          </a:p>
          <a:p>
            <a:pPr indent="0" fontAlgn="auto">
              <a:lnSpc>
                <a:spcPct val="120000"/>
              </a:lnSpc>
            </a:pPr>
            <a:endParaRPr lang="en-US" altLang="en-US" sz="3200" b="1" dirty="0">
              <a:solidFill>
                <a:prstClr val="black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prstClr val="black"/>
                </a:solidFill>
              </a:rPr>
              <a:t>Recent pressure at work may </a:t>
            </a:r>
            <a:r>
              <a:rPr lang="en-US" altLang="en-US" sz="3200" b="1" dirty="0">
                <a:solidFill>
                  <a:srgbClr val="FF0000"/>
                </a:solidFill>
              </a:rPr>
              <a:t>account for</a:t>
            </a:r>
            <a:r>
              <a:rPr lang="en-US" altLang="en-US" sz="3200" b="1" dirty="0">
                <a:solidFill>
                  <a:prstClr val="black"/>
                </a:solidFill>
              </a:rPr>
              <a:t> his behavior.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prstClr val="black"/>
                </a:solidFill>
              </a:rPr>
              <a:t>Those who voted Zelensky </a:t>
            </a:r>
            <a:r>
              <a:rPr lang="en-US" altLang="en-US" sz="3200" b="1" dirty="0">
                <a:solidFill>
                  <a:srgbClr val="FF0000"/>
                </a:solidFill>
              </a:rPr>
              <a:t>accounted for</a:t>
            </a:r>
            <a:r>
              <a:rPr lang="en-US" altLang="en-US" sz="3200" b="1" dirty="0">
                <a:solidFill>
                  <a:prstClr val="black"/>
                </a:solidFill>
              </a:rPr>
              <a:t> 72%.</a:t>
            </a: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prstClr val="black"/>
                </a:solidFill>
              </a:rPr>
              <a:t>These figures do not _____ _____ ______ changes in the rate of inflation.</a:t>
            </a:r>
            <a:r>
              <a:rPr lang="zh-CN" altLang="en-US" sz="3200" b="1" dirty="0">
                <a:solidFill>
                  <a:prstClr val="black"/>
                </a:solidFill>
              </a:rPr>
              <a:t>考虑</a:t>
            </a:r>
            <a:endParaRPr lang="en-US" altLang="en-US" sz="3200" b="1" dirty="0">
              <a:solidFill>
                <a:prstClr val="black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prstClr val="black"/>
                </a:solidFill>
              </a:rPr>
              <a:t>She was told to wear flat shoes _____ _____ _____ her back problems. </a:t>
            </a:r>
            <a:r>
              <a:rPr lang="zh-CN" altLang="en-US" sz="3200" b="1" dirty="0">
                <a:solidFill>
                  <a:prstClr val="black"/>
                </a:solidFill>
              </a:rPr>
              <a:t>因为</a:t>
            </a:r>
            <a:endParaRPr lang="en-US" altLang="en-US" sz="3200" b="1" dirty="0">
              <a:solidFill>
                <a:prstClr val="black"/>
              </a:solidFill>
            </a:endParaRPr>
          </a:p>
          <a:p>
            <a:pPr indent="0" fontAlgn="auto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</a:rPr>
              <a:t>On no account should you…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349250" y="178435"/>
            <a:ext cx="45478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If I were in your shoes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4105910" y="3695065"/>
            <a:ext cx="45478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take   into  account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5860415" y="4836160"/>
            <a:ext cx="454787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sym typeface="+mn-ea"/>
              </a:rPr>
              <a:t>on    account  of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62145" y="181818"/>
            <a:ext cx="11467709" cy="48158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conference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approve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a plan. vt.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批准，通过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My mom didn’t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approve of my/me marrying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him. vi.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同意，赞成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My mom strongly ___________ of …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I desperately want to </a:t>
            </a: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win her </a:t>
            </a: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_________.</a:t>
            </a:r>
          </a:p>
          <a:p>
            <a:pPr marL="358775" indent="-358775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cs typeface="Times New Roman" panose="02020503050405090304" pitchFamily="18" charset="0"/>
                <a:sym typeface="+mn-ea"/>
              </a:rPr>
              <a:t>meet with one’s approval 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Finally my mom nodded ______ ______.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表示赞同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bill will be ______ ______ _______ by Congress.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提交批准</a:t>
            </a:r>
            <a:endParaRPr lang="en-US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358775" indent="-358775"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be subject to approval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需经某人批准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3608705" y="129984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disapprove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5657850" y="1928495"/>
            <a:ext cx="222567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approval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4770755" y="307530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in     approval</a:t>
            </a:r>
          </a:p>
        </p:txBody>
      </p:sp>
      <p:sp>
        <p:nvSpPr>
          <p:cNvPr id="8" name="Text Box 7"/>
          <p:cNvSpPr txBox="1"/>
          <p:nvPr/>
        </p:nvSpPr>
        <p:spPr>
          <a:xfrm>
            <a:off x="2994660" y="370395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submitted  for approval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/>
      <p:bldP spid="6" grpId="1"/>
      <p:bldP spid="7" grpId="0"/>
      <p:bldP spid="7" grpId="1"/>
      <p:bldP spid="8" grpId="0"/>
      <p:bldP spid="8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0" y="0"/>
            <a:ext cx="12192000" cy="5507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/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He </a:t>
            </a:r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made a rude gesture at</a:t>
            </a:r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 the driver of theother car. </a:t>
            </a:r>
          </a:p>
          <a:p>
            <a:pPr marL="0" indent="0"/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They communicated entirely ___ _______. </a:t>
            </a:r>
            <a:r>
              <a:rPr lang="zh-CN" altLang="en-US" sz="3200" b="1" i="0">
                <a:solidFill>
                  <a:schemeClr val="tx1"/>
                </a:solidFill>
                <a:latin typeface="Times New Roman Regular" panose="02020503050405090304" charset="0"/>
                <a:ea typeface="Optima" panose="02000503060000020004"/>
                <a:cs typeface="Times New Roman Regular" panose="02020503050405090304" charset="0"/>
              </a:rPr>
              <a:t>他们完全用手势交流</a:t>
            </a:r>
          </a:p>
          <a:p>
            <a:pPr marL="0" indent="0"/>
            <a:endParaRPr lang="zh-CN" altLang="en-US" sz="3200" b="1" i="0">
              <a:solidFill>
                <a:schemeClr val="tx1"/>
              </a:solidFill>
              <a:latin typeface="Times New Roman Regular" panose="02020503050405090304" charset="0"/>
              <a:ea typeface="Optima" panose="02000503060000020004"/>
              <a:cs typeface="Times New Roman Regular" panose="02020503050405090304" charset="0"/>
            </a:endParaRPr>
          </a:p>
          <a:p>
            <a:pPr marL="0" indent="0"/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They sent some flowers ___ __ _______ ___ _________ ____ the  parents of the child. </a:t>
            </a:r>
            <a:r>
              <a:rPr lang="zh-CN" altLang="en-US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以表同情</a:t>
            </a:r>
          </a:p>
          <a:p>
            <a:pPr marL="0" indent="0"/>
            <a:r>
              <a:rPr lang="zh-CN" altLang="en-US" sz="3200" b="1">
                <a:latin typeface="Optima Bold" panose="02000503060000020004" charset="0"/>
                <a:ea typeface="Optima" panose="02000503060000020004"/>
                <a:cs typeface="Times New Roman Regular" panose="02020503050405090304" charset="0"/>
                <a:sym typeface="+mn-ea"/>
              </a:rPr>
              <a:t>以表示我们的善意</a:t>
            </a:r>
            <a:endParaRPr lang="en-US" altLang="zh-CN" sz="3200" b="1" i="0">
              <a:solidFill>
                <a:schemeClr val="tx1"/>
              </a:solidFill>
              <a:latin typeface="Optima Bold" panose="02000503060000020004" charset="0"/>
              <a:ea typeface="Optima" panose="02000503060000020004"/>
              <a:cs typeface="Times New Roman Regular" panose="02020503050405090304" charset="0"/>
            </a:endParaRPr>
          </a:p>
          <a:p>
            <a:pPr marL="0" indent="0"/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It was a nice gesture to</a:t>
            </a:r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 invite his wife too.</a:t>
            </a:r>
          </a:p>
          <a:p>
            <a:pPr marL="0" indent="0"/>
            <a:endParaRPr lang="en-US" altLang="zh-CN" sz="3200" b="0" i="0">
              <a:solidFill>
                <a:schemeClr val="tx1"/>
              </a:solidFill>
              <a:latin typeface="Times New Roman Regular" panose="02020503050405090304" charset="0"/>
              <a:ea typeface="Optima" panose="02000503060000020004"/>
              <a:cs typeface="Times New Roman Regular" panose="02020503050405090304" charset="0"/>
            </a:endParaRPr>
          </a:p>
          <a:p>
            <a:pPr marL="0" indent="0"/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“I see you read a lot,” he said,</a:t>
            </a:r>
            <a:r>
              <a:rPr lang="en-US" altLang="zh-CN" sz="3200" b="1" i="0">
                <a:solidFill>
                  <a:schemeClr val="tx1"/>
                </a:solidFill>
                <a:latin typeface="Times New Roman Regular" panose="02020503050405090304" charset="0"/>
                <a:ea typeface="Optima" panose="02000503060000020004"/>
                <a:cs typeface="Times New Roman Regular" panose="02020503050405090304" charset="0"/>
              </a:rPr>
              <a:t> </a:t>
            </a:r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gesturing at </a:t>
            </a:r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the wall of books. </a:t>
            </a:r>
            <a:endParaRPr lang="en-US" altLang="zh-CN" sz="3200" b="1" i="0">
              <a:solidFill>
                <a:schemeClr val="tx1"/>
              </a:solidFill>
              <a:latin typeface="Times New Roman Regular" panose="02020503050405090304" charset="0"/>
              <a:ea typeface="Optima" panose="02000503060000020004"/>
              <a:cs typeface="Times New Roman Regular" panose="02020503050405090304" charset="0"/>
            </a:endParaRPr>
          </a:p>
          <a:p>
            <a:pPr marL="0" indent="0"/>
            <a:r>
              <a:rPr lang="en-US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gesture (to sb) that ...</a:t>
            </a:r>
            <a:r>
              <a:rPr lang="zh-CN" altLang="en-US" sz="3200" b="1">
                <a:latin typeface="Optima Bold" panose="02000503060000020004" charset="0"/>
                <a:ea typeface="Optima" panose="02000503060000020004"/>
                <a:cs typeface="Times New Roman Regular" panose="02020503050405090304" charset="0"/>
                <a:sym typeface="+mn-ea"/>
              </a:rPr>
              <a:t>示意某人做某事</a:t>
            </a:r>
            <a:endParaRPr lang="en-US" altLang="zh-CN" sz="3200" b="1" i="0">
              <a:solidFill>
                <a:schemeClr val="tx1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</a:endParaRPr>
          </a:p>
          <a:p>
            <a:pPr marL="0" indent="0"/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She </a:t>
            </a:r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gestured for </a:t>
            </a:r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them </a:t>
            </a:r>
            <a:r>
              <a:rPr lang="en-US" altLang="zh-CN" sz="3200" b="1" i="0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to </a:t>
            </a:r>
            <a:r>
              <a:rPr lang="en-US" altLang="zh-CN" sz="3200" b="1" i="0">
                <a:solidFill>
                  <a:schemeClr val="tx1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</a:rPr>
              <a:t>come in.</a:t>
            </a:r>
            <a:endParaRPr lang="zh-CN" altLang="en-US" sz="3200" b="1" i="0">
              <a:solidFill>
                <a:schemeClr val="tx1"/>
              </a:solidFill>
              <a:latin typeface="Optima Bold" panose="02000503060000020004" charset="0"/>
              <a:ea typeface="Optima" panose="02000503060000020004"/>
              <a:cs typeface="Times New Roman Regular" panose="0202050305040509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106035" y="396240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by   gesture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203700" y="1414145"/>
            <a:ext cx="6511925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as    a   gesture  of    sympathy    to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3404235" y="2333625"/>
            <a:ext cx="6096000" cy="6819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>
                <a:solidFill>
                  <a:srgbClr val="FF0000"/>
                </a:solidFill>
                <a:latin typeface="Times New Roman Bold" panose="02020503050405090304" charset="0"/>
                <a:ea typeface="Optima" panose="02000503060000020004"/>
                <a:cs typeface="Times New Roman Bold" panose="02020503050405090304" charset="0"/>
                <a:sym typeface="+mn-ea"/>
              </a:rPr>
              <a:t>as a gesture of goodwill</a:t>
            </a:r>
            <a:endParaRPr lang="en-US" altLang="zh-CN" sz="3200" b="1" dirty="0">
              <a:solidFill>
                <a:srgbClr val="FF0000"/>
              </a:solidFill>
              <a:latin typeface="Times New Roman Bold" panose="02020503050405090304" charset="0"/>
              <a:ea typeface="Optima" panose="02000503060000020004"/>
              <a:cs typeface="Times New Roman Bold" panose="02020503050405090304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4" grpId="0"/>
      <p:bldP spid="4" grpId="1"/>
      <p:bldP spid="5" grpId="0"/>
      <p:bldP spid="5" grpId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9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3200" b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1207</Words>
  <Application>Microsoft Macintosh PowerPoint</Application>
  <PresentationFormat>Widescreen</PresentationFormat>
  <Paragraphs>177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Times New Roman Bold</vt:lpstr>
      <vt:lpstr>Times New Roman Bold Italic</vt:lpstr>
      <vt:lpstr>Times New Roman Regular</vt:lpstr>
      <vt:lpstr>Arial</vt:lpstr>
      <vt:lpstr>Calibri</vt:lpstr>
      <vt:lpstr>Optima Bold</vt:lpstr>
      <vt:lpstr>Times New Roman</vt:lpstr>
      <vt:lpstr>Office 主题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172</cp:revision>
  <dcterms:created xsi:type="dcterms:W3CDTF">2025-05-20T00:47:12Z</dcterms:created>
  <dcterms:modified xsi:type="dcterms:W3CDTF">2026-07-23T01:28:15Z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68EEA195CED5A3B39532256868DAECDA_42</vt:lpwstr>
  </property>
  <property fmtid="{D5CDD505-2E9C-101B-9397-08002B2CF9AE}" pid="3" name="KSOProductBuildVer">
    <vt:lpwstr>1033-7.4.1.8983</vt:lpwstr>
  </property>
</Properties>
</file>