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87.xml" ContentType="application/vnd.openxmlformats-officedocument.presentationml.tags+xml"/>
  <Override PartName="/ppt/notesSlides/notesSlide1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2.xml" ContentType="application/vnd.openxmlformats-officedocument.presentationml.notesSlide+xml"/>
  <Override PartName="/ppt/tags/tag90.xml" ContentType="application/vnd.openxmlformats-officedocument.presentationml.tags+xml"/>
  <Override PartName="/ppt/notesSlides/notesSlide3.xml" ContentType="application/vnd.openxmlformats-officedocument.presentationml.notesSlide+xml"/>
  <Override PartName="/ppt/tags/tag91.xml" ContentType="application/vnd.openxmlformats-officedocument.presentationml.tags+xml"/>
  <Override PartName="/ppt/notesSlides/notesSlide4.xml" ContentType="application/vnd.openxmlformats-officedocument.presentationml.notesSlide+xml"/>
  <Override PartName="/ppt/tags/tag92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9"/>
  </p:notesMasterIdLst>
  <p:handoutMasterIdLst>
    <p:handoutMasterId r:id="rId10"/>
  </p:handoutMasterIdLst>
  <p:sldIdLst>
    <p:sldId id="305" r:id="rId3"/>
    <p:sldId id="319" r:id="rId4"/>
    <p:sldId id="290" r:id="rId5"/>
    <p:sldId id="336" r:id="rId6"/>
    <p:sldId id="326" r:id="rId7"/>
    <p:sldId id="33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9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5EF"/>
    <a:srgbClr val="FFF3E9"/>
    <a:srgbClr val="FFE7D1"/>
    <a:srgbClr val="D9D9D9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496" y="184"/>
      </p:cViewPr>
      <p:guideLst>
        <p:guide orient="horz" pos="2150"/>
        <p:guide pos="392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偏爱某事物</a:t>
            </a:r>
          </a:p>
          <a:p>
            <a:r>
              <a:rPr lang="zh-CN" altLang="en-US"/>
              <a:t>优先使用清晰的英语英语。</a:t>
            </a:r>
          </a:p>
          <a:p>
            <a:r>
              <a:rPr lang="zh-CN" altLang="en-US"/>
              <a:t>比……更合适，更可取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他们的托儿所与我们的婴儿学校大致相对应。</a:t>
            </a:r>
          </a:p>
          <a:p>
            <a:r>
              <a:rPr lang="zh-CN" altLang="en-US"/>
              <a:t>去年同期</a:t>
            </a:r>
          </a:p>
          <a:p>
            <a:r>
              <a:rPr lang="zh-CN" altLang="en-US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需求大、价格相应较高的时期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货币供应量的改变随即引起支出的相应改变。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孩子们，故居点</a:t>
            </a:r>
          </a:p>
          <a:p>
            <a:r>
              <a:rPr lang="en-US" altLang="zh-CN"/>
              <a:t>I</a:t>
            </a:r>
            <a:r>
              <a:rPr lang="en-US" altLang="en-US"/>
              <a:t> want you to behave yourselves while I'm away.</a:t>
            </a:r>
          </a:p>
          <a:p>
            <a:r>
              <a:rPr lang="zh-CN" altLang="en-US"/>
              <a:t>我不在时你们要乖乖的。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宽容</a:t>
            </a:r>
            <a:r>
              <a:rPr lang="en-US" altLang="zh-CN"/>
              <a:t>sympathy, </a:t>
            </a:r>
            <a:r>
              <a:rPr lang="en-US" altLang="en-US"/>
              <a:t> forbearance, open-mindedness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1296000"/>
            <a:ext cx="5283242" cy="5040000"/>
          </a:xfrm>
        </p:spPr>
        <p:txBody>
          <a:bodyPr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1296000"/>
            <a:ext cx="5283242" cy="5040000"/>
          </a:xfrm>
        </p:spPr>
        <p:txBody>
          <a:bodyPr/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1665A-E606-426B-8532-0BBEFE78A750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E94BDEF-1384-4A97-8AA4-70055791093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D73702-05D8-44B8-977B-BA1087386203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43FE44A-1BC2-4377-A570-F8A79E8B9CB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2588281"/>
            <a:ext cx="10852237" cy="899167"/>
          </a:xfrm>
        </p:spPr>
        <p:txBody>
          <a:bodyPr rIns="25400" anchor="t"/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0EA0E-0129-41AF-AA1C-2A1F82357E2F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F546784-D10A-461E-B132-8505F3098B8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6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20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8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9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9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elderly expressed ___ _____ ________ _____ their own homes.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...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to live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in…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__________ will be _____ _____ _____ of top universities.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毕业生优先考虑</a:t>
            </a: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Use clear English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 preference to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technical English.</a:t>
            </a:r>
          </a:p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505E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= rather than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preferred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prefer A to B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prefer to do A rather than do B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Walking is far __________ to driving.</a:t>
            </a:r>
          </a:p>
        </p:txBody>
      </p:sp>
      <p:sp>
        <p:nvSpPr>
          <p:cNvPr id="17" name="文本框 1"/>
          <p:cNvSpPr txBox="1"/>
          <p:nvPr/>
        </p:nvSpPr>
        <p:spPr>
          <a:xfrm>
            <a:off x="3987800" y="0"/>
            <a:ext cx="4487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   strong preference for 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125095" y="1207770"/>
            <a:ext cx="7113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Preference             given  to  graduates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1600835" y="1791335"/>
            <a:ext cx="7113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rgbClr val="0505E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favour/privilege/give advantage to</a:t>
            </a:r>
          </a:p>
        </p:txBody>
      </p:sp>
      <p:sp>
        <p:nvSpPr>
          <p:cNvPr id="6" name="文本框 1"/>
          <p:cNvSpPr txBox="1"/>
          <p:nvPr/>
        </p:nvSpPr>
        <p:spPr>
          <a:xfrm>
            <a:off x="2675255" y="5299075"/>
            <a:ext cx="7113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preferable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" grpId="0"/>
      <p:bldP spid="5" grpId="0"/>
      <p:bldP spid="5" grpId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-159" y="202730"/>
            <a:ext cx="11745278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 have _____ _____ _____ retiring.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 have _____ _____ _____ retiring.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我一心想……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It’s not my intention _______ she should suffer.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Ukraine signed the agreement _____ _____ _____ _____ becoming a member of the European Union.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She’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 full of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_____ ________ but they rarely work out.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with good intentions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 did trip him, but it was not ___________.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故意的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unintentional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 kept my statement ___________ vague.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intend</a:t>
            </a:r>
          </a:p>
        </p:txBody>
      </p:sp>
      <p:sp>
        <p:nvSpPr>
          <p:cNvPr id="17" name="文本框 1"/>
          <p:cNvSpPr txBox="1"/>
          <p:nvPr/>
        </p:nvSpPr>
        <p:spPr>
          <a:xfrm>
            <a:off x="1254125" y="248285"/>
            <a:ext cx="4487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no   intention   of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54125" y="831850"/>
            <a:ext cx="4487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every  intention  of</a:t>
            </a:r>
          </a:p>
        </p:txBody>
      </p:sp>
      <p:sp>
        <p:nvSpPr>
          <p:cNvPr id="3" name="文本框 1"/>
          <p:cNvSpPr txBox="1"/>
          <p:nvPr/>
        </p:nvSpPr>
        <p:spPr>
          <a:xfrm>
            <a:off x="3851910" y="1415415"/>
            <a:ext cx="34226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that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5528310" y="1998980"/>
            <a:ext cx="4487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with  the   intention  of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214880" y="31661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good  intentions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156200" y="43332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intentional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615055" y="55003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intentionally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  <p:bldP spid="17" grpId="0"/>
      <p:bldP spid="2" grpId="0"/>
      <p:bldP spid="3" grpId="0"/>
      <p:bldP spid="4" grpId="0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192000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你对事情的陈述与她说的不相符。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Your account of events does not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correspond with/to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hers.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Your account and hers do not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correspond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 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Give each picture a numbe</a:t>
            </a:r>
            <a:r>
              <a:rPr lang="en-US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 ____________ ___ i</a:t>
            </a:r>
            <a:r>
              <a:rPr lang="en-US" altLang="en-US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ts position on the page. (</a:t>
            </a:r>
            <a:r>
              <a:rPr lang="zh-CN" altLang="en-US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对应它的位置</a:t>
            </a:r>
            <a:r>
              <a:rPr lang="en-US" altLang="zh-CN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Their nursery schools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correspond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roughly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to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our infant schools.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类似于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505EF"/>
                </a:solidFill>
                <a:effectLst/>
                <a:uLnTx/>
                <a:uFillTx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be similar to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505EF"/>
                </a:solidFill>
                <a:effectLst/>
                <a:uLnTx/>
                <a:uFillTx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She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corresponded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regularly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with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her former music teacher.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与……通信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505EF"/>
                </a:solidFill>
                <a:effectLst/>
                <a:uLnTx/>
                <a:uFillTx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keep in contact with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998720" y="1597025"/>
            <a:ext cx="32429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corresponding to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192000" cy="333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 change in the money supply brings a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corresponding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change in expenditure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Sales are up 10% in the _____________ month last year. 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He has been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in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______________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with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her for years.</a:t>
            </a: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 political </a:t>
            </a:r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correspondent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记者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R="0" lvl="0" indent="0" algn="l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 period of high demand and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correspondingly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high prices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293870" y="985520"/>
            <a:ext cx="29451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corresponding</a:t>
            </a:r>
            <a:r>
              <a:rPr lang="en-US" altLang="en-US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660015" y="1569085"/>
            <a:ext cx="29451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correspondence</a:t>
            </a:r>
            <a:r>
              <a:rPr lang="en-US" altLang="en-US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1365" cy="3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0850" indent="-450850">
              <a:lnSpc>
                <a:spcPct val="120000"/>
              </a:lnSpc>
              <a:defRPr sz="3200" b="1">
                <a:latin typeface="Times New Roman" panose="02020503050405090304" charset="0"/>
                <a:cs typeface="Times New Roman" panose="02020503050405090304" charset="0"/>
              </a:defRPr>
            </a:lvl1pPr>
          </a:lstStyle>
          <a:p>
            <a:pPr marL="0" lvl="0" indent="0" fontAlgn="auto">
              <a:lnSpc>
                <a:spcPct val="110000"/>
              </a:lnSpc>
              <a:defRPr/>
            </a:pPr>
            <a:r>
              <a:rPr kumimoji="0" lang="zh-CN" altLang="en-US" sz="3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itchFamily="2" charset="-122"/>
              </a:rPr>
              <a:t>他表现得好像什么都没发生。</a:t>
            </a:r>
          </a:p>
          <a:p>
            <a:pPr marL="0" lvl="0" indent="0" fontAlgn="auto">
              <a:lnSpc>
                <a:spcPct val="110000"/>
              </a:lnSpc>
              <a:defRPr/>
            </a:pP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itchFamily="2" charset="-122"/>
              </a:rPr>
              <a:t>He behaved as if/ as though nothing had happened.</a:t>
            </a:r>
          </a:p>
          <a:p>
            <a:pPr marL="0" lvl="0" indent="0" fontAlgn="auto">
              <a:lnSpc>
                <a:spcPct val="110000"/>
              </a:lnSpc>
              <a:defRPr/>
            </a:pP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itchFamily="2" charset="-122"/>
              </a:rPr>
              <a:t>Will you kids just </a:t>
            </a: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itchFamily="2" charset="-122"/>
              </a:rPr>
              <a:t>behave </a:t>
            </a: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itchFamily="2" charset="-122"/>
              </a:rPr>
              <a:t>(yourselves)!</a:t>
            </a:r>
          </a:p>
          <a:p>
            <a:pPr marL="0" lvl="0" indent="0" fontAlgn="auto">
              <a:lnSpc>
                <a:spcPct val="110000"/>
              </a:lnSpc>
              <a:defRPr/>
            </a:pPr>
            <a:r>
              <a:rPr kumimoji="0" lang="zh-CN" altLang="en-US" sz="3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itchFamily="2" charset="-122"/>
              </a:rPr>
              <a:t>表现得体</a:t>
            </a:r>
            <a:endParaRPr kumimoji="0" lang="en-US" altLang="en-US" sz="3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itchFamily="2" charset="-122"/>
            </a:endParaRPr>
          </a:p>
          <a:p>
            <a:pPr marL="0" lvl="0" indent="0" fontAlgn="auto">
              <a:lnSpc>
                <a:spcPct val="110000"/>
              </a:lnSpc>
              <a:defRPr/>
            </a:pP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itchFamily="2" charset="-122"/>
              </a:rPr>
              <a:t>well-behaved/ badly-behaved</a:t>
            </a: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itchFamily="2" charset="-122"/>
              </a:rPr>
              <a:t> children</a:t>
            </a:r>
          </a:p>
          <a:p>
            <a:pPr marL="0" lvl="0" indent="0" fontAlgn="auto">
              <a:lnSpc>
                <a:spcPct val="110000"/>
              </a:lnSpc>
              <a:defRPr/>
            </a:pP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itchFamily="2" charset="-122"/>
              </a:rPr>
              <a:t>Any child caught </a:t>
            </a: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宋体" pitchFamily="2" charset="-122"/>
              </a:rPr>
              <a:t>misbehaving</a:t>
            </a:r>
            <a:r>
              <a:rPr kumimoji="0" lang="en-US" altLang="en-US" sz="32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宋体" pitchFamily="2" charset="-122"/>
              </a:rPr>
              <a:t> was made to stand at the front of the class.</a:t>
            </a:r>
            <a:endParaRPr kumimoji="0" lang="zh-CN" altLang="en-US" sz="32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宋体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9075" y="256696"/>
            <a:ext cx="11753850" cy="5502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她不能忍受被称为撒谎者。</a:t>
            </a: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She refused to ______________________________.</a:t>
            </a: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0505EF"/>
                </a:solidFill>
                <a:effectLst/>
                <a:uLnTx/>
                <a:uFillTx/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put up with, stand, bear</a:t>
            </a: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noProof="0" dirty="0">
                <a:ln>
                  <a:noFill/>
                </a:ln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他不容许任何人质疑他的决定。</a:t>
            </a: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He doesn’t tolerate anyone questioning his decisions.</a:t>
            </a:r>
            <a:endParaRPr kumimoji="0" lang="en-US" altLang="en-US" sz="32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Few plants will </a:t>
            </a:r>
            <a:r>
              <a:rPr kumimoji="0" lang="en-US" altLang="en-US" sz="32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tolerate </a:t>
            </a:r>
            <a:r>
              <a:rPr kumimoji="0" lang="en-US" altLang="en-US" sz="3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sudden changes in temperature.</a:t>
            </a: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Luckily, my parents were ________ __ my choice.</a:t>
            </a: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heat in this room is barely __________.</a:t>
            </a: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intolerable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450850" marR="0" lvl="0" indent="-4508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_________ towards religious minorities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885440" y="768350"/>
            <a:ext cx="61061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tolerate being called a liar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813935" y="3450590"/>
            <a:ext cx="22567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tolerant  of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618480" y="4034155"/>
            <a:ext cx="22567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tolerable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19075" y="5079365"/>
            <a:ext cx="22567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Tolerance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/>
      <p:bldP spid="2" grpId="1"/>
      <p:bldP spid="6" grpId="0"/>
      <p:bldP spid="6" grpId="1"/>
      <p:bldP spid="7" grpId="0"/>
      <p:bldP spid="7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3200">
            <a:latin typeface="Times New Roman" panose="02020503050405090304" charset="0"/>
            <a:cs typeface="Times New Roman" panose="0202050305040509030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Macintosh PowerPoint</Application>
  <PresentationFormat>Widescreen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Wingdings</vt:lpstr>
      <vt:lpstr>Office 主题​​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304</cp:revision>
  <dcterms:created xsi:type="dcterms:W3CDTF">2025-05-20T08:42:20Z</dcterms:created>
  <dcterms:modified xsi:type="dcterms:W3CDTF">2026-07-23T01:21:39Z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1033-7.4.1.8983</vt:lpwstr>
  </property>
  <property fmtid="{D5CDD505-2E9C-101B-9397-08002B2CF9AE}" pid="3" name="ICV">
    <vt:lpwstr>9D22F03496A84605A826F51A9E36F401</vt:lpwstr>
  </property>
</Properties>
</file>