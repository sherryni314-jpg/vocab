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477" r:id="rId3"/>
    <p:sldId id="596" r:id="rId4"/>
    <p:sldId id="432" r:id="rId6"/>
    <p:sldId id="600" r:id="rId7"/>
    <p:sldId id="562" r:id="rId8"/>
    <p:sldId id="561" r:id="rId9"/>
    <p:sldId id="601" r:id="rId10"/>
    <p:sldId id="579" r:id="rId11"/>
    <p:sldId id="583" r:id="rId12"/>
    <p:sldId id="592" r:id="rId13"/>
    <p:sldId id="594" r:id="rId14"/>
    <p:sldId id="586" r:id="rId15"/>
    <p:sldId id="56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56ADE1"/>
    <a:srgbClr val="C5D6E6"/>
    <a:srgbClr val="0A74F9"/>
    <a:srgbClr val="FFFFFF"/>
    <a:srgbClr val="E9EBF5"/>
    <a:srgbClr val="CFD5EA"/>
    <a:srgbClr val="4472C4"/>
    <a:srgbClr val="C4D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27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教育应当是全民共有的而非少数人独享的权利。</a:t>
            </a:r>
            <a:endParaRPr lang="zh-CN" altLang="en-US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r>
              <a:rPr lang="zh-CN" altLang="en-US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特别优遇富家子弟的教育政策</a:t>
            </a:r>
            <a:endParaRPr lang="zh-CN" altLang="en-US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zh-CN" altLang="en-US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俱乐部的一切福利和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优惠</a:t>
            </a:r>
            <a:endParaRPr lang="zh-CN" altLang="en-US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/>
          </a:p>
          <a:p>
            <a:r>
              <a:rPr lang="en-US"/>
              <a:t>the underprivileged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走廊</a:t>
            </a:r>
            <a:r>
              <a:rPr lang="en-US" altLang="zh-CN"/>
              <a:t>，</a:t>
            </a:r>
            <a:r>
              <a:rPr lang="zh-CN" altLang="en-US"/>
              <a:t>过道</a:t>
            </a:r>
            <a:r>
              <a:rPr lang="en-US" altLang="zh-CN"/>
              <a:t> hallway, </a:t>
            </a:r>
            <a:r>
              <a:rPr lang="en-US" altLang="zh-CN">
                <a:sym typeface="+mn-ea"/>
              </a:rPr>
              <a:t> corridor</a:t>
            </a:r>
            <a:endParaRPr lang="zh-CN" altLang="en-US"/>
          </a:p>
          <a:p>
            <a:r>
              <a:rPr lang="zh-CN" altLang="en-US"/>
              <a:t>通道</a:t>
            </a:r>
            <a:r>
              <a:rPr lang="en-US" altLang="zh-CN"/>
              <a:t> force a passage (way through)</a:t>
            </a:r>
            <a:endParaRPr lang="zh-CN" altLang="en-US"/>
          </a:p>
          <a:p>
            <a:r>
              <a:rPr lang="zh-CN" altLang="en-US"/>
              <a:t>通过，经过</a:t>
            </a:r>
            <a:r>
              <a:rPr lang="en-US" altLang="zh-CN"/>
              <a:t> transition (from </a:t>
            </a:r>
            <a:r>
              <a:rPr lang="en-US" altLang="en-US"/>
              <a:t>adolescence to adulthood)</a:t>
            </a:r>
            <a:endParaRPr lang="en-US" altLang="en-US"/>
          </a:p>
          <a:p>
            <a:r>
              <a:rPr lang="zh-CN" altLang="en-US"/>
              <a:t>使……更顺利地通过</a:t>
            </a:r>
            <a:r>
              <a:rPr lang="en-US" altLang="zh-CN"/>
              <a:t> passing </a:t>
            </a:r>
            <a:endParaRPr lang="zh-CN" altLang="en-US"/>
          </a:p>
          <a:p>
            <a:r>
              <a:rPr lang="zh-CN" altLang="en-US"/>
              <a:t>航行，旅程</a:t>
            </a:r>
            <a:r>
              <a:rPr lang="en-US" altLang="zh-CN"/>
              <a:t> voyage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欣然接受</a:t>
            </a:r>
            <a:endParaRPr lang="zh-CN" altLang="en-US"/>
          </a:p>
          <a:p>
            <a:r>
              <a:rPr lang="zh-CN" altLang="en-US"/>
              <a:t>信奉</a:t>
            </a:r>
            <a:endParaRPr lang="zh-CN" altLang="en-US"/>
          </a:p>
          <a:p>
            <a:r>
              <a:rPr lang="zh-CN" altLang="en-US"/>
              <a:t>包括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仔细权衡，认真考虑</a:t>
            </a:r>
            <a:endParaRPr lang="zh-CN" altLang="en-US"/>
          </a:p>
          <a:p>
            <a:r>
              <a:rPr lang="en-US" altLang="zh-CN"/>
              <a:t>weigh (up) an invisible decision</a:t>
            </a:r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人类生命对他而言比政策的纯洁性更重要。</a:t>
            </a:r>
            <a:endParaRPr lang="zh-CN" altLang="en-US"/>
          </a:p>
          <a:p>
            <a:r>
              <a:rPr lang="zh-CN" altLang="en-US"/>
              <a:t>让我的良心</a:t>
            </a:r>
            <a:r>
              <a:rPr lang="zh-CN" altLang="en-US"/>
              <a:t>不安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抛锚停泊</a:t>
            </a:r>
            <a:endParaRPr lang="zh-CN" altLang="en-US"/>
          </a:p>
          <a:p>
            <a:r>
              <a:rPr lang="en-US" altLang="en-US"/>
              <a:t>drop anchor</a:t>
            </a:r>
            <a:r>
              <a:rPr lang="zh-CN" altLang="en-US"/>
              <a:t>抛锚</a:t>
            </a:r>
            <a:endParaRPr lang="zh-CN" altLang="en-US"/>
          </a:p>
          <a:p>
            <a:r>
              <a:rPr lang="en-US" altLang="en-US"/>
              <a:t>weigh anchor </a:t>
            </a:r>
            <a:r>
              <a:rPr lang="zh-CN" altLang="en-US"/>
              <a:t>起锚启航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对……</a:t>
            </a:r>
            <a:r>
              <a:rPr lang="zh-CN" altLang="en-US"/>
              <a:t>仁慈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同样</a:t>
            </a:r>
            <a:r>
              <a:rPr lang="zh-CN" altLang="en-US"/>
              <a:t>地，</a:t>
            </a:r>
            <a:endParaRPr lang="zh-CN" altLang="en-US"/>
          </a:p>
          <a:p>
            <a:r>
              <a:rPr lang="zh-CN" altLang="en-US" dirty="0">
                <a:sym typeface="+mn-ea"/>
              </a:rPr>
              <a:t>照做</a:t>
            </a:r>
            <a:endParaRPr lang="zh-CN" altLang="en-US"/>
          </a:p>
          <a:p>
            <a:r>
              <a:rPr lang="zh-CN" altLang="en-US"/>
              <a:t>有错的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过着高尚的生活（高尚的道德，正直的</a:t>
            </a:r>
            <a:r>
              <a:rPr lang="zh-CN" altLang="en-US"/>
              <a:t>品性）</a:t>
            </a:r>
            <a:endParaRPr lang="zh-CN" altLang="en-US"/>
          </a:p>
          <a:p>
            <a:r>
              <a:rPr lang="zh-CN" altLang="en-US"/>
              <a:t>美德，</a:t>
            </a:r>
            <a:r>
              <a:rPr lang="zh-CN" altLang="en-US"/>
              <a:t>优秀品质</a:t>
            </a:r>
            <a:endParaRPr lang="zh-CN" altLang="en-US"/>
          </a:p>
          <a:p>
            <a:r>
              <a:rPr lang="zh-CN" altLang="en-US"/>
              <a:t>优点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对技术精益求精（使……</a:t>
            </a:r>
            <a:r>
              <a:rPr lang="zh-CN" altLang="en-US"/>
              <a:t>完美）</a:t>
            </a:r>
            <a:endParaRPr lang="zh-CN" altLang="en-US"/>
          </a:p>
          <a:p>
            <a:r>
              <a:rPr lang="zh-CN" altLang="en-US"/>
              <a:t>提高英语水平</a:t>
            </a:r>
            <a:r>
              <a:rPr lang="en-US" altLang="zh-CN"/>
              <a:t> perfect my English</a:t>
            </a:r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维护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12192000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is </a:t>
            </a:r>
            <a:r>
              <a:rPr lang="en-US" altLang="zh-CN" sz="3200" b="1" u="sng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great privilege to do sth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have the privilege of doing sth 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有荣幸能做某事</a:t>
            </a:r>
            <a:endParaRPr lang="zh-CN" altLang="en-US" sz="3200" b="1" dirty="0" smtClean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We are _________ to welcome you as our speaker.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Education should be a universal right and not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privilege</a:t>
            </a:r>
            <a:r>
              <a:rPr lang="en-US" altLang="en-US" sz="3200" b="1" dirty="0" smtClean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en-US" sz="3200" b="1" dirty="0" smtClean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education policies that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privilege (v.) </a:t>
            </a:r>
            <a:r>
              <a:rPr lang="en-US" altLang="en-US" sz="3200" b="1" dirty="0" smtClean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children of wealthy parents</a:t>
            </a:r>
            <a:endParaRPr lang="en-US" altLang="en-US" sz="3200" b="1" dirty="0" smtClean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i="1" dirty="0" smtClean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favour</a:t>
            </a:r>
            <a:endParaRPr lang="en-US" altLang="en-US" sz="3200" b="1" i="1" dirty="0" smtClean="0">
              <a:solidFill>
                <a:srgbClr val="0000FF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People from a __________ background often _____ ____ _________.</a:t>
            </a:r>
            <a:endParaRPr lang="en-US" altLang="en-US" sz="3200" b="1" dirty="0" smtClean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underprivileged</a:t>
            </a:r>
            <a:endParaRPr lang="en-US" altLang="en-US" sz="3200" b="1" dirty="0" smtClean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You can enjoy all the benefits and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privileges </a:t>
            </a:r>
            <a:r>
              <a:rPr lang="en-US" altLang="en-US" sz="3200" b="1" dirty="0" smtClean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of club membership.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endParaRPr lang="en-US" altLang="zh-CN" sz="3200" b="1" dirty="0" smtClean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 smtClean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（某人或某团体独享的）</a:t>
            </a:r>
            <a:r>
              <a:rPr lang="zh-CN" altLang="en-US" sz="3200" b="1" dirty="0" smtClean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特权，优惠</a:t>
            </a:r>
            <a:endParaRPr lang="zh-CN" altLang="en-US" sz="3200" b="1" dirty="0" smtClean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life of ______ and  _______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有钱有</a:t>
            </a:r>
            <a:r>
              <a:rPr lang="zh-CN" altLang="en-US" sz="3200" b="1" dirty="0" smtClean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势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的生活。</a:t>
            </a:r>
            <a:endParaRPr lang="zh-CN" altLang="en-US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文本框 3"/>
          <p:cNvSpPr txBox="1"/>
          <p:nvPr/>
        </p:nvSpPr>
        <p:spPr>
          <a:xfrm>
            <a:off x="5788025" y="-36830"/>
            <a:ext cx="1515110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46405" indent="-446405">
              <a:lnSpc>
                <a:spcPct val="120000"/>
              </a:lnSpc>
            </a:pPr>
            <a:r>
              <a:rPr lang="en-US" altLang="zh-CN" sz="3200" b="1" i="1" dirty="0" smtClean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honor</a:t>
            </a:r>
            <a:endParaRPr lang="en-US" altLang="zh-CN" sz="3200" b="1" i="1" dirty="0" smtClean="0">
              <a:solidFill>
                <a:srgbClr val="0000FF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  <p:sp>
        <p:nvSpPr>
          <p:cNvPr id="3" name="文本框 3"/>
          <p:cNvSpPr txBox="1"/>
          <p:nvPr/>
        </p:nvSpPr>
        <p:spPr>
          <a:xfrm>
            <a:off x="9991090" y="1327785"/>
            <a:ext cx="2274570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46405" indent="-446405" algn="ctr">
              <a:lnSpc>
                <a:spcPct val="120000"/>
              </a:lnSpc>
            </a:pPr>
            <a:r>
              <a:rPr lang="en-US" altLang="zh-CN" sz="3200" b="1" i="1" dirty="0" smtClean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[C] </a:t>
            </a:r>
            <a:endParaRPr lang="en-US" altLang="zh-CN" sz="3200" b="1" i="1" dirty="0" smtClean="0">
              <a:solidFill>
                <a:srgbClr val="0000FF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zh-CN" altLang="en-US" sz="3200" b="1" i="1" dirty="0" smtClean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特权，</a:t>
            </a:r>
            <a:r>
              <a:rPr lang="zh-CN" altLang="en-US" sz="3200" b="1" i="1" dirty="0" smtClean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优待</a:t>
            </a:r>
            <a:endParaRPr lang="zh-CN" altLang="en-US" sz="3200" b="1" i="1" dirty="0" smtClean="0">
              <a:solidFill>
                <a:srgbClr val="0000FF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370330" y="5812155"/>
            <a:ext cx="430720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wealth          privilege </a:t>
            </a:r>
            <a:endParaRPr lang="en-US" altLang="en-US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679065" y="3465830"/>
            <a:ext cx="224282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privileged </a:t>
            </a:r>
            <a:endParaRPr lang="en-US" altLang="en-US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370330" y="1193165"/>
            <a:ext cx="224282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privileged </a:t>
            </a:r>
            <a:endParaRPr lang="en-US" altLang="en-US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11" name="文本框 3"/>
          <p:cNvSpPr txBox="1"/>
          <p:nvPr/>
        </p:nvSpPr>
        <p:spPr>
          <a:xfrm>
            <a:off x="3093720" y="4109720"/>
            <a:ext cx="8761095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46405" indent="-446405">
              <a:lnSpc>
                <a:spcPct val="120000"/>
              </a:lnSpc>
            </a:pPr>
            <a:r>
              <a:rPr lang="en-US" altLang="zh-CN" sz="3200" b="1" i="1" dirty="0" smtClean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disadvantaged, poor </a:t>
            </a:r>
            <a:r>
              <a:rPr lang="zh-CN" altLang="en-US" sz="3200" b="1" i="1" dirty="0" smtClean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弱势的，贫苦的，</a:t>
            </a:r>
            <a:r>
              <a:rPr lang="zh-CN" altLang="en-US" sz="3200" b="1" i="1" dirty="0" smtClean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底层的</a:t>
            </a:r>
            <a:endParaRPr lang="zh-CN" altLang="en-US" sz="3200" b="1" i="1" dirty="0" smtClean="0">
              <a:solidFill>
                <a:srgbClr val="0000FF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7894955" y="3465830"/>
            <a:ext cx="395986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have    an   advantge</a:t>
            </a:r>
            <a:endParaRPr lang="en-US" altLang="en-US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2" grpId="1"/>
      <p:bldP spid="3" grpId="1"/>
      <p:bldP spid="6" grpId="1"/>
      <p:bldP spid="7" grpId="0"/>
      <p:bldP spid="7" grpId="1"/>
      <p:bldP spid="9" grpId="0"/>
      <p:bldP spid="9" grpId="1"/>
      <p:bldP spid="11" grpId="0"/>
      <p:bldP spid="11" grpId="1"/>
      <p:bldP spid="12" grpId="0"/>
      <p:bldP spid="12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74625" y="250190"/>
            <a:ext cx="1187577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他在退休时被颁发了这块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徽章。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 ____ _________ _____ the 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badge ___ the _____ ____ his retirement.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I'll speak to him about it if _____ _______ ______.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有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机会的话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 has been known _____ ________ to lose his temper.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有时，偶尔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occasionally, every now and then</a:t>
            </a:r>
            <a:endParaRPr lang="en-US" altLang="en-US" sz="3200" b="1" i="1" dirty="0">
              <a:solidFill>
                <a:srgbClr val="0000FF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在任何时候你都不能欺骗别人。</a:t>
            </a:r>
            <a:endParaRPr lang="en-US" altLang="en-US" sz="3200" b="1" dirty="0">
              <a:solidFill>
                <a:schemeClr val="tx1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On no occasion should you cheat others.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54710" y="843280"/>
            <a:ext cx="950595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was  presented   with                     on        occasion of</a:t>
            </a:r>
            <a:endParaRPr lang="en-US" altLang="en-US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947285" y="1965325"/>
            <a:ext cx="443547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   occasion   arises</a:t>
            </a:r>
            <a:endParaRPr lang="en-US" altLang="en-US" sz="3200" b="1" dirty="0" smtClean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3822065" y="261048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on   occasion(s)</a:t>
            </a:r>
            <a:endParaRPr lang="en-US" altLang="en-US" sz="3200" b="1" dirty="0" smtClean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6" grpId="0"/>
      <p:bldP spid="11" grpId="0"/>
      <p:bldP spid="6" grpId="1"/>
      <p:bldP spid="11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0" y="125095"/>
            <a:ext cx="12054840" cy="45231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00"/>
                </a:solidFill>
              </a:rPr>
              <a:t>演出开始的</a:t>
            </a:r>
            <a:r>
              <a:rPr lang="zh-CN" altLang="en-US" sz="3200" b="1" u="sng">
                <a:solidFill>
                  <a:srgbClr val="000000"/>
                </a:solidFill>
              </a:rPr>
              <a:t>时间</a:t>
            </a:r>
            <a:r>
              <a:rPr lang="zh-CN" altLang="en-US" sz="3200" b="1">
                <a:solidFill>
                  <a:srgbClr val="000000"/>
                </a:solidFill>
              </a:rPr>
              <a:t>终于</a:t>
            </a:r>
            <a:r>
              <a:rPr lang="zh-CN" altLang="en-US" sz="3200" b="1" u="sng">
                <a:solidFill>
                  <a:srgbClr val="000000"/>
                </a:solidFill>
              </a:rPr>
              <a:t>到了</a:t>
            </a:r>
            <a:r>
              <a:rPr lang="zh-CN" altLang="en-US" sz="3200" b="1">
                <a:solidFill>
                  <a:srgbClr val="000000"/>
                </a:solidFill>
              </a:rPr>
              <a:t>。</a:t>
            </a:r>
            <a:endParaRPr lang="zh-CN" altLang="en-US" sz="3200" b="1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00"/>
                </a:solidFill>
              </a:rPr>
              <a:t>At last ________________________________________.</a:t>
            </a:r>
            <a:endParaRPr lang="en-US" altLang="zh-CN" sz="3200" b="1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00"/>
                </a:solidFill>
              </a:rPr>
              <a:t>随着时间的流逝，记忆会慢慢褪去。</a:t>
            </a:r>
            <a:endParaRPr lang="zh-CN" altLang="en-US" sz="3200" b="1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>
                <a:solidFill>
                  <a:srgbClr val="000000"/>
                </a:solidFill>
              </a:rPr>
              <a:t>Memories _____ with the _______ of time.</a:t>
            </a:r>
            <a:endParaRPr lang="en-US" altLang="en-US" sz="3200" b="1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>
                <a:solidFill>
                  <a:srgbClr val="000000"/>
                </a:solidFill>
              </a:rPr>
              <a:t>Harry stepped into the </a:t>
            </a:r>
            <a:r>
              <a:rPr lang="en-US" altLang="en-US" sz="3200" b="1">
                <a:solidFill>
                  <a:srgbClr val="FF0000"/>
                </a:solidFill>
              </a:rPr>
              <a:t>passage </a:t>
            </a:r>
            <a:r>
              <a:rPr lang="en-US" altLang="en-US" sz="3200" b="1">
                <a:solidFill>
                  <a:srgbClr val="000000"/>
                </a:solidFill>
              </a:rPr>
              <a:t>and closed the door behind him.</a:t>
            </a:r>
            <a:endParaRPr lang="en-US" altLang="en-US" sz="3200" b="1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>
                <a:solidFill>
                  <a:srgbClr val="000000"/>
                </a:solidFill>
              </a:rPr>
              <a:t>He </a:t>
            </a:r>
            <a:r>
              <a:rPr lang="en-US" altLang="en-US" sz="3200" b="1">
                <a:solidFill>
                  <a:srgbClr val="FF0000"/>
                </a:solidFill>
              </a:rPr>
              <a:t>cleared a passage </a:t>
            </a:r>
            <a:r>
              <a:rPr lang="en-US" altLang="en-US" sz="3200" b="1">
                <a:solidFill>
                  <a:srgbClr val="000000"/>
                </a:solidFill>
              </a:rPr>
              <a:t>for himself through the crammed streets.</a:t>
            </a:r>
            <a:endParaRPr lang="en-US" altLang="en-US" sz="3200" b="1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>
                <a:solidFill>
                  <a:srgbClr val="000000"/>
                </a:solidFill>
              </a:rPr>
              <a:t>The </a:t>
            </a:r>
            <a:r>
              <a:rPr lang="en-US" altLang="en-US" sz="3200" b="1">
                <a:solidFill>
                  <a:srgbClr val="FF0000"/>
                </a:solidFill>
              </a:rPr>
              <a:t>passage </a:t>
            </a:r>
            <a:r>
              <a:rPr lang="en-US" altLang="en-US" sz="3200" b="1">
                <a:solidFill>
                  <a:srgbClr val="000000"/>
                </a:solidFill>
              </a:rPr>
              <a:t>of heat through rock is extremely slow.</a:t>
            </a:r>
            <a:endParaRPr lang="en-US" altLang="en-US" sz="3200" b="1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>
                <a:solidFill>
                  <a:srgbClr val="000000"/>
                </a:solidFill>
              </a:rPr>
              <a:t>to</a:t>
            </a:r>
            <a:r>
              <a:rPr lang="en-US" altLang="en-US" sz="3200" b="1">
                <a:solidFill>
                  <a:srgbClr val="FF0000"/>
                </a:solidFill>
              </a:rPr>
              <a:t> ease the passage from</a:t>
            </a:r>
            <a:r>
              <a:rPr lang="en-US" altLang="en-US" sz="3200" b="1">
                <a:solidFill>
                  <a:srgbClr val="000000"/>
                </a:solidFill>
              </a:rPr>
              <a:t> school </a:t>
            </a:r>
            <a:r>
              <a:rPr lang="en-US" altLang="en-US" sz="3200" b="1">
                <a:solidFill>
                  <a:srgbClr val="FF0000"/>
                </a:solidFill>
              </a:rPr>
              <a:t>to </a:t>
            </a:r>
            <a:r>
              <a:rPr lang="en-US" altLang="en-US" sz="3200" b="1">
                <a:solidFill>
                  <a:srgbClr val="000000"/>
                </a:solidFill>
              </a:rPr>
              <a:t>college.</a:t>
            </a:r>
            <a:endParaRPr lang="en-US" altLang="en-US" sz="3200" b="1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>
                <a:solidFill>
                  <a:srgbClr val="000000"/>
                </a:solidFill>
              </a:rPr>
              <a:t>We'd arrived the day before after a 10-hour </a:t>
            </a:r>
            <a:r>
              <a:rPr lang="en-US" altLang="en-US" sz="3200" b="1">
                <a:solidFill>
                  <a:srgbClr val="FF0000"/>
                </a:solidFill>
              </a:rPr>
              <a:t>passage </a:t>
            </a:r>
            <a:r>
              <a:rPr lang="en-US" altLang="en-US" sz="3200" b="1">
                <a:solidFill>
                  <a:srgbClr val="000000"/>
                </a:solidFill>
              </a:rPr>
              <a:t>from Swansea.</a:t>
            </a:r>
            <a:endParaRPr lang="en-US" altLang="en-US" sz="3200" b="1">
              <a:solidFill>
                <a:srgbClr val="000000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314450" y="519430"/>
            <a:ext cx="843661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sym typeface="+mn-ea"/>
              </a:rPr>
              <a:t>the time arrived for the performance to begin 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877695" y="1513205"/>
            <a:ext cx="843661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sym typeface="+mn-ea"/>
              </a:rPr>
              <a:t>faded                 passage</a:t>
            </a:r>
            <a:endParaRPr lang="en-US" altLang="zh-CN" sz="3200" b="1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5" grpId="1"/>
      <p:bldP spid="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7833" y="147384"/>
            <a:ext cx="11560467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444500" indent="-444500">
              <a:lnSpc>
                <a:spcPct val="120000"/>
              </a:lnSpc>
              <a:defRPr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defRPr>
            </a:lvl1pPr>
          </a:lstStyle>
          <a:p>
            <a:pPr marL="0" indent="0" fontAlgn="auto"/>
            <a:r>
              <a:rPr lang="en-US" altLang="en-US" dirty="0">
                <a:solidFill>
                  <a:schemeClr val="tx1"/>
                </a:solidFill>
              </a:rPr>
              <a:t>He _____ from his chair and _______ _____ _______.</a:t>
            </a:r>
            <a:endParaRPr lang="en-US" altLang="en-US" dirty="0">
              <a:solidFill>
                <a:schemeClr val="tx1"/>
              </a:solidFill>
            </a:endParaRPr>
          </a:p>
          <a:p>
            <a:pPr marL="0" indent="0" fontAlgn="auto"/>
            <a:r>
              <a:rPr lang="en-US" altLang="en-US" dirty="0">
                <a:solidFill>
                  <a:schemeClr val="tx1"/>
                </a:solidFill>
              </a:rPr>
              <a:t>= ... </a:t>
            </a:r>
            <a:r>
              <a:rPr lang="en-US" altLang="en-US" dirty="0">
                <a:solidFill>
                  <a:srgbClr val="FF0000"/>
                </a:solidFill>
              </a:rPr>
              <a:t>held her in a warm embrace</a:t>
            </a:r>
            <a:r>
              <a:rPr lang="en-US" altLang="en-US" dirty="0">
                <a:solidFill>
                  <a:schemeClr val="tx1"/>
                </a:solidFill>
              </a:rPr>
              <a:t>.</a:t>
            </a:r>
            <a:endParaRPr lang="en-US" altLang="en-US" dirty="0">
              <a:solidFill>
                <a:schemeClr val="tx1"/>
              </a:solidFill>
            </a:endParaRPr>
          </a:p>
          <a:p>
            <a:pPr marL="0" indent="0" fontAlgn="auto"/>
            <a:r>
              <a:rPr lang="en-US" altLang="en-US" dirty="0">
                <a:solidFill>
                  <a:schemeClr val="tx1"/>
                </a:solidFill>
              </a:rPr>
              <a:t>He _____ ____ _____ _____ _____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and they </a:t>
            </a:r>
            <a:r>
              <a:rPr lang="en-US" altLang="en-US" dirty="0">
                <a:solidFill>
                  <a:srgbClr val="FF0000"/>
                </a:solidFill>
              </a:rPr>
              <a:t>embraced </a:t>
            </a:r>
            <a:r>
              <a:rPr lang="en-US" altLang="en-US" dirty="0">
                <a:solidFill>
                  <a:schemeClr val="tx1"/>
                </a:solidFill>
              </a:rPr>
              <a:t>warmly.</a:t>
            </a:r>
            <a:endParaRPr lang="en-US" altLang="en-US" dirty="0">
              <a:solidFill>
                <a:schemeClr val="tx1"/>
              </a:solidFill>
            </a:endParaRPr>
          </a:p>
          <a:p>
            <a:pPr marL="0" indent="0" fontAlgn="auto"/>
            <a:r>
              <a:rPr lang="zh-CN" altLang="en-US" dirty="0">
                <a:solidFill>
                  <a:schemeClr val="tx1"/>
                </a:solidFill>
              </a:rPr>
              <a:t>伸出手臂搂住她</a:t>
            </a:r>
            <a:endParaRPr lang="en-US" altLang="en-US" dirty="0">
              <a:solidFill>
                <a:schemeClr val="tx1"/>
              </a:solidFill>
            </a:endParaRPr>
          </a:p>
          <a:p>
            <a:pPr marL="0" indent="0" fontAlgn="auto"/>
            <a:r>
              <a:rPr lang="en-US" altLang="en-US" dirty="0">
                <a:solidFill>
                  <a:srgbClr val="FF0000"/>
                </a:solidFill>
              </a:rPr>
              <a:t>embrace life as it is</a:t>
            </a:r>
            <a:r>
              <a:rPr lang="en-US" altLang="en-US" dirty="0">
                <a:solidFill>
                  <a:schemeClr val="tx1"/>
                </a:solidFill>
              </a:rPr>
              <a:t> / the challenges</a:t>
            </a:r>
            <a:endParaRPr lang="en-US" altLang="en-US" dirty="0">
              <a:solidFill>
                <a:schemeClr val="tx1"/>
              </a:solidFill>
            </a:endParaRPr>
          </a:p>
          <a:p>
            <a:pPr marL="0" indent="0" fontAlgn="auto"/>
            <a:r>
              <a:rPr lang="en-US" altLang="en-US" dirty="0">
                <a:solidFill>
                  <a:srgbClr val="FF0000"/>
                </a:solidFill>
              </a:rPr>
              <a:t>embrace </a:t>
            </a:r>
            <a:r>
              <a:rPr lang="en-US" altLang="en-US" dirty="0">
                <a:solidFill>
                  <a:schemeClr val="tx1"/>
                </a:solidFill>
              </a:rPr>
              <a:t>democracy/feminism</a:t>
            </a:r>
            <a:endParaRPr lang="en-US" altLang="en-US" dirty="0">
              <a:solidFill>
                <a:schemeClr val="tx1"/>
              </a:solidFill>
            </a:endParaRPr>
          </a:p>
          <a:p>
            <a:pPr marL="0" indent="0" fontAlgn="auto"/>
            <a:r>
              <a:rPr lang="en-US" altLang="en-US" dirty="0">
                <a:solidFill>
                  <a:schemeClr val="tx1"/>
                </a:solidFill>
              </a:rPr>
              <a:t>The talks </a:t>
            </a:r>
            <a:r>
              <a:rPr lang="en-US" altLang="en-US" dirty="0">
                <a:solidFill>
                  <a:srgbClr val="FF0000"/>
                </a:solidFill>
              </a:rPr>
              <a:t>embraced </a:t>
            </a:r>
            <a:r>
              <a:rPr lang="en-US" altLang="en-US" dirty="0">
                <a:solidFill>
                  <a:schemeClr val="tx1"/>
                </a:solidFill>
              </a:rPr>
              <a:t>a wide range of issues.</a:t>
            </a:r>
            <a:endParaRPr lang="en-US" altLang="en-US" dirty="0">
              <a:solidFill>
                <a:schemeClr val="tx1"/>
              </a:solidFill>
            </a:endParaRPr>
          </a:p>
          <a:p>
            <a:pPr marL="0" indent="0" fontAlgn="auto"/>
            <a:r>
              <a:rPr lang="en-US" altLang="en-US" dirty="0">
                <a:solidFill>
                  <a:schemeClr val="tx1"/>
                </a:solidFill>
              </a:rPr>
              <a:t>We are in the third phase ______ I would call recovery and rehabilitation of China's image.</a:t>
            </a:r>
            <a:endParaRPr lang="en-US" altLang="en-US" dirty="0">
              <a:solidFill>
                <a:schemeClr val="tx1"/>
              </a:solidFill>
            </a:endParaRPr>
          </a:p>
          <a:p>
            <a:pPr marL="0" indent="0" fontAlgn="auto"/>
            <a:r>
              <a:rPr lang="en-US" altLang="en-US" dirty="0">
                <a:solidFill>
                  <a:schemeClr val="tx1"/>
                </a:solidFill>
              </a:rPr>
              <a:t>The 18 year old is in that phase ______ he think he know everything.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71855" y="147320"/>
            <a:ext cx="1131951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sym typeface="+mn-ea"/>
              </a:rPr>
              <a:t>rose                                    embraced  her  </a:t>
            </a:r>
            <a:r>
              <a:rPr lang="en-US" altLang="zh-CN" sz="3200" b="1">
                <a:solidFill>
                  <a:srgbClr val="FF0000"/>
                </a:solidFill>
                <a:sym typeface="+mn-ea"/>
              </a:rPr>
              <a:t>warmly/passionately     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71855" y="133604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threw   his   arms   around  her</a:t>
            </a:r>
            <a:endParaRPr lang="en-US" altLang="en-US" sz="3200" b="1" dirty="0" smtClean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794375" y="5391785"/>
            <a:ext cx="143129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where </a:t>
            </a:r>
            <a:endParaRPr lang="en-US" altLang="en-US" sz="3200" b="1" dirty="0" smtClean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4907280" y="4220210"/>
            <a:ext cx="143129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that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10" grpId="0"/>
      <p:bldP spid="4" grpId="0"/>
      <p:bldP spid="10" grpId="1"/>
      <p:bldP spid="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1770" y="163830"/>
            <a:ext cx="1200023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444500" indent="-444500">
              <a:lnSpc>
                <a:spcPct val="120000"/>
              </a:lnSpc>
              <a:defRPr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defRPr>
            </a:lvl1pPr>
          </a:lstStyle>
          <a:p>
            <a:pPr marL="0" indent="0" fontAlgn="auto"/>
            <a:r>
              <a:rPr lang="en-US" altLang="en-US" dirty="0"/>
              <a:t>two kilos ___ _____</a:t>
            </a:r>
            <a:endParaRPr lang="en-US" altLang="en-US" dirty="0"/>
          </a:p>
          <a:p>
            <a:pPr marL="0" indent="0" fontAlgn="auto"/>
            <a:r>
              <a:rPr lang="en-US" altLang="en-US" dirty="0"/>
              <a:t>About 23 centimeters long and ________ (weigh) 260 grams, the cabbage sculpture shows layers of its white stem and green leaves.</a:t>
            </a:r>
            <a:endParaRPr lang="en-US" altLang="en-US" dirty="0"/>
          </a:p>
          <a:p>
            <a:pPr marL="0" indent="0" fontAlgn="auto"/>
            <a:r>
              <a:rPr lang="en-US" altLang="en-US" dirty="0"/>
              <a:t>Vegetables are sold _____ _____. </a:t>
            </a:r>
            <a:r>
              <a:rPr lang="zh-CN" altLang="en-US" dirty="0"/>
              <a:t>按斤卖</a:t>
            </a:r>
            <a:endParaRPr lang="zh-CN" altLang="en-US" dirty="0"/>
          </a:p>
          <a:p>
            <a:pPr marL="0" indent="0" fontAlgn="auto"/>
            <a:r>
              <a:rPr lang="en-US" altLang="en-US" dirty="0">
                <a:sym typeface="+mn-ea"/>
              </a:rPr>
              <a:t>Finally telling the truth was ___ _____ ___ ____ ______________. </a:t>
            </a:r>
            <a:r>
              <a:rPr lang="zh-CN" altLang="en-US" dirty="0">
                <a:sym typeface="+mn-ea"/>
              </a:rPr>
              <a:t>去掉了我心头的重担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burden</a:t>
            </a:r>
            <a:endParaRPr lang="zh-CN" altLang="en-US" dirty="0">
              <a:sym typeface="+mn-ea"/>
            </a:endParaRPr>
          </a:p>
          <a:p>
            <a:pPr marL="0" indent="0" fontAlgn="auto"/>
            <a:r>
              <a:rPr lang="en-US" altLang="en-US" dirty="0">
                <a:sym typeface="+mn-ea"/>
              </a:rPr>
              <a:t>We have to _____ the benefits ______ the risks. </a:t>
            </a:r>
            <a:r>
              <a:rPr lang="zh-CN" altLang="en-US" dirty="0">
                <a:sym typeface="+mn-ea"/>
              </a:rPr>
              <a:t>权衡利弊</a:t>
            </a:r>
            <a:r>
              <a:rPr lang="en-US" altLang="zh-CN" dirty="0">
                <a:sym typeface="+mn-ea"/>
              </a:rPr>
              <a:t>(</a:t>
            </a:r>
            <a:r>
              <a:rPr lang="zh-CN" altLang="en-US" dirty="0">
                <a:sym typeface="+mn-ea"/>
              </a:rPr>
              <a:t>认真考虑</a:t>
            </a:r>
            <a:r>
              <a:rPr lang="en-US" altLang="zh-CN" dirty="0">
                <a:sym typeface="+mn-ea"/>
              </a:rPr>
              <a:t>)</a:t>
            </a:r>
            <a:endParaRPr lang="zh-CN" altLang="en-US" dirty="0">
              <a:sym typeface="+mn-ea"/>
            </a:endParaRPr>
          </a:p>
          <a:p>
            <a:pPr marL="0" indent="0" fontAlgn="auto"/>
            <a:r>
              <a:rPr lang="en-US" altLang="zh-CN" dirty="0">
                <a:solidFill>
                  <a:srgbClr val="FF0000"/>
                </a:solidFill>
                <a:sym typeface="+mn-ea"/>
              </a:rPr>
              <a:t>weigh (up) the pros and cons</a:t>
            </a:r>
            <a:endParaRPr lang="zh-CN" altLang="en-US" dirty="0">
              <a:solidFill>
                <a:srgbClr val="FF0000"/>
              </a:solidFill>
              <a:sym typeface="+mn-ea"/>
            </a:endParaRPr>
          </a:p>
          <a:p>
            <a:pPr marL="0" indent="0" fontAlgn="auto"/>
            <a:r>
              <a:rPr lang="zh-CN" altLang="en-US" dirty="0">
                <a:sym typeface="+mn-ea"/>
              </a:rPr>
              <a:t>斟酌字句</a:t>
            </a:r>
            <a:endParaRPr lang="en-US" altLang="en-US" dirty="0"/>
          </a:p>
          <a:p>
            <a:pPr marL="0" indent="0" fontAlgn="auto"/>
            <a:r>
              <a:rPr lang="en-US" altLang="en-US" dirty="0"/>
              <a:t>After </a:t>
            </a:r>
            <a:r>
              <a:rPr lang="en-US" altLang="en-US" dirty="0">
                <a:solidFill>
                  <a:srgbClr val="FF0000"/>
                </a:solidFill>
              </a:rPr>
              <a:t>weighing things up</a:t>
            </a:r>
            <a:r>
              <a:rPr lang="en-US" altLang="en-US" dirty="0"/>
              <a:t>, I decided to hand in my resignation.</a:t>
            </a:r>
            <a:endParaRPr lang="en-US" altLang="en-US" dirty="0"/>
          </a:p>
        </p:txBody>
      </p:sp>
      <p:sp>
        <p:nvSpPr>
          <p:cNvPr id="4" name="Text Box 3"/>
          <p:cNvSpPr txBox="1"/>
          <p:nvPr/>
        </p:nvSpPr>
        <p:spPr>
          <a:xfrm>
            <a:off x="2014220" y="163830"/>
            <a:ext cx="249999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in  weight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662930" y="677545"/>
            <a:ext cx="249999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weighing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872230" y="1871345"/>
            <a:ext cx="249999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by  weight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149215" y="2454275"/>
            <a:ext cx="656463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   weight  off  my  mind/shoulders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2014220" y="4827905"/>
            <a:ext cx="567118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weigh your words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2286635" y="3704590"/>
            <a:ext cx="567118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weigh                     against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3" grpId="0"/>
      <p:bldP spid="3" grpId="1"/>
      <p:bldP spid="5" grpId="0"/>
      <p:bldP spid="5" grpId="1"/>
      <p:bldP spid="7" grpId="0"/>
      <p:bldP spid="7" grpId="1"/>
      <p:bldP spid="8" grpId="0"/>
      <p:bldP spid="8" grpId="1"/>
      <p:bldP spid="9" grpId="0"/>
      <p:bldP spid="9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1770" y="163830"/>
            <a:ext cx="12000230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444500" indent="-444500">
              <a:lnSpc>
                <a:spcPct val="120000"/>
              </a:lnSpc>
              <a:defRPr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defRPr>
            </a:lvl1pPr>
          </a:lstStyle>
          <a:p>
            <a:pPr marL="0" indent="0" fontAlgn="auto"/>
            <a:r>
              <a:rPr lang="en-US" altLang="en-US" dirty="0"/>
              <a:t>Human life </a:t>
            </a:r>
            <a:r>
              <a:rPr lang="en-US" altLang="en-US" dirty="0">
                <a:solidFill>
                  <a:srgbClr val="FF0000"/>
                </a:solidFill>
              </a:rPr>
              <a:t>weighed </a:t>
            </a:r>
            <a:r>
              <a:rPr lang="en-US" altLang="en-US" dirty="0"/>
              <a:t>more </a:t>
            </a:r>
            <a:r>
              <a:rPr lang="en-US" altLang="en-US" dirty="0">
                <a:solidFill>
                  <a:srgbClr val="FF0000"/>
                </a:solidFill>
              </a:rPr>
              <a:t>with </a:t>
            </a:r>
            <a:r>
              <a:rPr lang="en-US" altLang="en-US" dirty="0"/>
              <a:t>him than purity of policy.</a:t>
            </a:r>
            <a:endParaRPr lang="en-US" altLang="en-US" dirty="0"/>
          </a:p>
          <a:p>
            <a:pPr marL="0" indent="0" fontAlgn="auto"/>
            <a:r>
              <a:rPr lang="en-US" altLang="en-US" dirty="0">
                <a:solidFill>
                  <a:srgbClr val="FF0000"/>
                </a:solidFill>
              </a:rPr>
              <a:t>weigh heavily/very little with sb</a:t>
            </a:r>
            <a:endParaRPr lang="en-US" altLang="en-US" dirty="0">
              <a:solidFill>
                <a:srgbClr val="FF0000"/>
              </a:solidFill>
            </a:endParaRPr>
          </a:p>
          <a:p>
            <a:pPr marL="0" indent="0" fontAlgn="auto"/>
            <a:r>
              <a:rPr lang="en-US" altLang="en-US" dirty="0">
                <a:solidFill>
                  <a:srgbClr val="FF0000"/>
                </a:solidFill>
              </a:rPr>
              <a:t>A outweigh B</a:t>
            </a:r>
            <a:endParaRPr lang="en-US" altLang="en-US" dirty="0">
              <a:solidFill>
                <a:srgbClr val="FF0000"/>
              </a:solidFill>
            </a:endParaRPr>
          </a:p>
          <a:p>
            <a:pPr marL="0" indent="0" fontAlgn="auto"/>
            <a:r>
              <a:rPr lang="zh-CN" altLang="en-US" dirty="0">
                <a:solidFill>
                  <a:schemeClr val="tx1"/>
                </a:solidFill>
              </a:rPr>
              <a:t>这本书优点远远大于缺点。</a:t>
            </a:r>
            <a:endParaRPr lang="zh-CN" altLang="en-US" dirty="0">
              <a:solidFill>
                <a:schemeClr val="tx1"/>
              </a:solidFill>
            </a:endParaRPr>
          </a:p>
          <a:p>
            <a:pPr marL="0" indent="0" fontAlgn="auto"/>
            <a:r>
              <a:rPr lang="en-US" altLang="en-US" dirty="0">
                <a:solidFill>
                  <a:srgbClr val="FF0000"/>
                </a:solidFill>
                <a:sym typeface="+mn-ea"/>
              </a:rPr>
              <a:t>The book's virtues far outweigh its faults/flaws.</a:t>
            </a:r>
            <a:endParaRPr lang="zh-CN" altLang="en-US" dirty="0">
              <a:solidFill>
                <a:srgbClr val="FF0000"/>
              </a:solidFill>
            </a:endParaRPr>
          </a:p>
          <a:p>
            <a:pPr marL="0" indent="0" fontAlgn="auto"/>
            <a:endParaRPr lang="zh-CN" altLang="en-US" dirty="0">
              <a:solidFill>
                <a:schemeClr val="tx1"/>
              </a:solidFill>
            </a:endParaRPr>
          </a:p>
          <a:p>
            <a:pPr marL="0" indent="0" fontAlgn="auto"/>
            <a:r>
              <a:rPr lang="zh-CN" altLang="en-US" dirty="0">
                <a:solidFill>
                  <a:schemeClr val="tx1"/>
                </a:solidFill>
              </a:rPr>
              <a:t>她心事重重。</a:t>
            </a:r>
            <a:r>
              <a:rPr lang="en-US" altLang="en-US" dirty="0">
                <a:solidFill>
                  <a:schemeClr val="tx1"/>
                </a:solidFill>
              </a:rPr>
              <a:t>Something was _____ _____ her mind/her.</a:t>
            </a:r>
            <a:endParaRPr lang="en-US" altLang="en-US" dirty="0">
              <a:solidFill>
                <a:schemeClr val="tx1"/>
              </a:solidFill>
            </a:endParaRPr>
          </a:p>
          <a:p>
            <a:pPr marL="0" indent="0" fontAlgn="auto"/>
            <a:r>
              <a:rPr lang="en-US" altLang="en-US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be depressing or burdensome to sb</a:t>
            </a:r>
            <a:endParaRPr lang="en-US" altLang="en-US" dirty="0">
              <a:solidFill>
                <a:srgbClr val="0000FF"/>
              </a:solidFill>
              <a:latin typeface="Times New Roman Bold Italic" panose="02020503050405090304" charset="0"/>
              <a:cs typeface="Times New Roman Bold Italic" panose="02020503050405090304" charset="0"/>
              <a:sym typeface="+mn-ea"/>
            </a:endParaRPr>
          </a:p>
          <a:p>
            <a:pPr marL="0" indent="0" fontAlgn="auto"/>
            <a:r>
              <a:rPr lang="zh-CN" altLang="en-US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分离使他们两人都十分苦恼。</a:t>
            </a:r>
            <a:endParaRPr lang="en-US" altLang="en-US" dirty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marL="0" indent="0" fontAlgn="auto"/>
            <a:r>
              <a:rPr lang="en-US" altLang="en-US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separation weighed on both of them.</a:t>
            </a:r>
            <a:endParaRPr lang="en-US" altLang="en-US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0" fontAlgn="auto"/>
            <a:r>
              <a:rPr lang="en-US" altLang="en-US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weigh on my consience</a:t>
            </a:r>
            <a:endParaRPr lang="en-US" altLang="en-US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334635" y="3650615"/>
            <a:ext cx="270383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weighing on</a:t>
            </a:r>
            <a:endParaRPr lang="en-US" altLang="en-US" sz="3200" b="1" dirty="0" smtClean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"/>
          <p:cNvSpPr txBox="1"/>
          <p:nvPr/>
        </p:nvSpPr>
        <p:spPr>
          <a:xfrm>
            <a:off x="191770" y="163830"/>
            <a:ext cx="1200023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444500" indent="-444500">
              <a:lnSpc>
                <a:spcPct val="120000"/>
              </a:lnSpc>
              <a:defRPr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defRPr>
            </a:lvl1pPr>
          </a:lstStyle>
          <a:p>
            <a:pPr marL="0" indent="0" fontAlgn="auto"/>
            <a:r>
              <a:rPr lang="en-US" altLang="en-US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ship </a:t>
            </a:r>
            <a:r>
              <a:rPr lang="en-US" altLang="en-US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lay at anchor </a:t>
            </a:r>
            <a:r>
              <a:rPr lang="en-US" altLang="en-US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off the shore.</a:t>
            </a:r>
            <a:endParaRPr lang="en-US" altLang="en-US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0" fontAlgn="auto"/>
            <a:r>
              <a:rPr lang="en-US" altLang="en-US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They </a:t>
            </a:r>
            <a:r>
              <a:rPr lang="en-US" altLang="en-US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anchored </a:t>
            </a:r>
            <a:r>
              <a:rPr lang="en-US" altLang="en-US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their ship off the shore.</a:t>
            </a:r>
            <a:endParaRPr lang="en-US" altLang="en-US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0" fontAlgn="auto"/>
            <a:r>
              <a:rPr lang="en-US" altLang="en-US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______ should be ______ __________ </a:t>
            </a:r>
            <a:r>
              <a:rPr lang="en-US" altLang="en-US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to </a:t>
            </a:r>
            <a:r>
              <a:rPr lang="en-US" altLang="en-US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wall. </a:t>
            </a:r>
            <a:r>
              <a:rPr lang="zh-CN" altLang="en-US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架子必须被牢牢固定在墙上</a:t>
            </a:r>
            <a:endParaRPr lang="en-US" altLang="en-US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0" fontAlgn="auto"/>
            <a:r>
              <a:rPr lang="zh-CN" altLang="en-US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他们的友谊建立在相互尊重的基础之上。</a:t>
            </a:r>
            <a:endParaRPr lang="zh-CN" altLang="en-US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0" fontAlgn="auto"/>
            <a:r>
              <a:rPr lang="en-US" altLang="en-US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Their relationship </a:t>
            </a:r>
            <a:r>
              <a:rPr lang="en-US" altLang="en-US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was anchored</a:t>
            </a:r>
            <a:r>
              <a:rPr lang="en-US" altLang="en-US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in </a:t>
            </a:r>
            <a:r>
              <a:rPr lang="en-US" altLang="en-US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mutual respect.</a:t>
            </a:r>
            <a:endParaRPr lang="en-US" altLang="en-US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0" fontAlgn="auto"/>
            <a:r>
              <a:rPr lang="en-US" altLang="en-US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(be based on / be rooted in)</a:t>
            </a:r>
            <a:endParaRPr lang="en-US" altLang="en-US" i="1" dirty="0">
              <a:solidFill>
                <a:srgbClr val="0000FF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marL="0" indent="0" fontAlgn="auto"/>
            <a:r>
              <a:rPr lang="en-US" altLang="en-US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He provided an emotional </a:t>
            </a:r>
            <a:r>
              <a:rPr lang="en-US" altLang="en-US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anchor </a:t>
            </a:r>
            <a:r>
              <a:rPr lang="en-US" altLang="en-US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for her. </a:t>
            </a:r>
            <a:r>
              <a:rPr lang="zh-CN" altLang="en-US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精神支柱，</a:t>
            </a:r>
            <a:r>
              <a:rPr lang="zh-CN" altLang="en-US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顶梁柱</a:t>
            </a:r>
            <a:endParaRPr lang="zh-CN" altLang="en-US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982980" y="1317625"/>
            <a:ext cx="655637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shelves                  securely  anchored</a:t>
            </a:r>
            <a:endParaRPr lang="en-US" altLang="en-US" sz="3200" b="1" dirty="0" smtClean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91135" y="163195"/>
            <a:ext cx="11739245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Wang Meng ______ ____ _____ _____ her opponents.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对……不讲仁慈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humanity</a:t>
            </a:r>
            <a:endParaRPr lang="en-US" altLang="zh-CN" sz="3200" b="1" i="1" dirty="0">
              <a:solidFill>
                <a:srgbClr val="0000FF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be merciful to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beg/ask/cry/plead for mercy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祈求宽恕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have mercy on sb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宽待某人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After _____________ (capture), the soldiers were ______________ the enemies.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任由……摆布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It’s a mercy that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she wasn’t severely injured.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幸运的是……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_______ 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escape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________ attack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90925" y="200280"/>
            <a:ext cx="4234815" cy="583565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showed  no    mercy   to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2" name="矩形 11"/>
          <p:cNvSpPr/>
          <p:nvPr/>
        </p:nvSpPr>
        <p:spPr>
          <a:xfrm>
            <a:off x="1290140" y="3135250"/>
            <a:ext cx="2790825" cy="583565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being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captured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6" name="矩形 11"/>
          <p:cNvSpPr/>
          <p:nvPr/>
        </p:nvSpPr>
        <p:spPr>
          <a:xfrm>
            <a:off x="8921570" y="3135250"/>
            <a:ext cx="2788920" cy="583565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at the mercy of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9" name="矩形 11"/>
          <p:cNvSpPr/>
          <p:nvPr/>
        </p:nvSpPr>
        <p:spPr>
          <a:xfrm>
            <a:off x="530045" y="4866895"/>
            <a:ext cx="1649730" cy="583565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merciful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10" name="矩形 11"/>
          <p:cNvSpPr/>
          <p:nvPr/>
        </p:nvSpPr>
        <p:spPr>
          <a:xfrm>
            <a:off x="530045" y="5450460"/>
            <a:ext cx="1784985" cy="583565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merci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less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" grpId="0"/>
      <p:bldP spid="6" grpId="0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0"/>
            <a:ext cx="12192000" cy="6492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444500" indent="-444500">
              <a:lnSpc>
                <a:spcPct val="120000"/>
              </a:lnSpc>
              <a:defRPr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defRPr>
            </a:lvl1pPr>
          </a:lstStyle>
          <a:p>
            <a:pPr marL="0" indent="0" fontAlgn="auto">
              <a:lnSpc>
                <a:spcPct val="10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likewise adv.</a:t>
            </a:r>
            <a:endParaRPr lang="en-US" altLang="en-US" dirty="0">
              <a:solidFill>
                <a:srgbClr val="FF0000"/>
              </a:solidFill>
            </a:endParaRPr>
          </a:p>
          <a:p>
            <a:pPr marL="0" indent="0" fontAlgn="auto">
              <a:lnSpc>
                <a:spcPct val="100000"/>
              </a:lnSpc>
            </a:pPr>
            <a:r>
              <a:rPr lang="en-US" altLang="en-US" dirty="0"/>
              <a:t>These requests are ignored. His requests for rent are </a:t>
            </a:r>
            <a:r>
              <a:rPr lang="en-US" altLang="en-US" dirty="0">
                <a:solidFill>
                  <a:srgbClr val="FF0000"/>
                </a:solidFill>
              </a:rPr>
              <a:t>likewise </a:t>
            </a:r>
            <a:r>
              <a:rPr lang="en-US" altLang="en-US" dirty="0"/>
              <a:t>sometimes ignored.</a:t>
            </a:r>
            <a:endParaRPr lang="en-US" altLang="en-US" dirty="0"/>
          </a:p>
          <a:p>
            <a:pPr marL="0" indent="0" fontAlgn="auto">
              <a:lnSpc>
                <a:spcPct val="100000"/>
              </a:lnSpc>
            </a:pPr>
            <a:r>
              <a:rPr lang="en-US" altLang="en-US" dirty="0"/>
              <a:t>He lent money, made donations and encouraged others to </a:t>
            </a:r>
            <a:r>
              <a:rPr lang="en-US" altLang="en-US" dirty="0">
                <a:solidFill>
                  <a:srgbClr val="FF0000"/>
                </a:solidFill>
              </a:rPr>
              <a:t>do likewise</a:t>
            </a:r>
            <a:r>
              <a:rPr lang="en-US" altLang="en-US" dirty="0"/>
              <a:t>. </a:t>
            </a:r>
            <a:endParaRPr lang="en-US" altLang="en-US" dirty="0"/>
          </a:p>
          <a:p>
            <a:pPr marL="0" indent="0" fontAlgn="auto">
              <a:lnSpc>
                <a:spcPct val="100000"/>
              </a:lnSpc>
            </a:pPr>
            <a:endParaRPr lang="en-US" altLang="en-US" sz="3200" dirty="0">
              <a:solidFill>
                <a:srgbClr val="FF0000"/>
              </a:solidFill>
              <a:sym typeface="+mn-ea"/>
            </a:endParaRPr>
          </a:p>
          <a:p>
            <a:pPr marL="0" indent="0" fontAlgn="auto">
              <a:lnSpc>
                <a:spcPct val="100000"/>
              </a:lnSpc>
            </a:pPr>
            <a:r>
              <a:rPr sz="3200">
                <a:solidFill>
                  <a:srgbClr val="FF0000"/>
                </a:solidFill>
                <a:sym typeface="+mn-ea"/>
              </a:rPr>
              <a:t>It’s your fault that</a:t>
            </a:r>
            <a:r>
              <a:rPr sz="3200">
                <a:solidFill>
                  <a:srgbClr val="0433FF"/>
                </a:solidFill>
                <a:sym typeface="+mn-ea"/>
              </a:rPr>
              <a:t> </a:t>
            </a:r>
            <a:r>
              <a:rPr sz="3200">
                <a:sym typeface="+mn-ea"/>
              </a:rPr>
              <a:t>we are late.</a:t>
            </a:r>
            <a:endParaRPr sz="3200">
              <a:sym typeface="+mn-ea"/>
            </a:endParaRP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olidFill>
                  <a:srgbClr val="FF0000"/>
                </a:solidFill>
                <a:sym typeface="+mn-ea"/>
              </a:rPr>
              <a:t>It’s your fault for</a:t>
            </a:r>
            <a:r>
              <a:rPr sz="3200">
                <a:sym typeface="+mn-ea"/>
              </a:rPr>
              <a:t> not explaining it clearly.</a:t>
            </a:r>
            <a:endParaRPr sz="3200">
              <a:sym typeface="+mn-ea"/>
            </a:endParaRP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The official was </a:t>
            </a:r>
            <a:r>
              <a:rPr sz="3200">
                <a:solidFill>
                  <a:srgbClr val="FF0000"/>
                </a:solidFill>
                <a:sym typeface="+mn-ea"/>
              </a:rPr>
              <a:t>at fault</a:t>
            </a:r>
            <a:r>
              <a:rPr sz="3200">
                <a:sym typeface="+mn-ea"/>
              </a:rPr>
              <a:t>.</a:t>
            </a:r>
            <a:endParaRPr sz="3200">
              <a:sym typeface="+mn-ea"/>
            </a:endParaRP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We love the </a:t>
            </a:r>
            <a:r>
              <a:rPr lang="en-US" altLang="en-US" sz="32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city </a:t>
            </a:r>
            <a:r>
              <a:rPr sz="3200">
                <a:solidFill>
                  <a:srgbClr val="FF0000"/>
                </a:solidFill>
                <a:sym typeface="+mn-ea"/>
              </a:rPr>
              <a:t>for all its faults</a:t>
            </a:r>
            <a:r>
              <a:rPr sz="3200">
                <a:sym typeface="+mn-ea"/>
              </a:rPr>
              <a:t>.</a:t>
            </a:r>
            <a:r>
              <a:rPr lang="en-US" sz="3200">
                <a:sym typeface="+mn-ea"/>
              </a:rPr>
              <a:t> </a:t>
            </a:r>
            <a:r>
              <a:rPr sz="3200" i="1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(despite</a:t>
            </a:r>
            <a:r>
              <a:rPr lang="en-US" sz="3200" i="1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all its faults</a:t>
            </a:r>
            <a:r>
              <a:rPr sz="3200" i="1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)</a:t>
            </a:r>
            <a:endParaRPr sz="3200" i="1">
              <a:solidFill>
                <a:srgbClr val="0000FF"/>
              </a:solidFill>
              <a:latin typeface="Times New Roman Bold Italic" panose="02020503050405090304" charset="0"/>
              <a:cs typeface="Times New Roman Bold Italic" panose="02020503050405090304" charset="0"/>
              <a:sym typeface="+mn-ea"/>
            </a:endParaRP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zh-CN" altLang="en-US" sz="3200">
                <a:solidFill>
                  <a:schemeClr val="tx1"/>
                </a:solidFill>
                <a:latin typeface="Times New Roman Bold" panose="02020503050405090304" charset="0"/>
                <a:cs typeface="Times New Roman Bold Italic" panose="02020503050405090304" charset="0"/>
                <a:sym typeface="+mn-ea"/>
              </a:rPr>
              <a:t>这个系统虽然缺点不少，却是现有最好的一个</a:t>
            </a:r>
            <a:r>
              <a:rPr lang="en-US" altLang="zh-CN" sz="3200">
                <a:solidFill>
                  <a:schemeClr val="tx1"/>
                </a:solidFill>
                <a:latin typeface="Times New Roman Bold" panose="02020503050405090304" charset="0"/>
                <a:cs typeface="Times New Roman Bold Italic" panose="02020503050405090304" charset="0"/>
                <a:sym typeface="+mn-ea"/>
              </a:rPr>
              <a:t>。</a:t>
            </a:r>
            <a:endParaRPr lang="en-US" altLang="zh-CN" sz="3200">
              <a:solidFill>
                <a:schemeClr val="tx1"/>
              </a:solidFill>
              <a:latin typeface="Times New Roman Bold" panose="02020503050405090304" charset="0"/>
              <a:cs typeface="Times New Roman Bold Italic" panose="02020503050405090304" charset="0"/>
              <a:sym typeface="+mn-ea"/>
            </a:endParaRP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en-US" altLang="en-US" sz="320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 system, </a:t>
            </a:r>
            <a:r>
              <a:rPr lang="en-US" altLang="en-US" sz="320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for all its faults</a:t>
            </a:r>
            <a:r>
              <a:rPr lang="en-US" altLang="en-US" sz="320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, is the best available at the moment.</a:t>
            </a:r>
            <a:endParaRPr lang="en-US" altLang="en-US" sz="320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zh-CN" altLang="en-US" sz="320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无论何时厨师挑剔我的</a:t>
            </a:r>
            <a:r>
              <a:rPr lang="zh-CN" altLang="en-US" sz="320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活，都会给我带来压力。</a:t>
            </a:r>
            <a:endParaRPr lang="zh-CN" altLang="en-US" sz="320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algn="l">
              <a:lnSpc>
                <a:spcPct val="100000"/>
              </a:lnSpc>
              <a:defRPr sz="3900" b="1">
                <a:solidFill>
                  <a:srgbClr val="0433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en-US" altLang="en-US" sz="3200" dirty="0">
                <a:solidFill>
                  <a:schemeClr val="tx1"/>
                </a:solidFill>
              </a:rPr>
              <a:t>____ ____ _____ ____ ______ the cook </a:t>
            </a:r>
            <a:r>
              <a:rPr lang="en-US" altLang="en-US" sz="3200" dirty="0">
                <a:solidFill>
                  <a:srgbClr val="FF0000"/>
                </a:solidFill>
              </a:rPr>
              <a:t>found fault with</a:t>
            </a:r>
            <a:r>
              <a:rPr lang="en-US" altLang="en-US" sz="3200" dirty="0">
                <a:solidFill>
                  <a:schemeClr val="tx1"/>
                </a:solidFill>
              </a:rPr>
              <a:t> my work.</a:t>
            </a:r>
            <a:endParaRPr lang="en-US" altLang="en-US" sz="3200" dirty="0">
              <a:solidFill>
                <a:schemeClr val="tx1"/>
              </a:solidFill>
            </a:endParaRPr>
          </a:p>
        </p:txBody>
      </p:sp>
      <p:sp>
        <p:nvSpPr>
          <p:cNvPr id="2" name="文本框 4"/>
          <p:cNvSpPr txBox="1"/>
          <p:nvPr/>
        </p:nvSpPr>
        <p:spPr>
          <a:xfrm>
            <a:off x="9046586" y="2281260"/>
            <a:ext cx="10251583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faulty</a:t>
            </a:r>
            <a:endParaRPr lang="en-US" altLang="zh-CN" sz="3200" b="1" dirty="0" smtClean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faultless</a:t>
            </a:r>
            <a:endParaRPr lang="en-US" altLang="zh-CN" sz="3200" b="1" dirty="0" smtClean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19380" y="581088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It weighed  on me  whenever</a:t>
            </a:r>
            <a:endParaRPr lang="en-US" altLang="en-US" sz="3200" b="1" dirty="0" smtClean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4"/>
          <p:cNvSpPr txBox="1"/>
          <p:nvPr/>
        </p:nvSpPr>
        <p:spPr>
          <a:xfrm>
            <a:off x="0" y="0"/>
            <a:ext cx="12192000" cy="6000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444500" indent="-444500">
              <a:lnSpc>
                <a:spcPct val="120000"/>
              </a:lnSpc>
              <a:defRPr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defRPr>
            </a:lvl1pPr>
          </a:lstStyle>
          <a:p>
            <a:pPr marL="0" indent="0" fontAlgn="auto">
              <a:lnSpc>
                <a:spcPct val="100000"/>
              </a:lnSpc>
            </a:pPr>
            <a:r>
              <a:rPr lang="en-US" altLang="en-US" dirty="0">
                <a:solidFill>
                  <a:schemeClr val="tx1"/>
                </a:solidFill>
              </a:rPr>
              <a:t>He </a:t>
            </a:r>
            <a:r>
              <a:rPr lang="en-US" altLang="en-US" dirty="0">
                <a:solidFill>
                  <a:srgbClr val="FF0000"/>
                </a:solidFill>
              </a:rPr>
              <a:t>led a life of virtue</a:t>
            </a:r>
            <a:r>
              <a:rPr lang="en-US" altLang="en-US" dirty="0">
                <a:solidFill>
                  <a:schemeClr val="tx1"/>
                </a:solidFill>
              </a:rPr>
              <a:t>. [U]</a:t>
            </a:r>
            <a:endParaRPr lang="en-US" altLang="en-US" dirty="0">
              <a:solidFill>
                <a:schemeClr val="tx1"/>
              </a:solidFill>
            </a:endParaRPr>
          </a:p>
          <a:p>
            <a:pPr marL="0" indent="0" fontAlgn="auto">
              <a:lnSpc>
                <a:spcPct val="100000"/>
              </a:lnSpc>
            </a:pPr>
            <a:r>
              <a:rPr lang="en-US" altLang="en-US" dirty="0">
                <a:solidFill>
                  <a:schemeClr val="tx1"/>
                </a:solidFill>
              </a:rPr>
              <a:t>Patience is not one of her </a:t>
            </a:r>
            <a:r>
              <a:rPr lang="en-US" altLang="en-US" dirty="0">
                <a:solidFill>
                  <a:srgbClr val="FF0000"/>
                </a:solidFill>
              </a:rPr>
              <a:t>virtues</a:t>
            </a:r>
            <a:r>
              <a:rPr lang="en-US" altLang="en-US" dirty="0">
                <a:solidFill>
                  <a:schemeClr val="tx1"/>
                </a:solidFill>
              </a:rPr>
              <a:t>. </a:t>
            </a:r>
            <a:r>
              <a:rPr lang="en-US" altLang="en-US" dirty="0">
                <a:sym typeface="+mn-ea"/>
              </a:rPr>
              <a:t>[C]</a:t>
            </a:r>
            <a:endParaRPr lang="en-US" altLang="en-US" dirty="0">
              <a:sym typeface="+mn-ea"/>
            </a:endParaRPr>
          </a:p>
          <a:p>
            <a:pPr marL="0" indent="0" fontAlgn="auto">
              <a:lnSpc>
                <a:spcPct val="100000"/>
              </a:lnSpc>
            </a:pPr>
            <a:r>
              <a:rPr lang="zh-CN" altLang="en-US" dirty="0">
                <a:sym typeface="+mn-ea"/>
              </a:rPr>
              <a:t>谦虚被认为是一种美德。</a:t>
            </a:r>
            <a:endParaRPr lang="en-US" altLang="en-US" dirty="0">
              <a:solidFill>
                <a:schemeClr val="tx1"/>
              </a:solidFill>
            </a:endParaRPr>
          </a:p>
          <a:p>
            <a:pPr marL="0" indent="0" fontAlgn="auto">
              <a:lnSpc>
                <a:spcPct val="100000"/>
              </a:lnSpc>
            </a:pPr>
            <a:r>
              <a:rPr lang="en-US" altLang="en-US" dirty="0">
                <a:solidFill>
                  <a:schemeClr val="tx1"/>
                </a:solidFill>
              </a:rPr>
              <a:t>The plan has the </a:t>
            </a:r>
            <a:r>
              <a:rPr lang="en-US" altLang="en-US" dirty="0">
                <a:solidFill>
                  <a:srgbClr val="FF0000"/>
                </a:solidFill>
              </a:rPr>
              <a:t>virtue </a:t>
            </a:r>
            <a:r>
              <a:rPr lang="en-US" altLang="en-US" dirty="0">
                <a:solidFill>
                  <a:schemeClr val="tx1"/>
                </a:solidFill>
              </a:rPr>
              <a:t>of simplicity. </a:t>
            </a:r>
            <a:r>
              <a:rPr lang="en-US" altLang="en-US" dirty="0">
                <a:sym typeface="+mn-ea"/>
              </a:rPr>
              <a:t>[C]</a:t>
            </a:r>
            <a:endParaRPr lang="en-US" altLang="en-US" dirty="0">
              <a:sym typeface="+mn-ea"/>
            </a:endParaRPr>
          </a:p>
          <a:p>
            <a:pPr marL="0" indent="0" fontAlgn="auto">
              <a:lnSpc>
                <a:spcPct val="100000"/>
              </a:lnSpc>
            </a:pPr>
            <a:r>
              <a:rPr lang="en-US" altLang="en-US" dirty="0">
                <a:solidFill>
                  <a:schemeClr val="tx1"/>
                </a:solidFill>
              </a:rPr>
              <a:t>They could see </a:t>
            </a:r>
            <a:r>
              <a:rPr lang="en-US" altLang="en-US" dirty="0">
                <a:solidFill>
                  <a:srgbClr val="FF0000"/>
                </a:solidFill>
              </a:rPr>
              <a:t>no virtue in </a:t>
            </a:r>
            <a:r>
              <a:rPr lang="en-US" altLang="en-US" dirty="0">
                <a:solidFill>
                  <a:schemeClr val="tx1"/>
                </a:solidFill>
              </a:rPr>
              <a:t>discussing it further.</a:t>
            </a:r>
            <a:r>
              <a:rPr lang="zh-CN" altLang="en-US" dirty="0">
                <a:solidFill>
                  <a:schemeClr val="tx1"/>
                </a:solidFill>
              </a:rPr>
              <a:t>做某事没什么</a:t>
            </a:r>
            <a:r>
              <a:rPr lang="zh-CN" altLang="en-US" dirty="0">
                <a:solidFill>
                  <a:schemeClr val="tx1"/>
                </a:solidFill>
              </a:rPr>
              <a:t>好处</a:t>
            </a:r>
            <a:endParaRPr lang="zh-CN" altLang="en-US" dirty="0">
              <a:solidFill>
                <a:schemeClr val="tx1"/>
              </a:solidFill>
            </a:endParaRPr>
          </a:p>
          <a:p>
            <a:pPr marL="0" indent="0" fontAlgn="auto">
              <a:lnSpc>
                <a:spcPct val="100000"/>
              </a:lnSpc>
            </a:pPr>
            <a:endParaRPr lang="zh-CN" altLang="en-US" dirty="0">
              <a:solidFill>
                <a:schemeClr val="tx1"/>
              </a:solidFill>
            </a:endParaRPr>
          </a:p>
          <a:p>
            <a:pPr marL="0" indent="0" fontAlgn="auto">
              <a:lnSpc>
                <a:spcPct val="100000"/>
              </a:lnSpc>
            </a:pPr>
            <a:r>
              <a:rPr lang="en-US" altLang="en-US" dirty="0">
                <a:solidFill>
                  <a:schemeClr val="tx1"/>
                </a:solidFill>
              </a:rPr>
              <a:t>She got the job </a:t>
            </a:r>
            <a:r>
              <a:rPr lang="en-US" altLang="en-US" dirty="0">
                <a:solidFill>
                  <a:srgbClr val="FF0000"/>
                </a:solidFill>
              </a:rPr>
              <a:t>by/in virtue of </a:t>
            </a:r>
            <a:r>
              <a:rPr lang="en-US" altLang="en-US" dirty="0">
                <a:solidFill>
                  <a:schemeClr val="tx1"/>
                </a:solidFill>
              </a:rPr>
              <a:t>her greater experience. </a:t>
            </a:r>
            <a:r>
              <a:rPr lang="zh-CN" altLang="en-US" dirty="0">
                <a:solidFill>
                  <a:schemeClr val="tx1"/>
                </a:solidFill>
              </a:rPr>
              <a:t>由于，</a:t>
            </a:r>
            <a:r>
              <a:rPr lang="zh-CN" altLang="en-US" dirty="0">
                <a:solidFill>
                  <a:schemeClr val="tx1"/>
                </a:solidFill>
              </a:rPr>
              <a:t>依靠</a:t>
            </a:r>
            <a:endParaRPr lang="zh-CN" altLang="en-US" dirty="0">
              <a:solidFill>
                <a:schemeClr val="tx1"/>
              </a:solidFill>
            </a:endParaRPr>
          </a:p>
          <a:p>
            <a:pPr marL="0" indent="0" fontAlgn="auto">
              <a:lnSpc>
                <a:spcPct val="100000"/>
              </a:lnSpc>
            </a:pPr>
            <a:r>
              <a:rPr lang="zh-CN" altLang="en-US" dirty="0">
                <a:solidFill>
                  <a:schemeClr val="tx1"/>
                </a:solidFill>
              </a:rPr>
              <a:t>靠着一个细节，这篇文章一直</a:t>
            </a:r>
            <a:r>
              <a:rPr lang="zh-CN" altLang="en-US" dirty="0">
                <a:solidFill>
                  <a:schemeClr val="tx1"/>
                </a:solidFill>
              </a:rPr>
              <a:t>铭记在我脑海里。</a:t>
            </a:r>
            <a:endParaRPr lang="zh-CN" altLang="en-US" dirty="0">
              <a:solidFill>
                <a:schemeClr val="tx1"/>
              </a:solidFill>
            </a:endParaRPr>
          </a:p>
          <a:p>
            <a:pPr marL="0" indent="0" fontAlgn="auto">
              <a:lnSpc>
                <a:spcPct val="10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The article stuck in my mind by virtue of one detail.</a:t>
            </a:r>
            <a:endParaRPr lang="en-US" altLang="en-US" dirty="0">
              <a:solidFill>
                <a:srgbClr val="FF0000"/>
              </a:solidFill>
            </a:endParaRPr>
          </a:p>
          <a:p>
            <a:pPr marL="0" indent="0" fontAlgn="auto">
              <a:lnSpc>
                <a:spcPct val="100000"/>
              </a:lnSpc>
            </a:pPr>
            <a:r>
              <a:rPr lang="en-US" altLang="en-US" dirty="0">
                <a:solidFill>
                  <a:schemeClr val="tx1"/>
                </a:solidFill>
              </a:rPr>
              <a:t>a wise and </a:t>
            </a:r>
            <a:r>
              <a:rPr lang="en-US" altLang="en-US" dirty="0">
                <a:solidFill>
                  <a:srgbClr val="FF0000"/>
                </a:solidFill>
              </a:rPr>
              <a:t>virtuous </a:t>
            </a:r>
            <a:r>
              <a:rPr lang="en-US" altLang="en-US" dirty="0">
                <a:solidFill>
                  <a:schemeClr val="tx1"/>
                </a:solidFill>
              </a:rPr>
              <a:t>man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品行端正的</a:t>
            </a:r>
            <a:endParaRPr lang="en-US" altLang="en-US" dirty="0">
              <a:solidFill>
                <a:schemeClr val="tx1"/>
              </a:solidFill>
            </a:endParaRPr>
          </a:p>
          <a:p>
            <a:pPr marL="0" indent="0" fontAlgn="auto">
              <a:lnSpc>
                <a:spcPct val="100000"/>
              </a:lnSpc>
            </a:pPr>
            <a:r>
              <a:rPr lang="en-US" altLang="en-US" dirty="0">
                <a:solidFill>
                  <a:schemeClr val="tx1"/>
                </a:solidFill>
              </a:rPr>
              <a:t>He was feeling </a:t>
            </a:r>
            <a:r>
              <a:rPr lang="en-US" altLang="en-US" dirty="0">
                <a:solidFill>
                  <a:srgbClr val="FF0000"/>
                </a:solidFill>
              </a:rPr>
              <a:t>virtuous </a:t>
            </a:r>
            <a:r>
              <a:rPr lang="en-US" altLang="en-US" dirty="0">
                <a:solidFill>
                  <a:schemeClr val="tx1"/>
                </a:solidFill>
              </a:rPr>
              <a:t>because he had finished and they hadn't.</a:t>
            </a:r>
            <a:endParaRPr lang="en-US" altLang="en-US" dirty="0">
              <a:solidFill>
                <a:schemeClr val="tx1"/>
              </a:solidFill>
            </a:endParaRPr>
          </a:p>
          <a:p>
            <a:pPr marL="0" indent="0" fontAlgn="auto">
              <a:lnSpc>
                <a:spcPct val="100000"/>
              </a:lnSpc>
            </a:pPr>
            <a:r>
              <a:rPr lang="zh-CN" altLang="en-US" dirty="0">
                <a:solidFill>
                  <a:schemeClr val="tx1"/>
                </a:solidFill>
              </a:rPr>
              <a:t>自命不凡的，自命清高的</a:t>
            </a:r>
            <a:r>
              <a:rPr lang="en-US" altLang="zh-CN" dirty="0">
                <a:solidFill>
                  <a:srgbClr val="FF0000"/>
                </a:solidFill>
              </a:rPr>
              <a:t> virtuously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得意</a:t>
            </a:r>
            <a:r>
              <a:rPr lang="zh-CN" altLang="en-US" dirty="0">
                <a:solidFill>
                  <a:schemeClr val="tx1"/>
                </a:solidFill>
              </a:rPr>
              <a:t>地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525010" y="95948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fontAlgn="auto">
              <a:lnSpc>
                <a:spcPct val="10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Humility is considered as a virtue.</a:t>
            </a:r>
            <a:endParaRPr lang="en-US" altLang="en-US" sz="3200" b="1" dirty="0" smtClean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56165" y="327458"/>
            <a:ext cx="11163503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444500" indent="-444500">
              <a:lnSpc>
                <a:spcPct val="120000"/>
              </a:lnSpc>
              <a:defRPr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defRPr>
            </a:lvl1pPr>
          </a:lstStyle>
          <a:p>
            <a:pPr marL="0" indent="0" fontAlgn="auto"/>
            <a:r>
              <a:rPr lang="en-US" altLang="zh-CN" dirty="0" smtClean="0"/>
              <a:t>Education </a:t>
            </a:r>
            <a:r>
              <a:rPr lang="en-US" altLang="zh-CN" dirty="0"/>
              <a:t>is seen as a means of human </a:t>
            </a:r>
            <a:r>
              <a:rPr lang="en-US" altLang="zh-CN" dirty="0">
                <a:solidFill>
                  <a:srgbClr val="FF0000"/>
                </a:solidFill>
              </a:rPr>
              <a:t>betterment</a:t>
            </a:r>
            <a:r>
              <a:rPr lang="en-US" altLang="zh-CN" dirty="0"/>
              <a:t>.</a:t>
            </a:r>
            <a:endParaRPr lang="en-US" altLang="zh-CN" dirty="0"/>
          </a:p>
          <a:p>
            <a:pPr marL="0" indent="0" fontAlgn="auto"/>
            <a:r>
              <a:rPr lang="en-US" altLang="zh-CN" i="1" dirty="0" smtClean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advancement/improvement/amelioration</a:t>
            </a:r>
            <a:endParaRPr lang="en-US" altLang="zh-CN" i="1" dirty="0" smtClean="0">
              <a:solidFill>
                <a:srgbClr val="0000FF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marL="0" indent="0" fontAlgn="auto"/>
            <a:r>
              <a:rPr lang="en-US" altLang="zh-CN" dirty="0" smtClean="0">
                <a:solidFill>
                  <a:srgbClr val="FF0000"/>
                </a:solidFill>
              </a:rPr>
              <a:t>better oneself </a:t>
            </a:r>
            <a:r>
              <a:rPr lang="zh-CN" altLang="en-US" dirty="0" smtClean="0"/>
              <a:t>自我提高</a:t>
            </a:r>
            <a:endParaRPr lang="zh-CN" altLang="en-US" dirty="0" smtClean="0"/>
          </a:p>
          <a:p>
            <a:pPr marL="0" indent="0" fontAlgn="auto"/>
            <a:r>
              <a:rPr lang="en-US" altLang="en-US" dirty="0" smtClean="0"/>
              <a:t>The work he produced early in his career has never really been </a:t>
            </a:r>
            <a:r>
              <a:rPr lang="en-US" altLang="en-US" dirty="0" smtClean="0">
                <a:solidFill>
                  <a:srgbClr val="FF0000"/>
                </a:solidFill>
              </a:rPr>
              <a:t>bettered</a:t>
            </a:r>
            <a:r>
              <a:rPr lang="en-US" altLang="en-US" dirty="0" smtClean="0"/>
              <a:t>. </a:t>
            </a:r>
            <a:r>
              <a:rPr lang="zh-CN" altLang="en-US" dirty="0" smtClean="0"/>
              <a:t>超越</a:t>
            </a:r>
            <a:endParaRPr lang="zh-CN" altLang="en-US" dirty="0" smtClean="0"/>
          </a:p>
          <a:p>
            <a:pPr marL="0" indent="0" fontAlgn="auto"/>
            <a:endParaRPr lang="zh-CN" altLang="en-US" dirty="0" smtClean="0"/>
          </a:p>
          <a:p>
            <a:pPr marL="0" indent="0" fontAlgn="auto"/>
            <a:r>
              <a:rPr lang="en-US" altLang="en-US" dirty="0" smtClean="0"/>
              <a:t>As a musician, she has spent years</a:t>
            </a:r>
            <a:r>
              <a:rPr lang="en-US" altLang="en-US" dirty="0" smtClean="0">
                <a:solidFill>
                  <a:srgbClr val="FF0000"/>
                </a:solidFill>
              </a:rPr>
              <a:t> perfecting her technique</a:t>
            </a:r>
            <a:r>
              <a:rPr lang="en-US" altLang="en-US" dirty="0" smtClean="0"/>
              <a:t>.</a:t>
            </a:r>
            <a:endParaRPr lang="en-US" altLang="en-US" dirty="0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37820" y="75565"/>
            <a:ext cx="11548745" cy="32854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444500" indent="-444500">
              <a:lnSpc>
                <a:spcPct val="120000"/>
              </a:lnSpc>
              <a:defRPr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defRPr>
            </a:lvl1pPr>
          </a:lstStyle>
          <a:p>
            <a:pPr marL="0" indent="0" fontAlgn="auto"/>
            <a:r>
              <a:rPr lang="en-US" altLang="en-US" dirty="0" smtClean="0">
                <a:solidFill>
                  <a:schemeClr val="tx1"/>
                </a:solidFill>
              </a:rPr>
              <a:t>It may be difficult to do at first. Don't let this </a:t>
            </a:r>
            <a:r>
              <a:rPr lang="en-US" altLang="en-US" dirty="0" smtClean="0">
                <a:solidFill>
                  <a:srgbClr val="FF0000"/>
                </a:solidFill>
              </a:rPr>
              <a:t>discourage you</a:t>
            </a:r>
            <a:r>
              <a:rPr lang="en-US" altLang="en-US" dirty="0" smtClean="0">
                <a:solidFill>
                  <a:schemeClr val="tx1"/>
                </a:solidFill>
              </a:rPr>
              <a:t>.</a:t>
            </a:r>
            <a:endParaRPr lang="en-US" altLang="en-US" dirty="0" smtClean="0">
              <a:solidFill>
                <a:schemeClr val="tx1"/>
              </a:solidFill>
            </a:endParaRPr>
          </a:p>
          <a:p>
            <a:pPr marL="0" indent="0" fontAlgn="auto"/>
            <a:r>
              <a:rPr lang="en-US" altLang="zh-CN" dirty="0" smtClean="0">
                <a:sym typeface="+mn-ea"/>
              </a:rPr>
              <a:t>No </a:t>
            </a:r>
            <a:r>
              <a:rPr lang="en-US" altLang="zh-CN" dirty="0">
                <a:sym typeface="+mn-ea"/>
              </a:rPr>
              <a:t>one can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discourage</a:t>
            </a:r>
            <a:r>
              <a:rPr lang="en-US" altLang="zh-CN" dirty="0">
                <a:sym typeface="+mn-ea"/>
              </a:rPr>
              <a:t> me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from pursuing </a:t>
            </a:r>
            <a:r>
              <a:rPr lang="en-US" altLang="zh-CN" dirty="0">
                <a:sym typeface="+mn-ea"/>
              </a:rPr>
              <a:t>my dream.</a:t>
            </a:r>
            <a:endParaRPr lang="en-US" altLang="en-US" dirty="0" smtClean="0">
              <a:solidFill>
                <a:srgbClr val="FF0000"/>
              </a:solidFill>
            </a:endParaRPr>
          </a:p>
          <a:p>
            <a:r>
              <a:rPr lang="en-US" altLang="zh-CN" dirty="0" smtClean="0">
                <a:solidFill>
                  <a:srgbClr val="FF0000"/>
                </a:solidFill>
              </a:rPr>
              <a:t>discouraging  </a:t>
            </a:r>
            <a:r>
              <a:rPr lang="en-US" altLang="zh-CN" i="1" dirty="0">
                <a:solidFill>
                  <a:srgbClr val="FF0000"/>
                </a:solidFill>
              </a:rPr>
              <a:t>adj</a:t>
            </a:r>
            <a:r>
              <a:rPr lang="en-US" altLang="zh-CN" dirty="0">
                <a:solidFill>
                  <a:srgbClr val="FF0000"/>
                </a:solidFill>
              </a:rPr>
              <a:t>.  </a:t>
            </a:r>
            <a:r>
              <a:rPr lang="zh-CN" altLang="en-US" dirty="0"/>
              <a:t>令人泄气的，令人沮丧</a:t>
            </a:r>
            <a:r>
              <a:rPr lang="zh-CN" altLang="en-US" dirty="0" smtClean="0"/>
              <a:t>的</a:t>
            </a:r>
            <a:endParaRPr lang="en-US" altLang="zh-CN" dirty="0" smtClean="0"/>
          </a:p>
          <a:p>
            <a:r>
              <a:rPr lang="en-US" altLang="zh-CN" dirty="0">
                <a:solidFill>
                  <a:srgbClr val="FF0000"/>
                </a:solidFill>
              </a:rPr>
              <a:t>discouragement </a:t>
            </a:r>
            <a:r>
              <a:rPr lang="en-US" altLang="zh-CN" i="1" dirty="0">
                <a:solidFill>
                  <a:srgbClr val="FF0000"/>
                </a:solidFill>
              </a:rPr>
              <a:t>n</a:t>
            </a:r>
            <a:r>
              <a:rPr lang="en-US" altLang="zh-CN" dirty="0">
                <a:solidFill>
                  <a:srgbClr val="FF0000"/>
                </a:solidFill>
              </a:rPr>
              <a:t>. </a:t>
            </a:r>
            <a:r>
              <a:rPr lang="zh-CN" altLang="en-US" dirty="0" smtClean="0"/>
              <a:t>劝阻</a:t>
            </a:r>
            <a:r>
              <a:rPr lang="en-US" altLang="zh-CN" dirty="0" smtClean="0"/>
              <a:t>(</a:t>
            </a:r>
            <a:r>
              <a:rPr lang="zh-CN" altLang="en-US" dirty="0" smtClean="0"/>
              <a:t>不可数</a:t>
            </a:r>
            <a:r>
              <a:rPr lang="en-US" altLang="zh-CN" dirty="0" smtClean="0"/>
              <a:t>)</a:t>
            </a:r>
            <a:r>
              <a:rPr lang="zh-CN" altLang="en-US" dirty="0" smtClean="0"/>
              <a:t>；</a:t>
            </a:r>
            <a:r>
              <a:rPr lang="zh-CN" altLang="en-US" dirty="0"/>
              <a:t>使人泄气的事物，</a:t>
            </a:r>
            <a:r>
              <a:rPr lang="zh-CN" altLang="en-US" dirty="0" smtClean="0"/>
              <a:t>挫折</a:t>
            </a:r>
            <a:r>
              <a:rPr lang="en-US" altLang="zh-CN" dirty="0" smtClean="0"/>
              <a:t>(</a:t>
            </a:r>
            <a:r>
              <a:rPr lang="zh-CN" altLang="en-US" dirty="0" smtClean="0"/>
              <a:t>可数</a:t>
            </a:r>
            <a:r>
              <a:rPr lang="en-US" altLang="zh-CN" dirty="0" smtClean="0"/>
              <a:t>)</a:t>
            </a:r>
            <a:endParaRPr lang="zh-CN" altLang="en-US" dirty="0"/>
          </a:p>
          <a:p>
            <a:r>
              <a:rPr lang="en-US" altLang="zh-CN" dirty="0" smtClean="0">
                <a:solidFill>
                  <a:srgbClr val="FF0000"/>
                </a:solidFill>
              </a:rPr>
              <a:t>courage  </a:t>
            </a:r>
            <a:r>
              <a:rPr lang="en-US" altLang="zh-CN" i="1" dirty="0">
                <a:solidFill>
                  <a:srgbClr val="FF0000"/>
                </a:solidFill>
              </a:rPr>
              <a:t>n</a:t>
            </a:r>
            <a:r>
              <a:rPr lang="en-US" altLang="zh-CN" dirty="0">
                <a:solidFill>
                  <a:srgbClr val="FF0000"/>
                </a:solidFill>
              </a:rPr>
              <a:t>.  </a:t>
            </a:r>
            <a:r>
              <a:rPr lang="zh-CN" altLang="en-US" dirty="0"/>
              <a:t>勇气</a:t>
            </a:r>
            <a:endParaRPr lang="zh-CN" altLang="en-US" dirty="0"/>
          </a:p>
          <a:p>
            <a:r>
              <a:rPr lang="en-US" altLang="zh-CN" dirty="0" smtClean="0">
                <a:solidFill>
                  <a:srgbClr val="FF0000"/>
                </a:solidFill>
              </a:rPr>
              <a:t>encourage  </a:t>
            </a:r>
            <a:r>
              <a:rPr lang="en-US" altLang="zh-CN" i="1" dirty="0">
                <a:solidFill>
                  <a:srgbClr val="FF0000"/>
                </a:solidFill>
              </a:rPr>
              <a:t>v</a:t>
            </a:r>
            <a:r>
              <a:rPr lang="en-US" altLang="zh-CN" dirty="0">
                <a:solidFill>
                  <a:srgbClr val="FF0000"/>
                </a:solidFill>
              </a:rPr>
              <a:t>.  </a:t>
            </a:r>
            <a:r>
              <a:rPr lang="zh-CN" altLang="en-US" dirty="0" smtClean="0"/>
              <a:t>鼓励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37544" y="3917404"/>
            <a:ext cx="11460038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444500" indent="-444500">
              <a:lnSpc>
                <a:spcPct val="120000"/>
              </a:lnSpc>
              <a:defRPr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defRPr>
            </a:lvl1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 smtClean="0"/>
              <a:t>The </a:t>
            </a:r>
            <a:r>
              <a:rPr lang="en-US" altLang="zh-CN" dirty="0"/>
              <a:t>results were ___________. </a:t>
            </a:r>
            <a:endParaRPr lang="en-US" altLang="zh-CN" dirty="0" smtClean="0"/>
          </a:p>
          <a:p>
            <a:pPr marL="723900" lvl="0" indent="-7239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 smtClean="0"/>
              <a:t>Despite </a:t>
            </a:r>
            <a:r>
              <a:rPr lang="en-US" altLang="zh-CN" dirty="0"/>
              <a:t>all these _______________, she refused to give up.</a:t>
            </a:r>
            <a:endParaRPr lang="en-US" altLang="zh-CN" dirty="0"/>
          </a:p>
          <a:p>
            <a:pPr marL="723900" lvl="0" indent="-7239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 smtClean="0"/>
              <a:t>People </a:t>
            </a:r>
            <a:r>
              <a:rPr lang="en-US" altLang="zh-CN" dirty="0"/>
              <a:t>should have the _______ to stand up for their beliefs.  </a:t>
            </a:r>
            <a:endParaRPr lang="en-US" altLang="zh-CN" dirty="0" smtClean="0"/>
          </a:p>
          <a:p>
            <a:pPr marL="723900" lvl="0" indent="-7239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/>
              <a:t>an atmosphere of _______________ and despair</a:t>
            </a:r>
            <a:endParaRPr lang="en-US" altLang="zh-CN" dirty="0"/>
          </a:p>
        </p:txBody>
      </p:sp>
      <p:sp>
        <p:nvSpPr>
          <p:cNvPr id="3" name="Text Box 2"/>
          <p:cNvSpPr txBox="1"/>
          <p:nvPr/>
        </p:nvSpPr>
        <p:spPr>
          <a:xfrm>
            <a:off x="3442970" y="393001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discouraging</a:t>
            </a:r>
            <a:endParaRPr lang="en-US" altLang="zh-CN" sz="3200" b="1" dirty="0" smtClean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206750" y="450659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discouragements</a:t>
            </a:r>
            <a:endParaRPr lang="en-US" altLang="zh-CN" sz="3200" b="1" dirty="0" smtClean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443095" y="501142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courage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 </a:t>
            </a:r>
            <a:endParaRPr lang="en-US" altLang="zh-CN" sz="3200" b="1" dirty="0" smtClean="0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442970" y="565277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discouragement</a:t>
            </a:r>
            <a:endParaRPr lang="en-US" altLang="zh-CN" sz="3200" b="1" dirty="0" smtClean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  <p:bldP spid="3" grpId="1"/>
      <p:bldP spid="4" grpId="0"/>
      <p:bldP spid="4" grpId="1"/>
      <p:bldP spid="7" grpId="0"/>
      <p:bldP spid="7" grpId="1"/>
      <p:bldP spid="6" grpId="0"/>
      <p:bldP spid="6" grpId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1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3200" b="1" dirty="0" smtClean="0">
            <a:latin typeface="Times New Roman" panose="02020503050405090304" pitchFamily="18" charset="0"/>
            <a:cs typeface="Times New Roman" panose="0202050305040509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5214</Words>
  <Application>WPS Slides</Application>
  <PresentationFormat>宽屏</PresentationFormat>
  <Paragraphs>197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Arial</vt:lpstr>
      <vt:lpstr>宋体</vt:lpstr>
      <vt:lpstr>Wingdings</vt:lpstr>
      <vt:lpstr>Times New Roman</vt:lpstr>
      <vt:lpstr>Times New Roman Bold Italic</vt:lpstr>
      <vt:lpstr>Times New Roman Bold</vt:lpstr>
      <vt:lpstr>汉仪书宋二KW</vt:lpstr>
      <vt:lpstr>Times New Roman</vt:lpstr>
      <vt:lpstr>微软雅黑</vt:lpstr>
      <vt:lpstr>汉仪旗黑</vt:lpstr>
      <vt:lpstr>宋体</vt:lpstr>
      <vt:lpstr>Arial Unicode MS</vt:lpstr>
      <vt:lpstr>Calibri</vt:lpstr>
      <vt:lpstr>Helvetica Neue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Elsssie</cp:lastModifiedBy>
  <cp:revision>277</cp:revision>
  <dcterms:created xsi:type="dcterms:W3CDTF">2025-05-13T01:40:43Z</dcterms:created>
  <dcterms:modified xsi:type="dcterms:W3CDTF">2025-05-13T01:40:43Z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988899E1411B1953387B21686E20AA6D_42</vt:lpwstr>
  </property>
  <property fmtid="{D5CDD505-2E9C-101B-9397-08002B2CF9AE}" pid="3" name="KSOProductBuildVer">
    <vt:lpwstr>1033-7.3.1.8967</vt:lpwstr>
  </property>
</Properties>
</file>