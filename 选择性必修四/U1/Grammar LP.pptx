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620" r:id="rId2"/>
    <p:sldId id="598" r:id="rId3"/>
    <p:sldId id="621" r:id="rId4"/>
    <p:sldId id="600" r:id="rId5"/>
    <p:sldId id="601" r:id="rId6"/>
    <p:sldId id="622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885516"/>
    <a:srgbClr val="C2D4EC"/>
    <a:srgbClr val="89ABD9"/>
    <a:srgbClr val="FF5EAA"/>
    <a:srgbClr val="3EB527"/>
    <a:srgbClr val="C4DF92"/>
    <a:srgbClr val="E9EBF5"/>
    <a:srgbClr val="CFD5EA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22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48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7/23/26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1073150" indent="-1073150">
              <a:lnSpc>
                <a:spcPct val="120000"/>
              </a:lnSpc>
            </a:pPr>
            <a:r>
              <a:rPr lang="zh-CN" altLang="en-US" b="1" dirty="0">
                <a:solidFill>
                  <a:prstClr val="black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她只好听天由命了。</a:t>
            </a:r>
            <a:r>
              <a:rPr lang="en-US" altLang="en-US"/>
              <a:t>have no choice but to accept</a:t>
            </a:r>
          </a:p>
          <a:p>
            <a:pPr marL="1073150" indent="-1073150">
              <a:lnSpc>
                <a:spcPct val="120000"/>
              </a:lnSpc>
            </a:pPr>
            <a:r>
              <a:rPr lang="zh-CN" altLang="en-US"/>
              <a:t>无奈地</a:t>
            </a:r>
            <a:r>
              <a:rPr lang="en-US" altLang="zh-CN"/>
              <a:t> </a:t>
            </a:r>
            <a:r>
              <a:rPr lang="en-US" altLang="en-US"/>
              <a:t>r</a:t>
            </a:r>
            <a:r>
              <a:rPr lang="" altLang="en-US"/>
              <a:t>ɪ</a:t>
            </a:r>
            <a:r>
              <a:rPr lang="en-US" altLang="en-US"/>
              <a:t>ˈz</a:t>
            </a:r>
            <a:r>
              <a:rPr lang="" altLang="en-US"/>
              <a:t>ʌɪ</a:t>
            </a:r>
            <a:r>
              <a:rPr lang="en-US" altLang="en-US"/>
              <a:t>n</a:t>
            </a:r>
            <a:r>
              <a:rPr lang="" altLang="en-US"/>
              <a:t>ɪ</a:t>
            </a:r>
            <a:r>
              <a:rPr lang="en-US" altLang="en-US"/>
              <a:t>dli</a:t>
            </a:r>
          </a:p>
          <a:p>
            <a:pPr marL="1073150" indent="-1073150">
              <a:lnSpc>
                <a:spcPct val="120000"/>
              </a:lnSpc>
            </a:pPr>
            <a:r>
              <a:rPr lang="en-US" altLang="en-US"/>
              <a:t>r</a:t>
            </a:r>
            <a:r>
              <a:rPr lang="" altLang="en-US"/>
              <a:t>ɛ</a:t>
            </a:r>
            <a:r>
              <a:rPr lang="en-US" altLang="en-US"/>
              <a:t>z</a:t>
            </a:r>
            <a:r>
              <a:rPr lang="" altLang="en-US"/>
              <a:t>ɪ</a:t>
            </a:r>
            <a:r>
              <a:rPr lang="en-US" altLang="en-US"/>
              <a:t>ɡˈne</a:t>
            </a:r>
            <a:r>
              <a:rPr lang="" altLang="en-US"/>
              <a:t>ɪʃ</a:t>
            </a:r>
            <a:r>
              <a:rPr lang="en-US" altLang="en-US"/>
              <a:t>n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1073150" indent="-1073150">
              <a:lnSpc>
                <a:spcPct val="120000"/>
              </a:lnSpc>
            </a:pPr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惭愧的表情</a:t>
            </a:r>
          </a:p>
          <a:p>
            <a:r>
              <a:rPr lang="zh-CN" altLang="en-US"/>
              <a:t>见不得人的秘密</a:t>
            </a:r>
          </a:p>
          <a:p>
            <a:r>
              <a:rPr lang="zh-CN" altLang="en-US"/>
              <a:t>他骗取了这份工作</a:t>
            </a:r>
          </a:p>
          <a:p>
            <a:r>
              <a:rPr lang="en-US" altLang="zh-CN"/>
              <a:t>(</a:t>
            </a:r>
            <a:r>
              <a:rPr lang="zh-CN" altLang="en-US"/>
              <a:t>尤指用不诚实或不正当的手段）阻止某人得到某物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可耻的行为</a:t>
            </a:r>
            <a:endParaRPr lang="en-US" altLang="en-US"/>
          </a:p>
          <a:p>
            <a:r>
              <a:rPr lang="en-US" altLang="en-US"/>
              <a:t>put in the shade / be dwarfed</a:t>
            </a:r>
          </a:p>
          <a:p>
            <a:r>
              <a:rPr lang="zh-CN" altLang="en-US"/>
              <a:t>真可惜</a:t>
            </a:r>
            <a:r>
              <a:rPr lang="en-US" altLang="zh-CN"/>
              <a:t> </a:t>
            </a:r>
            <a:endParaRPr lang="zh-CN" altLang="en-US"/>
          </a:p>
          <a:p>
            <a:r>
              <a:rPr lang="zh-CN" altLang="en-US"/>
              <a:t>做某事不是丢脸的事</a:t>
            </a:r>
            <a:r>
              <a:rPr lang="en-US" altLang="zh-CN"/>
              <a:t> </a:t>
            </a:r>
            <a:r>
              <a:rPr lang="en-US" altLang="en-US"/>
              <a:t>there's no shame in being poor</a:t>
            </a:r>
          </a:p>
          <a:p>
            <a:r>
              <a:rPr lang="zh-CN" altLang="en-US"/>
              <a:t>真丢脸</a:t>
            </a:r>
          </a:p>
          <a:p>
            <a:r>
              <a:rPr>
                <a:sym typeface="+mn-ea"/>
              </a:rPr>
              <a:t>她使父亲感到过意不去，只好答应多给她些帮助。</a:t>
            </a:r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免除债务</a:t>
            </a:r>
          </a:p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2CF8D2-1FBB-4566-BAA4-CFEBD45A314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0" y="143510"/>
            <a:ext cx="12058015" cy="60007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lnSpc>
                <a:spcPct val="100000"/>
              </a:lnSpc>
              <a:defRPr sz="3900" b="1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pPr>
            <a:r>
              <a:rPr sz="3200">
                <a:sym typeface="+mn-ea"/>
              </a:rPr>
              <a:t>国家担负起了照料老人的大部分</a:t>
            </a:r>
            <a:r>
              <a:rPr lang="zh-CN" sz="3200">
                <a:sym typeface="+mn-ea"/>
              </a:rPr>
              <a:t>重担</a:t>
            </a:r>
            <a:r>
              <a:rPr sz="3200">
                <a:sym typeface="+mn-ea"/>
              </a:rPr>
              <a:t>。</a:t>
            </a:r>
          </a:p>
          <a:p>
            <a:pPr algn="l">
              <a:lnSpc>
                <a:spcPct val="100000"/>
              </a:lnSpc>
              <a:defRPr sz="3900" b="1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pPr>
            <a:r>
              <a:rPr sz="3200">
                <a:sym typeface="+mn-ea"/>
              </a:rPr>
              <a:t>The main _____ _____ caring ____ old people _____ _____ the state.</a:t>
            </a:r>
          </a:p>
          <a:p>
            <a:pPr algn="l">
              <a:lnSpc>
                <a:spcPct val="100000"/>
              </a:lnSpc>
              <a:defRPr sz="3900" b="1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pPr>
            <a:r>
              <a:rPr sz="3200">
                <a:sym typeface="+mn-ea"/>
              </a:rPr>
              <a:t>The state _____ _____ _____ _____ caring for…</a:t>
            </a:r>
          </a:p>
          <a:p>
            <a:pPr algn="l">
              <a:lnSpc>
                <a:spcPct val="100000"/>
              </a:lnSpc>
              <a:defRPr sz="3900" b="1">
                <a:solidFill>
                  <a:srgbClr val="FF26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pPr>
            <a:r>
              <a:rPr sz="3200">
                <a:sym typeface="+mn-ea"/>
              </a:rPr>
              <a:t>bear/ shoulder/ assume/ take on</a:t>
            </a:r>
            <a:r>
              <a:rPr lang="en-US" sz="3200">
                <a:sym typeface="+mn-ea"/>
              </a:rPr>
              <a:t> </a:t>
            </a:r>
            <a:r>
              <a:rPr lang="zh-CN" altLang="en-US" sz="3200">
                <a:solidFill>
                  <a:schemeClr val="tx1"/>
                </a:solidFill>
                <a:sym typeface="+mn-ea"/>
              </a:rPr>
              <a:t>担负</a:t>
            </a:r>
            <a:endParaRPr sz="3200">
              <a:sym typeface="+mn-ea"/>
            </a:endParaRPr>
          </a:p>
          <a:p>
            <a:pPr algn="l">
              <a:lnSpc>
                <a:spcPct val="100000"/>
              </a:lnSpc>
              <a:defRPr sz="3900" b="1">
                <a:solidFill>
                  <a:srgbClr val="FF26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pPr>
            <a:r>
              <a:rPr sz="3200">
                <a:sym typeface="+mn-ea"/>
              </a:rPr>
              <a:t>ease/ reduce/ relieve/ lighten the burden</a:t>
            </a:r>
            <a:r>
              <a:rPr lang="en-US" sz="3200">
                <a:sym typeface="+mn-ea"/>
              </a:rPr>
              <a:t> </a:t>
            </a:r>
            <a:r>
              <a:rPr lang="zh-CN" altLang="en-US" sz="3200">
                <a:solidFill>
                  <a:schemeClr val="tx1"/>
                </a:solidFill>
                <a:sym typeface="+mn-ea"/>
              </a:rPr>
              <a:t>减轻</a:t>
            </a:r>
            <a:endParaRPr sz="3200">
              <a:sym typeface="+mn-ea"/>
            </a:endParaRPr>
          </a:p>
          <a:p>
            <a:pPr algn="l">
              <a:lnSpc>
                <a:spcPct val="100000"/>
              </a:lnSpc>
              <a:defRPr sz="3900" b="1">
                <a:solidFill>
                  <a:srgbClr val="FF26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pPr>
            <a:r>
              <a:rPr lang="en-US" sz="3200">
                <a:sym typeface="+mn-ea"/>
              </a:rPr>
              <a:t>... is a burden to/on sb</a:t>
            </a:r>
          </a:p>
          <a:p>
            <a:pPr algn="l">
              <a:lnSpc>
                <a:spcPct val="100000"/>
              </a:lnSpc>
              <a:defRPr sz="3900" b="1">
                <a:solidFill>
                  <a:srgbClr val="FF26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pPr>
            <a:r>
              <a:rPr lang="zh-CN" altLang="en-US" sz="3200">
                <a:solidFill>
                  <a:schemeClr val="tx1"/>
                </a:solidFill>
                <a:sym typeface="+mn-ea"/>
              </a:rPr>
              <a:t>他的疾病给他的家庭带来了无法忍受的负担。</a:t>
            </a:r>
          </a:p>
          <a:p>
            <a:pPr algn="l">
              <a:lnSpc>
                <a:spcPct val="100000"/>
              </a:lnSpc>
              <a:defRPr sz="3900" b="1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pPr>
            <a:r>
              <a:rPr sz="3200">
                <a:sym typeface="+mn-ea"/>
              </a:rPr>
              <a:t>His illness </a:t>
            </a:r>
            <a:r>
              <a:rPr lang="en-US" sz="3200">
                <a:sym typeface="+mn-ea"/>
              </a:rPr>
              <a:t>_____ ____ ________ _____ _____</a:t>
            </a:r>
            <a:r>
              <a:rPr sz="3200">
                <a:solidFill>
                  <a:srgbClr val="0433FF"/>
                </a:solidFill>
                <a:sym typeface="+mn-ea"/>
              </a:rPr>
              <a:t> </a:t>
            </a:r>
            <a:r>
              <a:rPr sz="3200">
                <a:sym typeface="+mn-ea"/>
              </a:rPr>
              <a:t>his family.</a:t>
            </a:r>
          </a:p>
          <a:p>
            <a:pPr algn="l">
              <a:lnSpc>
                <a:spcPct val="100000"/>
              </a:lnSpc>
              <a:defRPr sz="3900" b="1">
                <a:solidFill>
                  <a:srgbClr val="FF26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pPr>
            <a:r>
              <a:rPr sz="3200">
                <a:sym typeface="+mn-ea"/>
              </a:rPr>
              <a:t>place/ impose</a:t>
            </a:r>
            <a:r>
              <a:rPr sz="3200">
                <a:solidFill>
                  <a:srgbClr val="000000"/>
                </a:solidFill>
                <a:sym typeface="+mn-ea"/>
              </a:rPr>
              <a:t>…</a:t>
            </a:r>
            <a:r>
              <a:rPr sz="3200">
                <a:sym typeface="+mn-ea"/>
              </a:rPr>
              <a:t>     lift/ remove</a:t>
            </a:r>
          </a:p>
          <a:p>
            <a:pPr algn="l">
              <a:lnSpc>
                <a:spcPct val="100000"/>
              </a:lnSpc>
              <a:defRPr sz="3900" b="1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pPr>
            <a:r>
              <a:rPr sz="3200">
                <a:sym typeface="+mn-ea"/>
              </a:rPr>
              <a:t>我不想让你为我的烦恼操心。</a:t>
            </a:r>
          </a:p>
          <a:p>
            <a:pPr algn="l">
              <a:lnSpc>
                <a:spcPct val="100000"/>
              </a:lnSpc>
              <a:defRPr sz="3900" b="1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pPr>
            <a:r>
              <a:rPr sz="3200">
                <a:sym typeface="+mn-ea"/>
              </a:rPr>
              <a:t>I don’t want to </a:t>
            </a:r>
            <a:r>
              <a:rPr lang="en-US" sz="3200">
                <a:sym typeface="+mn-ea"/>
              </a:rPr>
              <a:t>__</a:t>
            </a:r>
            <a:r>
              <a:rPr sz="3200">
                <a:sym typeface="+mn-ea"/>
              </a:rPr>
              <a:t>_____ you _____ my worries.</a:t>
            </a:r>
          </a:p>
          <a:p>
            <a:pPr algn="l">
              <a:lnSpc>
                <a:spcPct val="100000"/>
              </a:lnSpc>
              <a:defRPr sz="3900" b="1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pPr>
            <a:r>
              <a:rPr lang="zh-CN" alt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我肩负有……</a:t>
            </a:r>
            <a:r>
              <a:rPr lang="en-US" altLang="zh-CN" sz="3200" b="1" dirty="0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be burdened with </a:t>
            </a:r>
          </a:p>
        </p:txBody>
      </p:sp>
      <p:sp>
        <p:nvSpPr>
          <p:cNvPr id="245" name="burden  of                  for                      falls"/>
          <p:cNvSpPr txBox="1"/>
          <p:nvPr/>
        </p:nvSpPr>
        <p:spPr>
          <a:xfrm>
            <a:off x="1853565" y="671195"/>
            <a:ext cx="8649970" cy="583565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 algn="l" defTabSz="914400">
              <a:defRPr sz="3900" b="1">
                <a:solidFill>
                  <a:srgbClr val="FF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lvl1pPr>
          </a:lstStyle>
          <a:p>
            <a:pPr>
              <a:defRPr b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rPr sz="3200" b="1">
                <a:solidFill>
                  <a:srgbClr val="FF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burden  of                  for                      falls</a:t>
            </a:r>
            <a:r>
              <a:rPr lang="en-US" sz="3200" b="1">
                <a:solidFill>
                  <a:srgbClr val="FF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    on</a:t>
            </a:r>
          </a:p>
        </p:txBody>
      </p:sp>
      <p:sp>
        <p:nvSpPr>
          <p:cNvPr id="3" name="burden  of                  for                      falls"/>
          <p:cNvSpPr txBox="1"/>
          <p:nvPr/>
        </p:nvSpPr>
        <p:spPr>
          <a:xfrm>
            <a:off x="1853565" y="1120140"/>
            <a:ext cx="8649970" cy="583565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 algn="l" defTabSz="914400">
              <a:defRPr sz="3900" b="1">
                <a:solidFill>
                  <a:srgbClr val="FF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lvl1pPr>
          </a:lstStyle>
          <a:p>
            <a:pPr>
              <a:defRPr b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rPr lang="en-US" sz="3200" b="1">
                <a:solidFill>
                  <a:srgbClr val="FF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bears  the     burden  of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1872615" y="3429000"/>
            <a:ext cx="6302375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placed</a:t>
            </a:r>
            <a:r>
              <a:rPr lang="en-US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 </a:t>
            </a:r>
            <a:r>
              <a:rPr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 an </a:t>
            </a:r>
            <a:r>
              <a:rPr lang="en-US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 </a:t>
            </a:r>
            <a:r>
              <a:rPr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intolerable </a:t>
            </a:r>
            <a:r>
              <a:rPr lang="en-US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 </a:t>
            </a:r>
            <a:r>
              <a:rPr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burden </a:t>
            </a:r>
            <a:r>
              <a:rPr lang="en-US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 </a:t>
            </a:r>
            <a:r>
              <a:rPr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on</a:t>
            </a:r>
            <a:endParaRPr lang="en-US" sz="3200" b="1" dirty="0">
              <a:solidFill>
                <a:srgbClr val="FF0000"/>
              </a:solidFill>
              <a:latin typeface="Times New Roman Bold" panose="02020503050405090304" charset="0"/>
              <a:cs typeface="Times New Roman Bold" panose="02020503050405090304" charset="0"/>
              <a:sym typeface="+mn-ea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2730500" y="4969510"/>
            <a:ext cx="4728845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burden          with</a:t>
            </a:r>
            <a:endParaRPr lang="en-US" sz="3200" b="1" dirty="0">
              <a:solidFill>
                <a:srgbClr val="FF0000"/>
              </a:solidFill>
              <a:latin typeface="Times New Roman Bold" panose="02020503050405090304" charset="0"/>
              <a:cs typeface="Times New Roman Bold" panose="02020503050405090304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5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0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0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5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0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0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" grpId="0" animBg="1"/>
      <p:bldP spid="245" grpId="1"/>
      <p:bldP spid="3" grpId="0" animBg="1"/>
      <p:bldP spid="3" grpId="1"/>
      <p:bldP spid="4" grpId="0"/>
      <p:bldP spid="4" grpId="1"/>
      <p:bldP spid="5" grpId="0"/>
      <p:bldP spid="5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45699" y="-113"/>
            <a:ext cx="11506034" cy="3634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73150" indent="-1073150">
              <a:lnSpc>
                <a:spcPct val="120000"/>
              </a:lnSpc>
            </a:pP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charset="0"/>
                <a:cs typeface="Times New Roman" panose="02020503050405090304" charset="0"/>
              </a:rPr>
              <a:t>She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resigned 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_____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charset="0"/>
                <a:cs typeface="Times New Roman" panose="02020503050405090304" charset="0"/>
              </a:rPr>
              <a:t>the government. </a:t>
            </a:r>
            <a:r>
              <a:rPr lang="zh-CN" altLang="en-US" sz="3200" b="1" dirty="0">
                <a:solidFill>
                  <a:prstClr val="black"/>
                </a:solidFill>
                <a:latin typeface="Times New Roman" panose="02020503050405090304" charset="0"/>
                <a:cs typeface="Times New Roman" panose="02020503050405090304" charset="0"/>
              </a:rPr>
              <a:t>她辞去了政府部门的工作。</a:t>
            </a:r>
            <a:endParaRPr lang="en-US" altLang="zh-CN" sz="3200" b="1" dirty="0">
              <a:solidFill>
                <a:prstClr val="black"/>
              </a:solidFill>
              <a:latin typeface="Times New Roman" panose="02020503050405090304" charset="0"/>
              <a:cs typeface="Times New Roman" panose="02020503050405090304" charset="0"/>
            </a:endParaRPr>
          </a:p>
          <a:p>
            <a:pPr marL="1073150" indent="-1073150">
              <a:lnSpc>
                <a:spcPct val="120000"/>
              </a:lnSpc>
            </a:pP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charset="0"/>
                <a:cs typeface="Times New Roman" panose="02020503050405090304" charset="0"/>
              </a:rPr>
              <a:t>His father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resigned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charset="0"/>
                <a:cs typeface="Times New Roman" panose="02020503050405090304" charset="0"/>
              </a:rPr>
              <a:t> ____ manager. </a:t>
            </a:r>
            <a:r>
              <a:rPr lang="zh-CN" altLang="en-US" sz="3200" b="1" dirty="0">
                <a:solidFill>
                  <a:prstClr val="black"/>
                </a:solidFill>
                <a:latin typeface="Times New Roman" panose="02020503050405090304" charset="0"/>
                <a:cs typeface="Times New Roman" panose="02020503050405090304" charset="0"/>
              </a:rPr>
              <a:t>他父亲辞去了经理职务。</a:t>
            </a:r>
          </a:p>
          <a:p>
            <a:pPr marL="1073150" indent="-1073150">
              <a:lnSpc>
                <a:spcPct val="120000"/>
              </a:lnSpc>
            </a:pPr>
            <a:r>
              <a:rPr lang="en-US" altLang="en-US" sz="3200" b="1" dirty="0">
                <a:solidFill>
                  <a:prstClr val="black"/>
                </a:solidFill>
                <a:latin typeface="Times New Roman" panose="02020503050405090304" charset="0"/>
                <a:cs typeface="Times New Roman" panose="02020503050405090304" charset="0"/>
              </a:rPr>
              <a:t>She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resigned herself to </a:t>
            </a:r>
            <a:r>
              <a:rPr lang="en-US" altLang="en-US" sz="3200" b="1" dirty="0">
                <a:solidFill>
                  <a:prstClr val="black"/>
                </a:solidFill>
                <a:latin typeface="Times New Roman" panose="02020503050405090304" charset="0"/>
                <a:cs typeface="Times New Roman" panose="02020503050405090304" charset="0"/>
              </a:rPr>
              <a:t>her fate. </a:t>
            </a:r>
          </a:p>
          <a:p>
            <a:pPr marL="1073150" indent="-1073150">
              <a:lnSpc>
                <a:spcPct val="120000"/>
              </a:lnSpc>
            </a:pP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charset="0"/>
                <a:cs typeface="Times New Roman" panose="02020503050405090304" charset="0"/>
              </a:rPr>
              <a:t>= She was ________ ___  her fate.</a:t>
            </a:r>
          </a:p>
          <a:p>
            <a:pPr marL="1073150" indent="-107315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resignedly</a:t>
            </a:r>
          </a:p>
          <a:p>
            <a:pPr marL="1073150" indent="-107315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tender/hand in your resignation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2616200" y="0"/>
            <a:ext cx="1241425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from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3857625" y="590550"/>
            <a:ext cx="6223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as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5859780" y="1181100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prstClr val="black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只好接受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 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give in to/submit to</a:t>
            </a:r>
          </a:p>
        </p:txBody>
      </p:sp>
      <p:sp>
        <p:nvSpPr>
          <p:cNvPr id="7" name="Text Box 6"/>
          <p:cNvSpPr txBox="1"/>
          <p:nvPr/>
        </p:nvSpPr>
        <p:spPr>
          <a:xfrm>
            <a:off x="2110740" y="1771650"/>
            <a:ext cx="864489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resigned   to                   to (doing) sth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6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5" grpId="0"/>
      <p:bldP spid="5" grpId="1"/>
      <p:bldP spid="6" grpId="0"/>
      <p:bldP spid="6" grpId="1"/>
      <p:bldP spid="7" grpId="0"/>
      <p:bldP spid="7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45699" y="-113"/>
            <a:ext cx="11506034" cy="5015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defRPr sz="3900" b="1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pPr>
            <a:r>
              <a:rPr sz="3200">
                <a:sym typeface="+mn-ea"/>
              </a:rPr>
              <a:t>这个队善于打防守反击。</a:t>
            </a:r>
          </a:p>
          <a:p>
            <a:pPr algn="l">
              <a:lnSpc>
                <a:spcPct val="100000"/>
              </a:lnSpc>
              <a:defRPr sz="3900" b="1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pPr>
            <a:r>
              <a:rPr sz="3200">
                <a:sym typeface="+mn-ea"/>
              </a:rPr>
              <a:t>The team _____ _____ turning defence into attack. </a:t>
            </a:r>
          </a:p>
          <a:p>
            <a:pPr algn="l">
              <a:lnSpc>
                <a:spcPct val="100000"/>
              </a:lnSpc>
              <a:defRPr sz="3900" b="1">
                <a:solidFill>
                  <a:srgbClr val="0433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pPr>
            <a:r>
              <a:rPr sz="3200">
                <a:solidFill>
                  <a:srgbClr val="FF0000"/>
                </a:solidFill>
                <a:sym typeface="+mn-ea"/>
              </a:rPr>
              <a:t>excel oneself</a:t>
            </a:r>
            <a:r>
              <a:rPr lang="en-US" sz="3200">
                <a:solidFill>
                  <a:srgbClr val="FF0000"/>
                </a:solidFill>
                <a:sym typeface="+mn-ea"/>
              </a:rPr>
              <a:t> at sth </a:t>
            </a:r>
            <a:r>
              <a:rPr lang="zh-CN" altLang="en-US" sz="3200">
                <a:solidFill>
                  <a:schemeClr val="tx1"/>
                </a:solidFill>
                <a:sym typeface="+mn-ea"/>
              </a:rPr>
              <a:t>在某事上超常发挥</a:t>
            </a:r>
            <a:endParaRPr sz="3200">
              <a:solidFill>
                <a:schemeClr val="tx1"/>
              </a:solidFill>
              <a:sym typeface="+mn-ea"/>
            </a:endParaRPr>
          </a:p>
          <a:p>
            <a:pPr algn="l">
              <a:lnSpc>
                <a:spcPct val="100000"/>
              </a:lnSpc>
              <a:defRPr sz="3900" b="1">
                <a:solidFill>
                  <a:srgbClr val="0433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pPr>
            <a:r>
              <a:rPr lang="en-US" altLang="zh-CN" sz="3200" b="1" i="1" dirty="0">
                <a:solidFill>
                  <a:srgbClr val="0000FF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surpass/outdo others</a:t>
            </a:r>
          </a:p>
          <a:p>
            <a:pPr marL="1073150" indent="-1073150">
              <a:lnSpc>
                <a:spcPct val="100000"/>
              </a:lnSpc>
            </a:pPr>
            <a:endParaRPr lang="en-US" altLang="zh-CN" sz="3200" b="1" dirty="0">
              <a:solidFill>
                <a:prstClr val="black"/>
              </a:solidFill>
              <a:latin typeface="Times New Roman" panose="02020503050405090304" charset="0"/>
              <a:cs typeface="Times New Roman" panose="02020503050405090304" charset="0"/>
            </a:endParaRPr>
          </a:p>
          <a:p>
            <a:pPr algn="l">
              <a:lnSpc>
                <a:spcPct val="100000"/>
              </a:lnSpc>
              <a:defRPr sz="3900" b="1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pPr>
            <a:r>
              <a:rPr sz="3200">
                <a:sym typeface="+mn-ea"/>
              </a:rPr>
              <a:t>earn </a:t>
            </a:r>
            <a:r>
              <a:rPr sz="3200">
                <a:solidFill>
                  <a:srgbClr val="FF0000"/>
                </a:solidFill>
                <a:sym typeface="+mn-ea"/>
              </a:rPr>
              <a:t>substantial sums of money</a:t>
            </a:r>
            <a:endParaRPr sz="3200">
              <a:solidFill>
                <a:srgbClr val="FF0000"/>
              </a:solidFill>
            </a:endParaRPr>
          </a:p>
          <a:p>
            <a:pPr algn="l">
              <a:lnSpc>
                <a:spcPct val="100000"/>
              </a:lnSpc>
              <a:defRPr sz="3900" b="1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pPr>
            <a:r>
              <a:rPr sz="3200">
                <a:sym typeface="+mn-ea"/>
              </a:rPr>
              <a:t>a</a:t>
            </a:r>
            <a:r>
              <a:rPr sz="3200">
                <a:solidFill>
                  <a:srgbClr val="0433FF"/>
                </a:solidFill>
                <a:sym typeface="+mn-ea"/>
              </a:rPr>
              <a:t> </a:t>
            </a:r>
            <a:r>
              <a:rPr sz="3200">
                <a:solidFill>
                  <a:srgbClr val="FF0000"/>
                </a:solidFill>
                <a:sym typeface="+mn-ea"/>
              </a:rPr>
              <a:t>substantial </a:t>
            </a:r>
            <a:r>
              <a:rPr sz="3200">
                <a:sym typeface="+mn-ea"/>
              </a:rPr>
              <a:t>house</a:t>
            </a:r>
            <a:r>
              <a:rPr lang="en-US" sz="3200">
                <a:sym typeface="+mn-ea"/>
              </a:rPr>
              <a:t> </a:t>
            </a:r>
            <a:r>
              <a:rPr lang="zh-CN" altLang="en-US" sz="3200">
                <a:sym typeface="+mn-ea"/>
              </a:rPr>
              <a:t>结实的</a:t>
            </a:r>
            <a:endParaRPr sz="3200">
              <a:sym typeface="+mn-ea"/>
            </a:endParaRPr>
          </a:p>
          <a:p>
            <a:pPr algn="l">
              <a:lnSpc>
                <a:spcPct val="100000"/>
              </a:lnSpc>
              <a:defRPr sz="3900" b="1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pPr>
            <a:r>
              <a:rPr sz="3200">
                <a:sym typeface="+mn-ea"/>
              </a:rPr>
              <a:t>Costs have increased __________.</a:t>
            </a:r>
          </a:p>
          <a:p>
            <a:pPr algn="l">
              <a:lnSpc>
                <a:spcPct val="100000"/>
              </a:lnSpc>
              <a:defRPr sz="3900" b="1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pPr>
            <a:r>
              <a:rPr sz="3200">
                <a:sym typeface="+mn-ea"/>
              </a:rPr>
              <a:t>What she says is </a:t>
            </a:r>
            <a:r>
              <a:rPr sz="3200">
                <a:solidFill>
                  <a:srgbClr val="FF2600"/>
                </a:solidFill>
                <a:sym typeface="+mn-ea"/>
              </a:rPr>
              <a:t>substantially</a:t>
            </a:r>
            <a:r>
              <a:rPr sz="3200">
                <a:sym typeface="+mn-ea"/>
              </a:rPr>
              <a:t> true. </a:t>
            </a:r>
          </a:p>
          <a:p>
            <a:pPr algn="l">
              <a:lnSpc>
                <a:spcPct val="100000"/>
              </a:lnSpc>
              <a:defRPr sz="3900" b="1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pPr>
            <a:r>
              <a:rPr sz="3200">
                <a:sym typeface="+mn-ea"/>
              </a:rPr>
              <a:t>她的话大体符合事实。</a:t>
            </a:r>
            <a:endParaRPr lang="en-US" altLang="zh-CN" sz="3200" b="1" dirty="0">
              <a:solidFill>
                <a:prstClr val="black"/>
              </a:solidFill>
              <a:latin typeface="Times New Roman" panose="02020503050405090304" charset="0"/>
              <a:cs typeface="Times New Roman" panose="02020503050405090304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2108835" y="375285"/>
            <a:ext cx="365887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excelled  at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6096000" y="2437765"/>
            <a:ext cx="6096000" cy="5340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lnSpc>
                <a:spcPct val="90000"/>
              </a:lnSpc>
              <a:defRPr sz="3900" b="1">
                <a:solidFill>
                  <a:srgbClr val="FF26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pPr>
            <a:r>
              <a:rPr sz="3200" i="1">
                <a:solidFill>
                  <a:srgbClr val="0000FF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considerable</a:t>
            </a:r>
            <a:endParaRPr lang="en-US" sz="3200" b="1" i="1" dirty="0">
              <a:solidFill>
                <a:srgbClr val="0000FF"/>
              </a:solidFill>
              <a:latin typeface="Times New Roman Bold Italic" panose="02020503050405090304" charset="0"/>
              <a:cs typeface="Times New Roman Bold Italic" panose="02020503050405090304" charset="0"/>
              <a:sym typeface="+mn-ea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3947795" y="3293110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sz="3200" b="1">
                <a:solidFill>
                  <a:srgbClr val="FF26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substantially</a:t>
            </a:r>
            <a:r>
              <a:rPr sz="3200" b="1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 </a:t>
            </a:r>
            <a:endParaRPr lang="en-US" sz="32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 Bold" panose="02020503050405090304" charset="0"/>
              <a:cs typeface="Times New Roman Bold" panose="02020503050405090304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4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9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0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5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4" grpId="0"/>
      <p:bldP spid="4" grpId="1"/>
      <p:bldP spid="8" grpId="0"/>
      <p:bldP spid="8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58750" y="281940"/>
            <a:ext cx="11762740" cy="60007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3900" b="1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pPr>
            <a:r>
              <a:rPr sz="3200">
                <a:sym typeface="+mn-ea"/>
              </a:rPr>
              <a:t>He was found _____ _____ murder.</a:t>
            </a:r>
            <a:r>
              <a:rPr lang="en-US" sz="3200">
                <a:sym typeface="+mn-ea"/>
              </a:rPr>
              <a:t> </a:t>
            </a:r>
            <a:r>
              <a:rPr lang="zh-CN" altLang="en-US" sz="3200">
                <a:sym typeface="+mn-ea"/>
              </a:rPr>
              <a:t>犯……罪</a:t>
            </a:r>
            <a:endParaRPr sz="3200">
              <a:sym typeface="+mn-ea"/>
            </a:endParaRPr>
          </a:p>
          <a:p>
            <a:pPr algn="l">
              <a:lnSpc>
                <a:spcPct val="100000"/>
              </a:lnSpc>
              <a:defRPr sz="3900" b="1">
                <a:solidFill>
                  <a:srgbClr val="0433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pPr>
            <a:r>
              <a:rPr sz="3200">
                <a:solidFill>
                  <a:schemeClr val="tx1"/>
                </a:solidFill>
                <a:sym typeface="+mn-ea"/>
              </a:rPr>
              <a:t>I felt _____ _____ not trying my best.</a:t>
            </a:r>
            <a:r>
              <a:rPr lang="en-US" sz="3200">
                <a:solidFill>
                  <a:schemeClr val="tx1"/>
                </a:solidFill>
                <a:sym typeface="+mn-ea"/>
              </a:rPr>
              <a:t> </a:t>
            </a:r>
            <a:r>
              <a:rPr lang="zh-CN" altLang="en-US" sz="3200">
                <a:solidFill>
                  <a:schemeClr val="tx1"/>
                </a:solidFill>
                <a:sym typeface="+mn-ea"/>
              </a:rPr>
              <a:t>感到内疚的，惭愧的</a:t>
            </a:r>
          </a:p>
          <a:p>
            <a:pPr algn="l">
              <a:lnSpc>
                <a:spcPct val="100000"/>
              </a:lnSpc>
              <a:defRPr sz="3900" b="1">
                <a:solidFill>
                  <a:srgbClr val="0433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pPr>
            <a:r>
              <a:rPr lang="en-US" sz="3200">
                <a:solidFill>
                  <a:srgbClr val="FF0000"/>
                </a:solidFill>
                <a:sym typeface="+mn-ea"/>
              </a:rPr>
              <a:t>a guilty look</a:t>
            </a:r>
            <a:r>
              <a:rPr lang="en-US" sz="3200">
                <a:solidFill>
                  <a:schemeClr val="tx1"/>
                </a:solidFill>
                <a:sym typeface="+mn-ea"/>
              </a:rPr>
              <a:t> on his face</a:t>
            </a:r>
            <a:endParaRPr sz="3200">
              <a:solidFill>
                <a:schemeClr val="tx1"/>
              </a:solidFill>
              <a:sym typeface="+mn-ea"/>
            </a:endParaRPr>
          </a:p>
          <a:p>
            <a:pPr algn="l">
              <a:lnSpc>
                <a:spcPct val="100000"/>
              </a:lnSpc>
              <a:defRPr sz="3900" b="1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pPr>
            <a:r>
              <a:rPr sz="3200">
                <a:sym typeface="+mn-ea"/>
              </a:rPr>
              <a:t>I had a ______ ________ and could not sleep. </a:t>
            </a:r>
            <a:r>
              <a:rPr lang="zh-CN" sz="3200">
                <a:sym typeface="+mn-ea"/>
              </a:rPr>
              <a:t>问心有愧</a:t>
            </a:r>
          </a:p>
          <a:p>
            <a:pPr marL="457200" lvl="1" indent="457200" algn="l">
              <a:lnSpc>
                <a:spcPct val="100000"/>
              </a:lnSpc>
              <a:defRPr sz="3900" b="1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pPr>
            <a:r>
              <a:rPr lang="en-US" sz="3200">
                <a:solidFill>
                  <a:srgbClr val="FF0000"/>
                </a:solidFill>
                <a:sym typeface="+mn-ea"/>
              </a:rPr>
              <a:t>= </a:t>
            </a:r>
            <a:r>
              <a:rPr sz="3200">
                <a:solidFill>
                  <a:srgbClr val="FF0000"/>
                </a:solidFill>
                <a:sym typeface="+mn-ea"/>
              </a:rPr>
              <a:t>a sense of guilt</a:t>
            </a:r>
          </a:p>
          <a:p>
            <a:pPr algn="l">
              <a:lnSpc>
                <a:spcPct val="100000"/>
              </a:lnSpc>
              <a:defRPr sz="3900" b="1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pPr>
            <a:r>
              <a:rPr lang="en-US" altLang="zh-CN" sz="3200" b="1" dirty="0">
                <a:solidFill>
                  <a:srgbClr val="FF0000"/>
                </a:solidFill>
                <a:cs typeface="Times New Roman" panose="02020503050405090304" charset="0"/>
              </a:rPr>
              <a:t>a guilty secret </a:t>
            </a:r>
          </a:p>
          <a:p>
            <a:pPr algn="l">
              <a:lnSpc>
                <a:spcPct val="100000"/>
              </a:lnSpc>
              <a:defRPr sz="3900" b="1">
                <a:solidFill>
                  <a:srgbClr val="0433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pPr>
            <a:endParaRPr sz="3200">
              <a:sym typeface="+mn-ea"/>
            </a:endParaRPr>
          </a:p>
          <a:p>
            <a:pPr algn="l">
              <a:lnSpc>
                <a:spcPct val="100000"/>
              </a:lnSpc>
              <a:defRPr sz="3900" b="1">
                <a:solidFill>
                  <a:srgbClr val="0433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pPr>
            <a:r>
              <a:rPr sz="3200">
                <a:solidFill>
                  <a:srgbClr val="FF0000"/>
                </a:solidFill>
                <a:sym typeface="+mn-ea"/>
              </a:rPr>
              <a:t>cheat sb</a:t>
            </a:r>
          </a:p>
          <a:p>
            <a:pPr algn="l">
              <a:lnSpc>
                <a:spcPct val="100000"/>
              </a:lnSpc>
              <a:defRPr sz="3900" b="1">
                <a:solidFill>
                  <a:srgbClr val="0433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pPr>
            <a:r>
              <a:rPr sz="3200">
                <a:solidFill>
                  <a:srgbClr val="FF0000"/>
                </a:solidFill>
                <a:sym typeface="+mn-ea"/>
              </a:rPr>
              <a:t>cheat </a:t>
            </a:r>
            <a:r>
              <a:rPr lang="en-US" sz="3200">
                <a:solidFill>
                  <a:srgbClr val="FF0000"/>
                </a:solidFill>
                <a:sym typeface="+mn-ea"/>
              </a:rPr>
              <a:t>in </a:t>
            </a:r>
            <a:r>
              <a:rPr lang="en-US" sz="3200">
                <a:solidFill>
                  <a:schemeClr val="tx1"/>
                </a:solidFill>
                <a:sym typeface="+mn-ea"/>
              </a:rPr>
              <a:t>exams</a:t>
            </a:r>
            <a:endParaRPr sz="3200">
              <a:sym typeface="+mn-ea"/>
            </a:endParaRPr>
          </a:p>
          <a:p>
            <a:pPr algn="l">
              <a:lnSpc>
                <a:spcPct val="100000"/>
              </a:lnSpc>
              <a:defRPr sz="3900" b="1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pPr>
            <a:r>
              <a:rPr sz="3200">
                <a:sym typeface="+mn-ea"/>
              </a:rPr>
              <a:t>He</a:t>
            </a:r>
            <a:r>
              <a:rPr sz="3200">
                <a:solidFill>
                  <a:srgbClr val="FF0000"/>
                </a:solidFill>
                <a:sym typeface="+mn-ea"/>
              </a:rPr>
              <a:t> cheated his way into</a:t>
            </a:r>
            <a:r>
              <a:rPr sz="3200">
                <a:solidFill>
                  <a:srgbClr val="0433FF"/>
                </a:solidFill>
                <a:sym typeface="+mn-ea"/>
              </a:rPr>
              <a:t> </a:t>
            </a:r>
            <a:r>
              <a:rPr sz="3200">
                <a:sym typeface="+mn-ea"/>
              </a:rPr>
              <a:t>the job.</a:t>
            </a:r>
          </a:p>
          <a:p>
            <a:pPr algn="l">
              <a:lnSpc>
                <a:spcPct val="100000"/>
              </a:lnSpc>
              <a:defRPr sz="3900" b="1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pPr>
            <a:r>
              <a:rPr sz="3200">
                <a:solidFill>
                  <a:srgbClr val="FF0000"/>
                </a:solidFill>
                <a:sym typeface="+mn-ea"/>
              </a:rPr>
              <a:t>cheat </a:t>
            </a:r>
            <a:r>
              <a:rPr lang="en-US" sz="3200">
                <a:sym typeface="+mn-ea"/>
              </a:rPr>
              <a:t>him </a:t>
            </a:r>
            <a:r>
              <a:rPr sz="3200">
                <a:solidFill>
                  <a:srgbClr val="FF0000"/>
                </a:solidFill>
                <a:sym typeface="+mn-ea"/>
              </a:rPr>
              <a:t>out of</a:t>
            </a:r>
            <a:r>
              <a:rPr sz="3200">
                <a:solidFill>
                  <a:schemeClr val="tx1"/>
                </a:solidFill>
                <a:sym typeface="+mn-ea"/>
              </a:rPr>
              <a:t> </a:t>
            </a:r>
            <a:r>
              <a:rPr lang="en-US" sz="3200">
                <a:solidFill>
                  <a:schemeClr val="tx1"/>
                </a:solidFill>
                <a:sym typeface="+mn-ea"/>
              </a:rPr>
              <a:t>his share of the profits</a:t>
            </a:r>
            <a:endParaRPr sz="3200">
              <a:solidFill>
                <a:schemeClr val="tx1"/>
              </a:solidFill>
              <a:sym typeface="+mn-ea"/>
            </a:endParaRPr>
          </a:p>
          <a:p>
            <a:pPr algn="l">
              <a:lnSpc>
                <a:spcPct val="100000"/>
              </a:lnSpc>
              <a:defRPr sz="3900" b="1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pPr>
            <a:r>
              <a:rPr lang="en-US" sz="3200">
                <a:sym typeface="+mn-ea"/>
              </a:rPr>
              <a:t>You little</a:t>
            </a:r>
            <a:r>
              <a:rPr sz="3200">
                <a:sym typeface="+mn-ea"/>
              </a:rPr>
              <a:t> </a:t>
            </a:r>
            <a:r>
              <a:rPr sz="3200">
                <a:solidFill>
                  <a:srgbClr val="FF2600"/>
                </a:solidFill>
                <a:sym typeface="+mn-ea"/>
              </a:rPr>
              <a:t>cheat</a:t>
            </a:r>
            <a:r>
              <a:rPr lang="en-US" sz="3200">
                <a:solidFill>
                  <a:srgbClr val="FF2600"/>
                </a:solidFill>
                <a:sym typeface="+mn-ea"/>
              </a:rPr>
              <a:t>!</a:t>
            </a:r>
            <a:endParaRPr lang="en-US" altLang="en-US" sz="3200" b="1" dirty="0">
              <a:cs typeface="Times New Roman" panose="02020503050405090304" charset="0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2747645" y="125095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3200" b="1">
                <a:solidFill>
                  <a:srgbClr val="FF26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guilty   of</a:t>
            </a:r>
            <a:endParaRPr lang="en-US" sz="32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 Bold" panose="02020503050405090304" charset="0"/>
              <a:cs typeface="Times New Roman Bold" panose="02020503050405090304" charset="0"/>
              <a:sym typeface="+mn-ea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1169670" y="664210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3200" b="1">
                <a:solidFill>
                  <a:srgbClr val="FF26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guilty about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1502410" y="1672590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3200" b="1">
                <a:solidFill>
                  <a:srgbClr val="FF26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guilty conscience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1716405" y="3697605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lnSpc>
                <a:spcPct val="100000"/>
              </a:lnSpc>
              <a:defRPr sz="3900" b="1">
                <a:solidFill>
                  <a:srgbClr val="0433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pPr>
            <a:r>
              <a:rPr lang="en-US" sz="3200">
                <a:solidFill>
                  <a:srgbClr val="FF0000"/>
                </a:solidFill>
                <a:sym typeface="+mn-ea"/>
              </a:rPr>
              <a:t> / feel cheated</a:t>
            </a:r>
            <a:endParaRPr lang="en-US" sz="3200" b="1" dirty="0">
              <a:solidFill>
                <a:srgbClr val="FF0000"/>
              </a:solidFill>
              <a:sym typeface="+mn-ea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1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6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1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8" grpId="1"/>
      <p:bldP spid="3" grpId="0"/>
      <p:bldP spid="3" grpId="1"/>
      <p:bldP spid="4" grpId="0"/>
      <p:bldP spid="4" grpId="1"/>
      <p:bldP spid="5" grpId="0"/>
      <p:bldP spid="5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31189" y="-10155"/>
            <a:ext cx="11449272" cy="69856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3900" b="1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pPr>
            <a:r>
              <a:rPr sz="3200">
                <a:sym typeface="+mn-ea"/>
              </a:rPr>
              <a:t>You should be _____ _____ yourself </a:t>
            </a:r>
            <a:r>
              <a:rPr lang="en-US" sz="3200">
                <a:sym typeface="+mn-ea"/>
              </a:rPr>
              <a:t>____ telling lies</a:t>
            </a:r>
            <a:r>
              <a:rPr sz="3200">
                <a:sym typeface="+mn-ea"/>
              </a:rPr>
              <a:t>.</a:t>
            </a:r>
          </a:p>
          <a:p>
            <a:pPr algn="l">
              <a:lnSpc>
                <a:spcPct val="100000"/>
              </a:lnSpc>
              <a:defRPr sz="3900" b="1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pPr>
            <a:r>
              <a:rPr sz="3200">
                <a:sym typeface="+mn-ea"/>
              </a:rPr>
              <a:t>I</a:t>
            </a:r>
            <a:r>
              <a:rPr sz="3200">
                <a:solidFill>
                  <a:srgbClr val="FF0000"/>
                </a:solidFill>
                <a:sym typeface="+mn-ea"/>
              </a:rPr>
              <a:t>’m ashamed to say</a:t>
            </a:r>
            <a:r>
              <a:rPr sz="3200">
                <a:sym typeface="+mn-ea"/>
              </a:rPr>
              <a:t> that I lied.</a:t>
            </a:r>
          </a:p>
          <a:p>
            <a:pPr algn="l">
              <a:lnSpc>
                <a:spcPct val="100000"/>
              </a:lnSpc>
              <a:defRPr sz="3900" b="1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pPr>
            <a:r>
              <a:rPr sz="3200">
                <a:sym typeface="+mn-ea"/>
              </a:rPr>
              <a:t>_______</a:t>
            </a:r>
            <a:r>
              <a:rPr lang="en-US" sz="3200">
                <a:sym typeface="+mn-ea"/>
              </a:rPr>
              <a:t>_</a:t>
            </a:r>
            <a:r>
              <a:rPr sz="3200">
                <a:sym typeface="+mn-ea"/>
              </a:rPr>
              <a:t> behavior</a:t>
            </a:r>
          </a:p>
          <a:p>
            <a:pPr algn="l">
              <a:lnSpc>
                <a:spcPct val="100000"/>
              </a:lnSpc>
              <a:defRPr sz="3900" b="1">
                <a:solidFill>
                  <a:srgbClr val="0433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pPr>
            <a:r>
              <a:rPr sz="3200">
                <a:solidFill>
                  <a:srgbClr val="FF0000"/>
                </a:solidFill>
                <a:sym typeface="+mn-ea"/>
              </a:rPr>
              <a:t>to my shame</a:t>
            </a:r>
          </a:p>
          <a:p>
            <a:pPr algn="l">
              <a:lnSpc>
                <a:spcPct val="100000"/>
              </a:lnSpc>
              <a:defRPr sz="3900" b="1">
                <a:solidFill>
                  <a:srgbClr val="0433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pPr>
            <a:r>
              <a:rPr lang="en-US" sz="3200">
                <a:solidFill>
                  <a:schemeClr val="tx1"/>
                </a:solidFill>
                <a:sym typeface="+mn-ea"/>
              </a:rPr>
              <a:t>She hung her head _______ _____ .</a:t>
            </a:r>
            <a:endParaRPr sz="3200">
              <a:solidFill>
                <a:schemeClr val="tx1"/>
              </a:solidFill>
              <a:sym typeface="+mn-ea"/>
            </a:endParaRPr>
          </a:p>
          <a:p>
            <a:pPr algn="l">
              <a:lnSpc>
                <a:spcPct val="100000"/>
              </a:lnSpc>
              <a:defRPr sz="3900" b="1">
                <a:solidFill>
                  <a:srgbClr val="0433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pPr>
            <a:r>
              <a:rPr sz="3200">
                <a:solidFill>
                  <a:schemeClr val="tx1"/>
                </a:solidFill>
                <a:sym typeface="+mn-ea"/>
              </a:rPr>
              <a:t>他们的演出使我们的相形见绌。</a:t>
            </a:r>
          </a:p>
          <a:p>
            <a:pPr algn="l">
              <a:lnSpc>
                <a:spcPct val="100000"/>
              </a:lnSpc>
              <a:defRPr sz="3900" b="1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pPr>
            <a:r>
              <a:rPr sz="3200">
                <a:sym typeface="+mn-ea"/>
              </a:rPr>
              <a:t>Their presentation </a:t>
            </a:r>
            <a:r>
              <a:rPr sz="3200">
                <a:solidFill>
                  <a:srgbClr val="FF0000"/>
                </a:solidFill>
                <a:sym typeface="+mn-ea"/>
              </a:rPr>
              <a:t>put</a:t>
            </a:r>
            <a:r>
              <a:rPr sz="3200">
                <a:sym typeface="+mn-ea"/>
              </a:rPr>
              <a:t> ours</a:t>
            </a:r>
            <a:r>
              <a:rPr sz="3200">
                <a:solidFill>
                  <a:srgbClr val="FF0000"/>
                </a:solidFill>
                <a:sym typeface="+mn-ea"/>
              </a:rPr>
              <a:t> to shame</a:t>
            </a:r>
            <a:r>
              <a:rPr sz="3200">
                <a:sym typeface="+mn-ea"/>
              </a:rPr>
              <a:t>. </a:t>
            </a:r>
          </a:p>
          <a:p>
            <a:pPr algn="l">
              <a:lnSpc>
                <a:spcPct val="100000"/>
              </a:lnSpc>
              <a:defRPr sz="3900" b="1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pPr>
            <a:r>
              <a:rPr lang="en-US" altLang="en-US" sz="3200">
                <a:solidFill>
                  <a:srgbClr val="FF0000"/>
                </a:solidFill>
                <a:sym typeface="+mn-ea"/>
              </a:rPr>
              <a:t>It's a (</a:t>
            </a:r>
            <a:r>
              <a:rPr lang="en-US" altLang="zh-CN" sz="3200">
                <a:solidFill>
                  <a:srgbClr val="FF0000"/>
                </a:solidFill>
                <a:ea typeface="宋体" charset="0"/>
                <a:sym typeface="+mn-ea"/>
              </a:rPr>
              <a:t>great) </a:t>
            </a:r>
            <a:r>
              <a:rPr lang="en-US" altLang="en-US" sz="3200">
                <a:solidFill>
                  <a:srgbClr val="FF0000"/>
                </a:solidFill>
                <a:sym typeface="+mn-ea"/>
              </a:rPr>
              <a:t>shame that </a:t>
            </a:r>
            <a:r>
              <a:rPr lang="en-US" altLang="en-US" sz="3200">
                <a:sym typeface="+mn-ea"/>
              </a:rPr>
              <a:t>she wasn't here to see it.</a:t>
            </a:r>
          </a:p>
          <a:p>
            <a:pPr algn="l">
              <a:lnSpc>
                <a:spcPct val="100000"/>
              </a:lnSpc>
              <a:defRPr sz="3900" b="1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pPr>
            <a:r>
              <a:rPr lang="en-US" altLang="en-US" sz="3200">
                <a:solidFill>
                  <a:srgbClr val="FF0000"/>
                </a:solidFill>
                <a:sym typeface="+mn-ea"/>
              </a:rPr>
              <a:t>There is no shame in doing sth.</a:t>
            </a:r>
          </a:p>
          <a:p>
            <a:pPr algn="l">
              <a:lnSpc>
                <a:spcPct val="100000"/>
              </a:lnSpc>
              <a:defRPr sz="3900" b="1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pPr>
            <a:r>
              <a:rPr lang="en-US" altLang="zh-CN" sz="3200">
                <a:solidFill>
                  <a:srgbClr val="FF0000"/>
                </a:solidFill>
                <a:sym typeface="+mn-ea"/>
              </a:rPr>
              <a:t>What a shame!</a:t>
            </a:r>
            <a:endParaRPr lang="en-US" altLang="en-US" sz="3200">
              <a:solidFill>
                <a:srgbClr val="FF0000"/>
              </a:solidFill>
              <a:sym typeface="+mn-ea"/>
            </a:endParaRPr>
          </a:p>
          <a:p>
            <a:pPr algn="l">
              <a:lnSpc>
                <a:spcPct val="100000"/>
              </a:lnSpc>
              <a:defRPr sz="3900" b="1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pPr>
            <a:r>
              <a:rPr lang="en-US" altLang="en-US" sz="3200">
                <a:solidFill>
                  <a:srgbClr val="FF0000"/>
                </a:solidFill>
                <a:sym typeface="+mn-ea"/>
              </a:rPr>
              <a:t>Shame on you!</a:t>
            </a:r>
          </a:p>
          <a:p>
            <a:pPr algn="l">
              <a:lnSpc>
                <a:spcPct val="100000"/>
              </a:lnSpc>
              <a:defRPr sz="3900" b="1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pPr>
            <a:r>
              <a:rPr lang="en-US" altLang="en-US" sz="3200">
                <a:solidFill>
                  <a:schemeClr val="tx1"/>
                </a:solidFill>
                <a:sym typeface="+mn-ea"/>
              </a:rPr>
              <a:t>Don't </a:t>
            </a:r>
            <a:r>
              <a:rPr lang="en-US" altLang="en-US" sz="3200">
                <a:solidFill>
                  <a:srgbClr val="FF0000"/>
                </a:solidFill>
                <a:sym typeface="+mn-ea"/>
              </a:rPr>
              <a:t>shame him</a:t>
            </a:r>
            <a:r>
              <a:rPr lang="en-US" altLang="en-US" sz="3200">
                <a:solidFill>
                  <a:schemeClr val="tx1"/>
                </a:solidFill>
                <a:sym typeface="+mn-ea"/>
              </a:rPr>
              <a:t> in front of his children.</a:t>
            </a:r>
          </a:p>
          <a:p>
            <a:pPr algn="l">
              <a:lnSpc>
                <a:spcPct val="100000"/>
              </a:lnSpc>
              <a:defRPr sz="3900" b="1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pPr>
            <a:r>
              <a:rPr sz="3200">
                <a:sym typeface="+mn-ea"/>
              </a:rPr>
              <a:t>She ______ her father _____ promising more help. </a:t>
            </a:r>
          </a:p>
          <a:p>
            <a:pPr algn="l">
              <a:lnSpc>
                <a:spcPct val="100000"/>
              </a:lnSpc>
              <a:defRPr sz="3900" b="1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pPr>
            <a:r>
              <a:rPr lang="zh-CN" sz="3200">
                <a:sym typeface="+mn-ea"/>
              </a:rPr>
              <a:t>使某人羞愧而不得不做某事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2747645" y="-128905"/>
            <a:ext cx="5897245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3200" b="1">
                <a:solidFill>
                  <a:srgbClr val="FF26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ashamed  of                 for</a:t>
            </a:r>
            <a:endParaRPr lang="en-US" sz="32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 Bold" panose="02020503050405090304" charset="0"/>
              <a:cs typeface="Times New Roman Bold" panose="02020503050405090304" charset="0"/>
              <a:sym typeface="+mn-ea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146050" y="857885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shameful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3553460" y="1807845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in/with shame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930275" y="5730875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en-US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shame                       into </a:t>
            </a:r>
            <a:endParaRPr lang="en-US" altLang="en-US" sz="3200" b="1" dirty="0">
              <a:solidFill>
                <a:srgbClr val="FF0000"/>
              </a:solidFill>
              <a:latin typeface="Times New Roman Bold" panose="02020503050405090304" charset="0"/>
              <a:cs typeface="Times New Roman Bold" panose="02020503050405090304" charset="0"/>
              <a:sym typeface="+mn-ea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8" grpId="1"/>
      <p:bldP spid="2" grpId="0"/>
      <p:bldP spid="2" grpId="1"/>
      <p:bldP spid="3" grpId="0"/>
      <p:bldP spid="3" grpId="1"/>
      <p:bldP spid="4" grpId="0"/>
      <p:bldP spid="4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142875" y="0"/>
            <a:ext cx="11569700" cy="30460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lnSpc>
                <a:spcPct val="100000"/>
              </a:lnSpc>
              <a:defRPr sz="3900" b="1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pPr>
            <a:r>
              <a:rPr sz="3200">
                <a:solidFill>
                  <a:srgbClr val="FF0000"/>
                </a:solidFill>
                <a:sym typeface="+mn-ea"/>
              </a:rPr>
              <a:t>Forgive me for</a:t>
            </a:r>
            <a:r>
              <a:rPr sz="3200">
                <a:sym typeface="+mn-ea"/>
              </a:rPr>
              <a:t> interrupting.</a:t>
            </a:r>
          </a:p>
          <a:p>
            <a:pPr algn="l">
              <a:lnSpc>
                <a:spcPct val="100000"/>
              </a:lnSpc>
              <a:defRPr sz="3900" b="1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pPr>
            <a:r>
              <a:rPr sz="3200">
                <a:sym typeface="+mn-ea"/>
              </a:rPr>
              <a:t>/</a:t>
            </a:r>
            <a:r>
              <a:rPr lang="en-US" sz="3200">
                <a:sym typeface="+mn-ea"/>
              </a:rPr>
              <a:t> </a:t>
            </a:r>
            <a:r>
              <a:rPr sz="3200">
                <a:solidFill>
                  <a:srgbClr val="FF0000"/>
                </a:solidFill>
                <a:sym typeface="+mn-ea"/>
              </a:rPr>
              <a:t>forgive</a:t>
            </a:r>
            <a:r>
              <a:rPr sz="3200">
                <a:solidFill>
                  <a:srgbClr val="0433FF"/>
                </a:solidFill>
                <a:sym typeface="+mn-ea"/>
              </a:rPr>
              <a:t> </a:t>
            </a:r>
            <a:r>
              <a:rPr sz="3200">
                <a:sym typeface="+mn-ea"/>
              </a:rPr>
              <a:t>my interrupting</a:t>
            </a:r>
          </a:p>
          <a:p>
            <a:pPr algn="l">
              <a:lnSpc>
                <a:spcPct val="100000"/>
              </a:lnSpc>
              <a:defRPr sz="3900" b="1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pPr>
            <a:r>
              <a:rPr sz="3200">
                <a:solidFill>
                  <a:srgbClr val="FF0000"/>
                </a:solidFill>
                <a:sym typeface="+mn-ea"/>
              </a:rPr>
              <a:t>forgive </a:t>
            </a:r>
            <a:r>
              <a:rPr sz="3200">
                <a:sym typeface="+mn-ea"/>
              </a:rPr>
              <a:t>the debt</a:t>
            </a:r>
          </a:p>
          <a:p>
            <a:pPr algn="l">
              <a:lnSpc>
                <a:spcPct val="100000"/>
              </a:lnSpc>
              <a:defRPr sz="3900" b="1">
                <a:solidFill>
                  <a:srgbClr val="0433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pPr>
            <a:r>
              <a:rPr lang="en-US" altLang="en-US" sz="3200" b="1" dirty="0">
                <a:solidFill>
                  <a:schemeClr val="tx1"/>
                </a:solidFill>
                <a:sym typeface="+mn-ea"/>
              </a:rPr>
              <a:t>I know what he did was wrong but don't you think it's time to </a:t>
            </a:r>
            <a:r>
              <a:rPr lang="en-US" altLang="en-US" sz="3200" b="1" dirty="0">
                <a:solidFill>
                  <a:srgbClr val="FF0000"/>
                </a:solidFill>
                <a:sym typeface="+mn-ea"/>
              </a:rPr>
              <a:t>forgive and forget</a:t>
            </a:r>
            <a:r>
              <a:rPr lang="en-US" altLang="en-US" sz="3200" b="1" dirty="0">
                <a:solidFill>
                  <a:schemeClr val="tx1"/>
                </a:solidFill>
                <a:sym typeface="+mn-ea"/>
              </a:rPr>
              <a:t>.</a:t>
            </a:r>
          </a:p>
          <a:p>
            <a:pPr algn="l">
              <a:lnSpc>
                <a:spcPct val="100000"/>
              </a:lnSpc>
              <a:defRPr sz="3900" b="1">
                <a:solidFill>
                  <a:srgbClr val="0433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pPr>
            <a:r>
              <a:rPr lang="en-US" altLang="zh-CN" sz="3200" b="1" dirty="0">
                <a:solidFill>
                  <a:srgbClr val="FF0000"/>
                </a:solidFill>
                <a:ea typeface="宋体" charset="0"/>
                <a:sym typeface="+mn-ea"/>
              </a:rPr>
              <a:t>forgiveness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8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lnSpc>
            <a:spcPct val="120000"/>
          </a:lnSpc>
          <a:defRPr sz="3200" b="1" dirty="0">
            <a:solidFill>
              <a:schemeClr val="tx1">
                <a:lumMod val="95000"/>
                <a:lumOff val="5000"/>
              </a:schemeClr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559</Words>
  <Application>Microsoft Macintosh PowerPoint</Application>
  <PresentationFormat>Widescreen</PresentationFormat>
  <Paragraphs>92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宋体</vt:lpstr>
      <vt:lpstr>Times New Roman Bold</vt:lpstr>
      <vt:lpstr>Times New Roman Bold Italic</vt:lpstr>
      <vt:lpstr>Arial</vt:lpstr>
      <vt:lpstr>Calibri</vt:lpstr>
      <vt:lpstr>Times New Roman</vt:lpstr>
      <vt:lpstr>Office 主题​​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Qing NI</cp:lastModifiedBy>
  <cp:revision>369</cp:revision>
  <dcterms:created xsi:type="dcterms:W3CDTF">2025-05-07T02:01:33Z</dcterms:created>
  <dcterms:modified xsi:type="dcterms:W3CDTF">2026-07-23T01:19:47Z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8CA1B8BD18F6C249FF791968402C1B59_42</vt:lpwstr>
  </property>
  <property fmtid="{D5CDD505-2E9C-101B-9397-08002B2CF9AE}" pid="3" name="KSOProductBuildVer">
    <vt:lpwstr>1033-7.3.1.8967</vt:lpwstr>
  </property>
</Properties>
</file>