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474" r:id="rId3"/>
    <p:sldId id="507" r:id="rId4"/>
    <p:sldId id="464" r:id="rId5"/>
    <p:sldId id="466" r:id="rId6"/>
    <p:sldId id="508" r:id="rId7"/>
    <p:sldId id="467" r:id="rId8"/>
    <p:sldId id="459" r:id="rId9"/>
    <p:sldId id="509" r:id="rId10"/>
    <p:sldId id="477" r:id="rId11"/>
    <p:sldId id="478" r:id="rId12"/>
    <p:sldId id="510" r:id="rId13"/>
    <p:sldId id="480" r:id="rId14"/>
    <p:sldId id="482" r:id="rId15"/>
    <p:sldId id="473" r:id="rId16"/>
    <p:sldId id="517" r:id="rId17"/>
    <p:sldId id="485" r:id="rId18"/>
    <p:sldId id="511" r:id="rId19"/>
    <p:sldId id="512" r:id="rId20"/>
    <p:sldId id="514" r:id="rId21"/>
    <p:sldId id="440" r:id="rId22"/>
    <p:sldId id="51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罗 洪权" initials="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A74F9"/>
    <a:srgbClr val="FFFFCC"/>
    <a:srgbClr val="FFF066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9A0C4-E928-4492-959F-29B74AD70A7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D13B0-300B-4BB8-92D2-502265A786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follow the beaen track to success </a:t>
            </a:r>
            <a:r>
              <a:rPr lang="zh-CN" altLang="en-US"/>
              <a:t>按照惯例，循规蹈矩</a:t>
            </a:r>
            <a:r>
              <a:rPr lang="en-US" altLang="zh-CN"/>
              <a:t> </a:t>
            </a:r>
            <a:r>
              <a:rPr lang="zh-CN" altLang="en-US"/>
              <a:t>走向成功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He was bareheaded in the rain.</a:t>
            </a:r>
          </a:p>
          <a:p>
            <a:r>
              <a:rPr lang="zh-CN" altLang="en-US"/>
              <a:t>他淋在雨中，头上什么也没戴。</a:t>
            </a:r>
          </a:p>
          <a:p>
            <a:r>
              <a:rPr lang="en-US" altLang="en-US"/>
              <a:t>I rode bareheaded.</a:t>
            </a:r>
          </a:p>
          <a:p>
            <a:r>
              <a:rPr lang="zh-CN" altLang="en-US"/>
              <a:t>我没戴帽子骑车。</a:t>
            </a:r>
          </a:p>
          <a:p>
            <a:r>
              <a:rPr lang="en-US" altLang="en-US"/>
              <a:t>One of the police officers was bareheaded, though in uniform.</a:t>
            </a:r>
          </a:p>
          <a:p>
            <a:r>
              <a:rPr lang="zh-CN" altLang="en-US"/>
              <a:t>一位警官虽然穿了制服，但是没有戴帽子。</a:t>
            </a:r>
          </a:p>
          <a:p>
            <a:r>
              <a:rPr lang="zh-CN" altLang="en-US"/>
              <a:t>她只给我介绍了这个案件的一些基本资料。</a:t>
            </a:r>
          </a:p>
          <a:p>
            <a:r>
              <a:rPr lang="zh-CN" altLang="en-US"/>
              <a:t>那是一个几乎不露一丝痕迹的笑。</a:t>
            </a:r>
          </a:p>
          <a:p>
            <a:r>
              <a:rPr lang="zh-CN" altLang="en-US"/>
              <a:t>她几乎没意识到他的存在。</a:t>
            </a:r>
          </a:p>
          <a:p>
            <a:r>
              <a:rPr lang="en-US" altLang="zh-CN"/>
              <a:t>barely = only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一次非常有启发性、令人兴奋的经历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参观必须预约</a:t>
            </a:r>
          </a:p>
          <a:p>
            <a:r>
              <a:rPr lang="zh-CN" altLang="en-US"/>
              <a:t>担任化学院教授职务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敏捷的思考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9pPr>
          </a:lstStyle>
          <a:p>
            <a:fld id="{1CEE13B6-B1DB-4255-A045-BC87CD20D2DD}" type="slidenum">
              <a:rPr lang="zh-CN" altLang="en-US">
                <a:solidFill>
                  <a:prstClr val="black"/>
                </a:solidFill>
              </a:rPr>
              <a:t>11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戴隐形眼镜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一份重要的，高尚的事业</a:t>
            </a:r>
          </a:p>
          <a:p>
            <a:r>
              <a:rPr lang="en-US" altLang="en-US"/>
              <a:t>source/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+mj-lt"/>
                <a:sym typeface="+mn-ea"/>
              </a:rPr>
              <a:t>我们身体很好，是一种福气。</a:t>
            </a:r>
          </a:p>
          <a:p>
            <a:r>
              <a:rPr lang="zh-CN" altLang="en-US" b="1" dirty="0">
                <a:latin typeface="+mj-lt"/>
                <a:sym typeface="+mn-ea"/>
              </a:rPr>
              <a:t>往来车辆少是乡村生活的一大好事。</a:t>
            </a:r>
          </a:p>
          <a:p>
            <a:r>
              <a:rPr lang="en-US" altLang="zh-CN" b="1" dirty="0">
                <a:latin typeface="+mj-lt"/>
                <a:sym typeface="+mn-ea"/>
              </a:rPr>
              <a:t>all the blessings in my life</a:t>
            </a:r>
            <a:endParaRPr lang="zh-CN" altLang="en-US" b="1" dirty="0">
              <a:latin typeface="+mj-lt"/>
              <a:sym typeface="+mn-ea"/>
            </a:endParaRPr>
          </a:p>
          <a:p>
            <a:r>
              <a:rPr lang="zh-CN" altLang="en-US" b="1" dirty="0">
                <a:latin typeface="+mj-lt"/>
                <a:sym typeface="+mn-ea"/>
              </a:rPr>
              <a:t>他一点一点地穿过狭窄的通道。</a:t>
            </a:r>
            <a:endParaRPr lang="zh-CN" altLang="en-US" b="1" dirty="0">
              <a:latin typeface="+mj-lt"/>
            </a:endParaRPr>
          </a:p>
          <a:p>
            <a:endParaRPr lang="zh-CN" altLang="en-US" b="1" dirty="0">
              <a:latin typeface="+mj-lt"/>
            </a:endParaRPr>
          </a:p>
          <a:p>
            <a:endParaRPr lang="zh-CN" altLang="en-US" b="1" dirty="0">
              <a:latin typeface="+mj-lt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arm in arm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   臂挽着臂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类似结构的短语还有</a:t>
            </a:r>
            <a:r>
              <a:rPr lang="en-US" altLang="zh-CN" b="1" dirty="0">
                <a:sym typeface="+mn-ea"/>
              </a:rPr>
              <a:t>:hand in hand</a:t>
            </a:r>
            <a:r>
              <a:rPr lang="zh-CN" altLang="en-US" b="1" dirty="0">
                <a:sym typeface="+mn-ea"/>
              </a:rPr>
              <a:t>（手牵手）、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>
                <a:sym typeface="+mn-ea"/>
              </a:rPr>
              <a:t>shoulder to shoulder</a:t>
            </a:r>
            <a:r>
              <a:rPr lang="zh-CN" altLang="en-US" b="1" dirty="0">
                <a:sym typeface="+mn-ea"/>
              </a:rPr>
              <a:t>（肩并肩）、</a:t>
            </a:r>
            <a:r>
              <a:rPr lang="en-US" altLang="zh-CN" b="1" dirty="0">
                <a:sym typeface="+mn-ea"/>
              </a:rPr>
              <a:t>face to face</a:t>
            </a:r>
            <a:r>
              <a:rPr lang="zh-CN" altLang="en-US" b="1" dirty="0">
                <a:sym typeface="+mn-ea"/>
              </a:rPr>
              <a:t>（面对面）、</a:t>
            </a:r>
            <a:r>
              <a:rPr lang="en-US" altLang="zh-CN" b="1" dirty="0">
                <a:sym typeface="+mn-ea"/>
              </a:rPr>
              <a:t>heart to heart</a:t>
            </a:r>
            <a:r>
              <a:rPr lang="zh-CN" altLang="en-US" b="1" dirty="0">
                <a:sym typeface="+mn-ea"/>
              </a:rPr>
              <a:t>（坦诚的谈话）等。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概述，梗概，大纲</a:t>
            </a:r>
            <a:endParaRPr lang="zh-CN" altLang="en-US" b="1" dirty="0"/>
          </a:p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免除了……的义务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44323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j-lt"/>
                <a:sym typeface="+mn-ea"/>
              </a:rPr>
              <a:t>suspect </a:t>
            </a:r>
            <a:r>
              <a:rPr lang="en-US" altLang="zh-CN" b="1" dirty="0">
                <a:latin typeface="+mj-lt"/>
                <a:sym typeface="+mn-ea"/>
              </a:rPr>
              <a:t>her loyalty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zh-CN" b="1" dirty="0">
                <a:latin typeface="+mj-lt"/>
                <a:sym typeface="+mn-ea"/>
              </a:rPr>
              <a:t>suspect sb to be a criminal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+mj-lt"/>
                <a:sym typeface="+mn-ea"/>
              </a:rPr>
              <a:t>be suspected of stealing</a:t>
            </a:r>
            <a:endParaRPr lang="zh-CN" altLang="en-US" b="1" dirty="0"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zh-CN" altLang="en-US" b="1" dirty="0">
                <a:latin typeface="+mj-lt"/>
                <a:sym typeface="+mn-ea"/>
              </a:rPr>
              <a:t>我怀疑韩国滑冰选手已违反竞赛规则。</a:t>
            </a:r>
          </a:p>
          <a:p>
            <a:pPr indent="-443230" fontAlgn="auto">
              <a:lnSpc>
                <a:spcPct val="120000"/>
              </a:lnSpc>
            </a:pPr>
            <a:r>
              <a:rPr lang="zh-CN" altLang="en-US"/>
              <a:t>怀疑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443230" fontAlgn="auto">
              <a:lnSpc>
                <a:spcPct val="120000"/>
              </a:lnSpc>
            </a:pPr>
            <a:r>
              <a:rPr lang="zh-CN" altLang="en-US"/>
              <a:t>天才建筑师的作品无论残留多少都能最大限度地吸引眼球</a:t>
            </a:r>
          </a:p>
          <a:p>
            <a:pPr indent="-443230" fontAlgn="auto">
              <a:lnSpc>
                <a:spcPct val="120000"/>
              </a:lnSpc>
            </a:pPr>
            <a:r>
              <a:rPr lang="zh-CN" altLang="en-US"/>
              <a:t>转移注意力</a:t>
            </a:r>
            <a:r>
              <a:rPr lang="en-US" altLang="zh-CN"/>
              <a:t> divert one’s attention</a:t>
            </a:r>
            <a:endParaRPr lang="zh-CN" altLang="en-US"/>
          </a:p>
          <a:p>
            <a:pPr indent="-443230" fontAlgn="auto">
              <a:lnSpc>
                <a:spcPct val="120000"/>
              </a:lnSpc>
            </a:pPr>
            <a:r>
              <a:rPr lang="zh-CN" altLang="en-US"/>
              <a:t>停止，阻止</a:t>
            </a:r>
          </a:p>
          <a:p>
            <a:pPr indent="-443230" fontAlgn="auto">
              <a:lnSpc>
                <a:spcPct val="120000"/>
              </a:lnSpc>
            </a:pPr>
            <a:r>
              <a:rPr lang="zh-CN" altLang="en-US"/>
              <a:t>给违法者判刑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至少（转移话题）</a:t>
            </a:r>
          </a:p>
          <a:p>
            <a:r>
              <a:rPr lang="zh-CN" altLang="en-US"/>
              <a:t>反正</a:t>
            </a:r>
            <a:r>
              <a:rPr lang="en-US" altLang="zh-CN"/>
              <a:t> besides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根据自己的原则</a:t>
            </a:r>
          </a:p>
          <a:p>
            <a:r>
              <a:rPr lang="zh-CN" altLang="en-US" b="1">
                <a:solidFill>
                  <a:srgbClr val="000000"/>
                </a:solidFill>
                <a:sym typeface="+mn-ea"/>
              </a:rPr>
              <a:t>报告写作的理论与实践</a:t>
            </a:r>
          </a:p>
          <a:p>
            <a:r>
              <a:rPr lang="zh-CN" altLang="en-US" b="1">
                <a:solidFill>
                  <a:srgbClr val="000000"/>
                </a:solidFill>
              </a:rPr>
              <a:t>原理上，理论上</a:t>
            </a:r>
          </a:p>
          <a:p>
            <a:r>
              <a:rPr lang="zh-CN" altLang="en-US"/>
              <a:t>好好睡上一夜</a:t>
            </a:r>
          </a:p>
          <a:p>
            <a:r>
              <a:rPr lang="zh-CN" altLang="en-US"/>
              <a:t>正派的人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on the beat / walk the beat </a:t>
            </a:r>
            <a:r>
              <a:rPr lang="zh-CN" altLang="en-US" sz="3200" b="1" dirty="0">
                <a:solidFill>
                  <a:schemeClr val="tx1"/>
                </a:solidFill>
              </a:rPr>
              <a:t>执勤，当班，巡逻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on duty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off the beaten track</a:t>
            </a:r>
          </a:p>
          <a:p>
            <a:pPr marL="360680" indent="-360680"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follow the beaten track to success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rain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beating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on/against the windows.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I felt my heart beating faster.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Stop </a:t>
            </a:r>
            <a:r>
              <a:rPr lang="en-US" altLang="en-US" sz="3200" b="1" dirty="0">
                <a:solidFill>
                  <a:srgbClr val="FF0000"/>
                </a:solidFill>
              </a:rPr>
              <a:t>beating about the bush</a:t>
            </a:r>
            <a:r>
              <a:rPr lang="en-US" altLang="en-US" sz="3200" b="1" dirty="0">
                <a:solidFill>
                  <a:schemeClr val="tx1"/>
                </a:solidFill>
              </a:rPr>
              <a:t>. What's he done?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拐弯抹角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The sun was ______ _____ on them. </a:t>
            </a:r>
            <a:r>
              <a:rPr lang="zh-CN" altLang="en-US" sz="3200" b="1" dirty="0">
                <a:solidFill>
                  <a:schemeClr val="tx1"/>
                </a:solidFill>
              </a:rPr>
              <a:t>暴晒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(beat, beaten)</a:t>
            </a:r>
            <a:endParaRPr lang="zh-CN" altLang="en-US" sz="3200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3757295" y="5873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远离闹市，偏远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；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打破常规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143875" y="17081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拍打，撞击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165350" y="34632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 beating down</a:t>
            </a:r>
            <a:endParaRPr lang="en-US" altLang="en-US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035" y="0"/>
            <a:ext cx="12192000" cy="6985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barely</a:t>
            </a:r>
            <a:r>
              <a:rPr lang="en-US" altLang="zh-CN" sz="3200" b="1">
                <a:solidFill>
                  <a:srgbClr val="000000"/>
                </a:solidFill>
              </a:rPr>
              <a:t>: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almost not; only just</a:t>
            </a:r>
            <a:endParaRPr lang="en-US" altLang="zh-CN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</a:rPr>
              <a:t>bareheaded </a:t>
            </a:r>
            <a:r>
              <a:rPr lang="en-US" altLang="zh-CN" sz="3200" b="1">
                <a:solidFill>
                  <a:srgbClr val="000000"/>
                </a:solidFill>
              </a:rPr>
              <a:t>/</a:t>
            </a:r>
            <a:r>
              <a:rPr lang="en-US" altLang="zh-CN" sz="3200" b="1">
                <a:solidFill>
                  <a:srgbClr val="FB0207"/>
                </a:solidFill>
              </a:rPr>
              <a:t> barefoot </a:t>
            </a:r>
            <a:r>
              <a:rPr lang="en-US" altLang="zh-CN" sz="3200" b="1" i="1">
                <a:solidFill>
                  <a:srgbClr val="FB0207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(adj./adv.)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tx1"/>
                </a:solidFill>
              </a:rPr>
              <a:t>Alan came running </a:t>
            </a:r>
            <a:r>
              <a:rPr lang="en-US" altLang="en-US" sz="3200" b="1">
                <a:solidFill>
                  <a:srgbClr val="FF0000"/>
                </a:solidFill>
              </a:rPr>
              <a:t>barefoot</a:t>
            </a:r>
            <a:r>
              <a:rPr lang="en-US" altLang="en-US" sz="3200" b="1">
                <a:solidFill>
                  <a:schemeClr val="tx1"/>
                </a:solidFill>
              </a:rPr>
              <a:t> </a:t>
            </a:r>
            <a:r>
              <a:rPr lang="en-US" altLang="zh-CN" sz="3200" b="1">
                <a:solidFill>
                  <a:schemeClr val="tx1"/>
                </a:solidFill>
              </a:rPr>
              <a:t>through the house.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(in bare feet)</a:t>
            </a:r>
            <a:endParaRPr lang="en-US" altLang="en-US" sz="3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She gave me only</a:t>
            </a:r>
            <a:r>
              <a:rPr lang="en-US" altLang="en-US" sz="3200" b="1">
                <a:solidFill>
                  <a:srgbClr val="FF0000"/>
                </a:solidFill>
              </a:rPr>
              <a:t> the bare facts </a:t>
            </a:r>
            <a:r>
              <a:rPr lang="en-US" altLang="en-US" sz="3200" b="1">
                <a:solidFill>
                  <a:srgbClr val="000000"/>
                </a:solidFill>
              </a:rPr>
              <a:t>of the case.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</a:rPr>
              <a:t>bare necessities</a:t>
            </a:r>
            <a:r>
              <a:rPr lang="en-US" altLang="en-US" sz="3200" b="1">
                <a:solidFill>
                  <a:srgbClr val="000000"/>
                </a:solidFill>
              </a:rPr>
              <a:t> </a:t>
            </a:r>
            <a:r>
              <a:rPr lang="zh-CN" altLang="en-US" sz="3200" b="1">
                <a:solidFill>
                  <a:srgbClr val="000000"/>
                </a:solidFill>
              </a:rPr>
              <a:t>最基本的生活所需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It was the </a:t>
            </a:r>
            <a:r>
              <a:rPr lang="en-US" altLang="en-US" sz="3200" b="1">
                <a:solidFill>
                  <a:srgbClr val="FF0000"/>
                </a:solidFill>
              </a:rPr>
              <a:t>barest </a:t>
            </a:r>
            <a:r>
              <a:rPr lang="en-US" altLang="en-US" sz="3200" b="1">
                <a:solidFill>
                  <a:srgbClr val="000000"/>
                </a:solidFill>
              </a:rPr>
              <a:t>hint of a smile.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His voice </a:t>
            </a:r>
            <a:r>
              <a:rPr lang="en-US" altLang="zh-CN" sz="3200" b="1">
                <a:solidFill>
                  <a:srgbClr val="FF0000"/>
                </a:solidFill>
              </a:rPr>
              <a:t>was barely audible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She was </a:t>
            </a:r>
            <a:r>
              <a:rPr lang="en-US" altLang="zh-CN" sz="3200" b="1">
                <a:solidFill>
                  <a:srgbClr val="FF0000"/>
                </a:solidFill>
              </a:rPr>
              <a:t>barely </a:t>
            </a:r>
            <a:r>
              <a:rPr lang="en-US" altLang="zh-CN" sz="3200" b="1">
                <a:solidFill>
                  <a:srgbClr val="000000"/>
                </a:solidFill>
              </a:rPr>
              <a:t>aware of his presence.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Gu Ailing is </a:t>
            </a:r>
            <a:r>
              <a:rPr lang="en-US" altLang="zh-CN" sz="3200" b="1">
                <a:solidFill>
                  <a:srgbClr val="FF0000"/>
                </a:solidFill>
              </a:rPr>
              <a:t>barely </a:t>
            </a:r>
            <a:r>
              <a:rPr lang="en-US" altLang="zh-CN" sz="3200" b="1">
                <a:solidFill>
                  <a:srgbClr val="000000"/>
                </a:solidFill>
              </a:rPr>
              <a:t>18 years old and is already a world champion.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我几乎认不出他来。</a:t>
            </a:r>
            <a:r>
              <a:rPr lang="en-US" altLang="zh-CN" sz="3200" b="1">
                <a:solidFill>
                  <a:srgbClr val="000000"/>
                </a:solidFill>
              </a:rPr>
              <a:t>I ______ _________ her.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</a:rPr>
              <a:t>一……就……</a:t>
            </a:r>
            <a:endParaRPr lang="en-US" altLang="zh-CN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John </a:t>
            </a:r>
            <a:r>
              <a:rPr lang="en-US" altLang="zh-CN" sz="3200" b="1">
                <a:solidFill>
                  <a:srgbClr val="0000FF"/>
                </a:solidFill>
              </a:rPr>
              <a:t>had barely finished</a:t>
            </a:r>
            <a:r>
              <a:rPr lang="en-US" altLang="zh-CN" sz="3200" b="1">
                <a:solidFill>
                  <a:srgbClr val="000000"/>
                </a:solidFill>
              </a:rPr>
              <a:t> his coffee </a:t>
            </a:r>
            <a:r>
              <a:rPr lang="en-US" altLang="zh-CN" sz="3200" b="1">
                <a:solidFill>
                  <a:srgbClr val="0000FF"/>
                </a:solidFill>
              </a:rPr>
              <a:t>when</a:t>
            </a:r>
            <a:r>
              <a:rPr lang="en-US" altLang="zh-CN" sz="3200" b="1">
                <a:solidFill>
                  <a:srgbClr val="000000"/>
                </a:solidFill>
              </a:rPr>
              <a:t> Henry returned.</a:t>
            </a:r>
          </a:p>
          <a:p>
            <a:r>
              <a:rPr lang="en-US" altLang="zh-CN" sz="3200" b="1">
                <a:solidFill>
                  <a:srgbClr val="0000FF"/>
                </a:solidFill>
              </a:rPr>
              <a:t>Barely had</a:t>
            </a:r>
            <a:r>
              <a:rPr lang="en-US" altLang="zh-CN" sz="3200" b="1">
                <a:solidFill>
                  <a:srgbClr val="000000"/>
                </a:solidFill>
              </a:rPr>
              <a:t> John </a:t>
            </a:r>
            <a:r>
              <a:rPr lang="en-US" altLang="zh-CN" sz="3200" b="1">
                <a:solidFill>
                  <a:srgbClr val="0000FF"/>
                </a:solidFill>
              </a:rPr>
              <a:t>finished</a:t>
            </a:r>
            <a:r>
              <a:rPr lang="en-US" altLang="zh-CN" sz="3200" b="1">
                <a:solidFill>
                  <a:srgbClr val="000000"/>
                </a:solidFill>
              </a:rPr>
              <a:t> his coffee </a:t>
            </a:r>
            <a:r>
              <a:rPr lang="en-US" altLang="zh-CN" sz="3200" b="1">
                <a:solidFill>
                  <a:srgbClr val="0000FF"/>
                </a:solidFill>
              </a:rPr>
              <a:t>when</a:t>
            </a:r>
            <a:r>
              <a:rPr lang="en-US" altLang="zh-CN" sz="3200" b="1">
                <a:solidFill>
                  <a:srgbClr val="000000"/>
                </a:solidFill>
              </a:rPr>
              <a:t> Henry returned.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</a:rPr>
              <a:t>Hardly/Scarcely… when…; No sooner… than…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80180" y="43103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barely recognized </a:t>
            </a:r>
            <a:endParaRPr lang="en-US" altLang="zh-CN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101600" y="-40640"/>
            <a:ext cx="1248156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In the doorway </a:t>
            </a:r>
            <a:r>
              <a:rPr lang="en-US" altLang="zh-CN" sz="3200" b="1" dirty="0"/>
              <a:t>of a store </a:t>
            </a:r>
            <a:r>
              <a:rPr lang="en-US" altLang="zh-CN" sz="3200" b="1" dirty="0">
                <a:solidFill>
                  <a:srgbClr val="FF0000"/>
                </a:solidFill>
              </a:rPr>
              <a:t>stood </a:t>
            </a:r>
            <a:r>
              <a:rPr lang="en-US" altLang="zh-CN" sz="3200" b="1" dirty="0"/>
              <a:t>a man, with an unlit cigar in his mouth.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580390"/>
            <a:ext cx="1219200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地点状语、介词短语置于句首时</a:t>
            </a:r>
            <a:r>
              <a:rPr lang="zh-CN" altLang="en-US" sz="3200" b="1" dirty="0"/>
              <a:t>，常用倒装</a:t>
            </a:r>
            <a:r>
              <a:rPr lang="en-US" altLang="zh-CN" sz="3200" b="1" dirty="0"/>
              <a:t> (</a:t>
            </a:r>
            <a:r>
              <a:rPr lang="en-US" altLang="en-US" sz="3200" b="1" dirty="0"/>
              <a:t>inverted sentences)</a:t>
            </a:r>
            <a:r>
              <a:rPr lang="zh-CN" altLang="en-US" sz="3200" b="1" dirty="0"/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(L43-44) </a:t>
            </a:r>
            <a:r>
              <a:rPr lang="en-US" altLang="en-US" sz="3200" b="1" dirty="0">
                <a:solidFill>
                  <a:srgbClr val="FF0000"/>
                </a:solidFill>
              </a:rPr>
              <a:t>At the corner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solidFill>
                  <a:srgbClr val="FF0000"/>
                </a:solidFill>
              </a:rPr>
              <a:t>stood </a:t>
            </a:r>
            <a:r>
              <a:rPr lang="en-US" altLang="en-US" sz="3200" b="1" dirty="0"/>
              <a:t>a drugstore, brilliant with electric lights.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38" b="3319"/>
          <a:stretch>
            <a:fillRect/>
          </a:stretch>
        </p:blipFill>
        <p:spPr>
          <a:xfrm>
            <a:off x="10169467" y="2577244"/>
            <a:ext cx="2022763" cy="4280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005" y="1852930"/>
            <a:ext cx="991806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一群男孩和女孩围桌而坐，开心地说笑。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Around a table </a:t>
            </a:r>
            <a:r>
              <a:rPr lang="en-US" altLang="zh-CN" sz="3200" b="1" dirty="0">
                <a:solidFill>
                  <a:srgbClr val="FF0000"/>
                </a:solidFill>
              </a:rPr>
              <a:t>sat</a:t>
            </a:r>
            <a:r>
              <a:rPr lang="en-US" altLang="zh-CN" sz="3200" b="1" dirty="0"/>
              <a:t> a group of boys and girls, talking and laughing merrily.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lt"/>
                <a:sym typeface="+mn-ea"/>
              </a:rPr>
              <a:t>墙上挂着这位艺术家的两幅巨幅油画</a:t>
            </a:r>
            <a:r>
              <a:rPr lang="en-US" altLang="zh-CN" sz="3200" b="1" dirty="0">
                <a:latin typeface="+mj-lt"/>
                <a:sym typeface="+mn-ea"/>
              </a:rPr>
              <a:t>，</a:t>
            </a:r>
            <a:r>
              <a:rPr lang="zh-CN" altLang="en-US" sz="3200" b="1" dirty="0">
                <a:latin typeface="+mj-lt"/>
                <a:sym typeface="+mn-ea"/>
              </a:rPr>
              <a:t>它们鲜艳的色彩和大胆的笔触吸引着观众。</a:t>
            </a:r>
            <a:endParaRPr lang="en-US" altLang="zh-CN" sz="3200" b="1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sym typeface="+mn-ea"/>
              </a:rPr>
              <a:t>On the wall hang two large paintings of the artist, attracting viewers with their bright colors and bold brushstrokes.</a:t>
            </a:r>
            <a:endParaRPr lang="zh-CN" altLang="en-US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0"/>
            <a:ext cx="1219263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分词提前置于句首。如：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我们必须日夜学习的日子已经一去不复返了。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u="sng" dirty="0">
                <a:sym typeface="+mn-ea"/>
              </a:rPr>
              <a:t>Gone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are </a:t>
            </a:r>
            <a:r>
              <a:rPr lang="en-US" altLang="zh-CN" sz="3200" b="1" dirty="0">
                <a:sym typeface="+mn-ea"/>
              </a:rPr>
              <a:t>the days when we have to study day and night.</a:t>
            </a:r>
            <a:endParaRPr lang="zh-CN" altLang="en-US" sz="3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躺在地板上的是一个受了重伤的男孩。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u="sng" dirty="0">
                <a:sym typeface="+mn-ea"/>
              </a:rPr>
              <a:t>Lying</a:t>
            </a:r>
            <a:r>
              <a:rPr lang="en-US" altLang="zh-CN" sz="3200" b="1" dirty="0">
                <a:sym typeface="+mn-ea"/>
              </a:rPr>
              <a:t> on the floor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is</a:t>
            </a:r>
            <a:r>
              <a:rPr lang="en-US" altLang="zh-CN" sz="3200" b="1" dirty="0">
                <a:sym typeface="+mn-ea"/>
              </a:rPr>
              <a:t> a boy badly hurt.</a:t>
            </a:r>
            <a:endParaRPr lang="en-US" altLang="zh-CN" sz="3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/>
              <a:t>只有当这些足球运动员接受集中训练，他们才能打败</a:t>
            </a:r>
            <a:r>
              <a:rPr lang="en-US" altLang="en-US" sz="3200" b="1" dirty="0"/>
              <a:t>…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200" b="1" dirty="0">
                <a:solidFill>
                  <a:srgbClr val="FF0000"/>
                </a:solidFill>
              </a:rPr>
              <a:t>Only when </a:t>
            </a:r>
            <a:r>
              <a:rPr lang="en-US" altLang="en-US" sz="3200" b="1" dirty="0"/>
              <a:t>these football players receive intensive training </a:t>
            </a:r>
            <a:r>
              <a:rPr lang="en-US" altLang="en-US" sz="3200" b="1" dirty="0">
                <a:solidFill>
                  <a:srgbClr val="FF0000"/>
                </a:solidFill>
              </a:rPr>
              <a:t>can they </a:t>
            </a:r>
            <a:r>
              <a:rPr lang="en-US" altLang="en-US" sz="3200" b="1" dirty="0"/>
              <a:t>defeat those from Vietnam.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200" b="1" dirty="0">
                <a:solidFill>
                  <a:srgbClr val="FF0000"/>
                </a:solidFill>
              </a:rPr>
              <a:t>Never have </a:t>
            </a:r>
            <a:r>
              <a:rPr lang="en-US" altLang="en-US" sz="3200" b="1" dirty="0"/>
              <a:t>I heard about such a ridiculous thing.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200" b="1" dirty="0">
                <a:solidFill>
                  <a:srgbClr val="FF0000"/>
                </a:solidFill>
              </a:rPr>
              <a:t>Little did</a:t>
            </a:r>
            <a:r>
              <a:rPr lang="en-US" altLang="en-US" sz="3200" b="1" dirty="0"/>
              <a:t> we doubt that Women’s Football Team would win.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200" b="1" dirty="0">
                <a:solidFill>
                  <a:srgbClr val="FF0000"/>
                </a:solidFill>
              </a:rPr>
              <a:t>Under no circumstances should we</a:t>
            </a:r>
            <a:r>
              <a:rPr lang="en-US" altLang="en-US" sz="3200" b="1" dirty="0"/>
              <a:t> lose confidence in them.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635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She _____ a candle.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His eyes</a:t>
            </a:r>
            <a:r>
              <a:rPr lang="en-US" altLang="zh-CN" sz="3200" b="1">
                <a:solidFill>
                  <a:srgbClr val="FF0000"/>
                </a:solidFill>
              </a:rPr>
              <a:t> lit up </a:t>
            </a:r>
            <a:r>
              <a:rPr lang="en-US" altLang="zh-CN" sz="3200" b="1">
                <a:solidFill>
                  <a:srgbClr val="000000"/>
                </a:solidFill>
              </a:rPr>
              <a:t>when she walked into the room.</a:t>
            </a:r>
            <a:r>
              <a:rPr lang="en-US" altLang="zh-CN" sz="3200" b="1"/>
              <a:t> 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an ______ cigarette</a:t>
            </a:r>
            <a:r>
              <a:rPr lang="en-US" altLang="zh-CN" sz="3200" b="1"/>
              <a:t> 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a ______ cigarette </a:t>
            </a:r>
            <a:r>
              <a:rPr lang="zh-CN" altLang="en-US" sz="3200" b="1">
                <a:solidFill>
                  <a:srgbClr val="000000"/>
                </a:solidFill>
              </a:rPr>
              <a:t>一根燃烧的香烟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a </a:t>
            </a:r>
            <a:r>
              <a:rPr lang="en-US" altLang="zh-CN" sz="3200" b="1">
                <a:solidFill>
                  <a:srgbClr val="FF0000"/>
                </a:solidFill>
              </a:rPr>
              <a:t>lighted </a:t>
            </a:r>
            <a:r>
              <a:rPr lang="en-US" altLang="zh-CN" sz="3200" b="1">
                <a:solidFill>
                  <a:srgbClr val="000000"/>
                </a:solidFill>
              </a:rPr>
              <a:t>window </a:t>
            </a:r>
            <a:r>
              <a:rPr lang="zh-CN" altLang="en-US" sz="3200" b="1">
                <a:solidFill>
                  <a:srgbClr val="000000"/>
                </a:solidFill>
              </a:rPr>
              <a:t>灯火通明的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enlighten</a:t>
            </a:r>
            <a:endParaRPr lang="zh-CN" altLang="en-US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an enormously </a:t>
            </a:r>
            <a:r>
              <a:rPr lang="en-US" altLang="en-US" sz="3200" b="1">
                <a:solidFill>
                  <a:srgbClr val="FF0000"/>
                </a:solidFill>
              </a:rPr>
              <a:t>enlightening </a:t>
            </a:r>
            <a:r>
              <a:rPr lang="en-US" altLang="en-US" sz="3200" b="1">
                <a:solidFill>
                  <a:srgbClr val="000000"/>
                </a:solidFill>
              </a:rPr>
              <a:t>and exciting experience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</a:rPr>
              <a:t>strike, struck, struck</a:t>
            </a:r>
            <a:endParaRPr lang="zh-CN" altLang="en-US" sz="3200" b="1">
              <a:solidFill>
                <a:srgbClr val="FB0207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35355" y="-60960"/>
            <a:ext cx="8566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lit       </a:t>
            </a:r>
            <a:endParaRPr lang="en-US" altLang="zh-CN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0885" y="849630"/>
            <a:ext cx="12909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unlit        </a:t>
            </a:r>
            <a:endParaRPr lang="en-US" altLang="zh-CN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60680" y="1349375"/>
            <a:ext cx="16611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sym typeface="+mn-ea"/>
              </a:rPr>
              <a:t>lighted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62634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make/keep an appointment </a:t>
            </a:r>
            <a:r>
              <a:rPr lang="en-US" altLang="en-US" sz="3200" b="1" dirty="0">
                <a:solidFill>
                  <a:schemeClr val="tx1"/>
                </a:solidFill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</a:rPr>
              <a:t>约</a:t>
            </a:r>
            <a:r>
              <a:rPr lang="zh-CN" altLang="en-US" sz="3200" b="1" dirty="0"/>
              <a:t>定，预约；守约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～</a:t>
            </a:r>
            <a:r>
              <a:rPr lang="en-US" altLang="zh-CN" sz="3200" b="1" dirty="0">
                <a:solidFill>
                  <a:srgbClr val="FF0000"/>
                </a:solidFill>
              </a:rPr>
              <a:t>with sb/for sth/ to see the doctor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Viewing is (allowed) </a:t>
            </a:r>
            <a:r>
              <a:rPr lang="en-US" altLang="zh-CN" sz="3200" b="1" dirty="0">
                <a:solidFill>
                  <a:srgbClr val="FF0000"/>
                </a:solidFill>
              </a:rPr>
              <a:t>by appointment </a:t>
            </a:r>
            <a:r>
              <a:rPr lang="en-US" altLang="zh-CN" sz="3200" b="1" dirty="0">
                <a:solidFill>
                  <a:schemeClr val="tx1"/>
                </a:solidFill>
              </a:rPr>
              <a:t>only.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They congratulated him on his </a:t>
            </a:r>
            <a:r>
              <a:rPr lang="en-US" altLang="zh-CN" sz="3200" b="1" dirty="0">
                <a:solidFill>
                  <a:srgbClr val="FF0000"/>
                </a:solidFill>
              </a:rPr>
              <a:t>appointment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as </a:t>
            </a:r>
            <a:r>
              <a:rPr lang="en-US" altLang="zh-CN" sz="3200" b="1" dirty="0"/>
              <a:t>principal.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2) </a:t>
            </a:r>
            <a:r>
              <a:rPr lang="zh-CN" altLang="en-US" sz="3200" b="1">
                <a:sym typeface="+mn-ea"/>
              </a:rPr>
              <a:t>任命，委任</a:t>
            </a:r>
            <a:endParaRPr lang="zh-CN" altLang="en-US" sz="3200"/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/>
              <a:t>He has taken up an </a:t>
            </a:r>
            <a:r>
              <a:rPr lang="en-US" altLang="zh-CN" sz="3200" b="1" dirty="0">
                <a:solidFill>
                  <a:srgbClr val="FF0000"/>
                </a:solidFill>
              </a:rPr>
              <a:t>appointment</a:t>
            </a:r>
            <a:r>
              <a:rPr lang="en-US" altLang="zh-CN" sz="3200" b="1" dirty="0"/>
              <a:t> as Professor of Chemistry.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appoint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She has recently </a:t>
            </a:r>
            <a:r>
              <a:rPr lang="en-US" altLang="en-US" sz="3200" b="1" dirty="0">
                <a:solidFill>
                  <a:srgbClr val="FF0000"/>
                </a:solidFill>
              </a:rPr>
              <a:t>been appointed to </a:t>
            </a:r>
            <a:r>
              <a:rPr lang="en-US" altLang="en-US" sz="3200" b="1" dirty="0"/>
              <a:t>the committee.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be appointed as… / to do sth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at the __________ time </a:t>
            </a:r>
            <a:r>
              <a:rPr lang="zh-CN" altLang="en-US" sz="3200" b="1" dirty="0"/>
              <a:t>在规定时间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69035" y="5241290"/>
            <a:ext cx="26987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appointed</a:t>
            </a:r>
            <a:endParaRPr lang="en-US" altLang="zh-CN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4671" y="1240731"/>
            <a:ext cx="11163632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3230" indent="-443230">
              <a:lnSpc>
                <a:spcPct val="120000"/>
              </a:lnSpc>
            </a:pPr>
            <a:r>
              <a:rPr lang="en-US" altLang="zh-CN" sz="3200" b="1" dirty="0"/>
              <a:t>1. Sam has ______________ (appoint) manager of the engineering department to take the place of George.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2. They appoint Tom  ___________  (take) charge of all the activities on that day.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/>
              <a:t>3. If you want to see the doctor, you’d better make an  ___________  (appoint) with him in advance.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7811" y="633011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用所给词的正确形式填空。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73022" y="1240731"/>
            <a:ext cx="2861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been appointed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36219" y="2456171"/>
            <a:ext cx="138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to take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6106" y="4177034"/>
            <a:ext cx="2416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appointment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000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recession _______ profits _____ sharply.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降低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to ____ ____ a notice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张贴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rent has ____ ____ by £20 a month.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上涨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They ______ their children ____ to be responsible adults.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养育</a:t>
            </a: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_____ the volume _____</a:t>
            </a: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He asked her to marry him but she _____ him _____.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拒绝</a:t>
            </a: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He ____ ____ ____ coffee and cigarettes and ate a balanced diet.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减少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>
              <a:buNone/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_____ _____ a building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拆除</a:t>
            </a:r>
          </a:p>
        </p:txBody>
      </p:sp>
      <p:sp>
        <p:nvSpPr>
          <p:cNvPr id="5" name="文本框 2"/>
          <p:cNvSpPr txBox="1"/>
          <p:nvPr/>
        </p:nvSpPr>
        <p:spPr>
          <a:xfrm>
            <a:off x="2497482" y="-59"/>
            <a:ext cx="3954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brought              down</a:t>
            </a:r>
          </a:p>
        </p:txBody>
      </p:sp>
      <p:sp>
        <p:nvSpPr>
          <p:cNvPr id="6" name="文本框 2"/>
          <p:cNvSpPr txBox="1"/>
          <p:nvPr/>
        </p:nvSpPr>
        <p:spPr>
          <a:xfrm>
            <a:off x="511837" y="458411"/>
            <a:ext cx="16287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put    up</a:t>
            </a:r>
          </a:p>
        </p:txBody>
      </p:sp>
      <p:sp>
        <p:nvSpPr>
          <p:cNvPr id="7" name="文本框 2"/>
          <p:cNvSpPr txBox="1"/>
          <p:nvPr/>
        </p:nvSpPr>
        <p:spPr>
          <a:xfrm>
            <a:off x="2430172" y="974031"/>
            <a:ext cx="1651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gone  up</a:t>
            </a:r>
          </a:p>
        </p:txBody>
      </p:sp>
      <p:sp>
        <p:nvSpPr>
          <p:cNvPr id="2" name="文本框 2"/>
          <p:cNvSpPr txBox="1"/>
          <p:nvPr/>
        </p:nvSpPr>
        <p:spPr>
          <a:xfrm>
            <a:off x="840767" y="1465521"/>
            <a:ext cx="46767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brought                          up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6237" y="1894146"/>
            <a:ext cx="46996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turn                      up/down</a:t>
            </a:r>
          </a:p>
        </p:txBody>
      </p:sp>
      <p:sp>
        <p:nvSpPr>
          <p:cNvPr id="8" name="文本框 2"/>
          <p:cNvSpPr txBox="1"/>
          <p:nvPr/>
        </p:nvSpPr>
        <p:spPr>
          <a:xfrm>
            <a:off x="6136032" y="2477711"/>
            <a:ext cx="30168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turned       down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638837" y="2933641"/>
            <a:ext cx="26104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cut   down  on</a:t>
            </a:r>
          </a:p>
        </p:txBody>
      </p:sp>
      <p:sp>
        <p:nvSpPr>
          <p:cNvPr id="10" name="文本框 2"/>
          <p:cNvSpPr txBox="1"/>
          <p:nvPr/>
        </p:nvSpPr>
        <p:spPr>
          <a:xfrm>
            <a:off x="156237" y="3392111"/>
            <a:ext cx="20339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tear 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  <p:bldP spid="3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0523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</a:rPr>
              <a:t>is</a:t>
            </a:r>
            <a:r>
              <a:rPr lang="en-US" altLang="en-US" sz="3200" b="1" dirty="0">
                <a:solidFill>
                  <a:schemeClr val="tx1"/>
                </a:solidFill>
              </a:rPr>
              <a:t> always </a:t>
            </a:r>
            <a:r>
              <a:rPr lang="en-US" altLang="en-US" sz="3200" b="1" dirty="0">
                <a:solidFill>
                  <a:srgbClr val="FF0000"/>
                </a:solidFill>
              </a:rPr>
              <a:t>keen to hear</a:t>
            </a:r>
            <a:r>
              <a:rPr lang="en-US" altLang="en-US" sz="3200" b="1" dirty="0">
                <a:solidFill>
                  <a:schemeClr val="tx1"/>
                </a:solidFill>
              </a:rPr>
              <a:t> the local gossip.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eager to do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be keen on (doing)… </a:t>
            </a:r>
            <a:r>
              <a:rPr lang="en-US" altLang="en-US" sz="3200" b="1" dirty="0">
                <a:solidFill>
                  <a:schemeClr val="tx1"/>
                </a:solidFill>
              </a:rPr>
              <a:t>特别喜欢做</a:t>
            </a:r>
            <a:r>
              <a:rPr lang="zh-CN" altLang="en-US" sz="3200" b="1" dirty="0">
                <a:solidFill>
                  <a:schemeClr val="tx1"/>
                </a:solidFill>
              </a:rPr>
              <a:t>某事，热衷于做某事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He</a:t>
            </a:r>
            <a:r>
              <a:rPr lang="en-US" altLang="en-US" sz="3200" b="1" dirty="0">
                <a:solidFill>
                  <a:srgbClr val="FF0000"/>
                </a:solidFill>
              </a:rPr>
              <a:t> is keen that</a:t>
            </a:r>
            <a:r>
              <a:rPr lang="en-US" altLang="en-US" sz="3200" b="1" dirty="0">
                <a:solidFill>
                  <a:schemeClr val="tx1"/>
                </a:solidFill>
              </a:rPr>
              <a:t> the company should expand its product range.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sharp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灵敏的，敏锐的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Dogs have </a:t>
            </a:r>
            <a:r>
              <a:rPr lang="en-US" altLang="en-US" sz="3200" b="1" dirty="0">
                <a:solidFill>
                  <a:srgbClr val="FF0000"/>
                </a:solidFill>
              </a:rPr>
              <a:t>a keen sense of smell</a:t>
            </a:r>
            <a:r>
              <a:rPr lang="en-US" altLang="en-US" sz="3200" b="1" dirty="0">
                <a:solidFill>
                  <a:schemeClr val="tx1"/>
                </a:solidFill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ym typeface="+mn-ea"/>
              </a:rPr>
              <a:t>She has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 a keen eye for</a:t>
            </a:r>
            <a:r>
              <a:rPr lang="en-US" altLang="en-US" sz="32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en-US" altLang="en-US" sz="3200" b="1" dirty="0">
                <a:sym typeface="+mn-ea"/>
              </a:rPr>
              <a:t>a bargain.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ym typeface="+mn-ea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keen </a:t>
            </a:r>
            <a:r>
              <a:rPr lang="en-US" altLang="en-US" sz="3200" b="1" dirty="0">
                <a:sym typeface="+mn-ea"/>
              </a:rPr>
              <a:t>mind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intense</a:t>
            </a:r>
            <a:r>
              <a:rPr lang="en-US" altLang="en-US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强烈的，浓厚的</a:t>
            </a:r>
            <a:endParaRPr lang="en-US" altLang="en-US" sz="3200" b="1" dirty="0"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He</a:t>
            </a:r>
            <a:r>
              <a:rPr lang="en-US" altLang="en-US" sz="3200" b="1" dirty="0">
                <a:solidFill>
                  <a:srgbClr val="FF0000"/>
                </a:solidFill>
              </a:rPr>
              <a:t> took a keen interest in</a:t>
            </a:r>
            <a:r>
              <a:rPr lang="en-US" altLang="en-US" sz="3200" b="1" dirty="0">
                <a:solidFill>
                  <a:schemeClr val="tx1"/>
                </a:solidFill>
              </a:rPr>
              <a:t> skiing.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</a:rPr>
              <a:t>keen </a:t>
            </a:r>
            <a:r>
              <a:rPr lang="en-US" altLang="en-US" sz="3200" b="1" dirty="0">
                <a:solidFill>
                  <a:schemeClr val="tx1"/>
                </a:solidFill>
              </a:rPr>
              <a:t>sense of tradition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en-US" sz="3200" b="1" dirty="0">
                <a:solidFill>
                  <a:schemeClr val="tx1"/>
                </a:solidFill>
              </a:rPr>
              <a:t>I’m _____ _____ ______ the dangers. </a:t>
            </a:r>
            <a:r>
              <a:rPr lang="zh-CN" altLang="en-US" sz="3200" b="1" dirty="0">
                <a:solidFill>
                  <a:schemeClr val="tx1"/>
                </a:solidFill>
              </a:rPr>
              <a:t>深知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58520" y="58318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keenly  aware  of </a:t>
            </a:r>
            <a:endParaRPr lang="en-US" altLang="en-US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86690" y="205105"/>
            <a:ext cx="12004675" cy="599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2F528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I ___ ___ _____ ______ ___ _____ 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有幸与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工作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 a brilliant head of department last year.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A number of young people come to the city to _____ _____ 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寻找发财的机会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He _____ _____  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发财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 by developing oil business when he was young.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try one’s fortune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          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be worth a fortune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  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cost a fortune               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tell one’s fortune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     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7575" y="205105"/>
            <a:ext cx="67367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had the  good   fortune to  work   with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557895" y="1407795"/>
            <a:ext cx="67367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seek   their   fortune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362075" y="2534920"/>
            <a:ext cx="67367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made   a      fortune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180205" y="37699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碰运气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180205" y="43141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值一大笔钱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198620" y="49009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要花一大笔钱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220210" y="54838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给某人算命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2635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altLang="zh-CN" sz="3200" b="1"/>
              <a:t>________ did this job must be rewarded.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________ you need is a good textbook.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There are ten courses available. You can choose ________ course you like.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She will give ________ needs support her help.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This is ________ our problem lies.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He has made the company ________ it is today.</a:t>
            </a:r>
          </a:p>
          <a:p>
            <a:pPr marL="514350" indent="-514350">
              <a:buAutoNum type="arabicPeriod"/>
            </a:pPr>
            <a:r>
              <a:rPr lang="en-US" altLang="en-US" sz="3200" b="1"/>
              <a:t>After eight years of repair, it has been restored to  ______  it originally looked like a century ago.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________ I said, he wouldn't listen to me.</a:t>
            </a:r>
          </a:p>
          <a:p>
            <a:pPr marL="514350" indent="-514350">
              <a:buAutoNum type="arabicPeriod"/>
            </a:pPr>
            <a:r>
              <a:rPr lang="en-US" altLang="zh-CN" sz="3200" b="1"/>
              <a:t>He would believe ________ I said.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33400" y="-92075"/>
            <a:ext cx="18859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Whoever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400" y="448945"/>
            <a:ext cx="18859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What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796655" y="896620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whichever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807335" y="1883410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whoever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913255" y="2369185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where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304790" y="2837815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what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9337675" y="3318510"/>
            <a:ext cx="12630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what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01955" y="4257040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Whatever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567430" y="4797425"/>
            <a:ext cx="2017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whatever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60792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make/keep/stay in (close) contact with…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avoid eye contact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It’s good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come into contact with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people from different cultures.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接触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He _____ ___ _____ _______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maintain these contacts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他竭尽全力维持这些关系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Do not hesitate to ______ ______ if you have any queries.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wear contact lenses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00400" y="29171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contact   me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5165" y="17716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went   to    great  lengths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5585" y="167640"/>
            <a:ext cx="1209484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We decided to give the money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worthwhile cause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smile on her face _____ __ ___ _________ .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让这一切都很值得。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High prices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make it worthwhile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for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buyers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to look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abroad.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It is worthwhile to include/including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 really high-quality illustrations.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worthy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matter is scarcely _______________________.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值得一提</a:t>
            </a:r>
            <a:endParaRPr lang="en-US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trustworthy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worth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Most candidates _______________________.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不值得面试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085590" y="7473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made  it  all  worthwhile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347845" y="30226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worthy of mention/note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235325" y="47313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are not worth interviewing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07815" y="162759"/>
            <a:ext cx="11166763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Bless </a:t>
            </a:r>
            <a:r>
              <a:rPr lang="en-US" altLang="en-US" sz="3200" b="1" dirty="0">
                <a:latin typeface="+mj-lt"/>
              </a:rPr>
              <a:t>you!</a:t>
            </a: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We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are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all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blessed with </a:t>
            </a:r>
            <a:r>
              <a:rPr lang="en-US" altLang="en-US" sz="3200" b="1" dirty="0">
                <a:latin typeface="+mj-lt"/>
              </a:rPr>
              <a:t>good health. </a:t>
            </a:r>
            <a:r>
              <a:rPr lang="zh-CN" altLang="en-US" sz="3200" b="1" dirty="0">
                <a:latin typeface="+mj-lt"/>
              </a:rPr>
              <a:t>享有……是福气</a:t>
            </a:r>
            <a:endParaRPr lang="en-US" altLang="en-US" sz="3200" b="1" dirty="0">
              <a:latin typeface="+mj-lt"/>
            </a:endParaRP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They married with their parents’ ________. </a:t>
            </a:r>
            <a:r>
              <a:rPr lang="zh-CN" altLang="en-US" sz="3200" b="1" dirty="0">
                <a:latin typeface="+mj-lt"/>
              </a:rPr>
              <a:t>赞同，祝福</a:t>
            </a:r>
            <a:endParaRPr lang="en-US" altLang="en-US" sz="3200" b="1" dirty="0">
              <a:latin typeface="+mj-lt"/>
            </a:endParaRPr>
          </a:p>
          <a:p>
            <a:pPr marL="624205" indent="-624205">
              <a:lnSpc>
                <a:spcPct val="120000"/>
              </a:lnSpc>
            </a:pPr>
            <a:endParaRPr lang="en-US" altLang="en-US" sz="3200" b="1" dirty="0">
              <a:latin typeface="+mj-lt"/>
            </a:endParaRP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The dishwasher is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 a real blessing</a:t>
            </a:r>
            <a:r>
              <a:rPr lang="en-US" altLang="en-US" sz="3200" b="1" dirty="0">
                <a:latin typeface="+mj-lt"/>
              </a:rPr>
              <a:t>. </a:t>
            </a:r>
            <a:r>
              <a:rPr lang="zh-CN" altLang="en-US" sz="3200" b="1" dirty="0">
                <a:latin typeface="+mj-lt"/>
              </a:rPr>
              <a:t>好事</a:t>
            </a: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Lack of traffic is one of the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blessings </a:t>
            </a:r>
            <a:r>
              <a:rPr lang="en-US" altLang="en-US" sz="3200" b="1" dirty="0">
                <a:latin typeface="+mj-lt"/>
              </a:rPr>
              <a:t>of country life.</a:t>
            </a: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a blessing in disguise </a:t>
            </a:r>
            <a:r>
              <a:rPr lang="zh-CN" altLang="en-US" sz="3200" b="1" dirty="0">
                <a:latin typeface="+mj-lt"/>
              </a:rPr>
              <a:t>因祸得福</a:t>
            </a:r>
          </a:p>
          <a:p>
            <a:pPr marL="624205" indent="-624205">
              <a:lnSpc>
                <a:spcPct val="120000"/>
              </a:lnSpc>
            </a:pPr>
            <a:endParaRPr lang="zh-CN" altLang="en-US" sz="3200" b="1" dirty="0">
              <a:latin typeface="+mj-lt"/>
            </a:endParaRPr>
          </a:p>
          <a:p>
            <a:pPr marL="624205" indent="-624205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The car misses us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by inches</a:t>
            </a:r>
            <a:r>
              <a:rPr lang="en-US" altLang="zh-CN" sz="3200" b="1" dirty="0">
                <a:latin typeface="+mj-lt"/>
              </a:rPr>
              <a:t>. </a:t>
            </a:r>
            <a:r>
              <a:rPr lang="zh-CN" altLang="en-US" sz="3200" b="1" dirty="0">
                <a:latin typeface="+mj-lt"/>
              </a:rPr>
              <a:t>差点儿</a:t>
            </a: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She moved forward,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inching </a:t>
            </a:r>
            <a:r>
              <a:rPr lang="en-US" altLang="en-US" sz="3200" b="1" dirty="0">
                <a:latin typeface="+mj-lt"/>
              </a:rPr>
              <a:t>towards the rope.</a:t>
            </a:r>
          </a:p>
          <a:p>
            <a:pPr marL="624205" indent="-624205">
              <a:lnSpc>
                <a:spcPct val="120000"/>
              </a:lnSpc>
            </a:pPr>
            <a:r>
              <a:rPr lang="en-US" altLang="en-US" sz="3200" b="1" dirty="0">
                <a:latin typeface="+mj-lt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</a:rPr>
              <a:t>inched his way through</a:t>
            </a:r>
            <a:r>
              <a:rPr lang="en-US" altLang="en-US" sz="3200" b="1" dirty="0">
                <a:latin typeface="+mj-lt"/>
              </a:rPr>
              <a:t> the narrow passage.</a:t>
            </a:r>
            <a:endParaRPr lang="zh-CN" altLang="en-US" sz="3200" b="1" dirty="0">
              <a:latin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96000" y="1268095"/>
            <a:ext cx="19354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blessing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21285" y="0"/>
            <a:ext cx="11879580" cy="3192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treat sb</a:t>
            </a:r>
            <a:r>
              <a:rPr lang="en-US" sz="3200">
                <a:sym typeface="+mn-ea"/>
              </a:rPr>
              <a:t> </a:t>
            </a:r>
            <a:r>
              <a:rPr sz="3200">
                <a:sym typeface="+mn-ea"/>
              </a:rPr>
              <a:t>_____ _______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对人尊敬</a:t>
            </a:r>
            <a:r>
              <a:rPr lang="en-US" altLang="zh-CN" sz="3200">
                <a:sym typeface="+mn-ea"/>
              </a:rPr>
              <a:t>/</a:t>
            </a:r>
            <a:r>
              <a:rPr lang="zh-CN" altLang="en-US" sz="3200">
                <a:sym typeface="+mn-ea"/>
              </a:rPr>
              <a:t>体谅</a:t>
            </a:r>
            <a:r>
              <a:rPr lang="en-US" altLang="zh-CN" sz="3200">
                <a:sym typeface="+mn-ea"/>
              </a:rPr>
              <a:t>/</a:t>
            </a:r>
            <a:r>
              <a:rPr lang="zh-CN" altLang="en-US" sz="3200">
                <a:sym typeface="+mn-ea"/>
              </a:rPr>
              <a:t>怀疑</a:t>
            </a:r>
            <a:endParaRPr sz="3200">
              <a:sym typeface="+mn-ea"/>
            </a:endParaRP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treat me _______ a child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像孩子</a:t>
            </a:r>
            <a:endParaRPr sz="3200">
              <a:sym typeface="+mn-ea"/>
            </a:endParaRP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treat him _______ a hero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当成英雄</a:t>
            </a: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She was treated _______ </a:t>
            </a:r>
            <a:r>
              <a:rPr lang="en-US" sz="3200">
                <a:sym typeface="+mn-ea"/>
              </a:rPr>
              <a:t>drugs </a:t>
            </a:r>
            <a:r>
              <a:rPr sz="3200">
                <a:sym typeface="+mn-ea"/>
              </a:rPr>
              <a:t>_______ sunstroke.</a:t>
            </a:r>
            <a:r>
              <a:rPr lang="en-US" sz="3200">
                <a:sym typeface="+mn-ea"/>
              </a:rPr>
              <a:t> </a:t>
            </a:r>
            <a:endParaRPr sz="3200">
              <a:sym typeface="+mn-ea"/>
            </a:endParaRP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treat him ______ lunch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招待某人某事</a:t>
            </a:r>
            <a:endParaRPr sz="3200">
              <a:sym typeface="+mn-ea"/>
            </a:endParaRP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a ________ infection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能治疗的</a:t>
            </a:r>
            <a:endParaRPr sz="3200">
              <a:sym typeface="+mn-ea"/>
            </a:endParaRPr>
          </a:p>
          <a:p>
            <a:pPr algn="l">
              <a:lnSpc>
                <a:spcPct val="9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receive ________ </a:t>
            </a:r>
            <a:r>
              <a:rPr lang="en-US" sz="3200">
                <a:sym typeface="+mn-ea"/>
              </a:rPr>
              <a:t>______ </a:t>
            </a:r>
            <a:r>
              <a:rPr sz="3200">
                <a:sym typeface="+mn-ea"/>
              </a:rPr>
              <a:t>sunstroke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治疗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600835" y="-1371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with    respect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748270" y="-1028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consideration/suspicion</a:t>
            </a:r>
            <a:endParaRPr lang="zh-CN" altLang="en-US" sz="3200" b="1" dirty="0">
              <a:solidFill>
                <a:srgbClr val="FF0000"/>
              </a:solidFill>
              <a:latin typeface="+mj-lt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004695" y="353060"/>
            <a:ext cx="1074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like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131695" y="757555"/>
            <a:ext cx="1074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206115" y="1186815"/>
            <a:ext cx="45427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with                   for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004695" y="1652270"/>
            <a:ext cx="45427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to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97510" y="2091055"/>
            <a:ext cx="45427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treatable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600835" y="2512060"/>
            <a:ext cx="45427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treatment  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latin typeface="+mj-lt"/>
                <a:sym typeface="+mn-ea"/>
              </a:rPr>
              <a:t>They saw the huge building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outlined against the sky</a:t>
            </a:r>
            <a:r>
              <a:rPr lang="en-US" altLang="en-US" sz="3200" b="1" dirty="0">
                <a:latin typeface="+mj-lt"/>
                <a:sym typeface="+mn-ea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zh-CN" altLang="en-US" sz="3200" b="1" dirty="0">
                <a:latin typeface="+mj-lt"/>
                <a:sym typeface="+mn-ea"/>
              </a:rPr>
              <a:t>在……映衬下显示……的轮廓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We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outlined 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our proposals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to 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the committee. </a:t>
            </a:r>
          </a:p>
          <a:p>
            <a:pPr indent="-4432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概述，略述</a:t>
            </a:r>
            <a:r>
              <a:rPr lang="en-US" altLang="zh-CN" sz="3200" b="1" dirty="0">
                <a:solidFill>
                  <a:schemeClr val="tx1"/>
                </a:solidFill>
                <a:latin typeface="+mj-lt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  <a:sym typeface="+mn-ea"/>
              </a:rPr>
              <a:t>outline </a:t>
            </a:r>
            <a:r>
              <a:rPr lang="en-US" altLang="zh-CN" sz="3200" b="1" dirty="0" err="1">
                <a:solidFill>
                  <a:srgbClr val="FF0000"/>
                </a:solidFill>
                <a:latin typeface="+mj-lt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  <a:sym typeface="+mn-ea"/>
              </a:rPr>
              <a:t> to sb</a:t>
            </a:r>
          </a:p>
          <a:p>
            <a:pPr indent="-443230" fontAlgn="auto"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This is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 brief outline of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…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He presented his idea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in outline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at the meeting.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扼要地，简略地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release/relieve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________ a prisoner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He was ________ ________ the hospital yesterday.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Police have ________ details about the accident.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_______ employers ________ their obligations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_______ stress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A secretary was hired to _______ her ______ some of her work.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We all ________ ____ _____ ____ _____ when he left.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如释重负地松了口气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relieved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relief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44780" y="5314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release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63040" y="11271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released     from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53285" y="17227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released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44780" y="23622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release                        from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44780" y="2914015"/>
            <a:ext cx="18275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relieve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413250" y="3495675"/>
            <a:ext cx="3495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relieve              of 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268730" y="4069715"/>
            <a:ext cx="60966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breathed     a     sigh    of     relief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/>
          <p:cNvSpPr txBox="1"/>
          <p:nvPr/>
        </p:nvSpPr>
        <p:spPr>
          <a:xfrm>
            <a:off x="173990" y="3308985"/>
            <a:ext cx="21939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suspected 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02130" y="3886200"/>
            <a:ext cx="21939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suspect 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427990" y="4484370"/>
            <a:ext cx="45091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suspect/suspicious 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8011795" y="62318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suspiciously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5501005" y="56362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report  anything  suspicious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0" y="-167640"/>
            <a:ext cx="12192000" cy="717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I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suspect 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the Korean skater violated the racing rules.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= I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 have a (strong) suspicion that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the Korean skater violated...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= The Korean skater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is suspected of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violating… 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suspect sb to be/of (doing) sth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latin typeface="+mj-lt"/>
                <a:sym typeface="+mn-ea"/>
              </a:rPr>
              <a:t>He is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under suspicion</a:t>
            </a:r>
            <a:r>
              <a:rPr lang="en-US" altLang="en-US" sz="3200" b="1" dirty="0">
                <a:latin typeface="+mj-lt"/>
                <a:sym typeface="+mn-ea"/>
              </a:rPr>
              <a:t>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I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am suspicious of 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his motives.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__________ terrorists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被怀疑从事恐怖主义活动的人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a murder ________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杀人嫌疑犯</a:t>
            </a:r>
            <a:r>
              <a:rPr lang="en-US" altLang="zh-CN" sz="3200" b="1" dirty="0">
                <a:solidFill>
                  <a:schemeClr val="tx1"/>
                </a:solidFill>
                <a:latin typeface="+mj-lt"/>
                <a:sym typeface="+mn-ea"/>
              </a:rPr>
              <a:t> n.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a _________________ package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可疑包裹</a:t>
            </a:r>
          </a:p>
          <a:p>
            <a:pPr indent="-443230" fontAlgn="auto">
              <a:lnSpc>
                <a:spcPct val="120000"/>
              </a:lnSpc>
            </a:pPr>
            <a:r>
              <a:rPr lang="zh-CN" altLang="en-US" sz="3200" b="1" dirty="0">
                <a:latin typeface="+mj-lt"/>
                <a:sym typeface="+mn-ea"/>
              </a:rPr>
              <a:t>警方要求人们报告任何可疑情况</a:t>
            </a:r>
            <a:r>
              <a:rPr lang="en-US" altLang="zh-CN" sz="3200" b="1" dirty="0">
                <a:latin typeface="+mj-lt"/>
                <a:sym typeface="+mn-ea"/>
              </a:rPr>
              <a:t>。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The police are asking people to ______ _________ ________.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“What do you want me to do?” Adams asked ___________.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He was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arrested/under arrest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on ________ of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 murder.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因涉嫌……</a:t>
            </a:r>
            <a:endParaRPr lang="en-US" altLang="en-US" sz="3200" b="1" dirty="0">
              <a:solidFill>
                <a:schemeClr val="tx1"/>
              </a:solidFill>
              <a:latin typeface="+mj-lt"/>
              <a:sym typeface="+mn-ea"/>
            </a:endParaRP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He was arrested ______ murder.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The work of an architect of genius always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arrests the attention 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no matter how little remains.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The spread of the disease can be </a:t>
            </a: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arrested</a:t>
            </a:r>
            <a:r>
              <a:rPr lang="en-US" altLang="en-US" sz="3200" b="1" dirty="0">
                <a:solidFill>
                  <a:schemeClr val="tx1"/>
                </a:solidFill>
                <a:latin typeface="+mj-lt"/>
                <a:sym typeface="+mn-ea"/>
              </a:rPr>
              <a:t>.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arrest n.</a:t>
            </a:r>
          </a:p>
          <a:p>
            <a:pPr marL="1621155" indent="-162115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International cooperation led to the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arrest </a:t>
            </a:r>
            <a:r>
              <a:rPr lang="en-US" altLang="zh-CN" sz="3200" b="1" dirty="0">
                <a:sym typeface="+mn-ea"/>
              </a:rPr>
              <a:t>of three suspects.</a:t>
            </a:r>
          </a:p>
          <a:p>
            <a:pPr marL="1621155" indent="-1621155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arrest</a:t>
            </a:r>
            <a:r>
              <a:rPr lang="en-US" altLang="zh-CN" sz="3200" b="1" dirty="0">
                <a:sym typeface="+mn-ea"/>
              </a:rPr>
              <a:t> of the floodwaters saved many homes.</a:t>
            </a:r>
            <a:endParaRPr lang="en-US" altLang="zh-CN" sz="3200" b="1" dirty="0"/>
          </a:p>
          <a:p>
            <a:pPr indent="-4432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criminal offences / behaviour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刑事犯罪</a:t>
            </a:r>
            <a:r>
              <a:rPr lang="en-US" altLang="zh-CN" sz="3200" b="1" dirty="0">
                <a:solidFill>
                  <a:schemeClr val="tx1"/>
                </a:solidFill>
                <a:latin typeface="+mj-lt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行为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+mj-lt"/>
                <a:sym typeface="+mn-ea"/>
              </a:rPr>
              <a:t>criminal law </a:t>
            </a:r>
            <a:r>
              <a:rPr lang="zh-CN" altLang="en-US" sz="3200" b="1" dirty="0">
                <a:solidFill>
                  <a:schemeClr val="tx1"/>
                </a:solidFill>
                <a:latin typeface="+mj-lt"/>
                <a:sym typeface="+mn-ea"/>
              </a:rPr>
              <a:t>刑法</a:t>
            </a:r>
          </a:p>
          <a:p>
            <a:pPr indent="-4432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sym typeface="+mn-ea"/>
              </a:rPr>
              <a:t>sentence a criminal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772150" y="0"/>
            <a:ext cx="23145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suspicion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149600" y="580390"/>
            <a:ext cx="9353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for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010910" y="580390"/>
            <a:ext cx="35420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+mj-lt"/>
                <a:sym typeface="+mn-ea"/>
              </a:rPr>
              <a:t>for doing sth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522210" y="2322195"/>
            <a:ext cx="354203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+mj-lt"/>
                <a:sym typeface="+mn-ea"/>
              </a:rPr>
              <a:t>stop a process </a:t>
            </a:r>
            <a:r>
              <a:rPr lang="zh-CN" altLang="en-US" sz="3200" b="1" i="1" dirty="0">
                <a:solidFill>
                  <a:srgbClr val="0000FF"/>
                </a:solidFill>
                <a:latin typeface="+mj-lt"/>
                <a:sym typeface="+mn-ea"/>
              </a:rPr>
              <a:t>阻止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52400" y="161764"/>
            <a:ext cx="11166763" cy="245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She piled the papers on her desk, just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+mj-lt"/>
                <a:cs typeface="Times New Roman" panose="02020503050405090304" charset="0"/>
              </a:rPr>
              <a:t>anyhow</a:t>
            </a: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. </a:t>
            </a:r>
            <a:r>
              <a:rPr lang="zh-CN" altLang="en-US" sz="3200" b="1" dirty="0">
                <a:effectLst/>
                <a:latin typeface="+mj-lt"/>
                <a:cs typeface="Times New Roman" panose="02020503050405090304" charset="0"/>
              </a:rPr>
              <a:t>随便地</a:t>
            </a:r>
            <a:endParaRPr lang="en-US" altLang="en-US" sz="3200" b="1" dirty="0">
              <a:effectLst/>
              <a:latin typeface="+mj-lt"/>
              <a:cs typeface="Times New Roman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I don’t know why he cleaned the podium before standing on it, but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+mj-lt"/>
                <a:cs typeface="Times New Roman" panose="02020503050405090304" charset="0"/>
              </a:rPr>
              <a:t>anyway/anyhow</a:t>
            </a: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 he did.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You don’t need to panic. It’s too late now, </a:t>
            </a:r>
            <a:r>
              <a:rPr lang="en-US" altLang="en-US" sz="3200" b="1" dirty="0">
                <a:solidFill>
                  <a:srgbClr val="FF0000"/>
                </a:solidFill>
                <a:effectLst/>
                <a:latin typeface="+mj-lt"/>
                <a:cs typeface="Times New Roman" panose="02020503050405090304" charset="0"/>
              </a:rPr>
              <a:t>anyway/anyhow</a:t>
            </a:r>
            <a:r>
              <a:rPr lang="en-US" altLang="en-US" sz="3200" b="1" dirty="0">
                <a:effectLst/>
                <a:latin typeface="+mj-lt"/>
                <a:cs typeface="Times New Roman" panose="02020503050405090304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0"/>
            <a:ext cx="12191365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>
                <a:solidFill>
                  <a:srgbClr val="000000"/>
                </a:solidFill>
              </a:rPr>
              <a:t>She </a:t>
            </a:r>
            <a:r>
              <a:rPr lang="en-US" altLang="zh-CN" sz="3200" b="1">
                <a:solidFill>
                  <a:srgbClr val="FF0000"/>
                </a:solidFill>
              </a:rPr>
              <a:t>was found innocent of</a:t>
            </a:r>
            <a:r>
              <a:rPr lang="en-US" altLang="zh-CN" sz="3200" b="1">
                <a:solidFill>
                  <a:srgbClr val="0000FF"/>
                </a:solidFill>
              </a:rPr>
              <a:t> </a:t>
            </a:r>
            <a:r>
              <a:rPr lang="en-US" altLang="zh-CN" sz="3200" b="1">
                <a:solidFill>
                  <a:srgbClr val="000000"/>
                </a:solidFill>
              </a:rPr>
              <a:t>any crime. </a:t>
            </a:r>
            <a:r>
              <a:rPr lang="zh-CN" altLang="en-US" sz="3200" b="1">
                <a:solidFill>
                  <a:srgbClr val="000000"/>
                </a:solidFill>
              </a:rPr>
              <a:t>被认为无罪</a:t>
            </a:r>
            <a:r>
              <a:rPr lang="en-US" altLang="zh-CN" sz="3200" b="1">
                <a:solidFill>
                  <a:srgbClr val="FB0207"/>
                </a:solidFill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(not guilty)</a:t>
            </a:r>
            <a:endParaRPr lang="en-US" altLang="zh-CN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</a:rPr>
              <a:t>innocence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3200" b="1">
              <a:solidFill>
                <a:srgbClr val="FB0207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hesitate over/about… </a:t>
            </a:r>
            <a:r>
              <a:rPr lang="zh-CN" altLang="en-US" sz="3200" b="1">
                <a:solidFill>
                  <a:schemeClr val="tx1"/>
                </a:solidFill>
              </a:rPr>
              <a:t>对某事犹豫</a:t>
            </a:r>
            <a:endParaRPr lang="en-US" altLang="zh-CN" sz="3200" b="1">
              <a:solidFill>
                <a:schemeClr val="tx1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</a:rPr>
              <a:t>without (the slightest) hesitation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  <a:sym typeface="+mn-ea"/>
              </a:rPr>
              <a:t>be hesitant about sth / to do sth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3200" b="1">
              <a:solidFill>
                <a:srgbClr val="FB0207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against my principles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I do not allow plagiarism </a:t>
            </a:r>
            <a:r>
              <a:rPr lang="en-US" altLang="zh-CN" sz="3200" b="1">
                <a:solidFill>
                  <a:srgbClr val="FF0000"/>
                </a:solidFill>
              </a:rPr>
              <a:t>on principle</a:t>
            </a:r>
            <a:r>
              <a:rPr lang="en-US" altLang="zh-CN" sz="3200" b="1">
                <a:solidFill>
                  <a:srgbClr val="000000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the </a:t>
            </a:r>
            <a:r>
              <a:rPr lang="en-US" altLang="en-US" sz="3200" b="1">
                <a:solidFill>
                  <a:srgbClr val="FF0000"/>
                </a:solidFill>
              </a:rPr>
              <a:t>principles </a:t>
            </a:r>
            <a:r>
              <a:rPr lang="en-US" altLang="en-US" sz="3200" b="1">
                <a:solidFill>
                  <a:srgbClr val="000000"/>
                </a:solidFill>
              </a:rPr>
              <a:t>and practice of writing reports</a:t>
            </a:r>
          </a:p>
          <a:p>
            <a:r>
              <a:rPr lang="en-US" altLang="zh-CN" sz="3200" b="1">
                <a:solidFill>
                  <a:srgbClr val="FF0000"/>
                </a:solidFill>
              </a:rPr>
              <a:t>In principle,</a:t>
            </a:r>
            <a:r>
              <a:rPr lang="en-US" altLang="zh-CN" sz="3200" b="1">
                <a:solidFill>
                  <a:srgbClr val="000000"/>
                </a:solidFill>
              </a:rPr>
              <a:t> machines might be able to replace humans one day.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</a:rPr>
              <a:t>a decent meal/job/dress/night’s sleep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980805" y="4667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B0207"/>
                </a:solidFill>
                <a:sym typeface="+mn-ea"/>
              </a:rPr>
              <a:t>guilt</a:t>
            </a:r>
            <a:endParaRPr lang="en-US" altLang="zh-CN" sz="3200" b="1" dirty="0">
              <a:solidFill>
                <a:srgbClr val="FB0207"/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2148</Words>
  <Application>Microsoft Macintosh PowerPoint</Application>
  <PresentationFormat>Widescreen</PresentationFormat>
  <Paragraphs>295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309</cp:revision>
  <dcterms:created xsi:type="dcterms:W3CDTF">2025-05-07T01:51:40Z</dcterms:created>
  <dcterms:modified xsi:type="dcterms:W3CDTF">2026-07-23T01:19:23Z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2CDDDA92181B26ADCEB10068F3D4F0DB_42</vt:lpwstr>
  </property>
  <property fmtid="{D5CDD505-2E9C-101B-9397-08002B2CF9AE}" pid="3" name="KSOProductBuildVer">
    <vt:lpwstr>1033-7.3.1.8967</vt:lpwstr>
  </property>
</Properties>
</file>