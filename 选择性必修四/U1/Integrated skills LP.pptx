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55" r:id="rId2"/>
    <p:sldId id="548" r:id="rId3"/>
    <p:sldId id="55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472C4"/>
    <a:srgbClr val="5FC73E"/>
    <a:srgbClr val="9127E5"/>
    <a:srgbClr val="FFFFFF"/>
    <a:srgbClr val="E9EBF5"/>
    <a:srgbClr val="CFD5EA"/>
    <a:srgbClr val="0A74F9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0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鞠躬</a:t>
            </a:r>
          </a:p>
          <a:p>
            <a:r>
              <a:rPr lang="en-US" altLang="zh-CN"/>
              <a:t>take a bow </a:t>
            </a:r>
            <a:r>
              <a:rPr lang="zh-CN" altLang="en-US"/>
              <a:t>谢幕，鞠躬答谢</a:t>
            </a:r>
          </a:p>
          <a:p>
            <a:r>
              <a:rPr lang="zh-CN" altLang="en-US"/>
              <a:t>点头</a:t>
            </a:r>
          </a:p>
          <a:p>
            <a:r>
              <a:rPr lang="en-US"/>
              <a:t>bend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装作</a:t>
            </a:r>
          </a:p>
          <a:p>
            <a:r>
              <a:rPr lang="en-US" altLang="zh-CN"/>
              <a:t>adopt a more casual tone of voice</a:t>
            </a:r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olidFill>
                  <a:srgbClr val="FF0000"/>
                </a:solidFill>
                <a:sym typeface="+mn-ea"/>
              </a:rPr>
              <a:t>bow v. /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baʊ</a:t>
            </a:r>
            <a:r>
              <a:rPr lang="en-US" sz="3200">
                <a:solidFill>
                  <a:srgbClr val="FF0000"/>
                </a:solidFill>
                <a:sym typeface="+mn-ea"/>
              </a:rPr>
              <a:t>/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olidFill>
                  <a:schemeClr val="tx1"/>
                </a:solidFill>
                <a:sym typeface="+mn-ea"/>
              </a:rPr>
              <a:t>He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bowed 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slightly before taking her bag.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ym typeface="+mn-ea"/>
              </a:rPr>
              <a:t>They ran to the center of the stage to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take their bows</a:t>
            </a:r>
            <a:r>
              <a:rPr lang="en-US" altLang="en-US" sz="3200">
                <a:sym typeface="+mn-ea"/>
              </a:rPr>
              <a:t>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The prisoner </a:t>
            </a:r>
            <a:r>
              <a:rPr lang="en-US" sz="3200">
                <a:sym typeface="+mn-ea"/>
              </a:rPr>
              <a:t>____ ____ _____ _____ ______</a:t>
            </a:r>
            <a:r>
              <a:rPr sz="3200">
                <a:sym typeface="+mn-ea"/>
              </a:rPr>
              <a:t>.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羞愧地低下了他的头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ym typeface="+mn-ea"/>
              </a:rPr>
              <a:t>The trees </a:t>
            </a:r>
            <a:r>
              <a:rPr lang="en-US" sz="3200">
                <a:solidFill>
                  <a:srgbClr val="FF0000"/>
                </a:solidFill>
                <a:sym typeface="+mn-ea"/>
              </a:rPr>
              <a:t>bowed </a:t>
            </a:r>
            <a:r>
              <a:rPr lang="en-US" sz="3200">
                <a:sym typeface="+mn-ea"/>
              </a:rPr>
              <a:t>in the wind.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国会也许会</a:t>
            </a:r>
            <a:r>
              <a:rPr sz="3200" u="sng">
                <a:sym typeface="+mn-ea"/>
              </a:rPr>
              <a:t>屈服于</a:t>
            </a:r>
            <a:r>
              <a:rPr sz="3200">
                <a:sym typeface="+mn-ea"/>
              </a:rPr>
              <a:t>公众压力，解除武器禁运。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Congress may _____ _____ public _______ and </a:t>
            </a:r>
            <a:r>
              <a:rPr lang="en-US" sz="3200">
                <a:sym typeface="+mn-ea"/>
              </a:rPr>
              <a:t>lift the arms </a:t>
            </a:r>
            <a:r>
              <a:rPr sz="3200">
                <a:sym typeface="+mn-ea"/>
              </a:rPr>
              <a:t>embargo.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sz="3200">
                <a:solidFill>
                  <a:srgbClr val="FF0000"/>
                </a:solidFill>
              </a:rPr>
              <a:t>bow n. /</a:t>
            </a:r>
            <a:r>
              <a:rPr lang="en-US" altLang="en-US" sz="3200">
                <a:solidFill>
                  <a:srgbClr val="FF0000"/>
                </a:solidFill>
              </a:rPr>
              <a:t>bəʊ</a:t>
            </a:r>
            <a:r>
              <a:rPr lang="en-US" sz="3200">
                <a:solidFill>
                  <a:srgbClr val="FF0000"/>
                </a:solidFill>
              </a:rPr>
              <a:t>/</a:t>
            </a:r>
            <a:br>
              <a:rPr sz="3200"/>
            </a:br>
            <a:r>
              <a:rPr sz="3200">
                <a:sym typeface="+mn-ea"/>
              </a:rPr>
              <a:t>他佩带着弓箭。He was armed with </a:t>
            </a:r>
            <a:r>
              <a:rPr sz="3200">
                <a:solidFill>
                  <a:srgbClr val="FF0000"/>
                </a:solidFill>
                <a:sym typeface="+mn-ea"/>
              </a:rPr>
              <a:t>a bow and arrow</a:t>
            </a:r>
            <a:r>
              <a:rPr sz="3200">
                <a:sym typeface="+mn-ea"/>
              </a:rPr>
              <a:t>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tie your shoelaces</a:t>
            </a:r>
            <a:r>
              <a:rPr sz="3200">
                <a:solidFill>
                  <a:srgbClr val="FF0000"/>
                </a:solidFill>
                <a:sym typeface="+mn-ea"/>
              </a:rPr>
              <a:t> in a bow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334895" y="14071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bowed his head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  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in 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  </a:t>
            </a: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shame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644775" y="2828290"/>
            <a:ext cx="54844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bow</a:t>
            </a:r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   to                    stress              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pic>
        <p:nvPicPr>
          <p:cNvPr id="283" name="pasted-image.jpg" descr="pasted-image.jpg"/>
          <p:cNvPicPr>
            <a:picLocks noChangeAspect="1"/>
          </p:cNvPicPr>
          <p:nvPr/>
        </p:nvPicPr>
        <p:blipFill>
          <a:blip r:embed="rId3"/>
          <a:srcRect t="15759"/>
          <a:stretch>
            <a:fillRect/>
          </a:stretch>
        </p:blipFill>
        <p:spPr>
          <a:xfrm>
            <a:off x="8990330" y="2089150"/>
            <a:ext cx="3046730" cy="456438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283" grpId="3" bldLvl="0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19491" y="399391"/>
            <a:ext cx="11637819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ym typeface="+mn-ea"/>
              </a:rPr>
              <a:t>He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pretended to </a:t>
            </a:r>
            <a:r>
              <a:rPr lang="en-US" altLang="en-US" sz="3200">
                <a:sym typeface="+mn-ea"/>
              </a:rPr>
              <a:t>his family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(that) </a:t>
            </a:r>
            <a:r>
              <a:rPr lang="en-US" altLang="en-US" sz="3200">
                <a:sym typeface="+mn-ea"/>
              </a:rPr>
              <a:t>everything was fine.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He ______ ____ ____ notice.</a:t>
            </a:r>
            <a:r>
              <a:rPr 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他假装不在意</a:t>
            </a:r>
            <a:endParaRPr sz="3200"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solidFill>
                  <a:srgbClr val="0433FF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>
                <a:solidFill>
                  <a:schemeClr val="tx1"/>
                </a:solidFill>
                <a:sym typeface="+mn-ea"/>
              </a:rPr>
              <a:t>She </a:t>
            </a:r>
            <a:r>
              <a:rPr lang="en-US" altLang="en-US" sz="3200">
                <a:solidFill>
                  <a:srgbClr val="FF0000"/>
                </a:solidFill>
                <a:sym typeface="+mn-ea"/>
              </a:rPr>
              <a:t>pretended an interest </a:t>
            </a:r>
            <a:r>
              <a:rPr lang="en-US" altLang="en-US" sz="3200">
                <a:solidFill>
                  <a:schemeClr val="tx1"/>
                </a:solidFill>
                <a:sym typeface="+mn-ea"/>
              </a:rPr>
              <a:t>she did not feel. </a:t>
            </a:r>
            <a:r>
              <a:rPr lang="en-US" altLang="en-US" sz="3200" i="1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(formal)</a:t>
            </a:r>
            <a:endParaRPr lang="en-US" altLang="en-US" sz="320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sz="3200">
                <a:sym typeface="+mn-ea"/>
              </a:rPr>
              <a:t>I can't </a:t>
            </a:r>
            <a:r>
              <a:rPr sz="3200">
                <a:solidFill>
                  <a:srgbClr val="FF0000"/>
                </a:solidFill>
                <a:sym typeface="+mn-ea"/>
              </a:rPr>
              <a:t>pretend to </a:t>
            </a:r>
            <a:r>
              <a:rPr sz="3200">
                <a:sym typeface="+mn-ea"/>
              </a:rPr>
              <a:t>any great musical talent. 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sz="3200">
                <a:sym typeface="+mn-ea"/>
              </a:rPr>
              <a:t>自称，自认为</a:t>
            </a:r>
            <a:r>
              <a:rPr lang="en-US" altLang="zh-CN" sz="3200">
                <a:sym typeface="+mn-ea"/>
              </a:rPr>
              <a:t> </a:t>
            </a:r>
            <a:r>
              <a:rPr sz="3200">
                <a:solidFill>
                  <a:srgbClr val="FF0000"/>
                </a:solidFill>
                <a:sym typeface="+mn-ea"/>
              </a:rPr>
              <a:t>I can’t pretend that…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book doesn't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pretend to be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 great work of literature.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这本书并未自封为文学杰作。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don't think she was hurt. She was just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putting it on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assumed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an air of concern.</a:t>
            </a:r>
          </a:p>
          <a:p>
            <a:pPr algn="l">
              <a:lnSpc>
                <a:spcPct val="100000"/>
              </a:lnSpc>
              <a:defRPr sz="3900" b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Rob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faked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suspicion.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838200" y="7766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pretended  not  to 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9491" y="1246909"/>
            <a:ext cx="11291454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Several young men pretended ________________ (be) policemen, but were caught at last.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pretended __________________ (type) when the boss came in.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pretended ______________ he didn’t mind, but I knew that he did.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76655" y="1828799"/>
            <a:ext cx="114165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be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28656" y="2964282"/>
            <a:ext cx="2359941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be typing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66967" y="4204232"/>
            <a:ext cx="99257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3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Macintosh PowerPoint</Application>
  <PresentationFormat>Widescreen</PresentationFormat>
  <Paragraphs>36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Times New Roman Bold</vt:lpstr>
      <vt:lpstr>Times New Roman Bold Italic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285</cp:revision>
  <dcterms:created xsi:type="dcterms:W3CDTF">2025-05-08T02:31:13Z</dcterms:created>
  <dcterms:modified xsi:type="dcterms:W3CDTF">2026-07-23T01:20:03Z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B0399578D39042E22FC01A68A28A6042_42</vt:lpwstr>
  </property>
  <property fmtid="{D5CDD505-2E9C-101B-9397-08002B2CF9AE}" pid="3" name="KSOProductBuildVer">
    <vt:lpwstr>1033-7.3.1.8967</vt:lpwstr>
  </property>
</Properties>
</file>