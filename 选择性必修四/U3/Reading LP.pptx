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sldIdLst>
    <p:sldId id="256" r:id="rId3"/>
    <p:sldId id="492" r:id="rId4"/>
    <p:sldId id="489" r:id="rId6"/>
    <p:sldId id="491" r:id="rId7"/>
    <p:sldId id="534" r:id="rId8"/>
    <p:sldId id="541" r:id="rId9"/>
    <p:sldId id="467" r:id="rId10"/>
    <p:sldId id="469" r:id="rId11"/>
    <p:sldId id="543" r:id="rId12"/>
    <p:sldId id="555" r:id="rId13"/>
    <p:sldId id="479" r:id="rId14"/>
    <p:sldId id="480" r:id="rId15"/>
    <p:sldId id="440" r:id="rId16"/>
    <p:sldId id="501" r:id="rId17"/>
    <p:sldId id="556" r:id="rId18"/>
    <p:sldId id="517" r:id="rId19"/>
    <p:sldId id="521" r:id="rId20"/>
    <p:sldId id="519" r:id="rId21"/>
  </p:sldIdLst>
  <p:sldSz cx="12192000" cy="6858000"/>
  <p:notesSz cx="6858000" cy="9144000"/>
  <p:embeddedFontLst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罗 洪权" initials="罗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A74F9"/>
    <a:srgbClr val="C4DF92"/>
    <a:srgbClr val="FFF066"/>
    <a:srgbClr val="CFD5EA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66" d="100"/>
          <a:sy n="66" d="100"/>
        </p:scale>
        <p:origin x="78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那部纪录片引起了许多人的反感，片中描写到其生活的工人尤其如此。</a:t>
            </a:r>
            <a:endParaRPr lang="zh-CN" altLang="en-US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尤其</a:t>
            </a:r>
            <a:r>
              <a:rPr lang="zh-CN" altLang="en-US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不是……</a:t>
            </a:r>
            <a:endParaRPr lang="zh-CN" altLang="en-US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一点也不，丝毫不</a:t>
            </a:r>
            <a:endParaRPr lang="zh-CN" altLang="en-US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722630" indent="-722630">
              <a:lnSpc>
                <a:spcPct val="120000"/>
              </a:lnSpc>
            </a:pPr>
            <a:r>
              <a:rPr lang="zh-CN" altLang="en-US" b="1" dirty="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他在书房里潜心研究一些旧材料。</a:t>
            </a:r>
            <a:endParaRPr lang="zh-CN" altLang="en-US" b="1" dirty="0"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  <a:sym typeface="+mn-ea"/>
            </a:endParaRPr>
          </a:p>
          <a:p>
            <a:pPr marL="722630" indent="-722630">
              <a:lnSpc>
                <a:spcPct val="120000"/>
              </a:lnSpc>
            </a:pPr>
            <a:r>
              <a:rPr lang="zh-CN" altLang="en-US" b="1" dirty="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他们为洗刷儿子的罪名努力争取了许多年。</a:t>
            </a:r>
            <a:endParaRPr lang="zh-CN" altLang="en-US" b="1" dirty="0"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  <a:sym typeface="+mn-ea"/>
            </a:endParaRPr>
          </a:p>
          <a:p>
            <a:pPr marL="722630" indent="-722630">
              <a:lnSpc>
                <a:spcPct val="120000"/>
              </a:lnSpc>
            </a:pPr>
            <a:r>
              <a:rPr lang="zh-CN" altLang="en-US" b="1" dirty="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我们在田地里辛勤劳动了一整天。</a:t>
            </a:r>
            <a:endParaRPr lang="zh-CN" altLang="en-US" b="1" dirty="0"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  <a:sym typeface="+mn-ea"/>
            </a:endParaRPr>
          </a:p>
          <a:p>
            <a:pPr marL="722630" indent="-722630">
              <a:lnSpc>
                <a:spcPct val="120000"/>
              </a:lnSpc>
            </a:pPr>
            <a:r>
              <a:rPr lang="zh-CN" altLang="en-US" b="1" dirty="0">
                <a:latin typeface="Times New Roman Regular" panose="02020503050405090304" charset="0"/>
                <a:ea typeface="宋体" pitchFamily="2" charset="-122"/>
                <a:cs typeface="Times New Roman Regular" panose="02020503050405090304" charset="0"/>
                <a:sym typeface="+mn-ea"/>
              </a:rPr>
              <a:t>工人阶级</a:t>
            </a:r>
            <a:endParaRPr lang="zh-CN" altLang="en-US" b="1" dirty="0"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  <a:p>
            <a:pPr marL="722630" indent="-722630">
              <a:lnSpc>
                <a:spcPct val="120000"/>
              </a:lnSpc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lnSpc>
                <a:spcPct val="120000"/>
              </a:lnSpc>
            </a:pPr>
            <a:r>
              <a:rPr lang="en-US" altLang="zh-CN" b="1" dirty="0" smtClean="0">
                <a:solidFill>
                  <a:srgbClr val="FF0000"/>
                </a:solidFill>
                <a:sym typeface="+mn-ea"/>
              </a:rPr>
              <a:t>His 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honesty earned him respect.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900430" indent="-900430">
              <a:lnSpc>
                <a:spcPct val="120000"/>
              </a:lnSpc>
            </a:pPr>
            <a:r>
              <a:rPr lang="zh-CN" altLang="en-US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这</a:t>
            </a:r>
            <a:r>
              <a:rPr lang="zh-CN" altLang="en-US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位教授虽然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已达</a:t>
            </a:r>
            <a:r>
              <a:rPr lang="zh-CN" altLang="en-US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九十三岁高龄，但思维仍然敏捷。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这里对细节有很多关注</a:t>
            </a:r>
            <a:r>
              <a:rPr lang="en-US" altLang="en-US"/>
              <a:t> - </a:t>
            </a:r>
            <a:r>
              <a:rPr lang="zh-CN" altLang="en-US"/>
              <a:t>在人们所做的所有艺术和创造性的努力中。</a:t>
            </a:r>
            <a:r>
              <a:rPr lang="en-US" altLang="zh-CN"/>
              <a:t>everything new that people tried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keen</a:t>
            </a:r>
            <a:endParaRPr lang="en-US"/>
          </a:p>
          <a:p>
            <a:r>
              <a:rPr lang="zh-CN" altLang="en-US"/>
              <a:t>吸引</a:t>
            </a:r>
            <a:r>
              <a:rPr lang="zh-CN" altLang="en-US"/>
              <a:t>人的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anticipate problems/ difficulties/changes</a:t>
            </a:r>
            <a:r>
              <a:rPr lang="zh-CN" altLang="en-US"/>
              <a:t>预料到问题</a:t>
            </a:r>
            <a:endParaRPr lang="zh-CN" altLang="en-US"/>
          </a:p>
          <a:p>
            <a:r>
              <a:rPr lang="zh-CN" altLang="en-US"/>
              <a:t>产生，</a:t>
            </a:r>
            <a:r>
              <a:rPr lang="zh-CN" altLang="en-US"/>
              <a:t>防患于未然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更胜一筹</a:t>
            </a:r>
            <a:endParaRPr lang="zh-CN" altLang="en-US"/>
          </a:p>
          <a:p>
            <a:r>
              <a:rPr lang="en-US" altLang="zh-CN"/>
              <a:t>arrogant </a:t>
            </a:r>
            <a:r>
              <a:rPr lang="zh-CN" altLang="en-US"/>
              <a:t>有优越感的，</a:t>
            </a:r>
            <a:r>
              <a:rPr lang="zh-CN" altLang="en-US"/>
              <a:t>高傲的</a:t>
            </a:r>
            <a:endParaRPr lang="zh-CN" altLang="en-US"/>
          </a:p>
          <a:p>
            <a:r>
              <a:rPr lang="zh-CN" altLang="en-US"/>
              <a:t>上级军官</a:t>
            </a:r>
            <a:endParaRPr lang="zh-CN" altLang="en-US"/>
          </a:p>
          <a:p>
            <a:r>
              <a:rPr lang="zh-CN" altLang="en-US"/>
              <a:t>顶头上司</a:t>
            </a:r>
            <a:endParaRPr lang="zh-CN" altLang="en-US"/>
          </a:p>
          <a:p>
            <a:r>
              <a:rPr lang="zh-CN" altLang="en-US"/>
              <a:t>自卑感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have prejudice against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Wherever our journey leads us and whatever storms we face along the way, something worth remembering is that kindness often leaves a deeper mark than success.</a:t>
            </a:r>
            <a:endParaRPr lang="en-US" altLang="en-US"/>
          </a:p>
          <a:p>
            <a:r>
              <a:rPr lang="zh-CN" altLang="en-US"/>
              <a:t>（适合用于表现人物成长或转变的结尾）</a:t>
            </a:r>
            <a:endParaRPr lang="zh-CN" altLang="en-US"/>
          </a:p>
          <a:p>
            <a:endParaRPr lang="en-US" altLang="en-US"/>
          </a:p>
          <a:p>
            <a:r>
              <a:rPr lang="en-US" altLang="en-US"/>
              <a:t>Wherever we stand and whatever we believe in, something worth remembering is that understanding often begins with listening.</a:t>
            </a:r>
            <a:endParaRPr lang="en-US" altLang="en-US"/>
          </a:p>
          <a:p>
            <a:r>
              <a:rPr lang="zh-CN" altLang="en-US"/>
              <a:t>（适合用于讲述人与人之间的冲突与和解）</a:t>
            </a:r>
            <a:endParaRPr lang="zh-CN" altLang="en-US"/>
          </a:p>
          <a:p>
            <a:endParaRPr lang="en-US" altLang="en-US"/>
          </a:p>
          <a:p>
            <a:r>
              <a:rPr lang="en-US" altLang="en-US"/>
              <a:t>Wherever dreams take us and whatever fears try to hold us back, something worth remembering is that courage isn’t the absence of fear, but the decision to act anyway.</a:t>
            </a:r>
            <a:endParaRPr lang="en-US" altLang="en-US"/>
          </a:p>
          <a:p>
            <a:r>
              <a:rPr lang="zh-CN" altLang="en-US"/>
              <a:t>（适合用于刻画人物克服困难的情节）</a:t>
            </a:r>
            <a:endParaRPr lang="zh-CN" altLang="en-US"/>
          </a:p>
          <a:p>
            <a:endParaRPr lang="en-US" altLang="en-US"/>
          </a:p>
          <a:p>
            <a:r>
              <a:rPr lang="en-US" altLang="en-US"/>
              <a:t>Wherever time may take us and whatever memories fade away, something worth remembering is that the choices we make can echo in the lives of others.</a:t>
            </a:r>
            <a:endParaRPr lang="en-US" altLang="en-US"/>
          </a:p>
          <a:p>
            <a:r>
              <a:rPr lang="zh-CN" altLang="en-US"/>
              <a:t>（适合用于结尾反思或升华主题）</a:t>
            </a:r>
            <a:endParaRPr lang="zh-CN" altLang="en-US"/>
          </a:p>
          <a:p>
            <a:endParaRPr lang="en-US" altLang="en-US"/>
          </a:p>
          <a:p>
            <a:r>
              <a:rPr lang="en-US" altLang="en-US"/>
              <a:t>Wherever we fail and whatever we lose, something worth remembering is that every setback carries the seed of a new beginning.</a:t>
            </a:r>
            <a:endParaRPr lang="en-US" altLang="en-US"/>
          </a:p>
          <a:p>
            <a:r>
              <a:rPr lang="zh-CN" altLang="en-US"/>
              <a:t>（适合用于逆境反弹类情节）</a:t>
            </a:r>
            <a:endParaRPr lang="zh-CN" altLang="en-US"/>
          </a:p>
          <a:p>
            <a:endParaRPr lang="en-US" altLang="en-US"/>
          </a:p>
          <a:p>
            <a:r>
              <a:rPr lang="en-US" altLang="en-US"/>
              <a:t>Wherever the world changes and whatever challenges await, something worth remembering is that compassion remains a timeless strength.</a:t>
            </a:r>
            <a:endParaRPr lang="en-US" altLang="en-US"/>
          </a:p>
          <a:p>
            <a:r>
              <a:rPr lang="zh-CN" altLang="en-US"/>
              <a:t>（适合用于描写人与人之间温情时刻的总结）</a:t>
            </a:r>
            <a:endParaRPr lang="zh-CN" altLang="en-US"/>
          </a:p>
          <a:p>
            <a:endParaRPr lang="zh-CN" altLang="en-US"/>
          </a:p>
          <a:p>
            <a:r>
              <a:rPr lang="en-US" altLang="en-US"/>
              <a:t>Wherever the road leads and whatever storms we encounter, something worth remembering is that perseverance, when driven by purpose, will not only shape our character but also redefine our destiny.</a:t>
            </a: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spread sth out </a:t>
            </a:r>
            <a:r>
              <a:rPr lang="zh-CN" altLang="en-US"/>
              <a:t>铺开，</a:t>
            </a:r>
            <a:r>
              <a:rPr lang="zh-CN" altLang="en-US"/>
              <a:t>展开</a:t>
            </a:r>
            <a:endParaRPr lang="zh-CN" altLang="en-US"/>
          </a:p>
          <a:p>
            <a:r>
              <a:rPr lang="en-US" altLang="zh-CN"/>
              <a:t>plan and arrange </a:t>
            </a:r>
            <a:r>
              <a:rPr lang="zh-CN" altLang="en-US"/>
              <a:t>布置，安排，</a:t>
            </a:r>
            <a:r>
              <a:rPr lang="zh-CN" altLang="en-US"/>
              <a:t>策划</a:t>
            </a:r>
            <a:endParaRPr lang="zh-CN" altLang="en-US"/>
          </a:p>
          <a:p>
            <a:r>
              <a:rPr lang="en-US" altLang="zh-CN"/>
              <a:t>present a plan, an argument clearly and carefully</a:t>
            </a:r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这些士兵参加了乌干达边境附近的一次军事行动。</a:t>
            </a:r>
            <a:endParaRPr lang="zh-CN" altLang="en-US"/>
          </a:p>
          <a:p>
            <a:r>
              <a:rPr lang="en-US" altLang="zh-CN"/>
              <a:t>operative treatment</a:t>
            </a:r>
            <a:endParaRPr lang="en-US" altLang="zh-CN"/>
          </a:p>
          <a:p>
            <a:r>
              <a:rPr lang="zh-CN" altLang="en-US"/>
              <a:t>操作者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to let a field to a farmer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28270"/>
            <a:ext cx="1208214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Dieting can be bad for you,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not least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because it is a cause of stress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hardly ever lost her temper —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least of all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with Anne.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I’m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not in the least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afraid of you any more.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We’re going to put off the meeting, 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_________________________(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尤其因为他的缺席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她对工作到很晚一点也不介意。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sym typeface="+mn-ea"/>
              </a:rPr>
              <a:t>She did not mind working late in the least.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297295" y="18357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not least due to his absence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6055" y="0"/>
            <a:ext cx="1188275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manual labour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体力劳动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[U]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price will include the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labour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and materials.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company wants to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keep down labour costs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was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exhausted from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day's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labours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 he went straight to bed.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一段时间的工作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[C]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shortage of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cheap/skilled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labour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劳动力的短缺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Jane was in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labour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for ten hours.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6371" y="1672323"/>
            <a:ext cx="11429999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2630" indent="-722630"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自星期三以来他一直忙着写这份报告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。</a:t>
            </a:r>
            <a:endParaRPr lang="zh-CN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L="722630" indent="-722630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He's been _________ _____ the report since Wednesday</a:t>
            </a:r>
            <a:endParaRPr lang="en-US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L="722630" indent="-722630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They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laboured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for years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to clear 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their son's name.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努力做某事</a:t>
            </a:r>
            <a:endParaRPr lang="zh-CN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L="722630" indent="-722630">
              <a:lnSpc>
                <a:spcPct val="120000"/>
              </a:lnSpc>
            </a:pP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We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_______ ____ ____ ____ _____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in the fields.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从早到晚劳作</a:t>
            </a:r>
            <a:endParaRPr lang="en-US" altLang="en-US" sz="3200" b="1" dirty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L="722630" indent="-72263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labouring classes</a:t>
            </a:r>
            <a:r>
              <a:rPr lang="en-US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(= the working class)</a:t>
            </a:r>
            <a:endParaRPr lang="zh-CN" altLang="en-US" sz="3200" b="1" dirty="0">
              <a:latin typeface="Times New Roman Regular" panose="02020503050405090304" charset="0"/>
              <a:ea typeface="宋体" pitchFamily="2" charset="-122"/>
              <a:cs typeface="Times New Roman Regular" panose="0202050305040509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6370" y="220980"/>
            <a:ext cx="12025630" cy="127254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labour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vi.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en-US" altLang="zh-CN" sz="3200" b="1" i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work hard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努力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做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17081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do hard physical work</a:t>
            </a:r>
            <a:r>
              <a:rPr lang="en-US" altLang="zh-CN" sz="3200" dirty="0"/>
              <a:t> </a:t>
            </a:r>
            <a:r>
              <a:rPr lang="en-US" altLang="zh-CN" sz="3200" dirty="0" smtClean="0"/>
              <a:t> 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干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苦力活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030730" y="22631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labouring   over 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29005" y="34290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labour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ed from  dawn to  dusk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0" y="62230"/>
            <a:ext cx="12192000" cy="678561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 geared towards/to sth: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be designed to achieve a particular purpose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课程已调整以满足学员的特别需要。</a:t>
            </a:r>
            <a:endParaRPr lang="en-US" altLang="zh-CN" sz="3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The</a:t>
            </a:r>
            <a:r>
              <a:rPr lang="en-US" altLang="zh-CN" sz="3200" b="1" i="0">
                <a:solidFill>
                  <a:srgbClr val="336699"/>
                </a:solidFill>
                <a:latin typeface="Times New Roman Bold" panose="02020503050405090304" charset="0"/>
                <a:ea typeface="Helvetica Neue" panose="02000503000000020004"/>
                <a:cs typeface="Times New Roman Bold" panose="02020503050405090304" charset="0"/>
              </a:rPr>
              <a:t> 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course</a:t>
            </a:r>
            <a:r>
              <a:rPr lang="en-US" altLang="zh-CN" sz="3200" b="1" i="0">
                <a:solidFill>
                  <a:srgbClr val="336699"/>
                </a:solidFill>
                <a:latin typeface="Times New Roman Bold" panose="02020503050405090304" charset="0"/>
                <a:ea typeface="Helvetica Neue" panose="02000503000000020004"/>
                <a:cs typeface="Times New Roman Bold" panose="02020503050405090304" charset="0"/>
              </a:rPr>
              <a:t> 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has</a:t>
            </a:r>
            <a:r>
              <a:rPr lang="en-US" altLang="zh-CN" sz="3200" b="1" i="0">
                <a:solidFill>
                  <a:srgbClr val="336699"/>
                </a:solidFill>
                <a:latin typeface="Times New Roman Bold" panose="02020503050405090304" charset="0"/>
                <a:ea typeface="Helvetica Neue" panose="02000503000000020004"/>
                <a:cs typeface="Times New Roman Bold" panose="02020503050405090304" charset="0"/>
              </a:rPr>
              <a:t> 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been</a:t>
            </a:r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Helvetica Neue" panose="02000503000000020004"/>
                <a:cs typeface="Times New Roman Bold" panose="02020503050405090304" charset="0"/>
              </a:rPr>
              <a:t> 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geared</a:t>
            </a:r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Helvetica Neue" panose="02000503000000020004"/>
                <a:cs typeface="Times New Roman Bold" panose="02020503050405090304" charset="0"/>
              </a:rPr>
              <a:t> 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towards/to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 the</a:t>
            </a:r>
            <a:r>
              <a:rPr lang="en-US" altLang="zh-CN" sz="3200" b="1" i="0">
                <a:solidFill>
                  <a:srgbClr val="336699"/>
                </a:solidFill>
                <a:latin typeface="Times New Roman Bold" panose="02020503050405090304" charset="0"/>
                <a:ea typeface="Helvetica Neue" panose="02000503000000020004"/>
                <a:cs typeface="Times New Roman Bold" panose="02020503050405090304" charset="0"/>
              </a:rPr>
              <a:t> 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specific needs of its members</a:t>
            </a:r>
            <a:r>
              <a:rPr lang="en-US" altLang="zh-CN" sz="3200" b="1" i="0">
                <a:solidFill>
                  <a:srgbClr val="336699"/>
                </a:solidFill>
                <a:latin typeface="Times New Roman Bold" panose="02020503050405090304" charset="0"/>
                <a:ea typeface="Helvetica Neue" panose="02000503000000020004"/>
                <a:cs typeface="Times New Roman Bold" panose="02020503050405090304" charset="0"/>
              </a:rPr>
              <a:t>.</a:t>
            </a:r>
            <a:endParaRPr lang="en-US" altLang="zh-CN" sz="3200" b="1" i="0">
              <a:solidFill>
                <a:schemeClr val="tx1"/>
              </a:solidFill>
              <a:latin typeface="Times New Roman Regular" panose="02020503050405090304" charset="0"/>
              <a:ea typeface="Helvetica Neue" panose="02000503000000020004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gear up for sth 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准备</a:t>
            </a:r>
            <a:endParaRPr lang="zh-CN" altLang="en-US" sz="3200" b="1" dirty="0" smtClean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所有的学生正在为即将到来的考试</a:t>
            </a:r>
            <a:r>
              <a:rPr lang="zh-CN" altLang="en-US" sz="3200" b="1" dirty="0" smtClean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做准备。</a:t>
            </a:r>
            <a:endParaRPr lang="en-US" altLang="zh-CN" sz="3200" b="1" dirty="0" smtClean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All students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are gearing up for 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coming examination.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be geared up for sth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使</a:t>
            </a:r>
            <a:r>
              <a:rPr lang="en-US" altLang="zh-CN" sz="3200" b="1" dirty="0" smtClean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 smtClean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做好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准备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en-US" sz="3200" b="1">
                <a:latin typeface="Times New Roman Bold" panose="02020503050405090304" charset="0"/>
                <a:cs typeface="Times New Roman Bold" panose="02020503050405090304" charset="0"/>
              </a:rPr>
              <a:t>We have people on board _____ ____ ____ help with any problems.</a:t>
            </a:r>
            <a:endParaRPr lang="en-US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711200" indent="-711200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put a car into gear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给汽车挂档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711200" indent="-711200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football gear/sports gear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衣服</a:t>
            </a:r>
            <a:endParaRPr lang="zh-CN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711200" indent="-711200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photography/gardening gear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摄影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园艺用具</a:t>
            </a:r>
            <a:endParaRPr lang="en-US" altLang="en-US" sz="3200" b="1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622165" y="4352925"/>
            <a:ext cx="279527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geared  up  to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85420" y="0"/>
            <a:ext cx="11851640" cy="6587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711200" indent="-711200" eaLnBrk="0" hangingPunct="0">
              <a:lnSpc>
                <a:spcPct val="120000"/>
              </a:lnSpc>
              <a:buFont typeface="Arial" panose="020B0604020202090204" pitchFamily="34" charset="0"/>
              <a:buNone/>
              <a:defRPr sz="3200" b="1"/>
            </a:lvl1pPr>
          </a:lstStyle>
          <a:p>
            <a:pPr marL="0" indent="0"/>
            <a:r>
              <a:rPr lang="zh-CN" altLang="en-US" dirty="0" smtClean="0"/>
              <a:t>喜欢</a:t>
            </a:r>
            <a:r>
              <a:rPr lang="zh-CN" altLang="en-US" dirty="0"/>
              <a:t>文学并不是我阅读这些经典作品的唯一原因</a:t>
            </a:r>
            <a:r>
              <a:rPr lang="en-US" altLang="zh-CN" dirty="0"/>
              <a:t>——</a:t>
            </a:r>
            <a:r>
              <a:rPr lang="zh-CN" altLang="en-US" dirty="0"/>
              <a:t>还有其他原因驱使我阅读这些大师的作品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pPr marL="0" indent="0"/>
            <a:r>
              <a:rPr lang="en-US" altLang="zh-CN" dirty="0">
                <a:solidFill>
                  <a:srgbClr val="FF0000"/>
                </a:solidFill>
              </a:rPr>
              <a:t>Liking literature is not the only reason why I read the classics — there are other reasons that </a:t>
            </a:r>
            <a:r>
              <a:rPr lang="en-US" altLang="zh-CN" dirty="0">
                <a:solidFill>
                  <a:srgbClr val="FF0000"/>
                </a:solidFill>
              </a:rPr>
              <a:t>motivate me to read these works of masters.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赚钱</a:t>
            </a:r>
            <a:endParaRPr lang="en-US" altLang="zh-CN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获得奖学金</a:t>
            </a:r>
            <a:endParaRPr lang="en-US" altLang="zh-CN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挣大钱</a:t>
            </a:r>
            <a:endParaRPr lang="en-US" altLang="zh-CN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dirty="0" smtClean="0">
                <a:latin typeface="+mn-ea"/>
                <a:cs typeface="Times New Roman" panose="02020503050405090304" pitchFamily="18" charset="0"/>
                <a:sym typeface="+mn-ea"/>
              </a:rPr>
              <a:t>因</a:t>
            </a:r>
            <a:r>
              <a:rPr lang="en-US" altLang="zh-CN" dirty="0" smtClean="0">
                <a:latin typeface="+mn-ea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dirty="0" smtClean="0">
                <a:latin typeface="+mn-ea"/>
                <a:cs typeface="Times New Roman" panose="02020503050405090304" pitchFamily="18" charset="0"/>
                <a:sym typeface="+mn-ea"/>
              </a:rPr>
              <a:t>而赢得赞扬</a:t>
            </a:r>
            <a:endParaRPr lang="zh-CN" altLang="en-US" dirty="0" smtClean="0">
              <a:latin typeface="+mn-ea"/>
              <a:cs typeface="Times New Roman" panose="02020503050405090304" pitchFamily="18" charset="0"/>
              <a:sym typeface="+mn-ea"/>
            </a:endParaRPr>
          </a:p>
          <a:p>
            <a:pPr marL="0" indent="0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他非凡的能力为他赢得了一席之地。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earnings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薪水，</a:t>
            </a:r>
            <a:r>
              <a:rPr lang="zh-CN" altLang="en-US" dirty="0">
                <a:solidFill>
                  <a:schemeClr val="tx1"/>
                </a:solidFill>
              </a:rPr>
              <a:t>收入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681095" y="2872105"/>
            <a:ext cx="6096000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earn money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earn a scholarship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earn a fortune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earn praise for…</a:t>
            </a:r>
            <a:endParaRPr lang="zh-CN" altLang="en-US" sz="3200" b="1" dirty="0" smtClean="0"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771640" y="524954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earn him a place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0" y="0"/>
            <a:ext cx="12192000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you gain it or achieve it, often after a lot of effort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(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经</a:t>
            </a:r>
            <a:r>
              <a:rPr lang="zh-CN" altLang="en-US" sz="3200" b="1" dirty="0">
                <a:sym typeface="+mn-ea"/>
              </a:rPr>
              <a:t>努力</a:t>
            </a:r>
            <a:r>
              <a:rPr lang="en-US" altLang="zh-CN" sz="3200" b="1" dirty="0">
                <a:sym typeface="+mn-ea"/>
              </a:rPr>
              <a:t>)</a:t>
            </a:r>
            <a:r>
              <a:rPr lang="zh-CN" altLang="en-US" sz="3200" b="1" dirty="0">
                <a:sym typeface="+mn-ea"/>
              </a:rPr>
              <a:t>获得，达到</a:t>
            </a:r>
            <a:endParaRPr lang="en-US" altLang="en-US" sz="3200" b="1" dirty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He has 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attained</a:t>
            </a:r>
            <a:r>
              <a:rPr lang="en-US" altLang="zh-CN" sz="3200" b="1" dirty="0">
                <a:sym typeface="+mn-ea"/>
              </a:rPr>
              <a:t> the highest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grade </a:t>
            </a:r>
            <a:r>
              <a:rPr lang="en-US" altLang="zh-CN" sz="3200" b="1" dirty="0">
                <a:sym typeface="+mn-ea"/>
              </a:rPr>
              <a:t>in his music exams</a:t>
            </a:r>
            <a:r>
              <a:rPr lang="en-US" altLang="zh-CN" sz="3200" b="1" dirty="0" smtClean="0">
                <a:sym typeface="+mn-ea"/>
              </a:rPr>
              <a:t>.</a:t>
            </a:r>
            <a:endParaRPr lang="en-US" altLang="zh-CN" sz="3200" b="1" dirty="0" smtClean="0"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professor is still sharp in thought though 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has attained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ripe old age of 93.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__________ goals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可以实现的目标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young woman of impressive educational __________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成就，造诣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___________ of his dream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实现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pursue a goal/one’s dream/career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pursuit of ...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His favourite childhood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pursuits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were sailing, swimming and cycling.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outdoor/artistic pursuit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</a:t>
            </a:r>
            <a:endParaRPr lang="en-US" altLang="en-US" sz="3200" b="1" u="sng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4300" y="2299970"/>
            <a:ext cx="20085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attainable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261225" y="2900680"/>
            <a:ext cx="252666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attainments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705485" y="3458845"/>
            <a:ext cx="252666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attainment</a:t>
            </a:r>
            <a:endParaRPr lang="en-US" altLang="zh-CN" sz="3200" b="1" dirty="0" smtClean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226810" y="229997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unattainable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46380" y="144145"/>
            <a:ext cx="11619865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They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are endeavouring 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convince us of their points of view. </a:t>
            </a:r>
            <a:endParaRPr lang="en-US" altLang="zh-CN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他们正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竭力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使我们相信他们的观点。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strive to do</a:t>
            </a:r>
            <a:endParaRPr lang="en-US" altLang="zh-CN" sz="3200" b="1" i="1" dirty="0" smtClean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= They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are making every endeavour </a:t>
            </a:r>
            <a:r>
              <a:rPr lang="en-US" altLang="zh-CN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to ... 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attempt sth new</a:t>
            </a:r>
            <a:endParaRPr lang="en-US" altLang="zh-CN" sz="3200" b="1" i="1" dirty="0" smtClean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advances in the field of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scientific endeavour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在科学探索领域的进步</a:t>
            </a:r>
            <a:endParaRPr lang="zh-CN" altLang="en-US" sz="3200" b="1" dirty="0" smtClean="0">
              <a:solidFill>
                <a:schemeClr val="tx1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There’s so much attention to detail here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in Copenhagen - in all of the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artistic and creative endeavours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that people make.</a:t>
            </a:r>
            <a:endParaRPr lang="zh-CN" altLang="en-US" sz="3200" b="1" dirty="0" smtClean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manager is expected to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use his or her best endeavours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to promote the artist's career.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 smtClean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减少严重伤害的努力</a:t>
            </a:r>
            <a:endParaRPr lang="zh-CN" altLang="en-US" sz="3200" b="1" dirty="0" smtClean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an endeavour to reduce serious injury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29235" y="161290"/>
            <a:ext cx="11962765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358775" indent="-358775">
              <a:lnSpc>
                <a:spcPct val="120000"/>
              </a:lnSpc>
              <a:defRPr sz="3200" b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defRPr>
            </a:lvl1pPr>
          </a:lstStyle>
          <a:p>
            <a:pPr marL="0" indent="0" fontAlgn="auto"/>
            <a:r>
              <a:rPr lang="zh-CN" altLang="en-US" dirty="0">
                <a:sym typeface="+mn-ea"/>
              </a:rPr>
              <a:t>她酷爱园艺。</a:t>
            </a:r>
            <a:r>
              <a:rPr lang="en-US" altLang="en-US" dirty="0">
                <a:solidFill>
                  <a:schemeClr val="tx1"/>
                </a:solidFill>
              </a:rPr>
              <a:t>She ____ ____ _______ ____ gardening.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</a:rPr>
              <a:t>my __________ interest in music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</a:rPr>
              <a:t>They are all __________ interested in environmental issues.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rgbClr val="FF0000"/>
                </a:solidFill>
              </a:rPr>
              <a:t>have a fondness for sth/doing sth</a:t>
            </a:r>
            <a:endParaRPr lang="en-US" altLang="en-US" dirty="0">
              <a:solidFill>
                <a:srgbClr val="FF0000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</a:rPr>
              <a:t>They tried to ______________  conversation. </a:t>
            </a:r>
            <a:r>
              <a:rPr lang="zh-CN" altLang="en-US" dirty="0">
                <a:solidFill>
                  <a:schemeClr val="tx1"/>
                </a:solidFill>
              </a:rPr>
              <a:t>他们试图和他</a:t>
            </a:r>
            <a:r>
              <a:rPr lang="zh-CN" altLang="en-US" dirty="0">
                <a:solidFill>
                  <a:schemeClr val="tx1"/>
                </a:solidFill>
              </a:rPr>
              <a:t>交谈。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</a:rPr>
              <a:t>They never learned skills to __________________ of the others. </a:t>
            </a:r>
            <a:r>
              <a:rPr lang="zh-CN" altLang="en-US" dirty="0">
                <a:solidFill>
                  <a:schemeClr val="tx1"/>
                </a:solidFill>
              </a:rPr>
              <a:t>吸引注意力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</a:rPr>
              <a:t>The teams needed to __________________________ . </a:t>
            </a:r>
            <a:r>
              <a:rPr lang="zh-CN" altLang="en-US" dirty="0">
                <a:solidFill>
                  <a:schemeClr val="tx1"/>
                </a:solidFill>
              </a:rPr>
              <a:t>和当地</a:t>
            </a:r>
            <a:r>
              <a:rPr lang="zh-CN" altLang="en-US" dirty="0">
                <a:solidFill>
                  <a:schemeClr val="tx1"/>
                </a:solidFill>
              </a:rPr>
              <a:t>社区建立密切联系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</a:rPr>
              <a:t>We </a:t>
            </a:r>
            <a:r>
              <a:rPr lang="en-US" altLang="en-US" dirty="0">
                <a:solidFill>
                  <a:srgbClr val="FF0000"/>
                </a:solidFill>
              </a:rPr>
              <a:t>were actively engaged in</a:t>
            </a:r>
            <a:r>
              <a:rPr lang="en-US" altLang="en-US" dirty="0">
                <a:solidFill>
                  <a:schemeClr val="tx1"/>
                </a:solidFill>
              </a:rPr>
              <a:t> the </a:t>
            </a:r>
            <a:r>
              <a:rPr lang="en-US" altLang="en-US" dirty="0">
                <a:solidFill>
                  <a:schemeClr val="tx1"/>
                </a:solidFill>
              </a:rPr>
              <a:t>class. </a:t>
            </a:r>
            <a:endParaRPr lang="en-US" altLang="en-US" dirty="0">
              <a:solidFill>
                <a:schemeClr val="tx1"/>
              </a:solidFill>
            </a:endParaRPr>
          </a:p>
          <a:p>
            <a:pPr marL="0" indent="0" fontAlgn="auto"/>
            <a:r>
              <a:rPr lang="en-US" altLang="en-US" dirty="0">
                <a:solidFill>
                  <a:schemeClr val="tx1"/>
                </a:solidFill>
              </a:rPr>
              <a:t>one of her most _________ and least known novels.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505200" y="16129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had   a      passion   for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11225" y="751840"/>
            <a:ext cx="259461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passionate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388870" y="130175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passionately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941445" y="4202430"/>
            <a:ext cx="62630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engage with </a:t>
            </a: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local communities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676525" y="2477135"/>
            <a:ext cx="62630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engage  him  in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127625" y="305435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engage the attention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162935" y="601408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engaging 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2" grpId="1"/>
      <p:bldP spid="3" grpId="1"/>
      <p:bldP spid="5" grpId="1"/>
      <p:bldP spid="6" grpId="1"/>
      <p:bldP spid="7" grpId="1"/>
      <p:bldP spid="8" grpId="0"/>
      <p:bldP spid="8" grpId="1"/>
      <p:bldP spid="9" grpId="0"/>
      <p:bldP spid="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0"/>
            <a:ext cx="12192635" cy="55079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3200" b="1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不论我们有什么爱好，选择什么职业</a:t>
            </a:r>
            <a:endParaRPr lang="zh-CN" altLang="en-US" sz="3200" b="1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altLang="zh-CN" sz="3200" b="1">
                <a:solidFill>
                  <a:srgbClr val="FB0207"/>
                </a:solidFill>
                <a:latin typeface="Times New Roman Bold" panose="02020503050405090304" charset="0"/>
                <a:cs typeface="Times New Roman Bold" panose="02020503050405090304" charset="0"/>
              </a:rPr>
              <a:t>Wherever </a:t>
            </a:r>
            <a:r>
              <a:rPr lang="en-US" altLang="zh-CN" sz="3200" b="1" u="sng">
                <a:latin typeface="Times New Roman Bold" panose="02020503050405090304" charset="0"/>
                <a:cs typeface="Times New Roman Bold" panose="02020503050405090304" charset="0"/>
              </a:rPr>
              <a:t>our interests may lie </a:t>
            </a:r>
            <a:r>
              <a:rPr lang="en-US" altLang="zh-CN" sz="3200" b="1">
                <a:solidFill>
                  <a:srgbClr val="996633"/>
                </a:solidFill>
                <a:latin typeface="Times New Roman Bold" panose="02020503050405090304" charset="0"/>
                <a:cs typeface="Times New Roman Bold" panose="02020503050405090304" charset="0"/>
              </a:rPr>
              <a:t>and </a:t>
            </a:r>
            <a:r>
              <a:rPr lang="en-US" altLang="zh-CN" sz="3200" b="1">
                <a:solidFill>
                  <a:srgbClr val="FB0207"/>
                </a:solidFill>
                <a:latin typeface="Times New Roman Bold" panose="02020503050405090304" charset="0"/>
                <a:cs typeface="Times New Roman Bold" panose="02020503050405090304" charset="0"/>
              </a:rPr>
              <a:t>whatever </a:t>
            </a:r>
            <a:r>
              <a:rPr lang="en-US" altLang="zh-CN" sz="3200" b="1" u="sng">
                <a:latin typeface="Times New Roman Bold" panose="02020503050405090304" charset="0"/>
                <a:cs typeface="Times New Roman Bold" panose="02020503050405090304" charset="0"/>
              </a:rPr>
              <a:t>our career choices might be</a:t>
            </a: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, …</a:t>
            </a:r>
            <a:endParaRPr lang="en-US" altLang="zh-CN" sz="3200" b="1">
              <a:solidFill>
                <a:srgbClr val="00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不管我们的处境将会如何，也不管我们需要走多远的</a:t>
            </a:r>
            <a:r>
              <a:rPr lang="zh-CN" altLang="en-US" sz="3200" b="1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路</a:t>
            </a:r>
            <a:endParaRPr lang="zh-CN" altLang="en-US" sz="3200" b="1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no matter what our conditions might be or </a:t>
            </a:r>
            <a:r>
              <a:rPr lang="en-US" altLang="zh-CN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no matter how far we might have to go</a:t>
            </a:r>
            <a:endParaRPr lang="en-US" altLang="zh-CN" sz="3200" b="1">
              <a:solidFill>
                <a:srgbClr val="0000FF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无论生活将我们带往何方，无论有什么样的困难在</a:t>
            </a:r>
            <a:r>
              <a:rPr lang="zh-CN" altLang="en-US" sz="3200" b="1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等着我们。</a:t>
            </a:r>
            <a:endParaRPr lang="zh-CN" altLang="en-US" sz="3200" b="1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wherever life takes us and whatever challenges are in store for us</a:t>
            </a:r>
            <a:endParaRPr lang="en-US" altLang="zh-CN" sz="3200" b="1">
              <a:solidFill>
                <a:srgbClr val="0000FF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lie, </a:t>
            </a:r>
            <a:r>
              <a:rPr lang="en-US" altLang="zh-CN" sz="3200" b="1">
                <a:solidFill>
                  <a:srgbClr val="FB0207"/>
                </a:solidFill>
                <a:latin typeface="Times New Roman Bold" panose="02020503050405090304" charset="0"/>
                <a:cs typeface="Times New Roman Bold" panose="02020503050405090304" charset="0"/>
              </a:rPr>
              <a:t>lay, lain</a:t>
            </a:r>
            <a:endParaRPr lang="en-US" altLang="zh-CN" sz="3200" b="1">
              <a:solidFill>
                <a:srgbClr val="FB0207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lie, </a:t>
            </a:r>
            <a:r>
              <a:rPr lang="en-US" altLang="zh-CN" sz="3200" b="1">
                <a:solidFill>
                  <a:srgbClr val="FB0207"/>
                </a:solidFill>
                <a:latin typeface="Times New Roman Bold" panose="02020503050405090304" charset="0"/>
                <a:cs typeface="Times New Roman Bold" panose="02020503050405090304" charset="0"/>
              </a:rPr>
              <a:t>lied, lied</a:t>
            </a:r>
            <a:endParaRPr lang="en-US" altLang="zh-CN" sz="3200" b="1">
              <a:solidFill>
                <a:srgbClr val="FB0207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lay, </a:t>
            </a:r>
            <a:r>
              <a:rPr lang="en-US" altLang="zh-CN" sz="3200" b="1">
                <a:solidFill>
                  <a:srgbClr val="FB0207"/>
                </a:solidFill>
                <a:latin typeface="Times New Roman Bold" panose="02020503050405090304" charset="0"/>
                <a:cs typeface="Times New Roman Bold" panose="02020503050405090304" charset="0"/>
              </a:rPr>
              <a:t>laid, laid</a:t>
            </a:r>
            <a:endParaRPr lang="en-US" altLang="zh-CN" sz="3200" b="1">
              <a:solidFill>
                <a:srgbClr val="FB0207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192635" cy="6587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0430" indent="-900430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Sales are better _______ _______.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比预期的好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zh-CN" sz="3200" b="1" dirty="0">
                <a:sym typeface="+mn-ea"/>
              </a:rPr>
              <a:t>It's always best to 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anticipate a problem </a:t>
            </a:r>
            <a:r>
              <a:rPr lang="en-US" altLang="zh-CN" sz="3200" b="1" dirty="0">
                <a:sym typeface="+mn-ea"/>
              </a:rPr>
              <a:t>before it ______ </a:t>
            </a:r>
            <a:r>
              <a:rPr lang="en-US" altLang="zh-CN" sz="3200" b="1" dirty="0" smtClean="0">
                <a:sym typeface="+mn-ea"/>
              </a:rPr>
              <a:t>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anticipate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that…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is anticipated that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didn’t anticipate ________ (have) to do the cooking myself!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don’t anticipate it _______ (be) a problem.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am eagerly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_______ _______ ________.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期待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你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的到来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=be full of anticipation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Daniel waited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with eager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__________ for her arrival.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900430" indent="-900430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workers called off the strike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__________ of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 pay increase.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900430" indent="-90043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因预料到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而做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…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841625" y="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than   expected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444240" y="2320925"/>
            <a:ext cx="160147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having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639820" y="2907030"/>
            <a:ext cx="160147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being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98065" y="3421380"/>
            <a:ext cx="475043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anticipating your  arrival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432300" y="4521835"/>
            <a:ext cx="475043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anticipation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167755" y="5180330"/>
            <a:ext cx="475043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anticipation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8481060" y="53022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arises/comes about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2" grpId="0"/>
      <p:bldP spid="2" grpId="1"/>
      <p:bldP spid="3" grpId="0"/>
      <p:bldP spid="3" grpId="1"/>
      <p:bldP spid="5" grpId="0"/>
      <p:bldP spid="5" grpId="1"/>
      <p:bldP spid="6" grpId="0"/>
      <p:bldP spid="6" grpId="1"/>
      <p:bldP spid="7" grpId="0"/>
      <p:bldP spid="7" grpId="1"/>
      <p:bldP spid="9" grpId="0"/>
      <p:bldP spid="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135380" y="418304"/>
            <a:ext cx="11636704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0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You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anticipate/expect/predict 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0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0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anticipate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/expect/predict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that 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sth 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will happen.</a:t>
            </a:r>
            <a:endParaRPr lang="zh-CN" altLang="en-US"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expect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sth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happen, or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expect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sb </a:t>
            </a:r>
            <a:r>
              <a:rPr lang="en-US" altLang="zh-CN" sz="30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do </a:t>
            </a:r>
            <a:r>
              <a:rPr lang="en-US" altLang="zh-CN" sz="3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000" b="1" dirty="0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0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zh-CN" altLang="en-US" sz="30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我没有料到要自己做饭！</a:t>
            </a:r>
            <a:endParaRPr lang="en-US" altLang="zh-CN" sz="30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541655">
              <a:lnSpc>
                <a:spcPct val="120000"/>
              </a:lnSpc>
            </a:pPr>
            <a:r>
              <a:rPr lang="en-US" altLang="zh-CN" sz="30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didn't anticipate having to do the cooking myself!</a:t>
            </a:r>
            <a:endParaRPr lang="en-US" altLang="zh-CN" sz="3000" b="1" dirty="0" smtClean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0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 </a:t>
            </a:r>
            <a:r>
              <a:rPr lang="zh-CN" altLang="en-US" sz="3000" b="1" dirty="0" smtClean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她预料到你会来访，连备用房间都准备好了。</a:t>
            </a:r>
            <a:endParaRPr lang="en-US" altLang="zh-CN" sz="3000" b="1" dirty="0" smtClean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41655">
              <a:lnSpc>
                <a:spcPct val="120000"/>
              </a:lnSpc>
            </a:pPr>
            <a:r>
              <a:rPr lang="en-US" altLang="zh-CN" sz="3000" b="1" dirty="0" smtClean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She's prepared for the spare room in anticipation of your visit.</a:t>
            </a:r>
            <a:endParaRPr lang="zh-CN" altLang="en-US" sz="30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137795"/>
            <a:ext cx="12191365" cy="599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new products ____ _________ ______ ____ the old ones. </a:t>
            </a:r>
            <a:r>
              <a:rPr lang="zh-CN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在技术上超过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government troops were superior ___ numbers.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Liverpool were clearly the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superior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team.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always looks so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superior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superior 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officer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is my immediate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superior</a:t>
            </a: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en-US" sz="3200" b="1" i="1" dirty="0" smtClean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(n.)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company’s obvious technological _________ ________ its rivals</a:t>
            </a:r>
            <a:endParaRPr lang="en-US" altLang="en-US" sz="3200" b="1" dirty="0" smtClean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— (physically/intellectually) inferior to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— a feeling of inferiority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3329305" y="83820"/>
            <a:ext cx="53543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are technically superior to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837045" y="1292225"/>
            <a:ext cx="73215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482080" y="425386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superiority   over</a:t>
            </a:r>
            <a:endParaRPr lang="en-US" altLang="en-US" sz="3200" b="1" dirty="0" smtClean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2" grpId="0"/>
      <p:bldP spid="2" grpId="1"/>
      <p:bldP spid="4" grpId="0"/>
      <p:bldP spid="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19200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deep-rooted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_______ _______ homosexuals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must admit to the prejudice ___ ____ _____ British universities. 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偏爱……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discrimination against / in favor of…</a:t>
            </a:r>
            <a:endParaRPr lang="en-US" altLang="en-US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victim of racial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prejudice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break down/ eliminate/ eradicate prejudice 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His comments may have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prejudiced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voters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against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her.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使某人对某人有偏见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bias</a:t>
            </a:r>
            <a:endParaRPr lang="en-US" altLang="en-US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prejudice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child’s welfare 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不利于，损害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 (v.)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2143760" y="0"/>
            <a:ext cx="53543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prejudice against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175250" y="551180"/>
            <a:ext cx="30429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  favour  of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2" grpId="0"/>
      <p:bldP spid="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42875" y="308610"/>
            <a:ext cx="11779250" cy="202120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Wherever life takes us and whatever choices are laid out before us, something worth remembering is that our work, when done well, will not only help us make a living but also help make a life for ourselves and for others.</a:t>
            </a:r>
            <a:endParaRPr lang="en-US" altLang="zh-CN" sz="3200" b="1">
              <a:solidFill>
                <a:srgbClr val="000000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FF0000"/>
                </a:solidFill>
              </a:rPr>
              <a:t>Wherever _______ and whatever _______, something worth remembering is that _______, when _______, will not only _______ but also _______.</a:t>
            </a:r>
            <a:endParaRPr lang="en-US" altLang="en-US" sz="3200" b="1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无论我们在哪里失败，无论我们失去什么，值得记住的是，每一次挫折，当勇敢地面对时，都会带着新</a:t>
            </a:r>
            <a:r>
              <a:rPr lang="zh-CN" altLang="en-US" sz="3200" b="1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的开始的种子。</a:t>
            </a:r>
            <a:endParaRPr lang="zh-CN" altLang="en-US" sz="3200" b="1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Wherever we fail and whatever we lose, something worth remembering is that every setback, when faced courageously, carries the seed of a new beginning.</a:t>
            </a:r>
            <a:endParaRPr lang="en-US" altLang="en-US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8727" y="148995"/>
            <a:ext cx="11424285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4205" indent="-624205" eaLnBrk="0" hangingPunct="0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lay out</a:t>
            </a:r>
            <a:r>
              <a:rPr lang="en-US" altLang="en-US" sz="3200" b="1" dirty="0" smtClean="0">
                <a:latin typeface="Times New Roman Bold" panose="02020503050405090304" charset="0"/>
                <a:cs typeface="Times New Roman Bold" panose="02020503050405090304" charset="0"/>
              </a:rPr>
              <a:t> the map on the table</a:t>
            </a:r>
            <a:endParaRPr lang="en-US" altLang="en-US" sz="3200" b="1" dirty="0" smtClean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624205" indent="-624205" eaLnBrk="0" hangingPunct="0">
              <a:lnSpc>
                <a:spcPct val="120000"/>
              </a:lnSpc>
            </a:pPr>
            <a:r>
              <a:rPr lang="en-US" altLang="en-US" sz="3200" b="1" dirty="0" smtClean="0">
                <a:latin typeface="Times New Roman Bold" panose="02020503050405090304" charset="0"/>
                <a:cs typeface="Times New Roman Bold" panose="02020503050405090304" charset="0"/>
              </a:rPr>
              <a:t>The garden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is well laid out </a:t>
            </a:r>
            <a:r>
              <a:rPr lang="en-US" altLang="en-US" sz="3200" b="1" dirty="0" smtClean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with lawns and flower beds.</a:t>
            </a:r>
            <a:endParaRPr lang="en-US" altLang="en-US" sz="3200" b="1" dirty="0" smtClean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624205" indent="-624205" eaLnBrk="0" hangingPunct="0">
              <a:lnSpc>
                <a:spcPct val="120000"/>
              </a:lnSpc>
            </a:pP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layout of…</a:t>
            </a:r>
            <a:endParaRPr lang="en-US" altLang="en-US" sz="3200" b="1" dirty="0" smtClean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624205" indent="-624205" eaLnBrk="0" hangingPunct="0">
              <a:lnSpc>
                <a:spcPct val="120000"/>
              </a:lnSpc>
            </a:pPr>
            <a:r>
              <a:rPr lang="en-US" altLang="en-US" sz="3200" b="1" dirty="0" smtClean="0">
                <a:latin typeface="Times New Roman Bold" panose="02020503050405090304" charset="0"/>
                <a:cs typeface="Times New Roman Bold" panose="02020503050405090304" charset="0"/>
              </a:rPr>
              <a:t>All the terms and conditions are </a:t>
            </a:r>
            <a:r>
              <a:rPr lang="en-US" altLang="en-US" sz="3200" b="1" dirty="0" smtClean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laid out</a:t>
            </a:r>
            <a:r>
              <a:rPr lang="en-US" altLang="en-US" sz="3200" b="1" dirty="0" smtClean="0">
                <a:latin typeface="Times New Roman Bold" panose="02020503050405090304" charset="0"/>
                <a:cs typeface="Times New Roman Bold" panose="02020503050405090304" charset="0"/>
              </a:rPr>
              <a:t> in the contract.</a:t>
            </a:r>
            <a:endParaRPr lang="en-US" altLang="en-US" sz="3200" b="1" dirty="0" smtClean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624205" indent="-624205" eaLnBrk="0" hangingPunct="0">
              <a:lnSpc>
                <a:spcPct val="120000"/>
              </a:lnSpc>
            </a:pPr>
            <a:r>
              <a:rPr lang="en-US" altLang="en-US" sz="3200" b="1" i="1" dirty="0" smtClean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= set out</a:t>
            </a:r>
            <a:endParaRPr lang="en-US" altLang="en-US" sz="3200" b="1" i="1" dirty="0" smtClean="0">
              <a:solidFill>
                <a:srgbClr val="0000FF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31140" y="0"/>
            <a:ext cx="11960860" cy="6858000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operate </a:t>
            </a: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machinery </a:t>
            </a:r>
            <a:r>
              <a:rPr lang="en-US" altLang="zh-CN" sz="3200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(vt.)</a:t>
            </a:r>
            <a:endParaRPr lang="en-US" altLang="zh-CN" sz="3200" b="1">
              <a:solidFill>
                <a:srgbClr val="00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bus is designed to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operate </a:t>
            </a: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all weather conditions. </a:t>
            </a:r>
            <a:r>
              <a:rPr lang="en-US" altLang="zh-CN" sz="3200" b="1" i="1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(vi.)</a:t>
            </a:r>
            <a:endParaRPr lang="en-US" altLang="zh-CN" sz="3200" b="1">
              <a:solidFill>
                <a:srgbClr val="00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_______ _______ _____Max __ a brain aneurysm</a:t>
            </a:r>
            <a:r>
              <a:rPr lang="en-US" altLang="zh-CN" sz="3200" b="1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lang="zh-CN" altLang="en-US" sz="3200" b="1">
                <a:latin typeface="Times New Roman Regular" panose="02020503050405090304" charset="0"/>
                <a:cs typeface="Times New Roman Regular" panose="02020503050405090304" charset="0"/>
              </a:rPr>
              <a:t>动脉瘤</a:t>
            </a:r>
            <a:r>
              <a:rPr lang="en-US" altLang="zh-CN" sz="3200" b="1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).</a:t>
            </a:r>
            <a:endParaRPr lang="en-US" altLang="zh-CN" sz="3200" b="1">
              <a:solidFill>
                <a:srgbClr val="000000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an _________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on</a:t>
            </a: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her lung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to remove</a:t>
            </a:r>
            <a:r>
              <a:rPr lang="en-US" altLang="zh-CN" sz="3200" b="1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tumor</a:t>
            </a:r>
            <a:r>
              <a:rPr lang="en-US" altLang="zh-CN" sz="3200" b="1">
                <a:latin typeface="Times New Roman Bold" panose="02020503050405090304" charset="0"/>
                <a:cs typeface="Times New Roman Bold" panose="02020503050405090304" charset="0"/>
              </a:rPr>
              <a:t> </a:t>
            </a:r>
            <a:endParaRPr lang="en-US" altLang="zh-CN" sz="3200" b="1"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It’s time to 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put</a:t>
            </a:r>
            <a:r>
              <a:rPr lang="en-US" altLang="zh-CN" sz="3200" b="1" u="sng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our plan</a:t>
            </a:r>
            <a:r>
              <a:rPr lang="en-US" altLang="zh-CN" sz="3200" b="1" u="sng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into operation</a:t>
            </a: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 </a:t>
            </a:r>
            <a:r>
              <a:rPr lang="zh-CN" altLang="en-US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实施，执行</a:t>
            </a:r>
            <a:endParaRPr lang="en-US" altLang="zh-CN" sz="3200" b="1">
              <a:solidFill>
                <a:srgbClr val="00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new rules ______ ______ ______ on January 1. </a:t>
            </a:r>
            <a:r>
              <a:rPr lang="zh-CN" altLang="en-US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生效</a:t>
            </a:r>
            <a:endParaRPr lang="zh-CN" altLang="en-US" sz="3200" b="1">
              <a:solidFill>
                <a:srgbClr val="00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system has been __ _________ for six months. </a:t>
            </a:r>
            <a:r>
              <a:rPr lang="zh-CN" altLang="en-US" sz="3200" b="1">
                <a:solidFill>
                  <a:srgbClr val="00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生效中，工作中</a:t>
            </a:r>
            <a:endParaRPr lang="zh-CN" altLang="en-US" sz="3200" b="1">
              <a:solidFill>
                <a:srgbClr val="00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接受手术</a:t>
            </a:r>
            <a:r>
              <a:rPr lang="en-US" altLang="zh-CN" sz="3200" b="1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have an operation</a:t>
            </a:r>
            <a:endParaRPr lang="en-US" altLang="zh-CN" sz="3200" b="1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zh-CN" altLang="en-US" sz="3200" b="1">
                <a:solidFill>
                  <a:srgbClr val="00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做手术</a:t>
            </a:r>
            <a:r>
              <a:rPr lang="en-US" altLang="zh-CN" sz="3200" b="1">
                <a:solidFill>
                  <a:srgbClr val="FF0000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do/perform/ carry out an operation</a:t>
            </a:r>
            <a:endParaRPr lang="en-US" altLang="zh-CN" sz="3200" b="1">
              <a:solidFill>
                <a:srgbClr val="0000FF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soldiers were engaged in a military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operation 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close to the Ugandan border.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two parent groups now run their business as a single combined </a:t>
            </a:r>
            <a:r>
              <a:rPr lang="en-US" altLang="en-US" sz="3200" b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operation</a:t>
            </a:r>
            <a:r>
              <a:rPr lang="en-US" altLang="en-US" sz="3200" b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  <a:endParaRPr lang="en-US" altLang="en-US" sz="3200" b="1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r>
              <a:rPr lang="en-US" altLang="zh-CN" sz="3200" b="1">
                <a:solidFill>
                  <a:srgbClr val="FB0207"/>
                </a:solidFill>
                <a:latin typeface="Times New Roman Bold" panose="02020503050405090304" charset="0"/>
                <a:cs typeface="Times New Roman Bold" panose="02020503050405090304" charset="0"/>
              </a:rPr>
              <a:t>operator</a:t>
            </a:r>
            <a:endParaRPr lang="en-US" altLang="en-US" sz="3200" b="1">
              <a:solidFill>
                <a:srgbClr val="00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31140" y="897890"/>
            <a:ext cx="87376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Surgeons  operated  on         for   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15975" y="1371600"/>
            <a:ext cx="212979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operation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945765" y="2353310"/>
            <a:ext cx="39909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come   into  operation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011295" y="2844800"/>
            <a:ext cx="39909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  operation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0208895" y="1697355"/>
            <a:ext cx="200660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en-US" altLang="en-US" sz="3200" b="1" i="1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become operative</a:t>
            </a:r>
            <a:endParaRPr lang="en-US" altLang="en-US" sz="3200" b="1" i="1" dirty="0">
              <a:solidFill>
                <a:srgbClr val="0000FF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10" grpId="0"/>
      <p:bldP spid="10" grpId="1"/>
      <p:bldP spid="13" grpId="0"/>
      <p:bldP spid="1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33375" y="0"/>
            <a:ext cx="11857990" cy="6857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hire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 a car</a:t>
            </a: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lt"/>
              <a:ea typeface="宋体" pitchFamily="2" charset="-122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hire out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 a car</a:t>
            </a: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lt"/>
              <a:ea typeface="宋体" pitchFamily="2" charset="-122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hire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a lawyer to handle the case</a:t>
            </a: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lt"/>
              <a:ea typeface="宋体" pitchFamily="2" charset="-122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be for hire</a:t>
            </a: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lt"/>
              <a:ea typeface="宋体" pitchFamily="2" charset="-122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lt"/>
              <a:ea typeface="宋体" pitchFamily="2" charset="-122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rent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a car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from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him</a:t>
            </a: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lt"/>
              <a:ea typeface="宋体" pitchFamily="2" charset="-122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rent (out) a car to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 him</a:t>
            </a: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lt"/>
              <a:ea typeface="宋体" pitchFamily="2" charset="-122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Tahoma" panose="020B0604030504040204" pitchFamily="34" charset="0"/>
              </a:rPr>
              <a:t>for rent/ to let</a:t>
            </a:r>
            <a:endParaRPr kumimoji="0" lang="en-US" altLang="en-US" sz="32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lt"/>
              <a:ea typeface="宋体" pitchFamily="2" charset="-122"/>
              <a:cs typeface="Tahom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6600" y="0"/>
            <a:ext cx="3835400" cy="4445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810" y="3093085"/>
            <a:ext cx="6091555" cy="3764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8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ea typeface="宋体" pitchFamily="2" charset="-122"/>
            <a:cs typeface="Times New Roman" panose="02020503050405090304" pitchFamily="18" charset="0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6607</Words>
  <Application>WPS Presentation</Application>
  <PresentationFormat>宽屏</PresentationFormat>
  <Paragraphs>233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Times New Roman</vt:lpstr>
      <vt:lpstr>汉仪书宋二KW</vt:lpstr>
      <vt:lpstr>Times New Roman Bold</vt:lpstr>
      <vt:lpstr>Times New Roman Regular</vt:lpstr>
      <vt:lpstr>Times New Roman Bold Italic</vt:lpstr>
      <vt:lpstr>Helvetica Neue</vt:lpstr>
      <vt:lpstr>Tahoma</vt:lpstr>
      <vt:lpstr>微软雅黑</vt:lpstr>
      <vt:lpstr>汉仪旗黑</vt:lpstr>
      <vt:lpstr>宋体</vt:lpstr>
      <vt:lpstr>Arial Unicode MS</vt:lpstr>
      <vt:lpstr>Calibri</vt:lpstr>
      <vt:lpstr>Helvetica Neue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Elsssie</cp:lastModifiedBy>
  <cp:revision>489</cp:revision>
  <dcterms:created xsi:type="dcterms:W3CDTF">2025-06-12T07:59:55Z</dcterms:created>
  <dcterms:modified xsi:type="dcterms:W3CDTF">2025-06-12T07:59:55Z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0C760E416B6514A5DE2A3468321DEC81_42</vt:lpwstr>
  </property>
  <property fmtid="{D5CDD505-2E9C-101B-9397-08002B2CF9AE}" pid="3" name="KSOProductBuildVer">
    <vt:lpwstr>1033-7.4.1.8983</vt:lpwstr>
  </property>
</Properties>
</file>