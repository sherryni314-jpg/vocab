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20"/>
    <p:restoredTop sz="76624"/>
  </p:normalViewPr>
  <p:slideViewPr>
    <p:cSldViewPr snapToGrid="0">
      <p:cViewPr varScale="1">
        <p:scale>
          <a:sx n="82" d="100"/>
          <a:sy n="82" d="100"/>
        </p:scale>
        <p:origin x="103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2A580-3AAE-6E44-AEB2-75803C38E5BD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6D46A-676B-904E-AD3E-E28128AB6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13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4" name="Shape 26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 err="1"/>
              <a:t>我方胜算几率很大</a:t>
            </a:r>
            <a:r>
              <a:rPr lang="zh-CN" altLang="en-US" dirty="0"/>
              <a:t>。</a:t>
            </a:r>
            <a:endParaRPr lang="en-GB" dirty="0"/>
          </a:p>
          <a:p>
            <a:r>
              <a:rPr dirty="0"/>
              <a:t>against all odds </a:t>
            </a:r>
            <a:r>
              <a:rPr dirty="0" err="1"/>
              <a:t>克服一切困难，尽管困难重重</a:t>
            </a:r>
            <a:endParaRPr dirty="0"/>
          </a:p>
          <a:p>
            <a:r>
              <a:rPr dirty="0"/>
              <a:t>odd numbers </a:t>
            </a:r>
            <a:r>
              <a:rPr dirty="0" err="1"/>
              <a:t>奇数</a:t>
            </a:r>
            <a:r>
              <a:rPr dirty="0"/>
              <a:t>  even numbers </a:t>
            </a:r>
            <a:r>
              <a:rPr dirty="0" err="1"/>
              <a:t>偶数</a:t>
            </a:r>
            <a:endParaRPr dirty="0"/>
          </a:p>
          <a:p>
            <a:r>
              <a:rPr dirty="0"/>
              <a:t>at odds with </a:t>
            </a:r>
            <a:r>
              <a:rPr dirty="0" err="1"/>
              <a:t>sth</a:t>
            </a:r>
            <a:r>
              <a:rPr dirty="0"/>
              <a:t> （</a:t>
            </a:r>
            <a:r>
              <a:rPr dirty="0" err="1"/>
              <a:t>conflict）有差异，相矛盾</a:t>
            </a:r>
            <a:endParaRPr dirty="0"/>
          </a:p>
          <a:p>
            <a:r>
              <a:rPr dirty="0"/>
              <a:t>                     sb   </a:t>
            </a:r>
            <a:r>
              <a:rPr dirty="0" err="1"/>
              <a:t>有分歧</a:t>
            </a:r>
            <a:endParaRPr lang="en-GB" dirty="0"/>
          </a:p>
          <a:p>
            <a:r>
              <a:rPr lang="zh-CN" altLang="en-US" dirty="0"/>
              <a:t>建筑师偏爱小厨房和壁橱</a:t>
            </a:r>
            <a:r>
              <a:rPr lang="en-US" altLang="zh-CN" dirty="0"/>
              <a:t>——</a:t>
            </a:r>
            <a:r>
              <a:rPr lang="zh-CN" altLang="en-US" dirty="0"/>
              <a:t>与当前的品味不一致</a:t>
            </a:r>
            <a:r>
              <a:rPr lang="en-US" altLang="zh-CN" dirty="0"/>
              <a:t>——</a:t>
            </a:r>
            <a:r>
              <a:rPr lang="zh-CN" altLang="en-US" dirty="0"/>
              <a:t>并且通常省略地下室。</a:t>
            </a:r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Shape 27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4" name="Shape 2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他已经花了相当多的精力致力于这项任务。(勤奋工作，努力学习)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0" name="Shape 28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因事先有别的安排，她将不能出席。</a:t>
            </a:r>
          </a:p>
          <a:p>
            <a:r>
              <a:t>忙着其他事情。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Shape 28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6" name="Shape 2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 err="1"/>
              <a:t>他的侧影</a:t>
            </a:r>
            <a:r>
              <a:rPr lang="en-GB" dirty="0"/>
              <a:t> his profile</a:t>
            </a:r>
          </a:p>
          <a:p>
            <a:r>
              <a:rPr lang="en-GB" sz="1200" dirty="0"/>
              <a:t>(= your description of yourself on a social networking website).</a:t>
            </a:r>
            <a:endParaRPr lang="en-GB" dirty="0"/>
          </a:p>
          <a:p>
            <a:r>
              <a:rPr dirty="0"/>
              <a:t>the outline of a person's face when you look from the side, not the front</a:t>
            </a:r>
            <a:endParaRPr lang="en-GB" dirty="0"/>
          </a:p>
          <a:p>
            <a:endParaRPr dirty="0"/>
          </a:p>
          <a:p>
            <a:r>
              <a:rPr dirty="0"/>
              <a:t>She decided to keep a low profile until the scandal had died down.</a:t>
            </a:r>
          </a:p>
          <a:p>
            <a:r>
              <a:rPr dirty="0" err="1"/>
              <a:t>建立起公司客户的详细资料</a:t>
            </a:r>
            <a:r>
              <a:rPr dirty="0"/>
              <a:t>。</a:t>
            </a:r>
            <a:endParaRPr lang="en-GB" dirty="0"/>
          </a:p>
          <a:p>
            <a:r>
              <a:rPr lang="en-GB" dirty="0" err="1"/>
              <a:t>提升公司形象</a:t>
            </a:r>
            <a:endParaRPr dirty="0"/>
          </a:p>
          <a:p>
            <a:r>
              <a:rPr dirty="0" err="1"/>
              <a:t>本月期刊概述了大英帝国的兴衰</a:t>
            </a:r>
            <a:r>
              <a:rPr dirty="0"/>
              <a:t>。</a:t>
            </a:r>
            <a:endParaRPr lang="en-GB" dirty="0"/>
          </a:p>
          <a:p>
            <a:r>
              <a:rPr lang="en-GB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psychological profiling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4" name="Shape 29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帮你回忆学过的知识</a:t>
            </a:r>
            <a:r>
              <a:rPr dirty="0"/>
              <a:t>。</a:t>
            </a:r>
            <a:r>
              <a:rPr lang="en-GB" dirty="0"/>
              <a:t>/</a:t>
            </a:r>
            <a:r>
              <a:rPr lang="en-GB" dirty="0" err="1"/>
              <a:t>提醒自己</a:t>
            </a:r>
            <a:endParaRPr dirty="0"/>
          </a:p>
          <a:p>
            <a:r>
              <a:rPr dirty="0" err="1"/>
              <a:t>一场酣睡使她重又精力充沛</a:t>
            </a:r>
            <a:r>
              <a:rPr dirty="0"/>
              <a:t>。</a:t>
            </a:r>
            <a:endParaRPr lang="en-GB" dirty="0"/>
          </a:p>
          <a:p>
            <a:r>
              <a:rPr lang="zh-CN" altLang="en-US" dirty="0"/>
              <a:t>总算有一次受到认真对待，这变化真是令人耳目一新。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29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0" name="Shape 30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远距离通勤者每天都要在路上耽误很多时间。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Shape 30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7" name="Shape 3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durability of gold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latin typeface="Times New Roman"/>
                <a:ea typeface="Times New Roman"/>
                <a:cs typeface="Times New Roman"/>
              </a:rPr>
              <a:t>他们怎能证明付这么大笔薪金是正当的呢？</a:t>
            </a:r>
            <a:endParaRPr lang="en-GB" dirty="0"/>
          </a:p>
          <a:p>
            <a:r>
              <a:rPr dirty="0" err="1"/>
              <a:t>你不必向我解释你的理由。defend</a:t>
            </a:r>
            <a:endParaRPr dirty="0"/>
          </a:p>
          <a:p>
            <a:r>
              <a:rPr dirty="0" err="1"/>
              <a:t>我们怎么才能解释花那么多钱购买武器是正当的呢</a:t>
            </a:r>
            <a:r>
              <a:rPr dirty="0"/>
              <a:t>？</a:t>
            </a:r>
          </a:p>
          <a:p>
            <a:r>
              <a:rPr dirty="0" err="1"/>
              <a:t>合乎道德准则</a:t>
            </a:r>
            <a:r>
              <a:rPr dirty="0"/>
              <a:t>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2" name="Shape 3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这些意见与这项调查没有联系。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8" name="Shape 31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1200" dirty="0"/>
              <a:t>你的言外之意是不是我不能胜任这份工作？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7" name="Shape 3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 err="1"/>
              <a:t>扣押</a:t>
            </a:r>
            <a:endParaRPr lang="en-GB" dirty="0"/>
          </a:p>
          <a:p>
            <a:r>
              <a:rPr lang="en-GB" dirty="0" err="1"/>
              <a:t>把</a:t>
            </a:r>
            <a:r>
              <a:rPr lang="en-US" altLang="zh-CN" dirty="0"/>
              <a:t>……</a:t>
            </a:r>
            <a:r>
              <a:rPr lang="zh-CN" altLang="en-US" dirty="0"/>
              <a:t>从某人那里夺过来</a:t>
            </a:r>
            <a:endParaRPr lang="en-GB" altLang="zh-CN" dirty="0"/>
          </a:p>
          <a:p>
            <a:r>
              <a:rPr lang="en-GB" dirty="0" err="1"/>
              <a:t>夺取控制权</a:t>
            </a:r>
            <a:r>
              <a:rPr lang="zh-CN" altLang="en-US" dirty="0"/>
              <a:t>，夺取政权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94B20-2B27-9E29-1AF8-609B00AFE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C2C8F-3DBB-8415-C089-D7966AD0D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0F30F-AB15-21E7-06F4-2F6B36044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8FE22-7083-38D6-6045-CA124BFD4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D261C-B741-0444-75E4-31F27C74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31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61B1-061D-D84C-9913-ED0DDE47F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12744-B85C-5C78-BB26-7A1B2C19A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D3425-7C44-4096-2C6B-790B54207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5284F-F3EF-D4A7-E3C8-D8483455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D6CE0-8AAE-65FA-3E50-DB0CB4F7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6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32F29-8D1F-8A45-B14A-EC30E0AE1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A9284-3617-3B1F-45A7-4351BE898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3C1E4-2CF8-8D35-80A3-C30577CAC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109D9-39F0-27CE-A62E-1E1FA5CB1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1B4FF-F0C3-64AB-E78C-F7993097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82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846DE-49F1-90DC-8B1F-F94F00BF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72ED-616C-CF0C-8836-8505B0ABB9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4DD09-FDDE-4BAF-80FE-8F9D382C0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1F5C0-D72D-B639-BE2D-D7AB904BD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0EB66-FA55-3602-E836-677F0E76E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6A828D-DB29-A497-2C0C-78F7B5B61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EE1B-14E6-0F17-5A32-9B1EE5A15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EA6D3-F9F9-C560-2011-F98DF0E48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CAE31-4CAA-7C21-6885-CB916DCBB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F092E-AC77-A697-98DA-F80FAC1655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3AEA9-D95C-615D-6F37-D50214C61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1D5C80-2B05-4FB1-91EF-2D2EEF05A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920C8-235A-EBC9-4AE6-8B946C3A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A72C78-13BF-982E-21F1-FF75B82F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3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8F773-1F64-5E34-4833-38B38E439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70A021-0E2F-748D-8574-9E4C9419D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F870E-8C7F-264B-0737-6EBB56A3A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3A85E-0C9F-FDA8-4339-46EE7B91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9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612183-903F-9958-818C-A34258F0B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857BBE-DC8D-383E-E0B3-C062767BF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C3B1FB-EDE7-316E-8877-BE431866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67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D7BF-5391-CC0A-8BF3-D73E2A440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34037-DA63-A85F-83DB-632114E0F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1B201-A440-C563-AC55-334BA5966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B1EF3-84AE-02AD-6911-CD8F1817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217546-F4FF-2C33-FAEA-D5E3FDC6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A037D-F444-722B-EA25-DCF79264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48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B6F20-ACC2-5CF7-BA09-7302FBB88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17DAA1-DC42-0C1B-62AF-104E6150F7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FF2FA-6BD7-F2E0-185F-21C59D770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59261-7A4C-0696-5C3B-D5B6E880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A6994-F7B5-8F50-04F1-CA423AF1F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EB204-CAD0-015B-61DF-0CC609375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27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81631-8733-19A4-C73B-42E95B0D1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F3C740-D43B-A1EC-C3A1-6C70659C7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2FEAF-508F-7FF8-820D-8675A323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9B27F-4007-35E0-325E-90986A3A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DBCF3-11FF-172A-2631-6E7C7CEDD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382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8D142E-66EE-F3B3-9BDA-A7EB169F31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5BDB9-96D1-3E1E-9A6D-9C3E3D4C3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85CA7-9B3C-4643-F6F8-D7322FC5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FAD2E-FA7A-CBE5-726E-778FBFAA5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07C94-82C6-4F62-FFBF-3180B1F8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3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C8D9E8-0367-7F9C-2367-7203962A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55614-717E-E3F2-B82C-E52738113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05071-16D8-D295-AC46-3C92F96B51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5CAE1-C13D-AD4B-9167-1EED3DA502C5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ABD5E-1922-3D65-8CDC-F52E36FA2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1A233-D4D5-92B8-71FD-D364CE8913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482F8A-BC30-EC4C-80E8-E100EEC16A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1. odds…"/>
          <p:cNvSpPr txBox="1">
            <a:spLocks noGrp="1"/>
          </p:cNvSpPr>
          <p:nvPr>
            <p:ph type="subTitle" idx="1"/>
          </p:nvPr>
        </p:nvSpPr>
        <p:spPr>
          <a:xfrm>
            <a:off x="188739" y="105"/>
            <a:ext cx="11822137" cy="685789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the odds </a:t>
            </a:r>
            <a:r>
              <a:rPr lang="en-GB" sz="3200" b="1" i="1" dirty="0">
                <a:solidFill>
                  <a:srgbClr val="0433FF"/>
                </a:solidFill>
                <a:latin typeface="Times New Roman"/>
                <a:ea typeface="Times New Roman"/>
                <a:cs typeface="Times New Roman"/>
              </a:rPr>
              <a:t>(likelihood)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>
                <a:solidFill>
                  <a:srgbClr val="FF0000"/>
                </a:solidFill>
              </a:rPr>
              <a:t>The odds are that </a:t>
            </a:r>
            <a:r>
              <a:rPr sz="3200" dirty="0"/>
              <a:t>he will commit the same crime again.</a:t>
            </a:r>
          </a:p>
          <a:p>
            <a:pPr algn="l"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= </a:t>
            </a:r>
            <a:r>
              <a:rPr sz="3200" dirty="0"/>
              <a:t>It is likely that…/ Chances are that…</a:t>
            </a:r>
            <a:endParaRPr lang="en-GB" sz="3200" dirty="0"/>
          </a:p>
          <a:p>
            <a:pPr algn="l"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The odds are very much in our favour/against us.</a:t>
            </a:r>
            <a:endParaRPr sz="3200" dirty="0">
              <a:solidFill>
                <a:srgbClr val="FF0000"/>
              </a:solidFill>
            </a:endParaRP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>
                <a:solidFill>
                  <a:srgbClr val="FF0000"/>
                </a:solidFill>
              </a:rPr>
              <a:t>Against all the odds</a:t>
            </a:r>
            <a:r>
              <a:rPr sz="3200" dirty="0"/>
              <a:t>, we managed to get through to the final.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sym typeface="Times New Roman"/>
              </a:rPr>
              <a:t>These</a:t>
            </a:r>
            <a:r>
              <a:rPr lang="en-GB" sz="3200" i="1" dirty="0">
                <a:sym typeface="Times New Roman"/>
              </a:rPr>
              <a:t> </a:t>
            </a:r>
            <a:r>
              <a:rPr lang="en-GB" sz="3200" b="1" dirty="0">
                <a:sym typeface="Times New Roman"/>
              </a:rPr>
              <a:t>findings</a:t>
            </a:r>
            <a:r>
              <a:rPr lang="en-GB" sz="3200" i="1" dirty="0">
                <a:sym typeface="Times New Roman"/>
              </a:rPr>
              <a:t> </a:t>
            </a:r>
            <a:r>
              <a:rPr lang="en-GB" sz="3200" b="1" dirty="0">
                <a:sym typeface="Times New Roman"/>
              </a:rPr>
              <a:t>are</a:t>
            </a:r>
            <a:r>
              <a:rPr lang="en-GB" sz="3200" i="1" dirty="0">
                <a:solidFill>
                  <a:srgbClr val="FF0000"/>
                </a:solidFill>
                <a:sym typeface="Times New Roman"/>
              </a:rPr>
              <a:t> </a:t>
            </a:r>
            <a:r>
              <a:rPr lang="en-GB" sz="3200" b="1" dirty="0">
                <a:solidFill>
                  <a:srgbClr val="FF0000"/>
                </a:solidFill>
                <a:sym typeface="Times New Roman"/>
              </a:rPr>
              <a:t>at</a:t>
            </a:r>
            <a:r>
              <a:rPr lang="en-GB" sz="3200" i="1" dirty="0">
                <a:solidFill>
                  <a:srgbClr val="FF0000"/>
                </a:solidFill>
                <a:sym typeface="Times New Roman"/>
              </a:rPr>
              <a:t> </a:t>
            </a:r>
            <a:r>
              <a:rPr lang="en-GB" sz="3200" b="1" dirty="0">
                <a:solidFill>
                  <a:srgbClr val="FF0000"/>
                </a:solidFill>
                <a:sym typeface="Times New Roman"/>
              </a:rPr>
              <a:t>odds</a:t>
            </a:r>
            <a:r>
              <a:rPr lang="en-GB" sz="3200" i="1" dirty="0">
                <a:solidFill>
                  <a:srgbClr val="FF0000"/>
                </a:solidFill>
                <a:sym typeface="Times New Roman"/>
              </a:rPr>
              <a:t> </a:t>
            </a:r>
            <a:r>
              <a:rPr lang="en-GB" sz="3200" b="1" dirty="0">
                <a:solidFill>
                  <a:srgbClr val="FF0000"/>
                </a:solidFill>
                <a:sym typeface="Times New Roman"/>
              </a:rPr>
              <a:t>with</a:t>
            </a:r>
            <a:r>
              <a:rPr lang="en-GB" sz="3200" i="1" dirty="0">
                <a:solidFill>
                  <a:srgbClr val="FF0000"/>
                </a:solidFill>
                <a:sym typeface="Times New Roman"/>
              </a:rPr>
              <a:t> </a:t>
            </a:r>
            <a:r>
              <a:rPr lang="en-GB" sz="3200" b="1" dirty="0">
                <a:sym typeface="Times New Roman"/>
              </a:rPr>
              <a:t>what</a:t>
            </a:r>
            <a:r>
              <a:rPr lang="en-GB" sz="3200" i="1" dirty="0">
                <a:sym typeface="Times New Roman"/>
              </a:rPr>
              <a:t> </a:t>
            </a:r>
            <a:r>
              <a:rPr lang="en-GB" sz="3200" b="1" dirty="0">
                <a:sym typeface="Times New Roman"/>
              </a:rPr>
              <a:t>is</a:t>
            </a:r>
            <a:r>
              <a:rPr lang="zh-CN" altLang="en-US" sz="3200" b="1" dirty="0">
                <a:sym typeface="Times New Roman"/>
              </a:rPr>
              <a:t> </a:t>
            </a:r>
            <a:r>
              <a:rPr lang="en-GB" sz="3200" b="1" dirty="0">
                <a:sym typeface="Times New Roman"/>
              </a:rPr>
              <a:t>going</a:t>
            </a:r>
            <a:r>
              <a:rPr lang="zh-CN" altLang="en-US" sz="3200" b="1" i="1" dirty="0">
                <a:sym typeface="Times New Roman"/>
              </a:rPr>
              <a:t> </a:t>
            </a:r>
            <a:r>
              <a:rPr lang="en-GB" sz="3200" b="1" dirty="0">
                <a:sym typeface="Times New Roman"/>
              </a:rPr>
              <a:t>on</a:t>
            </a:r>
            <a:r>
              <a:rPr lang="zh-CN" altLang="en-US" sz="3200" b="1" i="1" dirty="0">
                <a:sym typeface="Times New Roman"/>
              </a:rPr>
              <a:t> </a:t>
            </a:r>
            <a:r>
              <a:rPr lang="en-GB" sz="3200" b="1" dirty="0">
                <a:sym typeface="Times New Roman"/>
              </a:rPr>
              <a:t>in</a:t>
            </a:r>
            <a:r>
              <a:rPr lang="zh-CN" altLang="en-US" sz="3200" b="1" i="1" dirty="0">
                <a:sym typeface="Times New Roman"/>
              </a:rPr>
              <a:t> </a:t>
            </a:r>
            <a:r>
              <a:rPr lang="en-GB" sz="3200" b="1" dirty="0">
                <a:sym typeface="Times New Roman"/>
              </a:rPr>
              <a:t>the</a:t>
            </a:r>
            <a:r>
              <a:rPr lang="zh-CN" altLang="en-US" sz="3200" b="1" i="1" dirty="0">
                <a:sym typeface="Times New Roman"/>
              </a:rPr>
              <a:t> </a:t>
            </a:r>
            <a:r>
              <a:rPr lang="en-GB" sz="3200" b="1" dirty="0">
                <a:sym typeface="Times New Roman"/>
              </a:rPr>
              <a:t>rest</a:t>
            </a:r>
            <a:r>
              <a:rPr lang="zh-CN" altLang="en-US" sz="3200" b="1" i="1" dirty="0">
                <a:sym typeface="Times New Roman"/>
              </a:rPr>
              <a:t> </a:t>
            </a:r>
            <a:r>
              <a:rPr lang="en-GB" sz="3200" b="1" dirty="0">
                <a:sym typeface="Times New Roman"/>
              </a:rPr>
              <a:t>of</a:t>
            </a:r>
            <a:r>
              <a:rPr lang="zh-CN" altLang="en-US" sz="3200" b="1" i="1" dirty="0">
                <a:sym typeface="Times New Roman"/>
              </a:rPr>
              <a:t> </a:t>
            </a:r>
            <a:r>
              <a:rPr lang="en-GB" sz="3200" b="1" dirty="0">
                <a:sym typeface="Times New Roman"/>
              </a:rPr>
              <a:t>the</a:t>
            </a:r>
            <a:r>
              <a:rPr lang="en-US" sz="3200" b="1" i="1" dirty="0">
                <a:sym typeface="Times New Roman"/>
              </a:rPr>
              <a:t> </a:t>
            </a:r>
            <a:r>
              <a:rPr lang="en-US" sz="3200" b="1" dirty="0">
                <a:sym typeface="Times New Roman"/>
              </a:rPr>
              <a:t>c</a:t>
            </a:r>
            <a:r>
              <a:rPr lang="en-GB" sz="3200" b="1" dirty="0" err="1">
                <a:sym typeface="Times New Roman"/>
              </a:rPr>
              <a:t>ountry</a:t>
            </a:r>
            <a:r>
              <a:rPr lang="en-GB" sz="3200" b="1" i="1" dirty="0">
                <a:sym typeface="Times New Roman"/>
              </a:rPr>
              <a:t>.</a:t>
            </a:r>
            <a:r>
              <a:rPr lang="en-GB" sz="3200" i="1" dirty="0">
                <a:sym typeface="Times New Roman"/>
              </a:rPr>
              <a:t> </a:t>
            </a:r>
            <a:r>
              <a:rPr lang="zh-CN" altLang="en-GB" sz="3200" b="1" dirty="0">
                <a:sym typeface="Times New Roman"/>
              </a:rPr>
              <a:t>与</a:t>
            </a:r>
            <a:r>
              <a:rPr lang="en-US" altLang="zh-CN" sz="3200" b="1" dirty="0">
                <a:sym typeface="Times New Roman"/>
              </a:rPr>
              <a:t>……</a:t>
            </a:r>
            <a:r>
              <a:rPr lang="zh-CN" altLang="en-US" sz="3200" b="1" dirty="0">
                <a:sym typeface="Times New Roman"/>
              </a:rPr>
              <a:t>有分歧</a:t>
            </a:r>
            <a:r>
              <a:rPr lang="zh-CN" altLang="en-US" sz="3200" b="1" i="1" dirty="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altLang="zh-CN" sz="3200" b="1" i="1" dirty="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conflict with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 architect favored small kitchens and closets—</a:t>
            </a:r>
            <a:r>
              <a:rPr sz="3200" dirty="0">
                <a:solidFill>
                  <a:srgbClr val="FF0000"/>
                </a:solidFill>
              </a:rPr>
              <a:t>at odds with </a:t>
            </a:r>
            <a:r>
              <a:rPr sz="3200" dirty="0"/>
              <a:t>current tastes—and usually omitted basements.</a:t>
            </a:r>
            <a:endParaRPr lang="en-GB" sz="3200" dirty="0"/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b="1" dirty="0">
                <a:latin typeface="Times New Roman"/>
                <a:ea typeface="Times New Roman"/>
                <a:cs typeface="Times New Roman"/>
              </a:rPr>
              <a:t>一位顾问说这两个国家不会一直这样争执下去。</a:t>
            </a:r>
            <a:endParaRPr lang="en-GB" sz="3200" dirty="0"/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latin typeface="Times New Roman"/>
                <a:ea typeface="Times New Roman"/>
                <a:cs typeface="Times New Roman"/>
              </a:rPr>
              <a:t>An adviser said there was no reason why the two countries should _______ ___ ______.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an </a:t>
            </a:r>
            <a:r>
              <a:rPr sz="3200" dirty="0">
                <a:solidFill>
                  <a:srgbClr val="FF2600"/>
                </a:solidFill>
              </a:rPr>
              <a:t>odd</a:t>
            </a:r>
            <a:r>
              <a:rPr sz="3200" dirty="0"/>
              <a:t>-looking house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B97D0F-F211-4311-DA0C-3F97C7303A80}"/>
              </a:ext>
            </a:extLst>
          </p:cNvPr>
          <p:cNvSpPr txBox="1"/>
          <p:nvPr/>
        </p:nvSpPr>
        <p:spPr>
          <a:xfrm>
            <a:off x="357507" y="5809891"/>
            <a:ext cx="6231919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remain   at   odds</a:t>
            </a:r>
            <a:endParaRPr lang="zh-CN" altLang="en-US" sz="32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2. applicant…"/>
          <p:cNvSpPr txBox="1">
            <a:spLocks noGrp="1"/>
          </p:cNvSpPr>
          <p:nvPr>
            <p:ph type="subTitle" idx="1"/>
          </p:nvPr>
        </p:nvSpPr>
        <p:spPr>
          <a:xfrm>
            <a:off x="1" y="105"/>
            <a:ext cx="12191999" cy="8041384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apply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_____ _____ the company _____ a job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They can better ______ theory ______ practice.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He has </a:t>
            </a:r>
            <a:r>
              <a:rPr sz="3200" dirty="0">
                <a:solidFill>
                  <a:srgbClr val="FF0000"/>
                </a:solidFill>
              </a:rPr>
              <a:t>applied himself to </a:t>
            </a:r>
            <a:r>
              <a:rPr sz="3200" dirty="0"/>
              <a:t>this task with considerable energy.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该规定对于在公司里拥有股份的人适用</a:t>
            </a:r>
            <a:r>
              <a:rPr sz="3200" dirty="0"/>
              <a:t>。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 rule applies ______ a person owns stock in a corporation.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The rule _______ ______ </a:t>
            </a:r>
            <a:r>
              <a:rPr sz="3200" dirty="0"/>
              <a:t>the person </a:t>
            </a:r>
            <a:r>
              <a:rPr sz="3200" i="1" dirty="0"/>
              <a:t>who owns</a:t>
            </a:r>
            <a:r>
              <a:rPr sz="3200" dirty="0"/>
              <a:t>…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What is a reasonable standard for one family is not __________ </a:t>
            </a:r>
            <a:r>
              <a:rPr lang="en-GB" sz="3200" dirty="0"/>
              <a:t>to</a:t>
            </a:r>
            <a:r>
              <a:rPr sz="3200" dirty="0"/>
              <a:t> another.</a:t>
            </a:r>
            <a:r>
              <a:rPr lang="zh-CN" altLang="en-US" sz="3200" dirty="0"/>
              <a:t> </a:t>
            </a:r>
            <a:r>
              <a:rPr sz="3200" dirty="0" err="1"/>
              <a:t>对一个家庭合理的标准对于另一个家庭并不适用</a:t>
            </a:r>
            <a:r>
              <a:rPr sz="3200" dirty="0"/>
              <a:t>。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 __________ of new technology to teaching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an _______ _______ a job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54AEF-3BEB-BF4E-EC54-ECCCA0BD2B71}"/>
              </a:ext>
            </a:extLst>
          </p:cNvPr>
          <p:cNvSpPr txBox="1"/>
          <p:nvPr/>
        </p:nvSpPr>
        <p:spPr>
          <a:xfrm>
            <a:off x="246081" y="483406"/>
            <a:ext cx="5405325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  to             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for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F091A6-81D2-3796-D8AA-56C518FAAF80}"/>
              </a:ext>
            </a:extLst>
          </p:cNvPr>
          <p:cNvSpPr txBox="1"/>
          <p:nvPr/>
        </p:nvSpPr>
        <p:spPr>
          <a:xfrm>
            <a:off x="2821921" y="1022278"/>
            <a:ext cx="3602508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            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316F9-C622-B464-29D6-270A2213ED5F}"/>
              </a:ext>
            </a:extLst>
          </p:cNvPr>
          <p:cNvSpPr txBox="1"/>
          <p:nvPr/>
        </p:nvSpPr>
        <p:spPr>
          <a:xfrm>
            <a:off x="2047335" y="2692457"/>
            <a:ext cx="3058764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3FC2B-78F9-C23C-94C9-E6DF29FD6C5C}"/>
              </a:ext>
            </a:extLst>
          </p:cNvPr>
          <p:cNvSpPr txBox="1"/>
          <p:nvPr/>
        </p:nvSpPr>
        <p:spPr>
          <a:xfrm>
            <a:off x="1147490" y="3259189"/>
            <a:ext cx="3602508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applies      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206B1-A4B0-5C65-583B-6F9C95589133}"/>
              </a:ext>
            </a:extLst>
          </p:cNvPr>
          <p:cNvSpPr txBox="1"/>
          <p:nvPr/>
        </p:nvSpPr>
        <p:spPr>
          <a:xfrm>
            <a:off x="8149617" y="3823765"/>
            <a:ext cx="3602508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applicable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9B7B11-9198-5A67-322B-3D1BA3A667B4}"/>
              </a:ext>
            </a:extLst>
          </p:cNvPr>
          <p:cNvSpPr txBox="1"/>
          <p:nvPr/>
        </p:nvSpPr>
        <p:spPr>
          <a:xfrm>
            <a:off x="0" y="4905820"/>
            <a:ext cx="3602508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9D2167-CCF4-9940-A37B-13844D50E8D4}"/>
              </a:ext>
            </a:extLst>
          </p:cNvPr>
          <p:cNvSpPr txBox="1"/>
          <p:nvPr/>
        </p:nvSpPr>
        <p:spPr>
          <a:xfrm>
            <a:off x="81264" y="5470396"/>
            <a:ext cx="3602508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applicant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" grpId="0" uiExpand="1" build="p" bldLvl="5" animBg="1" advAuto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3. prior…"/>
          <p:cNvSpPr txBox="1">
            <a:spLocks noGrp="1"/>
          </p:cNvSpPr>
          <p:nvPr>
            <p:ph type="subTitle" idx="1"/>
          </p:nvPr>
        </p:nvSpPr>
        <p:spPr>
          <a:xfrm>
            <a:off x="0" y="105"/>
            <a:ext cx="12191999" cy="8041384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Although not essential, some ______ ____________ (</a:t>
            </a:r>
            <a:r>
              <a:rPr lang="en-GB" sz="3200" dirty="0" err="1"/>
              <a:t>之前的知识</a:t>
            </a:r>
            <a:r>
              <a:rPr lang="en-GB" sz="3200" dirty="0"/>
              <a:t>) of statistics is desirable.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She will be unable to attend because of a </a:t>
            </a:r>
            <a:r>
              <a:rPr sz="3200" dirty="0">
                <a:solidFill>
                  <a:srgbClr val="FF0000"/>
                </a:solidFill>
              </a:rPr>
              <a:t>prior engagement</a:t>
            </a:r>
            <a:r>
              <a:rPr sz="3200" dirty="0"/>
              <a:t>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Book your tickets at least two weeks _</a:t>
            </a:r>
            <a:r>
              <a:rPr lang="en-US" sz="3200" dirty="0"/>
              <a:t>__</a:t>
            </a:r>
            <a:r>
              <a:rPr sz="3200" dirty="0"/>
              <a:t>___ __ your _</a:t>
            </a:r>
            <a:r>
              <a:rPr lang="en-GB" sz="3200" dirty="0"/>
              <a:t>____</a:t>
            </a:r>
            <a:r>
              <a:rPr sz="3200" dirty="0"/>
              <a:t>____.</a:t>
            </a:r>
            <a:r>
              <a:rPr lang="en-GB" sz="3200" dirty="0" err="1"/>
              <a:t>在你离开前</a:t>
            </a:r>
            <a:endParaRPr sz="3200" dirty="0"/>
          </a:p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They </a:t>
            </a:r>
            <a:r>
              <a:rPr sz="3200" dirty="0">
                <a:solidFill>
                  <a:srgbClr val="FF0000"/>
                </a:solidFill>
              </a:rPr>
              <a:t>have a prior claim to </a:t>
            </a:r>
            <a:r>
              <a:rPr sz="3200" dirty="0"/>
              <a:t>the property.</a:t>
            </a:r>
            <a:endParaRPr lang="en-GB" sz="3200" dirty="0"/>
          </a:p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他们有权优先获得该处房产</a:t>
            </a:r>
            <a:r>
              <a:rPr sz="3200" dirty="0"/>
              <a:t>。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(</a:t>
            </a:r>
            <a:r>
              <a:rPr sz="3200" dirty="0">
                <a:solidFill>
                  <a:srgbClr val="FF2600"/>
                </a:solidFill>
              </a:rPr>
              <a:t>priority</a:t>
            </a:r>
            <a:r>
              <a:rPr sz="3200" dirty="0"/>
              <a:t>, </a:t>
            </a:r>
            <a:r>
              <a:rPr sz="3200" dirty="0">
                <a:solidFill>
                  <a:srgbClr val="FF2600"/>
                </a:solidFill>
              </a:rPr>
              <a:t>prioritize</a:t>
            </a:r>
            <a:r>
              <a:rPr sz="3200" dirty="0"/>
              <a:t>)</a:t>
            </a:r>
            <a:endParaRPr lang="en-GB" sz="3200" dirty="0"/>
          </a:p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/>
              <a:t>将要做的事情列出来，然后决定其优先顺序。</a:t>
            </a:r>
            <a:endParaRPr lang="en-GB" sz="3200" dirty="0"/>
          </a:p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Make lists of what to do and </a:t>
            </a:r>
            <a:r>
              <a:rPr lang="en-GB" sz="3200" dirty="0">
                <a:solidFill>
                  <a:srgbClr val="FF0000"/>
                </a:solidFill>
              </a:rPr>
              <a:t>prioritize your tasks</a:t>
            </a:r>
            <a:r>
              <a:rPr lang="en-GB" sz="3200" dirty="0"/>
              <a:t>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 err="1"/>
              <a:t>sth</a:t>
            </a:r>
            <a:r>
              <a:rPr lang="en-GB" sz="3200" dirty="0"/>
              <a:t> is my _____ _______. </a:t>
            </a:r>
            <a:r>
              <a:rPr lang="en-GB" sz="3200" dirty="0" err="1"/>
              <a:t>头等大事</a:t>
            </a:r>
            <a:endParaRPr lang="en-GB" sz="3200" dirty="0"/>
          </a:p>
          <a:p>
            <a:pPr algn="l">
              <a:lnSpc>
                <a:spcPct val="100000"/>
              </a:lnSpc>
              <a:spcBef>
                <a:spcPts val="600"/>
              </a:spcBef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 err="1"/>
              <a:t>优先考虑某事</a:t>
            </a:r>
            <a:endParaRPr lang="en-GB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3BCA8E-49AB-14AA-DD58-DD583ADE4420}"/>
              </a:ext>
            </a:extLst>
          </p:cNvPr>
          <p:cNvSpPr txBox="1"/>
          <p:nvPr/>
        </p:nvSpPr>
        <p:spPr>
          <a:xfrm>
            <a:off x="6234022" y="1600544"/>
            <a:ext cx="5034262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          departure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6E4E9-D966-2065-D824-3AF60E29D497}"/>
              </a:ext>
            </a:extLst>
          </p:cNvPr>
          <p:cNvSpPr txBox="1"/>
          <p:nvPr/>
        </p:nvSpPr>
        <p:spPr>
          <a:xfrm>
            <a:off x="5184475" y="-50958"/>
            <a:ext cx="63662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    knowledge 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B60DA5-C87D-5010-997A-B65571BB199F}"/>
              </a:ext>
            </a:extLst>
          </p:cNvPr>
          <p:cNvSpPr txBox="1"/>
          <p:nvPr/>
        </p:nvSpPr>
        <p:spPr>
          <a:xfrm>
            <a:off x="1710904" y="5496810"/>
            <a:ext cx="2705820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0A4AB-FC92-7F5F-C47C-1678A2BC691E}"/>
              </a:ext>
            </a:extLst>
          </p:cNvPr>
          <p:cNvSpPr txBox="1"/>
          <p:nvPr/>
        </p:nvSpPr>
        <p:spPr>
          <a:xfrm>
            <a:off x="2467152" y="6000306"/>
            <a:ext cx="4416727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 to </a:t>
            </a:r>
            <a:r>
              <a:rPr lang="en-GB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sth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7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7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7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" grpId="0" uiExpand="1" build="p" bldLvl="5" advAuto="0"/>
      <p:bldP spid="2" grpId="0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410" y="0"/>
            <a:ext cx="2064589" cy="2105880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4.profile…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11835442" cy="6641432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a picture of a person </a:t>
            </a:r>
            <a:r>
              <a:rPr sz="3200" dirty="0">
                <a:solidFill>
                  <a:srgbClr val="FF0000"/>
                </a:solidFill>
              </a:rPr>
              <a:t>in profile 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侧画像</a:t>
            </a:r>
            <a:endParaRPr lang="en-GB" sz="3200" dirty="0"/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You can update your Facebook </a:t>
            </a:r>
            <a:r>
              <a:rPr lang="en-GB" sz="3200" dirty="0">
                <a:solidFill>
                  <a:srgbClr val="FF0000"/>
                </a:solidFill>
              </a:rPr>
              <a:t>profile</a:t>
            </a:r>
            <a:r>
              <a:rPr lang="en-GB" sz="3200" dirty="0"/>
              <a:t>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(= your description of yourself on a social networking website).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This issue has </a:t>
            </a:r>
            <a:r>
              <a:rPr lang="en-GB" sz="3200" dirty="0">
                <a:solidFill>
                  <a:srgbClr val="FF0000"/>
                </a:solidFill>
              </a:rPr>
              <a:t>had a high profile </a:t>
            </a:r>
            <a:r>
              <a:rPr lang="en-GB" sz="3200" dirty="0"/>
              <a:t>in recent months.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 err="1"/>
              <a:t>惹人关注</a:t>
            </a:r>
            <a:r>
              <a:rPr lang="zh-CN" altLang="en-US" sz="3200" dirty="0"/>
              <a:t> </a:t>
            </a:r>
            <a:r>
              <a:rPr lang="en-GB" altLang="zh-CN" sz="3200" b="1" i="1" dirty="0">
                <a:solidFill>
                  <a:srgbClr val="0433FF"/>
                </a:solidFill>
                <a:latin typeface="Times New Roman"/>
                <a:ea typeface="Times New Roman"/>
                <a:cs typeface="Times New Roman"/>
              </a:rPr>
              <a:t>attention from the public</a:t>
            </a:r>
            <a:endParaRPr lang="en-GB" sz="3200" b="1" i="1" dirty="0">
              <a:solidFill>
                <a:srgbClr val="0433FF"/>
              </a:solidFill>
              <a:latin typeface="Times New Roman"/>
              <a:ea typeface="Times New Roman"/>
              <a:cs typeface="Times New Roman"/>
            </a:endParaRP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I advised her to </a:t>
            </a:r>
            <a:r>
              <a:rPr lang="en-GB" sz="3200" dirty="0">
                <a:solidFill>
                  <a:srgbClr val="FF0000"/>
                </a:solidFill>
              </a:rPr>
              <a:t>keep a low profile </a:t>
            </a:r>
            <a:r>
              <a:rPr lang="en-GB" sz="3200" dirty="0"/>
              <a:t>for the next few days.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 data will enable us to</a:t>
            </a:r>
            <a:r>
              <a:rPr sz="3200" dirty="0">
                <a:solidFill>
                  <a:srgbClr val="0433FF"/>
                </a:solidFill>
              </a:rPr>
              <a:t> </a:t>
            </a:r>
            <a:r>
              <a:rPr sz="3200" u="sng" dirty="0">
                <a:solidFill>
                  <a:srgbClr val="FF0000"/>
                </a:solidFill>
              </a:rPr>
              <a:t>construct</a:t>
            </a:r>
            <a:r>
              <a:rPr sz="3200" dirty="0">
                <a:solidFill>
                  <a:srgbClr val="FF0000"/>
                </a:solidFill>
              </a:rPr>
              <a:t>/</a:t>
            </a:r>
            <a:r>
              <a:rPr sz="3200" u="sng" dirty="0">
                <a:solidFill>
                  <a:srgbClr val="FF0000"/>
                </a:solidFill>
              </a:rPr>
              <a:t>build up</a:t>
            </a:r>
            <a:r>
              <a:rPr sz="3200" dirty="0">
                <a:solidFill>
                  <a:srgbClr val="FF0000"/>
                </a:solidFill>
              </a:rPr>
              <a:t> a detailed profile of </a:t>
            </a:r>
            <a:r>
              <a:rPr sz="3200" dirty="0"/>
              <a:t>the firm’s clients.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a campaign to </a:t>
            </a:r>
            <a:r>
              <a:rPr sz="3200" dirty="0">
                <a:solidFill>
                  <a:srgbClr val="FF0000"/>
                </a:solidFill>
              </a:rPr>
              <a:t>raise the profile of </a:t>
            </a:r>
            <a:r>
              <a:rPr sz="3200" dirty="0"/>
              <a:t>the city as a cultural leader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 rise and fall of the British Empire _____ _____ in this month’s journal.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CC80B7-4A6B-1CB4-D8DA-34FC6F90CA85}"/>
              </a:ext>
            </a:extLst>
          </p:cNvPr>
          <p:cNvSpPr txBox="1"/>
          <p:nvPr/>
        </p:nvSpPr>
        <p:spPr>
          <a:xfrm>
            <a:off x="6523536" y="5424621"/>
            <a:ext cx="2705820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is  profiled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9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animBg="1" advAuto="0"/>
      <p:bldP spid="283" grpId="0" build="p" bldLvl="5" advAuto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5. refresh…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Reading through your notes before the exam can </a:t>
            </a:r>
            <a:r>
              <a:rPr lang="en-US" altLang="zh-CN" sz="3200" dirty="0">
                <a:solidFill>
                  <a:srgbClr val="FF0000"/>
                </a:solidFill>
              </a:rPr>
              <a:t>refresh</a:t>
            </a:r>
            <a:r>
              <a:rPr lang="zh-CN" altLang="en-US" sz="3200" dirty="0">
                <a:solidFill>
                  <a:srgbClr val="FF0000"/>
                </a:solidFill>
              </a:rPr>
              <a:t> </a:t>
            </a:r>
            <a:r>
              <a:rPr lang="en-GB" altLang="zh-CN" sz="3200" dirty="0">
                <a:solidFill>
                  <a:srgbClr val="FF0000"/>
                </a:solidFill>
              </a:rPr>
              <a:t>your memory</a:t>
            </a:r>
            <a:r>
              <a:rPr lang="en-GB" altLang="zh-CN" sz="3200" dirty="0"/>
              <a:t>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 page </a:t>
            </a:r>
            <a:r>
              <a:rPr sz="3200" dirty="0">
                <a:solidFill>
                  <a:srgbClr val="FF0000"/>
                </a:solidFill>
              </a:rPr>
              <a:t>refreshes</a:t>
            </a:r>
            <a:r>
              <a:rPr sz="3200" dirty="0">
                <a:solidFill>
                  <a:srgbClr val="0433FF"/>
                </a:solidFill>
              </a:rPr>
              <a:t> </a:t>
            </a:r>
            <a:r>
              <a:rPr sz="3200" dirty="0"/>
              <a:t>automatically.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 long sleep had </a:t>
            </a:r>
            <a:r>
              <a:rPr sz="3200" dirty="0">
                <a:solidFill>
                  <a:srgbClr val="FF0000"/>
                </a:solidFill>
              </a:rPr>
              <a:t>refreshed her</a:t>
            </a:r>
            <a:r>
              <a:rPr sz="3200" dirty="0"/>
              <a:t>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She _______ ________ after a long sleep.</a:t>
            </a:r>
            <a:r>
              <a:rPr lang="zh-CN" altLang="en-US" sz="3200" dirty="0"/>
              <a:t> 感到爽快</a:t>
            </a:r>
            <a:endParaRPr sz="3200" dirty="0"/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a _________ drink</a:t>
            </a:r>
            <a:r>
              <a:rPr lang="en-GB" sz="3200" dirty="0"/>
              <a:t> </a:t>
            </a:r>
            <a:r>
              <a:rPr lang="en-GB" sz="3200" dirty="0" err="1"/>
              <a:t>提神饮品</a:t>
            </a:r>
            <a:endParaRPr lang="en-GB" sz="3200" dirty="0"/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It's </a:t>
            </a:r>
            <a:r>
              <a:rPr lang="en-GB" sz="3200" dirty="0">
                <a:solidFill>
                  <a:srgbClr val="FF0000"/>
                </a:solidFill>
              </a:rPr>
              <a:t>refreshing</a:t>
            </a:r>
            <a:r>
              <a:rPr lang="en-GB" sz="3200" dirty="0"/>
              <a:t> to hear somebody speaking common sense.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/>
              <a:t>听到有人说话通情达理真是令人耳目一新。</a:t>
            </a:r>
            <a:endParaRPr lang="en-GB" altLang="zh-CN" sz="3200" dirty="0"/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It </a:t>
            </a:r>
            <a:r>
              <a:rPr lang="en-GB" sz="3200" dirty="0">
                <a:solidFill>
                  <a:srgbClr val="FF0000"/>
                </a:solidFill>
              </a:rPr>
              <a:t>made a refreshing change</a:t>
            </a:r>
            <a:r>
              <a:rPr lang="en-GB" sz="3200" dirty="0"/>
              <a:t> to be taken seriously for once.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refreshingly different</a:t>
            </a:r>
            <a:r>
              <a:rPr lang="en-GB" sz="3200" dirty="0"/>
              <a:t> </a:t>
            </a:r>
            <a:r>
              <a:rPr lang="en-GB" sz="3200" dirty="0" err="1"/>
              <a:t>焕然一新</a:t>
            </a:r>
            <a:endParaRPr lang="en-GB" sz="3200" dirty="0"/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light </a:t>
            </a:r>
            <a:r>
              <a:rPr sz="3200" dirty="0">
                <a:solidFill>
                  <a:srgbClr val="FF2600"/>
                </a:solidFill>
              </a:rPr>
              <a:t>refreshment</a:t>
            </a:r>
            <a:r>
              <a:rPr sz="3200" dirty="0"/>
              <a:t>s (n. (</a:t>
            </a:r>
            <a:r>
              <a:rPr sz="3200" dirty="0" err="1"/>
              <a:t>公共</a:t>
            </a:r>
            <a:r>
              <a:rPr sz="3200" dirty="0"/>
              <a:t>)</a:t>
            </a:r>
            <a:r>
              <a:rPr sz="3200" dirty="0" err="1"/>
              <a:t>饮料，小食</a:t>
            </a:r>
            <a:r>
              <a:rPr sz="32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C0E251-B6F7-816A-9FBC-BB84556D667F}"/>
              </a:ext>
            </a:extLst>
          </p:cNvPr>
          <p:cNvSpPr txBox="1"/>
          <p:nvPr/>
        </p:nvSpPr>
        <p:spPr>
          <a:xfrm>
            <a:off x="916820" y="2103906"/>
            <a:ext cx="2705820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felt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refreshed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D464A7-0C35-B3B9-CED3-2F39E1687225}"/>
              </a:ext>
            </a:extLst>
          </p:cNvPr>
          <p:cNvSpPr txBox="1"/>
          <p:nvPr/>
        </p:nvSpPr>
        <p:spPr>
          <a:xfrm>
            <a:off x="0" y="2668482"/>
            <a:ext cx="2705820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refreshing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2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8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" grpId="0" uiExpand="1" build="p" bldLvl="5" advAuto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6. delay…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Commuters face long </a:t>
            </a:r>
            <a:r>
              <a:rPr sz="3200" dirty="0">
                <a:solidFill>
                  <a:srgbClr val="FF2600"/>
                </a:solidFill>
              </a:rPr>
              <a:t>delays</a:t>
            </a:r>
            <a:r>
              <a:rPr sz="3200" dirty="0"/>
              <a:t> on the roads every day.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Report it to the police _______ _______.</a:t>
            </a:r>
            <a:r>
              <a:rPr lang="en-GB" sz="3200" dirty="0"/>
              <a:t> </a:t>
            </a:r>
            <a:r>
              <a:rPr lang="en-GB" sz="3200" dirty="0" err="1"/>
              <a:t>赶快</a:t>
            </a:r>
            <a:endParaRPr sz="3200" dirty="0"/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I ________ _________ it to the police.</a:t>
            </a:r>
            <a:r>
              <a:rPr lang="en-GB" sz="3200" dirty="0"/>
              <a:t> </a:t>
            </a:r>
            <a:r>
              <a:rPr lang="en-GB" sz="3200" dirty="0" err="1"/>
              <a:t>我没有马上把消息告诉警方</a:t>
            </a:r>
            <a:r>
              <a:rPr lang="zh-CN" altLang="en-US" sz="3200" dirty="0"/>
              <a:t>。</a:t>
            </a:r>
            <a:endParaRPr sz="3200" dirty="0"/>
          </a:p>
          <a:p>
            <a:pPr algn="l">
              <a:lnSpc>
                <a:spcPct val="90000"/>
              </a:lnSpc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postpone </a:t>
            </a:r>
            <a:r>
              <a:rPr sz="3200" dirty="0">
                <a:solidFill>
                  <a:srgbClr val="FF0000"/>
                </a:solidFill>
              </a:rPr>
              <a:t>/ put off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Commuters </a:t>
            </a:r>
            <a:r>
              <a:rPr sz="3200" dirty="0">
                <a:solidFill>
                  <a:srgbClr val="FF0000"/>
                </a:solidFill>
              </a:rPr>
              <a:t>were delayed </a:t>
            </a:r>
            <a:r>
              <a:rPr sz="3200" dirty="0"/>
              <a:t>for two hours today.</a:t>
            </a:r>
            <a:endParaRPr lang="en-GB" sz="3200" dirty="0"/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 err="1"/>
              <a:t>被耽搁</a:t>
            </a:r>
            <a:r>
              <a:rPr lang="zh-CN" altLang="en-US" sz="3200" dirty="0"/>
              <a:t> </a:t>
            </a:r>
            <a:r>
              <a:rPr sz="3200" b="1" i="1" dirty="0">
                <a:solidFill>
                  <a:srgbClr val="0433FF"/>
                </a:solidFill>
                <a:latin typeface="Times New Roman"/>
                <a:ea typeface="Times New Roman"/>
                <a:cs typeface="Times New Roman"/>
              </a:rPr>
              <a:t>hold up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0EC7BE-46E7-E23D-36C1-628215E94EE9}"/>
              </a:ext>
            </a:extLst>
          </p:cNvPr>
          <p:cNvSpPr txBox="1"/>
          <p:nvPr/>
        </p:nvSpPr>
        <p:spPr>
          <a:xfrm>
            <a:off x="3948778" y="539800"/>
            <a:ext cx="2705820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without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  </a:t>
            </a:r>
            <a:r>
              <a:rPr lang="en-GB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delay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697896-6E2C-F490-1651-1ECF361B93BB}"/>
              </a:ext>
            </a:extLst>
          </p:cNvPr>
          <p:cNvSpPr txBox="1"/>
          <p:nvPr/>
        </p:nvSpPr>
        <p:spPr>
          <a:xfrm>
            <a:off x="198783" y="1104376"/>
            <a:ext cx="3749995" cy="56457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5718" tIns="35718" rIns="35718" bIns="35718" numCol="1" spcCol="38100" rtlCol="0" anchor="ctr">
            <a:spAutoFit/>
          </a:bodyPr>
          <a:lstStyle/>
          <a:p>
            <a:pPr algn="ctr" defTabSz="410751" hangingPunct="0"/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Light"/>
              </a:rPr>
              <a:t>delayed  reporting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Light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2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uiExpand="1" build="p" bldLvl="5" advAuto="0"/>
      <p:bldP spid="2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negotiations for a ________ peace…"/>
          <p:cNvSpPr txBox="1">
            <a:spLocks noGrp="1"/>
          </p:cNvSpPr>
          <p:nvPr>
            <p:ph type="subTitle" idx="1"/>
          </p:nvPr>
        </p:nvSpPr>
        <p:spPr>
          <a:xfrm>
            <a:off x="0" y="109465"/>
            <a:ext cx="11527837" cy="8041384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durable</a:t>
            </a:r>
            <a:r>
              <a:rPr lang="en-GB" sz="3200" dirty="0"/>
              <a:t> plastics</a:t>
            </a:r>
            <a:endParaRPr sz="3200" dirty="0"/>
          </a:p>
          <a:p>
            <a:pPr algn="l">
              <a:lnSpc>
                <a:spcPct val="90000"/>
              </a:lnSpc>
              <a:defRPr sz="3800"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durability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rudely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rudeness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justify (</a:t>
            </a:r>
            <a:r>
              <a:rPr lang="en-GB" sz="3200" dirty="0" err="1">
                <a:solidFill>
                  <a:srgbClr val="FF0000"/>
                </a:solidFill>
              </a:rPr>
              <a:t>sth</a:t>
            </a:r>
            <a:r>
              <a:rPr lang="en-GB" sz="3200" dirty="0">
                <a:solidFill>
                  <a:srgbClr val="FF0000"/>
                </a:solidFill>
              </a:rPr>
              <a:t>): </a:t>
            </a:r>
            <a:r>
              <a:rPr lang="en-GB" sz="3200" b="1" i="1" dirty="0">
                <a:solidFill>
                  <a:srgbClr val="0433FF"/>
                </a:solidFill>
                <a:latin typeface="Times New Roman"/>
                <a:ea typeface="Times New Roman"/>
                <a:cs typeface="Times New Roman"/>
              </a:rPr>
              <a:t>prove to be right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dirty="0">
                <a:latin typeface="Times New Roman"/>
                <a:ea typeface="Times New Roman"/>
                <a:cs typeface="Times New Roman"/>
              </a:rPr>
              <a:t>How can they </a:t>
            </a:r>
            <a:r>
              <a:rPr lang="en-GB" sz="3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justify</a:t>
            </a:r>
            <a:r>
              <a:rPr lang="en-GB" sz="3200" b="1" dirty="0">
                <a:latin typeface="Times New Roman"/>
                <a:ea typeface="Times New Roman"/>
                <a:cs typeface="Times New Roman"/>
              </a:rPr>
              <a:t> paying such huge salaries?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b="1" i="1" dirty="0">
                <a:solidFill>
                  <a:srgbClr val="0433FF"/>
                </a:solidFill>
                <a:latin typeface="Times New Roman"/>
                <a:ea typeface="Times New Roman"/>
                <a:cs typeface="Times New Roman"/>
              </a:rPr>
              <a:t>defend </a:t>
            </a:r>
            <a:r>
              <a:rPr lang="en-GB" sz="3200" b="1" dirty="0" err="1">
                <a:latin typeface="Times New Roman"/>
                <a:ea typeface="Times New Roman"/>
                <a:cs typeface="Times New Roman"/>
              </a:rPr>
              <a:t>对</a:t>
            </a:r>
            <a:r>
              <a:rPr lang="en-US" altLang="zh-CN" sz="3200" b="1" dirty="0">
                <a:latin typeface="Times New Roman"/>
                <a:ea typeface="Times New Roman"/>
                <a:cs typeface="Times New Roman"/>
              </a:rPr>
              <a:t>……</a:t>
            </a:r>
            <a:r>
              <a:rPr lang="zh-CN" altLang="en-US" sz="3200" b="1" dirty="0">
                <a:latin typeface="Times New Roman"/>
                <a:ea typeface="Times New Roman"/>
                <a:cs typeface="Times New Roman"/>
              </a:rPr>
              <a:t>作出解释，为</a:t>
            </a:r>
            <a:r>
              <a:rPr lang="en-US" altLang="zh-CN" sz="3200" b="1" dirty="0">
                <a:latin typeface="Times New Roman"/>
                <a:ea typeface="Times New Roman"/>
                <a:cs typeface="Times New Roman"/>
              </a:rPr>
              <a:t>……</a:t>
            </a:r>
            <a:r>
              <a:rPr lang="zh-CN" altLang="en-US" sz="3200" b="1" dirty="0">
                <a:latin typeface="Times New Roman"/>
                <a:ea typeface="Times New Roman"/>
                <a:cs typeface="Times New Roman"/>
              </a:rPr>
              <a:t>辩解</a:t>
            </a:r>
            <a:endParaRPr lang="en-GB" sz="3200" b="1" dirty="0">
              <a:latin typeface="Times New Roman"/>
              <a:ea typeface="Times New Roman"/>
              <a:cs typeface="Times New Roman"/>
            </a:endParaRP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You don’t need to </a:t>
            </a:r>
            <a:r>
              <a:rPr sz="3200" dirty="0">
                <a:solidFill>
                  <a:srgbClr val="FF0000"/>
                </a:solidFill>
              </a:rPr>
              <a:t>justify yourself to me</a:t>
            </a:r>
            <a:r>
              <a:rPr sz="3200" dirty="0"/>
              <a:t>.</a:t>
            </a:r>
            <a:endParaRPr lang="en-GB" sz="3200" dirty="0"/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I can see no possible </a:t>
            </a:r>
            <a:r>
              <a:rPr lang="en-US" sz="3200" dirty="0"/>
              <a:t>_____________</a:t>
            </a:r>
            <a:r>
              <a:rPr lang="en-GB" sz="3200" dirty="0"/>
              <a:t>for any further tax increases.</a:t>
            </a:r>
            <a:r>
              <a:rPr lang="zh-CN" altLang="en-US" sz="3200" dirty="0"/>
              <a:t>我看不出还能提出什么理由再加税。</a:t>
            </a:r>
            <a:endParaRPr lang="en-GB" sz="3200" dirty="0"/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These experiments are _______ _____</a:t>
            </a:r>
            <a:r>
              <a:rPr lang="en-GB" sz="3200" dirty="0"/>
              <a:t>___</a:t>
            </a:r>
            <a:r>
              <a:rPr sz="3200" dirty="0"/>
              <a:t>__.</a:t>
            </a:r>
            <a:r>
              <a:rPr lang="en-GB" sz="3200" dirty="0"/>
              <a:t> </a:t>
            </a:r>
            <a:r>
              <a:rPr lang="en-GB" sz="3200" dirty="0" err="1"/>
              <a:t>合乎道德标准</a:t>
            </a:r>
            <a:r>
              <a:rPr lang="en-GB" sz="3200" dirty="0"/>
              <a:t> (adv. + adj.)</a:t>
            </a:r>
            <a:endParaRPr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B1278F-6DBD-1CA8-A001-EC3017480543}"/>
              </a:ext>
            </a:extLst>
          </p:cNvPr>
          <p:cNvSpPr txBox="1"/>
          <p:nvPr/>
        </p:nvSpPr>
        <p:spPr>
          <a:xfrm>
            <a:off x="3838074" y="4603903"/>
            <a:ext cx="64729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2D3B2-C6BB-6328-8E54-B6F79BE5A81F}"/>
              </a:ext>
            </a:extLst>
          </p:cNvPr>
          <p:cNvSpPr txBox="1"/>
          <p:nvPr/>
        </p:nvSpPr>
        <p:spPr>
          <a:xfrm>
            <a:off x="4086727" y="5502260"/>
            <a:ext cx="64729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morally justifiable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" grpId="0" uiExpand="1" build="p" bldLvl="5" advAuto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8. relevant…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11527837" cy="8041384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These comments are not ______ ______ this enquiry.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be </a:t>
            </a:r>
            <a:r>
              <a:rPr sz="3200" dirty="0">
                <a:solidFill>
                  <a:srgbClr val="FF0000"/>
                </a:solidFill>
              </a:rPr>
              <a:t>irrelevant</a:t>
            </a:r>
            <a:r>
              <a:rPr sz="3200" dirty="0"/>
              <a:t> to…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be related to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be linked to/with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be connected with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be concerned with</a:t>
            </a:r>
            <a:r>
              <a:rPr lang="en-GB" sz="3200" dirty="0"/>
              <a:t> </a:t>
            </a:r>
            <a:r>
              <a:rPr sz="3200" dirty="0"/>
              <a:t>/ concerning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be associated with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as regards</a:t>
            </a:r>
            <a:r>
              <a:rPr lang="en-GB" sz="3200" dirty="0"/>
              <a:t> </a:t>
            </a:r>
            <a:r>
              <a:rPr sz="3200" dirty="0"/>
              <a:t>/ regarding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involving</a:t>
            </a:r>
          </a:p>
          <a:p>
            <a:pPr algn="l">
              <a:lnSpc>
                <a:spcPct val="90000"/>
              </a:lnSpc>
              <a:defRPr sz="3800" b="1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relevance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B6088-A01B-E83D-341C-1E457A6232A7}"/>
              </a:ext>
            </a:extLst>
          </p:cNvPr>
          <p:cNvSpPr txBox="1"/>
          <p:nvPr/>
        </p:nvSpPr>
        <p:spPr>
          <a:xfrm>
            <a:off x="4319337" y="0"/>
            <a:ext cx="64729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  to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3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000"/>
                            </p:stCondLst>
                            <p:childTnLst>
                              <p:par>
                                <p:cTn id="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0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 uiExpand="1" build="p" bldLvl="5" advAuto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9. infer…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12192000" cy="8041384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Much of the meaning must </a:t>
            </a:r>
            <a:r>
              <a:rPr sz="3200" dirty="0"/>
              <a:t>________________ </a:t>
            </a:r>
            <a:r>
              <a:rPr lang="en-GB" sz="3200" dirty="0"/>
              <a:t>the context.</a:t>
            </a:r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Are you </a:t>
            </a:r>
            <a:r>
              <a:rPr lang="en-GB" sz="3200" dirty="0">
                <a:solidFill>
                  <a:srgbClr val="FF0000"/>
                </a:solidFill>
              </a:rPr>
              <a:t>inferring</a:t>
            </a:r>
            <a:r>
              <a:rPr lang="en-GB" sz="3200" dirty="0"/>
              <a:t> (that) I'm not capable of doing the job?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What _</a:t>
            </a:r>
            <a:r>
              <a:rPr lang="en-US" sz="3200" dirty="0"/>
              <a:t>__</a:t>
            </a:r>
            <a:r>
              <a:rPr sz="3200" dirty="0"/>
              <a:t>_______ have you ______ ______ this evidence?</a:t>
            </a:r>
            <a:endParaRPr lang="en-GB" sz="3200" dirty="0"/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 err="1"/>
              <a:t>从</a:t>
            </a:r>
            <a:r>
              <a:rPr lang="en-US" altLang="zh-CN" sz="3200" dirty="0"/>
              <a:t>……</a:t>
            </a:r>
            <a:r>
              <a:rPr lang="zh-CN" altLang="en-US" sz="3200" dirty="0"/>
              <a:t>中推论出结果</a:t>
            </a:r>
            <a:endParaRPr lang="en-GB" altLang="zh-CN" sz="3200" dirty="0"/>
          </a:p>
          <a:p>
            <a:pPr algn="l"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/>
              <a:t>If he is guilty, </a:t>
            </a:r>
            <a:r>
              <a:rPr lang="en-GB" sz="3200" dirty="0">
                <a:solidFill>
                  <a:srgbClr val="FF0000"/>
                </a:solidFill>
              </a:rPr>
              <a:t>by inference</a:t>
            </a:r>
            <a:r>
              <a:rPr lang="en-GB" sz="3200" dirty="0"/>
              <a:t>, so is his wife.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由此推论</a:t>
            </a:r>
            <a:endParaRPr sz="3200" dirty="0"/>
          </a:p>
        </p:txBody>
      </p:sp>
      <p:sp>
        <p:nvSpPr>
          <p:cNvPr id="315" name="be inferred from"/>
          <p:cNvSpPr txBox="1"/>
          <p:nvPr/>
        </p:nvSpPr>
        <p:spPr>
          <a:xfrm>
            <a:off x="4906464" y="-101262"/>
            <a:ext cx="2989151" cy="631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2862" rIns="42862">
            <a:spAutoFit/>
          </a:bodyPr>
          <a:lstStyle>
            <a:lvl1pPr algn="l" defTabSz="914400">
              <a:lnSpc>
                <a:spcPct val="120000"/>
              </a:lnSpc>
              <a:defRPr sz="3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3200" dirty="0"/>
              <a:t>be inferred from</a:t>
            </a:r>
          </a:p>
        </p:txBody>
      </p:sp>
      <p:sp>
        <p:nvSpPr>
          <p:cNvPr id="316" name="inferences                 drawn   from"/>
          <p:cNvSpPr txBox="1"/>
          <p:nvPr/>
        </p:nvSpPr>
        <p:spPr>
          <a:xfrm>
            <a:off x="1172716" y="1026396"/>
            <a:ext cx="6514443" cy="631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862" rIns="42862">
            <a:spAutoFit/>
          </a:bodyPr>
          <a:lstStyle>
            <a:lvl1pPr algn="l" defTabSz="914400">
              <a:lnSpc>
                <a:spcPct val="120000"/>
              </a:lnSpc>
              <a:defRPr sz="3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sz="3200" dirty="0"/>
              <a:t>inferences                 </a:t>
            </a:r>
            <a:r>
              <a:rPr lang="en-GB" sz="3200" dirty="0"/>
              <a:t>    </a:t>
            </a:r>
            <a:r>
              <a:rPr sz="3200" dirty="0"/>
              <a:t>drawn   from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4" grpId="0" uiExpand="1" build="p" bldLvl="5" advAuto="0"/>
      <p:bldP spid="315" grpId="0" animBg="1" advAuto="0"/>
      <p:bldP spid="316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10. seize…"/>
          <p:cNvSpPr txBox="1">
            <a:spLocks noGrp="1"/>
          </p:cNvSpPr>
          <p:nvPr>
            <p:ph type="subTitle" idx="1"/>
          </p:nvPr>
        </p:nvSpPr>
        <p:spPr>
          <a:xfrm>
            <a:off x="0" y="0"/>
            <a:ext cx="12336087" cy="8041384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 little boy ___ ___ ___ run across the road, ____ his mother _______</a:t>
            </a:r>
            <a:r>
              <a:rPr lang="en-GB" sz="3200" dirty="0"/>
              <a:t>______</a:t>
            </a:r>
            <a:r>
              <a:rPr sz="3200" dirty="0"/>
              <a:t>____________________.</a:t>
            </a:r>
            <a:r>
              <a:rPr lang="en-GB" sz="3200" dirty="0" err="1"/>
              <a:t>正要</a:t>
            </a:r>
            <a:r>
              <a:rPr lang="en-US" altLang="zh-CN" sz="3200" dirty="0"/>
              <a:t>……</a:t>
            </a:r>
            <a:r>
              <a:rPr lang="zh-CN" altLang="en-US" sz="3200" dirty="0"/>
              <a:t>时抓住了他的胳膊</a:t>
            </a:r>
            <a:endParaRPr sz="3200" dirty="0"/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The police </a:t>
            </a:r>
            <a:r>
              <a:rPr sz="3200" dirty="0">
                <a:solidFill>
                  <a:srgbClr val="FF0000"/>
                </a:solidFill>
              </a:rPr>
              <a:t>seized</a:t>
            </a:r>
            <a:r>
              <a:rPr sz="3200" dirty="0"/>
              <a:t> three men </a:t>
            </a:r>
            <a:r>
              <a:rPr sz="3200" dirty="0">
                <a:solidFill>
                  <a:srgbClr val="FF0000"/>
                </a:solidFill>
              </a:rPr>
              <a:t>for</a:t>
            </a:r>
            <a:r>
              <a:rPr sz="3200" dirty="0"/>
              <a:t> </a:t>
            </a:r>
            <a:r>
              <a:rPr lang="en-GB" sz="3200" dirty="0"/>
              <a:t>possession</a:t>
            </a:r>
            <a:r>
              <a:rPr sz="3200" dirty="0"/>
              <a:t> of illegal drugs.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He </a:t>
            </a:r>
            <a:r>
              <a:rPr sz="3200" dirty="0">
                <a:solidFill>
                  <a:srgbClr val="FF0000"/>
                </a:solidFill>
              </a:rPr>
              <a:t>seized</a:t>
            </a:r>
            <a:r>
              <a:rPr sz="3200" dirty="0"/>
              <a:t> the gun </a:t>
            </a:r>
            <a:r>
              <a:rPr sz="3200" dirty="0">
                <a:solidFill>
                  <a:srgbClr val="FF0000"/>
                </a:solidFill>
              </a:rPr>
              <a:t>from</a:t>
            </a:r>
            <a:r>
              <a:rPr sz="3200" dirty="0"/>
              <a:t> the bank robber.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Our enemy </a:t>
            </a:r>
            <a:r>
              <a:rPr lang="en-GB" sz="3200" dirty="0">
                <a:solidFill>
                  <a:srgbClr val="FF0000"/>
                </a:solidFill>
              </a:rPr>
              <a:t>seized the control of</a:t>
            </a:r>
            <a:r>
              <a:rPr sz="3200" dirty="0">
                <a:solidFill>
                  <a:srgbClr val="FF0000"/>
                </a:solidFill>
              </a:rPr>
              <a:t> </a:t>
            </a:r>
            <a:r>
              <a:rPr sz="3200" dirty="0"/>
              <a:t>the city, but soon our army </a:t>
            </a:r>
            <a:r>
              <a:rPr sz="3200" dirty="0">
                <a:solidFill>
                  <a:srgbClr val="FF0000"/>
                </a:solidFill>
              </a:rPr>
              <a:t>seized power of </a:t>
            </a:r>
            <a:r>
              <a:rPr sz="3200" dirty="0"/>
              <a:t>the city again.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>
                <a:solidFill>
                  <a:srgbClr val="FF0000"/>
                </a:solidFill>
              </a:rPr>
              <a:t>seize every possible opportunity</a:t>
            </a:r>
            <a:r>
              <a:rPr sz="3200" dirty="0">
                <a:solidFill>
                  <a:srgbClr val="0433FF"/>
                </a:solidFill>
              </a:rPr>
              <a:t> </a:t>
            </a:r>
            <a:r>
              <a:rPr sz="3200" dirty="0"/>
              <a:t>to practice my English</a:t>
            </a:r>
            <a:endParaRPr lang="en-GB" sz="3200" dirty="0"/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 err="1"/>
              <a:t>把握主动</a:t>
            </a:r>
            <a:r>
              <a:rPr lang="zh-CN" altLang="en-US" sz="3200" dirty="0"/>
              <a:t> </a:t>
            </a:r>
            <a:r>
              <a:rPr lang="en-US" altLang="zh-CN" sz="3200" dirty="0">
                <a:solidFill>
                  <a:srgbClr val="FF0000"/>
                </a:solidFill>
              </a:rPr>
              <a:t>seize the initiative</a:t>
            </a:r>
            <a:endParaRPr lang="en-GB" sz="3200" dirty="0">
              <a:solidFill>
                <a:srgbClr val="FF0000"/>
              </a:solidFill>
            </a:endParaRP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seize the moment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 err="1"/>
              <a:t>她惊慌失措</a:t>
            </a:r>
            <a:r>
              <a:rPr sz="3200" dirty="0"/>
              <a:t>。</a:t>
            </a:r>
            <a:r>
              <a:rPr lang="en-GB" sz="3200" dirty="0"/>
              <a:t>Panic ______ ____.</a:t>
            </a:r>
          </a:p>
          <a:p>
            <a:pPr algn="l">
              <a:lnSpc>
                <a:spcPct val="90000"/>
              </a:lnSpc>
              <a:defRPr sz="38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sz="3200" dirty="0">
                <a:solidFill>
                  <a:srgbClr val="FF0000"/>
                </a:solidFill>
              </a:rPr>
              <a:t>be seized by fear/pain/a sudden desire to do …</a:t>
            </a:r>
          </a:p>
        </p:txBody>
      </p:sp>
      <p:sp>
        <p:nvSpPr>
          <p:cNvPr id="2" name="inferences                 drawn   from">
            <a:extLst>
              <a:ext uri="{FF2B5EF4-FFF2-40B4-BE49-F238E27FC236}">
                <a16:creationId xmlns:a16="http://schemas.microsoft.com/office/drawing/2014/main" id="{553A858E-6381-5CB8-BDCD-93C2F558A13F}"/>
              </a:ext>
            </a:extLst>
          </p:cNvPr>
          <p:cNvSpPr txBox="1"/>
          <p:nvPr/>
        </p:nvSpPr>
        <p:spPr>
          <a:xfrm>
            <a:off x="3766286" y="4718946"/>
            <a:ext cx="2102499" cy="631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862" rIns="42862">
            <a:spAutoFit/>
          </a:bodyPr>
          <a:lstStyle>
            <a:lvl1pPr algn="l" defTabSz="914400">
              <a:lnSpc>
                <a:spcPct val="120000"/>
              </a:lnSpc>
              <a:defRPr sz="3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GB" sz="3200" dirty="0"/>
              <a:t>seized  her</a:t>
            </a:r>
            <a:endParaRPr sz="3200" dirty="0"/>
          </a:p>
        </p:txBody>
      </p:sp>
      <p:sp>
        <p:nvSpPr>
          <p:cNvPr id="3" name="inferences                 drawn   from">
            <a:extLst>
              <a:ext uri="{FF2B5EF4-FFF2-40B4-BE49-F238E27FC236}">
                <a16:creationId xmlns:a16="http://schemas.microsoft.com/office/drawing/2014/main" id="{2F481694-22B2-DC68-7D50-A74D3CA7945D}"/>
              </a:ext>
            </a:extLst>
          </p:cNvPr>
          <p:cNvSpPr txBox="1"/>
          <p:nvPr/>
        </p:nvSpPr>
        <p:spPr>
          <a:xfrm>
            <a:off x="2440196" y="-99750"/>
            <a:ext cx="6886684" cy="631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862" rIns="42862">
            <a:spAutoFit/>
          </a:bodyPr>
          <a:lstStyle>
            <a:lvl1pPr algn="l" defTabSz="914400">
              <a:lnSpc>
                <a:spcPct val="120000"/>
              </a:lnSpc>
              <a:defRPr sz="3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GB" sz="3200" dirty="0"/>
              <a:t>was about to                                  when</a:t>
            </a:r>
            <a:endParaRPr sz="3200" dirty="0"/>
          </a:p>
        </p:txBody>
      </p:sp>
      <p:sp>
        <p:nvSpPr>
          <p:cNvPr id="4" name="inferences                 drawn   from">
            <a:extLst>
              <a:ext uri="{FF2B5EF4-FFF2-40B4-BE49-F238E27FC236}">
                <a16:creationId xmlns:a16="http://schemas.microsoft.com/office/drawing/2014/main" id="{B90B62F2-B50E-D9FB-41D5-E8F7EBF71780}"/>
              </a:ext>
            </a:extLst>
          </p:cNvPr>
          <p:cNvSpPr txBox="1"/>
          <p:nvPr/>
        </p:nvSpPr>
        <p:spPr>
          <a:xfrm>
            <a:off x="136824" y="365730"/>
            <a:ext cx="6886684" cy="631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2862" rIns="42862">
            <a:spAutoFit/>
          </a:bodyPr>
          <a:lstStyle>
            <a:lvl1pPr algn="l" defTabSz="914400">
              <a:lnSpc>
                <a:spcPct val="120000"/>
              </a:lnSpc>
              <a:defRPr sz="3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rPr lang="en-GB" sz="3200" dirty="0"/>
              <a:t>seized him by the arm/seized his arm</a:t>
            </a: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3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9" fill="hold"/>
                                        <p:tgtEl>
                                          <p:spTgt spid="3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 uiExpand="1" build="p" bldLvl="5" advAuto="0"/>
      <p:bldP spid="2" grpId="0" animBg="1" advAuto="0"/>
      <p:bldP spid="3" grpId="0" animBg="1" advAuto="0"/>
      <p:bldP spid="4" grpId="0" animBg="1" advAuto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898</TotalTime>
  <Words>1041</Words>
  <Application>Microsoft Macintosh PowerPoint</Application>
  <PresentationFormat>Widescreen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 NI</dc:creator>
  <cp:lastModifiedBy>Qing NI</cp:lastModifiedBy>
  <cp:revision>16</cp:revision>
  <dcterms:created xsi:type="dcterms:W3CDTF">2025-08-23T10:20:04Z</dcterms:created>
  <dcterms:modified xsi:type="dcterms:W3CDTF">2026-07-23T01:30:07Z</dcterms:modified>
</cp:coreProperties>
</file>