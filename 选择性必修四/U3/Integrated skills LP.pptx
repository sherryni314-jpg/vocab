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587" r:id="rId2"/>
    <p:sldId id="563" r:id="rId3"/>
    <p:sldId id="565" r:id="rId4"/>
    <p:sldId id="588" r:id="rId5"/>
    <p:sldId id="589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  <a:srgbClr val="009577"/>
    <a:srgbClr val="339966"/>
    <a:srgbClr val="FAFAFA"/>
    <a:srgbClr val="FFFFFF"/>
    <a:srgbClr val="E9EBF5"/>
    <a:srgbClr val="CFD5EA"/>
    <a:srgbClr val="4472C4"/>
    <a:srgbClr val="0A74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376" autoAdjust="0"/>
    <p:restoredTop sz="75594"/>
  </p:normalViewPr>
  <p:slideViewPr>
    <p:cSldViewPr snapToGrid="0">
      <p:cViewPr varScale="1">
        <p:scale>
          <a:sx n="80" d="100"/>
          <a:sy n="80" d="100"/>
        </p:scale>
        <p:origin x="1400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9D7D08-12BE-2E4C-9B36-5CA9E29568A1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4F3627-8EE6-9A42-A8B9-8FDEB8C11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098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zh-CN" sz="1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React to </a:t>
            </a:r>
            <a:r>
              <a:rPr lang="en-GB" altLang="zh-CN" sz="12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sth</a:t>
            </a:r>
            <a:r>
              <a:rPr lang="en-GB" altLang="zh-CN" sz="1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in a sensible way,</a:t>
            </a:r>
            <a:r>
              <a:rPr lang="en-US" altLang="zh-CN" sz="1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 think it is worse/more serious than it really is</a:t>
            </a:r>
            <a:endParaRPr lang="en-GB" altLang="zh-CN" sz="1200" b="1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GB" sz="1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到了</a:t>
            </a:r>
            <a:r>
              <a:rPr lang="zh-CN" altLang="en-US" sz="1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危机的</a:t>
            </a:r>
            <a:r>
              <a:rPr lang="zh-CN" altLang="en-GB" sz="1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程度</a:t>
            </a:r>
            <a:endParaRPr lang="en-GB" altLang="zh-CN" sz="1200" b="1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Loss of weight is directly </a:t>
            </a:r>
            <a:r>
              <a:rPr lang="en-GB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proportional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to the rate at which the disease is progressing.[+ </a:t>
            </a:r>
            <a:r>
              <a:rPr lang="en-GB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</a:p>
          <a:p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体重的下降与病情发展的速度成正比。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4F3627-8EE6-9A42-A8B9-8FDEB8C110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8927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需要多长时间才能取得资格？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他去年获得了医生的资格。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通过这一考试就有资格驾驶重型车辆。</a:t>
            </a:r>
            <a:endParaRPr lang="en-US" altLang="zh-C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4F3627-8EE6-9A42-A8B9-8FDEB8C110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625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5ABE2-51F3-E3C3-FBB2-41558DEDC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F94DC0-BE87-C19E-2825-F864394E2E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9DC821-3F52-4780-B6DA-192B55677E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Swing – swung – swung</a:t>
            </a:r>
          </a:p>
          <a:p>
            <a:r>
              <a:rPr lang="en-US" dirty="0"/>
              <a:t>Move in curve</a:t>
            </a:r>
          </a:p>
          <a:p>
            <a:r>
              <a:rPr lang="en-US" dirty="0"/>
              <a:t>Try to hit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公共汽车猛地拐向左边。</a:t>
            </a:r>
            <a:endParaRPr lang="en-GB" altLang="zh-CN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dirty="0"/>
              <a:t>她常有情绪</a:t>
            </a:r>
            <a:r>
              <a:rPr lang="zh-CN" altLang="en-US" sz="1200" b="0" dirty="0">
                <a:solidFill>
                  <a:srgbClr val="FF0000"/>
                </a:solidFill>
              </a:rPr>
              <a:t>波动</a:t>
            </a:r>
            <a:endParaRPr lang="en-GB" altLang="zh-CN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我设法使他们转而接受了我的观点。</a:t>
            </a:r>
            <a:endParaRPr lang="en-GB" altLang="zh-CN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Educational practice is liable to sudden </a:t>
            </a:r>
            <a:r>
              <a:rPr lang="en-GB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swings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 changes.</a:t>
            </a:r>
          </a:p>
          <a:p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教学实践中经常会出现突然的变化与改革。</a:t>
            </a:r>
            <a:endParaRPr lang="en-GB" altLang="zh-CN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庆祝课程结束的聚会掀起高潮。</a:t>
            </a:r>
            <a:r>
              <a:rPr lang="en-GB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GB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热烈进行中</a:t>
            </a:r>
            <a:endParaRPr lang="en-GB" altLang="zh-CN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altLang="zh-C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F0DEB0-6E98-BB20-DBEE-B989434ED4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4F3627-8EE6-9A42-A8B9-8FDEB8C110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5148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E148D-3729-4AC4-B3C4-010C6AF60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A8EC0C-8633-E008-D6E7-6ED3F2ACF3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68B113-D0E8-0092-4695-9054DAE0B4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become very involved in it and enjoy what you are doing.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融入，完全投入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altLang="zh-C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FCFB42-03CB-0922-F898-F33D4E6346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4F3627-8EE6-9A42-A8B9-8FDEB8C110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386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0562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338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2405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6719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3857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527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3450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4191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4901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9404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6634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953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4FDE1D-48FB-1B30-527F-C1E83A8A75E2}"/>
              </a:ext>
            </a:extLst>
          </p:cNvPr>
          <p:cNvSpPr txBox="1"/>
          <p:nvPr/>
        </p:nvSpPr>
        <p:spPr>
          <a:xfrm>
            <a:off x="0" y="0"/>
            <a:ext cx="11734800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The proportion of </a:t>
            </a:r>
            <a:r>
              <a:rPr lang="en-GB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women graduates </a:t>
            </a:r>
            <a:r>
              <a:rPr lang="en-GB" sz="3200" b="1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has</a:t>
            </a:r>
            <a:r>
              <a:rPr lang="en-GB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increased in recent years.</a:t>
            </a:r>
          </a:p>
          <a:p>
            <a:pPr>
              <a:buNone/>
            </a:pPr>
            <a:r>
              <a:rPr lang="en-GB" sz="32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Percentage</a:t>
            </a:r>
          </a:p>
          <a:p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水覆盖了地球表面的大部分。</a:t>
            </a:r>
            <a:endParaRPr lang="en-GB" sz="3200" b="1" i="1" dirty="0">
              <a:solidFill>
                <a:srgbClr val="0000FF"/>
              </a:solidFill>
              <a:latin typeface="Times New Roman" panose="02020603050405020304" pitchFamily="18" charset="0"/>
              <a:ea typeface="Songti SC" panose="02010600040101010101" pitchFamily="2" charset="-122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3200" b="1" dirty="0">
                <a:solidFill>
                  <a:srgbClr val="000000"/>
                </a:solidFill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Water 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______ ____ ______ __________ ____ </a:t>
            </a:r>
            <a:r>
              <a:rPr lang="en-GB" sz="3200" b="1" dirty="0">
                <a:solidFill>
                  <a:srgbClr val="000000"/>
                </a:solidFill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the earth's surface.</a:t>
            </a:r>
            <a:endParaRPr lang="en-GB" sz="32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Songti SC" panose="02010600040101010101" pitchFamily="2" charset="-122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Her feet are small </a:t>
            </a:r>
            <a:r>
              <a:rPr lang="en-GB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in proportion to </a:t>
            </a:r>
            <a:r>
              <a:rPr lang="en-GB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her height. </a:t>
            </a:r>
            <a:endParaRPr lang="en-GB" sz="3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Songti SC" panose="02010600040101010101" pitchFamily="2" charset="-122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The head is </a:t>
            </a:r>
            <a:r>
              <a:rPr lang="en-GB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out of proportion 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to</a:t>
            </a:r>
            <a:r>
              <a:rPr lang="en-GB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GB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the body. </a:t>
            </a:r>
          </a:p>
          <a:p>
            <a:r>
              <a:rPr lang="en-GB" sz="3200" b="1" dirty="0">
                <a:solidFill>
                  <a:srgbClr val="000000"/>
                </a:solidFill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GB" sz="3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不</a:t>
            </a:r>
            <a:r>
              <a:rPr lang="en-GB" sz="3200" b="1" dirty="0">
                <a:solidFill>
                  <a:srgbClr val="000000"/>
                </a:solidFill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en-GB" sz="3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成比例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GB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figures you draw aren’t </a:t>
            </a:r>
            <a:r>
              <a:rPr lang="en-GB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in proportion</a:t>
            </a:r>
          </a:p>
          <a:p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The problem has been exaggerated out of (all) proportion.</a:t>
            </a:r>
          </a:p>
          <a:p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他们挣的工资与其能力不相称。</a:t>
            </a:r>
            <a:endParaRPr lang="en-GB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Songti SC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They earn salaries out of (all) proportion to their ability. </a:t>
            </a:r>
          </a:p>
          <a:p>
            <a:pPr>
              <a:buNone/>
            </a:pPr>
            <a:r>
              <a:rPr lang="en-GB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Try to </a:t>
            </a:r>
            <a:r>
              <a:rPr lang="en-GB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keep</a:t>
            </a:r>
            <a:r>
              <a:rPr lang="en-GB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your view of the situation </a:t>
            </a:r>
            <a:r>
              <a:rPr lang="en-GB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in proportion</a:t>
            </a:r>
            <a:r>
              <a:rPr lang="en-GB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</a:t>
            </a:r>
            <a:r>
              <a:rPr lang="zh-CN" altLang="en-US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GB" sz="32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恰当地处事</a:t>
            </a:r>
            <a:endParaRPr lang="en-GB" sz="320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>
              <a:buNone/>
            </a:pP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GB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</a:t>
            </a:r>
            <a:r>
              <a:rPr lang="en-GB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shortage</a:t>
            </a:r>
            <a:r>
              <a:rPr lang="en-GB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en-GB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could</a:t>
            </a:r>
            <a:r>
              <a:rPr lang="en-GB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soon</a:t>
            </a:r>
            <a:r>
              <a:rPr lang="en-GB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reach crisis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proportions</a:t>
            </a:r>
          </a:p>
          <a:p>
            <a:pPr>
              <a:buNone/>
            </a:pPr>
            <a:r>
              <a:rPr lang="en-GB" sz="3200" b="1" dirty="0">
                <a:solidFill>
                  <a:srgbClr val="FB0207"/>
                </a:solidFill>
                <a:latin typeface="Times New Roman" panose="02020603050405020304" pitchFamily="18" charset="0"/>
              </a:rPr>
              <a:t>be p</a:t>
            </a:r>
            <a:r>
              <a:rPr lang="en-GB" sz="3200" b="1" dirty="0">
                <a:solidFill>
                  <a:srgbClr val="FB0207"/>
                </a:solidFill>
                <a:effectLst/>
                <a:latin typeface="Times New Roman" panose="02020603050405020304" pitchFamily="18" charset="0"/>
              </a:rPr>
              <a:t>roportional to</a:t>
            </a:r>
          </a:p>
          <a:p>
            <a:pPr>
              <a:buNone/>
            </a:pPr>
            <a:endParaRPr lang="en-GB" sz="3200" dirty="0">
              <a:solidFill>
                <a:srgbClr val="FB0207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1C87A0-C219-3894-41B6-27AF3BFC9AB5}"/>
              </a:ext>
            </a:extLst>
          </p:cNvPr>
          <p:cNvSpPr txBox="1"/>
          <p:nvPr/>
        </p:nvSpPr>
        <p:spPr>
          <a:xfrm>
            <a:off x="1204912" y="1482209"/>
            <a:ext cx="67389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covers    a       large   proportion    of 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0763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/>
          <p:cNvSpPr txBox="1"/>
          <p:nvPr/>
        </p:nvSpPr>
        <p:spPr>
          <a:xfrm>
            <a:off x="228600" y="191767"/>
            <a:ext cx="11753850" cy="4786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主持人需要具备哪些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资质</a:t>
            </a:r>
            <a:r>
              <a:rPr lang="zh-CN" altLang="en-US" sz="3200" b="1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？</a:t>
            </a:r>
            <a:endParaRPr lang="en-GB" altLang="zh-CN" sz="3200" b="1" dirty="0">
              <a:latin typeface="Times New Roman" panose="02020603050405020304" pitchFamily="18" charset="0"/>
              <a:ea typeface="Songti SC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What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qualifications</a:t>
            </a:r>
            <a:r>
              <a:rPr lang="en-US" altLang="zh-CN" sz="3200" b="1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 do presenters require?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过去的工作经验是担任这项工作的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必备条件</a:t>
            </a:r>
            <a:r>
              <a:rPr lang="zh-CN" altLang="en-US" sz="3200" b="1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3200" b="1" dirty="0">
              <a:latin typeface="Times New Roman" panose="02020603050405020304" pitchFamily="18" charset="0"/>
              <a:ea typeface="Songti SC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Previous work experience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is a necessary qualification for </a:t>
            </a:r>
            <a:r>
              <a:rPr lang="en-US" altLang="zh-CN" sz="3200" b="1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this job.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academic / professional / educational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qualifications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学术</a:t>
            </a:r>
            <a:r>
              <a:rPr lang="en-US" altLang="zh-CN" sz="3200" b="1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3200" b="1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专业</a:t>
            </a:r>
            <a:r>
              <a:rPr lang="en-US" altLang="zh-CN" sz="3200" b="1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3200" b="1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教育资历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a nursing/teaching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qualification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护理</a:t>
            </a:r>
            <a:r>
              <a:rPr lang="en-GB" altLang="zh-CN" sz="3200" b="1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3200" b="1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教学等资格</a:t>
            </a:r>
          </a:p>
        </p:txBody>
      </p:sp>
    </p:spTree>
    <p:extLst>
      <p:ext uri="{BB962C8B-B14F-4D97-AF65-F5344CB8AC3E}">
        <p14:creationId xmlns:p14="http://schemas.microsoft.com/office/powerpoint/2010/main" val="3306169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"/>
          <p:cNvSpPr txBox="1"/>
          <p:nvPr/>
        </p:nvSpPr>
        <p:spPr>
          <a:xfrm>
            <a:off x="683701" y="979183"/>
            <a:ext cx="8831218" cy="626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363538" indent="-363538">
              <a:buFont typeface="Arial" panose="020B0604020202020204" pitchFamily="34" charset="0"/>
              <a:buChar char="•"/>
            </a:pPr>
            <a:r>
              <a:rPr lang="en-US" altLang="zh-CN" dirty="0"/>
              <a:t>qualify </a:t>
            </a:r>
            <a:r>
              <a:rPr lang="en-US" altLang="zh-CN" i="1" dirty="0" err="1"/>
              <a:t>vt.</a:t>
            </a:r>
            <a:r>
              <a:rPr lang="en-US" altLang="zh-CN" i="1" dirty="0"/>
              <a:t> &amp; vi.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zh-CN" altLang="en-US" dirty="0">
                <a:solidFill>
                  <a:schemeClr val="tx1"/>
                </a:solidFill>
              </a:rPr>
              <a:t>使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  <a:r>
              <a:rPr lang="zh-CN" altLang="en-US" dirty="0">
                <a:solidFill>
                  <a:schemeClr val="tx1"/>
                </a:solidFill>
              </a:rPr>
              <a:t>具备资格；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zh-CN" altLang="en-US" dirty="0">
                <a:solidFill>
                  <a:schemeClr val="tx1"/>
                </a:solidFill>
              </a:rPr>
              <a:t>使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  <a:r>
              <a:rPr lang="zh-CN" altLang="en-US" dirty="0">
                <a:solidFill>
                  <a:schemeClr val="tx1"/>
                </a:solidFill>
              </a:rPr>
              <a:t>合格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683701" y="1605893"/>
            <a:ext cx="11290365" cy="24045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long does it take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qualify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qualified as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doctor last year.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training course will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qualify you for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better job.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test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qualifies you to drive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heavy vehicles.</a:t>
            </a:r>
          </a:p>
        </p:txBody>
      </p:sp>
      <p:sp>
        <p:nvSpPr>
          <p:cNvPr id="4" name="矩形 3"/>
          <p:cNvSpPr/>
          <p:nvPr/>
        </p:nvSpPr>
        <p:spPr>
          <a:xfrm>
            <a:off x="539685" y="475127"/>
            <a:ext cx="18325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拓展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endParaRPr lang="zh-CN" altLang="en-US" sz="32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683701" y="5333763"/>
            <a:ext cx="5092984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3136900" indent="-3136900">
              <a:lnSpc>
                <a:spcPct val="120000"/>
              </a:lnSpc>
              <a:defRPr sz="3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363538" indent="-363538">
              <a:buFont typeface="Arial" panose="020B0604020202020204" pitchFamily="34" charset="0"/>
              <a:buChar char="•"/>
            </a:pPr>
            <a:r>
              <a:rPr lang="en-US" altLang="zh-CN" dirty="0"/>
              <a:t>qualified  </a:t>
            </a:r>
            <a:r>
              <a:rPr lang="en-US" altLang="zh-CN" i="1" dirty="0"/>
              <a:t>adj</a:t>
            </a:r>
            <a:r>
              <a:rPr lang="en-US" altLang="zh-CN" dirty="0"/>
              <a:t>.</a:t>
            </a:r>
            <a:r>
              <a:rPr lang="zh-CN" altLang="en-US" dirty="0"/>
              <a:t>  </a:t>
            </a:r>
            <a:r>
              <a:rPr lang="zh-CN" altLang="en-US" dirty="0">
                <a:solidFill>
                  <a:schemeClr val="tx1"/>
                </a:solidFill>
              </a:rPr>
              <a:t>有资格的</a:t>
            </a:r>
          </a:p>
        </p:txBody>
      </p:sp>
      <p:sp>
        <p:nvSpPr>
          <p:cNvPr id="7" name="矩形 6"/>
          <p:cNvSpPr/>
          <p:nvPr/>
        </p:nvSpPr>
        <p:spPr>
          <a:xfrm>
            <a:off x="683701" y="5976236"/>
            <a:ext cx="673511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 qualified for / to do 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有资格做</a:t>
            </a:r>
            <a:r>
              <a:rPr lang="en-US" altLang="zh-CN" sz="3200" b="1" dirty="0">
                <a:latin typeface="+mn-ea"/>
                <a:cs typeface="Times New Roman" panose="02020603050405020304" pitchFamily="18" charset="0"/>
              </a:rPr>
              <a:t>……</a:t>
            </a:r>
            <a:endParaRPr lang="zh-CN" altLang="en-US" sz="3200" b="1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3831C3FA-3383-08C7-40A2-875E33459EA2}"/>
              </a:ext>
            </a:extLst>
          </p:cNvPr>
          <p:cNvSpPr txBox="1"/>
          <p:nvPr/>
        </p:nvSpPr>
        <p:spPr>
          <a:xfrm>
            <a:off x="683701" y="4040693"/>
            <a:ext cx="5092984" cy="631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3136900" indent="-3136900">
              <a:lnSpc>
                <a:spcPct val="120000"/>
              </a:lnSpc>
              <a:defRPr sz="3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363538" indent="-363538">
              <a:buFont typeface="Arial" panose="020B0604020202020204" pitchFamily="34" charset="0"/>
              <a:buChar char="•"/>
            </a:pPr>
            <a:r>
              <a:rPr lang="en-US" altLang="zh-CN" dirty="0"/>
              <a:t>disqualify  </a:t>
            </a:r>
            <a:r>
              <a:rPr lang="en-US" altLang="zh-CN" i="1" dirty="0"/>
              <a:t>adj</a:t>
            </a:r>
            <a:r>
              <a:rPr lang="en-US" altLang="zh-CN" dirty="0"/>
              <a:t>.</a:t>
            </a:r>
            <a:r>
              <a:rPr lang="zh-CN" altLang="en-US" dirty="0"/>
              <a:t>  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67385583-4E41-7A2F-6851-B313AF20D4BD}"/>
              </a:ext>
            </a:extLst>
          </p:cNvPr>
          <p:cNvSpPr txBox="1"/>
          <p:nvPr/>
        </p:nvSpPr>
        <p:spPr>
          <a:xfrm>
            <a:off x="683701" y="4672404"/>
            <a:ext cx="5092984" cy="6422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3136900" indent="-3136900">
              <a:lnSpc>
                <a:spcPct val="120000"/>
              </a:lnSpc>
              <a:defRPr sz="3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indent="0"/>
            <a:r>
              <a:rPr lang="en-GB" altLang="zh-CN" dirty="0"/>
              <a:t>disqualify </a:t>
            </a:r>
            <a:r>
              <a:rPr lang="en-GB" altLang="zh-CN" dirty="0" err="1"/>
              <a:t>sb</a:t>
            </a:r>
            <a:r>
              <a:rPr lang="en-GB" altLang="zh-CN" dirty="0"/>
              <a:t> from </a:t>
            </a:r>
            <a:r>
              <a:rPr lang="en-GB" altLang="zh-CN" dirty="0" err="1"/>
              <a:t>sth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3157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5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9C3C8-F8AC-6EF1-DA79-DA5E19EF2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933F6C8-FF86-B10A-0807-2D7847850D9C}"/>
              </a:ext>
            </a:extLst>
          </p:cNvPr>
          <p:cNvSpPr txBox="1"/>
          <p:nvPr/>
        </p:nvSpPr>
        <p:spPr>
          <a:xfrm>
            <a:off x="338666" y="224287"/>
            <a:ext cx="11514667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As he pushed her, she 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swung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higher and higher.</a:t>
            </a:r>
          </a:p>
          <a:p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swing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his bag back and forth</a:t>
            </a:r>
          </a:p>
          <a:p>
            <a:r>
              <a:rPr lang="zh-CN" altLang="en-GB" sz="3200" b="1" dirty="0">
                <a:latin typeface="Songti SC" panose="02010600040101010101" pitchFamily="2" charset="-122"/>
                <a:ea typeface="Songti SC" panose="02010600040101010101" pitchFamily="2" charset="-122"/>
                <a:cs typeface="Times New Roman" panose="02020603050405020304" pitchFamily="18" charset="0"/>
              </a:rPr>
              <a:t>他</a:t>
            </a:r>
            <a:r>
              <a:rPr lang="zh-CN" altLang="en-US" sz="3200" b="1" dirty="0">
                <a:latin typeface="Songti SC" panose="02010600040101010101" pitchFamily="2" charset="-122"/>
                <a:ea typeface="Songti SC" panose="02010600040101010101" pitchFamily="2" charset="-122"/>
                <a:cs typeface="Times New Roman" panose="02020603050405020304" pitchFamily="18" charset="0"/>
              </a:rPr>
              <a:t>坐在树枝上，双腿摆动着。</a:t>
            </a:r>
            <a:endParaRPr lang="en-GB" sz="3200" b="1" dirty="0">
              <a:latin typeface="Songti SC" panose="02010600040101010101" pitchFamily="2" charset="-122"/>
              <a:ea typeface="Songti SC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sat on the branch with his legs swinging</a:t>
            </a:r>
          </a:p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The door 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swung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open.</a:t>
            </a:r>
          </a:p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 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swung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door open.</a:t>
            </a:r>
          </a:p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I picked up his baseball bat and 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swung at 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man's head</a:t>
            </a:r>
          </a:p>
          <a:p>
            <a:r>
              <a:rPr lang="en-GB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try to hit</a:t>
            </a:r>
          </a:p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The bus 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swung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sharply to the left.</a:t>
            </a:r>
          </a:p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 mood could 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swing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rapidly 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gloom 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exhilaration.</a:t>
            </a:r>
          </a:p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 suffers from 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mood swings.</a:t>
            </a:r>
          </a:p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managed to 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swing 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 round to my point of view.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6E1CA6-8662-B079-3D73-EB2DA97FF3D9}"/>
              </a:ext>
            </a:extLst>
          </p:cNvPr>
          <p:cNvSpPr txBox="1"/>
          <p:nvPr/>
        </p:nvSpPr>
        <p:spPr>
          <a:xfrm>
            <a:off x="8283388" y="2570432"/>
            <a:ext cx="39086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play/go on the swings</a:t>
            </a:r>
            <a:endParaRPr lang="en-GB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5563D9-4C23-00BD-5644-06869DC5F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1115" y="224287"/>
            <a:ext cx="1567701" cy="2346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88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F0612-23F7-40AA-F086-37E9A24C3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F181DF8-6E2C-9099-BD19-A30C13A0E6A0}"/>
              </a:ext>
            </a:extLst>
          </p:cNvPr>
          <p:cNvSpPr txBox="1"/>
          <p:nvPr/>
        </p:nvSpPr>
        <p:spPr>
          <a:xfrm>
            <a:off x="205316" y="0"/>
            <a:ext cx="1151466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The end-of-course party was 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full swing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Everyone understood how hard it was to 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 (back) into the swing of it/things 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such a long absence.</a:t>
            </a:r>
          </a:p>
          <a:p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每个人都知道这么长时间不在，再重新完全融入进来有多难。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209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6096</TotalTime>
  <Words>598</Words>
  <Application>Microsoft Macintosh PowerPoint</Application>
  <PresentationFormat>Widescreen</PresentationFormat>
  <Paragraphs>70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等线</vt:lpstr>
      <vt:lpstr>Songti SC</vt:lpstr>
      <vt:lpstr>Aptos</vt:lpstr>
      <vt:lpstr>Arial</vt:lpstr>
      <vt:lpstr>Calibri</vt:lpstr>
      <vt:lpstr>Calibri Light</vt:lpstr>
      <vt:lpstr>Times New Roman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221</cp:revision>
  <dcterms:created xsi:type="dcterms:W3CDTF">2020-09-08T00:37:35Z</dcterms:created>
  <dcterms:modified xsi:type="dcterms:W3CDTF">2026-07-23T01:31:07Z</dcterms:modified>
</cp:coreProperties>
</file>