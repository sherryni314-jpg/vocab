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90" r:id="rId2"/>
    <p:sldId id="293" r:id="rId3"/>
    <p:sldId id="291" r:id="rId4"/>
    <p:sldId id="295" r:id="rId5"/>
    <p:sldId id="294" r:id="rId6"/>
    <p:sldId id="292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2" r:id="rId18"/>
    <p:sldId id="363" r:id="rId19"/>
    <p:sldId id="364" r:id="rId20"/>
    <p:sldId id="365" r:id="rId21"/>
    <p:sldId id="367" r:id="rId22"/>
    <p:sldId id="368" r:id="rId23"/>
    <p:sldId id="371" r:id="rId24"/>
    <p:sldId id="372" r:id="rId25"/>
    <p:sldId id="384" r:id="rId26"/>
    <p:sldId id="286" r:id="rId27"/>
    <p:sldId id="373" r:id="rId28"/>
    <p:sldId id="374" r:id="rId29"/>
    <p:sldId id="375" r:id="rId30"/>
    <p:sldId id="376" r:id="rId31"/>
    <p:sldId id="377" r:id="rId32"/>
    <p:sldId id="379" r:id="rId33"/>
    <p:sldId id="380" r:id="rId34"/>
    <p:sldId id="381" r:id="rId35"/>
    <p:sldId id="385" r:id="rId36"/>
    <p:sldId id="389" r:id="rId37"/>
    <p:sldId id="390" r:id="rId38"/>
    <p:sldId id="391" r:id="rId39"/>
    <p:sldId id="392" r:id="rId40"/>
    <p:sldId id="393" r:id="rId41"/>
    <p:sldId id="396" r:id="rId42"/>
    <p:sldId id="397" r:id="rId43"/>
    <p:sldId id="395" r:id="rId44"/>
    <p:sldId id="394" r:id="rId45"/>
    <p:sldId id="399" r:id="rId46"/>
    <p:sldId id="386" r:id="rId47"/>
    <p:sldId id="400" r:id="rId48"/>
    <p:sldId id="387" r:id="rId49"/>
    <p:sldId id="388" r:id="rId50"/>
    <p:sldId id="398" r:id="rId51"/>
    <p:sldId id="401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65238"/>
  </p:normalViewPr>
  <p:slideViewPr>
    <p:cSldViewPr snapToGrid="0">
      <p:cViewPr varScale="1">
        <p:scale>
          <a:sx n="68" d="100"/>
          <a:sy n="68" d="100"/>
        </p:scale>
        <p:origin x="11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052636-6DB0-1B4D-8E73-F453CD5FAC39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968FB-95BC-9740-822E-8F2015FDC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15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GB" sz="1200" dirty="0"/>
              <a:t>在</a:t>
            </a:r>
            <a:r>
              <a:rPr lang="zh-CN" altLang="en-US" sz="1200" dirty="0"/>
              <a:t>他面前的是一幅画。</a:t>
            </a:r>
            <a:endParaRPr lang="en-GB" altLang="zh-CN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29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6AEB-5751-BC05-84E3-9ED45B91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03D7D-1370-9E9A-E626-E2394C001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99630-BB39-7812-8402-FC2328467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D3C46-0EB7-082A-8824-A4D6B738C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4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01DE3-4A56-6824-BC89-9D348F8A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449A9-7BC5-52A3-3F72-4C0647BB0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05E3C-CB04-409E-1D27-B66D10CCD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complaints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/congratulations have been flowing in</a:t>
            </a:r>
            <a:endParaRPr lang="en-GB" dirty="0"/>
          </a:p>
          <a:p>
            <a:r>
              <a:rPr lang="en-GB" dirty="0"/>
              <a:t>sweeping away the last trace of hesitation</a:t>
            </a:r>
          </a:p>
          <a:p>
            <a:r>
              <a:rPr lang="en-GB" dirty="0"/>
              <a:t>Joy overflowed within her, driving away all her fears.</a:t>
            </a:r>
          </a:p>
          <a:p>
            <a:r>
              <a:rPr lang="en-GB" dirty="0"/>
              <a:t>A sense of relief overflowed in his heart, melting the tension in his chest.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50A5D-8D48-EF21-EF6F-A5E1438D8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84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F7B69-64A4-B565-0D08-C723ED87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0AA92-D252-2843-1542-634D884A8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EC9E2-C2CF-2836-B780-EB897D68A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 voice flowed with warmth and sincerity.</a:t>
            </a:r>
          </a:p>
          <a:p>
            <a:r>
              <a:rPr lang="en-GB" dirty="0"/>
              <a:t>The music flowed with quiet elegance.</a:t>
            </a:r>
          </a:p>
          <a:p>
            <a:r>
              <a:rPr lang="en-GB" dirty="0"/>
              <a:t>His words flowed with confidence.</a:t>
            </a:r>
          </a:p>
          <a:p>
            <a:endParaRPr lang="en-GB" dirty="0"/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sentences flowed from his pen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流畅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 of notes/in full flow</a:t>
            </a:r>
            <a:endParaRPr lang="en-GB" dirty="0"/>
          </a:p>
          <a:p>
            <a:endParaRPr lang="en-GB" dirty="0"/>
          </a:p>
          <a:p>
            <a:r>
              <a:rPr lang="en-GB" dirty="0"/>
              <a:t>Brimming</a:t>
            </a:r>
          </a:p>
          <a:p>
            <a:endParaRPr lang="en-GB" dirty="0"/>
          </a:p>
          <a:p>
            <a:r>
              <a:rPr lang="en-GB" dirty="0"/>
              <a:t>The exhibition hall was overflowing with visitors from different schools.</a:t>
            </a:r>
          </a:p>
          <a:p>
            <a:r>
              <a:rPr lang="en-GB" dirty="0"/>
              <a:t>The library was overflowing with new books and learning materials.</a:t>
            </a:r>
          </a:p>
          <a:p>
            <a:r>
              <a:rPr lang="en-GB" dirty="0"/>
              <a:t>The campus was overflowing with energy during the sports meeting.</a:t>
            </a:r>
          </a:p>
          <a:p>
            <a:r>
              <a:rPr lang="zh-CN" altLang="en-US" b="1" dirty="0"/>
              <a:t>续写</a:t>
            </a:r>
          </a:p>
          <a:p>
            <a:r>
              <a:rPr lang="en-GB" dirty="0"/>
              <a:t>The classroom was overflowing with laughter and excited whispers.</a:t>
            </a:r>
          </a:p>
          <a:p>
            <a:r>
              <a:rPr lang="en-GB" dirty="0"/>
              <a:t>The hall was overflowing with parents and students waiting nervously.</a:t>
            </a:r>
          </a:p>
          <a:p>
            <a:r>
              <a:rPr lang="en-GB" dirty="0"/>
              <a:t>The small kitchen was overflowing with the smell of freshly baked bread.</a:t>
            </a:r>
          </a:p>
          <a:p>
            <a:endParaRPr lang="en-US" dirty="0"/>
          </a:p>
          <a:p>
            <a:endParaRPr lang="en-US" dirty="0"/>
          </a:p>
          <a:p>
            <a:r>
              <a:rPr lang="zh-CN" altLang="en-US" b="1" dirty="0"/>
              <a:t>三、情绪义：充满某种情感</a:t>
            </a:r>
          </a:p>
          <a:p>
            <a:r>
              <a:rPr lang="zh-CN" altLang="en-US" dirty="0"/>
              <a:t>结构：</a:t>
            </a:r>
          </a:p>
          <a:p>
            <a:r>
              <a:rPr lang="en-GB" dirty="0"/>
              <a:t>heart overflowing with + </a:t>
            </a:r>
            <a:r>
              <a:rPr lang="zh-CN" altLang="en-US" dirty="0"/>
              <a:t>情绪</a:t>
            </a:r>
          </a:p>
          <a:p>
            <a:r>
              <a:rPr lang="en-GB" dirty="0"/>
              <a:t>be overflowing with joy/gratitude/pride</a:t>
            </a:r>
          </a:p>
          <a:p>
            <a:r>
              <a:rPr lang="zh-CN" altLang="en-US" b="1" dirty="0"/>
              <a:t>应用文</a:t>
            </a:r>
          </a:p>
          <a:p>
            <a:r>
              <a:rPr lang="en-GB" dirty="0"/>
              <a:t>Our hearts are overflowing with gratitude for your generous support.</a:t>
            </a:r>
          </a:p>
          <a:p>
            <a:r>
              <a:rPr lang="en-GB" dirty="0"/>
              <a:t>The volunteers were overflowing with enthusiasm throughout the activity.</a:t>
            </a:r>
          </a:p>
          <a:p>
            <a:r>
              <a:rPr lang="en-GB" dirty="0"/>
              <a:t>We left the camp overflowing with pride and a sense of achievement.</a:t>
            </a:r>
          </a:p>
          <a:p>
            <a:r>
              <a:rPr lang="zh-CN" altLang="en-US" b="1" dirty="0"/>
              <a:t>续写</a:t>
            </a:r>
          </a:p>
          <a:p>
            <a:r>
              <a:rPr lang="en-GB" dirty="0"/>
              <a:t>Her heart overflowed with relief when she saw her mother at the door.</a:t>
            </a:r>
          </a:p>
          <a:p>
            <a:r>
              <a:rPr lang="en-GB" dirty="0"/>
              <a:t>He was overflowing with excitement as he stepped onto the stage.</a:t>
            </a:r>
          </a:p>
          <a:p>
            <a:r>
              <a:rPr lang="en-GB" dirty="0"/>
              <a:t>A quiet pride overflowed within him, warming his chest.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20520-7D1B-2FE9-4EB7-072FBEDFA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56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7CBD-C489-1100-7DC6-9FAA1B592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7846B-C7BA-6E02-8430-2FD89139E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2538D-C524-CC45-DF6A-B3F341055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9D37A-98B7-7E23-E2E7-E34CF7395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13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00A39-4444-2D31-6642-6AE60042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DA7AB-595A-BD99-B932-A0BEAC4C6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8263E-4739-B2FD-09A3-F6CFFAB5C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BAB4E-53AE-8F69-4FA1-FE6446EB5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96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1" dirty="0"/>
              <a:t>found myself doing </a:t>
            </a:r>
            <a:r>
              <a:rPr lang="en-GB" i="1" dirty="0" err="1"/>
              <a:t>sth</a:t>
            </a:r>
            <a:r>
              <a:rPr lang="en-GB" dirty="0"/>
              <a:t>：</a:t>
            </a:r>
            <a:r>
              <a:rPr lang="zh-CN" altLang="en-US" dirty="0"/>
              <a:t>自然流露情绪</a:t>
            </a:r>
          </a:p>
          <a:p>
            <a:r>
              <a:rPr lang="zh-CN" altLang="en-US" dirty="0"/>
              <a:t>情绪递进更柔和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27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Shatter team/hopes/dreams/confidence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question/smile hovered on his lips 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他意欲问一个问题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一丝笑容挂在他嘴边</a:t>
            </a:r>
            <a:endParaRPr lang="en-GB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Dimming…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96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utter failure</a:t>
            </a:r>
          </a:p>
          <a:p>
            <a:r>
              <a:rPr lang="en-GB" dirty="0"/>
              <a:t>utter despair</a:t>
            </a:r>
          </a:p>
          <a:p>
            <a:r>
              <a:rPr lang="en-GB" dirty="0"/>
              <a:t>utter confusion</a:t>
            </a:r>
          </a:p>
          <a:p>
            <a:r>
              <a:rPr lang="en-GB" dirty="0"/>
              <a:t>utter shock</a:t>
            </a:r>
          </a:p>
          <a:p>
            <a:r>
              <a:rPr lang="en-GB" dirty="0"/>
              <a:t>utter chaos</a:t>
            </a:r>
          </a:p>
          <a:p>
            <a:r>
              <a:rPr lang="en-GB" dirty="0"/>
              <a:t>utter disappointment</a:t>
            </a:r>
          </a:p>
          <a:p>
            <a:r>
              <a:rPr lang="en-GB" dirty="0"/>
              <a:t>The utter failure nearly tore the team apart and shattered their confidence.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ym typeface="Times New Roman"/>
              </a:rPr>
              <a:t>The utter failure almost tore the team apart, as frustration spread through the locker room and their once-unshakable confidence slowly crumbled.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ym typeface="Times New Roman"/>
              </a:rPr>
              <a:t>The utter failure almost tore the team apart, with some players lowering their heads in despair while others clenched their fists, struggling to hold back their anger and disappointment.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ym typeface="Times New Roman"/>
              </a:rPr>
              <a:t>casting a heavy shadow over …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dirty="0">
              <a:sym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59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Conceal</a:t>
            </a:r>
          </a:p>
          <a:p>
            <a:r>
              <a:rPr lang="en-US" dirty="0"/>
              <a:t>Weigh on my heart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38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新工作让生活更丰富</a:t>
            </a:r>
            <a:endParaRPr lang="en-GB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remains of the past, the living part of our identity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73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想法</a:t>
            </a:r>
            <a:r>
              <a:rPr lang="en-US" altLang="zh-CN" dirty="0"/>
              <a:t>/</a:t>
            </a:r>
            <a:r>
              <a:rPr lang="zh-CN" altLang="en-US" dirty="0"/>
              <a:t>决心逐渐成形</a:t>
            </a:r>
            <a:endParaRPr lang="en-GB" altLang="zh-CN" dirty="0"/>
          </a:p>
          <a:p>
            <a:r>
              <a:rPr lang="en-GB" dirty="0"/>
              <a:t>… driving away all hesitation. / and she knew there was no turning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23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deploy + strategies/resources/forces/skills</a:t>
            </a:r>
          </a:p>
          <a:p>
            <a:endParaRPr lang="en-GB" b="1" dirty="0"/>
          </a:p>
          <a:p>
            <a:r>
              <a:rPr lang="en-GB" i="1" dirty="0"/>
              <a:t>deploy</a:t>
            </a:r>
            <a:r>
              <a:rPr lang="en-GB" dirty="0"/>
              <a:t> </a:t>
            </a:r>
            <a:r>
              <a:rPr lang="zh-CN" altLang="en-US" dirty="0"/>
              <a:t>多用于“有目标地使用”</a:t>
            </a:r>
            <a:r>
              <a:rPr lang="en-GB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apply</a:t>
            </a:r>
            <a:endParaRPr lang="en-GB" altLang="zh-CN" dirty="0"/>
          </a:p>
          <a:p>
            <a:endParaRPr lang="en-GB" dirty="0"/>
          </a:p>
          <a:p>
            <a:r>
              <a:rPr lang="en-GB" dirty="0"/>
              <a:t>Advanced technology was </a:t>
            </a:r>
            <a:r>
              <a:rPr lang="en-GB" b="1" dirty="0"/>
              <a:t>deployed</a:t>
            </a:r>
            <a:r>
              <a:rPr lang="en-GB" dirty="0"/>
              <a:t> to improve efficiency and accuracy./</a:t>
            </a:r>
          </a:p>
          <a:p>
            <a:r>
              <a:rPr lang="en-GB" dirty="0"/>
              <a:t>I believe this position will allow me to </a:t>
            </a:r>
            <a:r>
              <a:rPr lang="en-GB" b="1" dirty="0"/>
              <a:t>deploy my skills</a:t>
            </a:r>
            <a:r>
              <a:rPr lang="en-GB" dirty="0"/>
              <a:t> in communication and problem-solving effectively.</a:t>
            </a:r>
          </a:p>
          <a:p>
            <a:endParaRPr lang="en-GB" dirty="0"/>
          </a:p>
          <a:p>
            <a:r>
              <a:rPr lang="en-GB" dirty="0"/>
              <a:t>be deployed to do </a:t>
            </a:r>
            <a:r>
              <a:rPr lang="en-GB" dirty="0" err="1"/>
              <a:t>sth</a:t>
            </a:r>
            <a:endParaRPr lang="en-GB" dirty="0"/>
          </a:p>
          <a:p>
            <a:r>
              <a:rPr lang="en-GB" dirty="0"/>
              <a:t>be effectively/efficiently deployed</a:t>
            </a:r>
          </a:p>
          <a:p>
            <a:endParaRPr lang="en-US" dirty="0"/>
          </a:p>
          <a:p>
            <a:r>
              <a:rPr lang="en-GB" dirty="0"/>
              <a:t>She quickly </a:t>
            </a:r>
            <a:r>
              <a:rPr lang="en-GB" b="1" dirty="0"/>
              <a:t>deployed every strategy she could think of</a:t>
            </a:r>
            <a:r>
              <a:rPr lang="en-GB" dirty="0"/>
              <a:t> to save the situation.</a:t>
            </a:r>
          </a:p>
          <a:p>
            <a:endParaRPr lang="en-GB" dirty="0"/>
          </a:p>
          <a:p>
            <a:r>
              <a:rPr lang="en-GB" dirty="0"/>
              <a:t>In the face of criticism, he </a:t>
            </a:r>
            <a:r>
              <a:rPr lang="en-GB" b="1" dirty="0"/>
              <a:t>deployed remarkable composure</a:t>
            </a:r>
            <a:r>
              <a:rPr lang="en-GB" dirty="0"/>
              <a:t>, refusing to be shaken.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75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Sank into/be wrapped/enveloped in/silence settled </a:t>
            </a:r>
            <a:r>
              <a:rPr lang="en-US" altLang="zh-CN" dirty="0"/>
              <a:t>over/descended on the hall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363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Whipping his face</a:t>
            </a:r>
          </a:p>
          <a:p>
            <a:r>
              <a:rPr lang="en-US" dirty="0"/>
              <a:t>Press on</a:t>
            </a:r>
          </a:p>
          <a:p>
            <a:r>
              <a:rPr lang="en-GB" dirty="0"/>
              <a:t>Though exhaustion crept into every muscle, he refused to slow down.</a:t>
            </a:r>
          </a:p>
          <a:p>
            <a:r>
              <a:rPr lang="en-GB" dirty="0"/>
              <a:t>Although fear gripped her heart, she stepped forward instead of backing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8496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Amid </a:t>
            </a:r>
            <a:r>
              <a:rPr lang="en-US" altLang="zh-CN" dirty="0"/>
              <a:t>= surrounded</a:t>
            </a:r>
            <a:r>
              <a:rPr lang="zh-CN" altLang="en-US" dirty="0"/>
              <a:t> </a:t>
            </a:r>
            <a:r>
              <a:rPr lang="en-GB" altLang="zh-CN" dirty="0"/>
              <a:t>by</a:t>
            </a:r>
          </a:p>
          <a:p>
            <a:r>
              <a:rPr lang="en-GB" b="1" dirty="0"/>
              <a:t>in the comfort of…</a:t>
            </a:r>
          </a:p>
          <a:p>
            <a:r>
              <a:rPr lang="en-GB" dirty="0"/>
              <a:t>in the comfort of her home</a:t>
            </a:r>
          </a:p>
          <a:p>
            <a:r>
              <a:rPr lang="en-GB" dirty="0"/>
              <a:t>in the comfort of his arms</a:t>
            </a:r>
          </a:p>
          <a:p>
            <a:r>
              <a:rPr lang="en-GB" dirty="0"/>
              <a:t>in the comfort of silence</a:t>
            </a:r>
          </a:p>
          <a:p>
            <a:r>
              <a:rPr lang="zh-CN" altLang="en-US" dirty="0"/>
              <a:t>表示一种</a:t>
            </a:r>
            <a:r>
              <a:rPr lang="zh-CN" altLang="en-US" b="1" dirty="0"/>
              <a:t>安全感、温暖感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en-GB" b="1" dirty="0"/>
              <a:t>amid the smell of…</a:t>
            </a:r>
          </a:p>
          <a:p>
            <a:r>
              <a:rPr lang="en-GB" dirty="0"/>
              <a:t>amid the smell of coffee</a:t>
            </a:r>
          </a:p>
          <a:p>
            <a:r>
              <a:rPr lang="en-GB" dirty="0"/>
              <a:t>amid the laughter of children</a:t>
            </a:r>
          </a:p>
          <a:p>
            <a:r>
              <a:rPr lang="en-GB" dirty="0"/>
              <a:t>amid the falling snow</a:t>
            </a:r>
            <a:endParaRPr lang="en-US" dirty="0"/>
          </a:p>
          <a:p>
            <a:endParaRPr lang="en-US" dirty="0"/>
          </a:p>
          <a:p>
            <a:r>
              <a:rPr lang="en-GB" dirty="0"/>
              <a:t>under her gentle gaze</a:t>
            </a:r>
          </a:p>
          <a:p>
            <a:endParaRPr lang="en-US" dirty="0"/>
          </a:p>
          <a:p>
            <a:r>
              <a:rPr lang="en-GB" dirty="0"/>
              <a:t>It was in the quiet of the library, amid rows of old books, that he rediscovered his passion for reading.</a:t>
            </a:r>
          </a:p>
          <a:p>
            <a:r>
              <a:rPr lang="en-GB" dirty="0"/>
              <a:t>Place myself in the comfort of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8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</a:t>
            </a:r>
            <a:r>
              <a:rPr lang="en-US" dirty="0" err="1"/>
              <a:t>端详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15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0" name="Shape 23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 err="1"/>
              <a:t>不屑地说</a:t>
            </a:r>
            <a:endParaRPr lang="en-GB" dirty="0"/>
          </a:p>
          <a:p>
            <a:r>
              <a:rPr lang="en-GB" dirty="0" err="1"/>
              <a:t>抱怨</a:t>
            </a:r>
            <a:endParaRPr lang="en-GB" dirty="0"/>
          </a:p>
          <a:p>
            <a:r>
              <a:rPr lang="en-US" dirty="0" err="1"/>
              <a:t>嘀咕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Burning blurring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011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000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吸收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28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eyes fell on</a:t>
            </a:r>
          </a:p>
          <a:p>
            <a:r>
              <a:rPr lang="en-GB" dirty="0"/>
              <a:t>eyes were drawn to</a:t>
            </a:r>
          </a:p>
          <a:p>
            <a:r>
              <a:rPr lang="en-GB" dirty="0"/>
              <a:t>eyes lingered on</a:t>
            </a:r>
          </a:p>
          <a:p>
            <a:r>
              <a:rPr lang="en-GB" dirty="0"/>
              <a:t>gaze settled on</a:t>
            </a:r>
          </a:p>
          <a:p>
            <a:r>
              <a:rPr lang="en-GB" dirty="0"/>
              <a:t>gaze drifted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41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载体、媒介、承载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249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603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speech about family responsibility hit home for many students.</a:t>
            </a:r>
          </a:p>
          <a:p>
            <a:r>
              <a:rPr lang="en-GB" dirty="0"/>
              <a:t>His words hit home, making me realize how selfish I had been. </a:t>
            </a:r>
            <a:r>
              <a:rPr lang="en-GB" dirty="0" err="1"/>
              <a:t>让人深受触动</a:t>
            </a:r>
            <a:endParaRPr lang="en-GB" dirty="0"/>
          </a:p>
          <a:p>
            <a:r>
              <a:rPr lang="en-GB" dirty="0"/>
              <a:t>Her trembling voice hit home for him, awakening emotions he had long buried.</a:t>
            </a:r>
          </a:p>
          <a:p>
            <a:r>
              <a:rPr lang="en-GB" dirty="0"/>
              <a:t>His quiet confession hit home, stirring a mixture of guilt and tenderness in my heart.</a:t>
            </a:r>
            <a:r>
              <a:rPr lang="en-US" altLang="zh-CN" dirty="0"/>
              <a:t>/… hit home, </a:t>
            </a:r>
            <a:r>
              <a:rPr lang="en-GB" altLang="zh-CN" dirty="0"/>
              <a:t>evoking</a:t>
            </a:r>
            <a:r>
              <a:rPr lang="en-US" altLang="zh-CN" dirty="0"/>
              <a:t> </a:t>
            </a:r>
            <a:r>
              <a:rPr lang="en-GB" altLang="zh-CN" dirty="0" err="1"/>
              <a:t>meories</a:t>
            </a:r>
            <a:r>
              <a:rPr lang="en-GB" altLang="zh-CN" dirty="0"/>
              <a:t> of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199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74D9-8FEE-287E-2BD5-DA036C88E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5BE9E-08F6-EB4B-E275-957EBFCE7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5775F-BAA6-5D15-5404-675F28FA7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Cause/create a sensation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1D54A-3A28-2154-6D2D-18D44385C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30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968FB-95BC-9740-822E-8F2015FDCB7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62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67B0-CD1A-D66B-A6A2-067B995F8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7801D-384B-4F79-FA60-E9F23662B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5B1E0-D3B6-31DE-C39B-B4BCB7D4F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3299A-AA2B-C216-3C12-2E5BA68F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E0074-AF2E-3407-E859-400DF0BC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06E30-50EA-121F-BADD-E54007233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4E6A4-FF27-6233-5591-168B4FEBC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145CD-7388-D061-ECB8-7DACC89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EA7DB-07F5-5357-EC12-128EA30C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6EF2F-A3DF-4DBF-5396-84FDB276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94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7B365-79E6-8182-F536-83FFFC032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93F6E-FE01-937F-17B3-322AF713C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3D7EC-EF4A-5886-8BA2-9CA8141A9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31D21-1715-B074-A851-37835EBF9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749CE-A8EE-2BBB-FAD6-4479CEAE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5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1F62-3F9C-EA5F-4C00-8DC912B8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2C6D1-05D6-5A08-F757-B361A88DD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EF3C5-72BE-1E44-E665-247A8456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CB9BD-D0ED-1079-6668-D2421913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DB085-5FCF-46C6-91B9-F13C057A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DA3FB-DC8A-E89B-6063-A42C8869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05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EBE3-06AC-7979-0251-47E18B4D0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67782-2C2A-283D-B739-FE5F1F48A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78C2D-4C6A-C461-C818-16480A446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4DAF4-F5A5-95B0-BC36-5B40B1653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D52849-FE52-9B77-1205-09B174CC9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32B83-B3C3-9ADA-3CD5-0EA501F9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7EF560-E42A-8288-E3D3-7A85D5ACC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E6941B-5D9D-0010-7DDD-5DBD32DD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3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130A6-AA14-625C-7358-EE287E792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39EED-A229-D58F-1A78-AEF33412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BBBBF-7D2E-F42C-2E5D-A9A3C69AE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5B334-564C-6F17-C368-CCC0335E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2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55F35-57A1-11FB-8D80-A6DC9DDE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293FD7-6139-0568-84B9-8A5B01BAA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ED419-C0F5-3D1A-7CF3-1800A6EF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487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34CF3-5622-DB10-887D-23848AE2B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92061-5C1D-F2E6-0EEA-D6ED59064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B14CB-AD41-FA89-85A9-0C98C0019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6442D-D692-1643-0C0B-76AD7C9F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42274-FF01-E3B0-6850-50EB9F21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C7EAD-D158-E194-2F2E-C41AADA3C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4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53D3-CF07-8E1C-4203-342D54ACA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32C33A-D8FC-3735-E00E-CCF87F727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B5988-E141-B9F8-ACAD-D118D6A7F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835C8-0B01-5055-38B7-509338A6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1094F-76A9-DF5D-9931-C4194E09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32A20-E62E-7332-5B3D-A623E1C7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6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3839-45C2-2668-6728-D4CD71B1F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A8264-1CE3-2B4D-5DAA-911B7333A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17370-043C-5D17-659D-B1ADAF8DC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CA8C9-04F1-0F0A-9CC5-E90255C2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2C79C-19A2-32C1-D0CE-99F6350D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99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2C60A1-13AA-E575-9542-FFC24501BB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6C9D7-2FC2-E920-D1F0-458CC6049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6ED9A-50B7-11AC-8A11-46F6E8F1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8E30D-026B-DE20-9E14-AA215D908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2895-FEBE-E0F3-78AF-EBB340F0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03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21"/>
          </p:nvPr>
        </p:nvSpPr>
        <p:spPr>
          <a:xfrm>
            <a:off x="1506141" y="446485"/>
            <a:ext cx="9167813" cy="458629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190625" y="4723805"/>
            <a:ext cx="9810750" cy="1000125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90625" y="5759649"/>
            <a:ext cx="9810750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000"/>
            </a:lvl1pPr>
            <a:lvl2pPr marL="0" indent="214315" algn="ctr">
              <a:spcBef>
                <a:spcPts val="0"/>
              </a:spcBef>
              <a:buSzTx/>
              <a:buNone/>
              <a:defRPr sz="3000"/>
            </a:lvl2pPr>
            <a:lvl3pPr marL="0" indent="428631" algn="ctr">
              <a:spcBef>
                <a:spcPts val="0"/>
              </a:spcBef>
              <a:buSzTx/>
              <a:buNone/>
              <a:defRPr sz="3000"/>
            </a:lvl3pPr>
            <a:lvl4pPr marL="0" indent="642947" algn="ctr">
              <a:spcBef>
                <a:spcPts val="0"/>
              </a:spcBef>
              <a:buSzTx/>
              <a:buNone/>
              <a:defRPr sz="3000"/>
            </a:lvl4pPr>
            <a:lvl5pPr marL="0" indent="857262" algn="ctr">
              <a:spcBef>
                <a:spcPts val="0"/>
              </a:spcBef>
              <a:buSzTx/>
              <a:buNone/>
              <a:defRPr sz="3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09151" y="6500812"/>
            <a:ext cx="361792" cy="3318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556348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标题文本"/>
          <p:cNvSpPr txBox="1">
            <a:spLocks noGrp="1"/>
          </p:cNvSpPr>
          <p:nvPr>
            <p:ph type="title"/>
          </p:nvPr>
        </p:nvSpPr>
        <p:spPr>
          <a:xfrm>
            <a:off x="609599" y="92076"/>
            <a:ext cx="10972802" cy="1508124"/>
          </a:xfrm>
          <a:prstGeom prst="rect">
            <a:avLst/>
          </a:prstGeom>
        </p:spPr>
        <p:txBody>
          <a:bodyPr lIns="65023" tIns="65023" rIns="65023" bIns="65023">
            <a:noAutofit/>
          </a:bodyPr>
          <a:lstStyle>
            <a:lvl1pPr defTabSz="642915">
              <a:defRPr sz="4359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标题文本</a:t>
            </a:r>
          </a:p>
        </p:txBody>
      </p:sp>
      <p:sp>
        <p:nvSpPr>
          <p:cNvPr id="125" name="正文级别 1…"/>
          <p:cNvSpPr txBox="1">
            <a:spLocks noGrp="1"/>
          </p:cNvSpPr>
          <p:nvPr>
            <p:ph type="body" idx="1"/>
          </p:nvPr>
        </p:nvSpPr>
        <p:spPr>
          <a:xfrm>
            <a:off x="609599" y="1600200"/>
            <a:ext cx="10972802" cy="5257801"/>
          </a:xfrm>
          <a:prstGeom prst="rect">
            <a:avLst/>
          </a:prstGeom>
        </p:spPr>
        <p:txBody>
          <a:bodyPr lIns="65023" tIns="65023" rIns="65023" bIns="65023" anchor="t">
            <a:noAutofit/>
          </a:bodyPr>
          <a:lstStyle>
            <a:lvl1pPr marL="331503" indent="-331503" defTabSz="642915">
              <a:spcBef>
                <a:spcPts val="492"/>
              </a:spcBef>
              <a:buSzPct val="100000"/>
              <a:defRPr sz="3094">
                <a:latin typeface="Arial"/>
                <a:ea typeface="Arial"/>
                <a:cs typeface="Arial"/>
                <a:sym typeface="Arial"/>
              </a:defRPr>
            </a:lvl1pPr>
            <a:lvl2pPr marL="637174" indent="-315717" defTabSz="642915">
              <a:spcBef>
                <a:spcPts val="492"/>
              </a:spcBef>
              <a:buSzPct val="100000"/>
              <a:buChar char="–"/>
              <a:defRPr sz="3094">
                <a:latin typeface="Arial"/>
                <a:ea typeface="Arial"/>
                <a:cs typeface="Arial"/>
                <a:sym typeface="Arial"/>
              </a:defRPr>
            </a:lvl2pPr>
            <a:lvl3pPr indent="-294669" defTabSz="642915">
              <a:spcBef>
                <a:spcPts val="492"/>
              </a:spcBef>
              <a:buSzPct val="100000"/>
              <a:defRPr sz="3094">
                <a:latin typeface="Arial"/>
                <a:ea typeface="Arial"/>
                <a:cs typeface="Arial"/>
                <a:sym typeface="Arial"/>
              </a:defRPr>
            </a:lvl3pPr>
            <a:lvl4pPr marL="1317975" indent="-353603" defTabSz="642915">
              <a:spcBef>
                <a:spcPts val="492"/>
              </a:spcBef>
              <a:buSzPct val="100000"/>
              <a:buChar char="–"/>
              <a:defRPr sz="3094">
                <a:latin typeface="Arial"/>
                <a:ea typeface="Arial"/>
                <a:cs typeface="Arial"/>
                <a:sym typeface="Arial"/>
              </a:defRPr>
            </a:lvl4pPr>
            <a:lvl5pPr marL="1639432" indent="-353603" defTabSz="642915">
              <a:spcBef>
                <a:spcPts val="492"/>
              </a:spcBef>
              <a:buSzPct val="100000"/>
              <a:buChar char="»"/>
              <a:defRPr sz="3094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6" name="01"/>
          <p:cNvSpPr txBox="1">
            <a:spLocks noGrp="1"/>
          </p:cNvSpPr>
          <p:nvPr>
            <p:ph type="sldNum" sz="quarter" idx="2"/>
          </p:nvPr>
        </p:nvSpPr>
        <p:spPr>
          <a:xfrm>
            <a:off x="8737600" y="6245225"/>
            <a:ext cx="2844801" cy="273705"/>
          </a:xfrm>
          <a:prstGeom prst="rect">
            <a:avLst/>
          </a:prstGeom>
        </p:spPr>
        <p:txBody>
          <a:bodyPr wrap="square" lIns="65023" tIns="65023" rIns="65023" bIns="65023"/>
          <a:lstStyle>
            <a:lvl1pPr algn="r" defTabSz="642915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718355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955650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65FE4-F335-DC5D-1E86-25DF5445C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F4265-3F79-C532-392B-4A0402924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32F97-84A9-0E5C-DE22-EF11021F0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C0A6C-24E3-7C41-AD43-A88E90C2F4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79A25-75BD-18D3-A282-CA9CFADC2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2AC42-0688-63CF-62CC-8C3A84907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EDB7D-5C67-1243-8A19-3694D38C0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5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DC4ACB-1323-C7DE-164E-7A99D78DB92C}"/>
              </a:ext>
            </a:extLst>
          </p:cNvPr>
          <p:cNvSpPr txBox="1"/>
          <p:nvPr/>
        </p:nvSpPr>
        <p:spPr>
          <a:xfrm>
            <a:off x="-1" y="0"/>
            <a:ext cx="12192001" cy="69865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numCol="1">
            <a:spAutoFit/>
          </a:bodyPr>
          <a:lstStyle/>
          <a:p>
            <a:pPr defTabSz="504000"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U2 Ext:</a:t>
            </a:r>
            <a:endParaRPr lang="en-US" altLang="zh-CN" sz="3200" u="sng" dirty="0"/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Scattered</a:t>
            </a:r>
            <a:r>
              <a:rPr lang="en-US" altLang="zh-CN" sz="3200" dirty="0"/>
              <a:t> across this ocean are thousands of islands. (</a:t>
            </a:r>
            <a:r>
              <a:rPr lang="zh-CN" altLang="en-US" sz="3200" dirty="0"/>
              <a:t>单词造句；表语句首的倒装造句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More encouraging than the thunderous applause were the bright smiles and sparkling eyes of the children, the true reward in our hearts. (Gao Yuxin)</a:t>
            </a:r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defTabSz="504000"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Memories of that summer lay scattered in my mind like seashells on a beach, each holding fragments of sunlight, sea wind and laughter.</a:t>
            </a:r>
            <a:r>
              <a:rPr lang="zh-CN" altLang="en-US" sz="3200" dirty="0"/>
              <a:t> </a:t>
            </a:r>
            <a:r>
              <a:rPr lang="en-GB" altLang="zh-CN" sz="3200" dirty="0"/>
              <a:t>(Ren Sitong)</a:t>
            </a:r>
          </a:p>
          <a:p>
            <a:pPr defTabSz="504000"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200" dirty="0"/>
          </a:p>
          <a:p>
            <a:pPr defTabSz="504000"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Lying before me were the old yet meaningful objects, all laden with the emotional bond I shared with the bookshop. (Ren Sitong)</a:t>
            </a:r>
          </a:p>
        </p:txBody>
      </p:sp>
    </p:spTree>
    <p:extLst>
      <p:ext uri="{BB962C8B-B14F-4D97-AF65-F5344CB8AC3E}">
        <p14:creationId xmlns:p14="http://schemas.microsoft.com/office/powerpoint/2010/main" val="24286025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B9B0F-8D26-F339-0D06-6323419B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02F1C5-9B89-915E-D819-E7CB60FD29E1}"/>
              </a:ext>
            </a:extLst>
          </p:cNvPr>
          <p:cNvSpPr txBox="1"/>
          <p:nvPr/>
        </p:nvSpPr>
        <p:spPr>
          <a:xfrm>
            <a:off x="-1" y="0"/>
            <a:ext cx="12192001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numCol="1">
            <a:spAutoFit/>
          </a:bodyPr>
          <a:lstStyle/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2. </a:t>
            </a:r>
            <a:r>
              <a:rPr lang="en-US" altLang="zh-CN" sz="3200" u="sng" dirty="0"/>
              <a:t>As</a:t>
            </a:r>
            <a:r>
              <a:rPr lang="en-US" altLang="zh-CN" sz="3200" dirty="0"/>
              <a:t> global temperatures increase, </a:t>
            </a:r>
            <a:r>
              <a:rPr lang="en-US" altLang="zh-CN" sz="3200" u="sng" dirty="0"/>
              <a:t>so do </a:t>
            </a:r>
            <a:r>
              <a:rPr lang="en-US" altLang="zh-CN" sz="3200" dirty="0"/>
              <a:t>sea levels.</a:t>
            </a:r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As the first ray of dawn breaks through the darkness, so do faith and hope begin to chase away fear and despair in our hearts.</a:t>
            </a:r>
            <a:r>
              <a:rPr lang="zh-CN" altLang="en-US" sz="3200" dirty="0"/>
              <a:t> </a:t>
            </a:r>
            <a:r>
              <a:rPr lang="en-GB" altLang="zh-CN" sz="3200" dirty="0"/>
              <a:t>(Zhu Xinyue)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32043947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D011-1593-D585-20C0-D3AEC0EF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A27B17-988B-D516-C9EE-12F06F6B1F08}"/>
              </a:ext>
            </a:extLst>
          </p:cNvPr>
          <p:cNvSpPr txBox="1"/>
          <p:nvPr/>
        </p:nvSpPr>
        <p:spPr>
          <a:xfrm>
            <a:off x="-1" y="0"/>
            <a:ext cx="12192001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numCol="1">
            <a:spAutoFit/>
          </a:bodyPr>
          <a:lstStyle/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3. Water moves further inland to </a:t>
            </a:r>
            <a:r>
              <a:rPr lang="en-US" altLang="zh-CN" sz="3200" u="sng" dirty="0"/>
              <a:t>flow</a:t>
            </a:r>
            <a:r>
              <a:rPr lang="en-US" altLang="zh-CN" sz="3200" dirty="0"/>
              <a:t> into houses. (</a:t>
            </a:r>
            <a:r>
              <a:rPr lang="en-US" altLang="zh-CN" sz="3200" dirty="0" err="1"/>
              <a:t>flow&amp;overflow</a:t>
            </a:r>
            <a:r>
              <a:rPr lang="zh-CN" altLang="en-US" sz="3200" dirty="0"/>
              <a:t>各一句</a:t>
            </a:r>
            <a:r>
              <a:rPr lang="en-US" altLang="zh-CN" sz="3200" dirty="0"/>
              <a:t>)</a:t>
            </a:r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ym typeface="Times New Roman"/>
              </a:rPr>
              <a:t>Renewed courage overflowed within him, washing away a hint of hesitation. (Gao Yuxin)</a:t>
            </a:r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sz="3200" b="1" dirty="0">
              <a:sym typeface="Times New Roman"/>
            </a:endParaRPr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ym typeface="Times New Roman"/>
              </a:rPr>
              <a:t>The free flow of information gives many people access to the latest events. (Bian </a:t>
            </a:r>
            <a:r>
              <a:rPr lang="en-GB" sz="3200" b="1" dirty="0" err="1">
                <a:sym typeface="Times New Roman"/>
              </a:rPr>
              <a:t>Yinwei</a:t>
            </a:r>
            <a:r>
              <a:rPr lang="en-GB" sz="3200" b="1" dirty="0">
                <a:sym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53471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1F11-9CD1-4168-2D27-22E56FAE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2719C8-01F4-717C-BCFD-030795DC3F45}"/>
              </a:ext>
            </a:extLst>
          </p:cNvPr>
          <p:cNvSpPr txBox="1"/>
          <p:nvPr/>
        </p:nvSpPr>
        <p:spPr>
          <a:xfrm>
            <a:off x="-1" y="0"/>
            <a:ext cx="12192001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numCol="1">
            <a:spAutoFit/>
          </a:bodyPr>
          <a:lstStyle/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3. Water moves further inland to </a:t>
            </a:r>
            <a:r>
              <a:rPr lang="en-US" altLang="zh-CN" sz="3200" u="sng" dirty="0"/>
              <a:t>flow</a:t>
            </a:r>
            <a:r>
              <a:rPr lang="en-US" altLang="zh-CN" sz="3200" dirty="0"/>
              <a:t> into houses. (</a:t>
            </a:r>
            <a:r>
              <a:rPr lang="en-US" altLang="zh-CN" sz="3200" dirty="0" err="1"/>
              <a:t>flow&amp;overflow</a:t>
            </a:r>
            <a:r>
              <a:rPr lang="zh-CN" altLang="en-US" sz="3200" dirty="0"/>
              <a:t>各一句</a:t>
            </a:r>
            <a:r>
              <a:rPr lang="en-US" altLang="zh-CN" sz="3200" dirty="0"/>
              <a:t>)</a:t>
            </a:r>
          </a:p>
          <a:p>
            <a:pPr defTabSz="504000"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Her writing flowed across the page with rhythmic grace. </a:t>
            </a:r>
            <a:r>
              <a:rPr lang="en-GB" altLang="zh-CN" sz="3200" dirty="0"/>
              <a:t>(Sun </a:t>
            </a:r>
            <a:r>
              <a:rPr lang="en-GB" altLang="zh-CN" sz="3200" dirty="0" err="1"/>
              <a:t>Mingtong</a:t>
            </a:r>
            <a:r>
              <a:rPr lang="en-GB" altLang="zh-CN" sz="3200" dirty="0"/>
              <a:t>)</a:t>
            </a:r>
            <a:endParaRPr lang="en-US" altLang="zh-CN" sz="3200" dirty="0"/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Her writing flowed across the page smoothly/with...</a:t>
            </a:r>
          </a:p>
          <a:p>
            <a:pPr defTabSz="504000"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music/melody/notes flowed smoothly from his fingers, touching….</a:t>
            </a:r>
          </a:p>
          <a:p>
            <a:pPr defTabSz="504000"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Feeling breathless in the hall overflowing with strangers, she took a deep breath, trying to ease the tension in her shoulders. (Huang Keyi)</a:t>
            </a:r>
          </a:p>
        </p:txBody>
      </p:sp>
    </p:spTree>
    <p:extLst>
      <p:ext uri="{BB962C8B-B14F-4D97-AF65-F5344CB8AC3E}">
        <p14:creationId xmlns:p14="http://schemas.microsoft.com/office/powerpoint/2010/main" val="10673835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F25A0-C3C6-335A-765C-1257A4636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4A2E92-3153-589E-46B0-187619846351}"/>
              </a:ext>
            </a:extLst>
          </p:cNvPr>
          <p:cNvSpPr txBox="1"/>
          <p:nvPr/>
        </p:nvSpPr>
        <p:spPr>
          <a:xfrm>
            <a:off x="-1" y="0"/>
            <a:ext cx="12192001" cy="35394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numCol="1">
            <a:spAutoFit/>
          </a:bodyPr>
          <a:lstStyle/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6.</a:t>
            </a:r>
            <a:r>
              <a:rPr lang="zh-CN" altLang="en-US" sz="3200" dirty="0"/>
              <a:t> </a:t>
            </a:r>
            <a:r>
              <a:rPr lang="en-US" altLang="zh-CN" sz="3200" dirty="0"/>
              <a:t>Extreme temperatures </a:t>
            </a:r>
            <a:r>
              <a:rPr lang="en-US" altLang="zh-CN" sz="3200" u="sng" dirty="0"/>
              <a:t>generate</a:t>
            </a:r>
            <a:r>
              <a:rPr lang="en-US" altLang="zh-CN" sz="3200" dirty="0"/>
              <a:t> extreme rainfall patterns.</a:t>
            </a:r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defTabSz="504000"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You can integrate group discussion into traditional teaching, as the exchange of ideas generates innovative and impressive points of view, injecting vitality into your class.</a:t>
            </a:r>
            <a:r>
              <a:rPr lang="zh-CN" altLang="en-US" sz="3200" dirty="0"/>
              <a:t> </a:t>
            </a:r>
            <a:r>
              <a:rPr lang="en-GB" altLang="zh-CN" sz="3200" dirty="0"/>
              <a:t>(Huang Keyi)</a:t>
            </a:r>
          </a:p>
          <a:p>
            <a:pPr defTabSz="504000"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200" dirty="0"/>
          </a:p>
          <a:p>
            <a:pPr defTabSz="504000"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84424121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BA28D-EBF4-5D74-9166-2C8BA0BB5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8A6296-AD03-B31B-65C7-9A2586713754}"/>
              </a:ext>
            </a:extLst>
          </p:cNvPr>
          <p:cNvSpPr txBox="1"/>
          <p:nvPr/>
        </p:nvSpPr>
        <p:spPr>
          <a:xfrm>
            <a:off x="-1" y="0"/>
            <a:ext cx="12192001" cy="20621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numCol="1">
            <a:spAutoFit/>
          </a:bodyPr>
          <a:lstStyle/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8. The hills provide </a:t>
            </a:r>
            <a:r>
              <a:rPr lang="en-US" altLang="zh-CN" sz="3200" u="sng" dirty="0"/>
              <a:t>refuge</a:t>
            </a:r>
            <a:r>
              <a:rPr lang="en-US" altLang="zh-CN" sz="3200" dirty="0"/>
              <a:t> from the rising sea.</a:t>
            </a:r>
          </a:p>
          <a:p>
            <a:pPr defTabSz="504000">
              <a:spcBef>
                <a:spcPts val="0"/>
              </a:spcBef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defTabSz="504000"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For him, the old shelves in the bookstore had always been a quiet refuge, a place to escape the chaos of the outside world. (Gao Yuxin)</a:t>
            </a:r>
          </a:p>
        </p:txBody>
      </p:sp>
    </p:spTree>
    <p:extLst>
      <p:ext uri="{BB962C8B-B14F-4D97-AF65-F5344CB8AC3E}">
        <p14:creationId xmlns:p14="http://schemas.microsoft.com/office/powerpoint/2010/main" val="111750946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EF5D1-4970-5A93-D81A-F3C24E36C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4B641E4A-0FA8-64FF-C3E5-F9EA142E0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U3 Reading: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Cities lay in ruins, economies were destroyed, people were killed, and families across the globe were homeless and </a:t>
            </a:r>
            <a:r>
              <a:rPr lang="en-US" altLang="zh-CN" sz="3200" u="sng" dirty="0"/>
              <a:t>mourn</a:t>
            </a:r>
            <a:r>
              <a:rPr lang="en-US" altLang="zh-CN" sz="3200" dirty="0"/>
              <a:t>ing the loss of loved ones. (3-4</a:t>
            </a:r>
            <a:r>
              <a:rPr lang="zh-CN" altLang="en-US" sz="3200" dirty="0"/>
              <a:t>句话排比句；</a:t>
            </a:r>
            <a:r>
              <a:rPr lang="en-US" altLang="zh-CN" sz="3200" dirty="0"/>
              <a:t>mourn/ grieve)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bookshelves lay buried in dust, the wooden sign was worn and the once warm light dimmed, each mourning its former grace. (Yu Yunxi)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As the fragrance of old wooden furniture floated/drifted into my nose, I </a:t>
            </a:r>
            <a:r>
              <a:rPr lang="en-US" altLang="zh-CN" sz="3200" dirty="0">
                <a:solidFill>
                  <a:srgbClr val="FF0000"/>
                </a:solidFill>
              </a:rPr>
              <a:t>found myself mourning </a:t>
            </a:r>
            <a:r>
              <a:rPr lang="en-US" altLang="zh-CN" sz="3200" dirty="0"/>
              <a:t>my lost childhood, when I could relish carefree afternoons with my toys in our old apartment. (Ma </a:t>
            </a:r>
            <a:r>
              <a:rPr lang="en-US" altLang="zh-CN" sz="3200" dirty="0" err="1"/>
              <a:t>Zhijie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78401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72D7F-4A0E-AAA9-71CF-5B125616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379631F2-E495-E570-75A2-3B9C60013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2.</a:t>
            </a:r>
            <a:r>
              <a:rPr lang="zh-CN" altLang="en-US" sz="3200" dirty="0"/>
              <a:t> </a:t>
            </a:r>
            <a:r>
              <a:rPr lang="en-US" altLang="zh-CN" sz="3200" dirty="0"/>
              <a:t>World War Ⅱ had </a:t>
            </a:r>
            <a:r>
              <a:rPr lang="en-US" altLang="zh-CN" sz="3200" u="sng" dirty="0"/>
              <a:t>shattered</a:t>
            </a:r>
            <a:r>
              <a:rPr lang="en-US" altLang="zh-CN" sz="3200" dirty="0"/>
              <a:t> people’s lives everywhere.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His words left her with a shattered dream </a:t>
            </a:r>
            <a:r>
              <a:rPr lang="en-GB" sz="3200" b="1" dirty="0">
                <a:sym typeface="Times New Roman"/>
              </a:rPr>
              <a:t>— the future she had meticulously planned seemed to vanish in an instant.</a:t>
            </a:r>
            <a:r>
              <a:rPr lang="en-US" altLang="zh-CN" sz="3200" dirty="0"/>
              <a:t> </a:t>
            </a:r>
            <a:r>
              <a:rPr lang="en-GB" altLang="zh-CN" sz="3200" dirty="0"/>
              <a:t>(Ren Sitong)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The unexpected outcome </a:t>
            </a:r>
            <a:r>
              <a:rPr lang="en-GB" altLang="zh-CN" sz="3200" dirty="0">
                <a:solidFill>
                  <a:srgbClr val="FF0000"/>
                </a:solidFill>
              </a:rPr>
              <a:t>shattered</a:t>
            </a:r>
            <a:r>
              <a:rPr lang="en-GB" altLang="zh-CN" sz="3200" dirty="0"/>
              <a:t> the whole team, their once burning determination dimming in their eyes. (Ma </a:t>
            </a:r>
            <a:r>
              <a:rPr lang="en-GB" altLang="zh-CN" sz="3200" dirty="0" err="1"/>
              <a:t>Zhijie</a:t>
            </a:r>
            <a:r>
              <a:rPr lang="en-GB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He</a:t>
            </a:r>
            <a:r>
              <a:rPr lang="zh-CN" altLang="en-US" sz="3200" dirty="0"/>
              <a:t> </a:t>
            </a:r>
            <a:r>
              <a:rPr lang="en-GB" altLang="zh-CN" sz="3200" dirty="0"/>
              <a:t>… when his last thread of hope was shattered. (Feng </a:t>
            </a:r>
            <a:r>
              <a:rPr lang="en-GB" altLang="zh-CN" sz="3200" dirty="0" err="1"/>
              <a:t>Songquan</a:t>
            </a:r>
            <a:r>
              <a:rPr lang="en-GB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A cloud of hopelessness hovered over him, shattering the last thread of hope in his mind. (Yu </a:t>
            </a:r>
            <a:r>
              <a:rPr lang="en-GB" altLang="zh-CN" sz="3200" dirty="0" err="1"/>
              <a:t>Yunxin</a:t>
            </a:r>
            <a:r>
              <a:rPr lang="en-GB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9052932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B0A52-5532-31BF-02D5-35A1E01C5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6BE6D50F-4DB0-4FF2-9897-65C4F4682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3.</a:t>
            </a:r>
            <a:r>
              <a:rPr lang="zh-CN" altLang="en-US" sz="3200" dirty="0"/>
              <a:t> </a:t>
            </a:r>
            <a:r>
              <a:rPr lang="en-US" altLang="zh-CN" sz="3200" dirty="0"/>
              <a:t>From the ashes of this </a:t>
            </a:r>
            <a:r>
              <a:rPr lang="en-US" altLang="zh-CN" sz="3200" u="sng" dirty="0"/>
              <a:t>utter</a:t>
            </a:r>
            <a:r>
              <a:rPr lang="en-US" altLang="zh-CN" sz="3200" dirty="0"/>
              <a:t> destruction rose the organization. (</a:t>
            </a:r>
            <a:r>
              <a:rPr lang="zh-CN" altLang="en-US" sz="3200" dirty="0"/>
              <a:t>作</a:t>
            </a:r>
            <a:r>
              <a:rPr lang="en-US" altLang="zh-CN" sz="3200" dirty="0"/>
              <a:t>adj.)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To my utter amazement, Ms. Evans didn’t scold me; instead, she stepped forward and rested her reassuring hand on my slumped shoulders to convey her sincere support. (Ma </a:t>
            </a:r>
            <a:r>
              <a:rPr lang="en-US" altLang="zh-CN" sz="3200" dirty="0" err="1"/>
              <a:t>Zhijie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utter failure nearly tore the team apart. (Feng </a:t>
            </a:r>
            <a:r>
              <a:rPr lang="en-US" altLang="zh-CN" sz="3200" dirty="0" err="1"/>
              <a:t>Songquan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ym typeface="Times New Roman"/>
              </a:rPr>
              <a:t>The utter failure almost tore the team apart, with some players ... while others 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ym typeface="Times New Roman"/>
              </a:rPr>
              <a:t>The utter failure almost tore the team apart, </a:t>
            </a:r>
            <a:r>
              <a:rPr lang="en-GB" sz="3200" b="1" dirty="0" err="1">
                <a:sym typeface="Times New Roman"/>
              </a:rPr>
              <a:t>给</a:t>
            </a:r>
            <a:r>
              <a:rPr lang="en-US" altLang="zh-CN" sz="3200" b="1" dirty="0">
                <a:sym typeface="Times New Roman"/>
              </a:rPr>
              <a:t>……</a:t>
            </a:r>
            <a:r>
              <a:rPr lang="zh-CN" altLang="en-US" sz="3200" b="1" dirty="0">
                <a:sym typeface="Times New Roman"/>
              </a:rPr>
              <a:t>蒙上阴影 </a:t>
            </a:r>
            <a:r>
              <a:rPr lang="en-GB" sz="3200" b="1" dirty="0">
                <a:sym typeface="Times New Roman"/>
              </a:rPr>
              <a:t>and</a:t>
            </a:r>
            <a:r>
              <a:rPr lang="zh-CN" altLang="en-US" sz="3200" b="1" dirty="0">
                <a:sym typeface="Times New Roman"/>
              </a:rPr>
              <a:t> </a:t>
            </a:r>
            <a:r>
              <a:rPr lang="zh-CN" altLang="en-GB" sz="3200" b="1" dirty="0">
                <a:sym typeface="Times New Roman"/>
              </a:rPr>
              <a:t>粉碎了</a:t>
            </a:r>
            <a:r>
              <a:rPr lang="zh-CN" altLang="en-US" sz="3200" b="1" dirty="0">
                <a:sym typeface="Times New Roman"/>
              </a:rPr>
              <a:t>本来坚定的决心。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40968720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CE9D8-96F4-7789-D269-A42448DC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716A8985-EA8A-4CE8-CAFE-79B514720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4.</a:t>
            </a:r>
            <a:r>
              <a:rPr lang="zh-CN" altLang="en-US" sz="3200" dirty="0"/>
              <a:t> </a:t>
            </a:r>
            <a:r>
              <a:rPr lang="en-US" altLang="zh-CN" sz="3200" dirty="0"/>
              <a:t>The UN has </a:t>
            </a:r>
            <a:r>
              <a:rPr lang="en-US" altLang="zh-CN" sz="3200" u="sng" dirty="0"/>
              <a:t>been committed to </a:t>
            </a:r>
            <a:r>
              <a:rPr lang="en-US" altLang="zh-CN" sz="3200" dirty="0"/>
              <a:t>fulfilling its ambition of…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authorities were committed to addressing the river’s contamination issue by the end of this month. (Ma </a:t>
            </a:r>
            <a:r>
              <a:rPr lang="en-US" altLang="zh-CN" sz="3200" dirty="0" err="1"/>
              <a:t>Zhijie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93608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AA35-F4EB-2BA7-510F-18A1560E5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1BD4786E-67B8-643B-1CB6-A3C009F69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5.</a:t>
            </a:r>
            <a:r>
              <a:rPr lang="zh-CN" altLang="en-US" sz="3200" dirty="0"/>
              <a:t> </a:t>
            </a:r>
            <a:r>
              <a:rPr lang="en-US" altLang="zh-CN" sz="3200" dirty="0"/>
              <a:t>These figures are both depressing and </a:t>
            </a:r>
            <a:r>
              <a:rPr lang="en-US" altLang="zh-CN" sz="3200" u="sng" dirty="0"/>
              <a:t>distressing</a:t>
            </a:r>
            <a:r>
              <a:rPr lang="en-US" altLang="zh-CN" sz="3200" dirty="0"/>
              <a:t>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Although she had once been trapped in a distressing cycle of self-doubt and setbacks, she eventually built a rich inner world filled with confidence and perseverance. (Zhu Xinyue)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He tried to hide his distress behind a calm smile, but the worry in his eyes betrayed him. (Ren Sitong)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was now trapped in a distressing dilemma — concealing the truth would tug</a:t>
            </a:r>
            <a:r>
              <a:rPr lang="zh-CN" altLang="en-US" sz="3200" dirty="0"/>
              <a:t> </a:t>
            </a:r>
            <a:r>
              <a:rPr lang="en-US" altLang="zh-CN" sz="3200" dirty="0"/>
              <a:t>at my heart, while speaking it out might lead to punishment and scolding. (Ma </a:t>
            </a:r>
            <a:r>
              <a:rPr lang="en-US" altLang="zh-CN" sz="3200" dirty="0" err="1"/>
              <a:t>Zhijie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46472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34474-5BB6-559E-1A0E-E5E53A3CB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41DB3A6F-6E55-80C0-9B86-992DDE7F2D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6.</a:t>
            </a:r>
            <a:r>
              <a:rPr lang="zh-CN" altLang="en-US" sz="3200" dirty="0"/>
              <a:t> </a:t>
            </a:r>
            <a:r>
              <a:rPr lang="en-US" altLang="zh-CN" sz="3200" dirty="0"/>
              <a:t>Health, education and standard of living are three key </a:t>
            </a:r>
            <a:r>
              <a:rPr lang="en-US" altLang="zh-CN" sz="3200" u="sng" dirty="0"/>
              <a:t>dimension</a:t>
            </a:r>
            <a:r>
              <a:rPr lang="en-US" altLang="zh-CN" sz="3200" dirty="0"/>
              <a:t>s.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Her new job added a new dimension to her life. (Ma </a:t>
            </a:r>
            <a:r>
              <a:rPr lang="en-US" altLang="zh-CN" sz="3200" dirty="0" err="1"/>
              <a:t>Zhijie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lecture added a new dimension to the understanding of ... (Gao Yuxin)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lecture added a new dimension to our understanding of cultural heritage, encouraging us to view it not only as … but also as 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new technology added a new dimension to the study of artificial intelligence ...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His volunteer experience added a new dimension to his understanding of responsibility 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ym typeface="Times New Roman"/>
              </a:rPr>
              <a:t>Building a graffiti wall was such a meaningful initiative that it not only added a new dimension to our school life but also became a vibrant display of youth culture. (Yu Yunxi)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5764336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F8AE8-5B2A-6EAE-FC15-20AF5A79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013B5600-DF9F-7B99-A0C4-BA1748C63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7.</a:t>
            </a:r>
            <a:r>
              <a:rPr lang="zh-CN" altLang="en-US" sz="3200" dirty="0"/>
              <a:t> </a:t>
            </a:r>
            <a:r>
              <a:rPr lang="en-US" altLang="zh-CN" sz="3200" dirty="0"/>
              <a:t>build </a:t>
            </a:r>
            <a:r>
              <a:rPr lang="en-US" altLang="zh-CN" sz="3200" u="sng" dirty="0"/>
              <a:t>prosperous</a:t>
            </a:r>
            <a:r>
              <a:rPr lang="en-US" altLang="zh-CN" sz="3200" dirty="0"/>
              <a:t>, healthy and fair societies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Encouraging the elderly to engage in lifelong learning helps ignite/rekindle/stir up their passion for life, thus contributing to the building of a more prosperous society. (Yu Yunxi)</a:t>
            </a:r>
          </a:p>
        </p:txBody>
      </p:sp>
    </p:spTree>
    <p:extLst>
      <p:ext uri="{BB962C8B-B14F-4D97-AF65-F5344CB8AC3E}">
        <p14:creationId xmlns:p14="http://schemas.microsoft.com/office/powerpoint/2010/main" val="24168306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8FE0-5273-0C7F-C48C-222D66748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FE48D2DC-9757-54E2-E8EC-F6122D1C8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8.</a:t>
            </a:r>
            <a:r>
              <a:rPr lang="zh-CN" altLang="en-US" sz="3200" dirty="0"/>
              <a:t> </a:t>
            </a:r>
            <a:r>
              <a:rPr lang="en-US" altLang="zh-CN" sz="3200" dirty="0"/>
              <a:t>It will adopt a </a:t>
            </a:r>
            <a:r>
              <a:rPr lang="en-US" altLang="zh-CN" sz="3200" u="sng" dirty="0"/>
              <a:t>resolution</a:t>
            </a:r>
            <a:r>
              <a:rPr lang="en-US" altLang="zh-CN" sz="3200" dirty="0"/>
              <a:t>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 fierce resolution crystallized within her. (Sun </a:t>
            </a:r>
            <a:r>
              <a:rPr lang="en-US" altLang="zh-CN" sz="3200" dirty="0" err="1"/>
              <a:t>Mingtong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As the criticism mounted, she made a conscious resolution to use her calmness as a shield. (Sun </a:t>
            </a:r>
            <a:r>
              <a:rPr lang="en-US" altLang="zh-CN" sz="3200" dirty="0" err="1"/>
              <a:t>Mingtong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07785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BAEEB-D96A-A0D9-0FCD-CCEB4CC4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300028CE-A4FC-0B73-2F0F-A0EF16520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9.</a:t>
            </a:r>
            <a:r>
              <a:rPr lang="zh-CN" altLang="en-US" sz="3200" dirty="0"/>
              <a:t> </a:t>
            </a:r>
            <a:r>
              <a:rPr lang="en-US" altLang="zh-CN" sz="3200" dirty="0"/>
              <a:t>The UN peacekeepers will be </a:t>
            </a:r>
            <a:r>
              <a:rPr lang="en-US" altLang="zh-CN" sz="3200" u="sng" dirty="0"/>
              <a:t>deploy</a:t>
            </a:r>
            <a:r>
              <a:rPr lang="en-US" altLang="zh-CN" sz="3200" dirty="0"/>
              <a:t>ed to address local conflicts.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company decided to </a:t>
            </a:r>
            <a:r>
              <a:rPr lang="en-US" altLang="zh-CN" sz="3200" dirty="0">
                <a:solidFill>
                  <a:srgbClr val="FF0000"/>
                </a:solidFill>
              </a:rPr>
              <a:t>deploy</a:t>
            </a:r>
            <a:r>
              <a:rPr lang="en-US" altLang="zh-CN" sz="3200" dirty="0"/>
              <a:t> its latest AI assistant to handle customer inquiries. (Ren Sitong)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Confronted with the situation of falling behind, the team refused to submit to failure. Instead, they calmly </a:t>
            </a:r>
            <a:r>
              <a:rPr lang="en-US" altLang="zh-CN" sz="3200" dirty="0">
                <a:solidFill>
                  <a:srgbClr val="FF0000"/>
                </a:solidFill>
              </a:rPr>
              <a:t>deployed</a:t>
            </a:r>
            <a:r>
              <a:rPr lang="en-US" altLang="zh-CN" sz="3200" dirty="0"/>
              <a:t> all their strategies and inner strength, fighting to the very last second. (Zhu Xinyue)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It’s a job where a variety of professional skills will be deployed. (Yu </a:t>
            </a:r>
            <a:r>
              <a:rPr lang="en-US" altLang="zh-CN" sz="3200" dirty="0" err="1"/>
              <a:t>Jiayun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77769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9F68-DDF9-B060-DFF5-43F21D73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BFCEEA47-CABD-8368-1BB6-FA5547D08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U3 Grammar: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Millions of people are </a:t>
            </a:r>
            <a:r>
              <a:rPr lang="en-US" altLang="zh-CN" sz="3200" u="sng" dirty="0"/>
              <a:t>displaced </a:t>
            </a:r>
            <a:r>
              <a:rPr lang="en-US" altLang="zh-CN" sz="3200" dirty="0"/>
              <a:t>by disasters.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With the development and application of AI, many factory workers are displaced by intelligent machines and struggle to make a living. (Xu Zhe)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Although AI enables a more efficient and productive life, there is still something we should be cautious about — the displacement of factory workers has forced many underprivileged families into extreme poverty. (Jiang Xinyue)</a:t>
            </a:r>
          </a:p>
        </p:txBody>
      </p:sp>
    </p:spTree>
    <p:extLst>
      <p:ext uri="{BB962C8B-B14F-4D97-AF65-F5344CB8AC3E}">
        <p14:creationId xmlns:p14="http://schemas.microsoft.com/office/powerpoint/2010/main" val="7611939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AA3D9-6161-DBFC-7E07-3395043C5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ADA67D1C-EDDE-54B8-B264-791F7E870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2.</a:t>
            </a:r>
            <a:r>
              <a:rPr lang="zh-CN" altLang="en-US" sz="3200" dirty="0"/>
              <a:t> </a:t>
            </a:r>
            <a:r>
              <a:rPr lang="en-US" altLang="zh-CN" sz="3200" dirty="0"/>
              <a:t>Such was the situation for the people of Mosul. (Such</a:t>
            </a:r>
            <a:r>
              <a:rPr lang="zh-CN" altLang="en-US" sz="3200" dirty="0"/>
              <a:t>句首倒装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Such was his anger that he couldn’t speak. (Xia </a:t>
            </a:r>
            <a:r>
              <a:rPr lang="en-US" altLang="zh-CN" sz="3200" dirty="0" err="1"/>
              <a:t>Wentao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His anger was such that 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Such was her determination that even the fiercest storm could not deter her from pressing on. (Han </a:t>
            </a:r>
            <a:r>
              <a:rPr lang="en-US" altLang="zh-CN" sz="3200" dirty="0" err="1"/>
              <a:t>Yifeng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Such was the impact of his speech that the hall fell into utter silence, followed by thunderous applause. (Ren Sitong)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Such was the silence/darkness</a:t>
            </a:r>
            <a:r>
              <a:rPr lang="zh-CN" altLang="en-US" sz="3200" dirty="0"/>
              <a:t> </a:t>
            </a:r>
            <a:r>
              <a:rPr lang="en-US" altLang="zh-CN" sz="3200" dirty="0"/>
              <a:t>that 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Such was one’s emotion that 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Such was the impact/influence/power of … that …</a:t>
            </a:r>
          </a:p>
        </p:txBody>
      </p:sp>
    </p:spTree>
    <p:extLst>
      <p:ext uri="{BB962C8B-B14F-4D97-AF65-F5344CB8AC3E}">
        <p14:creationId xmlns:p14="http://schemas.microsoft.com/office/powerpoint/2010/main" val="280384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45F2-4721-919C-2D6A-5E24FEE6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7F399E1D-4CA5-0B37-BFC9-C30778289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3.</a:t>
            </a:r>
            <a:r>
              <a:rPr lang="zh-CN" altLang="en-US" sz="3200" dirty="0"/>
              <a:t> </a:t>
            </a:r>
            <a:r>
              <a:rPr lang="en-US" altLang="zh-CN" sz="3200" u="sng" dirty="0"/>
              <a:t>Shadows of </a:t>
            </a:r>
            <a:r>
              <a:rPr lang="en-US" altLang="zh-CN" sz="3200" dirty="0"/>
              <a:t>famine and disease </a:t>
            </a:r>
            <a:r>
              <a:rPr lang="en-US" altLang="zh-CN" sz="3200" u="sng" dirty="0"/>
              <a:t>hung over </a:t>
            </a:r>
            <a:r>
              <a:rPr lang="en-US" altLang="zh-CN" sz="3200" dirty="0"/>
              <a:t>them. (</a:t>
            </a:r>
            <a:r>
              <a:rPr lang="zh-CN" altLang="en-US" sz="3200" dirty="0"/>
              <a:t>句式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Shadows of disappointment hung over him like a dark cloud after the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043122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5F45C-B868-7DD7-069F-4B71AC7F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F3A3FB17-162A-CE9B-6E6B-C85189BBA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4.</a:t>
            </a:r>
            <a:r>
              <a:rPr lang="zh-CN" altLang="en-US" sz="3200" dirty="0"/>
              <a:t> </a:t>
            </a:r>
            <a:r>
              <a:rPr lang="en-US" altLang="zh-CN" sz="3200" dirty="0"/>
              <a:t>WFP’s short-term </a:t>
            </a:r>
            <a:r>
              <a:rPr lang="en-US" altLang="zh-CN" sz="3200" u="sng" dirty="0"/>
              <a:t>intervention</a:t>
            </a:r>
            <a:r>
              <a:rPr lang="en-US" altLang="zh-CN" sz="3200" dirty="0"/>
              <a:t> helps make this small step of their dangerous journey easier.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Make an intervention/Intervene when necessary; otherwise, let nature take its course. (Ren Sitong)</a:t>
            </a:r>
          </a:p>
        </p:txBody>
      </p:sp>
    </p:spTree>
    <p:extLst>
      <p:ext uri="{BB962C8B-B14F-4D97-AF65-F5344CB8AC3E}">
        <p14:creationId xmlns:p14="http://schemas.microsoft.com/office/powerpoint/2010/main" val="20262171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B919-E690-198E-1878-E1579214D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8DE7188E-222D-9009-436A-51A7655B5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5.</a:t>
            </a:r>
            <a:r>
              <a:rPr lang="zh-CN" altLang="en-US" sz="3200" dirty="0"/>
              <a:t> </a:t>
            </a:r>
            <a:r>
              <a:rPr lang="en-US" altLang="zh-CN" sz="3200" dirty="0"/>
              <a:t>Sahrawi people live in extremely </a:t>
            </a:r>
            <a:r>
              <a:rPr lang="en-US" altLang="zh-CN" sz="3200" u="sng" dirty="0"/>
              <a:t>harsh</a:t>
            </a:r>
            <a:r>
              <a:rPr lang="en-US" altLang="zh-CN" sz="3200" dirty="0"/>
              <a:t> conditions.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However much she resisted, the harsh reality remained —</a:t>
            </a:r>
            <a:r>
              <a:rPr lang="zh-CN" altLang="en-US" sz="3200" dirty="0"/>
              <a:t> </a:t>
            </a:r>
            <a:r>
              <a:rPr lang="en-US" altLang="zh-CN" sz="3200" dirty="0"/>
              <a:t>…(Xia </a:t>
            </a:r>
            <a:r>
              <a:rPr lang="en-US" altLang="zh-CN" sz="3200" dirty="0" err="1"/>
              <a:t>Wentao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With a harsh/biting wind cutting through his thin clothes, his legs trembled as he stumbled along the country lane.(Ren Sitong)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Although her initial determination soon met with the harsh reality —</a:t>
            </a:r>
            <a:r>
              <a:rPr lang="zh-CN" altLang="en-US" sz="3200" dirty="0"/>
              <a:t> </a:t>
            </a:r>
            <a:r>
              <a:rPr lang="en-GB" altLang="zh-CN" sz="3200" dirty="0"/>
              <a:t>…</a:t>
            </a:r>
            <a:r>
              <a:rPr lang="en-US" altLang="zh-CN" sz="3200" dirty="0"/>
              <a:t>,  she never gave up. Instead, she steadied her steps and breath, heading towards the finishing line. (Jiang Xinyue)</a:t>
            </a:r>
          </a:p>
        </p:txBody>
      </p:sp>
    </p:spTree>
    <p:extLst>
      <p:ext uri="{BB962C8B-B14F-4D97-AF65-F5344CB8AC3E}">
        <p14:creationId xmlns:p14="http://schemas.microsoft.com/office/powerpoint/2010/main" val="29390557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AF69-4CD4-F956-7BAD-5BF74FCF9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AA7BC119-8828-D9A0-BF43-0F07A5DF4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2.</a:t>
            </a:r>
            <a:r>
              <a:rPr lang="zh-CN" altLang="en-US" sz="3200" dirty="0"/>
              <a:t> </a:t>
            </a:r>
            <a:r>
              <a:rPr lang="en-US" altLang="zh-CN" sz="3200" dirty="0"/>
              <a:t>King put great effort into the </a:t>
            </a:r>
            <a:r>
              <a:rPr lang="en-US" altLang="zh-CN" sz="3200" u="sng" dirty="0"/>
              <a:t>worthy cause </a:t>
            </a:r>
            <a:r>
              <a:rPr lang="en-US" altLang="zh-CN" sz="3200" dirty="0"/>
              <a:t>of serving human beings.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documentary highlighted/shed light on the worthy cause of preserving traditional cultures. (Wang </a:t>
            </a:r>
            <a:r>
              <a:rPr lang="en-US" altLang="zh-CN" sz="3200" dirty="0" err="1"/>
              <a:t>Taokai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81067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CC5E3-19CF-0839-4C7C-179D1DB0D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0B247EE4-2164-FA2F-2995-6B58952BD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3.</a:t>
            </a:r>
            <a:r>
              <a:rPr lang="zh-CN" altLang="en-US" sz="3200" dirty="0"/>
              <a:t> </a:t>
            </a:r>
            <a:r>
              <a:rPr lang="en-US" altLang="zh-CN" sz="3200" dirty="0"/>
              <a:t>We can serve others </a:t>
            </a:r>
            <a:r>
              <a:rPr lang="en-US" altLang="zh-CN" sz="3200" u="sng" dirty="0"/>
              <a:t>in the comfort of </a:t>
            </a:r>
            <a:r>
              <a:rPr lang="en-US" altLang="zh-CN" sz="3200" dirty="0"/>
              <a:t>our own homes.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It was in the comfort of her grandmother's kitchen, amid the smell of bread, that she found her courage. (Han </a:t>
            </a:r>
            <a:r>
              <a:rPr lang="en-US" altLang="zh-CN" sz="3200" dirty="0" err="1"/>
              <a:t>Yifeng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Worn out after …, I sank/settled into the comfort of the sofa. (Xu Zhe)</a:t>
            </a:r>
          </a:p>
        </p:txBody>
      </p:sp>
    </p:spTree>
    <p:extLst>
      <p:ext uri="{BB962C8B-B14F-4D97-AF65-F5344CB8AC3E}">
        <p14:creationId xmlns:p14="http://schemas.microsoft.com/office/powerpoint/2010/main" val="37693259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32375-2817-4EAA-40A8-8CD12253E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D7219D93-99E9-FA5B-6F4A-9A1709AC0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6.</a:t>
            </a:r>
            <a:r>
              <a:rPr lang="zh-CN" altLang="en-US" sz="3200" dirty="0"/>
              <a:t> </a:t>
            </a:r>
            <a:r>
              <a:rPr lang="en-US" altLang="zh-CN" sz="3200" dirty="0"/>
              <a:t>We also gain </a:t>
            </a:r>
            <a:r>
              <a:rPr lang="en-US" altLang="zh-CN" sz="3200" u="sng" dirty="0"/>
              <a:t>a sense of purpose </a:t>
            </a:r>
            <a:r>
              <a:rPr lang="en-US" altLang="zh-CN" sz="3200" dirty="0"/>
              <a:t>in life.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 sense of purpose is the compass that guides us through life’s uncharted waters. (Han </a:t>
            </a:r>
            <a:r>
              <a:rPr lang="en-US" altLang="zh-CN" sz="3200" dirty="0" err="1"/>
              <a:t>Yifeng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902590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2BBF-D846-1B09-811C-927B83091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50ED60A5-872D-1403-C10A-31993594D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U3 Ext: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/>
              <a:t>整理词组</a:t>
            </a:r>
            <a:r>
              <a:rPr lang="en-US" altLang="zh-CN" sz="3200" dirty="0"/>
              <a:t>+</a:t>
            </a:r>
            <a:r>
              <a:rPr lang="zh-CN" altLang="en-US" sz="3200" dirty="0"/>
              <a:t>翻译！尤其注意“看”、“说”及其它动作类的词组</a:t>
            </a:r>
            <a:endParaRPr lang="en-US" altLang="zh-CN" sz="3200" dirty="0"/>
          </a:p>
        </p:txBody>
      </p:sp>
      <p:sp>
        <p:nvSpPr>
          <p:cNvPr id="2" name="glare at…">
            <a:extLst>
              <a:ext uri="{FF2B5EF4-FFF2-40B4-BE49-F238E27FC236}">
                <a16:creationId xmlns:a16="http://schemas.microsoft.com/office/drawing/2014/main" id="{5031F48F-74CE-18EA-227B-1D7C24F7490E}"/>
              </a:ext>
            </a:extLst>
          </p:cNvPr>
          <p:cNvSpPr txBox="1"/>
          <p:nvPr/>
        </p:nvSpPr>
        <p:spPr>
          <a:xfrm>
            <a:off x="81168" y="942534"/>
            <a:ext cx="6974952" cy="5833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>
            <a:spAutoFit/>
          </a:bodyPr>
          <a:lstStyle/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glare at</a:t>
            </a:r>
          </a:p>
          <a:p>
            <a:pPr defTabSz="321457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cast/shed/throw an angry look at…</a:t>
            </a:r>
          </a:p>
          <a:p>
            <a:pPr defTabSz="321457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steal a glance at/peek/peep at…</a:t>
            </a:r>
            <a:r>
              <a:rPr lang="zh-CN" altLang="en-US" sz="3200" dirty="0"/>
              <a:t> 匆匆看</a:t>
            </a:r>
            <a:endParaRPr lang="en-GB" sz="3200" dirty="0"/>
          </a:p>
          <a:p>
            <a:pPr defTabSz="321457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peer inquiringly at </a:t>
            </a:r>
            <a:r>
              <a:rPr lang="en-US" altLang="zh-CN" sz="3200" dirty="0"/>
              <a:t>…</a:t>
            </a:r>
            <a:r>
              <a:rPr lang="zh-CN" altLang="en-GB" sz="3200" dirty="0"/>
              <a:t>仔细看</a:t>
            </a:r>
            <a:endParaRPr sz="3200" dirty="0"/>
          </a:p>
          <a:p>
            <a:pPr defTabSz="321457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移开目光</a:t>
            </a:r>
            <a:endParaRPr sz="3200" dirty="0"/>
          </a:p>
          <a:p>
            <a:pPr defTabSz="321457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avert one’s eyes from…/ avert one’s gaze/look away from</a:t>
            </a:r>
          </a:p>
          <a:p>
            <a:pPr defTabSz="321457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squeeze her eyes shut</a:t>
            </a:r>
            <a:r>
              <a:rPr lang="zh-CN" altLang="en-US" sz="3200" dirty="0"/>
              <a:t> </a:t>
            </a:r>
            <a:r>
              <a:rPr sz="3200" dirty="0" err="1"/>
              <a:t>紧闭双眼</a:t>
            </a:r>
            <a:endParaRPr sz="3200" dirty="0"/>
          </a:p>
          <a:p>
            <a:pPr defTabSz="321457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His eyes sparkled with excitement/ glistened with tears.</a:t>
            </a:r>
          </a:p>
          <a:p>
            <a:pPr defTabSz="321457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Tears blurred</a:t>
            </a:r>
            <a:r>
              <a:rPr lang="en-GB" sz="3200" dirty="0"/>
              <a:t>/misted</a:t>
            </a:r>
            <a:r>
              <a:rPr sz="3200" dirty="0"/>
              <a:t> his eyes.</a:t>
            </a:r>
            <a:endParaRPr lang="en-GB" sz="3200" dirty="0"/>
          </a:p>
          <a:p>
            <a:pPr defTabSz="321457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Tears welled up in his eyes, blurring his sight.</a:t>
            </a:r>
            <a:endParaRPr sz="3200" dirty="0"/>
          </a:p>
        </p:txBody>
      </p:sp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2411217-80A3-B281-0B44-485C138D0D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102"/>
          <a:stretch>
            <a:fillRect/>
          </a:stretch>
        </p:blipFill>
        <p:spPr>
          <a:xfrm>
            <a:off x="7186019" y="969503"/>
            <a:ext cx="2194077" cy="2470303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01239183-C3CC-7CBD-2BB3-2EEAD99DDB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579" r="22852"/>
          <a:stretch>
            <a:fillRect/>
          </a:stretch>
        </p:blipFill>
        <p:spPr>
          <a:xfrm>
            <a:off x="9722640" y="980310"/>
            <a:ext cx="2126814" cy="2448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7545CF34-3439-0331-4A78-D972543D8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996" y="3864711"/>
            <a:ext cx="2576303" cy="2694813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8305A0AD-03AC-2944-8E01-C5007415A5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7310" y="3864711"/>
            <a:ext cx="2628034" cy="197102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37638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5" animBg="1" advAuto="0"/>
      <p:bldP spid="3" grpId="0" animBg="1" advAuto="0"/>
      <p:bldP spid="4" grpId="0" animBg="1" advAuto="0"/>
      <p:bldP spid="5" grpId="0" animBg="1" advAuto="0"/>
      <p:bldP spid="6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“Where were you last night?” my mom_______________…"/>
          <p:cNvSpPr txBox="1"/>
          <p:nvPr/>
        </p:nvSpPr>
        <p:spPr>
          <a:xfrm>
            <a:off x="0" y="-35294"/>
            <a:ext cx="12192000" cy="6720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>
            <a:spAutoFit/>
          </a:bodyPr>
          <a:lstStyle/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“Where were you last night?” my mom_______________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sz="3200" dirty="0"/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“I…I went out.” I managed to </a:t>
            </a:r>
            <a:r>
              <a:rPr lang="en-GB" sz="3200" dirty="0"/>
              <a:t>__</a:t>
            </a:r>
            <a:r>
              <a:rPr sz="3200" dirty="0"/>
              <a:t>___________.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/I ___________</a:t>
            </a:r>
            <a:r>
              <a:rPr lang="en-GB" sz="3200" dirty="0"/>
              <a:t>______________________</a:t>
            </a:r>
            <a:r>
              <a:rPr sz="3200" dirty="0"/>
              <a:t>______________.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I was too frightened to _____________________.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“Clear up the litter!” she </a:t>
            </a:r>
            <a:r>
              <a:rPr lang="en-GB" sz="3200" dirty="0"/>
              <a:t>______________</a:t>
            </a:r>
            <a:r>
              <a:rPr sz="3200" dirty="0"/>
              <a:t>______________.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“Never do that again!” she _</a:t>
            </a:r>
            <a:r>
              <a:rPr lang="en-GB" sz="3200" dirty="0"/>
              <a:t>________</a:t>
            </a:r>
            <a:r>
              <a:rPr sz="3200" dirty="0"/>
              <a:t>_______.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mumble an apology</a:t>
            </a:r>
            <a:r>
              <a:rPr lang="en-US" altLang="zh-CN" sz="3200" dirty="0"/>
              <a:t>, </a:t>
            </a:r>
            <a:r>
              <a:rPr sz="3200" dirty="0"/>
              <a:t>mutter </a:t>
            </a:r>
            <a:r>
              <a:rPr lang="en-GB" sz="3200" dirty="0"/>
              <a:t>(</a:t>
            </a:r>
            <a:r>
              <a:rPr lang="en-GB" sz="3200" dirty="0" err="1"/>
              <a:t>sth</a:t>
            </a:r>
            <a:r>
              <a:rPr lang="en-GB" sz="3200" dirty="0"/>
              <a:t>) </a:t>
            </a:r>
            <a:r>
              <a:rPr sz="3200" dirty="0"/>
              <a:t>under his breath</a:t>
            </a:r>
            <a:r>
              <a:rPr lang="en-GB" sz="3200" dirty="0"/>
              <a:t>, </a:t>
            </a:r>
            <a:r>
              <a:rPr sz="3200" dirty="0"/>
              <a:t>murmur to himself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continue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repeat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plead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sneer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grumble/ groan and moan</a:t>
            </a:r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exclaim in excitement</a:t>
            </a:r>
          </a:p>
        </p:txBody>
      </p:sp>
      <p:sp>
        <p:nvSpPr>
          <p:cNvPr id="223" name="utter a single word"/>
          <p:cNvSpPr txBox="1"/>
          <p:nvPr/>
        </p:nvSpPr>
        <p:spPr>
          <a:xfrm>
            <a:off x="3981450" y="1693202"/>
            <a:ext cx="4291193" cy="51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>
            <a:spAutoFit/>
          </a:bodyPr>
          <a:lstStyle>
            <a:lvl1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3200" dirty="0"/>
              <a:t>utter a single word</a:t>
            </a:r>
          </a:p>
        </p:txBody>
      </p:sp>
      <p:sp>
        <p:nvSpPr>
          <p:cNvPr id="224" name="commanded/demanded sternly/harshly"/>
          <p:cNvSpPr txBox="1"/>
          <p:nvPr/>
        </p:nvSpPr>
        <p:spPr>
          <a:xfrm>
            <a:off x="4552950" y="2131513"/>
            <a:ext cx="6911131" cy="51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>
            <a:spAutoFit/>
          </a:bodyPr>
          <a:lstStyle>
            <a:lvl1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3200" dirty="0"/>
              <a:t>commanded/demanded harshly</a:t>
            </a:r>
          </a:p>
        </p:txBody>
      </p:sp>
      <p:sp>
        <p:nvSpPr>
          <p:cNvPr id="225" name="warned/cautioned"/>
          <p:cNvSpPr txBox="1"/>
          <p:nvPr/>
        </p:nvSpPr>
        <p:spPr>
          <a:xfrm>
            <a:off x="4778700" y="2553419"/>
            <a:ext cx="3908100" cy="51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>
            <a:spAutoFit/>
          </a:bodyPr>
          <a:lstStyle>
            <a:lvl1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3200" dirty="0"/>
              <a:t>warned/cautioned</a:t>
            </a:r>
          </a:p>
        </p:txBody>
      </p:sp>
      <p:sp>
        <p:nvSpPr>
          <p:cNvPr id="226" name="bellowed/snapped at me/screamed at the top of her voice"/>
          <p:cNvSpPr txBox="1"/>
          <p:nvPr/>
        </p:nvSpPr>
        <p:spPr>
          <a:xfrm>
            <a:off x="76200" y="421497"/>
            <a:ext cx="12039600" cy="51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>
            <a:spAutoFit/>
          </a:bodyPr>
          <a:lstStyle>
            <a:lvl1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GB" sz="3200" dirty="0"/>
              <a:t>roared</a:t>
            </a:r>
            <a:r>
              <a:rPr sz="3200" dirty="0"/>
              <a:t>/snapped</a:t>
            </a:r>
            <a:r>
              <a:rPr lang="en-GB" sz="3200" dirty="0"/>
              <a:t> (</a:t>
            </a:r>
            <a:r>
              <a:rPr sz="3200" dirty="0"/>
              <a:t>at me</a:t>
            </a:r>
            <a:r>
              <a:rPr lang="en-GB" sz="3200" dirty="0"/>
              <a:t>)</a:t>
            </a:r>
            <a:r>
              <a:rPr sz="3200" dirty="0"/>
              <a:t>/screamed at the top of her voice</a:t>
            </a:r>
          </a:p>
        </p:txBody>
      </p:sp>
      <p:sp>
        <p:nvSpPr>
          <p:cNvPr id="227" name="muttered in a low voice/in a whisper/replied vaguely"/>
          <p:cNvSpPr txBox="1"/>
          <p:nvPr/>
        </p:nvSpPr>
        <p:spPr>
          <a:xfrm>
            <a:off x="456506" y="1247276"/>
            <a:ext cx="9186362" cy="51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3200" dirty="0"/>
              <a:t>muttered in a low voice/in a whisper/replied vaguely</a:t>
            </a:r>
          </a:p>
        </p:txBody>
      </p:sp>
      <p:sp>
        <p:nvSpPr>
          <p:cNvPr id="228" name="stutter a reply"/>
          <p:cNvSpPr txBox="1"/>
          <p:nvPr/>
        </p:nvSpPr>
        <p:spPr>
          <a:xfrm>
            <a:off x="5324149" y="793181"/>
            <a:ext cx="2541914" cy="51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3200" dirty="0"/>
              <a:t>stutter a reply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2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2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2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2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2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2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2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2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 build="p" bldLvl="5" animBg="1" advAuto="0"/>
      <p:bldP spid="223" grpId="0" build="p" bldLvl="5" animBg="1" advAuto="0"/>
      <p:bldP spid="224" grpId="0" build="p" bldLvl="5" animBg="1" advAuto="0"/>
      <p:bldP spid="225" grpId="0" build="p" bldLvl="5" animBg="1" advAuto="0"/>
      <p:bldP spid="226" grpId="0" build="p" bldLvl="5" animBg="1" advAuto="0"/>
      <p:bldP spid="227" grpId="0" animBg="1" advAuto="0"/>
      <p:bldP spid="228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快走…"/>
          <p:cNvSpPr txBox="1"/>
          <p:nvPr/>
        </p:nvSpPr>
        <p:spPr>
          <a:xfrm>
            <a:off x="789727" y="359485"/>
            <a:ext cx="2581071" cy="450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>
            <a:spAutoFit/>
          </a:bodyPr>
          <a:lstStyle/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快走</a:t>
            </a:r>
            <a:endParaRPr sz="3200" dirty="0"/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sz="3200" dirty="0"/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慢走</a:t>
            </a:r>
            <a:endParaRPr sz="3200" dirty="0"/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费力走</a:t>
            </a:r>
            <a:endParaRPr sz="3200" dirty="0"/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sz="3200" dirty="0"/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跌跌撞撞走</a:t>
            </a:r>
            <a:endParaRPr lang="en-GB" sz="3200" dirty="0"/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 err="1"/>
              <a:t>拖着脚走</a:t>
            </a:r>
            <a:endParaRPr sz="3200" dirty="0"/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偷偷走</a:t>
            </a:r>
            <a:endParaRPr sz="3200" dirty="0"/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来回走</a:t>
            </a:r>
            <a:endParaRPr sz="3200" dirty="0"/>
          </a:p>
          <a:p>
            <a:pPr algn="l">
              <a:lnSpc>
                <a:spcPct val="90000"/>
              </a:lnSpc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跑</a:t>
            </a:r>
            <a:endParaRPr sz="3200" dirty="0"/>
          </a:p>
        </p:txBody>
      </p:sp>
      <p:sp>
        <p:nvSpPr>
          <p:cNvPr id="241" name="stride-strode…"/>
          <p:cNvSpPr txBox="1"/>
          <p:nvPr/>
        </p:nvSpPr>
        <p:spPr>
          <a:xfrm>
            <a:off x="3594646" y="302335"/>
            <a:ext cx="8311603" cy="450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>
            <a:spAutoFit/>
          </a:bodyPr>
          <a:lstStyle/>
          <a:p>
            <a: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stride-strode</a:t>
            </a:r>
            <a:r>
              <a:rPr lang="en-GB" sz="3200" dirty="0"/>
              <a:t>, march</a:t>
            </a:r>
            <a:endParaRPr sz="3200" dirty="0"/>
          </a:p>
          <a:p>
            <a: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trot-trotted</a:t>
            </a:r>
            <a:r>
              <a:rPr lang="en-GB" sz="3200" dirty="0"/>
              <a:t>, </a:t>
            </a:r>
            <a:r>
              <a:rPr lang="en-GB" sz="3200" dirty="0" err="1"/>
              <a:t>sccury</a:t>
            </a:r>
            <a:endParaRPr sz="3200" dirty="0"/>
          </a:p>
          <a:p>
            <a:pPr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a</a:t>
            </a:r>
            <a:r>
              <a:rPr sz="3200" dirty="0" err="1"/>
              <a:t>mble</a:t>
            </a:r>
            <a:r>
              <a:rPr lang="en-GB" sz="3200" dirty="0"/>
              <a:t>,</a:t>
            </a:r>
            <a:r>
              <a:rPr lang="zh-CN" altLang="en-US" sz="3200" dirty="0"/>
              <a:t> </a:t>
            </a:r>
            <a:r>
              <a:rPr lang="en-US" altLang="zh-CN" sz="3200" dirty="0"/>
              <a:t>stroll</a:t>
            </a:r>
          </a:p>
          <a:p>
            <a:pPr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inch one’s way through, edge, plodded along, trudge</a:t>
            </a:r>
            <a:endParaRPr sz="3200" dirty="0"/>
          </a:p>
          <a:p>
            <a:pPr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stagger, stumble</a:t>
            </a:r>
            <a:endParaRPr sz="3200" dirty="0"/>
          </a:p>
          <a:p>
            <a: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shuffle, drag one’s feet</a:t>
            </a:r>
          </a:p>
          <a:p>
            <a: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tiptoe/ slip </a:t>
            </a:r>
            <a:endParaRPr lang="en-GB" sz="3200" dirty="0"/>
          </a:p>
          <a:p>
            <a: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pace up and down</a:t>
            </a:r>
            <a:r>
              <a:rPr lang="en-GB" sz="3200" dirty="0"/>
              <a:t>/back and forth</a:t>
            </a:r>
            <a:endParaRPr sz="3200" dirty="0"/>
          </a:p>
          <a:p>
            <a:pPr algn="l">
              <a:lnSpc>
                <a:spcPct val="90000"/>
              </a:lnSpc>
              <a:defRPr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dart/dash/</a:t>
            </a:r>
            <a:r>
              <a:rPr sz="3200" dirty="0" err="1"/>
              <a:t>sprint冲刺</a:t>
            </a:r>
            <a:endParaRPr sz="3200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" grpId="0" uiExpand="1" build="allAtOnce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7D3A5-B26E-2376-A944-DF4E21C3D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1357ADFE-295D-2EF5-F1CB-9794EE423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2. Tom </a:t>
            </a:r>
            <a:r>
              <a:rPr lang="en-US" altLang="zh-CN" sz="3200" u="sng" dirty="0"/>
              <a:t>strained</a:t>
            </a:r>
            <a:r>
              <a:rPr lang="en-US" altLang="zh-CN" sz="3200" dirty="0"/>
              <a:t> his eyes.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team members cheered, exclaimed, and even burst into tears to celebrate their ultimate triumph as they strained every nerve to produce thousands of error-free documents. (Yang </a:t>
            </a:r>
            <a:r>
              <a:rPr lang="en-US" altLang="zh-CN" sz="3200" dirty="0" err="1"/>
              <a:t>Ruixin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strained my eyes to peer through the light mist, only to see a blurred figure inching towards my house. (Zhou </a:t>
            </a:r>
            <a:r>
              <a:rPr lang="en-US" altLang="zh-CN" sz="3200" dirty="0" err="1"/>
              <a:t>Jingru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Straining every muscle, he sprinted towards the finish line, his lungs … and vision …. (Gao Yuxin)</a:t>
            </a:r>
          </a:p>
        </p:txBody>
      </p:sp>
    </p:spTree>
    <p:extLst>
      <p:ext uri="{BB962C8B-B14F-4D97-AF65-F5344CB8AC3E}">
        <p14:creationId xmlns:p14="http://schemas.microsoft.com/office/powerpoint/2010/main" val="15500780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A2048-D16B-ADAC-B23E-0D9AA2F80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850DFC1A-1CA9-B2F3-E662-879B990BC7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3. He could feel a familiar wave of </a:t>
            </a:r>
            <a:r>
              <a:rPr lang="en-US" altLang="zh-CN" sz="3200" u="sng" dirty="0"/>
              <a:t>despair</a:t>
            </a:r>
            <a:r>
              <a:rPr lang="en-US" altLang="zh-CN" sz="3200" dirty="0"/>
              <a:t> start to wash over him.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Life teaches us not to despair even in the darkest moment, for the first ray of dawn will pierce through the darkness. (Yang </a:t>
            </a:r>
            <a:r>
              <a:rPr lang="en-US" altLang="zh-CN" sz="3200" dirty="0" err="1"/>
              <a:t>Ruixin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 true friend will always extend a helping hand to you when you're in the depths of despair. (Yang </a:t>
            </a:r>
            <a:r>
              <a:rPr lang="en-US" altLang="zh-CN" sz="3200" dirty="0" err="1"/>
              <a:t>Ruixin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Hearing …, she gradually calmed down and pulled herself out of despair arising from the concern for her daughter’s illness. (Jiang Xinyue)</a:t>
            </a:r>
          </a:p>
        </p:txBody>
      </p:sp>
    </p:spTree>
    <p:extLst>
      <p:ext uri="{BB962C8B-B14F-4D97-AF65-F5344CB8AC3E}">
        <p14:creationId xmlns:p14="http://schemas.microsoft.com/office/powerpoint/2010/main" val="19994138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AA81D-7F02-22A6-212E-B09FA834A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01816E03-E6C2-BAAF-B71E-0ABCC8AF9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4. The rain was still </a:t>
            </a:r>
            <a:r>
              <a:rPr lang="en-US" altLang="zh-CN" sz="3200" u="sng" dirty="0"/>
              <a:t>pounding</a:t>
            </a:r>
            <a:r>
              <a:rPr lang="en-US" altLang="zh-CN" sz="3200" dirty="0"/>
              <a:t> on the roof of the car.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found my heart </a:t>
            </a:r>
            <a:r>
              <a:rPr lang="en-US" altLang="zh-CN" sz="3200" dirty="0">
                <a:solidFill>
                  <a:srgbClr val="FF0000"/>
                </a:solidFill>
              </a:rPr>
              <a:t>pounding/thumping/racing </a:t>
            </a:r>
            <a:r>
              <a:rPr lang="en-US" altLang="zh-CN" sz="3200" dirty="0"/>
              <a:t>wildly.</a:t>
            </a:r>
          </a:p>
        </p:txBody>
      </p:sp>
    </p:spTree>
    <p:extLst>
      <p:ext uri="{BB962C8B-B14F-4D97-AF65-F5344CB8AC3E}">
        <p14:creationId xmlns:p14="http://schemas.microsoft.com/office/powerpoint/2010/main" val="30750731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F7ED7-F515-97C6-7456-509498B6B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5D1E3A3B-ABFF-4FAE-AF1B-71B6F09A4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5. As the world outside began to </a:t>
            </a:r>
            <a:r>
              <a:rPr lang="en-US" altLang="zh-CN" sz="3200" u="sng" dirty="0"/>
              <a:t>close in on </a:t>
            </a:r>
            <a:r>
              <a:rPr lang="en-US" altLang="zh-CN" sz="3200" dirty="0"/>
              <a:t>him, Tom </a:t>
            </a:r>
            <a:r>
              <a:rPr lang="en-US" altLang="zh-CN" sz="3200" u="sng" dirty="0"/>
              <a:t>gasped</a:t>
            </a:r>
            <a:r>
              <a:rPr lang="en-US" altLang="zh-CN" sz="3200" dirty="0"/>
              <a:t> for breath.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As the fear of separation closed in on him, he freed up some time from his busy/packed schedule to accompany Grandma. (Yang </a:t>
            </a:r>
            <a:r>
              <a:rPr lang="en-US" altLang="zh-CN" sz="3200" dirty="0" err="1"/>
              <a:t>Ruixin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 gasped at the sight of the shattered vase and mud scattered all over the floor. A surge of irritation washed over me as I turned to glare at my brother, who was peeking at me with frightened and pleading eyes. (Zhou </a:t>
            </a:r>
            <a:r>
              <a:rPr lang="en-US" altLang="zh-CN" sz="3200" dirty="0" err="1"/>
              <a:t>Jingru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As the night wore on, exhaustion and despair closed in on him, and he was almost drained of strength/he felt t</a:t>
            </a:r>
            <a:r>
              <a:rPr lang="en-US" sz="3200" dirty="0"/>
              <a:t>he last of his strength slipped away</a:t>
            </a:r>
            <a:r>
              <a:rPr lang="en-US" altLang="zh-CN" sz="3200" dirty="0"/>
              <a:t>.</a:t>
            </a:r>
            <a:r>
              <a:rPr lang="zh-CN" altLang="en-US" sz="3200" dirty="0"/>
              <a:t> </a:t>
            </a:r>
            <a:r>
              <a:rPr lang="en-GB" altLang="zh-CN" sz="3200" dirty="0"/>
              <a:t>(Zhu Xinyue)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3744792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71211-E4C4-5783-D7E1-6086C221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3DF5CA79-D632-047C-5C2B-9A86676FC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6. The car began to </a:t>
            </a:r>
            <a:r>
              <a:rPr lang="en-US" altLang="zh-CN" sz="3200" u="sng" dirty="0"/>
              <a:t>bump</a:t>
            </a:r>
            <a:r>
              <a:rPr lang="en-US" altLang="zh-CN" sz="3200" dirty="0"/>
              <a:t> down the road.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He bumped into his old friend in the street, which brought him a rare moment of joy and ease. (Xu </a:t>
            </a:r>
            <a:r>
              <a:rPr lang="en-US" altLang="zh-CN" sz="3200" dirty="0" err="1"/>
              <a:t>Kejia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She bumped hard into a doorframe, letting out a sharp gasp of pain. (Gao Yuxin)</a:t>
            </a:r>
          </a:p>
        </p:txBody>
      </p:sp>
    </p:spTree>
    <p:extLst>
      <p:ext uri="{BB962C8B-B14F-4D97-AF65-F5344CB8AC3E}">
        <p14:creationId xmlns:p14="http://schemas.microsoft.com/office/powerpoint/2010/main" val="37470677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10EB5-5343-22A1-DD88-98449B26B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0BD0D3E5-1DA2-D62F-4FFE-5EB6B2303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8. </a:t>
            </a:r>
            <a:r>
              <a:rPr lang="en-US" altLang="zh-CN" sz="3200" u="sng" dirty="0"/>
              <a:t>With a sense of hopeful anticipation</a:t>
            </a:r>
            <a:r>
              <a:rPr lang="en-US" altLang="zh-CN" sz="3200" dirty="0"/>
              <a:t>, Tom…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With a sense of hopeful anticipation, they sneaked/slipped into the meeting room and craned their necks/strained their eyes to scan the shortlist for their names. (Yang </a:t>
            </a:r>
            <a:r>
              <a:rPr lang="en-US" altLang="zh-CN" sz="3200" dirty="0" err="1"/>
              <a:t>Ruixin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2567351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D67ED-7E9C-E784-1836-BE0031CC3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D9679F8A-964A-97DC-7468-D89F01299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9. The rain was </a:t>
            </a:r>
            <a:r>
              <a:rPr lang="en-US" altLang="zh-CN" sz="3200" u="sng" dirty="0"/>
              <a:t>soaking</a:t>
            </a:r>
            <a:r>
              <a:rPr lang="en-US" altLang="zh-CN" sz="3200" dirty="0"/>
              <a:t> them.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When the last leaf on the lawn was swept into the bin, the afterglow of sunset bathed the twin brothers’ </a:t>
            </a:r>
            <a:r>
              <a:rPr lang="en-US" altLang="zh-CN" sz="3200" dirty="0">
                <a:solidFill>
                  <a:srgbClr val="FF0000"/>
                </a:solidFill>
              </a:rPr>
              <a:t>sweat-soaked</a:t>
            </a:r>
            <a:r>
              <a:rPr lang="en-US" altLang="zh-CN" sz="3200" dirty="0"/>
              <a:t> clothes, yet the carefree smiles on their faces remained. (Yang </a:t>
            </a:r>
            <a:r>
              <a:rPr lang="en-US" altLang="zh-CN" sz="3200" dirty="0" err="1"/>
              <a:t>Ruixin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Eyes clouded with tears, the man strained every nerve to repair the broken light, rain </a:t>
            </a:r>
            <a:r>
              <a:rPr lang="en-US" altLang="zh-CN" sz="3200" dirty="0">
                <a:solidFill>
                  <a:srgbClr val="FF0000"/>
                </a:solidFill>
              </a:rPr>
              <a:t>soaking him to the skin/bone</a:t>
            </a:r>
            <a:r>
              <a:rPr lang="en-US" altLang="zh-CN" sz="3200" dirty="0"/>
              <a:t>. (Feng </a:t>
            </a:r>
            <a:r>
              <a:rPr lang="en-US" altLang="zh-CN" sz="3200" dirty="0" err="1"/>
              <a:t>Songquan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We sat in the cozy corner of the bookstore, </a:t>
            </a:r>
            <a:r>
              <a:rPr lang="en-US" altLang="zh-CN" sz="3200" dirty="0">
                <a:solidFill>
                  <a:srgbClr val="FF0000"/>
                </a:solidFill>
              </a:rPr>
              <a:t>soaking up </a:t>
            </a:r>
            <a:r>
              <a:rPr lang="en-US" altLang="zh-CN" sz="3200" dirty="0"/>
              <a:t>the joyful atmosphere…/the warmth of the sunlight .. (Jiang Xinyue)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room </a:t>
            </a:r>
            <a:r>
              <a:rPr lang="en-US" altLang="zh-CN" sz="3200" dirty="0">
                <a:solidFill>
                  <a:srgbClr val="FF0000"/>
                </a:solidFill>
              </a:rPr>
              <a:t>was soaked in </a:t>
            </a:r>
            <a:r>
              <a:rPr lang="en-US" altLang="zh-CN" sz="3200" dirty="0"/>
              <a:t>silence./His voice </a:t>
            </a:r>
            <a:r>
              <a:rPr lang="en-US" altLang="zh-CN" sz="3200" dirty="0">
                <a:solidFill>
                  <a:srgbClr val="FF0000"/>
                </a:solidFill>
              </a:rPr>
              <a:t>was soaked with </a:t>
            </a:r>
            <a:r>
              <a:rPr lang="en-US" altLang="zh-CN" sz="3200" dirty="0"/>
              <a:t>exhaustion.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9455880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3E410-910E-B582-20CF-8ED3CA2B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AFE10028-D8BA-923D-5872-6F92EAFD6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10. He just </a:t>
            </a:r>
            <a:r>
              <a:rPr lang="en-US" altLang="zh-CN" sz="3200" u="sng" dirty="0"/>
              <a:t>gestured</a:t>
            </a:r>
            <a:r>
              <a:rPr lang="en-US" altLang="zh-CN" sz="3200" dirty="0"/>
              <a:t> towards the girl and the old man helplessly as he </a:t>
            </a:r>
            <a:r>
              <a:rPr lang="en-US" altLang="zh-CN" sz="3200" u="sng" dirty="0"/>
              <a:t>stumbled through an explanation </a:t>
            </a:r>
            <a:r>
              <a:rPr lang="en-US" altLang="zh-CN" sz="3200" dirty="0"/>
              <a:t>that…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She gestured for them to come in, while the two boys pushed/nudged each other, hesitant about who should face their new teacher first. (Yang </a:t>
            </a:r>
            <a:r>
              <a:rPr lang="en-US" altLang="zh-CN" sz="3200" dirty="0" err="1"/>
              <a:t>Ruixin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 gesture of kindness</a:t>
            </a:r>
          </a:p>
        </p:txBody>
      </p:sp>
    </p:spTree>
    <p:extLst>
      <p:ext uri="{BB962C8B-B14F-4D97-AF65-F5344CB8AC3E}">
        <p14:creationId xmlns:p14="http://schemas.microsoft.com/office/powerpoint/2010/main" val="39642200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0164-255A-48ED-27A4-40F039529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D5B3EC10-9438-5438-AA1E-972098092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-1"/>
            <a:ext cx="12192000" cy="68580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U4 Reading: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 law can define the </a:t>
            </a:r>
            <a:r>
              <a:rPr lang="en-US" altLang="zh-CN" sz="3200" dirty="0" err="1"/>
              <a:t>behaviour</a:t>
            </a:r>
            <a:r>
              <a:rPr lang="en-US" altLang="zh-CN" sz="3200" dirty="0"/>
              <a:t> which </a:t>
            </a:r>
            <a:r>
              <a:rPr lang="en-US" altLang="zh-CN" sz="3200" u="sng" dirty="0"/>
              <a:t>is subject to </a:t>
            </a:r>
            <a:r>
              <a:rPr lang="en-US" altLang="zh-CN" sz="3200" dirty="0"/>
              <a:t>legal punishment.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In contemporary society, teenagers </a:t>
            </a:r>
            <a:r>
              <a:rPr lang="en-US" altLang="zh-CN" sz="3200" dirty="0">
                <a:solidFill>
                  <a:srgbClr val="FF0000"/>
                </a:solidFill>
              </a:rPr>
              <a:t>are</a:t>
            </a:r>
            <a:r>
              <a:rPr lang="en-US" altLang="zh-CN" sz="3200" dirty="0"/>
              <a:t> often </a:t>
            </a:r>
            <a:r>
              <a:rPr lang="en-US" altLang="zh-CN" sz="3200" dirty="0">
                <a:solidFill>
                  <a:srgbClr val="FF0000"/>
                </a:solidFill>
              </a:rPr>
              <a:t>subject to </a:t>
            </a:r>
            <a:r>
              <a:rPr lang="en-US" altLang="zh-CN" sz="3200" dirty="0"/>
              <a:t>a wide range of external influences, whether it is public pressure from social media or the invisible trend of peer comparison. (Zhou </a:t>
            </a:r>
            <a:r>
              <a:rPr lang="en-US" altLang="zh-CN" sz="3200" dirty="0" err="1"/>
              <a:t>Jingru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How far you can go in life </a:t>
            </a:r>
            <a:r>
              <a:rPr lang="en-US" altLang="zh-CN" sz="3200" dirty="0">
                <a:solidFill>
                  <a:srgbClr val="FF0000"/>
                </a:solidFill>
              </a:rPr>
              <a:t>is subject to </a:t>
            </a:r>
            <a:r>
              <a:rPr lang="en-US" altLang="zh-CN" sz="3200" dirty="0"/>
              <a:t>your inner talent and, more importantly, the effort you put into your pursuits. (Ren Sitong)</a:t>
            </a:r>
          </a:p>
        </p:txBody>
      </p:sp>
    </p:spTree>
    <p:extLst>
      <p:ext uri="{BB962C8B-B14F-4D97-AF65-F5344CB8AC3E}">
        <p14:creationId xmlns:p14="http://schemas.microsoft.com/office/powerpoint/2010/main" val="1042223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2E67-7A00-733F-89E2-F90178F2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459075CF-2726-EEAD-D0D0-56832B594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-1"/>
            <a:ext cx="12192000" cy="68580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2. Have you ever wondered when and where the law </a:t>
            </a:r>
            <a:r>
              <a:rPr lang="en-US" altLang="zh-CN" sz="3200" u="sng" dirty="0"/>
              <a:t>originated</a:t>
            </a:r>
            <a:r>
              <a:rPr lang="en-GB" altLang="zh-CN" sz="3200" dirty="0"/>
              <a:t>?</a:t>
            </a:r>
            <a:r>
              <a:rPr lang="zh-CN" altLang="en-US" sz="3200" dirty="0"/>
              <a:t> </a:t>
            </a:r>
            <a:r>
              <a:rPr lang="en-GB" altLang="zh-CN" sz="3200" dirty="0"/>
              <a:t>(</a:t>
            </a:r>
            <a:r>
              <a:rPr lang="zh-CN" altLang="en-GB" sz="3200" dirty="0"/>
              <a:t>近义词</a:t>
            </a:r>
            <a:r>
              <a:rPr lang="zh-CN" altLang="en-US" sz="3200" dirty="0"/>
              <a:t>“</a:t>
            </a:r>
            <a:r>
              <a:rPr lang="zh-CN" altLang="en-GB" sz="3200" dirty="0"/>
              <a:t>源于</a:t>
            </a:r>
            <a:r>
              <a:rPr lang="en-GB" altLang="zh-CN" sz="3200" dirty="0"/>
              <a:t>”</a:t>
            </a:r>
            <a:r>
              <a:rPr lang="zh-CN" altLang="en-GB" sz="3200" dirty="0"/>
              <a:t>造句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From my perspective, many conflicts between parents and teenagers </a:t>
            </a:r>
            <a:r>
              <a:rPr lang="en-US" altLang="zh-CN" sz="3200" dirty="0">
                <a:solidFill>
                  <a:srgbClr val="FF0000"/>
                </a:solidFill>
              </a:rPr>
              <a:t>stem from </a:t>
            </a:r>
            <a:r>
              <a:rPr lang="en-US" altLang="zh-CN" sz="3200" dirty="0"/>
              <a:t>a lack of effective communication rather than a generation gap. (Zhou </a:t>
            </a:r>
            <a:r>
              <a:rPr lang="en-US" altLang="zh-CN" sz="3200" dirty="0" err="1"/>
              <a:t>Jingru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04152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D3FB5-548F-FCD4-42BC-30E1F4945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04948A02-9C01-C64E-23CC-167078A06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-1"/>
            <a:ext cx="12192000" cy="68580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3. …</a:t>
            </a:r>
            <a:r>
              <a:rPr lang="en-US" altLang="zh-CN" sz="3200" dirty="0"/>
              <a:t>, because such rules </a:t>
            </a:r>
            <a:r>
              <a:rPr lang="en-US" altLang="zh-CN" sz="3200" u="sng" dirty="0"/>
              <a:t>were deeply grounded in </a:t>
            </a:r>
            <a:r>
              <a:rPr lang="en-US" altLang="zh-CN" sz="3200" dirty="0"/>
              <a:t>custom. (ground</a:t>
            </a:r>
            <a:r>
              <a:rPr lang="zh-CN" altLang="en-US" sz="3200" dirty="0"/>
              <a:t>其他词组也造句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Genuine academic achievement </a:t>
            </a:r>
            <a:r>
              <a:rPr lang="en-US" altLang="zh-CN" sz="3200" dirty="0">
                <a:solidFill>
                  <a:srgbClr val="FF0000"/>
                </a:solidFill>
              </a:rPr>
              <a:t>is deeply grounded in</a:t>
            </a:r>
            <a:r>
              <a:rPr lang="en-US" altLang="zh-CN" sz="3200" dirty="0"/>
              <a:t> curiosity and self-discipline rather than mere memorization. (Zhou </a:t>
            </a:r>
            <a:r>
              <a:rPr lang="en-US" altLang="zh-CN" sz="3200" dirty="0" err="1"/>
              <a:t>Jingru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</a:t>
            </a:r>
            <a:r>
              <a:rPr lang="zh-CN" altLang="en-US" sz="3200" dirty="0"/>
              <a:t> </a:t>
            </a:r>
            <a:r>
              <a:rPr lang="en-US" altLang="zh-CN" sz="3200" dirty="0"/>
              <a:t>strong and lasting friendship must be grounded in mutual trust, respect and understanding. (Yu </a:t>
            </a:r>
            <a:r>
              <a:rPr lang="en-US" altLang="zh-CN" sz="3200" dirty="0" err="1"/>
              <a:t>Jiayun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1415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D17FD-D163-3592-FB78-0DA8A8CA2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36F3664F-9C20-1680-B84F-FA6B6FAB13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-1"/>
            <a:ext cx="12192000" cy="68580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4. Over time, laws </a:t>
            </a:r>
            <a:r>
              <a:rPr lang="en-US" altLang="zh-CN" sz="3200" u="sng" dirty="0"/>
              <a:t>evolve</a:t>
            </a:r>
            <a:r>
              <a:rPr lang="en-US" altLang="zh-CN" sz="3200" dirty="0"/>
              <a:t> to become more </a:t>
            </a:r>
            <a:r>
              <a:rPr lang="en-US" altLang="zh-CN" sz="3200" u="sng" dirty="0"/>
              <a:t>sophisticated</a:t>
            </a:r>
            <a:r>
              <a:rPr lang="en-US" altLang="zh-CN" sz="3200" dirty="0"/>
              <a:t> and wide-ranging.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Over the past three years of high school, I have </a:t>
            </a:r>
            <a:r>
              <a:rPr lang="en-US" altLang="zh-CN" sz="3200" dirty="0">
                <a:solidFill>
                  <a:srgbClr val="FF0000"/>
                </a:solidFill>
              </a:rPr>
              <a:t>evolved</a:t>
            </a:r>
            <a:r>
              <a:rPr lang="en-US" altLang="zh-CN" sz="3200" dirty="0"/>
              <a:t> from a shy teenager who was afraid to speak up into a confident young man willing to take on leadership roles. (Zhou </a:t>
            </a:r>
            <a:r>
              <a:rPr lang="en-US" altLang="zh-CN" sz="3200" dirty="0" err="1"/>
              <a:t>Jingru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Over the course of the journey, his understanding of strength </a:t>
            </a:r>
            <a:r>
              <a:rPr lang="en-US" altLang="zh-CN" sz="3200" dirty="0">
                <a:solidFill>
                  <a:srgbClr val="FF0000"/>
                </a:solidFill>
              </a:rPr>
              <a:t>evolved</a:t>
            </a:r>
            <a:r>
              <a:rPr lang="en-US" altLang="zh-CN" sz="3200" dirty="0"/>
              <a:t> — from physical power to quiet, persistent perseverance. (Ren Sitong)</a:t>
            </a:r>
          </a:p>
        </p:txBody>
      </p:sp>
    </p:spTree>
    <p:extLst>
      <p:ext uri="{BB962C8B-B14F-4D97-AF65-F5344CB8AC3E}">
        <p14:creationId xmlns:p14="http://schemas.microsoft.com/office/powerpoint/2010/main" val="42868289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BC838-3D92-5F4A-E889-EA954174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0C727C89-2021-46B7-CF49-CFE744D4DF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-1"/>
            <a:ext cx="12192000" cy="68580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5. </a:t>
            </a:r>
            <a:r>
              <a:rPr lang="en-US" altLang="zh-CN" sz="3200" dirty="0"/>
              <a:t>Outdated laws are abolished when they</a:t>
            </a:r>
            <a:r>
              <a:rPr lang="zh-CN" altLang="en-US" sz="3200" dirty="0"/>
              <a:t> </a:t>
            </a:r>
            <a:r>
              <a:rPr lang="en-US" altLang="zh-CN" sz="3200" dirty="0"/>
              <a:t>no longer </a:t>
            </a:r>
            <a:r>
              <a:rPr lang="en-US" altLang="zh-CN" sz="3200" u="sng" dirty="0"/>
              <a:t>correspond with </a:t>
            </a:r>
            <a:r>
              <a:rPr lang="en-US" altLang="zh-CN" sz="3200" dirty="0"/>
              <a:t>the values or moral beliefs of the current society. 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For years, they </a:t>
            </a:r>
            <a:r>
              <a:rPr lang="en-US" altLang="zh-CN" sz="3200" dirty="0">
                <a:solidFill>
                  <a:srgbClr val="FF0000"/>
                </a:solidFill>
              </a:rPr>
              <a:t>corresponded with </a:t>
            </a:r>
            <a:r>
              <a:rPr lang="en-US" altLang="zh-CN" sz="3200" dirty="0"/>
              <a:t>each other across oceans, their letters bridging distance and time. (Ren Sitong)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Educational policies must </a:t>
            </a:r>
            <a:r>
              <a:rPr lang="en-US" altLang="zh-CN" sz="3200" dirty="0">
                <a:solidFill>
                  <a:srgbClr val="FF0000"/>
                </a:solidFill>
              </a:rPr>
              <a:t>correspond with </a:t>
            </a:r>
            <a:r>
              <a:rPr lang="en-US" altLang="zh-CN" sz="3200" dirty="0"/>
              <a:t>the evolving needs of society and the aspirations of young people. (Xu Zhe)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42729426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8DFB0-CBB2-3808-C664-2B60B870A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C697861D-ED93-F7A1-E422-4D06919AA8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-1"/>
            <a:ext cx="12192000" cy="68580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6. As the law is not applicable to all situations, it is just one </a:t>
            </a:r>
            <a:r>
              <a:rPr lang="en-US" altLang="zh-CN" sz="3200" u="sng" dirty="0"/>
              <a:t>instrument </a:t>
            </a:r>
            <a:r>
              <a:rPr lang="en-US" altLang="zh-CN" sz="3200" dirty="0"/>
              <a:t>(adj.</a:t>
            </a:r>
            <a:r>
              <a:rPr lang="zh-CN" altLang="en-US" sz="3200" dirty="0"/>
              <a:t>也造句</a:t>
            </a:r>
            <a:r>
              <a:rPr lang="en-GB" altLang="zh-CN" sz="3200" dirty="0"/>
              <a:t>)</a:t>
            </a:r>
            <a:r>
              <a:rPr lang="en-US" altLang="zh-CN" sz="3200" dirty="0"/>
              <a:t> to regulate society. 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Language is not only a means of communication, but also an </a:t>
            </a:r>
            <a:r>
              <a:rPr lang="en-US" altLang="zh-CN" sz="3200" dirty="0">
                <a:solidFill>
                  <a:srgbClr val="FF0000"/>
                </a:solidFill>
              </a:rPr>
              <a:t>instrument/vehicle</a:t>
            </a:r>
            <a:r>
              <a:rPr lang="en-US" altLang="zh-CN" sz="3200" dirty="0"/>
              <a:t> for expressing identity and preserving culture. (Yu </a:t>
            </a:r>
            <a:r>
              <a:rPr lang="en-US" altLang="zh-CN" sz="3200" dirty="0" err="1"/>
              <a:t>Jiayun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She was </a:t>
            </a:r>
            <a:r>
              <a:rPr lang="en-US" altLang="zh-CN" sz="3200" dirty="0">
                <a:solidFill>
                  <a:srgbClr val="FF0000"/>
                </a:solidFill>
              </a:rPr>
              <a:t>instrumental</a:t>
            </a:r>
            <a:r>
              <a:rPr lang="en-US" altLang="zh-CN" sz="3200" dirty="0"/>
              <a:t> not because she changed me, but because she stayed — through the noise, through the silence, through the version of me I could not yet bear to become. (Zhou </a:t>
            </a:r>
            <a:r>
              <a:rPr lang="en-US" altLang="zh-CN" sz="3200" dirty="0" err="1"/>
              <a:t>Jingru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While law plays an </a:t>
            </a:r>
            <a:r>
              <a:rPr lang="en-US" altLang="zh-CN" sz="3200" dirty="0">
                <a:solidFill>
                  <a:srgbClr val="FF0000"/>
                </a:solidFill>
              </a:rPr>
              <a:t>instrumental</a:t>
            </a:r>
            <a:r>
              <a:rPr lang="en-US" altLang="zh-CN" sz="3200" dirty="0"/>
              <a:t> role in maintaining social order, it is equally important to foster a culture of mutual respect and empathy.</a:t>
            </a:r>
          </a:p>
        </p:txBody>
      </p:sp>
    </p:spTree>
    <p:extLst>
      <p:ext uri="{BB962C8B-B14F-4D97-AF65-F5344CB8AC3E}">
        <p14:creationId xmlns:p14="http://schemas.microsoft.com/office/powerpoint/2010/main" val="17893263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3711-54C6-F176-F1BB-E98E47E4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190BE7E4-F0F4-35DB-5FC3-34EF90BBC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-1"/>
            <a:ext cx="12192000" cy="68580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7. The law is </a:t>
            </a:r>
            <a:r>
              <a:rPr lang="en-US" altLang="zh-CN" sz="3200" u="sng" dirty="0"/>
              <a:t>the compass that </a:t>
            </a:r>
            <a:r>
              <a:rPr lang="en-US" altLang="zh-CN" sz="3200" dirty="0"/>
              <a:t>has guided humans </a:t>
            </a:r>
            <a:r>
              <a:rPr lang="en-US" altLang="zh-CN" sz="3200" u="sng" dirty="0"/>
              <a:t>from</a:t>
            </a:r>
            <a:r>
              <a:rPr lang="en-US" altLang="zh-CN" sz="3200" dirty="0"/>
              <a:t> the first law-abiding communities </a:t>
            </a:r>
            <a:r>
              <a:rPr lang="en-US" altLang="zh-CN" sz="3200" u="sng" dirty="0"/>
              <a:t>to where </a:t>
            </a:r>
            <a:r>
              <a:rPr lang="en-US" altLang="zh-CN" sz="3200" dirty="0"/>
              <a:t>we are today.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ym typeface="Times New Roman"/>
              </a:rPr>
              <a:t>Her mother's words became the </a:t>
            </a:r>
            <a:r>
              <a:rPr lang="en-GB" sz="3200" b="1" dirty="0">
                <a:solidFill>
                  <a:srgbClr val="FF0000"/>
                </a:solidFill>
                <a:sym typeface="Times New Roman"/>
              </a:rPr>
              <a:t>compass</a:t>
            </a:r>
            <a:r>
              <a:rPr lang="en-GB" sz="3200" b="1" dirty="0">
                <a:sym typeface="Times New Roman"/>
              </a:rPr>
              <a:t> that guided her from a lost and confused adolescent to where she stands today — confident and visionary about her future. (Ren Sitong)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200" b="1" dirty="0">
              <a:sym typeface="Times New Roman"/>
            </a:endParaRP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Perseverance, the </a:t>
            </a:r>
            <a:r>
              <a:rPr lang="en-US" altLang="zh-CN" sz="3200" dirty="0">
                <a:solidFill>
                  <a:srgbClr val="FF0000"/>
                </a:solidFill>
              </a:rPr>
              <a:t>compass</a:t>
            </a:r>
            <a:r>
              <a:rPr lang="en-US" altLang="zh-CN" sz="3200" dirty="0"/>
              <a:t> that guided him from failure to success, enabled him to </a:t>
            </a:r>
            <a:r>
              <a:rPr lang="en-US" altLang="zh-CN" sz="3200" dirty="0">
                <a:solidFill>
                  <a:srgbClr val="FF0000"/>
                </a:solidFill>
              </a:rPr>
              <a:t>navigate life’s fiercest storms</a:t>
            </a:r>
            <a:r>
              <a:rPr lang="en-US" altLang="zh-CN" sz="3200" dirty="0"/>
              <a:t>.</a:t>
            </a:r>
            <a:r>
              <a:rPr lang="zh-CN" altLang="en-US" sz="3200" dirty="0"/>
              <a:t> </a:t>
            </a:r>
            <a:r>
              <a:rPr lang="en-GB" altLang="zh-CN" sz="3200" dirty="0"/>
              <a:t>(Yu Yunxi)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0226731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E43CB-DDEE-39A9-9BB7-E04F31FA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DA9E3924-208E-AFCB-C07F-5A309B0E6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-1"/>
            <a:ext cx="12192000" cy="68580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ym typeface="Times New Roman"/>
              </a:rPr>
              <a:t>8. I’m convinced everyone </a:t>
            </a:r>
            <a:r>
              <a:rPr lang="en-GB" sz="3200" b="1" u="sng" dirty="0">
                <a:sym typeface="Times New Roman"/>
              </a:rPr>
              <a:t>strives to (</a:t>
            </a:r>
            <a:r>
              <a:rPr lang="zh-CN" altLang="en-US" sz="3200" b="1" u="sng" dirty="0">
                <a:sym typeface="Times New Roman"/>
              </a:rPr>
              <a:t>其他近义词组</a:t>
            </a:r>
            <a:r>
              <a:rPr lang="en-US" altLang="zh-CN" sz="3200" b="1" u="sng" dirty="0">
                <a:sym typeface="Times New Roman"/>
              </a:rPr>
              <a:t>) </a:t>
            </a:r>
            <a:r>
              <a:rPr lang="en-GB" sz="3200" b="1" dirty="0">
                <a:sym typeface="Times New Roman"/>
              </a:rPr>
              <a:t>be a law-abiding citizen, but </a:t>
            </a:r>
            <a:r>
              <a:rPr lang="en-GB" sz="3200" b="1" u="sng" dirty="0">
                <a:sym typeface="Times New Roman"/>
              </a:rPr>
              <a:t>it’s conceivable that </a:t>
            </a:r>
            <a:r>
              <a:rPr lang="en-GB" sz="3200" b="1" dirty="0">
                <a:sym typeface="Times New Roman"/>
              </a:rPr>
              <a:t>you’re breaking the law without realizing.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ym typeface="Times New Roman"/>
              </a:rPr>
              <a:t>Looking into her wrinkled eyes, I found it </a:t>
            </a:r>
            <a:r>
              <a:rPr lang="en-GB" sz="3200" b="1" dirty="0">
                <a:solidFill>
                  <a:srgbClr val="FF0000"/>
                </a:solidFill>
                <a:sym typeface="Times New Roman"/>
              </a:rPr>
              <a:t>conceivable</a:t>
            </a:r>
            <a:r>
              <a:rPr lang="en-GB" sz="3200" b="1" dirty="0">
                <a:sym typeface="Times New Roman"/>
              </a:rPr>
              <a:t> that she still </a:t>
            </a:r>
            <a:r>
              <a:rPr lang="en-GB" sz="3200" b="1" dirty="0" err="1">
                <a:sym typeface="Times New Roman"/>
              </a:rPr>
              <a:t>harbored</a:t>
            </a:r>
            <a:r>
              <a:rPr lang="en-GB" sz="3200" b="1" dirty="0">
                <a:sym typeface="Times New Roman"/>
              </a:rPr>
              <a:t> feelings she dared not admit. (Ren Sitong)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sz="3200" b="1" dirty="0">
              <a:sym typeface="Times New Roman"/>
            </a:endParaRP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ym typeface="Times New Roman"/>
              </a:rPr>
              <a:t>As responsible global citizens, we must </a:t>
            </a:r>
            <a:r>
              <a:rPr lang="en-GB" sz="3200" b="1" dirty="0">
                <a:solidFill>
                  <a:srgbClr val="FF0000"/>
                </a:solidFill>
                <a:sym typeface="Times New Roman"/>
              </a:rPr>
              <a:t>strive to </a:t>
            </a:r>
            <a:r>
              <a:rPr lang="en-GB" sz="3200" b="1" dirty="0">
                <a:sym typeface="Times New Roman"/>
              </a:rPr>
              <a:t>reduce our carbon footprint and embrace sustainable lifestyles.</a:t>
            </a:r>
            <a:r>
              <a:rPr lang="en-GB" sz="3200" b="1" dirty="0">
                <a:solidFill>
                  <a:srgbClr val="FF0000"/>
                </a:solidFill>
                <a:sym typeface="Times New Roman"/>
              </a:rPr>
              <a:t> It is conceivable that </a:t>
            </a:r>
            <a:r>
              <a:rPr lang="en-GB" sz="3200" b="1" dirty="0">
                <a:sym typeface="Times New Roman"/>
              </a:rPr>
              <a:t>if collective action is taken immediately, we can mitigate the worst effects of climate change for future generations. (Xu Zhe)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sz="3200" b="1" dirty="0">
              <a:sym typeface="Times New Roman"/>
            </a:endParaRP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olidFill>
                  <a:srgbClr val="FF0000"/>
                </a:solidFill>
                <a:sym typeface="Times New Roman"/>
              </a:rPr>
              <a:t>It is conceivable that </a:t>
            </a:r>
            <a:r>
              <a:rPr lang="en-GB" sz="3200" b="1" dirty="0">
                <a:sym typeface="Times New Roman"/>
              </a:rPr>
              <a:t>once the bookstore was replaced by a trendy café, the precious memories would slowly recede into the mists of time. (Yu Yunxi)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sz="3200" b="1" dirty="0">
              <a:sym typeface="Times New Roman"/>
            </a:endParaRP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sz="32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12240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D82A5-8051-D4BE-444B-06234B3C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DF17CBA4-E81B-CB94-8839-7996104C51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-1"/>
            <a:ext cx="12192000" cy="68580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9. In addition to </a:t>
            </a:r>
            <a:r>
              <a:rPr lang="en-US" altLang="zh-CN" sz="3200" u="sng" dirty="0"/>
              <a:t>keeping abreast of </a:t>
            </a:r>
            <a:r>
              <a:rPr lang="en-US" altLang="zh-CN" sz="3200" dirty="0"/>
              <a:t>the law, observing the law will ensure 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In the digital age, we are obsessed with </a:t>
            </a:r>
            <a:r>
              <a:rPr lang="en-US" altLang="zh-CN" sz="3200" dirty="0">
                <a:solidFill>
                  <a:srgbClr val="FF0000"/>
                </a:solidFill>
              </a:rPr>
              <a:t>keeping abreast of </a:t>
            </a:r>
            <a:r>
              <a:rPr lang="en-US" altLang="zh-CN" sz="3200" dirty="0"/>
              <a:t>every piece of news, yet the more we know, the more we feel we understand nothing. (Zhou </a:t>
            </a:r>
            <a:r>
              <a:rPr lang="en-US" altLang="zh-CN" sz="3200" dirty="0" err="1"/>
              <a:t>Jingru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Digital technology not only enables us to </a:t>
            </a:r>
            <a:r>
              <a:rPr lang="en-US" altLang="zh-CN" sz="3200" dirty="0">
                <a:solidFill>
                  <a:srgbClr val="FF0000"/>
                </a:solidFill>
              </a:rPr>
              <a:t>keep abreast of</a:t>
            </a:r>
            <a:r>
              <a:rPr lang="en-US" altLang="zh-CN" sz="3200" dirty="0"/>
              <a:t> daily events but also boosts inter-generational communication, thus contributing to a harmonious and inclusive society. (Yu Yunxi)</a:t>
            </a:r>
          </a:p>
        </p:txBody>
      </p:sp>
    </p:spTree>
    <p:extLst>
      <p:ext uri="{BB962C8B-B14F-4D97-AF65-F5344CB8AC3E}">
        <p14:creationId xmlns:p14="http://schemas.microsoft.com/office/powerpoint/2010/main" val="12132763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B0A49-0464-AF26-98C0-AB2C69C0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68E6A4F6-33C1-3EAC-721E-7D65A1A2EC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-1"/>
            <a:ext cx="12192000" cy="68580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10. Under certain circumstances you may feel the </a:t>
            </a:r>
            <a:r>
              <a:rPr lang="en-US" altLang="zh-CN" sz="3200" u="sng" dirty="0"/>
              <a:t>impulse</a:t>
            </a:r>
            <a:r>
              <a:rPr lang="en-US" altLang="zh-CN" sz="3200" dirty="0"/>
              <a:t> to do something against the law 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>
                <a:solidFill>
                  <a:srgbClr val="FF0000"/>
                </a:solidFill>
              </a:rPr>
              <a:t>On an impulse</a:t>
            </a:r>
            <a:r>
              <a:rPr lang="en-US" altLang="zh-CN" sz="3200" dirty="0"/>
              <a:t>, she deleted the photo — then spent the next hour wishing she hadn’t. (Zhou </a:t>
            </a:r>
            <a:r>
              <a:rPr lang="en-US" altLang="zh-CN" sz="3200" dirty="0" err="1"/>
              <a:t>Jingru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It is the creative </a:t>
            </a:r>
            <a:r>
              <a:rPr lang="en-US" altLang="zh-CN" sz="3200" dirty="0">
                <a:solidFill>
                  <a:srgbClr val="FF0000"/>
                </a:solidFill>
              </a:rPr>
              <a:t>impulse</a:t>
            </a:r>
            <a:r>
              <a:rPr lang="en-US" altLang="zh-CN" sz="3200" dirty="0"/>
              <a:t> that drives artists to express themselves and enriches our cultural life. (Yu Yunxi)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7222920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AEC06-C2FC-A4E0-1AEE-9804B561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A60A93B6-3ED7-F02B-26D5-CC59C235C4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-1"/>
            <a:ext cx="12192000" cy="685800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11. Overall, ensuring you are aware of the law will put you in good standing </a:t>
            </a:r>
            <a:r>
              <a:rPr lang="en-US" altLang="zh-CN" sz="3200" u="sng" dirty="0"/>
              <a:t>whether</a:t>
            </a:r>
            <a:r>
              <a:rPr lang="en-US" altLang="zh-CN" sz="3200" dirty="0"/>
              <a:t> you’re in school </a:t>
            </a:r>
            <a:r>
              <a:rPr lang="en-US" altLang="zh-CN" sz="3200" u="sng" dirty="0"/>
              <a:t>or</a:t>
            </a:r>
            <a:r>
              <a:rPr lang="en-US" altLang="zh-CN" sz="3200" dirty="0"/>
              <a:t> stepping out into the world.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Whether</a:t>
            </a:r>
            <a:r>
              <a:rPr lang="en-US" altLang="zh-CN" sz="3200" dirty="0"/>
              <a:t> in times of peace </a:t>
            </a:r>
            <a:r>
              <a:rPr lang="en-US" altLang="zh-CN" sz="3200" u="sng" dirty="0"/>
              <a:t>or </a:t>
            </a:r>
            <a:r>
              <a:rPr lang="en-US" altLang="zh-CN" sz="3200" dirty="0"/>
              <a:t>crisis, never should we give up hope, the light that cuts through darkness and guides us forward. (Yu Yunxi)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>
                <a:solidFill>
                  <a:srgbClr val="FF0000"/>
                </a:solidFill>
              </a:rPr>
              <a:t>Whether in prosperity or adversity, …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>
                <a:solidFill>
                  <a:srgbClr val="FF0000"/>
                </a:solidFill>
              </a:rPr>
              <a:t>pierce/dispel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>
                <a:solidFill>
                  <a:srgbClr val="FF0000"/>
                </a:solidFill>
              </a:rPr>
              <a:t>steer us towards</a:t>
            </a:r>
            <a:endParaRPr lang="en-US" sz="3200" dirty="0">
              <a:solidFill>
                <a:srgbClr val="FF0000"/>
              </a:solidFill>
            </a:endParaRP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9591730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B7DF1-4A9C-A729-B341-D06200E5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28454524-3655-5C4A-1059-95AE1A2D8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2800" dirty="0">
                <a:solidFill>
                  <a:srgbClr val="FF0000"/>
                </a:solidFill>
              </a:rPr>
              <a:t>选修二 </a:t>
            </a:r>
            <a:r>
              <a:rPr lang="en-US" altLang="zh-CN" sz="2800" dirty="0">
                <a:solidFill>
                  <a:srgbClr val="FF0000"/>
                </a:solidFill>
              </a:rPr>
              <a:t>U4 Grammar:</a:t>
            </a:r>
          </a:p>
          <a:p>
            <a:pPr marL="361639" indent="-361639" defTabSz="354362">
              <a:spcBef>
                <a:spcPts val="0"/>
              </a:spcBef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2800" dirty="0"/>
              <a:t>The guest speakers and their activities were </a:t>
            </a:r>
            <a:r>
              <a:rPr lang="en-GB" altLang="zh-CN" sz="2800" u="sng" dirty="0"/>
              <a:t>a big hit</a:t>
            </a:r>
            <a:r>
              <a:rPr lang="en-US" altLang="zh-CN" sz="2800" dirty="0"/>
              <a:t>. (</a:t>
            </a:r>
            <a:r>
              <a:rPr lang="zh-CN" altLang="en-US" sz="2800" dirty="0"/>
              <a:t>同义词组</a:t>
            </a:r>
            <a:r>
              <a:rPr lang="en-GB" altLang="zh-CN" sz="2800" dirty="0"/>
              <a:t>+</a:t>
            </a:r>
            <a:r>
              <a:rPr lang="en-US" altLang="zh-CN" sz="2800" dirty="0"/>
              <a:t>hit home/hit on</a:t>
            </a:r>
            <a:r>
              <a:rPr lang="zh-CN" altLang="en-US" sz="2800" dirty="0"/>
              <a:t>造句</a:t>
            </a:r>
            <a:r>
              <a:rPr lang="en-GB" altLang="zh-CN" sz="2800" dirty="0"/>
              <a:t>)</a:t>
            </a:r>
          </a:p>
          <a:p>
            <a:pPr marL="361639" indent="-361639" defTabSz="354362">
              <a:spcBef>
                <a:spcPts val="0"/>
              </a:spcBef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u="sng" dirty="0"/>
              <a:t>Seeing</a:t>
            </a:r>
            <a:r>
              <a:rPr lang="en-US" altLang="zh-CN" sz="2800" dirty="0"/>
              <a:t> the high number of interested students at this year’s event, we are all </a:t>
            </a:r>
            <a:r>
              <a:rPr lang="en-US" altLang="zh-CN" sz="2800" u="sng" dirty="0"/>
              <a:t>fired up </a:t>
            </a:r>
            <a:r>
              <a:rPr lang="en-US" altLang="zh-CN" sz="2800" dirty="0"/>
              <a:t>about next year’s Law Day. (</a:t>
            </a:r>
            <a:r>
              <a:rPr lang="zh-CN" altLang="en-GB" sz="2800" dirty="0"/>
              <a:t>分词</a:t>
            </a:r>
            <a:r>
              <a:rPr lang="zh-CN" altLang="en-US" sz="2800" dirty="0"/>
              <a:t>造句；</a:t>
            </a:r>
            <a:r>
              <a:rPr lang="en-GB" altLang="zh-CN" sz="2800" dirty="0"/>
              <a:t>fire up</a:t>
            </a:r>
            <a:r>
              <a:rPr lang="zh-CN" altLang="en-GB" sz="2800" dirty="0"/>
              <a:t>造句</a:t>
            </a:r>
            <a:r>
              <a:rPr lang="en-GB" altLang="zh-CN" sz="2800" dirty="0"/>
              <a:t>)</a:t>
            </a:r>
          </a:p>
          <a:p>
            <a:pPr marL="361639" indent="-361639" defTabSz="354362">
              <a:spcBef>
                <a:spcPts val="0"/>
              </a:spcBef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28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2800" dirty="0"/>
              <a:t>The documentary about … really </a:t>
            </a:r>
            <a:r>
              <a:rPr lang="en-GB" altLang="zh-CN" sz="2800" dirty="0">
                <a:solidFill>
                  <a:srgbClr val="FF0000"/>
                </a:solidFill>
              </a:rPr>
              <a:t>hit home for </a:t>
            </a:r>
            <a:r>
              <a:rPr lang="en-GB" altLang="zh-CN" sz="2800" dirty="0"/>
              <a:t>many viewers. (Xu Zhe)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His words fired up the team, instilling a new sense of confidence in them. (Gao Yuxin)</a:t>
            </a:r>
            <a:endParaRPr lang="en-GB" altLang="zh-CN" sz="28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2800" dirty="0"/>
              <a:t>Ren Sitong: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After hours of brainstorming, she suddenly </a:t>
            </a:r>
            <a:r>
              <a:rPr lang="en-US" altLang="zh-CN" sz="2800" dirty="0">
                <a:solidFill>
                  <a:srgbClr val="FF0000"/>
                </a:solidFill>
              </a:rPr>
              <a:t>hit on </a:t>
            </a:r>
            <a:r>
              <a:rPr lang="en-US" altLang="zh-CN" sz="2800" dirty="0"/>
              <a:t>a brilliant idea that no one had considered.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Seeing the determination in his teammates’ eyes, something deep in his heart was </a:t>
            </a:r>
            <a:r>
              <a:rPr lang="en-US" altLang="zh-CN" sz="2800" dirty="0">
                <a:solidFill>
                  <a:srgbClr val="FF0000"/>
                </a:solidFill>
              </a:rPr>
              <a:t>fired up </a:t>
            </a:r>
            <a:r>
              <a:rPr lang="en-US" altLang="zh-CN" sz="2800" dirty="0"/>
              <a:t>— a will to fight a losing battle.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>
                <a:solidFill>
                  <a:srgbClr val="FF0000"/>
                </a:solidFill>
              </a:rPr>
              <a:t>It hit home that </a:t>
            </a:r>
            <a:r>
              <a:rPr lang="en-US" altLang="zh-CN" sz="2800" dirty="0"/>
              <a:t>she was really gone when he called her name instinctively, but only silence answered.</a:t>
            </a:r>
          </a:p>
          <a:p>
            <a:pPr marL="361639" indent="-361639" defTabSz="354362">
              <a:spcBef>
                <a:spcPts val="0"/>
              </a:spcBef>
              <a:buFont typeface="Arial" panose="020B0604020202020204" pitchFamily="34" charset="0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8586558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55109-C51F-DB4A-8EED-ACB5C213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0C66DD40-A442-5C2A-D50B-E7D9247069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2800" dirty="0">
                <a:solidFill>
                  <a:srgbClr val="FF0000"/>
                </a:solidFill>
              </a:rPr>
              <a:t>选修二 </a:t>
            </a:r>
            <a:r>
              <a:rPr lang="en-US" altLang="zh-CN" sz="2800" dirty="0">
                <a:solidFill>
                  <a:srgbClr val="FF0000"/>
                </a:solidFill>
              </a:rPr>
              <a:t>U4 Grammar:</a:t>
            </a:r>
          </a:p>
          <a:p>
            <a:pPr marL="361639" indent="-361639" defTabSz="354362">
              <a:spcBef>
                <a:spcPts val="0"/>
              </a:spcBef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2800" dirty="0"/>
              <a:t>The guest speakers and their activities were </a:t>
            </a:r>
            <a:r>
              <a:rPr lang="en-GB" altLang="zh-CN" sz="2800" u="sng" dirty="0"/>
              <a:t>a big hit</a:t>
            </a:r>
            <a:r>
              <a:rPr lang="en-US" altLang="zh-CN" sz="2800" dirty="0"/>
              <a:t>. (</a:t>
            </a:r>
            <a:r>
              <a:rPr lang="zh-CN" altLang="en-US" sz="2800" dirty="0"/>
              <a:t>同义词组</a:t>
            </a:r>
            <a:r>
              <a:rPr lang="en-GB" altLang="zh-CN" sz="2800" dirty="0"/>
              <a:t>+</a:t>
            </a:r>
            <a:r>
              <a:rPr lang="en-US" altLang="zh-CN" sz="2800" dirty="0"/>
              <a:t>hit home/hit on</a:t>
            </a:r>
            <a:r>
              <a:rPr lang="zh-CN" altLang="en-US" sz="2800" dirty="0"/>
              <a:t>造句</a:t>
            </a:r>
            <a:r>
              <a:rPr lang="en-GB" altLang="zh-CN" sz="2800" dirty="0"/>
              <a:t>)</a:t>
            </a:r>
          </a:p>
          <a:p>
            <a:pPr marL="361639" indent="-361639" defTabSz="354362">
              <a:spcBef>
                <a:spcPts val="0"/>
              </a:spcBef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u="sng" dirty="0"/>
              <a:t>Seeing</a:t>
            </a:r>
            <a:r>
              <a:rPr lang="en-US" altLang="zh-CN" sz="2800" dirty="0"/>
              <a:t> the high number of interested students at this year’s event, we are all </a:t>
            </a:r>
            <a:r>
              <a:rPr lang="en-US" altLang="zh-CN" sz="2800" u="sng" dirty="0"/>
              <a:t>fired up </a:t>
            </a:r>
            <a:r>
              <a:rPr lang="en-US" altLang="zh-CN" sz="2800" dirty="0"/>
              <a:t>about next year’s Law Day. (</a:t>
            </a:r>
            <a:r>
              <a:rPr lang="zh-CN" altLang="en-GB" sz="2800" dirty="0"/>
              <a:t>分词</a:t>
            </a:r>
            <a:r>
              <a:rPr lang="zh-CN" altLang="en-US" sz="2800" dirty="0"/>
              <a:t>造句；</a:t>
            </a:r>
            <a:r>
              <a:rPr lang="en-GB" altLang="zh-CN" sz="2800" dirty="0"/>
              <a:t>fire up</a:t>
            </a:r>
            <a:r>
              <a:rPr lang="zh-CN" altLang="en-GB" sz="2800" dirty="0"/>
              <a:t>造句</a:t>
            </a:r>
            <a:r>
              <a:rPr lang="en-GB" altLang="zh-CN" sz="28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28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2800" dirty="0"/>
              <a:t>Yu Yunxi: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With his new invention becoming </a:t>
            </a:r>
            <a:r>
              <a:rPr lang="en-US" altLang="zh-CN" sz="2800" dirty="0">
                <a:solidFill>
                  <a:srgbClr val="FF0000"/>
                </a:solidFill>
              </a:rPr>
              <a:t>a big hit</a:t>
            </a:r>
            <a:r>
              <a:rPr lang="en-US" altLang="zh-CN" sz="2800" dirty="0"/>
              <a:t>, he saved enough money to pursue his dream.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Her mother’s understanding of friendship suddenly </a:t>
            </a:r>
            <a:r>
              <a:rPr lang="en-US" altLang="zh-CN" sz="2800" dirty="0">
                <a:solidFill>
                  <a:srgbClr val="FF0000"/>
                </a:solidFill>
              </a:rPr>
              <a:t>hit home </a:t>
            </a:r>
            <a:r>
              <a:rPr lang="en-US" altLang="zh-CN" sz="2800" dirty="0"/>
              <a:t>at the sight of Mia’s figure fading into the distance — it was holding each other in their hearts instead of spending every day together that made a real connection.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Upon spotting a glass of lemonade on the table, her eyes widened before narrowing with thought — she had </a:t>
            </a:r>
            <a:r>
              <a:rPr lang="en-US" altLang="zh-CN" sz="2800" dirty="0">
                <a:solidFill>
                  <a:srgbClr val="FF0000"/>
                </a:solidFill>
              </a:rPr>
              <a:t>hit on a brilliant idea </a:t>
            </a:r>
            <a:r>
              <a:rPr lang="en-US" altLang="zh-CN" sz="2800" dirty="0"/>
              <a:t>to raise enough money for the bike.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With their determination </a:t>
            </a:r>
            <a:r>
              <a:rPr lang="en-US" altLang="zh-CN" sz="2800" dirty="0">
                <a:solidFill>
                  <a:srgbClr val="FF0000"/>
                </a:solidFill>
              </a:rPr>
              <a:t>fired up </a:t>
            </a:r>
            <a:r>
              <a:rPr lang="en-US" altLang="zh-CN" sz="2800" dirty="0"/>
              <a:t>by the coach's encouragement, never before had the members felt so confident in pursuing victory.</a:t>
            </a:r>
          </a:p>
        </p:txBody>
      </p:sp>
    </p:spTree>
    <p:extLst>
      <p:ext uri="{BB962C8B-B14F-4D97-AF65-F5344CB8AC3E}">
        <p14:creationId xmlns:p14="http://schemas.microsoft.com/office/powerpoint/2010/main" val="21413212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8710A-0C24-949A-1135-E1E95A2D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E0B46230-A3B2-52C0-7F7C-30CA5E5E8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2800" dirty="0">
                <a:solidFill>
                  <a:srgbClr val="FF0000"/>
                </a:solidFill>
              </a:rPr>
              <a:t>选修二 </a:t>
            </a:r>
            <a:r>
              <a:rPr lang="en-US" altLang="zh-CN" sz="2800" dirty="0">
                <a:solidFill>
                  <a:srgbClr val="FF0000"/>
                </a:solidFill>
              </a:rPr>
              <a:t>U4 Inte: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Intellectual property is </a:t>
            </a:r>
            <a:r>
              <a:rPr lang="en-US" altLang="zh-CN" sz="2800" u="sng" dirty="0"/>
              <a:t>at the core of </a:t>
            </a:r>
            <a:r>
              <a:rPr lang="en-US" altLang="zh-CN" sz="2800" dirty="0"/>
              <a:t>technological innovation.</a:t>
            </a:r>
            <a:r>
              <a:rPr lang="zh-CN" altLang="en-US" sz="2800" dirty="0"/>
              <a:t> </a:t>
            </a:r>
            <a:endParaRPr lang="en-GB" altLang="zh-CN" sz="2800" dirty="0"/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Patents </a:t>
            </a:r>
            <a:r>
              <a:rPr lang="en-US" altLang="zh-CN" sz="2800" u="sng" dirty="0"/>
              <a:t>grant</a:t>
            </a:r>
            <a:r>
              <a:rPr lang="en-US" altLang="zh-CN" sz="2800" dirty="0"/>
              <a:t> inventors exclusive rights to their inventions.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A trade secret can be a formula, process or device that</a:t>
            </a:r>
            <a:r>
              <a:rPr lang="zh-CN" altLang="en-US" sz="2800" dirty="0"/>
              <a:t> </a:t>
            </a:r>
            <a:r>
              <a:rPr lang="en-US" altLang="zh-CN" sz="2800" dirty="0"/>
              <a:t>makes a product </a:t>
            </a:r>
            <a:r>
              <a:rPr lang="en-US" altLang="zh-CN" sz="2800" u="sng" dirty="0"/>
              <a:t>distinctive</a:t>
            </a:r>
            <a:r>
              <a:rPr lang="en-US" altLang="zh-CN" sz="2800" dirty="0"/>
              <a:t>.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Owners need to apply for a patent or </a:t>
            </a:r>
            <a:r>
              <a:rPr lang="en-US" altLang="zh-CN" sz="2800" u="sng" dirty="0"/>
              <a:t>register</a:t>
            </a:r>
            <a:r>
              <a:rPr lang="en-US" altLang="zh-CN" sz="2800" dirty="0"/>
              <a:t> a trademark. (</a:t>
            </a:r>
            <a:r>
              <a:rPr lang="en-GB" altLang="zh-CN" sz="2800" dirty="0"/>
              <a:t>“</a:t>
            </a:r>
            <a:r>
              <a:rPr lang="zh-CN" altLang="en-GB" sz="2800" dirty="0"/>
              <a:t>流露</a:t>
            </a:r>
            <a:r>
              <a:rPr lang="zh-CN" altLang="en-US" sz="2800" dirty="0"/>
              <a:t>出</a:t>
            </a:r>
            <a:r>
              <a:rPr lang="en-US" altLang="zh-CN" sz="2800" dirty="0"/>
              <a:t>”</a:t>
            </a:r>
            <a:r>
              <a:rPr lang="zh-CN" altLang="en-US" sz="2800" dirty="0"/>
              <a:t>、“注册”、“注意到”造句</a:t>
            </a:r>
            <a:r>
              <a:rPr lang="en-GB" altLang="zh-CN" sz="28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2800" dirty="0"/>
              <a:t>Ren Sitong: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At the core of her hesitation was not fear, but the hope and fantasy that everything would change for the better.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She granted that she had tried her best, even though the result was far from satisfactory.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The air carried a distinctive scent of soil and rain, a smell that reminded her of that summer.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2800" dirty="0"/>
              <a:t>He tried to stay calm, but </a:t>
            </a:r>
            <a:r>
              <a:rPr lang="en-US" altLang="zh-CN" sz="2800" dirty="0">
                <a:solidFill>
                  <a:srgbClr val="FF0000"/>
                </a:solidFill>
              </a:rPr>
              <a:t>a flicker of panic registered </a:t>
            </a:r>
            <a:r>
              <a:rPr lang="en-US" altLang="zh-CN" sz="2800" dirty="0"/>
              <a:t>in his eyes/</a:t>
            </a:r>
            <a:r>
              <a:rPr lang="en-US" altLang="zh-CN" sz="2800" dirty="0">
                <a:solidFill>
                  <a:srgbClr val="FF0000"/>
                </a:solidFill>
              </a:rPr>
              <a:t>on his face</a:t>
            </a:r>
            <a:r>
              <a:rPr lang="en-US" altLang="zh-C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19548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D794A-5E10-29AC-732C-F3D7E8F51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A235A7C6-1725-7498-6A43-8521211E3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选修二 </a:t>
            </a:r>
            <a:r>
              <a:rPr lang="en-US" altLang="zh-CN" sz="3200" dirty="0">
                <a:solidFill>
                  <a:srgbClr val="FF0000"/>
                </a:solidFill>
              </a:rPr>
              <a:t>U4 Ext:</a:t>
            </a:r>
          </a:p>
          <a:p>
            <a:pPr marL="253116" indent="-253116" defTabSz="354362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Together they manage to </a:t>
            </a:r>
            <a:r>
              <a:rPr lang="en-US" altLang="zh-CN" sz="3200" u="sng" dirty="0"/>
              <a:t>secure</a:t>
            </a:r>
            <a:r>
              <a:rPr lang="en-US" altLang="zh-CN" sz="3200" dirty="0"/>
              <a:t> his absence every morning in the week. (v./adj.</a:t>
            </a:r>
            <a:r>
              <a:rPr lang="zh-CN" altLang="en-US" sz="3200" dirty="0"/>
              <a:t>分别造句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After years of struggle, he finally </a:t>
            </a:r>
            <a:r>
              <a:rPr lang="en-US" altLang="zh-CN" sz="3200" dirty="0">
                <a:solidFill>
                  <a:srgbClr val="FF0000"/>
                </a:solidFill>
              </a:rPr>
              <a:t>secured a position </a:t>
            </a:r>
            <a:r>
              <a:rPr lang="en-US" altLang="zh-CN" sz="3200" dirty="0"/>
              <a:t>that allowed him to support his family.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Wrapped in her arms, I felt secure from all the dangers in the world.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Although the road stretched endlessly ahead, they </a:t>
            </a:r>
            <a:r>
              <a:rPr lang="en-US" altLang="zh-CN" sz="3200" dirty="0">
                <a:solidFill>
                  <a:srgbClr val="FF0000"/>
                </a:solidFill>
              </a:rPr>
              <a:t>were</a:t>
            </a: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secure in the knowledge that</a:t>
            </a:r>
            <a:r>
              <a:rPr lang="en-US" altLang="zh-CN" sz="3200" dirty="0"/>
              <a:t> what lay in store for them was a bright future.</a:t>
            </a:r>
          </a:p>
        </p:txBody>
      </p:sp>
    </p:spTree>
    <p:extLst>
      <p:ext uri="{BB962C8B-B14F-4D97-AF65-F5344CB8AC3E}">
        <p14:creationId xmlns:p14="http://schemas.microsoft.com/office/powerpoint/2010/main" val="30952257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88E7-7D3A-3D3C-8241-95C0392D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F4858C1A-E1DF-3374-647D-7A9C94970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4.You must yourself have noticed how worn, wrinkled, and stained they were. (wear</a:t>
            </a:r>
            <a:r>
              <a:rPr lang="zh-CN" altLang="en-US" sz="3200" dirty="0"/>
              <a:t>词组造句</a:t>
            </a:r>
            <a:r>
              <a:rPr lang="en-US" altLang="zh-CN" sz="3200" dirty="0"/>
              <a:t>)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200" dirty="0"/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Despite the harsh weather conditions, the team pressed on, determined to </a:t>
            </a:r>
            <a:r>
              <a:rPr lang="en-GB" altLang="zh-CN" sz="3200" dirty="0">
                <a:solidFill>
                  <a:srgbClr val="FF0000"/>
                </a:solidFill>
              </a:rPr>
              <a:t>wear down </a:t>
            </a:r>
            <a:r>
              <a:rPr lang="en-GB" altLang="zh-CN" sz="3200" dirty="0"/>
              <a:t>the enemy's </a:t>
            </a:r>
            <a:r>
              <a:rPr lang="en-GB" altLang="zh-CN" sz="3200" dirty="0" err="1"/>
              <a:t>defenses</a:t>
            </a:r>
            <a:r>
              <a:rPr lang="en-GB" altLang="zh-CN" sz="3200" dirty="0"/>
              <a:t> and secure a decisive victory.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ym typeface="Times New Roman"/>
              </a:rPr>
              <a:t>Learning by rote gradually </a:t>
            </a:r>
            <a:r>
              <a:rPr lang="en-GB" sz="3200" b="1" dirty="0">
                <a:solidFill>
                  <a:srgbClr val="FF0000"/>
                </a:solidFill>
                <a:sym typeface="Times New Roman"/>
              </a:rPr>
              <a:t>wears away</a:t>
            </a:r>
            <a:r>
              <a:rPr lang="en-GB" sz="3200" b="1" dirty="0">
                <a:sym typeface="Times New Roman"/>
              </a:rPr>
              <a:t> our passion and eats away at our self-esteem.</a:t>
            </a:r>
          </a:p>
        </p:txBody>
      </p:sp>
    </p:spTree>
    <p:extLst>
      <p:ext uri="{BB962C8B-B14F-4D97-AF65-F5344CB8AC3E}">
        <p14:creationId xmlns:p14="http://schemas.microsoft.com/office/powerpoint/2010/main" val="9544733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4076-BA94-CB4F-3653-BC63D175C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3021DCE1-9A84-86CE-3631-B7386B3D7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999" cy="6705561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5.“You </a:t>
            </a:r>
            <a:r>
              <a:rPr lang="en-US" altLang="zh-CN" sz="3200" u="sng" dirty="0"/>
              <a:t>reasoned it out </a:t>
            </a:r>
            <a:r>
              <a:rPr lang="en-US" altLang="zh-CN" sz="3200" dirty="0"/>
              <a:t>beautifully” I exclaimed in genuine admiration.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6.I already feel it </a:t>
            </a:r>
            <a:r>
              <a:rPr lang="en-US" altLang="zh-CN" sz="3200" u="sng" dirty="0"/>
              <a:t>closing in upon </a:t>
            </a:r>
            <a:r>
              <a:rPr lang="en-US" altLang="zh-CN" sz="3200" dirty="0"/>
              <a:t>me.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sz="3200" b="1" dirty="0">
              <a:sym typeface="Times New Roman"/>
            </a:endParaRP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As the deadline for the research project drew near, the team could feel the pressure </a:t>
            </a:r>
            <a:r>
              <a:rPr lang="en-US" altLang="zh-CN" sz="3200" dirty="0">
                <a:solidFill>
                  <a:srgbClr val="FF0000"/>
                </a:solidFill>
              </a:rPr>
              <a:t>closing in on </a:t>
            </a:r>
            <a:r>
              <a:rPr lang="en-US" altLang="zh-CN" sz="3200" dirty="0"/>
              <a:t>them.</a:t>
            </a: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sz="3200" b="1" dirty="0">
              <a:sym typeface="Times New Roman"/>
            </a:endParaRPr>
          </a:p>
          <a:p>
            <a:pPr marL="0" indent="0" defTabSz="35436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At the sight of the dog with half a sandwich in its mouth, she quickly </a:t>
            </a:r>
            <a:r>
              <a:rPr lang="en-GB" altLang="zh-CN" sz="3200" dirty="0">
                <a:solidFill>
                  <a:srgbClr val="FF0000"/>
                </a:solidFill>
              </a:rPr>
              <a:t>reasoned out </a:t>
            </a:r>
            <a:r>
              <a:rPr lang="en-GB" altLang="zh-CN" sz="3200" dirty="0"/>
              <a:t>who the thief must be and grinned from ear to ear.</a:t>
            </a:r>
          </a:p>
        </p:txBody>
      </p:sp>
    </p:spTree>
    <p:extLst>
      <p:ext uri="{BB962C8B-B14F-4D97-AF65-F5344CB8AC3E}">
        <p14:creationId xmlns:p14="http://schemas.microsoft.com/office/powerpoint/2010/main" val="32230607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1032</TotalTime>
  <Words>4829</Words>
  <Application>Microsoft Macintosh PowerPoint</Application>
  <PresentationFormat>Widescreen</PresentationFormat>
  <Paragraphs>459</Paragraphs>
  <Slides>51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 NI</dc:creator>
  <cp:lastModifiedBy>Qing NI</cp:lastModifiedBy>
  <cp:revision>68</cp:revision>
  <dcterms:created xsi:type="dcterms:W3CDTF">2025-08-22T04:57:35Z</dcterms:created>
  <dcterms:modified xsi:type="dcterms:W3CDTF">2026-03-03T08:23:03Z</dcterms:modified>
</cp:coreProperties>
</file>