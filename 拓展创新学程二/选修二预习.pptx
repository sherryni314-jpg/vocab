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32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</p:sldIdLst>
  <p:sldSz cx="13004800" cy="9753600"/>
  <p:notesSz cx="6858000" cy="9947275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5714" autoAdjust="0"/>
  </p:normalViewPr>
  <p:slideViewPr>
    <p:cSldViewPr snapToGrid="0">
      <p:cViewPr varScale="1">
        <p:scale>
          <a:sx n="76" d="100"/>
          <a:sy n="76" d="100"/>
        </p:scale>
        <p:origin x="1672" y="21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3" name="Shape 133"/>
          <p:cNvSpPr>
            <a:spLocks noGrp="1"/>
          </p:cNvSpPr>
          <p:nvPr>
            <p:ph type="body" sz="quarter" idx="1"/>
          </p:nvPr>
        </p:nvSpPr>
        <p:spPr>
          <a:xfrm>
            <a:off x="914400" y="4724956"/>
            <a:ext cx="5029200" cy="447627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10809_FamilyChineseOahu_EN_02390_2880x1921.jpeg"/>
          <p:cNvSpPr>
            <a:spLocks noGrp="1"/>
          </p:cNvSpPr>
          <p:nvPr>
            <p:ph type="pic" idx="21"/>
          </p:nvPr>
        </p:nvSpPr>
        <p:spPr>
          <a:xfrm>
            <a:off x="1606550" y="635000"/>
            <a:ext cx="9779000" cy="65227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标题文本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01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110809_FamilyChineseOahu_EN_00317_2040x1360.jpeg"/>
          <p:cNvSpPr>
            <a:spLocks noGrp="1"/>
          </p:cNvSpPr>
          <p:nvPr>
            <p:ph type="pic" idx="21"/>
          </p:nvPr>
        </p:nvSpPr>
        <p:spPr>
          <a:xfrm>
            <a:off x="2717800" y="635000"/>
            <a:ext cx="12357100" cy="8238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110809_FamilyChineseOahu_EN_00317_2040x1360.jpeg"/>
          <p:cNvSpPr>
            <a:spLocks noGrp="1"/>
          </p:cNvSpPr>
          <p:nvPr>
            <p:ph type="pic" idx="21"/>
          </p:nvPr>
        </p:nvSpPr>
        <p:spPr>
          <a:xfrm>
            <a:off x="4533900" y="26035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110809_FamilyChineseOahu_EN_02390_2880x1921.jpeg"/>
          <p:cNvSpPr>
            <a:spLocks noGrp="1"/>
          </p:cNvSpPr>
          <p:nvPr>
            <p:ph type="pic" sz="quarter" idx="21"/>
          </p:nvPr>
        </p:nvSpPr>
        <p:spPr>
          <a:xfrm>
            <a:off x="6680200" y="5026947"/>
            <a:ext cx="6057901" cy="404070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110809_FamilyChineseOahu_EN_02016_981x654.jpeg"/>
          <p:cNvSpPr>
            <a:spLocks noGrp="1"/>
          </p:cNvSpPr>
          <p:nvPr>
            <p:ph type="pic" sz="quarter" idx="22"/>
          </p:nvPr>
        </p:nvSpPr>
        <p:spPr>
          <a:xfrm>
            <a:off x="6502400" y="886747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110809_FamilyChineseOahu_EN_00317_2040x1360.jpeg"/>
          <p:cNvSpPr>
            <a:spLocks noGrp="1"/>
          </p:cNvSpPr>
          <p:nvPr>
            <p:ph type="pic" idx="23"/>
          </p:nvPr>
        </p:nvSpPr>
        <p:spPr>
          <a:xfrm>
            <a:off x="-2374900" y="889000"/>
            <a:ext cx="11976100" cy="7984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2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在此键入引文。”"/>
          <p:cNvSpPr>
            <a:spLocks noGrp="1"/>
          </p:cNvSpPr>
          <p:nvPr>
            <p:ph type="body" sz="quarter" idx="22"/>
          </p:nvPr>
        </p:nvSpPr>
        <p:spPr>
          <a:xfrm>
            <a:off x="1270000" y="4222750"/>
            <a:ext cx="10464800" cy="7747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“在此键入引文。”</a:t>
            </a:r>
          </a:p>
        </p:txBody>
      </p:sp>
      <p:sp>
        <p:nvSpPr>
          <p:cNvPr id="9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110809_FamilyChineseOahu_EN_02390_2880x1921.jpeg"/>
          <p:cNvSpPr>
            <a:spLocks noGrp="1"/>
          </p:cNvSpPr>
          <p:nvPr>
            <p:ph type="pic" idx="21"/>
          </p:nvPr>
        </p:nvSpPr>
        <p:spPr>
          <a:xfrm>
            <a:off x="-812800" y="0"/>
            <a:ext cx="15232066" cy="10160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文本"/>
          <p:cNvSpPr txBox="1">
            <a:spLocks noGrp="1"/>
          </p:cNvSpPr>
          <p:nvPr>
            <p:ph type="title"/>
          </p:nvPr>
        </p:nvSpPr>
        <p:spPr>
          <a:xfrm>
            <a:off x="650239" y="130952"/>
            <a:ext cx="11704322" cy="2144888"/>
          </a:xfrm>
          <a:prstGeom prst="rect">
            <a:avLst/>
          </a:prstGeom>
        </p:spPr>
        <p:txBody>
          <a:bodyPr lIns="65023" tIns="65023" rIns="65023" bIns="65023">
            <a:noAutofit/>
          </a:bodyPr>
          <a:lstStyle>
            <a:lvl1pPr defTabSz="914400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标题文本</a:t>
            </a:r>
          </a:p>
        </p:txBody>
      </p:sp>
      <p:sp>
        <p:nvSpPr>
          <p:cNvPr id="125" name="正文级别 1…"/>
          <p:cNvSpPr txBox="1">
            <a:spLocks noGrp="1"/>
          </p:cNvSpPr>
          <p:nvPr>
            <p:ph type="body" idx="1"/>
          </p:nvPr>
        </p:nvSpPr>
        <p:spPr>
          <a:xfrm>
            <a:off x="650239" y="2275839"/>
            <a:ext cx="11704322" cy="7477761"/>
          </a:xfrm>
          <a:prstGeom prst="rect">
            <a:avLst/>
          </a:prstGeom>
        </p:spPr>
        <p:txBody>
          <a:bodyPr lIns="65023" tIns="65023" rIns="65023" bIns="65023" anchor="t">
            <a:noAutofit/>
          </a:bodyPr>
          <a:lstStyle>
            <a:lvl1pPr marL="471487" indent="-471487" defTabSz="914400">
              <a:spcBef>
                <a:spcPts val="700"/>
              </a:spcBef>
              <a:buSzPct val="100000"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marL="906235" indent="-449035" defTabSz="914400">
              <a:spcBef>
                <a:spcPts val="700"/>
              </a:spcBef>
              <a:buSzPct val="100000"/>
              <a:buChar char="–"/>
              <a:defRPr sz="4400">
                <a:latin typeface="Arial"/>
                <a:ea typeface="Arial"/>
                <a:cs typeface="Arial"/>
                <a:sym typeface="Arial"/>
              </a:defRPr>
            </a:lvl2pPr>
            <a:lvl3pPr indent="-419100" defTabSz="914400">
              <a:spcBef>
                <a:spcPts val="700"/>
              </a:spcBef>
              <a:buSzPct val="100000"/>
              <a:defRPr sz="4400">
                <a:latin typeface="Arial"/>
                <a:ea typeface="Arial"/>
                <a:cs typeface="Arial"/>
                <a:sym typeface="Arial"/>
              </a:defRPr>
            </a:lvl3pPr>
            <a:lvl4pPr marL="1874520" indent="-502920" defTabSz="914400">
              <a:spcBef>
                <a:spcPts val="700"/>
              </a:spcBef>
              <a:buSzPct val="100000"/>
              <a:buChar char="–"/>
              <a:defRPr sz="4400">
                <a:latin typeface="Arial"/>
                <a:ea typeface="Arial"/>
                <a:cs typeface="Arial"/>
                <a:sym typeface="Arial"/>
              </a:defRPr>
            </a:lvl4pPr>
            <a:lvl5pPr marL="2331720" indent="-502920" defTabSz="914400">
              <a:spcBef>
                <a:spcPts val="700"/>
              </a:spcBef>
              <a:buSzPct val="100000"/>
              <a:buChar char="»"/>
              <a:defRPr sz="4400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6" name="01"/>
          <p:cNvSpPr txBox="1">
            <a:spLocks noGrp="1"/>
          </p:cNvSpPr>
          <p:nvPr>
            <p:ph type="sldNum" sz="quarter" idx="2"/>
          </p:nvPr>
        </p:nvSpPr>
        <p:spPr>
          <a:xfrm>
            <a:off x="9320107" y="8882098"/>
            <a:ext cx="3034454" cy="389270"/>
          </a:xfrm>
          <a:prstGeom prst="rect">
            <a:avLst/>
          </a:prstGeom>
        </p:spPr>
        <p:txBody>
          <a:bodyPr wrap="square" lIns="65023" tIns="65023" rIns="65023" bIns="65023"/>
          <a:lstStyle>
            <a:lvl1pPr algn="r" defTabSz="914400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2" r:id="rId10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3526-9A76-521E-F2DF-D53358DD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7EBB0855-7A56-8CA9-AC71-5F6560D56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2800" dirty="0">
                <a:solidFill>
                  <a:srgbClr val="FF0000"/>
                </a:solidFill>
              </a:rPr>
              <a:t>选修二 </a:t>
            </a:r>
            <a:r>
              <a:rPr lang="en-US" altLang="zh-CN" sz="2800" dirty="0">
                <a:solidFill>
                  <a:srgbClr val="FF0000"/>
                </a:solidFill>
              </a:rPr>
              <a:t>U1 Reading: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The </a:t>
            </a:r>
            <a:r>
              <a:rPr lang="en-US" altLang="zh-CN" sz="2800" i="1" dirty="0"/>
              <a:t>junzi</a:t>
            </a:r>
            <a:r>
              <a:rPr lang="en-US" altLang="zh-CN" sz="2800" dirty="0"/>
              <a:t> always thinks about potential disasters in order to </a:t>
            </a:r>
            <a:r>
              <a:rPr lang="en-US" altLang="zh-CN" sz="2800" u="sng" dirty="0"/>
              <a:t>guard against</a:t>
            </a:r>
            <a:r>
              <a:rPr lang="en-US" altLang="zh-CN" sz="2800" dirty="0"/>
              <a:t> them </a:t>
            </a:r>
            <a:r>
              <a:rPr lang="en-US" altLang="zh-CN" sz="2800" u="sng" dirty="0"/>
              <a:t>beforehand</a:t>
            </a:r>
            <a:r>
              <a:rPr lang="en-US" altLang="zh-CN" sz="28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Covid-19 is caused by a new </a:t>
            </a:r>
            <a:r>
              <a:rPr lang="en-US" altLang="zh-CN" sz="2800" u="sng" dirty="0"/>
              <a:t>strain</a:t>
            </a:r>
            <a:r>
              <a:rPr lang="en-US" altLang="zh-CN" sz="2800" dirty="0"/>
              <a:t> of coronavirus.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u="sng" dirty="0"/>
              <a:t>Once entering</a:t>
            </a:r>
            <a:r>
              <a:rPr lang="en-US" altLang="zh-CN" sz="2800" dirty="0"/>
              <a:t> the body, the virus </a:t>
            </a:r>
            <a:r>
              <a:rPr lang="en-US" altLang="zh-CN" sz="2800" u="sng" dirty="0"/>
              <a:t>multiplies</a:t>
            </a:r>
            <a:r>
              <a:rPr lang="en-US" altLang="zh-CN" sz="2800" dirty="0"/>
              <a:t> inside the cell quickly and </a:t>
            </a:r>
            <a:r>
              <a:rPr lang="en-US" altLang="zh-CN" sz="2800" u="sng" dirty="0"/>
              <a:t>infects</a:t>
            </a:r>
            <a:r>
              <a:rPr lang="en-US" altLang="zh-CN" sz="2800" dirty="0"/>
              <a:t> neighboring cells.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Covid-19 is a highly infectious disease that can be </a:t>
            </a:r>
            <a:r>
              <a:rPr lang="en-US" altLang="zh-CN" sz="2800" u="sng" dirty="0"/>
              <a:t>transmitted</a:t>
            </a:r>
            <a:r>
              <a:rPr lang="en-US" altLang="zh-CN" sz="2800" dirty="0"/>
              <a:t> easily and swiftly from person to person.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u="sng" dirty="0"/>
              <a:t>What makes </a:t>
            </a:r>
            <a:r>
              <a:rPr lang="en-US" altLang="zh-CN" sz="2800" dirty="0"/>
              <a:t>this disease even more dangerous </a:t>
            </a:r>
            <a:r>
              <a:rPr lang="en-US" altLang="zh-CN" sz="2800" u="sng" dirty="0"/>
              <a:t>is that </a:t>
            </a:r>
            <a:r>
              <a:rPr lang="en-US" altLang="zh-CN" sz="2800" dirty="0"/>
              <a:t>infected </a:t>
            </a:r>
            <a:r>
              <a:rPr lang="en-US" altLang="zh-CN" sz="2800" u="sng" dirty="0"/>
              <a:t>people who </a:t>
            </a:r>
            <a:r>
              <a:rPr lang="en-US" altLang="zh-CN" sz="2800" dirty="0"/>
              <a:t>show no symptoms </a:t>
            </a:r>
            <a:r>
              <a:rPr lang="en-US" altLang="zh-CN" sz="2800" u="sng" dirty="0"/>
              <a:t>may</a:t>
            </a:r>
            <a:r>
              <a:rPr lang="en-US" altLang="zh-CN" sz="2800" dirty="0"/>
              <a:t> become unknowing carriers and spreaders of the virus.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Governments also </a:t>
            </a:r>
            <a:r>
              <a:rPr lang="en-US" altLang="zh-CN" sz="2800" u="sng" dirty="0"/>
              <a:t>joined forces with</a:t>
            </a:r>
            <a:r>
              <a:rPr lang="en-US" altLang="zh-CN" sz="2800" dirty="0"/>
              <a:t> leading research institutes so that vaccines could be developed </a:t>
            </a:r>
            <a:r>
              <a:rPr lang="en-US" altLang="zh-CN" sz="2800" u="sng" dirty="0"/>
              <a:t>in record time</a:t>
            </a:r>
            <a:r>
              <a:rPr lang="en-US" altLang="zh-CN" sz="28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Doctors and nurses worked around the clock and </a:t>
            </a:r>
            <a:r>
              <a:rPr lang="en-US" altLang="zh-CN" sz="2800" u="sng" dirty="0"/>
              <a:t>went wherever they were needed</a:t>
            </a:r>
            <a:r>
              <a:rPr lang="en-US" altLang="zh-CN" sz="2800" dirty="0"/>
              <a:t>, </a:t>
            </a:r>
            <a:r>
              <a:rPr lang="en-US" altLang="zh-CN" sz="2800" u="sng" dirty="0"/>
              <a:t>risking</a:t>
            </a:r>
            <a:r>
              <a:rPr lang="en-US" altLang="zh-CN" sz="2800" dirty="0"/>
              <a:t> their lives to tirelessly treat and care for patients.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u="sng" dirty="0"/>
              <a:t>Simple acts of kindness and generosity </a:t>
            </a:r>
            <a:r>
              <a:rPr lang="en-US" altLang="zh-CN" sz="2800" dirty="0"/>
              <a:t>were everywhere.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u="sng" dirty="0"/>
              <a:t>In the darkest days when </a:t>
            </a:r>
            <a:r>
              <a:rPr lang="en-US" altLang="zh-CN" sz="2800" dirty="0"/>
              <a:t>Covid-19 was doing its worst, the human spirit shone at its brightest.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u="sng" dirty="0"/>
              <a:t>By</a:t>
            </a:r>
            <a:r>
              <a:rPr lang="en-US" altLang="zh-CN" sz="2800" dirty="0"/>
              <a:t> staying </a:t>
            </a:r>
            <a:r>
              <a:rPr lang="en-US" altLang="zh-CN" sz="2800" u="sng" dirty="0"/>
              <a:t>alert</a:t>
            </a:r>
            <a:r>
              <a:rPr lang="en-US" altLang="zh-CN" sz="2800" dirty="0"/>
              <a:t> and following professional advice, we </a:t>
            </a:r>
            <a:r>
              <a:rPr lang="en-US" altLang="zh-CN" sz="2800" u="sng" dirty="0"/>
              <a:t>not only </a:t>
            </a:r>
            <a:r>
              <a:rPr lang="en-US" altLang="zh-CN" sz="2800" dirty="0"/>
              <a:t>protect ourselves, </a:t>
            </a:r>
            <a:r>
              <a:rPr lang="en-US" altLang="zh-CN" sz="2800" u="sng" dirty="0"/>
              <a:t>but also</a:t>
            </a:r>
            <a:r>
              <a:rPr lang="en-US" altLang="zh-CN" sz="2800" dirty="0"/>
              <a:t> help protect our fellow citizens.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We should live in a human community </a:t>
            </a:r>
            <a:r>
              <a:rPr lang="en-US" altLang="zh-CN" sz="2800" u="sng" dirty="0"/>
              <a:t>with a shared future</a:t>
            </a:r>
            <a:r>
              <a:rPr lang="en-US" altLang="zh-CN" sz="28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We need to support each other so that we can </a:t>
            </a:r>
            <a:r>
              <a:rPr lang="en-US" altLang="zh-CN" sz="2800" u="sng" dirty="0"/>
              <a:t>march confidently, arm in arm, into</a:t>
            </a:r>
            <a:r>
              <a:rPr lang="en-US" altLang="zh-CN" sz="2800" dirty="0"/>
              <a:t> a better and more secure future.</a:t>
            </a:r>
          </a:p>
        </p:txBody>
      </p:sp>
    </p:spTree>
    <p:extLst>
      <p:ext uri="{BB962C8B-B14F-4D97-AF65-F5344CB8AC3E}">
        <p14:creationId xmlns:p14="http://schemas.microsoft.com/office/powerpoint/2010/main" val="34734633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023D7-A89A-7AEB-8D5E-EB43A28C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9CD7C63C-A765-F3AD-EA2C-73EE23A50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U1 Grammar: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Rather than</a:t>
            </a:r>
            <a:r>
              <a:rPr lang="en-US" altLang="zh-CN" sz="3200" dirty="0"/>
              <a:t> do the </a:t>
            </a:r>
            <a:r>
              <a:rPr lang="en-US" altLang="zh-CN" sz="3200" u="sng" dirty="0"/>
              <a:t>sensible</a:t>
            </a:r>
            <a:r>
              <a:rPr lang="en-US" altLang="zh-CN" sz="3200" dirty="0"/>
              <a:t> thing of going to see a doctor, I searched the Internet for suitable painkillers.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was too lazy to </a:t>
            </a:r>
            <a:r>
              <a:rPr lang="en-US" altLang="zh-CN" sz="3200" u="sng" dirty="0"/>
              <a:t>drag</a:t>
            </a:r>
            <a:r>
              <a:rPr lang="en-US" altLang="zh-CN" sz="3200" dirty="0"/>
              <a:t> myself to the hospital.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</a:t>
            </a:r>
            <a:r>
              <a:rPr lang="en-US" altLang="zh-CN" sz="3200" u="sng" dirty="0"/>
              <a:t>ended up </a:t>
            </a:r>
            <a:r>
              <a:rPr lang="en-US" altLang="zh-CN" sz="3200" dirty="0"/>
              <a:t>making myself seriously ill.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began to lose my </a:t>
            </a:r>
            <a:r>
              <a:rPr lang="en-US" altLang="zh-CN" sz="3200" u="sng" dirty="0"/>
              <a:t>appetite</a:t>
            </a:r>
            <a:r>
              <a:rPr lang="en-US" altLang="zh-CN" sz="3200" dirty="0"/>
              <a:t> and feel tired.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had taken too many painkillers, which were </a:t>
            </a:r>
            <a:r>
              <a:rPr lang="en-US" altLang="zh-CN" sz="3200" u="sng" dirty="0"/>
              <a:t>irritating</a:t>
            </a:r>
            <a:r>
              <a:rPr lang="en-US" altLang="zh-CN" sz="3200" dirty="0"/>
              <a:t> the lining of my stomach.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</a:t>
            </a:r>
            <a:r>
              <a:rPr lang="en-US" altLang="zh-CN" sz="3200" u="sng" dirty="0"/>
              <a:t>learnt the hard way </a:t>
            </a:r>
            <a:r>
              <a:rPr lang="en-US" altLang="zh-CN" sz="3200" dirty="0"/>
              <a:t>that </a:t>
            </a:r>
            <a:r>
              <a:rPr lang="en-US" altLang="zh-CN" sz="3200" u="sng" dirty="0"/>
              <a:t>when it comes to </a:t>
            </a:r>
            <a:r>
              <a:rPr lang="en-US" altLang="zh-CN" sz="3200" dirty="0"/>
              <a:t>our own health…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Our body is our most priceless </a:t>
            </a:r>
            <a:r>
              <a:rPr lang="en-US" altLang="zh-CN" sz="3200" u="sng" dirty="0"/>
              <a:t>possession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amount of information that you need to </a:t>
            </a:r>
            <a:r>
              <a:rPr lang="en-US" altLang="zh-CN" sz="3200" u="sng" dirty="0"/>
              <a:t>keep track of </a:t>
            </a:r>
            <a:r>
              <a:rPr lang="en-US" altLang="zh-CN" sz="3200" dirty="0"/>
              <a:t>might sound </a:t>
            </a:r>
            <a:r>
              <a:rPr lang="en-US" altLang="zh-CN" sz="3200" u="sng" dirty="0"/>
              <a:t>excessive</a:t>
            </a:r>
            <a:r>
              <a:rPr lang="en-US" altLang="zh-CN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708419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055C-952F-6DD4-046C-6CA50488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3532EC28-7D8E-EC0A-7142-E3ECBFA3A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U1 Inte: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Internet has, in a relatively short </a:t>
            </a:r>
            <a:r>
              <a:rPr lang="en-US" altLang="zh-CN" sz="3200" u="sng" dirty="0"/>
              <a:t>span</a:t>
            </a:r>
            <a:r>
              <a:rPr lang="en-US" altLang="zh-CN" sz="3200" dirty="0"/>
              <a:t> of time, completely </a:t>
            </a:r>
            <a:r>
              <a:rPr lang="en-US" altLang="zh-CN" sz="3200" u="sng" dirty="0"/>
              <a:t>revolutionize</a:t>
            </a:r>
            <a:r>
              <a:rPr lang="en-US" altLang="zh-CN" sz="3200" dirty="0"/>
              <a:t>d how we communicate with each other, </a:t>
            </a:r>
            <a:r>
              <a:rPr lang="en-US" altLang="zh-CN" sz="3200" u="sng" dirty="0"/>
              <a:t>exchange</a:t>
            </a:r>
            <a:r>
              <a:rPr lang="en-US" altLang="zh-CN" sz="3200" dirty="0"/>
              <a:t> information and </a:t>
            </a:r>
            <a:r>
              <a:rPr lang="en-US" altLang="zh-CN" sz="3200" u="sng" dirty="0"/>
              <a:t>conduct </a:t>
            </a:r>
            <a:r>
              <a:rPr lang="en-US" altLang="zh-CN" sz="3200" dirty="0"/>
              <a:t>business.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An </a:t>
            </a:r>
            <a:r>
              <a:rPr lang="en-US" altLang="zh-CN" sz="3200" u="sng" dirty="0"/>
              <a:t>awareness</a:t>
            </a:r>
            <a:r>
              <a:rPr lang="en-US" altLang="zh-CN" sz="3200" dirty="0"/>
              <a:t> of cybercrime is essential.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Cybercriminals </a:t>
            </a:r>
            <a:r>
              <a:rPr lang="en-US" altLang="zh-CN" sz="3200" u="sng" dirty="0"/>
              <a:t>trick</a:t>
            </a:r>
            <a:r>
              <a:rPr lang="en-US" altLang="zh-CN" sz="3200" dirty="0"/>
              <a:t> you into </a:t>
            </a:r>
            <a:r>
              <a:rPr lang="en-US" altLang="zh-CN" sz="3200" u="sng" dirty="0"/>
              <a:t>parting with </a:t>
            </a:r>
            <a:r>
              <a:rPr lang="en-US" altLang="zh-CN" sz="3200" dirty="0"/>
              <a:t>your money.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You can take preventive measures to reduce your chances of </a:t>
            </a:r>
            <a:r>
              <a:rPr lang="en-US" altLang="zh-CN" sz="3200" u="sng" dirty="0"/>
              <a:t>falling victim to </a:t>
            </a:r>
            <a:r>
              <a:rPr lang="en-US" altLang="zh-CN" sz="3200" dirty="0"/>
              <a:t>such cybercrimes.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To avoid getting </a:t>
            </a:r>
            <a:r>
              <a:rPr lang="en-US" altLang="zh-CN" sz="3200" u="sng" dirty="0"/>
              <a:t>taken in (syn.)</a:t>
            </a:r>
            <a:r>
              <a:rPr lang="en-US" altLang="zh-CN" sz="3200" dirty="0"/>
              <a:t>, be </a:t>
            </a:r>
            <a:r>
              <a:rPr lang="en-US" altLang="zh-CN" sz="3200" u="sng" dirty="0"/>
              <a:t>cautious (syn.)</a:t>
            </a:r>
            <a:r>
              <a:rPr lang="en-US" altLang="zh-CN" sz="3200" dirty="0"/>
              <a:t> about advertisements offering bargains and rewards that seem too good to be true.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keep your software and operating system </a:t>
            </a:r>
            <a:r>
              <a:rPr lang="en-US" altLang="zh-CN" sz="3200" u="sng" dirty="0"/>
              <a:t>up to date</a:t>
            </a:r>
          </a:p>
        </p:txBody>
      </p:sp>
    </p:spTree>
    <p:extLst>
      <p:ext uri="{BB962C8B-B14F-4D97-AF65-F5344CB8AC3E}">
        <p14:creationId xmlns:p14="http://schemas.microsoft.com/office/powerpoint/2010/main" val="275314700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751E-9E36-92E5-F9D7-56763015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F6E5ED6A-0F9F-5812-13E1-E5975B40E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U1 Ext: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have witnessed the destructive </a:t>
            </a:r>
            <a:r>
              <a:rPr lang="en-US" altLang="zh-CN" sz="3200" u="sng" dirty="0"/>
              <a:t>impact</a:t>
            </a:r>
            <a:r>
              <a:rPr lang="en-US" altLang="zh-CN" sz="3200" dirty="0"/>
              <a:t> that drugs can </a:t>
            </a:r>
            <a:r>
              <a:rPr lang="en-US" altLang="zh-CN" sz="3200" u="sng" dirty="0"/>
              <a:t>have on </a:t>
            </a:r>
            <a:r>
              <a:rPr lang="en-US" altLang="zh-CN" sz="3200" dirty="0"/>
              <a:t>individuals. (</a:t>
            </a:r>
            <a:r>
              <a:rPr lang="zh-CN" altLang="en-US" sz="3200" dirty="0"/>
              <a:t>前加不同形容词造句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I have seen how </a:t>
            </a:r>
            <a:r>
              <a:rPr lang="en-US" altLang="zh-CN" sz="3200" dirty="0"/>
              <a:t>families are </a:t>
            </a:r>
            <a:r>
              <a:rPr lang="en-US" altLang="zh-CN" sz="3200" u="sng" dirty="0"/>
              <a:t>torn apart</a:t>
            </a:r>
            <a:r>
              <a:rPr lang="en-US" altLang="zh-CN" sz="3200" dirty="0"/>
              <a:t> after a family member has become addicted to drugs.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will not </a:t>
            </a:r>
            <a:r>
              <a:rPr lang="en-US" altLang="zh-CN" sz="3200" u="sng" dirty="0"/>
              <a:t>exaggerate</a:t>
            </a:r>
            <a:r>
              <a:rPr lang="en-US" altLang="zh-CN" sz="3200" dirty="0"/>
              <a:t> the scale of the problem, as the facts </a:t>
            </a:r>
            <a:r>
              <a:rPr lang="en-US" altLang="zh-CN" sz="3200" u="sng" dirty="0"/>
              <a:t>speak for themselves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Drugs </a:t>
            </a:r>
            <a:r>
              <a:rPr lang="en-US" altLang="zh-CN" sz="3200" u="sng" dirty="0"/>
              <a:t>interfere with </a:t>
            </a:r>
            <a:r>
              <a:rPr lang="en-US" altLang="zh-CN" sz="3200" dirty="0"/>
              <a:t>a person’s ability to make sensible decisions.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This can lead to not only financial </a:t>
            </a:r>
            <a:r>
              <a:rPr lang="en-US" altLang="zh-CN" sz="3200" u="sng" dirty="0"/>
              <a:t>hardship (</a:t>
            </a:r>
            <a:r>
              <a:rPr lang="zh-CN" altLang="en-US" sz="3200" u="sng" dirty="0"/>
              <a:t>造句</a:t>
            </a:r>
            <a:r>
              <a:rPr lang="en-US" altLang="zh-CN" sz="3200" u="sng" dirty="0"/>
              <a:t>+syn.</a:t>
            </a:r>
            <a:r>
              <a:rPr lang="zh-CN" altLang="en-US" sz="3200" u="sng" dirty="0"/>
              <a:t>造句</a:t>
            </a:r>
            <a:r>
              <a:rPr lang="en-US" altLang="zh-CN" sz="3200" u="sng" dirty="0"/>
              <a:t>)</a:t>
            </a:r>
            <a:r>
              <a:rPr lang="en-US" altLang="zh-CN" sz="3200" dirty="0"/>
              <a:t> but also the breakdown of once strong family relationships. 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criminal underworld quickly develops, </a:t>
            </a:r>
            <a:r>
              <a:rPr lang="en-US" altLang="zh-CN" sz="3200" u="sng" dirty="0"/>
              <a:t>eating away at (+syn.</a:t>
            </a:r>
            <a:r>
              <a:rPr lang="zh-CN" altLang="en-US" sz="3200" u="sng" dirty="0"/>
              <a:t>造句</a:t>
            </a:r>
            <a:r>
              <a:rPr lang="en-US" altLang="zh-CN" sz="3200" u="sng" dirty="0"/>
              <a:t>)</a:t>
            </a:r>
            <a:r>
              <a:rPr lang="en-US" altLang="zh-CN" sz="3200" dirty="0"/>
              <a:t> the fabric of society.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Some people </a:t>
            </a:r>
            <a:r>
              <a:rPr lang="en-US" altLang="zh-CN" sz="3200" u="sng" dirty="0"/>
              <a:t>regard(</a:t>
            </a:r>
            <a:r>
              <a:rPr lang="zh-CN" altLang="en-US" sz="3200" u="sng" dirty="0"/>
              <a:t>换</a:t>
            </a:r>
            <a:r>
              <a:rPr lang="en-US" altLang="zh-CN" sz="3200" u="sng" dirty="0"/>
              <a:t>)</a:t>
            </a:r>
            <a:r>
              <a:rPr lang="en-US" altLang="zh-CN" sz="3200" dirty="0"/>
              <a:t> drug use </a:t>
            </a:r>
            <a:r>
              <a:rPr lang="en-US" altLang="zh-CN" sz="3200" u="sng" dirty="0"/>
              <a:t>as an escape from</a:t>
            </a:r>
            <a:r>
              <a:rPr lang="en-US" altLang="zh-CN" sz="3200" dirty="0"/>
              <a:t> the stresses of everyday life.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The more</a:t>
            </a:r>
            <a:r>
              <a:rPr lang="en-US" altLang="zh-CN" sz="3200" dirty="0"/>
              <a:t> you know about the consequences, </a:t>
            </a:r>
            <a:r>
              <a:rPr lang="en-US" altLang="zh-CN" sz="3200" u="sng" dirty="0"/>
              <a:t>the more</a:t>
            </a:r>
            <a:r>
              <a:rPr lang="en-US" altLang="zh-CN" sz="3200" dirty="0"/>
              <a:t> likely you are to stay away from them. (</a:t>
            </a:r>
            <a:r>
              <a:rPr lang="zh-CN" altLang="en-US" sz="3200" dirty="0"/>
              <a:t>造长句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Should you </a:t>
            </a:r>
            <a:r>
              <a:rPr lang="en-US" altLang="zh-CN" sz="3200" dirty="0"/>
              <a:t>come under pressure, you must immediately seek assistance from an adult. (</a:t>
            </a:r>
            <a:r>
              <a:rPr lang="zh-CN" altLang="en-US" sz="3200" dirty="0"/>
              <a:t>虚拟倒装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068946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3A890-FE63-FFF1-C6AE-92D51726B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8BFD2654-3F68-0415-3C3B-20435EF96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U2 Reading: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All that </a:t>
            </a:r>
            <a:r>
              <a:rPr lang="en-US" altLang="zh-CN" sz="3200" dirty="0"/>
              <a:t>remained </a:t>
            </a:r>
            <a:r>
              <a:rPr lang="en-US" altLang="zh-CN" sz="3200" u="sng" dirty="0"/>
              <a:t>was</a:t>
            </a:r>
            <a:r>
              <a:rPr lang="en-US" altLang="zh-CN" sz="3200" dirty="0"/>
              <a:t> a deserted village.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</a:t>
            </a:r>
            <a:r>
              <a:rPr lang="en-US" altLang="zh-CN" sz="3200" u="sng" dirty="0"/>
              <a:t>scenario</a:t>
            </a:r>
            <a:r>
              <a:rPr lang="en-US" altLang="zh-CN" sz="3200" dirty="0"/>
              <a:t> is tragic.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Actually, </a:t>
            </a:r>
            <a:r>
              <a:rPr lang="en-US" altLang="zh-CN" sz="3200" u="sng" dirty="0"/>
              <a:t>once burnt</a:t>
            </a:r>
            <a:r>
              <a:rPr lang="en-US" altLang="zh-CN" sz="3200" dirty="0"/>
              <a:t>, they produce a large quantity of carbon dioxide, </a:t>
            </a:r>
            <a:r>
              <a:rPr lang="en-US" altLang="zh-CN" sz="3200" u="sng" dirty="0"/>
              <a:t>which in turn traps </a:t>
            </a:r>
            <a:r>
              <a:rPr lang="en-US" altLang="zh-CN" sz="3200" dirty="0"/>
              <a:t>heat and causes global warming.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 move towards clean, renewable energy is </a:t>
            </a:r>
            <a:r>
              <a:rPr lang="en-US" altLang="zh-CN" sz="3200" u="sng" dirty="0"/>
              <a:t>inevitable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In contrast</a:t>
            </a:r>
            <a:r>
              <a:rPr lang="en-US" altLang="zh-CN" sz="3200" dirty="0"/>
              <a:t>, renewable energy sources are basically inexhaustible.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Renewable energy consumption </a:t>
            </a:r>
            <a:r>
              <a:rPr lang="en-US" altLang="zh-CN" sz="3200" u="sng" dirty="0"/>
              <a:t>accounts for </a:t>
            </a:r>
            <a:r>
              <a:rPr lang="en-US" altLang="zh-CN" sz="3200" dirty="0"/>
              <a:t>20 per cent of…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Better still</a:t>
            </a:r>
            <a:r>
              <a:rPr lang="en-US" altLang="zh-CN" sz="3200" dirty="0"/>
              <a:t>, they are completely recyclable.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Looking forward</a:t>
            </a:r>
            <a:r>
              <a:rPr lang="en-US" altLang="zh-CN" sz="3200" dirty="0"/>
              <a:t>, we should invest in new technologies.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Traditional architectural designs contribute to </a:t>
            </a:r>
            <a:r>
              <a:rPr lang="en-US" altLang="zh-CN" sz="3200" u="sng" dirty="0"/>
              <a:t>depleting</a:t>
            </a:r>
            <a:r>
              <a:rPr lang="en-US" altLang="zh-CN" sz="3200" dirty="0"/>
              <a:t> the Earth’s natural resources, which in turn </a:t>
            </a:r>
            <a:r>
              <a:rPr lang="en-US" altLang="zh-CN" sz="3200" u="sng" dirty="0"/>
              <a:t>accelerates</a:t>
            </a:r>
            <a:r>
              <a:rPr lang="en-US" altLang="zh-CN" sz="3200" dirty="0"/>
              <a:t> global warming.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design </a:t>
            </a:r>
            <a:r>
              <a:rPr lang="en-US" altLang="zh-CN" sz="3200" u="sng" dirty="0"/>
              <a:t>optimizes</a:t>
            </a:r>
            <a:r>
              <a:rPr lang="en-US" altLang="zh-CN" sz="3200" dirty="0"/>
              <a:t> sunlight.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It can protect the building against </a:t>
            </a:r>
            <a:r>
              <a:rPr lang="en-US" altLang="zh-CN" sz="3200" u="sng" dirty="0"/>
              <a:t>excessive</a:t>
            </a:r>
            <a:r>
              <a:rPr lang="en-US" altLang="zh-CN" sz="3200" dirty="0"/>
              <a:t> </a:t>
            </a:r>
            <a:r>
              <a:rPr lang="en-US" altLang="zh-CN" sz="3200" u="sng" dirty="0"/>
              <a:t>exposure to </a:t>
            </a:r>
            <a:r>
              <a:rPr lang="en-US" altLang="zh-CN" sz="3200" dirty="0"/>
              <a:t>sunlight.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China is </a:t>
            </a:r>
            <a:r>
              <a:rPr lang="en-US" altLang="zh-CN" sz="3200" u="sng" dirty="0"/>
              <a:t>implementing</a:t>
            </a:r>
            <a:r>
              <a:rPr lang="en-US" altLang="zh-CN" sz="3200" dirty="0"/>
              <a:t> plans to reduce energy-inefficient buildings.</a:t>
            </a:r>
          </a:p>
        </p:txBody>
      </p:sp>
    </p:spTree>
    <p:extLst>
      <p:ext uri="{BB962C8B-B14F-4D97-AF65-F5344CB8AC3E}">
        <p14:creationId xmlns:p14="http://schemas.microsoft.com/office/powerpoint/2010/main" val="373664157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A112-55EB-D38C-733A-6D26B2DE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530D5642-14AA-1490-3391-61FF056DB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U2 Grammar: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Mount </a:t>
            </a:r>
            <a:r>
              <a:rPr lang="en-US" altLang="zh-CN" sz="3200" dirty="0" err="1"/>
              <a:t>Qomolangma</a:t>
            </a:r>
            <a:r>
              <a:rPr lang="en-US" altLang="zh-CN" sz="3200" dirty="0"/>
              <a:t> draws many mountaineers, </a:t>
            </a:r>
            <a:r>
              <a:rPr lang="en-US" altLang="zh-CN" sz="3200" u="sng" dirty="0"/>
              <a:t>some of whom </a:t>
            </a:r>
            <a:r>
              <a:rPr lang="en-US" altLang="zh-CN" sz="3200" dirty="0"/>
              <a:t>throw away rubbish. (</a:t>
            </a:r>
            <a:r>
              <a:rPr lang="zh-CN" altLang="en-US" sz="3200" dirty="0"/>
              <a:t>改定从： </a:t>
            </a:r>
            <a:r>
              <a:rPr lang="en-US" altLang="zh-CN" sz="3200" dirty="0"/>
              <a:t>…of whom/which</a:t>
            </a:r>
            <a:r>
              <a:rPr lang="zh-CN" altLang="en-US" sz="3200" dirty="0"/>
              <a:t>造句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Water quality is </a:t>
            </a:r>
            <a:r>
              <a:rPr lang="en-US" altLang="zh-CN" sz="3200" u="sng" dirty="0"/>
              <a:t>degraded</a:t>
            </a:r>
            <a:r>
              <a:rPr lang="en-US" altLang="zh-CN" sz="3200" dirty="0"/>
              <a:t> by contamination.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If the problem is not </a:t>
            </a:r>
            <a:r>
              <a:rPr lang="en-US" altLang="zh-CN" sz="3200" u="sng" dirty="0"/>
              <a:t>addressed (</a:t>
            </a:r>
            <a:r>
              <a:rPr lang="zh-CN" altLang="en-US" sz="3200" u="sng" dirty="0"/>
              <a:t>用其近义词</a:t>
            </a:r>
            <a:r>
              <a:rPr lang="en-US" altLang="zh-CN" sz="3200" u="sng" dirty="0"/>
              <a:t>(</a:t>
            </a:r>
            <a:r>
              <a:rPr lang="zh-CN" altLang="en-US" sz="3200" u="sng" dirty="0"/>
              <a:t>组</a:t>
            </a:r>
            <a:r>
              <a:rPr lang="en-US" altLang="zh-CN" sz="3200" u="sng" dirty="0"/>
              <a:t>)</a:t>
            </a:r>
            <a:r>
              <a:rPr lang="zh-CN" altLang="en-US" sz="3200" u="sng" dirty="0"/>
              <a:t>造句</a:t>
            </a:r>
            <a:r>
              <a:rPr lang="en-US" altLang="zh-CN" sz="3200" u="sng" dirty="0"/>
              <a:t>)</a:t>
            </a:r>
            <a:r>
              <a:rPr lang="en-US" altLang="zh-CN" sz="3200" dirty="0"/>
              <a:t>, it will certainly damage our environment </a:t>
            </a:r>
            <a:r>
              <a:rPr lang="en-US" altLang="zh-CN" sz="3200" u="sng" dirty="0"/>
              <a:t>permanently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As plastic travels through the food chain, its impact reaches the very </a:t>
            </a:r>
            <a:r>
              <a:rPr lang="en-US" altLang="zh-CN" sz="3200" u="sng" dirty="0"/>
              <a:t>top</a:t>
            </a:r>
            <a:r>
              <a:rPr lang="en-US" altLang="zh-CN" sz="3200" dirty="0"/>
              <a:t>. (top n.</a:t>
            </a:r>
            <a:r>
              <a:rPr lang="zh-CN" altLang="en-US" sz="3200" dirty="0"/>
              <a:t>词组</a:t>
            </a:r>
            <a:r>
              <a:rPr lang="en-US" altLang="zh-CN" sz="3200" dirty="0"/>
              <a:t>+</a:t>
            </a:r>
            <a:r>
              <a:rPr lang="zh-CN" altLang="en-US" sz="3200" dirty="0"/>
              <a:t>作</a:t>
            </a:r>
            <a:r>
              <a:rPr lang="en-US" altLang="zh-CN" sz="3200" dirty="0"/>
              <a:t>v.</a:t>
            </a:r>
            <a:r>
              <a:rPr lang="zh-CN" altLang="en-US" sz="3200" dirty="0"/>
              <a:t>各造一句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These single-use plastic items </a:t>
            </a:r>
            <a:r>
              <a:rPr lang="en-US" altLang="zh-CN" sz="3200" u="sng" dirty="0"/>
              <a:t>wind up </a:t>
            </a:r>
            <a:r>
              <a:rPr lang="en-US" altLang="zh-CN" sz="3200" dirty="0"/>
              <a:t>in landfills.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These eatable spoons offer a waste-free </a:t>
            </a:r>
            <a:r>
              <a:rPr lang="en-US" altLang="zh-CN" sz="3200" u="sng" dirty="0"/>
              <a:t>alternative to </a:t>
            </a:r>
            <a:r>
              <a:rPr lang="en-US" altLang="zh-CN" sz="3200" dirty="0"/>
              <a:t>traditional plastic spoons and are just as functional. (substitute</a:t>
            </a:r>
            <a:r>
              <a:rPr lang="zh-CN" altLang="en-US" sz="3200" dirty="0"/>
              <a:t>也造句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690444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0B665-D029-4D80-8C40-8630242A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D1F53A91-CEF9-A6A6-40E9-D652F2E072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U2 Inte: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Imperfect fruit and vegetables are often </a:t>
            </a:r>
            <a:r>
              <a:rPr lang="en-US" altLang="zh-CN" sz="3200" u="sng" dirty="0"/>
              <a:t>rejected</a:t>
            </a:r>
            <a:r>
              <a:rPr lang="en-US" altLang="zh-CN" sz="3200" dirty="0"/>
              <a:t> at retail stores.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…, which was already a traditional Chinese </a:t>
            </a:r>
            <a:r>
              <a:rPr lang="en-US" altLang="zh-CN" sz="3200" u="sng" dirty="0"/>
              <a:t>virtue</a:t>
            </a:r>
            <a:r>
              <a:rPr lang="en-US" altLang="zh-CN" sz="3200" dirty="0"/>
              <a:t> at that time. (</a:t>
            </a:r>
            <a:r>
              <a:rPr lang="zh-CN" altLang="en-US" sz="3200" dirty="0"/>
              <a:t>“美德</a:t>
            </a:r>
            <a:r>
              <a:rPr lang="en-US" altLang="zh-CN" sz="3200" dirty="0"/>
              <a:t>,</a:t>
            </a:r>
            <a:r>
              <a:rPr lang="zh-CN" altLang="en-US" sz="3200" dirty="0"/>
              <a:t>优点”造句；</a:t>
            </a:r>
            <a:r>
              <a:rPr lang="en-US" altLang="zh-CN" sz="3200" dirty="0"/>
              <a:t> “</a:t>
            </a:r>
            <a:r>
              <a:rPr lang="zh-CN" altLang="en-US" sz="3200" dirty="0"/>
              <a:t>凭借”造句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Food waste has </a:t>
            </a:r>
            <a:r>
              <a:rPr lang="en-US" altLang="zh-CN" sz="3200" u="sng" dirty="0"/>
              <a:t>become a growing concern</a:t>
            </a:r>
            <a:r>
              <a:rPr lang="en-US" altLang="zh-CN" sz="3200" dirty="0"/>
              <a:t>. (</a:t>
            </a:r>
            <a:r>
              <a:rPr lang="zh-CN" altLang="en-US" sz="3200" dirty="0"/>
              <a:t>可改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“Clean Plate” campaign, which </a:t>
            </a:r>
            <a:r>
              <a:rPr lang="en-US" altLang="zh-CN" sz="3200" u="sng" dirty="0"/>
              <a:t>urges</a:t>
            </a:r>
            <a:r>
              <a:rPr lang="en-US" altLang="zh-CN" sz="3200" dirty="0"/>
              <a:t> people to order…(v./n.</a:t>
            </a:r>
            <a:r>
              <a:rPr lang="zh-CN" altLang="en-US" sz="3200" dirty="0"/>
              <a:t>各一句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campaign </a:t>
            </a:r>
            <a:r>
              <a:rPr lang="en-US" altLang="zh-CN" sz="3200" u="sng" dirty="0"/>
              <a:t>is intended to </a:t>
            </a:r>
            <a:r>
              <a:rPr lang="en-US" altLang="zh-CN" sz="3200" dirty="0"/>
              <a:t>raise public awareness of…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Many communities encourage…, ensuring it becomes a </a:t>
            </a:r>
            <a:r>
              <a:rPr lang="en-US" altLang="zh-CN" sz="3200" u="sng" dirty="0"/>
              <a:t>conscious</a:t>
            </a:r>
            <a:r>
              <a:rPr lang="en-US" altLang="zh-CN" sz="3200" dirty="0"/>
              <a:t> practice.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…, which aims to prevent food waste, </a:t>
            </a:r>
            <a:r>
              <a:rPr lang="en-US" altLang="zh-CN" sz="3200" u="sng" dirty="0"/>
              <a:t>safeguard</a:t>
            </a:r>
            <a:r>
              <a:rPr lang="en-US" altLang="zh-CN" sz="3200" dirty="0"/>
              <a:t> food security.</a:t>
            </a:r>
          </a:p>
        </p:txBody>
      </p:sp>
    </p:spTree>
    <p:extLst>
      <p:ext uri="{BB962C8B-B14F-4D97-AF65-F5344CB8AC3E}">
        <p14:creationId xmlns:p14="http://schemas.microsoft.com/office/powerpoint/2010/main" val="285908434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F4A8-0E10-C60A-8C20-83BFFE95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AA7CFE90-9B39-89A0-69BE-A7414E5D9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U2 Ext: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Scattered</a:t>
            </a:r>
            <a:r>
              <a:rPr lang="en-US" altLang="zh-CN" sz="3200" dirty="0"/>
              <a:t> across this ocean are thousands of islands. (</a:t>
            </a:r>
            <a:r>
              <a:rPr lang="zh-CN" altLang="en-US" sz="3200" dirty="0"/>
              <a:t>单词造句；表语句首的倒装造句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As</a:t>
            </a:r>
            <a:r>
              <a:rPr lang="en-US" altLang="zh-CN" sz="3200" dirty="0"/>
              <a:t> global temperatures increase, </a:t>
            </a:r>
            <a:r>
              <a:rPr lang="en-US" altLang="zh-CN" sz="3200" u="sng" dirty="0"/>
              <a:t>so do </a:t>
            </a:r>
            <a:r>
              <a:rPr lang="en-US" altLang="zh-CN" sz="3200" dirty="0"/>
              <a:t>sea levels.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Water moves further inland to </a:t>
            </a:r>
            <a:r>
              <a:rPr lang="en-US" altLang="zh-CN" sz="3200" u="sng" dirty="0"/>
              <a:t>flow</a:t>
            </a:r>
            <a:r>
              <a:rPr lang="en-US" altLang="zh-CN" sz="3200" dirty="0"/>
              <a:t> into houses. (</a:t>
            </a:r>
            <a:r>
              <a:rPr lang="en-US" altLang="zh-CN" sz="3200" dirty="0" err="1"/>
              <a:t>flow&amp;overflow</a:t>
            </a:r>
            <a:r>
              <a:rPr lang="zh-CN" altLang="en-US" sz="3200" dirty="0"/>
              <a:t>各一句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Five of the islands have already </a:t>
            </a:r>
            <a:r>
              <a:rPr lang="en-US" altLang="zh-CN" sz="3200" u="sng" dirty="0"/>
              <a:t>vanished</a:t>
            </a:r>
            <a:r>
              <a:rPr lang="en-US" altLang="zh-CN" sz="3200" dirty="0"/>
              <a:t> beneath the waves.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Growing sea levels interfere with some islands’ natural </a:t>
            </a:r>
            <a:r>
              <a:rPr lang="en-US" altLang="zh-CN" sz="3200" u="sng" dirty="0"/>
              <a:t>reshaping</a:t>
            </a:r>
            <a:r>
              <a:rPr lang="en-US" altLang="zh-CN" sz="3200" dirty="0"/>
              <a:t> processes.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Extreme temperatures </a:t>
            </a:r>
            <a:r>
              <a:rPr lang="en-US" altLang="zh-CN" sz="3200" u="sng" dirty="0"/>
              <a:t>generate</a:t>
            </a:r>
            <a:r>
              <a:rPr lang="en-US" altLang="zh-CN" sz="3200" dirty="0"/>
              <a:t> extreme rainfall patterns.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Despite the challenges</a:t>
            </a:r>
            <a:r>
              <a:rPr lang="en-US" altLang="zh-CN" sz="3200" dirty="0"/>
              <a:t>, the islanders are not giving up. (</a:t>
            </a:r>
            <a:r>
              <a:rPr lang="zh-CN" altLang="en-US" sz="3200" dirty="0"/>
              <a:t>词组加长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hills provide </a:t>
            </a:r>
            <a:r>
              <a:rPr lang="en-US" altLang="zh-CN" sz="3200" u="sng" dirty="0"/>
              <a:t>refuge</a:t>
            </a:r>
            <a:r>
              <a:rPr lang="en-US" altLang="zh-CN" sz="3200" dirty="0"/>
              <a:t> from the rising sea.</a:t>
            </a:r>
          </a:p>
        </p:txBody>
      </p:sp>
    </p:spTree>
    <p:extLst>
      <p:ext uri="{BB962C8B-B14F-4D97-AF65-F5344CB8AC3E}">
        <p14:creationId xmlns:p14="http://schemas.microsoft.com/office/powerpoint/2010/main" val="71958847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EF5D1-4970-5A93-D81A-F3C24E36C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4B641E4A-0FA8-64FF-C3E5-F9EA142E0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U3 Reading: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Cities lay in ruins, economies were destroyed, people were killed, and families across the globe were homeless and </a:t>
            </a:r>
            <a:r>
              <a:rPr lang="en-US" altLang="zh-CN" sz="3200" u="sng" dirty="0"/>
              <a:t>mourn</a:t>
            </a:r>
            <a:r>
              <a:rPr lang="en-US" altLang="zh-CN" sz="3200" dirty="0"/>
              <a:t>ing the loss of loved ones. (3-4</a:t>
            </a:r>
            <a:r>
              <a:rPr lang="zh-CN" altLang="en-US" sz="3200" dirty="0"/>
              <a:t>句话排比句；</a:t>
            </a:r>
            <a:r>
              <a:rPr lang="en-US" altLang="zh-CN" sz="3200" dirty="0"/>
              <a:t>mourn/ grieve)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World War Ⅱ had </a:t>
            </a:r>
            <a:r>
              <a:rPr lang="en-US" altLang="zh-CN" sz="3200" u="sng" dirty="0"/>
              <a:t>shattered</a:t>
            </a:r>
            <a:r>
              <a:rPr lang="en-US" altLang="zh-CN" sz="3200" dirty="0"/>
              <a:t> people’s lives everywhere.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From the ashes of this </a:t>
            </a:r>
            <a:r>
              <a:rPr lang="en-US" altLang="zh-CN" sz="3200" u="sng" dirty="0"/>
              <a:t>utter</a:t>
            </a:r>
            <a:r>
              <a:rPr lang="en-US" altLang="zh-CN" sz="3200" dirty="0"/>
              <a:t> destruction rose the organization. (</a:t>
            </a:r>
            <a:r>
              <a:rPr lang="zh-CN" altLang="en-US" sz="3200" dirty="0"/>
              <a:t>作</a:t>
            </a:r>
            <a:r>
              <a:rPr lang="en-US" altLang="zh-CN" sz="3200" dirty="0"/>
              <a:t>adj.)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UN has </a:t>
            </a:r>
            <a:r>
              <a:rPr lang="en-US" altLang="zh-CN" sz="3200" u="sng" dirty="0"/>
              <a:t>been committed to </a:t>
            </a:r>
            <a:r>
              <a:rPr lang="en-US" altLang="zh-CN" sz="3200" dirty="0"/>
              <a:t>fulfilling its ambition of…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These figures are both depressing and </a:t>
            </a:r>
            <a:r>
              <a:rPr lang="en-US" altLang="zh-CN" sz="3200" u="sng" dirty="0"/>
              <a:t>distressing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Health, education and standard of living are three key </a:t>
            </a:r>
            <a:r>
              <a:rPr lang="en-US" altLang="zh-CN" sz="3200" u="sng" dirty="0"/>
              <a:t>dimension</a:t>
            </a:r>
            <a:r>
              <a:rPr lang="en-US" altLang="zh-CN" sz="3200" dirty="0"/>
              <a:t>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build </a:t>
            </a:r>
            <a:r>
              <a:rPr lang="en-US" altLang="zh-CN" sz="3200" u="sng" dirty="0"/>
              <a:t>prosperous</a:t>
            </a:r>
            <a:r>
              <a:rPr lang="en-US" altLang="zh-CN" sz="3200" dirty="0"/>
              <a:t>, healthy and fair societies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It will adopt a </a:t>
            </a:r>
            <a:r>
              <a:rPr lang="en-US" altLang="zh-CN" sz="3200" u="sng" dirty="0"/>
              <a:t>resolution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UN peacekeepers will be </a:t>
            </a:r>
            <a:r>
              <a:rPr lang="en-US" altLang="zh-CN" sz="3200" u="sng" dirty="0"/>
              <a:t>deploy</a:t>
            </a:r>
            <a:r>
              <a:rPr lang="en-US" altLang="zh-CN" sz="3200" dirty="0"/>
              <a:t>ed to address local conflicts.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Their service and </a:t>
            </a:r>
            <a:r>
              <a:rPr lang="en-US" altLang="zh-CN" sz="3200" u="sng" dirty="0"/>
              <a:t>sacrifice</a:t>
            </a:r>
            <a:r>
              <a:rPr lang="en-US" altLang="zh-CN" sz="3200" dirty="0"/>
              <a:t> have made a difference to the lives of others.</a:t>
            </a:r>
          </a:p>
        </p:txBody>
      </p:sp>
    </p:spTree>
    <p:extLst>
      <p:ext uri="{BB962C8B-B14F-4D97-AF65-F5344CB8AC3E}">
        <p14:creationId xmlns:p14="http://schemas.microsoft.com/office/powerpoint/2010/main" val="34978401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9F68-DDF9-B060-DFF5-43F21D73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BFCEEA47-CABD-8368-1BB6-FA5547D08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U3 Grammar: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Millions of people are </a:t>
            </a:r>
            <a:r>
              <a:rPr lang="en-US" altLang="zh-CN" sz="3200" u="sng" dirty="0"/>
              <a:t>displaced </a:t>
            </a:r>
            <a:r>
              <a:rPr lang="en-US" altLang="zh-CN" sz="3200" dirty="0"/>
              <a:t>by disasters.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Such was the situation for the people of Mosul. (Such</a:t>
            </a:r>
            <a:r>
              <a:rPr lang="zh-CN" altLang="en-US" sz="3200" dirty="0"/>
              <a:t>句首倒装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Shadows of </a:t>
            </a:r>
            <a:r>
              <a:rPr lang="en-US" altLang="zh-CN" sz="3200" dirty="0"/>
              <a:t>famine and disease </a:t>
            </a:r>
            <a:r>
              <a:rPr lang="en-US" altLang="zh-CN" sz="3200" u="sng" dirty="0"/>
              <a:t>hung over </a:t>
            </a:r>
            <a:r>
              <a:rPr lang="en-US" altLang="zh-CN" sz="3200" dirty="0"/>
              <a:t>them. (</a:t>
            </a:r>
            <a:r>
              <a:rPr lang="zh-CN" altLang="en-US" sz="3200" dirty="0"/>
              <a:t>句式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WFP’s short-term </a:t>
            </a:r>
            <a:r>
              <a:rPr lang="en-US" altLang="zh-CN" sz="3200" u="sng" dirty="0"/>
              <a:t>intervention</a:t>
            </a:r>
            <a:r>
              <a:rPr lang="en-US" altLang="zh-CN" sz="3200" dirty="0"/>
              <a:t> helps make this small step of their dangerous journey easier.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Sahrawi people live in extremely </a:t>
            </a:r>
            <a:r>
              <a:rPr lang="en-US" altLang="zh-CN" sz="3200" u="sng" dirty="0"/>
              <a:t>harsh</a:t>
            </a:r>
            <a:r>
              <a:rPr lang="en-US" altLang="zh-CN" sz="3200" dirty="0"/>
              <a:t> conditions.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This also </a:t>
            </a:r>
            <a:r>
              <a:rPr lang="en-US" altLang="zh-CN" sz="3200" u="sng" dirty="0"/>
              <a:t>takes its toll on </a:t>
            </a:r>
            <a:r>
              <a:rPr lang="en-US" altLang="zh-CN" sz="3200" dirty="0"/>
              <a:t>people.</a:t>
            </a:r>
          </a:p>
        </p:txBody>
      </p:sp>
    </p:spTree>
    <p:extLst>
      <p:ext uri="{BB962C8B-B14F-4D97-AF65-F5344CB8AC3E}">
        <p14:creationId xmlns:p14="http://schemas.microsoft.com/office/powerpoint/2010/main" val="76119390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5DAC-03D5-4321-9C60-34E5AFC4B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798EA240-41EB-EADF-94C0-AE103E1C1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U3 Inte: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Life’s most </a:t>
            </a:r>
            <a:r>
              <a:rPr lang="en-US" altLang="zh-CN" sz="3200" u="sng" dirty="0"/>
              <a:t>persistent</a:t>
            </a:r>
            <a:r>
              <a:rPr lang="en-US" altLang="zh-CN" sz="3200" dirty="0"/>
              <a:t> and urgent question is…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King put great effort into the </a:t>
            </a:r>
            <a:r>
              <a:rPr lang="en-US" altLang="zh-CN" sz="3200" u="sng" dirty="0"/>
              <a:t>worthy cause </a:t>
            </a:r>
            <a:r>
              <a:rPr lang="en-US" altLang="zh-CN" sz="3200" dirty="0"/>
              <a:t>of serving human beings.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We can serve others </a:t>
            </a:r>
            <a:r>
              <a:rPr lang="en-US" altLang="zh-CN" sz="3200" u="sng" dirty="0"/>
              <a:t>in the comfort of </a:t>
            </a:r>
            <a:r>
              <a:rPr lang="en-US" altLang="zh-CN" sz="3200" dirty="0"/>
              <a:t>our own homes.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 common question </a:t>
            </a:r>
            <a:r>
              <a:rPr lang="en-US" altLang="zh-CN" sz="3200" u="sng" dirty="0"/>
              <a:t>arises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We are willing to </a:t>
            </a:r>
            <a:r>
              <a:rPr lang="en-US" altLang="zh-CN" sz="3200" u="sng" dirty="0"/>
              <a:t>devote</a:t>
            </a:r>
            <a:r>
              <a:rPr lang="en-US" altLang="zh-CN" sz="3200" dirty="0"/>
              <a:t> our time and effort </a:t>
            </a:r>
            <a:r>
              <a:rPr lang="en-US" altLang="zh-CN" sz="3200" u="sng" dirty="0"/>
              <a:t>unconditionally</a:t>
            </a:r>
            <a:r>
              <a:rPr lang="en-US" altLang="zh-CN" sz="3200" dirty="0"/>
              <a:t> to helping build a better community. (devote</a:t>
            </a:r>
            <a:r>
              <a:rPr lang="zh-CN" altLang="en-US" sz="3200" dirty="0"/>
              <a:t>同义替代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We also gain </a:t>
            </a:r>
            <a:r>
              <a:rPr lang="en-US" altLang="zh-CN" sz="3200" u="sng" dirty="0"/>
              <a:t>a sense of purpose </a:t>
            </a:r>
            <a:r>
              <a:rPr lang="en-US" altLang="zh-CN" sz="3200" dirty="0"/>
              <a:t>in life.</a:t>
            </a:r>
          </a:p>
        </p:txBody>
      </p:sp>
    </p:spTree>
    <p:extLst>
      <p:ext uri="{BB962C8B-B14F-4D97-AF65-F5344CB8AC3E}">
        <p14:creationId xmlns:p14="http://schemas.microsoft.com/office/powerpoint/2010/main" val="24278564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2BBF-D846-1B09-811C-927B8309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50ED60A5-872D-1403-C10A-31993594D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U3 Ext: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/>
              <a:t>整理词组</a:t>
            </a:r>
            <a:r>
              <a:rPr lang="en-US" altLang="zh-CN" sz="3200" dirty="0"/>
              <a:t>+</a:t>
            </a:r>
            <a:r>
              <a:rPr lang="zh-CN" altLang="en-US" sz="3200" dirty="0"/>
              <a:t>翻译！尤其注意“看”、“说”及其它动作类的词组</a:t>
            </a:r>
            <a:endParaRPr lang="en-US" altLang="zh-CN" sz="32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Tom </a:t>
            </a:r>
            <a:r>
              <a:rPr lang="en-US" altLang="zh-CN" sz="3200" u="sng" dirty="0"/>
              <a:t>strained</a:t>
            </a:r>
            <a:r>
              <a:rPr lang="en-US" altLang="zh-CN" sz="3200" dirty="0"/>
              <a:t> his eyes.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 could feel a familiar wave of </a:t>
            </a:r>
            <a:r>
              <a:rPr lang="en-US" altLang="zh-CN" sz="3200" u="sng" dirty="0"/>
              <a:t>despair</a:t>
            </a:r>
            <a:r>
              <a:rPr lang="en-US" altLang="zh-CN" sz="3200" dirty="0"/>
              <a:t> start to wash over him.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rain was still </a:t>
            </a:r>
            <a:r>
              <a:rPr lang="en-US" altLang="zh-CN" sz="3200" u="sng" dirty="0"/>
              <a:t>pounding</a:t>
            </a:r>
            <a:r>
              <a:rPr lang="en-US" altLang="zh-CN" sz="3200" dirty="0"/>
              <a:t> on the roof of the car.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As the world outside began to </a:t>
            </a:r>
            <a:r>
              <a:rPr lang="en-US" altLang="zh-CN" sz="3200" u="sng" dirty="0"/>
              <a:t>close in on </a:t>
            </a:r>
            <a:r>
              <a:rPr lang="en-US" altLang="zh-CN" sz="3200" dirty="0"/>
              <a:t>him, Tom </a:t>
            </a:r>
            <a:r>
              <a:rPr lang="en-US" altLang="zh-CN" sz="3200" u="sng" dirty="0"/>
              <a:t>gasped</a:t>
            </a:r>
            <a:r>
              <a:rPr lang="en-US" altLang="zh-CN" sz="3200" dirty="0"/>
              <a:t> for breath.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car began to </a:t>
            </a:r>
            <a:r>
              <a:rPr lang="en-US" altLang="zh-CN" sz="3200" u="sng" dirty="0"/>
              <a:t>bump</a:t>
            </a:r>
            <a:r>
              <a:rPr lang="en-US" altLang="zh-CN" sz="3200" dirty="0"/>
              <a:t> down the road.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 looked up and peered out of the window.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With a sense of hopeful anticipation</a:t>
            </a:r>
            <a:r>
              <a:rPr lang="en-US" altLang="zh-CN" sz="3200" dirty="0"/>
              <a:t>, Tom…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rain was </a:t>
            </a:r>
            <a:r>
              <a:rPr lang="en-US" altLang="zh-CN" sz="3200" u="sng" dirty="0"/>
              <a:t>soaking</a:t>
            </a:r>
            <a:r>
              <a:rPr lang="en-US" altLang="zh-CN" sz="3200" dirty="0"/>
              <a:t> them.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 just </a:t>
            </a:r>
            <a:r>
              <a:rPr lang="en-US" altLang="zh-CN" sz="3200" u="sng" dirty="0"/>
              <a:t>gestured</a:t>
            </a:r>
            <a:r>
              <a:rPr lang="en-US" altLang="zh-CN" sz="3200" dirty="0"/>
              <a:t> towards the girl and the old man helplessly as he </a:t>
            </a:r>
            <a:r>
              <a:rPr lang="en-US" altLang="zh-CN" sz="3200" u="sng" dirty="0"/>
              <a:t>stumbled through an explanation </a:t>
            </a:r>
            <a:r>
              <a:rPr lang="en-US" altLang="zh-CN" sz="3200" dirty="0"/>
              <a:t>that…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 chance </a:t>
            </a:r>
            <a:r>
              <a:rPr lang="en-US" altLang="zh-CN" sz="3200" u="sng" dirty="0"/>
              <a:t>encounter</a:t>
            </a:r>
            <a:r>
              <a:rPr lang="en-US" altLang="zh-CN" sz="3200" dirty="0"/>
              <a:t> on a rainy night came to make Tom see everything differently.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 </a:t>
            </a:r>
            <a:r>
              <a:rPr lang="en-US" altLang="zh-CN" sz="3200" u="sng" dirty="0"/>
              <a:t>pursued</a:t>
            </a:r>
            <a:r>
              <a:rPr lang="en-US" altLang="zh-CN" sz="3200" dirty="0"/>
              <a:t> his long-lost dream of becoming a teacher.</a:t>
            </a:r>
          </a:p>
        </p:txBody>
      </p:sp>
    </p:spTree>
    <p:extLst>
      <p:ext uri="{BB962C8B-B14F-4D97-AF65-F5344CB8AC3E}">
        <p14:creationId xmlns:p14="http://schemas.microsoft.com/office/powerpoint/2010/main" val="295376384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0164-255A-48ED-27A4-40F03952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D5B3EC10-9438-5438-AA1E-972098092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-1"/>
            <a:ext cx="13004799" cy="97536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U4 Reading: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The law can define the </a:t>
            </a:r>
            <a:r>
              <a:rPr lang="en-US" altLang="zh-CN" sz="3000" dirty="0" err="1"/>
              <a:t>behaviour</a:t>
            </a:r>
            <a:r>
              <a:rPr lang="en-US" altLang="zh-CN" sz="3000" dirty="0"/>
              <a:t> which </a:t>
            </a:r>
            <a:r>
              <a:rPr lang="en-US" altLang="zh-CN" sz="3000" u="sng" dirty="0"/>
              <a:t>is subject to </a:t>
            </a:r>
            <a:r>
              <a:rPr lang="en-US" altLang="zh-CN" sz="3000" dirty="0"/>
              <a:t>legal punishment.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Have you ever wondered when and where the law </a:t>
            </a:r>
            <a:r>
              <a:rPr lang="en-US" altLang="zh-CN" sz="3000" u="sng" dirty="0"/>
              <a:t>originated</a:t>
            </a:r>
            <a:r>
              <a:rPr lang="en-GB" altLang="zh-CN" sz="3000" dirty="0"/>
              <a:t>?</a:t>
            </a:r>
            <a:r>
              <a:rPr lang="zh-CN" altLang="en-US" sz="3000" dirty="0"/>
              <a:t> </a:t>
            </a:r>
            <a:r>
              <a:rPr lang="en-GB" altLang="zh-CN" sz="3000" dirty="0"/>
              <a:t>(</a:t>
            </a:r>
            <a:r>
              <a:rPr lang="zh-CN" altLang="en-GB" sz="3000" dirty="0"/>
              <a:t>近义词</a:t>
            </a:r>
            <a:r>
              <a:rPr lang="zh-CN" altLang="en-US" sz="3000" dirty="0"/>
              <a:t>“</a:t>
            </a:r>
            <a:r>
              <a:rPr lang="zh-CN" altLang="en-GB" sz="3000" dirty="0"/>
              <a:t>源于</a:t>
            </a:r>
            <a:r>
              <a:rPr lang="en-GB" altLang="zh-CN" sz="3000" dirty="0"/>
              <a:t>”</a:t>
            </a:r>
            <a:r>
              <a:rPr lang="zh-CN" altLang="en-GB" sz="3000" dirty="0"/>
              <a:t>造句</a:t>
            </a:r>
            <a:r>
              <a:rPr lang="en-US" altLang="zh-CN" sz="30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000" dirty="0"/>
              <a:t>…</a:t>
            </a:r>
            <a:r>
              <a:rPr lang="en-US" altLang="zh-CN" sz="3000" dirty="0"/>
              <a:t>, because such rules </a:t>
            </a:r>
            <a:r>
              <a:rPr lang="en-US" altLang="zh-CN" sz="3000" u="sng" dirty="0"/>
              <a:t>were deeply grounded in </a:t>
            </a:r>
            <a:r>
              <a:rPr lang="en-US" altLang="zh-CN" sz="3000" dirty="0"/>
              <a:t>custom. (ground</a:t>
            </a:r>
            <a:r>
              <a:rPr lang="zh-CN" altLang="en-US" sz="3000" dirty="0"/>
              <a:t>其他词组也造句</a:t>
            </a:r>
            <a:r>
              <a:rPr lang="en-US" altLang="zh-CN" sz="30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Over time, laws </a:t>
            </a:r>
            <a:r>
              <a:rPr lang="en-US" altLang="zh-CN" sz="3000" u="sng" dirty="0"/>
              <a:t>evolve</a:t>
            </a:r>
            <a:r>
              <a:rPr lang="en-US" altLang="zh-CN" sz="3000" dirty="0"/>
              <a:t> to become more </a:t>
            </a:r>
            <a:r>
              <a:rPr lang="en-US" altLang="zh-CN" sz="3000" u="sng" dirty="0"/>
              <a:t>sophisticated</a:t>
            </a:r>
            <a:r>
              <a:rPr lang="en-US" altLang="zh-CN" sz="3000" dirty="0"/>
              <a:t> and wide-ranging.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Outdated laws are abolished when they</a:t>
            </a:r>
            <a:r>
              <a:rPr lang="zh-CN" altLang="en-US" sz="3000" dirty="0"/>
              <a:t> </a:t>
            </a:r>
            <a:r>
              <a:rPr lang="en-US" altLang="zh-CN" sz="3000" dirty="0"/>
              <a:t>no longer </a:t>
            </a:r>
            <a:r>
              <a:rPr lang="en-US" altLang="zh-CN" sz="3000" u="sng" dirty="0"/>
              <a:t>correspond with </a:t>
            </a:r>
            <a:r>
              <a:rPr lang="en-US" altLang="zh-CN" sz="3000" dirty="0"/>
              <a:t>the values or moral beliefs of the current society. 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As the law is not applicable to all situations, it is just one </a:t>
            </a:r>
            <a:r>
              <a:rPr lang="en-US" altLang="zh-CN" sz="3000" u="sng" dirty="0"/>
              <a:t>instrument </a:t>
            </a:r>
            <a:r>
              <a:rPr lang="en-US" altLang="zh-CN" sz="3000" dirty="0"/>
              <a:t>(adj.</a:t>
            </a:r>
            <a:r>
              <a:rPr lang="zh-CN" altLang="en-US" sz="3000" dirty="0"/>
              <a:t>也造句</a:t>
            </a:r>
            <a:r>
              <a:rPr lang="en-GB" altLang="zh-CN" sz="3000" dirty="0"/>
              <a:t>)</a:t>
            </a:r>
            <a:r>
              <a:rPr lang="en-US" altLang="zh-CN" sz="3000" dirty="0"/>
              <a:t> to regulate society. 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The law </a:t>
            </a:r>
            <a:r>
              <a:rPr lang="en-US" altLang="zh-CN" sz="3000" u="sng" dirty="0"/>
              <a:t>is the compass that has guided </a:t>
            </a:r>
            <a:r>
              <a:rPr lang="en-US" altLang="zh-CN" sz="3000" dirty="0"/>
              <a:t>humans </a:t>
            </a:r>
            <a:r>
              <a:rPr lang="en-US" altLang="zh-CN" sz="3000" u="sng" dirty="0"/>
              <a:t>from</a:t>
            </a:r>
            <a:r>
              <a:rPr lang="en-US" altLang="zh-CN" sz="3000" dirty="0"/>
              <a:t> the first law-abiding communities </a:t>
            </a:r>
            <a:r>
              <a:rPr lang="en-US" altLang="zh-CN" sz="3000" u="sng" dirty="0"/>
              <a:t>to where </a:t>
            </a:r>
            <a:r>
              <a:rPr lang="en-US" altLang="zh-CN" sz="3000" dirty="0"/>
              <a:t>we are today.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I’m convinced everyone </a:t>
            </a:r>
            <a:r>
              <a:rPr lang="en-US" altLang="zh-CN" sz="3000" u="sng" dirty="0"/>
              <a:t>strives to (</a:t>
            </a:r>
            <a:r>
              <a:rPr lang="zh-CN" altLang="en-US" sz="3000" u="sng" dirty="0"/>
              <a:t>其他近义词组</a:t>
            </a:r>
            <a:r>
              <a:rPr lang="en-GB" altLang="zh-CN" sz="3000" u="sng" dirty="0"/>
              <a:t>)</a:t>
            </a:r>
            <a:r>
              <a:rPr lang="en-US" altLang="zh-CN" sz="3000" u="sng" dirty="0"/>
              <a:t> </a:t>
            </a:r>
            <a:r>
              <a:rPr lang="en-US" altLang="zh-CN" sz="3000" dirty="0"/>
              <a:t>be a law-abiding citizen, but </a:t>
            </a:r>
            <a:r>
              <a:rPr lang="en-US" altLang="zh-CN" sz="3000" u="sng" dirty="0"/>
              <a:t>it’s conceivable that </a:t>
            </a:r>
            <a:r>
              <a:rPr lang="en-US" altLang="zh-CN" sz="3000" dirty="0"/>
              <a:t>you’re breaking the law without realizing.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In addition to </a:t>
            </a:r>
            <a:r>
              <a:rPr lang="en-US" altLang="zh-CN" sz="3000" u="sng" dirty="0"/>
              <a:t>keeping abreast of </a:t>
            </a:r>
            <a:r>
              <a:rPr lang="en-US" altLang="zh-CN" sz="3000" dirty="0"/>
              <a:t>the law, observing the law will ensure 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 Under certain circumstances you may feel the </a:t>
            </a:r>
            <a:r>
              <a:rPr lang="en-US" altLang="zh-CN" sz="3000" u="sng" dirty="0"/>
              <a:t>impulse</a:t>
            </a:r>
            <a:r>
              <a:rPr lang="en-US" altLang="zh-CN" sz="3000" dirty="0"/>
              <a:t> to do something against the law 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Overall, ensuring you are aware of the law will put you in good standing </a:t>
            </a:r>
            <a:r>
              <a:rPr lang="en-US" altLang="zh-CN" sz="3000" u="sng" dirty="0"/>
              <a:t>whether</a:t>
            </a:r>
            <a:r>
              <a:rPr lang="en-US" altLang="zh-CN" sz="3000" dirty="0"/>
              <a:t> you’re in school </a:t>
            </a:r>
            <a:r>
              <a:rPr lang="en-US" altLang="zh-CN" sz="3000" u="sng" dirty="0"/>
              <a:t>or</a:t>
            </a:r>
            <a:r>
              <a:rPr lang="en-US" altLang="zh-CN" sz="3000" dirty="0"/>
              <a:t> stepping out into the world.</a:t>
            </a:r>
          </a:p>
        </p:txBody>
      </p:sp>
    </p:spTree>
    <p:extLst>
      <p:ext uri="{BB962C8B-B14F-4D97-AF65-F5344CB8AC3E}">
        <p14:creationId xmlns:p14="http://schemas.microsoft.com/office/powerpoint/2010/main" val="10422235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B7DF1-4A9C-A729-B341-D06200E5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28454524-3655-5C4A-1059-95AE1A2D8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U4 Grammar:</a:t>
            </a:r>
          </a:p>
          <a:p>
            <a:pPr marL="514350" indent="-514350" defTabSz="504000">
              <a:spcBef>
                <a:spcPts val="0"/>
              </a:spcBef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The guest speakers and their activities were </a:t>
            </a:r>
            <a:r>
              <a:rPr lang="en-GB" altLang="zh-CN" sz="3200" u="sng" dirty="0"/>
              <a:t>a big hit</a:t>
            </a:r>
            <a:r>
              <a:rPr lang="en-US" altLang="zh-CN" sz="3200" dirty="0"/>
              <a:t>. (</a:t>
            </a:r>
            <a:r>
              <a:rPr lang="zh-CN" altLang="en-US" sz="3200" dirty="0"/>
              <a:t>同义词组</a:t>
            </a:r>
            <a:r>
              <a:rPr lang="en-GB" altLang="zh-CN" sz="3200" dirty="0"/>
              <a:t>+</a:t>
            </a:r>
            <a:r>
              <a:rPr lang="en-US" altLang="zh-CN" sz="3200" dirty="0"/>
              <a:t>hit home/hit on</a:t>
            </a:r>
            <a:r>
              <a:rPr lang="zh-CN" altLang="en-US" sz="3200" dirty="0"/>
              <a:t>造句</a:t>
            </a:r>
            <a:r>
              <a:rPr lang="en-GB" altLang="zh-CN" sz="3200" dirty="0"/>
              <a:t>)</a:t>
            </a:r>
          </a:p>
          <a:p>
            <a:pPr marL="514350" indent="-514350" defTabSz="504000">
              <a:spcBef>
                <a:spcPts val="0"/>
              </a:spcBef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Seeing</a:t>
            </a:r>
            <a:r>
              <a:rPr lang="en-US" altLang="zh-CN" sz="3200" dirty="0"/>
              <a:t> the high number of interested students at this year’s event, we are all </a:t>
            </a:r>
            <a:r>
              <a:rPr lang="en-US" altLang="zh-CN" sz="3200" u="sng" dirty="0"/>
              <a:t>fired up </a:t>
            </a:r>
            <a:r>
              <a:rPr lang="en-US" altLang="zh-CN" sz="3200" dirty="0"/>
              <a:t>about next year’s Law Day. (</a:t>
            </a:r>
            <a:r>
              <a:rPr lang="zh-CN" altLang="en-GB" sz="3200" dirty="0"/>
              <a:t>分词</a:t>
            </a:r>
            <a:r>
              <a:rPr lang="zh-CN" altLang="en-US" sz="3200" dirty="0"/>
              <a:t>造句；</a:t>
            </a:r>
            <a:r>
              <a:rPr lang="en-GB" altLang="zh-CN" sz="3200" dirty="0"/>
              <a:t>fire up</a:t>
            </a:r>
            <a:r>
              <a:rPr lang="zh-CN" altLang="en-GB" sz="3200" dirty="0"/>
              <a:t>造句</a:t>
            </a:r>
            <a:r>
              <a:rPr lang="en-GB" altLang="zh-CN" sz="3200" dirty="0"/>
              <a:t>)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85865580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710A-0C24-949A-1135-E1E95A2D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E0B46230-A3B2-52C0-7F7C-30CA5E5E8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U4 Inte: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Intellectual property is </a:t>
            </a:r>
            <a:r>
              <a:rPr lang="en-US" altLang="zh-CN" sz="3200" u="sng" dirty="0"/>
              <a:t>at the core of </a:t>
            </a:r>
            <a:r>
              <a:rPr lang="en-US" altLang="zh-CN" sz="3200" dirty="0"/>
              <a:t>technological innovation.</a:t>
            </a:r>
            <a:r>
              <a:rPr lang="zh-CN" altLang="en-US" sz="3200" dirty="0"/>
              <a:t> </a:t>
            </a:r>
            <a:endParaRPr lang="en-GB" altLang="zh-CN" sz="32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Patents </a:t>
            </a:r>
            <a:r>
              <a:rPr lang="en-US" altLang="zh-CN" sz="3200" u="sng" dirty="0"/>
              <a:t>grant</a:t>
            </a:r>
            <a:r>
              <a:rPr lang="en-US" altLang="zh-CN" sz="3200" dirty="0"/>
              <a:t> inventors exclusive rights to their inventions.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 trade secret can be a formula, process or device that</a:t>
            </a:r>
            <a:r>
              <a:rPr lang="zh-CN" altLang="en-US" sz="3200" dirty="0"/>
              <a:t> </a:t>
            </a:r>
            <a:r>
              <a:rPr lang="en-US" altLang="zh-CN" sz="3200" dirty="0"/>
              <a:t>makes a product </a:t>
            </a:r>
            <a:r>
              <a:rPr lang="en-US" altLang="zh-CN" sz="3200" u="sng" dirty="0"/>
              <a:t>distinctive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Owners need to apply for a patent or </a:t>
            </a:r>
            <a:r>
              <a:rPr lang="en-US" altLang="zh-CN" sz="3200" u="sng" dirty="0"/>
              <a:t>register</a:t>
            </a:r>
            <a:r>
              <a:rPr lang="en-US" altLang="zh-CN" sz="3200" dirty="0"/>
              <a:t> a trademark. (</a:t>
            </a:r>
            <a:r>
              <a:rPr lang="en-GB" altLang="zh-CN" sz="3200" dirty="0"/>
              <a:t>“</a:t>
            </a:r>
            <a:r>
              <a:rPr lang="zh-CN" altLang="en-GB" sz="3200" dirty="0"/>
              <a:t>流露</a:t>
            </a:r>
            <a:r>
              <a:rPr lang="zh-CN" altLang="en-US" sz="3200" dirty="0"/>
              <a:t>出</a:t>
            </a:r>
            <a:r>
              <a:rPr lang="en-US" altLang="zh-CN" sz="3200" dirty="0"/>
              <a:t>”</a:t>
            </a:r>
            <a:r>
              <a:rPr lang="zh-CN" altLang="en-US" sz="3200" dirty="0"/>
              <a:t>、“注册”、“注意到”造句</a:t>
            </a:r>
            <a:r>
              <a:rPr lang="en-GB" altLang="zh-CN" sz="3200" dirty="0"/>
              <a:t>)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87195486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D794A-5E10-29AC-732C-F3D7E8F51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A235A7C6-1725-7498-6A43-8521211E3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U4 Ext: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Together they manage to </a:t>
            </a:r>
            <a:r>
              <a:rPr lang="en-US" altLang="zh-CN" sz="3200" u="sng" dirty="0"/>
              <a:t>secure</a:t>
            </a:r>
            <a:r>
              <a:rPr lang="en-US" altLang="zh-CN" sz="3200" dirty="0"/>
              <a:t> his absence every morning in the week. (v./adj.</a:t>
            </a:r>
            <a:r>
              <a:rPr lang="zh-CN" altLang="en-US" sz="3200" dirty="0"/>
              <a:t>分别造句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…it was obvious to me that he had some strong </a:t>
            </a:r>
            <a:r>
              <a:rPr lang="en-US" altLang="zh-CN" sz="3200" u="sng" dirty="0"/>
              <a:t>motive</a:t>
            </a:r>
            <a:r>
              <a:rPr lang="en-US" altLang="zh-CN" sz="3200" dirty="0"/>
              <a:t> for securing the situation. 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was establishing whether the cellar </a:t>
            </a:r>
            <a:r>
              <a:rPr lang="en-US" altLang="zh-CN" sz="3200" u="sng" dirty="0"/>
              <a:t>stretched</a:t>
            </a:r>
            <a:r>
              <a:rPr lang="en-US" altLang="zh-CN" sz="3200" dirty="0"/>
              <a:t> out in front or behind.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You must yourself have noticed how </a:t>
            </a:r>
            <a:r>
              <a:rPr lang="en-US" altLang="zh-CN" sz="3200" u="sng" dirty="0"/>
              <a:t>worn</a:t>
            </a:r>
            <a:r>
              <a:rPr lang="en-US" altLang="zh-CN" sz="3200" dirty="0"/>
              <a:t>, wrinkled, and stained they were. (wear</a:t>
            </a:r>
            <a:r>
              <a:rPr lang="zh-CN" altLang="en-US" sz="3200" dirty="0"/>
              <a:t>词组</a:t>
            </a:r>
            <a:r>
              <a:rPr lang="zh-CN" altLang="en-GB" sz="3200" dirty="0"/>
              <a:t>造句</a:t>
            </a:r>
            <a:r>
              <a:rPr lang="en-GB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“You </a:t>
            </a:r>
            <a:r>
              <a:rPr lang="en-US" altLang="zh-CN" sz="3200" u="sng" dirty="0"/>
              <a:t>reasoned it out </a:t>
            </a:r>
            <a:r>
              <a:rPr lang="en-US" altLang="zh-CN" sz="3200" dirty="0"/>
              <a:t>beautifully” I exclaimed in genuine admiration.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already feel it </a:t>
            </a:r>
            <a:r>
              <a:rPr lang="en-US" altLang="zh-CN" sz="3200" u="sng" dirty="0"/>
              <a:t>closing in upon </a:t>
            </a:r>
            <a:r>
              <a:rPr lang="en-US" altLang="zh-CN" sz="3200" dirty="0"/>
              <a:t>me.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My life is spent in one long effort to </a:t>
            </a:r>
            <a:r>
              <a:rPr lang="en-US" altLang="zh-CN" sz="3200" u="sng" dirty="0"/>
              <a:t>escape from the routines of daily life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police investigated the case and discovered that the construction waste </a:t>
            </a:r>
            <a:r>
              <a:rPr lang="en-US" altLang="zh-CN" sz="3200" u="sng" dirty="0"/>
              <a:t>consisted of (</a:t>
            </a:r>
            <a:r>
              <a:rPr lang="zh-CN" altLang="en-US" sz="3200" u="sng" dirty="0"/>
              <a:t>近义词组</a:t>
            </a:r>
            <a:r>
              <a:rPr lang="en-US" altLang="zh-CN" sz="3200" u="sng" dirty="0"/>
              <a:t>) </a:t>
            </a:r>
            <a:r>
              <a:rPr lang="en-US" altLang="zh-CN" sz="3200" dirty="0"/>
              <a:t>large pieces of wood with some iron nails, weighing about 250kg, which posed a serious safety </a:t>
            </a:r>
            <a:r>
              <a:rPr lang="en-US" altLang="zh-CN" sz="3200" u="sng" dirty="0"/>
              <a:t>hazard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By increasing public awareness of this crime, the danger </a:t>
            </a:r>
            <a:r>
              <a:rPr lang="en-US" altLang="zh-CN" sz="3200" u="sng" dirty="0"/>
              <a:t>hanging in the air</a:t>
            </a:r>
            <a:r>
              <a:rPr lang="en-US" altLang="zh-CN" sz="3200" dirty="0"/>
              <a:t> can be avoided, keeping all citizens safe.</a:t>
            </a:r>
          </a:p>
        </p:txBody>
      </p:sp>
    </p:spTree>
    <p:extLst>
      <p:ext uri="{BB962C8B-B14F-4D97-AF65-F5344CB8AC3E}">
        <p14:creationId xmlns:p14="http://schemas.microsoft.com/office/powerpoint/2010/main" val="309522575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7426</TotalTime>
  <Words>2024</Words>
  <Application>Microsoft Macintosh PowerPoint</Application>
  <PresentationFormat>Custom</PresentationFormat>
  <Paragraphs>144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Helvetica</vt:lpstr>
      <vt:lpstr>Helvetica Light</vt:lpstr>
      <vt:lpstr>Helvetica Neue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Qing NI</cp:lastModifiedBy>
  <cp:revision>90</cp:revision>
  <cp:lastPrinted>2025-09-04T23:06:53Z</cp:lastPrinted>
  <dcterms:modified xsi:type="dcterms:W3CDTF">2026-02-10T04:10:15Z</dcterms:modified>
</cp:coreProperties>
</file>