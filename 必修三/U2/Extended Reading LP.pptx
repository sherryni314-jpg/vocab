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ags/tag1.xml" ContentType="application/vnd.openxmlformats-officedocument.presentationml.tags+xml"/>
  <Override PartName="/ppt/theme/themeOverride16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65" r:id="rId2"/>
    <p:sldId id="302" r:id="rId3"/>
    <p:sldId id="276" r:id="rId4"/>
    <p:sldId id="273" r:id="rId5"/>
    <p:sldId id="329" r:id="rId6"/>
    <p:sldId id="271" r:id="rId7"/>
    <p:sldId id="269" r:id="rId8"/>
    <p:sldId id="268" r:id="rId9"/>
    <p:sldId id="338" r:id="rId10"/>
    <p:sldId id="336" r:id="rId11"/>
    <p:sldId id="337" r:id="rId12"/>
    <p:sldId id="267" r:id="rId13"/>
    <p:sldId id="328" r:id="rId14"/>
    <p:sldId id="287" r:id="rId15"/>
    <p:sldId id="284" r:id="rId16"/>
    <p:sldId id="290" r:id="rId17"/>
    <p:sldId id="283" r:id="rId18"/>
    <p:sldId id="282" r:id="rId19"/>
    <p:sldId id="295" r:id="rId20"/>
    <p:sldId id="294" r:id="rId21"/>
    <p:sldId id="296" r:id="rId22"/>
    <p:sldId id="297" r:id="rId23"/>
    <p:sldId id="299" r:id="rId24"/>
    <p:sldId id="304" r:id="rId25"/>
    <p:sldId id="305" r:id="rId26"/>
    <p:sldId id="306" r:id="rId27"/>
    <p:sldId id="307" r:id="rId28"/>
    <p:sldId id="257" r:id="rId29"/>
    <p:sldId id="258" r:id="rId30"/>
    <p:sldId id="259" r:id="rId31"/>
    <p:sldId id="308" r:id="rId32"/>
    <p:sldId id="309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472C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 autoAdjust="0"/>
    <p:restoredTop sz="93775" autoAdjust="0"/>
  </p:normalViewPr>
  <p:slideViewPr>
    <p:cSldViewPr snapToGrid="0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She turned and disappeared into the dusk.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She turned and disappeared into the dusk.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She turned and disappeared into the dusk.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take various measures of </a:t>
            </a:r>
            <a:r>
              <a:rPr lang="en-US">
                <a:sym typeface="+mn-ea"/>
              </a:rPr>
              <a:t>social distancing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C9E1-B6C9-453D-971B-4FDEEE10C91D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D3B0-AB69-409D-99F4-B7DCB9E1F0F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themeOverride" Target="../theme/themeOverr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1635" y="733425"/>
            <a:ext cx="1168082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…when Mount Vesuvius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当维苏威火山爆发时。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879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solidFill>
                  <a:srgbClr val="4472C4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start happening, suddenly and violently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爆发；突然发生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Scientists say Mount Pinatubo could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again soon.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科学家说皮纳图博山近期可能会再次喷发。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Violence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as the boys were driven away in two police vans.</a:t>
            </a:r>
          </a:p>
          <a:p>
            <a:pPr indent="-116840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两辆警车将男孩们带走时突然发生了暴力冲突。</a:t>
            </a:r>
          </a:p>
          <a:p>
            <a:pPr indent="-1168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(break 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0825" y="617855"/>
            <a:ext cx="11607165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Some of these are issues that could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 into trouble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quickly.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突然发展成……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audience erupted into laughter.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观众突然大笑起来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Laughter erupted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from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audience.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'How dare you?'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erupted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“你竟敢这样？” 她突然大声叫道。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38" y="5297385"/>
            <a:ext cx="1465259" cy="8205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54297" y="4672624"/>
            <a:ext cx="8822250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喷发，爆发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volcanic eruption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火山爆发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eruption of violence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突发暴力事件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1547446"/>
            <a:ext cx="10902462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extinct volcano’s ___________ (erupt) would mean a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disaster for the city.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Finally, their argument erupted __________ fierce fighting.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Violence __________ (erupt) in the city after the football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match.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8105" y="2095473"/>
            <a:ext cx="1688283" cy="6412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eruption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7259710" y="3220492"/>
            <a:ext cx="8675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55049" y="3852203"/>
            <a:ext cx="155202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erupted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4092" y="453293"/>
            <a:ext cx="1118381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 but it also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kept the ancient city as it was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future ages.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桌子就那样吧。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Leave the table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it 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I had known what to do, everything would have been all right.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it was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everything went wrong.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而事实上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fact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is,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it were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 walking dictionary.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可以说，在一定程度上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04092" y="453293"/>
            <a:ext cx="1118381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Trading ships bringing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the city or carrying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exports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overseas,…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把进口货物运到城里或把出口货物运往海外的商船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[usually plural]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进口商品，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进口；输入；引进</a:t>
            </a:r>
          </a:p>
        </p:txBody>
      </p:sp>
      <p:sp>
        <p:nvSpPr>
          <p:cNvPr id="3" name="矩形 2"/>
          <p:cNvSpPr/>
          <p:nvPr/>
        </p:nvSpPr>
        <p:spPr>
          <a:xfrm>
            <a:off x="924217" y="3100853"/>
            <a:ext cx="9882554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don’t like eating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food imports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进口食品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cotton goods went up sharply.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415" y="1049655"/>
            <a:ext cx="11581765" cy="41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8955" indent="-17989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dirty="0"/>
              <a:t>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action of bringing goods or fashions into a country</a:t>
            </a:r>
            <a:r>
              <a:rPr lang="en-US" altLang="zh-CN" sz="3200" dirty="0"/>
              <a:t>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进口，引进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798955" indent="-17989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 … from 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从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进口</a:t>
            </a:r>
            <a:endParaRPr lang="en-US" altLang="zh-CN" sz="3200" b="1" dirty="0">
              <a:latin typeface="+mn-ea"/>
              <a:cs typeface="Times New Roman" panose="02020503050405090304" pitchFamily="18" charset="0"/>
            </a:endParaRPr>
          </a:p>
          <a:p>
            <a:pPr lvl="0" algn="just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 … into  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进口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到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endParaRPr lang="zh-CN" altLang="en-US" sz="3200" b="1" dirty="0"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country has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most of its raw materials.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factory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some machines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Germany last year.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imported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coffee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China.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94400" y="758214"/>
            <a:ext cx="11416880" cy="2456057"/>
            <a:chOff x="439840" y="623197"/>
            <a:chExt cx="10609385" cy="2456057"/>
          </a:xfrm>
        </p:grpSpPr>
        <p:sp>
          <p:nvSpPr>
            <p:cNvPr id="2" name="文本框 1"/>
            <p:cNvSpPr txBox="1"/>
            <p:nvPr/>
          </p:nvSpPr>
          <p:spPr>
            <a:xfrm>
              <a:off x="439840" y="623197"/>
              <a:ext cx="10609385" cy="2456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0000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【</a:t>
              </a:r>
              <a:r>
                <a:rPr lang="zh-CN" altLang="en-US" sz="3200" b="1" dirty="0">
                  <a:solidFill>
                    <a:srgbClr val="0000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链接</a:t>
              </a:r>
              <a:r>
                <a:rPr lang="en-US" altLang="zh-CN" sz="3200" b="1" dirty="0">
                  <a:solidFill>
                    <a:srgbClr val="0000FF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】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ex- </a:t>
              </a:r>
              <a:r>
                <a:rPr lang="zh-CN" altLang="en-US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出       </a:t>
              </a:r>
              <a:endPara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                        port</a:t>
              </a:r>
              <a:r>
                <a:rPr lang="zh-CN" altLang="en-US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港口       </a:t>
              </a:r>
              <a:endPara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        im-/in- </a:t>
              </a:r>
              <a:r>
                <a:rPr lang="zh-CN" altLang="en-US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进</a:t>
              </a: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2862426" y="2280112"/>
              <a:ext cx="681675" cy="5019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flipH="1" flipV="1">
              <a:off x="2245460" y="1565061"/>
              <a:ext cx="1233931" cy="5974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>
              <a:off x="5011918" y="2141604"/>
              <a:ext cx="656495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左大括号 10"/>
            <p:cNvSpPr/>
            <p:nvPr/>
          </p:nvSpPr>
          <p:spPr>
            <a:xfrm>
              <a:off x="5711231" y="1649235"/>
              <a:ext cx="444304" cy="984738"/>
            </a:xfrm>
            <a:prstGeom prst="lef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170350" y="1237061"/>
              <a:ext cx="3618106" cy="626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export </a:t>
              </a:r>
              <a:r>
                <a:rPr lang="en-US" altLang="zh-CN" sz="3200" b="1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n</a:t>
              </a: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. &amp; </a:t>
              </a:r>
              <a:r>
                <a:rPr lang="en-US" altLang="zh-CN" sz="3200" b="1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v</a:t>
              </a: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.  </a:t>
              </a:r>
              <a:r>
                <a:rPr lang="zh-CN" altLang="en-US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出口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155535" y="2217753"/>
              <a:ext cx="3685624" cy="626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import </a:t>
              </a:r>
              <a:r>
                <a:rPr lang="en-US" altLang="zh-CN" sz="3200" b="1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n</a:t>
              </a: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. &amp; </a:t>
              </a:r>
              <a:r>
                <a:rPr lang="en-US" altLang="zh-CN" sz="3200" b="1" i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v</a:t>
              </a:r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.  </a:t>
              </a:r>
              <a:r>
                <a:rPr lang="zh-CN" altLang="en-US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进口</a:t>
              </a: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002295" y="3214271"/>
            <a:ext cx="3930884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export to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往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出口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002295" y="4005579"/>
            <a:ext cx="10393680" cy="2453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Wheat is one of the country’s chief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exports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小麦是该国的主要出口商品之一。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company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exports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tuna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US.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这家公司向美国出口金枪鱼。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2369" y="1817077"/>
            <a:ext cx="11242431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They _________________________ (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进口棉花和羊毛到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their country to meet people’s needs.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goods on the truck will 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出口到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the UK and Canada.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8659" y="2368062"/>
            <a:ext cx="516199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import cotton and wool into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0" y="3550758"/>
            <a:ext cx="279435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 exported 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1620" y="245745"/>
            <a:ext cx="11595100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traffic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rolled slowly forwards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车流缓缓地向前挪动。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Mist was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rolling in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from the sea.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薄雾从海上涌来。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rolled over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to let the sun brown her back.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她翻了个身，让太阳把她的背晒成古铜色。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rolled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onto his back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他翻过身来仰面躺着。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rolled her eyes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upwards. / Her eyes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rolled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was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rolling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a pencil between his fingers.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Roll up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 your sleeves.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163435" y="393700"/>
            <a:ext cx="4693920" cy="186309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 move smoothly (turn over again and again or on wheels)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489950" y="2938145"/>
            <a:ext cx="3126105" cy="1863090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 turn over to face a different direction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1620" y="245745"/>
            <a:ext cx="11595100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dawn n.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time of day when light first appears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start work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dawn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天一亮他们就开始干活了。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arrived in Sydney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dawn broke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works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 dawn till dusk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从早到晚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dawn of civilization/time/history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文明／时代／历史的开端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Peace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marked a new dawn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country's history.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和平标志着该国历史上的新曙光。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1620" y="245745"/>
            <a:ext cx="11595100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dawn v.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begin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following morning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dawned bright and warm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第二天一大早阳光和煦。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new technological age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had dawned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Arial Bold" panose="020B0604020202090204" charset="0"/>
                <a:cs typeface="Times New Roman Bold Italic" panose="02020503050405090304" charset="0"/>
              </a:rPr>
              <a:t>新技术时代已经开始。</a:t>
            </a:r>
          </a:p>
          <a:p>
            <a:pPr>
              <a:lnSpc>
                <a:spcPct val="120000"/>
              </a:lnSpc>
            </a:pPr>
            <a:endParaRPr lang="zh-CN" altLang="en-US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Suddenly it dawned on me that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couldn't possibly have met before.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u="sng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我突然明白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他们以前不可能见过面。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(= I begin to realize it for the first time)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923" y="1629508"/>
            <a:ext cx="11054862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took the form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huge tree: the trunk, blackness, the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branches, fire!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它的形状像一棵大树：树枝全是黑色，树干是烈火！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the form of 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呈现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的形状；采取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形式</a:t>
            </a:r>
            <a:endParaRPr lang="en-US" altLang="zh-CN" sz="3200" b="1" dirty="0">
              <a:solidFill>
                <a:srgbClr val="FF0000"/>
              </a:solidFill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clouds in the sky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the form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different animals.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天空中的云也以不同动物的形状出现。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8923" y="1629508"/>
            <a:ext cx="11054862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Help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form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money will be very welcome.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欢迎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金钱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予以资助。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 time goes by, our city plan starts to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take form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designer’s mind.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逐渐成形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下一节课将采用辩论的形式。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next class will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782060" y="51117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take the form of a debate.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0333" y="594423"/>
            <a:ext cx="1113692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… and now again it burnt with an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unbearable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light!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一会儿又燃烧成难以忍受的光芒！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unbearable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 able to be endured or tolerated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难耐的，无法忍受的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unbearable pain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难以忍受的痛苦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heat was getting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unbearable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b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热得叫人无法忍受。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17452" y="4928990"/>
            <a:ext cx="8726043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can’t bear (sb.)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不能忍受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97877" y="1336430"/>
            <a:ext cx="11043138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The cries of women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; the men looked at each other,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but were silent.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女人们突然大哭，男人们面面相觑，沉默不语。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break out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(of violent events) start suddenly</a:t>
            </a:r>
            <a:r>
              <a:rPr lang="en-US" altLang="zh-CN" sz="3200" dirty="0"/>
              <a:t> 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                      </a:t>
            </a:r>
            <a:r>
              <a:rPr lang="zh-CN" altLang="en-US" sz="3200" b="1" dirty="0">
                <a:solidFill>
                  <a:srgbClr val="FF0000"/>
                </a:solidFill>
              </a:rPr>
              <a:t>突然开始，爆发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broke out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during the night.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夜间突然发生了火灾。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2445" y="408940"/>
            <a:ext cx="1141095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At the moment, they felt the earthshaking beneath their feet;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distance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they heard the crash of falling roofs.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那一刻，他们感到脚下的大地正在颤抖；他们听到远处有屋顶坍塌的巨响。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on or to the further side of </a:t>
            </a:r>
            <a:r>
              <a:rPr lang="en-US" altLang="zh-CN" sz="3200" b="1" i="1" dirty="0" err="1">
                <a:latin typeface="Times New Roman Bold Italic" panose="02020503050405090304" charset="0"/>
                <a:cs typeface="Times New Roman Bold Italic" panose="02020503050405090304" charset="0"/>
              </a:rPr>
              <a:t>sth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在（或向）较远处；在另一边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crossed the mountains and headed for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valleys beyond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他们翻过山，向</a:t>
            </a:r>
            <a:r>
              <a:rPr lang="zh-CN" alt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远处的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山谷进发。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4646" y="1255149"/>
            <a:ext cx="11061114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+ n. 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at or to a more distant point than (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在（或向）更远处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later than (a specified time)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超出；晚于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too great or bad for anyone to believe/repair/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recognise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etc. 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无法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a degree that is past the understanding, reach, or scope of 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超出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之外</a:t>
            </a:r>
            <a:endParaRPr lang="en-US" altLang="zh-CN" sz="3200" b="1" dirty="0">
              <a:solidFill>
                <a:srgbClr val="FF0000"/>
              </a:solidFill>
              <a:latin typeface="+mn-ea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5"/>
          <p:cNvSpPr>
            <a:spLocks noChangeArrowheads="1"/>
          </p:cNvSpPr>
          <p:nvPr/>
        </p:nvSpPr>
        <p:spPr bwMode="auto">
          <a:xfrm>
            <a:off x="1408459" y="3786505"/>
            <a:ext cx="1623969" cy="57626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en-US" altLang="zh-CN" sz="3200" dirty="0"/>
              <a:t>beyond</a:t>
            </a:r>
          </a:p>
        </p:txBody>
      </p:sp>
      <p:sp>
        <p:nvSpPr>
          <p:cNvPr id="4" name="AutoShape 53"/>
          <p:cNvSpPr>
            <a:spLocks noChangeArrowheads="1"/>
          </p:cNvSpPr>
          <p:nvPr/>
        </p:nvSpPr>
        <p:spPr bwMode="auto">
          <a:xfrm>
            <a:off x="3496773" y="1926436"/>
            <a:ext cx="5836359" cy="712802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beyond belief</a:t>
            </a:r>
            <a:r>
              <a:rPr lang="en-US" altLang="zh-CN" sz="3200" dirty="0">
                <a:solidFill>
                  <a:srgbClr val="000000"/>
                </a:solidFill>
              </a:rPr>
              <a:t>            </a:t>
            </a:r>
            <a:r>
              <a:rPr lang="zh-CN" altLang="en-US" sz="3200" dirty="0">
                <a:solidFill>
                  <a:srgbClr val="000000"/>
                </a:solidFill>
              </a:rPr>
              <a:t>难以置信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sp>
        <p:nvSpPr>
          <p:cNvPr id="5" name="AutoShape 53"/>
          <p:cNvSpPr>
            <a:spLocks noChangeArrowheads="1"/>
          </p:cNvSpPr>
          <p:nvPr/>
        </p:nvSpPr>
        <p:spPr bwMode="auto">
          <a:xfrm>
            <a:off x="3504719" y="2841998"/>
            <a:ext cx="5828413" cy="72379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beyond control         </a:t>
            </a:r>
            <a:r>
              <a:rPr lang="zh-CN" altLang="en-US" sz="3200" dirty="0"/>
              <a:t>无法控制</a:t>
            </a:r>
            <a:endParaRPr lang="en-US" altLang="zh-CN" sz="3200" dirty="0"/>
          </a:p>
        </p:txBody>
      </p:sp>
      <p:sp>
        <p:nvSpPr>
          <p:cNvPr id="6" name="AutoShape 57"/>
          <p:cNvSpPr/>
          <p:nvPr/>
        </p:nvSpPr>
        <p:spPr bwMode="auto">
          <a:xfrm>
            <a:off x="3187210" y="2114450"/>
            <a:ext cx="317509" cy="3904959"/>
          </a:xfrm>
          <a:prstGeom prst="leftBrace">
            <a:avLst>
              <a:gd name="adj1" fmla="val 38285"/>
              <a:gd name="adj2" fmla="val 49431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800"/>
          </a:p>
        </p:txBody>
      </p:sp>
      <p:sp>
        <p:nvSpPr>
          <p:cNvPr id="7" name="AutoShape 54"/>
          <p:cNvSpPr>
            <a:spLocks noChangeArrowheads="1"/>
          </p:cNvSpPr>
          <p:nvPr/>
        </p:nvSpPr>
        <p:spPr bwMode="auto">
          <a:xfrm>
            <a:off x="3527138" y="3736498"/>
            <a:ext cx="5828413" cy="67627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beyond comparison </a:t>
            </a:r>
            <a:r>
              <a:rPr lang="zh-CN" altLang="en-US" sz="3200" dirty="0"/>
              <a:t>无与伦比</a:t>
            </a:r>
          </a:p>
        </p:txBody>
      </p:sp>
      <p:sp>
        <p:nvSpPr>
          <p:cNvPr id="8" name="AutoShape 58"/>
          <p:cNvSpPr>
            <a:spLocks noChangeArrowheads="1"/>
          </p:cNvSpPr>
          <p:nvPr/>
        </p:nvSpPr>
        <p:spPr bwMode="auto">
          <a:xfrm>
            <a:off x="3542814" y="4618449"/>
            <a:ext cx="5797063" cy="67627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beyond description</a:t>
            </a:r>
            <a:r>
              <a:rPr lang="en-US" altLang="zh-CN" sz="3200" dirty="0">
                <a:solidFill>
                  <a:srgbClr val="000000"/>
                </a:solidFill>
              </a:rPr>
              <a:t> </a:t>
            </a:r>
            <a:r>
              <a:rPr lang="en-US" altLang="zh-CN" sz="3200" i="1" dirty="0">
                <a:solidFill>
                  <a:srgbClr val="000000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无法描述</a:t>
            </a:r>
          </a:p>
        </p:txBody>
      </p:sp>
      <p:sp>
        <p:nvSpPr>
          <p:cNvPr id="9" name="AutoShape 58"/>
          <p:cNvSpPr>
            <a:spLocks noChangeArrowheads="1"/>
          </p:cNvSpPr>
          <p:nvPr/>
        </p:nvSpPr>
        <p:spPr bwMode="auto">
          <a:xfrm>
            <a:off x="3542815" y="5510894"/>
            <a:ext cx="5797062" cy="676275"/>
          </a:xfrm>
          <a:prstGeom prst="roundRect">
            <a:avLst>
              <a:gd name="adj" fmla="val 16667"/>
            </a:avLst>
          </a:prstGeom>
          <a:noFill/>
          <a:ln w="317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dirty="0">
                <a:solidFill>
                  <a:srgbClr val="FF0000"/>
                </a:solidFill>
              </a:rPr>
              <a:t>beyond expectation</a:t>
            </a:r>
            <a:r>
              <a:rPr lang="en-US" altLang="zh-CN" sz="3200" dirty="0">
                <a:solidFill>
                  <a:srgbClr val="000000"/>
                </a:solidFill>
              </a:rPr>
              <a:t>  </a:t>
            </a:r>
            <a:r>
              <a:rPr lang="zh-CN" altLang="en-US" sz="3200" dirty="0">
                <a:solidFill>
                  <a:srgbClr val="000000"/>
                </a:solidFill>
              </a:rPr>
              <a:t>出乎意料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42211" y="1118937"/>
            <a:ext cx="2656496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4430" y="729570"/>
            <a:ext cx="11336215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补全句子。</a:t>
            </a:r>
            <a:r>
              <a:rPr lang="zh-CN" altLang="en-US" sz="3200" b="1" dirty="0">
                <a:solidFill>
                  <a:srgbClr val="0000FF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1) After 25 years the town had changed _________________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认不出来了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2) Due to circumstances 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我们无法控制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),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the performance had to be cancelled.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3) Some shops keep open 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到午夜之后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switch on the wall was __________________________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在孩子够不着的地方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5) The beauty of the preserve is _________________(</a:t>
            </a:r>
            <a:r>
              <a:rPr lang="zh-CN" altLang="en-US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无法形容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78958" y="1296319"/>
            <a:ext cx="35387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beyond recognition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69583" y="2455464"/>
            <a:ext cx="352006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beyond our control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51299" y="3614609"/>
            <a:ext cx="315663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beyond midnight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89710" y="4203196"/>
            <a:ext cx="443557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the baby’s reach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5390682"/>
            <a:ext cx="352372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description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9220" y="161290"/>
            <a:ext cx="1208278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distance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far away in space or in time between two things or people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空间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距离；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(时间)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久远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cycled the short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distance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home.</a:t>
            </a:r>
            <a:b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</a:b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我骑了很短的一段距离回家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watched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from a safe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distance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 (=we were far away).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</a:t>
            </a:r>
            <a:r>
              <a:rPr lang="zh-CN" altLang="en-US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在安全距离外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观看。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 situation in which two people do not have a close friendly relationship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疏远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his coldness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distance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result of snobbery or shyness?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他的冷淡和疏远是因为他势利眼呢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还是因为他腼腆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9220" y="2143760"/>
            <a:ext cx="11797665" cy="215201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 the distance</a:t>
            </a:r>
            <a:r>
              <a:rPr lang="en-US" altLang="zh-CN" sz="3200" b="1" dirty="0">
                <a:sym typeface="+mn-ea"/>
              </a:rPr>
              <a:t>                     </a:t>
            </a:r>
            <a:r>
              <a:rPr lang="zh-CN" altLang="en-US" sz="3200" b="1" dirty="0">
                <a:sym typeface="+mn-ea"/>
              </a:rPr>
              <a:t>在远处</a:t>
            </a:r>
            <a:endParaRPr lang="zh-CN" altLang="en-US" sz="3200" b="1" dirty="0"/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at / from a distance</a:t>
            </a:r>
            <a:r>
              <a:rPr lang="en-US" altLang="zh-CN" sz="3200" b="1" dirty="0">
                <a:sym typeface="+mn-ea"/>
              </a:rPr>
              <a:t>             </a:t>
            </a:r>
            <a:r>
              <a:rPr lang="zh-CN" altLang="en-US" sz="3200" b="1" dirty="0">
                <a:sym typeface="+mn-ea"/>
              </a:rPr>
              <a:t>离一段距离，从远处</a:t>
            </a:r>
            <a:endParaRPr lang="zh-CN" altLang="en-US" sz="3200" b="1" dirty="0"/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within walking distance</a:t>
            </a:r>
            <a:r>
              <a:rPr lang="en-US" altLang="zh-CN" sz="3200" b="1" dirty="0">
                <a:sym typeface="+mn-ea"/>
              </a:rPr>
              <a:t>      </a:t>
            </a:r>
            <a:r>
              <a:rPr lang="zh-CN" altLang="en-US" sz="3200" b="1" dirty="0">
                <a:sym typeface="+mn-ea"/>
              </a:rPr>
              <a:t>在步行可及的地方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>
            <p:custDataLst>
              <p:tags r:id="rId2"/>
            </p:custDataLst>
          </p:nvPr>
        </p:nvSpPr>
        <p:spPr>
          <a:xfrm>
            <a:off x="109220" y="5502910"/>
            <a:ext cx="11953240" cy="124650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keep sb. at a distance</a:t>
            </a:r>
            <a:r>
              <a:rPr lang="en-US" altLang="zh-CN" sz="3200" b="1" dirty="0">
                <a:sym typeface="+mn-ea"/>
              </a:rPr>
              <a:t>           </a:t>
            </a:r>
            <a:r>
              <a:rPr lang="zh-CN" altLang="en-US" sz="3200" b="1" dirty="0">
                <a:sym typeface="+mn-ea"/>
              </a:rPr>
              <a:t>与某人疏远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keep one’s distance from…</a:t>
            </a:r>
            <a:r>
              <a:rPr lang="en-US" altLang="zh-CN" sz="3200" b="1" dirty="0">
                <a:sym typeface="+mn-ea"/>
              </a:rPr>
              <a:t> </a:t>
            </a:r>
            <a:r>
              <a:rPr lang="zh-CN" altLang="en-US" sz="3200" b="1" dirty="0">
                <a:latin typeface="+mn-ea"/>
                <a:sym typeface="+mn-ea"/>
              </a:rPr>
              <a:t>与</a:t>
            </a:r>
            <a:r>
              <a:rPr lang="en-US" altLang="zh-CN" sz="3200" b="1" dirty="0">
                <a:latin typeface="+mn-ea"/>
                <a:sym typeface="+mn-ea"/>
              </a:rPr>
              <a:t>……</a:t>
            </a:r>
            <a:r>
              <a:rPr lang="zh-CN" altLang="en-US" sz="3200" b="1" dirty="0">
                <a:latin typeface="+mn-ea"/>
                <a:sym typeface="+mn-ea"/>
              </a:rPr>
              <a:t>保持距离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4" grpId="0" bldLvl="0" animBg="1"/>
      <p:bldP spid="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7" name="Text Box 2"/>
          <p:cNvSpPr txBox="1">
            <a:spLocks noChangeArrowheads="1"/>
          </p:cNvSpPr>
          <p:nvPr/>
        </p:nvSpPr>
        <p:spPr bwMode="auto">
          <a:xfrm>
            <a:off x="1798955" y="200660"/>
            <a:ext cx="8868410" cy="5967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713105" indent="-71310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273175" indent="-28575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681480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2089150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497455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95465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41185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86905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32625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常用结构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en-US" altLang="zh-CN" sz="3200" b="1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distance learning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social distancing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+mn-ea"/>
                <a:cs typeface="Times New Roman Bold" panose="02020503050405090304" charset="0"/>
              </a:rPr>
              <a:t>distance oneself from ...</a:t>
            </a:r>
            <a:r>
              <a:rPr lang="en-US" altLang="zh-CN" sz="3200" b="1" dirty="0">
                <a:latin typeface="+mn-ea"/>
                <a:ea typeface="+mn-ea"/>
              </a:rPr>
              <a:t> 	 </a:t>
            </a:r>
            <a:r>
              <a:rPr lang="zh-CN" altLang="en-US" sz="3200" b="1" dirty="0">
                <a:latin typeface="+mn-ea"/>
                <a:ea typeface="+mn-ea"/>
              </a:rPr>
              <a:t>拉开距离；与</a:t>
            </a:r>
            <a:r>
              <a:rPr lang="en-US" altLang="zh-CN" sz="3200" b="1" dirty="0">
                <a:latin typeface="+mn-ea"/>
                <a:ea typeface="+mn-ea"/>
              </a:rPr>
              <a:t>...</a:t>
            </a:r>
            <a:r>
              <a:rPr lang="zh-CN" altLang="en-US" sz="3200" b="1" dirty="0">
                <a:latin typeface="+mn-ea"/>
                <a:ea typeface="+mn-ea"/>
              </a:rPr>
              <a:t>疏远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573520" y="818515"/>
            <a:ext cx="25488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远程学习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573520" y="1388110"/>
            <a:ext cx="25488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社交距离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7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7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658500" y="1216073"/>
            <a:ext cx="10875000" cy="4694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distant </a:t>
            </a:r>
            <a:r>
              <a:rPr lang="en-US" altLang="zh-CN" sz="3200" b="1" i="1" dirty="0">
                <a:solidFill>
                  <a:srgbClr val="FF0000"/>
                </a:solidFill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</a:rPr>
              <a:t>远的；远亲的；远离的；冷淡的</a:t>
            </a:r>
            <a:r>
              <a:rPr lang="en-US" altLang="zh-CN" sz="3200" b="1" dirty="0">
                <a:solidFill>
                  <a:srgbClr val="000000"/>
                </a:solidFill>
              </a:rPr>
              <a:t>(</a:t>
            </a:r>
            <a:r>
              <a:rPr lang="zh-CN" altLang="en-US" sz="3200" b="1" dirty="0">
                <a:solidFill>
                  <a:srgbClr val="000000"/>
                </a:solidFill>
              </a:rPr>
              <a:t>常接介词</a:t>
            </a:r>
            <a:r>
              <a:rPr lang="en-US" altLang="zh-CN" sz="3200" b="1" dirty="0">
                <a:solidFill>
                  <a:srgbClr val="000000"/>
                </a:solidFill>
              </a:rPr>
              <a:t>from)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	the distant past</a:t>
            </a:r>
            <a:r>
              <a:rPr lang="en-US" altLang="zh-CN" sz="3200" b="1" dirty="0">
                <a:solidFill>
                  <a:srgbClr val="000000"/>
                </a:solidFill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</a:rPr>
              <a:t>遥远的过去</a:t>
            </a:r>
            <a:endParaRPr lang="en-US" altLang="zh-CN" sz="32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distantly  </a:t>
            </a:r>
            <a:r>
              <a:rPr lang="en-US" altLang="zh-CN" sz="3200" b="1" i="1" dirty="0">
                <a:solidFill>
                  <a:srgbClr val="FF0000"/>
                </a:solidFill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</a:rPr>
              <a:t>遥远地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distant towards sb.</a:t>
            </a:r>
            <a:r>
              <a:rPr lang="en-US" altLang="zh-CN" sz="3200" b="1" dirty="0">
                <a:solidFill>
                  <a:srgbClr val="000000"/>
                </a:solidFill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</a:rPr>
              <a:t>对某人冷淡</a:t>
            </a: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be distant from...</a:t>
            </a:r>
            <a:r>
              <a:rPr lang="en-US" altLang="zh-CN" sz="3200" b="1" dirty="0">
                <a:solidFill>
                  <a:srgbClr val="000000"/>
                </a:solidFill>
              </a:rPr>
              <a:t>          </a:t>
            </a:r>
            <a:r>
              <a:rPr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离</a:t>
            </a:r>
            <a:r>
              <a:rPr lang="en-US" altLang="zh-CN" sz="3200" b="1" dirty="0">
                <a:solidFill>
                  <a:srgbClr val="000000"/>
                </a:solidFill>
                <a:latin typeface="+mn-ea"/>
                <a:ea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远</a:t>
            </a:r>
            <a:endParaRPr lang="en-US" altLang="zh-CN" sz="32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The place is six miles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</a:rPr>
              <a:t>distant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</a:rPr>
              <a:t>from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 the sea. </a:t>
            </a: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那地方距离海有六哩远。</a:t>
            </a:r>
            <a:endParaRPr lang="en-US" altLang="zh-CN" sz="3200" b="1" dirty="0">
              <a:solidFill>
                <a:srgbClr val="000000"/>
              </a:solidFill>
              <a:cs typeface="Times New Roman" panose="0202050305040509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He is direct and courteous but </a:t>
            </a: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</a:rPr>
              <a:t>distant</a:t>
            </a: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他直截了当且礼数周全，但是态度冷淡。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25" y="204198"/>
            <a:ext cx="1806486" cy="1011632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771005" y="1805940"/>
            <a:ext cx="495808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the not too distant future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Text Box 2"/>
          <p:cNvSpPr txBox="1">
            <a:spLocks noChangeArrowheads="1"/>
          </p:cNvSpPr>
          <p:nvPr/>
        </p:nvSpPr>
        <p:spPr bwMode="auto">
          <a:xfrm>
            <a:off x="577215" y="469265"/>
            <a:ext cx="114490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90930" indent="-28575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8600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6905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4575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一句多译。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那只狗看上去很凶，所以我决定躲远点。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The dog looked dangerous, so I decided to _________________ from it.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The dog looked dangerous, so I decided to ___________________.</a:t>
            </a:r>
          </a:p>
        </p:txBody>
      </p:sp>
      <p:sp>
        <p:nvSpPr>
          <p:cNvPr id="219139" name="Rectangle 3"/>
          <p:cNvSpPr>
            <a:spLocks noChangeArrowheads="1"/>
          </p:cNvSpPr>
          <p:nvPr/>
        </p:nvSpPr>
        <p:spPr bwMode="auto">
          <a:xfrm>
            <a:off x="8109439" y="1603717"/>
            <a:ext cx="3505200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my distance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7961142" y="2836887"/>
            <a:ext cx="4495800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 me at a distance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77361" y="4071034"/>
            <a:ext cx="11350479" cy="250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1090930" indent="-28575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498600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906905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314575" indent="-228600"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tabLst>
                <a:tab pos="985520" algn="l"/>
              </a:tabLs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cs typeface="Times New Roman" panose="02020503050405090304" pitchFamily="18" charset="0"/>
              </a:rPr>
              <a:t>完成句子。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cs typeface="Times New Roman" panose="02020503050405090304" pitchFamily="18" charset="0"/>
              </a:rPr>
              <a:t>I encountered many hikers who were headed to a _________ (distance) camp-ground with just enough time to get there before dark. </a:t>
            </a:r>
            <a:endParaRPr lang="zh-CN" altLang="zh-CN" sz="3200" b="1" dirty="0">
              <a:solidFill>
                <a:srgbClr val="000000"/>
              </a:solidFill>
              <a:cs typeface="Times New Roman" panose="0202050305040509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547469" y="4678383"/>
            <a:ext cx="1600200" cy="643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distant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/>
      <p:bldP spid="219140" grpId="0" bldLvl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6410" y="445168"/>
            <a:ext cx="11694694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Each turned to fly ‒ each running, pressing, pushing against the other.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所有人都感赶忙飞奔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他们奔跑，拥挤，你推我搡。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844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独立主格结构。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84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构成：名词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代词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不定式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副词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介词短语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901700" indent="-5416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作用：在句中作状语，表示时间、原因、条件、方式、伴随等。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storm over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everything was in peace again.(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4500" indent="1084580">
              <a:lnSpc>
                <a:spcPct val="120000"/>
              </a:lnSpc>
              <a:tabLst>
                <a:tab pos="3600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 much baggage to carry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 had to take a taxi.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原因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4500" indent="1084580">
              <a:lnSpc>
                <a:spcPct val="120000"/>
              </a:lnSpc>
              <a:tabLst>
                <a:tab pos="360045" algn="l"/>
              </a:tabLst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Time permitting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we can wander around the park.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条件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4500" indent="1084580">
              <a:lnSpc>
                <a:spcPct val="120000"/>
              </a:lnSpc>
              <a:tabLst>
                <a:tab pos="36004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teacher entered the classroom,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book in hand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8140" y="291569"/>
            <a:ext cx="11430000" cy="6247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28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分词作状语、独立主格结构和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复合结构三者的关系和演变：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分词作状语：分词的逻辑主语是句子的主语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独立主格结构：独立主格结构有自己的逻辑主语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复合结构：在独立主格结构前加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构成</a:t>
            </a:r>
            <a:endParaRPr lang="en-US" altLang="zh-CN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25475" indent="-625475"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Taking everything into consideration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 think his plan seems to be more workable. (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分词作状语，分词主语和句子主语一致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625475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Everything taken into consideration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his plan seems to be more workable. (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独立主格结构，分词的主语是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everything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，和句子的主语不一致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625475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everything taken into consideration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his plan seems to be more workable. (with</a:t>
            </a:r>
            <a:r>
              <a: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</a:t>
            </a:r>
            <a:r>
              <a:rPr lang="en-US" altLang="zh-CN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7042" y="1058778"/>
            <a:ext cx="11562347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He lay in bed, his eyes _________ (look) at the ceiling and his fingers crossed.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More time _________ (give), we can finish the work.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lecture _________________ (give), a lively question- and-answer session followed.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party will be held in the garden, weather ____________ (permit).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9358" y="1612231"/>
            <a:ext cx="148309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looking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3989" y="2800861"/>
            <a:ext cx="11192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2196" y="3377986"/>
            <a:ext cx="343235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having been given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39463" y="4511842"/>
            <a:ext cx="205216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permitting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7042" y="1900989"/>
            <a:ext cx="11369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Much time _________ (spend) sitting at a desk, office workers are generally troubled by health problems.</a:t>
            </a:r>
          </a:p>
          <a:p>
            <a:pPr marL="444500" indent="-4445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6) Bats are surprisingly long-lived creatures, some _________ (have) a lifespan of around 20 years.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7) Many things _________ (settle), the manager looks worried. 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64306" y="1804737"/>
            <a:ext cx="11192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36506" y="3019926"/>
            <a:ext cx="136928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64306" y="4264713"/>
            <a:ext cx="164339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settle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60395" y="326107"/>
            <a:ext cx="10785231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Its walls were fresh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if painted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yesterday: not a single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colour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changed on the rich pattern of its floors.</a:t>
            </a:r>
          </a:p>
          <a:p>
            <a:pPr marL="360680" indent="-3606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它的墙壁依然新的像昨天刚刚刷完；地板上繁复的图案，一点都没有褪色。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as if painted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是省略的状语从句，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if they were painted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 opened his mouth as if ______  (say) something.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249545" y="3869690"/>
            <a:ext cx="13633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3383" y="738554"/>
            <a:ext cx="10970457" cy="5354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lvl="0" indent="-7207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 at college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I began to know him, a strange but able   student. 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我在上大学时就开始认识他，一个奇怪但有能力的学生。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While (he was) a young boy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he was always ready to help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others.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他在孩提时代就总是乐于助人。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720725" indent="-7207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 walking along the riverbank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she was singing a pop song.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她沿着河堤边走边唱着流行歌曲。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858" y="1314575"/>
            <a:ext cx="10826262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wouldn’t solve the problem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even if (she were)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take charge.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即使她来负责，她也解决不了这个问题。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looked anxious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though (she was)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trouble.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她看上去很焦急，好像遇到了麻烦。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(it is) well read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the book will give you much to think.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如果好好读，这本书会让你思考很多东西。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49703" y="939323"/>
            <a:ext cx="1503947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0551" y="2767262"/>
            <a:ext cx="1943099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约定俗成的省略形式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2153650" y="1612880"/>
            <a:ext cx="324855" cy="381294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98821" y="1492984"/>
            <a:ext cx="9577137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so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如果这样的话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not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如果不的话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any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如果有的话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ever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如果曾经有的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if/ when necessary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如果有必要的话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在必要的时候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if/ when possible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如果可能的话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在可能的时候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if/ where appropriate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如果合适的话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在合适的情况下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8916" y="1708484"/>
            <a:ext cx="11237495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If __________ (accept) for the job, you’ll be informed soon.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While __________ (wait) for the opportunity to get promoted, Henry did his best to perform his duty.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Film has a much shorter history, especially when __________ (compare) to such art forms as music and painting.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91916" y="2273968"/>
            <a:ext cx="171232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accepted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25842" y="2839452"/>
            <a:ext cx="148309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waiting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32759" y="4042611"/>
            <a:ext cx="19325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compared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2509</Words>
  <Application>Microsoft Macintosh PowerPoint</Application>
  <PresentationFormat>Widescreen</PresentationFormat>
  <Paragraphs>261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 Bold</vt:lpstr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Qing NI</cp:lastModifiedBy>
  <cp:revision>212</cp:revision>
  <dcterms:created xsi:type="dcterms:W3CDTF">2024-03-26T08:37:44Z</dcterms:created>
  <dcterms:modified xsi:type="dcterms:W3CDTF">2026-07-22T14:14:31Z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3AE7C6A5A03A74A174430864C0E39146_42</vt:lpwstr>
  </property>
  <property fmtid="{D5CDD505-2E9C-101B-9397-08002B2CF9AE}" pid="3" name="KSOProductBuildVer">
    <vt:lpwstr>1033-6.5.2.8766</vt:lpwstr>
  </property>
</Properties>
</file>