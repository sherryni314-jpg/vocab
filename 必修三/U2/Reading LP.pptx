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2.xml" ContentType="application/vnd.openxmlformats-officedocument.presentationml.tags+xml"/>
  <Override PartName="/ppt/notesSlides/notesSlide11.xml" ContentType="application/vnd.openxmlformats-officedocument.presentationml.notesSlide+xml"/>
  <Override PartName="/ppt/tags/tag3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50"/>
  </p:notesMasterIdLst>
  <p:sldIdLst>
    <p:sldId id="550" r:id="rId3"/>
    <p:sldId id="390" r:id="rId4"/>
    <p:sldId id="348" r:id="rId5"/>
    <p:sldId id="375" r:id="rId6"/>
    <p:sldId id="350" r:id="rId7"/>
    <p:sldId id="351" r:id="rId8"/>
    <p:sldId id="377" r:id="rId9"/>
    <p:sldId id="477" r:id="rId10"/>
    <p:sldId id="355" r:id="rId11"/>
    <p:sldId id="358" r:id="rId12"/>
    <p:sldId id="479" r:id="rId13"/>
    <p:sldId id="391" r:id="rId14"/>
    <p:sldId id="478" r:id="rId15"/>
    <p:sldId id="430" r:id="rId16"/>
    <p:sldId id="360" r:id="rId17"/>
    <p:sldId id="361" r:id="rId18"/>
    <p:sldId id="434" r:id="rId19"/>
    <p:sldId id="432" r:id="rId20"/>
    <p:sldId id="393" r:id="rId21"/>
    <p:sldId id="394" r:id="rId22"/>
    <p:sldId id="395" r:id="rId23"/>
    <p:sldId id="396" r:id="rId24"/>
    <p:sldId id="364" r:id="rId25"/>
    <p:sldId id="388" r:id="rId26"/>
    <p:sldId id="398" r:id="rId27"/>
    <p:sldId id="397" r:id="rId28"/>
    <p:sldId id="379" r:id="rId29"/>
    <p:sldId id="431" r:id="rId30"/>
    <p:sldId id="531" r:id="rId31"/>
    <p:sldId id="366" r:id="rId32"/>
    <p:sldId id="384" r:id="rId33"/>
    <p:sldId id="459" r:id="rId34"/>
    <p:sldId id="369" r:id="rId35"/>
    <p:sldId id="370" r:id="rId36"/>
    <p:sldId id="461" r:id="rId37"/>
    <p:sldId id="399" r:id="rId38"/>
    <p:sldId id="371" r:id="rId39"/>
    <p:sldId id="380" r:id="rId40"/>
    <p:sldId id="389" r:id="rId41"/>
    <p:sldId id="462" r:id="rId42"/>
    <p:sldId id="463" r:id="rId43"/>
    <p:sldId id="464" r:id="rId44"/>
    <p:sldId id="465" r:id="rId45"/>
    <p:sldId id="400" r:id="rId46"/>
    <p:sldId id="401" r:id="rId47"/>
    <p:sldId id="402" r:id="rId48"/>
    <p:sldId id="403" r:id="rId4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9933FF"/>
    <a:srgbClr val="0033CC"/>
    <a:srgbClr val="CFD5EA"/>
    <a:srgbClr val="4472C4"/>
    <a:srgbClr val="0A74F9"/>
    <a:srgbClr val="C4D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1" autoAdjust="0"/>
    <p:restoredTop sz="95505" autoAdjust="0"/>
  </p:normalViewPr>
  <p:slideViewPr>
    <p:cSldViewPr snapToGrid="0">
      <p:cViewPr varScale="1">
        <p:scale>
          <a:sx n="104" d="100"/>
          <a:sy n="104" d="100"/>
        </p:scale>
        <p:origin x="7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社论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  尽管玻璃破碎和物体落地发出阵阵巨响，但是学生们仍然</a:t>
            </a:r>
            <a:endParaRPr lang="en-US" altLang="zh-CN" b="1" dirty="0"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  </a:t>
            </a:r>
            <a:r>
              <a:rPr lang="zh-CN" altLang="en-US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一动不动，沉着安静地等待着。</a:t>
            </a:r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  尽管玻璃破碎和物体落地发出阵阵巨响，但是学生们仍然</a:t>
            </a:r>
            <a:endParaRPr lang="en-US" altLang="zh-CN" b="1" dirty="0"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  </a:t>
            </a:r>
            <a:r>
              <a:rPr lang="zh-CN" altLang="en-US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一动不动，沉着安静地等待着。</a:t>
            </a:r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It's a beautiful, clean and orderly city.</a:t>
            </a:r>
          </a:p>
          <a:p>
            <a:r>
              <a:rPr lang="en-US"/>
              <a:t>这是一座美丽清洁、秩序井然的城市。</a:t>
            </a:r>
          </a:p>
          <a:p>
            <a:r>
              <a:rPr lang="en-US"/>
              <a:t>Their vehicles were parked in orderly rows.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my heart raced fast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odd numbers </a:t>
            </a:r>
            <a:r>
              <a:rPr lang="zh-CN" altLang="en-US"/>
              <a:t>奇数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keep sb updated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68605" y="264795"/>
            <a:ext cx="11798935" cy="1272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1. Only 5 students </a:t>
            </a:r>
            <a:r>
              <a:rPr lang="en-US" altLang="zh-CN" sz="3200" b="1" u="sng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suffered slight injuries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, despite the current  figures of 7 killed and over 200 </a:t>
            </a:r>
            <a:r>
              <a:rPr lang="en-US" altLang="zh-CN" sz="3200" b="1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injured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 in the disaster area </a:t>
            </a:r>
            <a:r>
              <a:rPr lang="en-US" altLang="zh-CN" sz="3200" b="1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at large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zh-CN" sz="3200" b="1" dirty="0"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74015" y="1739265"/>
            <a:ext cx="11579860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(1)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injure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v.</a:t>
            </a:r>
            <a:r>
              <a:rPr lang="en-US" altLang="zh-CN" sz="3200" b="1" dirty="0">
                <a:solidFill>
                  <a:srgbClr val="0070C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harm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伤害，使受伤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1976755" indent="87630">
              <a:lnSpc>
                <a:spcPct val="120000"/>
              </a:lnSpc>
            </a:pPr>
            <a:r>
              <a:rPr lang="en-US" sz="3200" b="1" i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damage to reputation, pride, etc.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损害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He injured his knee/oneself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使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某身体部位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自己受伤</a:t>
            </a:r>
            <a:endParaRPr lang="en-US" altLang="zh-CN" sz="3200" b="1" kern="100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be badly / seriously / slightly injured </a:t>
            </a:r>
            <a:r>
              <a:rPr lang="zh-CN" altLang="zh-CN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严重</a:t>
            </a:r>
            <a:r>
              <a:rPr lang="en-US" altLang="zh-CN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轻微</a:t>
            </a:r>
            <a:r>
              <a:rPr lang="zh-CN" altLang="zh-CN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受伤</a:t>
            </a:r>
            <a:endParaRPr lang="zh-CN" altLang="zh-CN" sz="3200" b="1" kern="100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injure one’s reputation / pride / feelings</a:t>
            </a:r>
          </a:p>
          <a:p>
            <a:pPr>
              <a:lnSpc>
                <a:spcPct val="120000"/>
              </a:lnSpc>
            </a:pPr>
            <a:r>
              <a:rPr lang="zh-CN" altLang="zh-CN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伤害某人的名誉</a:t>
            </a:r>
            <a:r>
              <a:rPr lang="en-US" altLang="zh-CN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zh-CN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自尊心</a:t>
            </a:r>
            <a:r>
              <a:rPr lang="en-US" altLang="zh-CN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zh-CN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感情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39090" y="403860"/>
            <a:ext cx="11852275" cy="284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endParaRPr lang="zh-CN" altLang="zh-CN" sz="3200" b="1" kern="100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1. A number of bombs have exploded, seriously ________ (injure) at least five people.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2. She was disturbed to learn you ________________ (injure) in the accident.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8799195" y="836930"/>
            <a:ext cx="1605915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injuring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6263640" y="1942465"/>
            <a:ext cx="3141345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had been injured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661670" y="587375"/>
            <a:ext cx="11530330" cy="599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1) injury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un. &amp; cn.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伤害；损伤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 had to quit the competition because of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injury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受伤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疗伤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伤愈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 injured </a:t>
            </a:r>
            <a:r>
              <a:rPr lang="en-US" altLang="zh-CN" sz="3200" b="1" i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adj.</a:t>
            </a: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</a:t>
            </a:r>
            <a:r>
              <a:rPr lang="zh-CN" altLang="zh-CN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受伤的，有伤的</a:t>
            </a:r>
          </a:p>
          <a:p>
            <a:pPr algn="l">
              <a:lnSpc>
                <a:spcPct val="120000"/>
              </a:lnSpc>
            </a:pPr>
            <a:r>
              <a:rPr lang="en-US" altLang="zh-CN" sz="3200" b="1" kern="100" dirty="0">
                <a:solidFill>
                  <a:srgbClr val="0070C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</a:t>
            </a: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injured   </a:t>
            </a:r>
            <a:r>
              <a:rPr lang="zh-CN" altLang="zh-CN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伤员</a:t>
            </a:r>
            <a:r>
              <a:rPr lang="en-US" altLang="zh-CN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(</a:t>
            </a:r>
            <a:r>
              <a:rPr lang="zh-CN" altLang="zh-CN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作主语时谓语动词用复数形式</a:t>
            </a:r>
            <a:r>
              <a:rPr lang="en-US" altLang="zh-CN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Many of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injured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are still in a serious condition.</a:t>
            </a:r>
            <a:endParaRPr lang="zh-CN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509385" y="587375"/>
            <a:ext cx="2903855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rgbClr val="9933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[</a:t>
            </a:r>
            <a:r>
              <a:rPr lang="en-US" altLang="zh-CN" sz="3200" b="1" i="1" dirty="0">
                <a:solidFill>
                  <a:srgbClr val="9933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plural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injuries</a:t>
            </a:r>
            <a:r>
              <a:rPr lang="en-US" altLang="zh-CN" sz="3200" b="1" dirty="0">
                <a:solidFill>
                  <a:srgbClr val="9933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]</a:t>
            </a:r>
            <a:endParaRPr 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626360" y="2354580"/>
            <a:ext cx="3467100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suffer / get injuries</a:t>
            </a:r>
            <a:endParaRPr 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626360" y="2980690"/>
            <a:ext cx="2733675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treat an injury</a:t>
            </a:r>
            <a:endParaRPr 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626360" y="3566795"/>
            <a:ext cx="4166235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recover from an injury</a:t>
            </a:r>
            <a:endParaRPr 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5" grpId="0"/>
      <p:bldP spid="5" grpId="1"/>
      <p:bldP spid="6" grpId="0"/>
      <p:bldP spid="6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55498" y="1338584"/>
            <a:ext cx="11166763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(2)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at large: </a:t>
            </a:r>
            <a:r>
              <a:rPr lang="en-US" altLang="zh-CN" sz="32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as a whole; in general </a:t>
            </a:r>
            <a:r>
              <a:rPr lang="zh-CN" altLang="en-US" sz="3200" b="1" i="1" dirty="0">
                <a:solidFill>
                  <a:srgbClr val="0070C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整个，全部，总地 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This article represents the opinion of the public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at large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这篇文章代表了广大公众的意见。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563879" y="1130391"/>
            <a:ext cx="11107973" cy="4228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完成句子。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1) Two people _______________________________ 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严重受伤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  in the road accident last night.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 _____________________________ 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受伤者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 were taken to the nearest hospital.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3) What you said just now _________________ 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伤她的自尊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).     So she was very upset.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194190" y="1783336"/>
            <a:ext cx="64465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were / got badly / seriously injured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　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88267" y="2952428"/>
            <a:ext cx="589469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injured people / The injured</a:t>
            </a:r>
            <a:endParaRPr lang="zh-CN" altLang="en-US" sz="3200" dirty="0"/>
          </a:p>
        </p:txBody>
      </p:sp>
      <p:sp>
        <p:nvSpPr>
          <p:cNvPr id="3" name="矩形 2"/>
          <p:cNvSpPr/>
          <p:nvPr/>
        </p:nvSpPr>
        <p:spPr>
          <a:xfrm>
            <a:off x="5382423" y="4112201"/>
            <a:ext cx="32010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injured her pride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413" y="195091"/>
            <a:ext cx="11724537" cy="68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Her students’ </a:t>
            </a:r>
            <a:r>
              <a:rPr lang="en-US" altLang="zh-CN" sz="3200" b="1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reaction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was quick and correct – 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78130" y="861060"/>
            <a:ext cx="11445875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06980" indent="-250698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reaction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n.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what you do, say or think as a result of something that has happened</a:t>
            </a:r>
            <a:r>
              <a:rPr lang="en-US" altLang="zh-CN" sz="32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反应；回应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My </a:t>
            </a:r>
            <a:r>
              <a:rPr lang="en-US" altLang="zh-CN" sz="3200" b="1" u="sng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immediate reaction to</a:t>
            </a:r>
            <a:r>
              <a:rPr lang="en-US" altLang="zh-CN" sz="32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the news was one of shock.</a:t>
            </a:r>
            <a:endParaRPr lang="en-US" altLang="zh-CN" sz="3200" b="1" kern="100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algn="l">
              <a:lnSpc>
                <a:spcPct val="120000"/>
              </a:lnSpc>
            </a:pPr>
            <a:r>
              <a:rPr lang="zh-CN" altLang="en-US" sz="32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对……的当即反应</a:t>
            </a:r>
            <a:endParaRPr lang="en-US" altLang="zh-CN" sz="3200" b="1" kern="100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algn="l">
              <a:lnSpc>
                <a:spcPct val="120000"/>
              </a:lnSpc>
            </a:pPr>
            <a:r>
              <a:rPr lang="en-US" altLang="zh-CN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 newspaper received many angry letters </a:t>
            </a:r>
            <a:r>
              <a:rPr lang="en-US" altLang="zh-CN" sz="3200" b="1" u="sng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in reaction to</a:t>
            </a:r>
            <a:r>
              <a:rPr lang="en-US" altLang="zh-CN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 the editorial.</a:t>
            </a:r>
          </a:p>
          <a:p>
            <a:pPr algn="l">
              <a:lnSpc>
                <a:spcPct val="120000"/>
              </a:lnSpc>
            </a:pPr>
            <a:r>
              <a:rPr lang="zh-CN" altLang="en-US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针对……做出的反应</a:t>
            </a:r>
            <a:endParaRPr lang="en-US" altLang="zh-CN" sz="3200" b="1" kern="100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94665" y="90805"/>
            <a:ext cx="11202670" cy="1863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16280" indent="-541655">
              <a:lnSpc>
                <a:spcPct val="120000"/>
              </a:lnSpc>
            </a:pPr>
            <a:r>
              <a: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 skilled driver </a:t>
            </a:r>
            <a:r>
              <a:rPr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with quick reactions</a:t>
            </a:r>
            <a:r>
              <a:rPr lang="en-US"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en-US" sz="3200" b="1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[pl. </a:t>
            </a:r>
            <a:r>
              <a:rPr lang="zh-CN" altLang="en-US" sz="3200" b="1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反应能力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]</a:t>
            </a:r>
            <a:endParaRPr sz="3200" b="1">
              <a:solidFill>
                <a:srgbClr val="0000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marL="716280" indent="-541655">
              <a:lnSpc>
                <a:spcPct val="120000"/>
              </a:lnSpc>
            </a:pPr>
            <a:r>
              <a:rPr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反应敏捷的</a:t>
            </a:r>
            <a:r>
              <a: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熟练司机</a:t>
            </a:r>
            <a:endParaRPr sz="3200" b="1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marL="716280" indent="-541655">
              <a:lnSpc>
                <a:spcPct val="120000"/>
              </a:lnSpc>
            </a:pPr>
            <a:r>
              <a:rPr lang="en-US" sz="32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= be quick to react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594995" y="1953895"/>
            <a:ext cx="11348720" cy="4815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He </a:t>
            </a:r>
            <a:r>
              <a:rPr lang="en-US" altLang="zh-CN" sz="3200" b="1" u="sng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reacted</a:t>
            </a:r>
            <a:r>
              <a:rPr lang="en-US" altLang="zh-CN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angrily </a:t>
            </a:r>
            <a:r>
              <a:rPr lang="en-US" altLang="zh-CN" sz="3200" b="1" u="sng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to</a:t>
            </a:r>
            <a:r>
              <a:rPr lang="en-US" altLang="zh-CN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the suggestion that he had lied.</a:t>
            </a:r>
            <a:endParaRPr lang="en-US" altLang="zh-CN" sz="3200" b="1" kern="100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有人暗示说他撒谎，他非常生气。</a:t>
            </a:r>
            <a:endParaRPr lang="en-US" altLang="zh-CN" sz="3200" b="1" kern="100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Someone allergic to milk is likely to </a:t>
            </a:r>
            <a:r>
              <a:rPr lang="en-US" altLang="zh-CN" sz="3200" b="1" u="sng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react to</a:t>
            </a: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cheese.</a:t>
            </a:r>
            <a:endParaRPr lang="en-US" altLang="zh-CN" sz="3200" b="1" kern="100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对牛奶过敏的人可能对奶酪也有不良反应。</a:t>
            </a:r>
          </a:p>
          <a:p>
            <a:pPr>
              <a:lnSpc>
                <a:spcPct val="120000"/>
              </a:lnSpc>
            </a:pPr>
            <a:r>
              <a:rPr lang="zh-CN" altLang="en-US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Iron</a:t>
            </a:r>
            <a:r>
              <a:rPr lang="zh-CN" altLang="en-US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u="sng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reacts with</a:t>
            </a:r>
            <a:r>
              <a:rPr lang="zh-CN" altLang="en-US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water and air to produce rust.</a:t>
            </a:r>
          </a:p>
          <a:p>
            <a:pPr>
              <a:lnSpc>
                <a:spcPct val="120000"/>
              </a:lnSpc>
            </a:pPr>
            <a:r>
              <a:rPr lang="zh-CN" altLang="en-US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起化学反应</a:t>
            </a:r>
          </a:p>
          <a:p>
            <a:pPr>
              <a:lnSpc>
                <a:spcPct val="120000"/>
              </a:lnSpc>
            </a:pPr>
            <a:r>
              <a:rPr lang="zh-CN" altLang="en-US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He </a:t>
            </a:r>
            <a:r>
              <a:rPr lang="zh-CN" altLang="en-US" sz="3200" b="1" u="sng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reacted</a:t>
            </a:r>
            <a:r>
              <a:rPr lang="zh-CN" altLang="en-US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strongly </a:t>
            </a:r>
            <a:r>
              <a:rPr lang="zh-CN" altLang="en-US" sz="3200" b="1" u="sng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against</a:t>
            </a:r>
            <a:r>
              <a:rPr lang="zh-CN" altLang="en-US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the artistic conventions of his time.</a:t>
            </a:r>
          </a:p>
          <a:p>
            <a:pPr>
              <a:lnSpc>
                <a:spcPct val="120000"/>
              </a:lnSpc>
            </a:pPr>
            <a:r>
              <a:rPr lang="zh-CN" altLang="en-US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他强烈</a:t>
            </a:r>
            <a:r>
              <a:rPr lang="zh-CN" altLang="en-US" sz="3200" b="1" u="sng" kern="1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反对</a:t>
            </a:r>
            <a:r>
              <a:rPr lang="zh-CN" altLang="en-US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当时的艺术俗套。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413" y="195091"/>
            <a:ext cx="11724537" cy="1272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...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– they moved under their desks, head first, and </a:t>
            </a:r>
            <a:r>
              <a:rPr lang="en-US" altLang="zh-CN" sz="3200" b="1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held on to 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legs of the desks.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295241" y="1569963"/>
            <a:ext cx="11166763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(2)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hold on to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抓紧，不放开；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替别人或更长时间地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保存某物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Hold on to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my arm.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I’ll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hold on to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these old stamps for my grandparents until they get back.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</a:t>
            </a:r>
            <a:endParaRPr lang="en-US" altLang="zh-CN" sz="3200" b="1" dirty="0">
              <a:solidFill>
                <a:srgbClr val="0070C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我祖父母回来之前我将</a:t>
            </a:r>
            <a:r>
              <a:rPr lang="zh-CN" altLang="en-US" sz="3200" b="1" u="sng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一直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替他们</a:t>
            </a:r>
            <a:r>
              <a:rPr lang="zh-CN" altLang="en-US" sz="3200" b="1" u="sng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保管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这些老邮票。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37779" y="1478148"/>
            <a:ext cx="10987376" cy="4819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hold back the truth / fact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隐瞒真相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事实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hold back tears / anger   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忍住眼泪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抑制愤怒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hold one’s breath             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屏住呼吸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hold off                             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延迟；推迟；战胜；克服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hold on                             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等着；坚持住；别挂断；抓住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抱住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hold on to                         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坚持；保住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留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hold out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                       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维持；坚持；伸出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手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hold up                             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支撑；举起；阻挡；滞留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84" t="9094" r="27497" b="10542"/>
          <a:stretch>
            <a:fillRect/>
          </a:stretch>
        </p:blipFill>
        <p:spPr>
          <a:xfrm>
            <a:off x="737779" y="987874"/>
            <a:ext cx="1037967" cy="490274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30200" y="123190"/>
            <a:ext cx="11594465" cy="599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3. There were </a:t>
            </a:r>
            <a:r>
              <a:rPr lang="en-US" altLang="zh-CN" sz="3200" b="1" u="sng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loud crashes of glass breaking and things falling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to the ground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, but the students remained still and waited calmly and quietly.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breaking</a:t>
            </a:r>
            <a:r>
              <a:rPr lang="zh-CN" altLang="en-US" sz="3200" b="1" dirty="0"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和</a:t>
            </a: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falling to the ground</a:t>
            </a:r>
            <a:r>
              <a:rPr lang="zh-CN" altLang="en-US" sz="3200" b="1" dirty="0"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作</a:t>
            </a: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of</a:t>
            </a:r>
            <a:r>
              <a:rPr lang="zh-CN" altLang="en-US" sz="3200" b="1" dirty="0"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的宾语，</a:t>
            </a: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glass</a:t>
            </a:r>
            <a:r>
              <a:rPr lang="zh-CN" altLang="en-US" sz="3200" b="1" dirty="0"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和</a:t>
            </a: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things</a:t>
            </a:r>
            <a:r>
              <a:rPr lang="zh-CN" altLang="en-US" sz="3200" b="1" dirty="0"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作为它们的逻辑主语，称为</a:t>
            </a:r>
            <a:r>
              <a:rPr lang="zh-CN" altLang="en-US" sz="3200" b="1" dirty="0">
                <a:solidFill>
                  <a:srgbClr val="FF0000"/>
                </a:solidFill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动名词的复合结构</a:t>
            </a:r>
            <a:r>
              <a:rPr lang="zh-CN" altLang="en-US" sz="3200" b="1" dirty="0"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I dislike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his(him) telling</a:t>
            </a: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me what to do.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He insisted on the plan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being carried out </a:t>
            </a: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immediately.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(He insisted on the plan carried out immediately.) </a:t>
            </a:r>
            <a:r>
              <a:rPr lang="zh-CN" altLang="en-US" sz="3200" b="1" dirty="0">
                <a:solidFill>
                  <a:srgbClr val="0000FF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✖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逻辑主语是人，需用所有格，非人用普通格。</a:t>
            </a: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宾语位置均可。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30200" y="123190"/>
            <a:ext cx="11594465" cy="599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He was awakened by </a:t>
            </a:r>
            <a:r>
              <a:rPr lang="en-US" sz="3200" b="1" u="sng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somebody shouting</a:t>
            </a:r>
            <a:r>
              <a:rPr lang="en-US" sz="3200" b="1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 outside.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他被外面有人大叫吵醒。</a:t>
            </a:r>
          </a:p>
          <a:p>
            <a:pPr>
              <a:lnSpc>
                <a:spcPct val="12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His going to sleep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in class was really embarrassing.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他在课堂上睡着了真的很尴尬。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She was angry at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her friend’s trying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to lie to her.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她很生气朋友试着对她说谎。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One successful story is about the Tibetan antelope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listed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as a near-threatened species in 2016.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One successful story is about the Tibetan antelope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being listed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</a:t>
            </a: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as a near-threatened species in 2016.</a:t>
            </a: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54000" y="1701800"/>
            <a:ext cx="11630660" cy="2453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 billboard fell down to the ground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with a great crash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 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广告版</a:t>
            </a:r>
            <a:r>
              <a:rPr lang="zh-CN" altLang="en-US" sz="3200" b="1" u="sng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砰的一声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掉在地上。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first distant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crash of thunder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shook the air.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 Regular" panose="02020503050405090304" charset="0"/>
                <a:cs typeface="Times New Roman" panose="02020503050405090304" pitchFamily="18" charset="0"/>
                <a:sym typeface="+mn-ea"/>
              </a:rPr>
              <a:t>雷声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254183" y="250830"/>
            <a:ext cx="11166763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crash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r>
              <a:rPr lang="en-US" altLang="zh-CN" sz="3200" dirty="0"/>
              <a:t>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sudden loud noise made by </a:t>
            </a:r>
            <a:r>
              <a:rPr lang="en-US" altLang="zh-CN" sz="3200" b="1" i="1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falling, breaking </a:t>
            </a:r>
            <a:r>
              <a:rPr lang="en-US" altLang="zh-CN" sz="3200" b="1" i="1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etc</a:t>
            </a:r>
            <a:endParaRPr lang="en-US" altLang="zh-CN" sz="3200" b="1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151955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碰撞声，破裂声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54000" y="1125220"/>
            <a:ext cx="11630660" cy="3486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car crash  </a:t>
            </a:r>
            <a:r>
              <a:rPr lang="zh-CN" altLang="en-US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车祸 </a:t>
            </a:r>
          </a:p>
          <a:p>
            <a:pPr>
              <a:lnSpc>
                <a:spcPct val="11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 air crash</a:t>
            </a:r>
            <a:r>
              <a:rPr lang="zh-CN" altLang="en-US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＝</a:t>
            </a: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plane crash </a:t>
            </a:r>
            <a:r>
              <a:rPr lang="zh-CN" altLang="en-US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空难</a:t>
            </a:r>
            <a:endParaRPr lang="en-US" altLang="zh-CN" sz="3200" b="1" kern="100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 a crash </a:t>
            </a:r>
            <a:r>
              <a:rPr lang="zh-CN" altLang="en-US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在撞车事故中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Users won't lose important data if a hardware problem causes a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crash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系统崩溃</a:t>
            </a: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254183" y="250830"/>
            <a:ext cx="11166763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crash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r>
              <a:rPr lang="en-US" altLang="zh-CN" sz="3200" dirty="0"/>
              <a:t>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 accident in which a vehicle hits something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碰撞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01625" y="270510"/>
            <a:ext cx="11588115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crash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vt.&amp;vi.  </a:t>
            </a:r>
            <a:r>
              <a:rPr lang="en-US" altLang="zh-CN" sz="32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hit an object or another vehicle, causing damage</a:t>
            </a:r>
          </a:p>
          <a:p>
            <a:pPr indent="151955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碰撞，撞击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394970" y="1543050"/>
            <a:ext cx="1149477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plane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crashed into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a mountain and nobody on board survived.</a:t>
            </a:r>
          </a:p>
          <a:p>
            <a:pPr algn="l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crashed his car into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a wall.</a:t>
            </a:r>
          </a:p>
          <a:p>
            <a:pPr marL="457200" indent="-457200" algn="l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crash into pieces 撞得粉碎</a:t>
            </a:r>
          </a:p>
          <a:p>
            <a:pPr marL="457200" indent="-457200" algn="l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crash (sth) adj.</a:t>
            </a:r>
          </a:p>
          <a:p>
            <a:pPr marL="457200" indent="-457200" algn="l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door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crashed open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 algn="l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She stormed out of the room and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crashed the door shut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behind her.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513491" y="1567354"/>
            <a:ext cx="11107973" cy="3637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完成句子。</a:t>
            </a:r>
            <a:endParaRPr lang="en-US" altLang="zh-CN" sz="3200" b="1" dirty="0">
              <a:solidFill>
                <a:srgbClr val="0000FF"/>
              </a:solidFill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A small plane ________ (crash) into a hillside five miles east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of the city yesterday, killing all four people on board.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In 1945, a US military plane, which was flying over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Manhattan on a foggy day, ________ (crash) into the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building just above the 78th floor. 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512202" y="2224348"/>
            <a:ext cx="15435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crashed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836852" y="3987411"/>
            <a:ext cx="1587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crashed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10921" y="274049"/>
            <a:ext cx="11166763" cy="1863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moment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shaking stopped, Miss Brown sensed it was the best time for the class to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make their escape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晃动</a:t>
            </a:r>
            <a:r>
              <a:rPr lang="zh-CN" altLang="en-US" sz="3200" b="1" u="sng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一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停止，布朗女士</a:t>
            </a:r>
            <a:r>
              <a:rPr lang="zh-CN" altLang="en-US" sz="3200" b="1" u="sng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立即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意识到这是全班</a:t>
            </a:r>
            <a:r>
              <a:rPr lang="zh-CN" altLang="en-US" sz="3200" b="1" u="sng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逃生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的最好时机。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11835" y="2137410"/>
            <a:ext cx="11165840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moment 引导时间状语从句，表示“一...就”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(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very)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instant/second/minute sb did sth, sth happened.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还有一些常见结构：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On/Upon (doing) sth, sth happened.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Immediately/Instantly/Directly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’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ve done it, I feel completely dissatisfied with myself.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624205" y="655320"/>
            <a:ext cx="11165840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还有一些常见结构：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No sooner ... (had done) than (did)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Hardly/Scarcely (had done) when (did)</a:t>
            </a:r>
          </a:p>
          <a:p>
            <a:pPr>
              <a:lnSpc>
                <a:spcPct val="120000"/>
              </a:lnSpc>
            </a:pP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置于句首时，主句部分倒装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Hardly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had we got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into the theatre when the concert began.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25120" y="158750"/>
            <a:ext cx="11693525" cy="1863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5. She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signalled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her students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exit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the classroom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an orderly line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covering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their heads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their hands.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她示意学生们用手抱住头，排好队，有序离开教室。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25120" y="2021840"/>
            <a:ext cx="1152906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signal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v.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i="1" dirty="0">
                <a:solidFill>
                  <a:srgbClr val="0070C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发信号，示意 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1976755" indent="-19767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He</a:t>
            </a:r>
            <a:r>
              <a:rPr lang="en-US" altLang="zh-CN" sz="3200" b="1" dirty="0">
                <a:solidFill>
                  <a:srgbClr val="0070C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signalled to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the children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to be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quiet.</a:t>
            </a:r>
          </a:p>
          <a:p>
            <a:pPr marL="1976755" indent="-19767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signalled to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the waiter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for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 bill.</a:t>
            </a:r>
          </a:p>
          <a:p>
            <a:pPr marL="1976755" indent="-19767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他示意服务员结账。</a:t>
            </a:r>
          </a:p>
          <a:p>
            <a:pPr marL="1976755" indent="-19767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She signalled (that) it was time to leave.</a:t>
            </a:r>
          </a:p>
          <a:p>
            <a:pPr marL="1976755" indent="-197675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她示意该走了。</a:t>
            </a:r>
          </a:p>
          <a:p>
            <a:pPr marL="1976755" indent="-19767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(2)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signal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vt.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be a sign that sth is likely to happen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标</a:t>
            </a:r>
            <a:r>
              <a:rPr lang="zh-CN" altLang="en-US" sz="32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sym typeface="+mn-ea"/>
              </a:rPr>
              <a:t>志</a:t>
            </a:r>
            <a:r>
              <a:rPr lang="en-US" altLang="zh-CN" sz="3200" dirty="0">
                <a:solidFill>
                  <a:schemeClr val="tx1"/>
                </a:solidFill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0000FF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= indicate</a:t>
            </a:r>
          </a:p>
          <a:p>
            <a:pPr marL="1976755" indent="-197675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标志着……的开始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结束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308600" y="6092190"/>
            <a:ext cx="5467985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signal the beginning/end of sth</a:t>
            </a: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0130" y="334097"/>
            <a:ext cx="10960443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(3)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an event that shows sth is likely to happen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标志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;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预示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 movement or sound that you make to give sb information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信号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3200" b="1" i="1" dirty="0"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n. + signal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危险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警告信号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danger/warning signal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交通信号灯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traffic signals</a:t>
            </a:r>
          </a:p>
          <a:p>
            <a:pPr>
              <a:lnSpc>
                <a:spcPct val="120000"/>
              </a:lnSpc>
            </a:pPr>
            <a:endParaRPr lang="en-US" altLang="zh-CN" sz="3200" b="1" i="1" dirty="0">
              <a:solidFill>
                <a:schemeClr val="tx1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v. + signal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send out/make a signal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发出信号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receive a signal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接收信号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56055" y="1037968"/>
            <a:ext cx="11096367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1) He signaled to us _________ (join) him.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 He stood up, ___________ (signal) to the professor that he had finished his task.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3) An accident a few years ago actually _________ (signal) a slowdown in the economy.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4) We often overlook all sorts of warning _________ (signal)  about our own health.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164227" y="1544595"/>
            <a:ext cx="1414170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to join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319077" y="2175949"/>
            <a:ext cx="2125345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signal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(l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)ing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548914" y="3340426"/>
            <a:ext cx="1989455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 err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signal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(l)ed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982465" y="4473147"/>
            <a:ext cx="1370888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signals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91977" y="617839"/>
            <a:ext cx="10503243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80030" indent="-278003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(2) exit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</a:t>
            </a:r>
          </a:p>
          <a:p>
            <a:pPr marL="2780030" indent="-2780030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出口，通道</a:t>
            </a:r>
          </a:p>
          <a:p>
            <a:pPr marL="2780030" indent="-2780030">
              <a:lnSpc>
                <a:spcPct val="120000"/>
              </a:lnSpc>
            </a:pP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 act of leaving, especially of an actor from the stage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离开</a:t>
            </a:r>
          </a:p>
          <a:p>
            <a:pPr marL="1976755" indent="-197675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紧急出口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1976755" indent="-197675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安全出口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</a:p>
          <a:p>
            <a:pPr marL="1976755" indent="-197675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heroine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made her exit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to great applause.</a:t>
            </a:r>
          </a:p>
          <a:p>
            <a:pPr marL="1976755" indent="-197675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女主角在热烈的掌声中退场。</a:t>
            </a:r>
          </a:p>
          <a:p>
            <a:pPr marL="1976755" indent="-197675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made a quick exit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to avoid meeting her.</a:t>
            </a:r>
          </a:p>
          <a:p>
            <a:pPr marL="1976755" indent="-197675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他迅速离去以避免见到她。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529840" y="2359025"/>
            <a:ext cx="342138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an emergency exit </a:t>
            </a:r>
            <a:endParaRPr 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572385" y="2882900"/>
            <a:ext cx="183007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1976755" indent="-19767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 fire exit</a:t>
            </a:r>
            <a:endParaRPr 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4965" y="1043940"/>
            <a:ext cx="11583035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80030" indent="-2780030">
              <a:lnSpc>
                <a:spcPct val="120000"/>
              </a:lnSpc>
            </a:pP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vt.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&amp; vi. </a:t>
            </a:r>
            <a:r>
              <a:rPr lang="en-US" altLang="zh-CN" sz="32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 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to go out; to leave..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出去，离去，退场</a:t>
            </a:r>
          </a:p>
          <a:p>
            <a:pPr marL="2780030" indent="-2780030">
              <a:lnSpc>
                <a:spcPct val="120000"/>
              </a:lnSpc>
            </a:pP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to finish using a computer program</a:t>
            </a:r>
            <a:r>
              <a:rPr lang="zh-CN" altLang="en-US" sz="3200" b="1" i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退出</a:t>
            </a:r>
          </a:p>
          <a:p>
            <a:pPr marL="2780030" indent="-2780030"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exit + adv. / prep.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exited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via a fire door.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我们从防火安全门走了出去。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exit sth.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As the actors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exited the stage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the lights went 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80670" y="307340"/>
            <a:ext cx="11654790" cy="2453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6. After a roll call </a:t>
            </a:r>
            <a:r>
              <a:rPr lang="en-US" altLang="zh-CN" sz="3200" b="1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confirmed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that all were </a:t>
            </a:r>
            <a:r>
              <a:rPr lang="en-US" altLang="zh-CN" sz="3200" b="1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safe and sound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they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relaxed, laughing, crying and hugging each other.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点名确认所有人都安然无恙后，他们才放松下来，笑啊，哭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啊，互相拥抱着。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80446" y="2760696"/>
            <a:ext cx="11166763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20000"/>
              </a:lnSpc>
              <a:buAutoNum type="arabicParenBoth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confirm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v.</a:t>
            </a:r>
            <a:r>
              <a:rPr lang="en-US" altLang="zh-CN" sz="3200" b="1" dirty="0">
                <a:solidFill>
                  <a:srgbClr val="0070C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i="1" dirty="0"/>
              <a:t> </a:t>
            </a:r>
            <a:r>
              <a:rPr lang="en-US" altLang="zh-CN" sz="32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 state or show that something is definitely true </a:t>
            </a:r>
          </a:p>
          <a:p>
            <a:pPr marL="2422525">
              <a:lnSpc>
                <a:spcPct val="120000"/>
              </a:lnSpc>
            </a:pPr>
            <a:r>
              <a:rPr lang="en-US" altLang="zh-CN" sz="32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or correct, especially by providing evidence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证实，确认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01015" y="1069340"/>
            <a:ext cx="11478260" cy="3634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confirm sth / that ...</a:t>
            </a:r>
          </a:p>
          <a:p>
            <a:pPr algn="l">
              <a:lnSpc>
                <a:spcPct val="120000"/>
              </a:lnSpc>
            </a:pPr>
            <a:r>
              <a:rPr lang="zh-CN" altLang="en-US" sz="32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证实某人的疑惑</a:t>
            </a: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confirm one’s doubts</a:t>
            </a:r>
          </a:p>
          <a:p>
            <a:pPr algn="l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walk in the mountains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confirmed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his fear of heights.</a:t>
            </a:r>
          </a:p>
          <a:p>
            <a:pPr algn="l">
              <a:lnSpc>
                <a:spcPct val="120000"/>
              </a:lnSpc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It is confirmed that… </a:t>
            </a:r>
            <a:r>
              <a:rPr lang="zh-CN" altLang="en-US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据</a:t>
            </a:r>
            <a:r>
              <a:rPr lang="zh-CN" altLang="en-US" sz="3200" b="1" kern="100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证实</a:t>
            </a:r>
            <a:r>
              <a:rPr lang="en-US" altLang="zh-CN" sz="3200" b="1" kern="100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……</a:t>
            </a:r>
            <a:endParaRPr lang="en-US" altLang="zh-CN" sz="3200" b="1" kern="100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algn="l">
              <a:lnSpc>
                <a:spcPct val="12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It has been confirmed that </a:t>
            </a:r>
            <a:r>
              <a:rPr lang="en-US" altLang="zh-CN" sz="32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frozen </a:t>
            </a:r>
            <a:r>
              <a:rPr lang="en-US" altLang="zh-CN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water exists on Mars.</a:t>
            </a:r>
            <a:endParaRPr lang="en-US" altLang="zh-CN" sz="3200" b="1" kern="100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02348" y="554625"/>
            <a:ext cx="10836876" cy="4815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(2)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 make a position, an agreement, etc. more definite or official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批准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confirm sb. as…     </a:t>
            </a:r>
            <a:r>
              <a:rPr lang="zh-CN" altLang="en-US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确认</a:t>
            </a:r>
            <a:r>
              <a:rPr lang="en-US" altLang="zh-CN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批准某人为</a:t>
            </a:r>
            <a:r>
              <a:rPr lang="en-US" altLang="zh-CN" sz="3200" b="1" kern="100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……</a:t>
            </a:r>
            <a:endParaRPr lang="en-US" altLang="zh-CN" sz="3200" b="1" kern="100" dirty="0"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confirm sb. in sth.  </a:t>
            </a:r>
            <a:r>
              <a:rPr lang="zh-CN" altLang="en-US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使某人确信某事</a:t>
            </a:r>
            <a:endParaRPr lang="en-US" altLang="zh-CN" sz="3200" b="1" kern="100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I'm very happy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confirm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you in your post.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Songti TC Bold" panose="02010600040101010101" charset="-122"/>
                <a:ea typeface="Songti TC Bold" panose="02010600040101010101" charset="-122"/>
                <a:cs typeface="Times New Roman" panose="02020503050405090304" pitchFamily="18" charset="0"/>
                <a:sym typeface="+mn-ea"/>
              </a:rPr>
              <a:t>我很高兴你担任此职位。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altLang="zh-CN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He was </a:t>
            </a: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confirmed as </a:t>
            </a:r>
            <a:r>
              <a:rPr lang="en-US" altLang="zh-CN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captain for the rest of the season.</a:t>
            </a:r>
            <a:endParaRPr lang="en-US" altLang="zh-CN" sz="3200" b="1" kern="100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89" r="27303"/>
          <a:stretch>
            <a:fillRect/>
          </a:stretch>
        </p:blipFill>
        <p:spPr>
          <a:xfrm>
            <a:off x="802348" y="4994327"/>
            <a:ext cx="1383957" cy="80656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508267" y="4994327"/>
            <a:ext cx="6293711" cy="6832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confirmation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n.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确认；证实；批准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94270" y="976183"/>
            <a:ext cx="11158151" cy="4819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1)You’d better call the airline __________ (confirm) your flight reservation a week before you set off for Ottawa.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 His words confirmed me __________ my belief that our cause was right.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3) It has been confirmed __________ it was the driver’s carelessness that resulted in the terrible accident.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4) She glanced over at James for _____________ (confirm).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696465" y="1569308"/>
            <a:ext cx="2121093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to confirm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30905" y="2754362"/>
            <a:ext cx="526106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304149" y="3887863"/>
            <a:ext cx="926756" cy="63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that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230905" y="5072917"/>
            <a:ext cx="2553904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confirmation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67502" y="1292791"/>
            <a:ext cx="11592296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(2)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safe and sound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free from danger or injury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安然无恙的 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Three days later, the travellers arrived home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safe and sound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三天后，游客们安然无恙地回到了家。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During the disaster, we were all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safe and sound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 the house.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我们待在屋里安然无恙地度过这场灾难。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fragile china survived the long journey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safe and sound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这个易碎的瓷器经过长途旅行安然无恙。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512532" y="714504"/>
            <a:ext cx="11166763" cy="481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7. “We </a:t>
            </a:r>
            <a:r>
              <a:rPr lang="en-US" altLang="zh-CN" sz="3200" b="1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practised earthquake safety procedures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twice a year,” said Miss Brown, “so the kids were ....” 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进行地震安全流程演练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procedure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: </a:t>
            </a:r>
            <a:r>
              <a:rPr lang="en-US" altLang="zh-CN" sz="3200" b="1" i="1" dirty="0">
                <a:solidFill>
                  <a:srgbClr val="9933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a way of doing things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程序，步骤，手续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follow the standard procedures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遵循标准的步骤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procedure for (doing) sth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（做）某事的步骤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39067" y="185"/>
            <a:ext cx="11166763" cy="599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8. On 20 December, </a:t>
            </a:r>
            <a:r>
              <a:rPr lang="en-US" altLang="zh-CN" sz="3200" b="1" u="sng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series of huge waves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caused by an undersea earthquake </a:t>
            </a:r>
            <a:r>
              <a:rPr lang="en-US" altLang="zh-CN" sz="3200" b="1" u="sng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raced across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the ocean near Goldshore ...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一排排巨浪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急速冲过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金海岸附近的海面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race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: </a:t>
            </a:r>
            <a:r>
              <a:rPr lang="en-US" altLang="zh-CN" sz="3200" b="1" i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move fast</a:t>
            </a:r>
            <a:endParaRPr lang="zh-CN" altLang="en-US" sz="3200" b="1" i="1" dirty="0"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injured man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was raced to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the hospital.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(rush)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She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raced her car through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the narrow streets of the town.</a:t>
            </a:r>
          </a:p>
          <a:p>
            <a:pPr>
              <a:lnSpc>
                <a:spcPct val="12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My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mind raced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as I tried to work out what was happening.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拼命地转动脑筋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She took a deep breath to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calm her racing pulse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脉搏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6240" y="363855"/>
            <a:ext cx="11495405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leave thousands dead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造成数千人死亡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leave+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宾语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+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宾补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名词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介词短语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形容词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副词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动词</a:t>
            </a:r>
            <a:r>
              <a:rPr lang="en-US" altLang="zh-CN" sz="32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-</a:t>
            </a:r>
            <a:r>
              <a:rPr lang="en-US" altLang="zh-CN" sz="3200" b="1" i="1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ing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形式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过去分词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动词不定式等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使</a:t>
            </a:r>
            <a:r>
              <a:rPr lang="en-US" altLang="zh-CN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处于</a:t>
            </a:r>
            <a:r>
              <a:rPr lang="en-US" altLang="zh-CN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……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;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听任</a:t>
            </a:r>
            <a:r>
              <a:rPr lang="en-US" altLang="zh-CN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……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Leave me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alone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please.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Who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left the girl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waiting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for an hour?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left Ruth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 find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her own way home.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man had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leave the windows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broken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4"/>
          <p:cNvSpPr>
            <a:spLocks noChangeArrowheads="1"/>
          </p:cNvSpPr>
          <p:nvPr/>
        </p:nvSpPr>
        <p:spPr bwMode="auto">
          <a:xfrm>
            <a:off x="505523" y="1129991"/>
            <a:ext cx="11470888" cy="422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dirty="0">
                <a:solidFill>
                  <a:srgbClr val="0000FF"/>
                </a:solidFill>
              </a:rPr>
              <a:t>【</a:t>
            </a:r>
            <a:r>
              <a:rPr lang="zh-CN" altLang="en-US" dirty="0">
                <a:solidFill>
                  <a:srgbClr val="0000FF"/>
                </a:solidFill>
              </a:rPr>
              <a:t>语境应用</a:t>
            </a:r>
            <a:r>
              <a:rPr lang="en-US" altLang="zh-CN" dirty="0">
                <a:solidFill>
                  <a:srgbClr val="0000FF"/>
                </a:solidFill>
              </a:rPr>
              <a:t>】</a:t>
            </a:r>
            <a:r>
              <a:rPr lang="zh-CN" altLang="en-US" dirty="0">
                <a:solidFill>
                  <a:srgbClr val="0000FF"/>
                </a:solidFill>
              </a:rPr>
              <a:t>完成句子。</a:t>
            </a:r>
          </a:p>
          <a:p>
            <a:pPr marL="446405" indent="-446405" eaLnBrk="1" hangingPunct="1"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</a:rPr>
              <a:t>1) On hearing the bad news, he hurried home, leaving the book    _______ (lie) open on the table.</a:t>
            </a:r>
          </a:p>
          <a:p>
            <a:pPr marL="446405" indent="-446405" eaLnBrk="1" hangingPunct="1"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</a:rPr>
              <a:t>2) They covered the man with a blanket, only leaving his eyes _________ (expose)</a:t>
            </a:r>
            <a:r>
              <a:rPr lang="zh-CN" altLang="en-US" dirty="0">
                <a:solidFill>
                  <a:srgbClr val="000000"/>
                </a:solidFill>
              </a:rPr>
              <a:t>．</a:t>
            </a:r>
            <a:endParaRPr lang="en-US" altLang="zh-CN" dirty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</a:rPr>
              <a:t>3) His parents died in the earthquake, ______________________.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</a:rPr>
              <a:t>    </a:t>
            </a:r>
            <a:r>
              <a:rPr lang="zh-CN" altLang="en-US" dirty="0">
                <a:solidFill>
                  <a:srgbClr val="000000"/>
                </a:solidFill>
              </a:rPr>
              <a:t>他的父母在地震中去世了，留下他成为一名孤儿。  </a:t>
            </a:r>
          </a:p>
        </p:txBody>
      </p:sp>
      <p:sp>
        <p:nvSpPr>
          <p:cNvPr id="229381" name="Rectangle 5"/>
          <p:cNvSpPr>
            <a:spLocks noChangeArrowheads="1"/>
          </p:cNvSpPr>
          <p:nvPr/>
        </p:nvSpPr>
        <p:spPr bwMode="auto">
          <a:xfrm>
            <a:off x="1280632" y="2272991"/>
            <a:ext cx="1152880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lying </a:t>
            </a:r>
          </a:p>
        </p:txBody>
      </p:sp>
      <p:sp>
        <p:nvSpPr>
          <p:cNvPr id="229382" name="Rectangle 6"/>
          <p:cNvSpPr>
            <a:spLocks noChangeArrowheads="1"/>
          </p:cNvSpPr>
          <p:nvPr/>
        </p:nvSpPr>
        <p:spPr bwMode="auto">
          <a:xfrm>
            <a:off x="1195140" y="3415991"/>
            <a:ext cx="1678665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exposed 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285666" y="3988044"/>
            <a:ext cx="4240263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leaving him an orphan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29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29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81" grpId="0"/>
      <p:bldP spid="229382" grpId="0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39067" y="271965"/>
            <a:ext cx="11166763" cy="68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9. ..something </a:t>
            </a:r>
            <a:r>
              <a:rPr lang="en-US" altLang="zh-CN" sz="3200" b="1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odd = strange or unusual </a:t>
            </a:r>
            <a:r>
              <a:rPr lang="zh-CN" altLang="en-US" sz="3200" b="1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奇怪的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43255" y="1110615"/>
            <a:ext cx="11309350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 seems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odd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that tourists almost never visit this village.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 makes 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odd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mistake - nothing too serious.</a:t>
            </a:r>
          </a:p>
          <a:p>
            <a:pPr algn="r"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occasional </a:t>
            </a:r>
            <a:r>
              <a:rPr lang="zh-CN" altLang="en-US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偶然的</a:t>
            </a:r>
          </a:p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You’re wearing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odd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socks!</a:t>
            </a:r>
          </a:p>
          <a:p>
            <a:pPr algn="r"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not matching </a:t>
            </a:r>
            <a:r>
              <a:rPr lang="zh-CN" altLang="en-US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不成对的</a:t>
            </a:r>
          </a:p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Could I see you when you've got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 odd moment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?</a:t>
            </a:r>
          </a:p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你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有空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时，我能不能见见你？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52905" y="388994"/>
            <a:ext cx="11447797" cy="599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10. </a:t>
            </a:r>
            <a:r>
              <a:rPr lang="en-US" altLang="zh-CN" sz="3200" b="1" u="sng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 immediately occurred to her that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...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她立刻意识到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= It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hit/struck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me that ...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occur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vi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</a:t>
            </a:r>
            <a:r>
              <a:rPr lang="en-US" altLang="zh-CN" sz="3200" i="1" dirty="0"/>
              <a:t> 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happen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发生，出现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2063750">
              <a:lnSpc>
                <a:spcPct val="120000"/>
              </a:lnSpc>
            </a:pP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exist or be found somewhere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存在于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常用搭配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occur to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观念或想法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浮现于脑中，被想到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 occurs to sb. that…    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某人想到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 </a:t>
            </a:r>
            <a:endParaRPr lang="en-US" altLang="zh-CN" sz="3200" b="1" dirty="0"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 occurs to sb. to do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某人想到做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……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occurred to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him to tell the official of the problem.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 suddenly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occurred to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me that he had grown up.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3725" y="806450"/>
            <a:ext cx="1140206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54292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(1)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表示“发生”的动词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词组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occur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happen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take place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break out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等都是不及物动词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词组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，都不能用于被动语态。</a:t>
            </a:r>
          </a:p>
          <a:p>
            <a:pPr indent="-54292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If headaches only occur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at night, lack of fresh air and oxygen is often the cause.</a:t>
            </a:r>
          </a:p>
          <a:p>
            <a:pPr indent="-542925" fontAlgn="auto">
              <a:lnSpc>
                <a:spcPct val="120000"/>
              </a:lnSpc>
            </a:pP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54292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(2)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以下动词的过去式及分词要双写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r: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occur-occurred-occurred-occurring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发生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prefer-preferred-preferred-preferring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更喜欢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refer-referred-referred-referring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参考，涉及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infer-inferred-inferred-inferring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推断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89" r="27303"/>
          <a:stretch>
            <a:fillRect/>
          </a:stretch>
        </p:blipFill>
        <p:spPr>
          <a:xfrm>
            <a:off x="593759" y="-17"/>
            <a:ext cx="1383957" cy="806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3090" y="1410970"/>
            <a:ext cx="1127633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54292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occur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rence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发生的事情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something that happens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54292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common/rare/regular occurrence</a:t>
            </a:r>
          </a:p>
          <a:p>
            <a:pPr indent="-54292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司空见惯的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少有的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定期发生的事情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54292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Drunk driving used to be a regular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occurrence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here.</a:t>
            </a:r>
          </a:p>
          <a:p>
            <a:pPr indent="-542925" fontAlgn="auto"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54292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There is a link between 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occurrence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of skin cancer and the use of computer monitors.</a:t>
            </a:r>
          </a:p>
          <a:p>
            <a:pPr indent="-54292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发生</a:t>
            </a:r>
            <a:r>
              <a:rPr lang="en-US" altLang="zh-CN" sz="3200" b="1" i="1" dirty="0">
                <a:solidFill>
                  <a:srgbClr val="9933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the fact of something happening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89" r="27303"/>
          <a:stretch>
            <a:fillRect/>
          </a:stretch>
        </p:blipFill>
        <p:spPr>
          <a:xfrm>
            <a:off x="593124" y="527668"/>
            <a:ext cx="1383957" cy="806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45989" y="345989"/>
            <a:ext cx="11170508" cy="5259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单句语法填空。</a:t>
            </a:r>
            <a:endParaRPr lang="en-US" altLang="zh-CN" sz="2800" b="1" dirty="0">
              <a:solidFill>
                <a:srgbClr val="0000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44500" indent="-444500">
              <a:lnSpc>
                <a:spcPct val="120000"/>
              </a:lnSpc>
            </a:pPr>
            <a:r>
              <a:rPr lang="en-US" altLang="zh-CN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1) It suddenly occurred _________ him that he had left his keys in the office.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3) It never _________ to me that you could do voluntary work day in and day out.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4) _________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hit/ struck</a:t>
            </a:r>
            <a:r>
              <a:rPr lang="en-US" altLang="zh-CN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me that I forgot to turn off the computer.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5) A great decline in young work force is likely _________ (occur) for instance.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6) It seldom occurred to them _________ (wander) a bit, to take a moment to see what’s around them.</a:t>
            </a:r>
            <a:endParaRPr lang="zh-CN" altLang="en-US" sz="28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22573" y="827902"/>
            <a:ext cx="484428" cy="5642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</a:t>
            </a:r>
            <a:endParaRPr lang="zh-CN" altLang="en-US" sz="28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130240" y="1814246"/>
            <a:ext cx="1551963" cy="5642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occurred</a:t>
            </a:r>
            <a:endParaRPr lang="zh-CN" altLang="en-US" sz="28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76749" y="2852453"/>
            <a:ext cx="534121" cy="6093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 </a:t>
            </a:r>
            <a:endParaRPr lang="zh-CN" altLang="en-US" sz="28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641624" y="3359080"/>
            <a:ext cx="1430200" cy="5642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 occur</a:t>
            </a:r>
            <a:endParaRPr lang="zh-CN" altLang="en-US" sz="28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103727" y="4338354"/>
            <a:ext cx="1731564" cy="5642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 wander</a:t>
            </a:r>
            <a:endParaRPr lang="zh-CN" altLang="en-US" sz="28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0" grpId="0"/>
      <p:bldP spid="1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502673" y="400874"/>
            <a:ext cx="11166763" cy="1272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8. Sabrina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was frightened, but she soon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kept her head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Sabrina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吓坏了，不过她很快</a:t>
            </a:r>
            <a:r>
              <a:rPr lang="zh-CN" altLang="en-US" sz="3200" b="1" u="sng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冷静下来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02920" y="1675130"/>
            <a:ext cx="11305540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54655" indent="-29546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keep one’s head </a:t>
            </a:r>
          </a:p>
          <a:p>
            <a:pPr marL="2954655" indent="-29546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She was able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keep her head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 and not panic.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03050" y="3057806"/>
            <a:ext cx="10688396" cy="1863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拓展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</a:p>
          <a:p>
            <a:pPr marL="2687955" indent="-26879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lose one’s head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慌了神，失去冷静，惊慌失措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2954655" indent="-29546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You’ll be OK as long as you don’t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lose your head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23408" y="272405"/>
            <a:ext cx="11166763" cy="1272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9. ...a terrible disaster was </a:t>
            </a:r>
            <a:r>
              <a:rPr lang="en-US" altLang="zh-CN" sz="3200" b="1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on its way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正在逼近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approaching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23545" y="1544955"/>
            <a:ext cx="11446510" cy="3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on one’s / the way </a:t>
            </a:r>
            <a:r>
              <a:rPr lang="en-US" altLang="zh-CN" sz="32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arriving or happening soon</a:t>
            </a:r>
          </a:p>
          <a:p>
            <a:pPr fontAlgn="auto">
              <a:lnSpc>
                <a:spcPct val="11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                      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即将到达（发生）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There’s a letter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on its way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 you.</a:t>
            </a:r>
          </a:p>
          <a:p>
            <a:pPr fontAlgn="auto"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你很快就会收到一封信。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624205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thunder _______  overhead told us a heavy rain was ____ _____ ______.</a:t>
            </a:r>
          </a:p>
          <a:p>
            <a:pPr indent="-624205" fontAlgn="auto"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头顶上的隆隆雷声告诉我们，一场大雨即将到来。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22910" y="3604895"/>
            <a:ext cx="11165840" cy="1272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                      crashing                                                              on its        way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53440" y="1824990"/>
            <a:ext cx="10970260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1780" indent="-27178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on one’s / the way 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在路上；在途中</a:t>
            </a:r>
            <a:endParaRPr lang="en-US" altLang="zh-CN" sz="3200" b="1" dirty="0"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By sunrise tomorrow we’ll be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on our way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明天天亮前我们就将赶路。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271780" indent="-27178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on one’s / the way 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婴儿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即将出生</a:t>
            </a:r>
            <a:endParaRPr lang="en-US" altLang="zh-CN" sz="3200" b="1" dirty="0"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 marL="1075055" indent="-10750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She is married with twin sons and a third child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on the way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   </a:t>
            </a:r>
          </a:p>
          <a:p>
            <a:pPr marL="1075055" indent="-107505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她已经结婚，有一对双胞胎儿子，第三个宝宝也即将出世。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89" r="27303"/>
          <a:stretch>
            <a:fillRect/>
          </a:stretch>
        </p:blipFill>
        <p:spPr>
          <a:xfrm>
            <a:off x="556054" y="1045122"/>
            <a:ext cx="1383957" cy="806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23408" y="485130"/>
            <a:ext cx="11166763" cy="1272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10. </a:t>
            </a:r>
            <a:r>
              <a:rPr lang="en-US" sz="3200" b="1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 her great relief</a:t>
            </a:r>
            <a:r>
              <a:rPr lang="en-US" sz="3200" b="1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the officer immediately realized the coming danger.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79780" y="1483360"/>
            <a:ext cx="11311255" cy="4961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_______________________________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（令我很欣慰的是）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only two students __________________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（受轻伤）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 the accident.</a:t>
            </a:r>
          </a:p>
          <a:p>
            <a:pPr>
              <a:lnSpc>
                <a:spcPct val="11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(1)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relief n.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the feeling of happiness when sth unpleasant stops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宽慰；解脱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a sense of relief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解脱感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He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breathed a sigh of relief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.</a:t>
            </a: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他松了一口气。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779780" y="1935480"/>
            <a:ext cx="6524625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Much to my relief/To my great relief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3084830" y="2526665"/>
            <a:ext cx="4088765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suffered slight injuries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4159885" y="1125220"/>
            <a:ext cx="3336925" cy="6324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使某人安心的是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...</a:t>
            </a:r>
            <a:endParaRPr 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6" grpId="0"/>
      <p:bldP spid="6" grpId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81660" y="748665"/>
            <a:ext cx="11311255" cy="4420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他们平安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到家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的消息给大家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带来了</a:t>
            </a:r>
            <a:r>
              <a:rPr lang="en-US" altLang="zh-CN" sz="3200" b="1" u="sng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(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是</a:t>
            </a:r>
            <a:r>
              <a:rPr lang="en-US" altLang="zh-CN" sz="3200" b="1" u="sng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)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巨大的安慰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。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 news that __________________________________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came as a great relief.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=It was a great relief to see that ...</a:t>
            </a:r>
          </a:p>
          <a:p>
            <a:pPr>
              <a:lnSpc>
                <a:spcPct val="11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(2)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relief n.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the act of removing pain, anxiety, etc.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减轻，消除</a:t>
            </a:r>
            <a:endParaRPr lang="zh-CN" altLang="en-US" sz="3200" b="1" dirty="0">
              <a:solidFill>
                <a:srgbClr val="FF0000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modern methods of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pain relief 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消除疼痛的新方法</a:t>
            </a:r>
            <a:endParaRPr lang="zh-CN" altLang="en-US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226435" y="1209675"/>
            <a:ext cx="6798945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they had arrived home safe and sound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40690" y="170815"/>
            <a:ext cx="11311255" cy="6043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(3)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relief un.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food, money, medicine, etc. that is given to help people in places where there has been a war or natural disaster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救济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，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救援物品</a:t>
            </a:r>
          </a:p>
          <a:p>
            <a:pPr>
              <a:lnSpc>
                <a:spcPct val="11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赈灾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disaster relief 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救济工作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relief work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救灾物资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紧急救援</a:t>
            </a:r>
          </a:p>
          <a:p>
            <a:pPr>
              <a:lnSpc>
                <a:spcPct val="11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The room could provide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relief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from the cold outside.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They send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relief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to those who were made homeless by floods.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559050" y="3312160"/>
            <a:ext cx="2689225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relief supplies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2559050" y="3890010"/>
            <a:ext cx="316103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emergency relief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81660" y="748665"/>
            <a:ext cx="11311255" cy="4420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relieve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vt.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减轻，缓解；缓和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10000"/>
              </a:lnSpc>
            </a:pP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relieve stress/anxiety/poverty/the pain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缓解压力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焦虑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贫困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疼痛</a:t>
            </a:r>
          </a:p>
          <a:p>
            <a:pPr>
              <a:lnSpc>
                <a:spcPct val="11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relieved adj.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放心的，感到宽慰的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 </a:t>
            </a:r>
            <a:r>
              <a:rPr lang="en-US" altLang="zh-CN" sz="3200" b="1" u="sng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was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relieved </a:t>
            </a:r>
            <a:r>
              <a:rPr lang="en-US" altLang="zh-CN" sz="3200" b="1" u="sng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to learn that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Jane had reached the other side of the river safely.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38154" y="266151"/>
            <a:ext cx="10911016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11. Remember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inform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yourself of what is going on. </a:t>
            </a:r>
          </a:p>
          <a:p>
            <a:pPr indent="63055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记得使自己了解事态的进展。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</a:p>
          <a:p>
            <a:pPr indent="6305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inform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vt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 find out information about something</a:t>
            </a:r>
          </a:p>
          <a:p>
            <a:pPr indent="2422525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了解，熟悉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2335530">
              <a:lnSpc>
                <a:spcPct val="120000"/>
              </a:lnSpc>
            </a:pPr>
            <a:r>
              <a:rPr lang="en-US" altLang="zh-CN" sz="32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 tell somebody about something, especially in an official way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通知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02043" y="1556952"/>
            <a:ext cx="10602098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常用结构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inform sb. of/ about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通知某人某事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inform sb. that…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通知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某人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……</a:t>
            </a:r>
          </a:p>
          <a:p>
            <a:pPr indent="-63055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informed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my parents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of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my safe arrival.</a:t>
            </a:r>
          </a:p>
          <a:p>
            <a:pPr indent="-63055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We regret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inform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you that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your application has been rejected.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89" r="27303"/>
          <a:stretch>
            <a:fillRect/>
          </a:stretch>
        </p:blipFill>
        <p:spPr>
          <a:xfrm>
            <a:off x="-206" y="-57873"/>
            <a:ext cx="1383957" cy="80656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98450" y="1024890"/>
            <a:ext cx="11703685" cy="474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informed 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adj.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见多识广的</a:t>
            </a:r>
            <a:r>
              <a:rPr lang="en-US" altLang="zh-CN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2800" b="1" i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have a lot of knowledge about ...</a:t>
            </a:r>
          </a:p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 informed critic </a:t>
            </a:r>
            <a:r>
              <a:rPr lang="zh-CN" altLang="en-US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有见地的批评家</a:t>
            </a:r>
            <a:endParaRPr lang="en-US" altLang="zh-CN" sz="28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 informed choice/ decision/ guess/ opinion </a:t>
            </a:r>
            <a:r>
              <a:rPr lang="zh-CN" altLang="en-US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有依据的选择</a:t>
            </a:r>
            <a:r>
              <a:rPr lang="en-US" altLang="zh-CN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决定</a:t>
            </a:r>
            <a:r>
              <a:rPr lang="en-US" altLang="zh-CN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猜测</a:t>
            </a:r>
            <a:r>
              <a:rPr lang="en-US" altLang="zh-CN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看法</a:t>
            </a:r>
            <a:endParaRPr lang="en-US" altLang="zh-CN" sz="28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keep sb informed (of any developments) </a:t>
            </a:r>
            <a:r>
              <a:rPr lang="en-US" altLang="zh-CN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不断给某人提供最新信息</a:t>
            </a:r>
          </a:p>
          <a:p>
            <a:pPr>
              <a:lnSpc>
                <a:spcPct val="120000"/>
              </a:lnSpc>
            </a:pPr>
            <a:endParaRPr lang="zh-CN" altLang="en-US" sz="28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informative 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adj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r>
              <a:rPr lang="en-US" altLang="zh-CN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2800" b="1" i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giving useful information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提供有用信息的</a:t>
            </a:r>
            <a:endParaRPr lang="zh-CN" altLang="en-US" sz="28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talk is both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informative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and interesting.</a:t>
            </a:r>
            <a:endParaRPr lang="zh-CN" altLang="en-US" sz="28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endParaRPr lang="zh-CN" altLang="en-US" sz="28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information 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u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n.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28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信息；资料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17838" y="1507524"/>
            <a:ext cx="10898659" cy="4228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1) It was considerate of Michael ___________ (inform) us of his delay in case we got worried.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 Victor apologized for his not being able to inform me ___________ the change in the plan.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3) I was worried about her safety, so I telephoned her and asked her to keep me ___________ (inform).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74941" y="2088292"/>
            <a:ext cx="1938351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to inform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60390" y="3842951"/>
            <a:ext cx="1846980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of/ about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66119" y="4992129"/>
            <a:ext cx="1802096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informed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3200" b="1" dirty="0">
            <a:latin typeface="Times New Roman" panose="02020503050405090304" pitchFamily="18" charset="0"/>
            <a:ea typeface="宋体" pitchFamily="2" charset="-122"/>
            <a:cs typeface="Times New Roman" panose="0202050305040509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3200" b="1" dirty="0">
            <a:latin typeface="Times New Roman" panose="02020503050405090304" pitchFamily="18" charset="0"/>
            <a:ea typeface="宋体" pitchFamily="2" charset="-122"/>
            <a:cs typeface="Times New Roman" panose="0202050305040509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3547</Words>
  <Application>Microsoft Macintosh PowerPoint</Application>
  <PresentationFormat>Widescreen</PresentationFormat>
  <Paragraphs>377</Paragraphs>
  <Slides>47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47</vt:i4>
      </vt:variant>
    </vt:vector>
  </HeadingPairs>
  <TitlesOfParts>
    <vt:vector size="60" baseType="lpstr">
      <vt:lpstr>等线</vt:lpstr>
      <vt:lpstr>等线 Light</vt:lpstr>
      <vt:lpstr>宋体</vt:lpstr>
      <vt:lpstr>Songti TC Bold</vt:lpstr>
      <vt:lpstr>Times New Roman Bold</vt:lpstr>
      <vt:lpstr>Times New Roman Bold Italic</vt:lpstr>
      <vt:lpstr>Times New Roman Regular</vt:lpstr>
      <vt:lpstr>Arial</vt:lpstr>
      <vt:lpstr>Calibri</vt:lpstr>
      <vt:lpstr>Times New Roman</vt:lpstr>
      <vt:lpstr>Wingdings</vt:lpstr>
      <vt:lpstr>Office 主题​​</vt:lpstr>
      <vt:lpstr>1_Office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262</cp:revision>
  <dcterms:created xsi:type="dcterms:W3CDTF">2024-03-14T09:51:22Z</dcterms:created>
  <dcterms:modified xsi:type="dcterms:W3CDTF">2026-07-22T13:24:38Z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F207E8F5F68F6CD6753FFC63579C7509</vt:lpwstr>
  </property>
  <property fmtid="{D5CDD505-2E9C-101B-9397-08002B2CF9AE}" pid="3" name="KSOProductBuildVer">
    <vt:lpwstr>1033-6.5.2.8766</vt:lpwstr>
  </property>
</Properties>
</file>