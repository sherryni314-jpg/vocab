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88" r:id="rId3"/>
    <p:sldId id="687" r:id="rId5"/>
    <p:sldId id="657" r:id="rId6"/>
    <p:sldId id="656" r:id="rId7"/>
    <p:sldId id="689" r:id="rId8"/>
    <p:sldId id="669" r:id="rId9"/>
    <p:sldId id="658" r:id="rId10"/>
    <p:sldId id="665" r:id="rId11"/>
    <p:sldId id="443" r:id="rId12"/>
    <p:sldId id="663" r:id="rId13"/>
    <p:sldId id="725" r:id="rId14"/>
    <p:sldId id="690" r:id="rId15"/>
    <p:sldId id="692" r:id="rId16"/>
    <p:sldId id="691" r:id="rId17"/>
    <p:sldId id="696" r:id="rId18"/>
    <p:sldId id="699" r:id="rId19"/>
    <p:sldId id="698" r:id="rId20"/>
    <p:sldId id="592" r:id="rId21"/>
    <p:sldId id="664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F39B77"/>
    <a:srgbClr val="E9EBF5"/>
    <a:srgbClr val="FFFFFF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25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3F60E-794B-40BA-960D-A62AADD484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69CFB-EF14-41ED-809A-6131161FDF0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pick up bad habits: get information or a skill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0670" y="83820"/>
            <a:ext cx="1182497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was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smartphone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addict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/ˈædɪkt/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对……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入迷的人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addicted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adj. </a:t>
            </a:r>
            <a:r>
              <a:rPr lang="en-US" altLang="zh-CN" sz="3200" b="1" dirty="0">
                <a:solidFill>
                  <a:schemeClr val="bg2"/>
                </a:solidFill>
                <a:latin typeface="Times New Roman Bold" panose="02020603050405020304" charset="0"/>
                <a:cs typeface="Times New Roman Bold" panose="02020603050405020304" charset="0"/>
              </a:rPr>
              <a:t>/əˈdɪktɪd/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对……入迷的；成瘾的</a:t>
            </a:r>
            <a:endParaRPr lang="en-US" altLang="zh-CN" sz="3200" b="1" i="1" dirty="0">
              <a:solidFill>
                <a:schemeClr val="tx2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addicted to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computer games.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他迷上了电脑游戏。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addictive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让人入迷的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I find jogging very 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603050405020304" charset="0"/>
                <a:cs typeface="Times New Roman Bold" panose="02020603050405020304" charset="0"/>
              </a:rPr>
              <a:t>addictive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  <a:endParaRPr lang="en-US" altLang="zh-CN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	(I have been a jogging ________ for a decade.) 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addiction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瘾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is now fighting his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addiction to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alcohol. / ...his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alcohol addiction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829175" y="3621405"/>
            <a:ext cx="12668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addict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46710" y="380365"/>
            <a:ext cx="1157668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My eyes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glued to the little screen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whenever I walked ...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目不转睛地盯着小小的屏幕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glued to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look at </a:t>
            </a:r>
            <a:r>
              <a:rPr lang="en-US" altLang="zh-CN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all your attention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全神贯注看着某物，离某物很近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95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keep one’s eyes glued to 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 glued to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television watching the election results come in.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1405" indent="-1081405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我们目不转睛地盯着电视，等待大选结果揭晓。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5130" y="514350"/>
            <a:ext cx="11424285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81300" lvl="0" indent="-27813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glued to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not move because you are very interested, surprised, frightened </a:t>
            </a:r>
            <a:r>
              <a:rPr lang="en-US" altLang="zh-CN" sz="3200" b="1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zh-CN" altLang="en-US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由于感兴趣、惊讶、害怕等而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像钉在某物上似的一动不动</a:t>
            </a:r>
            <a:endParaRPr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1530" lvl="0" indent="-81153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She 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603050405020304" charset="0"/>
                <a:cs typeface="Times New Roman Bold" panose="02020603050405020304" charset="0"/>
              </a:rPr>
              <a:t>stood glued to the spot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, shocked by the scene in front of her.</a:t>
            </a:r>
            <a:endParaRPr lang="en-US" altLang="zh-CN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11530" lvl="0" indent="-811530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11530" lvl="0" indent="-81153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603050405020304" charset="0"/>
                <a:cs typeface="Times New Roman Bold" panose="02020603050405020304" charset="0"/>
              </a:rPr>
              <a:t>glue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粘牢，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粘贴</a:t>
            </a:r>
            <a:endParaRPr lang="zh-CN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811530" lvl="0" indent="-81153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603050405020304" charset="0"/>
                <a:cs typeface="Times New Roman Bold" panose="02020603050405020304" charset="0"/>
              </a:rPr>
              <a:t>glue A to/onto B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or 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603050405020304" charset="0"/>
                <a:cs typeface="Times New Roman Bold" panose="02020603050405020304" charset="0"/>
              </a:rPr>
              <a:t>glue A and B together</a:t>
            </a:r>
            <a:endParaRPr lang="en-US" altLang="zh-CN" sz="3200" b="1" dirty="0">
              <a:solidFill>
                <a:schemeClr val="tx2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42900" y="512445"/>
            <a:ext cx="1124013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first thing I did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I woke up in the morning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(to) reach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my phone.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主语部分含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动词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的某种形式，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reach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前的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可以省略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无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Font typeface="Arial" panose="020B0704020202020204" pitchFamily="34" charset="0"/>
              <a:buNone/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first thing to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tell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him the news.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she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yesterday was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(to) sweep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floor.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3065" y="614680"/>
            <a:ext cx="1133602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dead battery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my smartphone would make me feel stressed.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电池耗尽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flat battery / battery failure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recharge one’s batteries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恢复体力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68300" y="430530"/>
            <a:ext cx="1134999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Sliding into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habit was easy, but it was difficult to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quit the habit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46405" indent="-446405"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逐渐陷入这种习惯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46405" indent="-446405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into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move gradually into a worse situation 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不自觉地陷入</a:t>
            </a:r>
            <a:endParaRPr lang="zh-CN" altLang="en-US" sz="32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9900" indent="-1739900">
              <a:lnSpc>
                <a:spcPct val="120000"/>
              </a:lnSpc>
            </a:pPr>
            <a:endParaRPr lang="zh-CN" altLang="en-US" sz="32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9900" indent="-173990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into debt/hunger/trade war/depression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needs them to stop the country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sliding into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chaos.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他需要他们来防止这个国家陷入混乱。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2425" y="299720"/>
            <a:ext cx="1155382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quit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zh-CN" altLang="en-US" sz="3200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(quit/quitted) (quitting)</a:t>
            </a:r>
            <a:endParaRPr lang="zh-CN" altLang="en-US" sz="3200" b="1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</a:rPr>
              <a:t>1)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stop doing </a:t>
            </a:r>
            <a:r>
              <a:rPr lang="en-US" altLang="zh-CN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</a:t>
            </a:r>
            <a:r>
              <a:rPr lang="en-US" altLang="zh-CN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bad or annoying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停止；戒掉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give up</a:t>
            </a:r>
            <a:endParaRPr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quit (doing) </a:t>
            </a:r>
            <a:r>
              <a:rPr lang="en-US" altLang="zh-CN" sz="32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65350" lvl="1" indent="-170815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quit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habit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戒掉习惯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65350" lvl="1" indent="-170815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quit drinking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戒酒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81300" lvl="0" indent="-2781300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leave a job or a place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辞职；离开</a:t>
            </a:r>
            <a:endParaRPr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38500" lvl="1" indent="-278130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quit 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your job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238500" lvl="1" indent="-278130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quit 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building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4025" y="814705"/>
            <a:ext cx="11266170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won't resign because he's not 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quitter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他不会辞职的，因为他不是一个轻言放弃的人。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quitter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3200" dirty="0">
                <a:solidFill>
                  <a:schemeClr val="bg2"/>
                </a:solidFill>
              </a:rPr>
              <a:t>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person who gives up easily instead of finishing </a:t>
            </a:r>
            <a:r>
              <a:rPr lang="en-US" altLang="zh-CN" sz="32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endParaRPr lang="en-US" altLang="zh-CN" sz="32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                   遇到困难就放弃的人，半途而废的人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325755" y="430530"/>
            <a:ext cx="11865610" cy="481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step into the road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走到马路上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past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飞驰而过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knock me off my feet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把我撞翻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在地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final 30 minutes of the film completely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knocked me off my feet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743200" lvl="6" indent="457200" fontAlgn="auto">
              <a:lnSpc>
                <a:spcPct val="120000"/>
              </a:lnSpc>
            </a:pPr>
            <a:r>
              <a:rPr lang="zh-CN" altLang="en-US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thoroughly impress, overwhelm, or excite one.</a:t>
            </a:r>
            <a:endParaRPr lang="zh-CN" altLang="en-US" sz="32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  <a:p>
            <a:pPr marL="3657600" lvl="8" indent="4572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让人印象深刻，倾倒，极度兴奋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  <a:p>
            <a:pPr marL="3657600" lvl="8" indent="457200" fontAlgn="auto">
              <a:lnSpc>
                <a:spcPct val="120000"/>
              </a:lnSpc>
            </a:pPr>
            <a:endParaRPr lang="zh-CN" altLang="en-US" sz="3200" b="1" i="1" dirty="0">
              <a:solidFill>
                <a:srgbClr val="0000FF"/>
              </a:solidFill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knock sth/sb off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打落；撞倒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6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6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6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6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627380" y="355600"/>
            <a:ext cx="11015980" cy="599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329180" indent="-2329180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5. The empty hours </a:t>
            </a: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stretched out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in front of me.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329180" indent="-232918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空虚的时间在我面前延长。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329180" indent="-2329180">
              <a:lnSpc>
                <a:spcPct val="120000"/>
              </a:lnSpc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stretch out</a:t>
            </a: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= continue in space/time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延续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329180" indent="-232918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The moment seemed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stretch out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endlessly.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329180" indent="-232918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田野和小山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603050405020304" pitchFamily="18" charset="0"/>
              </a:rPr>
              <a:t>向远处延伸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329180" indent="-232918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Fields and hills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stretched out to the distance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329180" indent="-2329180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329180" indent="-23291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stretch out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reach out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伸出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329180" indent="-232918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stretched out his hand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to the telephone.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329180" indent="-232918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He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stretched himself out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on the sofa and fell asleep.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躺下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6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6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6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6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56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566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01955" y="264160"/>
            <a:ext cx="1149540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 dirty="0"/>
              <a:t>I need a job that will fully </a:t>
            </a:r>
            <a:r>
              <a:rPr lang="en-US" sz="3200" b="1" u="sng" dirty="0">
                <a:solidFill>
                  <a:srgbClr val="FF0000"/>
                </a:solidFill>
              </a:rPr>
              <a:t>stretch me</a:t>
            </a:r>
            <a:r>
              <a:rPr lang="en-US" sz="3200" b="1" dirty="0"/>
              <a:t>.</a:t>
            </a:r>
            <a:endParaRPr lang="en-US" sz="3200" b="1" dirty="0"/>
          </a:p>
          <a:p>
            <a:r>
              <a:rPr lang="en-US" sz="3200" b="1" dirty="0"/>
              <a:t>我需要一份能</a:t>
            </a:r>
            <a:r>
              <a:rPr lang="en-US" sz="3200" b="1" u="sng" dirty="0"/>
              <a:t>让我充分发挥才智</a:t>
            </a:r>
            <a:r>
              <a:rPr lang="en-US" sz="3200" b="1" dirty="0"/>
              <a:t>的工作。(</a:t>
            </a:r>
            <a:r>
              <a:rPr lang="en-US" sz="3200" b="1" dirty="0">
                <a:solidFill>
                  <a:schemeClr val="bg2"/>
                </a:solidFill>
              </a:rPr>
              <a:t>=make use of all one’s skill</a:t>
            </a:r>
            <a:r>
              <a:rPr lang="en-US" sz="3200" b="1" dirty="0"/>
              <a:t>)</a:t>
            </a:r>
            <a:endParaRPr lang="en-US" sz="3200" b="1" dirty="0"/>
          </a:p>
          <a:p>
            <a:r>
              <a:rPr lang="en-US" sz="3200" b="1" dirty="0"/>
              <a:t>The town's history </a:t>
            </a:r>
            <a:r>
              <a:rPr lang="en-US" sz="3200" b="1" u="sng" dirty="0">
                <a:solidFill>
                  <a:srgbClr val="FF0000"/>
                </a:solidFill>
              </a:rPr>
              <a:t>stretches back to</a:t>
            </a:r>
            <a:r>
              <a:rPr lang="en-US" sz="3200" b="1" dirty="0"/>
              <a:t> before 1500.</a:t>
            </a:r>
            <a:endParaRPr lang="en-US" sz="3200" b="1" dirty="0"/>
          </a:p>
          <a:p>
            <a:r>
              <a:rPr lang="en-US" sz="3200" b="1" dirty="0"/>
              <a:t>该镇的历史可以</a:t>
            </a:r>
            <a:r>
              <a:rPr lang="en-US" sz="3200" b="1" u="sng" dirty="0"/>
              <a:t>上溯到</a:t>
            </a:r>
            <a:r>
              <a:rPr lang="en-US" sz="3200" b="1" dirty="0"/>
              <a:t>公元 1500 年以前。(</a:t>
            </a:r>
            <a:r>
              <a:rPr lang="en-US" sz="3200" b="1" dirty="0">
                <a:solidFill>
                  <a:schemeClr val="bg2"/>
                </a:solidFill>
              </a:rPr>
              <a:t>=date back to</a:t>
            </a:r>
            <a:r>
              <a:rPr lang="en-US" sz="3200" b="1" dirty="0"/>
              <a:t>)</a:t>
            </a:r>
            <a:endParaRPr lang="en-US" sz="3200" b="1" dirty="0"/>
          </a:p>
          <a:p>
            <a:r>
              <a:rPr lang="zh-CN" altLang="en-US" sz="3200" b="1" dirty="0"/>
              <a:t>Make sure that the rope is </a:t>
            </a:r>
            <a:r>
              <a:rPr lang="zh-CN" altLang="en-US" sz="3200" b="1" u="sng" dirty="0">
                <a:solidFill>
                  <a:srgbClr val="FF0000"/>
                </a:solidFill>
              </a:rPr>
              <a:t>stretched tight</a:t>
            </a:r>
            <a:r>
              <a:rPr lang="zh-CN" altLang="en-US" sz="3200" b="1" dirty="0"/>
              <a:t>.</a:t>
            </a:r>
            <a:endParaRPr lang="zh-CN" altLang="en-US" sz="3200" b="1" dirty="0"/>
          </a:p>
          <a:p>
            <a:r>
              <a:rPr lang="zh-CN" altLang="en-US" sz="3200" b="1" dirty="0"/>
              <a:t>务必要把绳子</a:t>
            </a:r>
            <a:r>
              <a:rPr lang="zh-CN" altLang="en-US" sz="3200" b="1" u="sng" dirty="0"/>
              <a:t>拉紧</a:t>
            </a:r>
            <a:r>
              <a:rPr lang="zh-CN" altLang="en-US" sz="3200" b="1" dirty="0"/>
              <a:t>。</a:t>
            </a:r>
            <a:r>
              <a:rPr lang="en-US" altLang="zh-CN" sz="3200" b="1" dirty="0"/>
              <a:t>(</a:t>
            </a:r>
            <a:r>
              <a:rPr lang="en-US" altLang="zh-CN" sz="3200" b="1" dirty="0">
                <a:solidFill>
                  <a:schemeClr val="bg2"/>
                </a:solidFill>
              </a:rPr>
              <a:t>=pull</a:t>
            </a:r>
            <a:r>
              <a:rPr lang="en-US" altLang="zh-CN" sz="3200" b="1" dirty="0"/>
              <a:t>)</a:t>
            </a:r>
            <a:endParaRPr lang="en-US" altLang="zh-CN" sz="3200" b="1" dirty="0"/>
          </a:p>
          <a:p>
            <a:r>
              <a:rPr lang="en-US" altLang="zh-CN" sz="3200" b="1" dirty="0"/>
              <a:t>The influx of refugees has </a:t>
            </a:r>
            <a:r>
              <a:rPr lang="en-US" altLang="zh-CN" sz="3200" b="1" u="sng" dirty="0">
                <a:solidFill>
                  <a:srgbClr val="FF0000"/>
                </a:solidFill>
              </a:rPr>
              <a:t>stretched</a:t>
            </a:r>
            <a:r>
              <a:rPr lang="en-US" altLang="zh-CN" sz="3200" b="1" dirty="0"/>
              <a:t> the country's resources </a:t>
            </a:r>
            <a:r>
              <a:rPr lang="en-US" altLang="zh-CN" sz="3200" b="1" u="sng" dirty="0">
                <a:solidFill>
                  <a:srgbClr val="FF0000"/>
                </a:solidFill>
              </a:rPr>
              <a:t>to the limit</a:t>
            </a:r>
            <a:r>
              <a:rPr lang="en-US" altLang="zh-CN" sz="3200" b="1" dirty="0"/>
              <a:t>.</a:t>
            </a:r>
            <a:endParaRPr lang="en-US" altLang="zh-CN" sz="3200" b="1" dirty="0"/>
          </a:p>
          <a:p>
            <a:r>
              <a:rPr lang="en-US" altLang="zh-CN" sz="3200" b="1" dirty="0"/>
              <a:t>难民的大量涌入</a:t>
            </a:r>
            <a:r>
              <a:rPr lang="en-US" altLang="zh-CN" sz="3200" b="1" u="sng" dirty="0"/>
              <a:t>把</a:t>
            </a:r>
            <a:r>
              <a:rPr lang="en-US" altLang="zh-CN" sz="3200" b="1" dirty="0"/>
              <a:t>这个国家的资源</a:t>
            </a:r>
            <a:r>
              <a:rPr lang="en-US" altLang="zh-CN" sz="3200" b="1" u="sng" dirty="0"/>
              <a:t>消耗殆尽</a:t>
            </a:r>
            <a:r>
              <a:rPr lang="en-US" altLang="zh-CN" sz="3200" b="1" dirty="0"/>
              <a:t>。(</a:t>
            </a:r>
            <a:r>
              <a:rPr lang="en-US" altLang="zh-CN" sz="3200" b="1" dirty="0">
                <a:solidFill>
                  <a:schemeClr val="bg2"/>
                </a:solidFill>
              </a:rPr>
              <a:t>=use up</a:t>
            </a:r>
            <a:r>
              <a:rPr lang="en-US" altLang="zh-CN" sz="3200" b="1" dirty="0"/>
              <a:t>)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521335" y="495300"/>
            <a:ext cx="11167110" cy="481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6. Then </a:t>
            </a: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somehow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I began to feel free.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sz="3200" b="1" i="1" dirty="0">
                <a:solidFill>
                  <a:schemeClr val="tx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adv. </a:t>
            </a:r>
            <a:endParaRPr lang="en-US" sz="3200" b="1" i="1" dirty="0">
              <a:solidFill>
                <a:schemeClr val="tx2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somehow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= for a reason that is unknown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不知为何 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Somehow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he looked strange.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-533400" fontAlgn="auto">
              <a:lnSpc>
                <a:spcPct val="120000"/>
              </a:lnSpc>
            </a:pP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sym typeface="+mn-ea"/>
              </a:rPr>
              <a:t>somehow</a:t>
            </a:r>
            <a:r>
              <a:rPr lang="en-US" sz="3200" b="1" dirty="0">
                <a:latin typeface="Times New Roman" panose="02020603050405020304" pitchFamily="18" charset="0"/>
                <a:sym typeface="+mn-ea"/>
              </a:rPr>
              <a:t> </a:t>
            </a: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sym typeface="+mn-ea"/>
              </a:rPr>
              <a:t>= in some ways</a:t>
            </a:r>
            <a:r>
              <a:rPr lang="en-US" sz="3200" b="1" dirty="0"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以某种方式</a:t>
            </a:r>
            <a:endParaRPr lang="zh-CN" altLang="en-US" sz="3200" b="1" dirty="0">
              <a:latin typeface="Times New Roman" panose="02020603050405020304" pitchFamily="18" charset="0"/>
              <a:sym typeface="+mn-ea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They may not take a direct path, but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somehow 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they realized their dreams.</a:t>
            </a:r>
            <a:endParaRPr lang="en-US" altLang="zh-CN" sz="3200" b="1" dirty="0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6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468630" y="430530"/>
            <a:ext cx="11201400" cy="599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marL="533400" indent="-533400" algn="l">
              <a:lnSpc>
                <a:spcPct val="120000"/>
              </a:lnSpc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pick up the classic novel</a:t>
            </a:r>
            <a:endParaRPr 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533400" indent="-533400"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重拾那本名著小说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to continue, to start again</a:t>
            </a:r>
            <a:endParaRPr lang="en-US" altLang="zh-CN" sz="32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533400" indent="-533400" algn="l">
              <a:lnSpc>
                <a:spcPct val="120000"/>
              </a:lnSpc>
            </a:pPr>
            <a:endParaRPr lang="en-US" altLang="zh-CN" sz="32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533400" indent="-533400"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603050405020304" charset="0"/>
                <a:cs typeface="Times New Roman Bold" panose="02020603050405020304" charset="0"/>
              </a:rPr>
              <a:t>be lost in </a:t>
            </a:r>
            <a:endParaRPr lang="en-US" altLang="zh-CN" sz="3200" b="1" dirty="0">
              <a:solidFill>
                <a:schemeClr val="tx2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533400" indent="-533400"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沉浸于；专心致志于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533400" indent="-533400"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603050405020304" charset="0"/>
                <a:cs typeface="Times New Roman Bold" panose="02020603050405020304" charset="0"/>
              </a:rPr>
              <a:t>be lost in thought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陷入沉思</a:t>
            </a:r>
            <a:endParaRPr lang="en-US" altLang="zh-CN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533400" indent="-533400" algn="l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533400" indent="-533400"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603050405020304" charset="0"/>
                <a:cs typeface="Times New Roman Bold" panose="02020603050405020304" charset="0"/>
              </a:rPr>
              <a:t>keep a journal of 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603050405020304" charset="0"/>
                <a:cs typeface="Times New Roman Bold" panose="02020603050405020304" charset="0"/>
              </a:rPr>
              <a:t>sth</a:t>
            </a:r>
            <a:endParaRPr lang="en-US" altLang="zh-CN" sz="3200" b="1" dirty="0">
              <a:solidFill>
                <a:schemeClr val="tx2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533400" indent="-533400"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记日记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533400" indent="-533400"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journal: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期刊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6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6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6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66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470535" y="135255"/>
            <a:ext cx="11366500" cy="481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33400" indent="-533400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7. </a:t>
            </a:r>
            <a:r>
              <a:rPr lang="en-US" sz="3200" b="1" dirty="0">
                <a:latin typeface="Times New Roman" panose="02020603050405020304" pitchFamily="18" charset="0"/>
              </a:rPr>
              <a:t>The details of the scene were </a:t>
            </a: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reveal</a:t>
            </a:r>
            <a:r>
              <a:rPr lang="en-US" sz="3200" b="1" dirty="0">
                <a:latin typeface="Times New Roman" panose="02020603050405020304" pitchFamily="18" charset="0"/>
              </a:rPr>
              <a:t>ed in front of me.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reveal</a:t>
            </a:r>
            <a:r>
              <a:rPr lang="en-US" altLang="zh-CN" sz="3200" b="1" dirty="0">
                <a:latin typeface="Times New Roman" panose="02020603050405020304" pitchFamily="18" charset="0"/>
              </a:rPr>
              <a:t>: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make sth known to sb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揭示；透露；</a:t>
            </a:r>
            <a:r>
              <a:rPr lang="zh-CN" altLang="en-US" sz="3200" b="1" dirty="0">
                <a:latin typeface="Times New Roman" panose="02020603050405020304" pitchFamily="18" charset="0"/>
              </a:rPr>
              <a:t>显示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A gap in the clouds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revealed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 the Atlantic far below.</a:t>
            </a:r>
            <a:endParaRPr lang="en-US" altLang="zh-CN" sz="3200" b="1" dirty="0">
              <a:latin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从云缝中可以看到远在下方的大西洋</a:t>
            </a:r>
            <a:r>
              <a:rPr lang="zh-CN" altLang="en-US" sz="3200" b="1" dirty="0">
                <a:latin typeface="Times New Roman" panose="02020603050405020304" pitchFamily="18" charset="0"/>
              </a:rPr>
              <a:t>。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The doctor didn’t </a:t>
            </a:r>
            <a:r>
              <a:rPr lang="en-US" altLang="zh-CN" sz="3200" b="1" u="sng" dirty="0">
                <a:solidFill>
                  <a:schemeClr val="tx2"/>
                </a:solidFill>
                <a:latin typeface="Times New Roman" panose="02020603050405020304" pitchFamily="18" charset="0"/>
              </a:rPr>
              <a:t>reveal the truth to him</a:t>
            </a:r>
            <a:r>
              <a:rPr lang="en-US" altLang="zh-CN" sz="3200" b="1" dirty="0">
                <a:latin typeface="Times New Roman" panose="02020603050405020304" pitchFamily="18" charset="0"/>
              </a:rPr>
              <a:t>. (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reveal sth to sb</a:t>
            </a:r>
            <a:r>
              <a:rPr lang="en-US" altLang="zh-CN" sz="3200" b="1" dirty="0">
                <a:latin typeface="Times New Roman" panose="02020603050405020304" pitchFamily="18" charset="0"/>
              </a:rPr>
              <a:t>)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It is revealed that</a:t>
            </a:r>
            <a:r>
              <a:rPr lang="en-US" altLang="zh-CN" sz="3200" b="1" dirty="0">
                <a:latin typeface="Times New Roman" panose="02020603050405020304" pitchFamily="18" charset="0"/>
              </a:rPr>
              <a:t> the company made a huge loss last year.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zh-CN" altLang="en-US" sz="3200" b="1" u="sng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据透露</a:t>
            </a:r>
            <a:r>
              <a:rPr lang="en-US" altLang="zh-CN" sz="3200" b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...</a:t>
            </a:r>
            <a:endParaRPr lang="en-US" altLang="zh-CN" sz="3200" b="1" dirty="0"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6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6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6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60985" y="850900"/>
            <a:ext cx="11823700" cy="531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marL="363855" marR="0" lvl="0" indent="-363855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began to 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appreciate 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beauty in life with my own eyes, ...</a:t>
            </a:r>
            <a:endParaRPr kumimoji="0" 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vt.</a:t>
            </a: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欣赏，赏识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can’t really </a:t>
            </a:r>
            <a:r>
              <a:rPr kumimoji="0" lang="en-US" altLang="zh-CN" sz="32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appreciate foreign literature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translation.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3200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 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vt.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感激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would </a:t>
            </a:r>
            <a:r>
              <a:rPr kumimoji="0" lang="en-US" altLang="zh-CN" sz="3200" b="1" i="0" u="sng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appreciate i</a:t>
            </a:r>
            <a:r>
              <a:rPr kumimoji="0" lang="en-US" altLang="zh-CN" sz="32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zh-CN" sz="32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if</a:t>
            </a:r>
            <a:r>
              <a:rPr kumimoji="0" lang="en-US" altLang="zh-CN" sz="32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paid in cash.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would </a:t>
            </a:r>
            <a:r>
              <a:rPr kumimoji="0" lang="en-US" altLang="zh-CN" sz="3200" b="1" i="0" u="sng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appreciate you informing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 of any problems. (</a:t>
            </a:r>
            <a:r>
              <a:rPr kumimoji="0" lang="en-US" altLang="zh-CN" sz="3200" b="1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 Bold Italic" panose="02020603050405020304" charset="0"/>
                <a:cs typeface="Times New Roman Bold Italic" panose="02020603050405020304" charset="0"/>
              </a:rPr>
              <a:t>appreciate (sb) doing sth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3200" b="1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3)</a:t>
            </a:r>
            <a:r>
              <a:rPr lang="en-US" sz="3200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200" b="1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vt.</a:t>
            </a:r>
            <a:r>
              <a:rPr lang="en-US" sz="3200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理解；领会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200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is hard for people to </a:t>
            </a:r>
            <a:r>
              <a:rPr lang="en-US" altLang="zh-CN" sz="3200" b="1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appreciate </a:t>
            </a:r>
            <a:r>
              <a:rPr lang="en-US" altLang="zh-CN" sz="3200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what we have gone through.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71475" y="401955"/>
            <a:ext cx="11605895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marR="0" lvl="0" indent="-363855" algn="l" defTabSz="914400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appreciation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欣赏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感激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理解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63855" algn="l" defTabSz="914400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Children should develop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appreciation of 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poetry.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63855" algn="l" defTabSz="914400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Please accept this gift 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appreciation of/for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you’ve done for us.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63855" algn="l" defTabSz="914400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63855" algn="l" defTabSz="914400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 had no 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appreciation of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problems they faced.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63855" algn="l" defTabSz="914400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63855" algn="l" defTabSz="914400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 me a great appreciation for life beyond the screen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让我好好欣赏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享受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屏幕之外的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生活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161145" y="1065530"/>
            <a:ext cx="303085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3200" b="1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对……的欣赏力</a:t>
            </a:r>
            <a:endParaRPr lang="zh-CN" altLang="en-US" sz="3200" b="1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582920" y="2152650"/>
            <a:ext cx="99695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3200" b="1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感激</a:t>
            </a:r>
            <a:endParaRPr lang="zh-CN" altLang="en-US" sz="3200" b="1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710180" y="3360420"/>
            <a:ext cx="99695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3200" b="1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理解</a:t>
            </a:r>
            <a:endParaRPr lang="zh-CN" altLang="en-US" sz="3200" b="1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5" grpId="0"/>
      <p:bldP spid="5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521335" y="575310"/>
            <a:ext cx="11285220" cy="363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marL="533400" indent="-533400" algn="l">
              <a:lnSpc>
                <a:spcPct val="120000"/>
              </a:lnSpc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enjoy each other’s company</a:t>
            </a:r>
            <a:endParaRPr 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533400" indent="-533400"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享受彼此的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陪伴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533400" indent="-533400"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keep sb company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陪伴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某人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533400" indent="-533400" algn="l">
              <a:lnSpc>
                <a:spcPct val="120000"/>
              </a:lnSpc>
            </a:pPr>
            <a:endParaRPr lang="en-US" altLang="zh-CN" sz="32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533400" indent="-533400"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 Bold" panose="02020603050405020304" charset="0"/>
                <a:cs typeface="Times New Roman Bold" panose="02020603050405020304" charset="0"/>
              </a:rPr>
              <a:t>bring sb up to date with sth</a:t>
            </a:r>
            <a:endParaRPr lang="en-US" altLang="zh-CN" sz="3200" b="1" dirty="0">
              <a:solidFill>
                <a:schemeClr val="tx2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533400" indent="-533400"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让某人跟进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某事（让他们知悉）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6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0" y="220980"/>
            <a:ext cx="1151382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 can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 back on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amount of time ..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cut back on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amount, size, cost </a:t>
            </a:r>
            <a:r>
              <a:rPr lang="en-US" altLang="zh-CN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CN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减少；</a:t>
            </a:r>
            <a:r>
              <a:rPr lang="en-US" altLang="zh-CN" sz="32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削减</a:t>
            </a:r>
            <a:endParaRPr lang="en-US" altLang="zh-CN" sz="3200" b="1" dirty="0" err="1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 cut sth back</a:t>
            </a:r>
            <a:endParaRPr lang="en-US" altLang="zh-CN" sz="3200" b="1" dirty="0" err="1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近义短语：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cut </a:t>
            </a:r>
            <a:r>
              <a:rPr lang="en-US" altLang="zh-CN" sz="32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down on sth</a:t>
            </a:r>
            <a:endParaRPr lang="en-US" altLang="zh-CN" sz="3200" b="1" dirty="0" err="1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078230" indent="-107823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major hospitals are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cutting back on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at the moment.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现在有几家大医院正在裁员。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5920" y="311785"/>
            <a:ext cx="11444605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43455" indent="-2243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cut back on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less or do less of </a:t>
            </a:r>
            <a:r>
              <a:rPr lang="en-US" altLang="zh-CN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尤指为了健康而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少吃，少喝</a:t>
            </a:r>
            <a:endParaRPr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434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 back on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foods containing wheat and dairy products.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要少吃含小麦食品和奶制品。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43455" fontAlgn="auto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434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 back on a rose bush 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剪枝；</a:t>
            </a:r>
            <a:r>
              <a:rPr lang="zh-CN" alt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修剪</a:t>
            </a:r>
            <a:endParaRPr lang="zh-CN" altLang="en-US" sz="32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高中教材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高中教材课件</Template>
  <TotalTime>0</TotalTime>
  <Words>4445</Words>
  <Application>WPS Writer</Application>
  <PresentationFormat>宽屏</PresentationFormat>
  <Paragraphs>162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Times New Roman</vt:lpstr>
      <vt:lpstr>Times New Roman Bold Italic</vt:lpstr>
      <vt:lpstr>Times New Roman Bold</vt:lpstr>
      <vt:lpstr>汉仪书宋二KW</vt:lpstr>
      <vt:lpstr>微软雅黑</vt:lpstr>
      <vt:lpstr>汉仪旗黑</vt:lpstr>
      <vt:lpstr>宋体</vt:lpstr>
      <vt:lpstr>Arial Unicode MS</vt:lpstr>
      <vt:lpstr>黑体</vt:lpstr>
      <vt:lpstr>汉仪中黑KW</vt:lpstr>
      <vt:lpstr>Calibri</vt:lpstr>
      <vt:lpstr>Helvetica Neue</vt:lpstr>
      <vt:lpstr>Apple Color Emoji</vt:lpstr>
      <vt:lpstr>高中教材课件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Elsssie</cp:lastModifiedBy>
  <cp:revision>15</cp:revision>
  <dcterms:created xsi:type="dcterms:W3CDTF">2024-04-08T05:56:04Z</dcterms:created>
  <dcterms:modified xsi:type="dcterms:W3CDTF">2024-04-08T05:56:04Z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1033-6.5.2.8766</vt:lpwstr>
  </property>
  <property fmtid="{D5CDD505-2E9C-101B-9397-08002B2CF9AE}" pid="3" name="ICV">
    <vt:lpwstr>AFB136A23A6AAF4CEEEA1664808A648F_42</vt:lpwstr>
  </property>
</Properties>
</file>