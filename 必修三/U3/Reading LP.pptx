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790" r:id="rId2"/>
    <p:sldId id="791" r:id="rId3"/>
    <p:sldId id="792" r:id="rId4"/>
    <p:sldId id="793" r:id="rId5"/>
    <p:sldId id="796" r:id="rId6"/>
    <p:sldId id="801" r:id="rId7"/>
    <p:sldId id="738" r:id="rId8"/>
    <p:sldId id="802" r:id="rId9"/>
    <p:sldId id="797" r:id="rId10"/>
    <p:sldId id="674" r:id="rId11"/>
    <p:sldId id="800" r:id="rId12"/>
    <p:sldId id="799" r:id="rId13"/>
    <p:sldId id="675" r:id="rId14"/>
    <p:sldId id="804" r:id="rId15"/>
    <p:sldId id="805" r:id="rId16"/>
    <p:sldId id="806" r:id="rId17"/>
    <p:sldId id="803" r:id="rId18"/>
    <p:sldId id="689" r:id="rId19"/>
    <p:sldId id="690" r:id="rId20"/>
    <p:sldId id="807" r:id="rId21"/>
    <p:sldId id="808" r:id="rId22"/>
    <p:sldId id="684" r:id="rId23"/>
    <p:sldId id="809" r:id="rId24"/>
    <p:sldId id="810" r:id="rId25"/>
    <p:sldId id="697" r:id="rId26"/>
    <p:sldId id="698" r:id="rId27"/>
    <p:sldId id="682" r:id="rId28"/>
    <p:sldId id="811" r:id="rId29"/>
    <p:sldId id="716" r:id="rId30"/>
    <p:sldId id="814" r:id="rId31"/>
    <p:sldId id="715" r:id="rId32"/>
    <p:sldId id="812" r:id="rId33"/>
    <p:sldId id="714" r:id="rId34"/>
    <p:sldId id="844" r:id="rId35"/>
    <p:sldId id="816" r:id="rId36"/>
    <p:sldId id="815" r:id="rId37"/>
    <p:sldId id="725" r:id="rId38"/>
    <p:sldId id="734" r:id="rId39"/>
    <p:sldId id="737" r:id="rId40"/>
    <p:sldId id="736" r:id="rId41"/>
    <p:sldId id="817" r:id="rId42"/>
    <p:sldId id="822" r:id="rId43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F3376-9DB4-4461-9888-1396C77DDD8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66566-37A5-4B76-8242-8ED462C8FD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欺骗，迷惑</a:t>
            </a:r>
          </a:p>
          <a:p>
            <a:r>
              <a:rPr lang="zh-CN" altLang="en-US"/>
              <a:t>呈现出</a:t>
            </a:r>
          </a:p>
          <a:p>
            <a:r>
              <a:rPr lang="zh-CN" altLang="en-US"/>
              <a:t>占据</a:t>
            </a:r>
          </a:p>
          <a:p>
            <a:r>
              <a:rPr lang="zh-CN" altLang="en-US"/>
              <a:t>开始从事，开始学</a:t>
            </a:r>
            <a:r>
              <a:rPr lang="en-US" altLang="zh-CN"/>
              <a:t> start to engage in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It suddenly dawned on me that ...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contact sb</a:t>
            </a:r>
          </a:p>
          <a:p>
            <a:r>
              <a:rPr lang="en-US"/>
              <a:t>set up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make/leave/post a comment on/ about  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b="1" dirty="0"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作出评论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make/leave/post a comment on/ about  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b="1" dirty="0"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作出评论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know or realize sth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83540" y="1574165"/>
            <a:ext cx="11402060" cy="4225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61950" indent="-3619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Soon </a:t>
            </a:r>
            <a:r>
              <a:rPr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emojis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took off </a:t>
            </a: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throughout the world.</a:t>
            </a:r>
          </a:p>
          <a:p>
            <a:pPr marL="361950" indent="-3619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</a:t>
            </a:r>
            <a:r>
              <a:rPr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很快表情符号就</a:t>
            </a:r>
            <a:r>
              <a:rPr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风靡</a:t>
            </a:r>
            <a:r>
              <a:rPr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全球了</a:t>
            </a: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 marL="1822450" indent="-1822450"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take off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become successful or popular very quickly or suddenly </a:t>
            </a:r>
            <a:r>
              <a:rPr sz="3200" b="1" dirty="0" err="1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突然大受欢迎</a:t>
            </a:r>
            <a:r>
              <a:rPr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</a:t>
            </a:r>
            <a:r>
              <a:rPr lang="en-US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sz="3200" b="1" dirty="0" err="1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迅速流行</a:t>
            </a:r>
            <a:r>
              <a:rPr lang="en-US" sz="3200" b="1" dirty="0" err="1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endParaRPr sz="3200" b="1" dirty="0">
              <a:solidFill>
                <a:schemeClr val="bg2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61950" indent="-3619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61950" indent="-3619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magazine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took off </a:t>
            </a: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after the interview.</a:t>
            </a:r>
          </a:p>
          <a:p>
            <a:pPr marL="361950" indent="-3619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那次采访之后这本杂志</a:t>
            </a:r>
            <a:r>
              <a:rPr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大受欢迎</a:t>
            </a:r>
            <a:r>
              <a:rPr 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233" y="224857"/>
            <a:ext cx="5229225" cy="10477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233670" y="3969385"/>
            <a:ext cx="27057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 err="1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= become a hit</a:t>
            </a:r>
            <a:endParaRPr lang="en-US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78155" y="321945"/>
            <a:ext cx="1127823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take off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还有以下意思：</a:t>
            </a: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(飞机)起飞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plane __________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11 o'clock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/in 5 minutes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飞机在11点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五分钟内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起飞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脱下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脱掉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衣物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take off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one's coat, hat, shoes, skirt, trousers,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etc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脱大衣、帽、鞋、裙子、裤子等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休假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休息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have decided to _________________________  next week. 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我已决定下星期休息几天。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760345" y="1491615"/>
            <a:ext cx="166116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takes off</a:t>
            </a:r>
            <a:endParaRPr 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3837305" y="5024120"/>
            <a:ext cx="47872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take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 few days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work) </a:t>
            </a:r>
            <a:endParaRPr lang="en-US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文本占位符 47105"/>
          <p:cNvSpPr>
            <a:spLocks noGrp="1" noChangeArrowheads="1"/>
          </p:cNvSpPr>
          <p:nvPr>
            <p:ph type="body" idx="4294967295"/>
          </p:nvPr>
        </p:nvSpPr>
        <p:spPr>
          <a:xfrm>
            <a:off x="477520" y="584200"/>
            <a:ext cx="11370945" cy="5210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写出下列各句中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off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的意思。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Hurry up! The plane is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taking off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10 minutes.  													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You have to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off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your shoes before you go to the computer room.                                     				     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　　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I want to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next Friday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                	     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　　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In recent years, shopping online has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taken off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                         							 	 	     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  <p:sp>
        <p:nvSpPr>
          <p:cNvPr id="244739" name="Rectangle 3"/>
          <p:cNvSpPr>
            <a:spLocks noChangeArrowheads="1"/>
          </p:cNvSpPr>
          <p:nvPr/>
        </p:nvSpPr>
        <p:spPr bwMode="auto">
          <a:xfrm>
            <a:off x="10139728" y="1941549"/>
            <a:ext cx="9969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起飞</a:t>
            </a:r>
          </a:p>
        </p:txBody>
      </p:sp>
      <p:sp>
        <p:nvSpPr>
          <p:cNvPr id="244740" name="Rectangle 4"/>
          <p:cNvSpPr>
            <a:spLocks noChangeArrowheads="1"/>
          </p:cNvSpPr>
          <p:nvPr/>
        </p:nvSpPr>
        <p:spPr bwMode="auto">
          <a:xfrm>
            <a:off x="10126980" y="3237865"/>
            <a:ext cx="13512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脱下   </a:t>
            </a:r>
          </a:p>
        </p:txBody>
      </p:sp>
      <p:sp>
        <p:nvSpPr>
          <p:cNvPr id="244742" name="Rectangle 6"/>
          <p:cNvSpPr>
            <a:spLocks noChangeArrowheads="1"/>
          </p:cNvSpPr>
          <p:nvPr/>
        </p:nvSpPr>
        <p:spPr bwMode="auto">
          <a:xfrm>
            <a:off x="10127028" y="4004473"/>
            <a:ext cx="10985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请假 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936032" y="5036750"/>
            <a:ext cx="19126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迅速流行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ldLvl="0" animBg="1"/>
      <p:bldP spid="244740" grpId="0" bldLvl="0" animBg="1"/>
      <p:bldP spid="244742" grpId="0" bldLvl="0" animBg="1"/>
      <p:bldP spid="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文本占位符 47105"/>
          <p:cNvSpPr>
            <a:spLocks noGrp="1" noChangeArrowheads="1"/>
          </p:cNvSpPr>
          <p:nvPr/>
        </p:nvSpPr>
        <p:spPr>
          <a:xfrm>
            <a:off x="548640" y="414655"/>
            <a:ext cx="11299190" cy="52108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的介词短语填空。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more fat you _____ ___ before bedtime, the greater burden you will put on your body at night.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Don’t be _________ by his charm - he’s ruthless.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Some insects ______ ___ the colour of their surroundings to protect themselves.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The table ______ ___ too much room.</a:t>
            </a:r>
          </a:p>
          <a:p>
            <a:pPr marL="450850" indent="-45085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They’ve _______ ___ golf.</a:t>
            </a:r>
          </a:p>
        </p:txBody>
      </p:sp>
      <p:sp>
        <p:nvSpPr>
          <p:cNvPr id="244742" name="Rectangle 6"/>
          <p:cNvSpPr>
            <a:spLocks noChangeArrowheads="1"/>
          </p:cNvSpPr>
          <p:nvPr/>
        </p:nvSpPr>
        <p:spPr bwMode="auto">
          <a:xfrm>
            <a:off x="4230101" y="1148243"/>
            <a:ext cx="13684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in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2822941" y="2434118"/>
            <a:ext cx="159448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taken in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695432" y="3017683"/>
            <a:ext cx="156019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on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020745" y="4285778"/>
            <a:ext cx="163957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takes up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861042" y="4951258"/>
            <a:ext cx="170751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taken up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2" grpId="0" bldLvl="0" animBg="1"/>
      <p:bldP spid="2" grpId="0" bldLvl="0" animBg="1"/>
      <p:bldP spid="3" grpId="0" bldLvl="0" animBg="1"/>
      <p:bldP spid="5" grpId="0" bldLvl="0" animBg="1"/>
      <p:bldP spid="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89100" y="211455"/>
            <a:ext cx="8978900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一项科技奇迹</a:t>
            </a: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technological wonder</a:t>
            </a:r>
          </a:p>
          <a:p>
            <a:pPr algn="ctr"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 about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导致，引起</a:t>
            </a: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i="1" dirty="0">
                <a:solidFill>
                  <a:schemeClr val="tx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cause, lead to, contribute to, give rise to</a:t>
            </a:r>
          </a:p>
          <a:p>
            <a:pPr algn="ctr">
              <a:lnSpc>
                <a:spcPct val="110000"/>
              </a:lnSpc>
            </a:pP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在我们生活的方方面面引起深远的变化</a:t>
            </a: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bring about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far-reaching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changes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all aspects of our lives</a:t>
            </a:r>
          </a:p>
          <a:p>
            <a:pPr algn="ctr"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一个共享群体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single shared community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23875" y="725805"/>
            <a:ext cx="11122660" cy="3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frontier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国界线</a:t>
            </a:r>
          </a:p>
          <a:p>
            <a:pPr algn="ctr">
              <a:lnSpc>
                <a:spcPct val="110000"/>
              </a:lnSpc>
            </a:pPr>
            <a:r>
              <a:rPr lang="en-US" altLang="zh-CN" sz="3200" i="1" dirty="0">
                <a:solidFill>
                  <a:schemeClr val="tx2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border, boundary</a:t>
            </a:r>
          </a:p>
          <a:p>
            <a:pPr algn="ctr">
              <a:lnSpc>
                <a:spcPct val="110000"/>
              </a:lnSpc>
            </a:pPr>
            <a:endParaRPr lang="en-US" altLang="zh-CN" sz="3200" i="1" dirty="0">
              <a:solidFill>
                <a:schemeClr val="tx2"/>
              </a:solidFill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frontier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s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 of sth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(学科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或活动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尖端，边缘</a:t>
            </a:r>
            <a:endParaRPr lang="zh-CN" altLang="en-US" sz="3200" b="1" dirty="0">
              <a:solidFill>
                <a:schemeClr val="tx2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l">
              <a:lnSpc>
                <a:spcPct val="110000"/>
              </a:lnSpc>
            </a:pPr>
            <a:endParaRPr lang="zh-CN" altLang="en-US" sz="3200" b="1" dirty="0">
              <a:solidFill>
                <a:schemeClr val="tx2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push back/advance/expand/extend the frontier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s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 of science </a:t>
            </a:r>
          </a:p>
          <a:p>
            <a:pPr algn="l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= increase the knowledge of science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开拓科学新领域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421640" y="629285"/>
            <a:ext cx="1145222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/>
              <a:t>1. ... and </a:t>
            </a:r>
            <a:r>
              <a:rPr lang="en-US" altLang="zh-CN" sz="3200" b="1" dirty="0">
                <a:solidFill>
                  <a:schemeClr val="tx2"/>
                </a:solidFill>
              </a:rPr>
              <a:t>obviously </a:t>
            </a:r>
            <a:r>
              <a:rPr lang="en-US" altLang="zh-CN" sz="3200" b="1" dirty="0"/>
              <a:t>many more will follow. </a:t>
            </a:r>
            <a:r>
              <a:rPr lang="en-US" altLang="zh-CN" sz="3200" b="1" dirty="0">
                <a:solidFill>
                  <a:schemeClr val="bg2"/>
                </a:solidFill>
              </a:rPr>
              <a:t>/ˈɒbvɪəsli/</a:t>
            </a:r>
            <a:endParaRPr lang="en-US" altLang="zh-CN" sz="3200" b="1" dirty="0"/>
          </a:p>
          <a:p>
            <a:pPr indent="-358775" fontAlgn="auto">
              <a:lnSpc>
                <a:spcPct val="120000"/>
              </a:lnSpc>
            </a:pP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= easy to see and understand </a:t>
            </a:r>
            <a:r>
              <a:rPr lang="zh-CN" altLang="en-US" sz="3200" b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显而易见的</a:t>
            </a:r>
          </a:p>
          <a:p>
            <a:pPr indent="-358775" fontAlgn="auto">
              <a:lnSpc>
                <a:spcPct val="120000"/>
              </a:lnSpc>
            </a:pP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98425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agreed with 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obvious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pleasure.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(adj.)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98425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Obviously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, the ability to talk is something that marks humans off from animals.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(adv.</a:t>
            </a:r>
            <a:r>
              <a:rPr lang="zh-CN" altLang="en-US" sz="3200" b="1" i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）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98425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obvious (to sb) that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something is wrong.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(predicative)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06550" y="1630680"/>
            <a:ext cx="8978900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beyond their villages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超越他们的村庄</a:t>
            </a:r>
          </a:p>
          <a:p>
            <a:pPr algn="ctr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reach and get in touch with the outside world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与外界联系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5145" y="3048000"/>
            <a:ext cx="1124204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 fontAlgn="auto">
              <a:lnSpc>
                <a:spcPct val="120000"/>
              </a:lnSpc>
            </a:pPr>
            <a:r>
              <a:rPr lang="en-US" altLang="zh-CN" sz="3200" b="1" dirty="0"/>
              <a:t>2. ... 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</a:rPr>
              <a:t>with </a:t>
            </a:r>
            <a:r>
              <a:rPr lang="en-US" altLang="zh-CN" sz="3200" b="1" dirty="0">
                <a:solidFill>
                  <a:schemeClr val="tx2"/>
                </a:solidFill>
              </a:rPr>
              <a:t>access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</a:rPr>
              <a:t> to the Internet come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some </a:t>
            </a:r>
            <a:r>
              <a:rPr lang="en-US" altLang="zh-CN" sz="3200" b="1" dirty="0">
                <a:solidFill>
                  <a:schemeClr val="tx2"/>
                </a:solidFill>
              </a:rPr>
              <a:t>truly life-changing advantages</a:t>
            </a:r>
            <a:r>
              <a:rPr lang="en-US" altLang="zh-CN" sz="3200" b="1" dirty="0"/>
              <a:t>. </a:t>
            </a:r>
          </a:p>
          <a:p>
            <a:pPr marL="358775" indent="-358775" fontAlgn="auto">
              <a:lnSpc>
                <a:spcPct val="120000"/>
              </a:lnSpc>
            </a:pPr>
            <a:r>
              <a:rPr lang="en-US" altLang="zh-CN" sz="3200" b="1" dirty="0" err="1"/>
              <a:t>接入互联网带来了</a:t>
            </a:r>
            <a:r>
              <a:rPr lang="zh-CN" altLang="en-US" sz="3200" b="1" dirty="0"/>
              <a:t>一些</a:t>
            </a:r>
            <a:r>
              <a:rPr lang="zh-CN" altLang="en-US" sz="3200" b="1" u="sng" dirty="0"/>
              <a:t>实实在在的、改变我们生活的好处</a:t>
            </a:r>
            <a:r>
              <a:rPr lang="zh-CN" altLang="en-US" sz="3200" b="1" dirty="0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26210" y="964565"/>
            <a:ext cx="9929495" cy="1568449"/>
          </a:xfrm>
          <a:prstGeom prst="wedgeRectCallout">
            <a:avLst>
              <a:gd name="adj1" fmla="val 20573"/>
              <a:gd name="adj2" fmla="val 72472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3200" b="1" dirty="0"/>
              <a:t>with access to the Internet…</a:t>
            </a:r>
            <a:r>
              <a:rPr lang="en-US" altLang="zh-CN" sz="3200" b="1" dirty="0" err="1"/>
              <a:t>是一个</a:t>
            </a:r>
            <a:r>
              <a:rPr lang="en-US" altLang="zh-CN" sz="3200" b="1" dirty="0" err="1">
                <a:solidFill>
                  <a:srgbClr val="FF0000"/>
                </a:solidFill>
              </a:rPr>
              <a:t>倒装</a:t>
            </a:r>
            <a:r>
              <a:rPr lang="en-US" altLang="zh-CN" sz="3200" b="1" dirty="0" err="1"/>
              <a:t>结构</a:t>
            </a:r>
            <a:r>
              <a:rPr lang="zh-CN" altLang="en-US" sz="3200" b="1" dirty="0"/>
              <a:t>，</a:t>
            </a:r>
            <a:r>
              <a:rPr lang="en-US" altLang="zh-CN" sz="3200" b="1" dirty="0" err="1"/>
              <a:t>起强调作用</a:t>
            </a:r>
            <a:r>
              <a:rPr lang="zh-CN" altLang="en-US" sz="3200" b="1" dirty="0"/>
              <a:t>，</a:t>
            </a:r>
            <a:r>
              <a:rPr lang="en-US" altLang="zh-CN" sz="3200" b="1" dirty="0" err="1"/>
              <a:t>正常的语序是</a:t>
            </a:r>
            <a:r>
              <a:rPr lang="zh-CN" altLang="en-US" sz="3200" b="1" dirty="0"/>
              <a:t>：</a:t>
            </a:r>
            <a:r>
              <a:rPr lang="en-US" altLang="zh-CN" sz="3200" b="1" dirty="0"/>
              <a:t>some truly life-changing advantages </a:t>
            </a:r>
            <a:r>
              <a:rPr lang="en-US" altLang="zh-CN" sz="3200" b="1" dirty="0">
                <a:solidFill>
                  <a:srgbClr val="FF0000"/>
                </a:solidFill>
              </a:rPr>
              <a:t>come with </a:t>
            </a:r>
            <a:r>
              <a:rPr lang="en-US" altLang="zh-CN" sz="3200" b="1" dirty="0"/>
              <a:t>access to the Internet</a:t>
            </a:r>
            <a:r>
              <a:rPr lang="zh-CN" altLang="en-US" sz="3200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0530" y="746125"/>
            <a:ext cx="1128776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86255" indent="-17862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access  </a:t>
            </a:r>
            <a:r>
              <a:rPr lang="en-US" altLang="zh-CN" sz="3200" b="1" i="1" dirty="0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</a:t>
            </a:r>
            <a:r>
              <a:rPr lang="en-US" altLang="zh-CN" sz="3200" b="1" i="1" dirty="0">
                <a:solidFill>
                  <a:schemeClr val="bg2"/>
                </a:solidFill>
              </a:rPr>
              <a:t>n</a:t>
            </a:r>
            <a:r>
              <a:rPr lang="en-US" altLang="zh-CN" sz="3200" b="1" dirty="0">
                <a:solidFill>
                  <a:schemeClr val="bg2"/>
                </a:solidFill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i="1" dirty="0">
                <a:sym typeface="+mn-ea"/>
              </a:rPr>
              <a:t>a way of entering a place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入径，通道</a:t>
            </a:r>
            <a:endParaRPr lang="zh-CN" altLang="en-US" sz="3200" b="1" dirty="0">
              <a:solidFill>
                <a:schemeClr val="bg2"/>
              </a:solidFill>
              <a:sym typeface="+mn-ea"/>
            </a:endParaRPr>
          </a:p>
          <a:p>
            <a:pPr marL="1786255">
              <a:lnSpc>
                <a:spcPct val="120000"/>
              </a:lnSpc>
            </a:pPr>
            <a:r>
              <a:rPr lang="en-US" altLang="zh-CN" sz="3200" b="1" i="1" dirty="0"/>
              <a:t>the right to enter a place, use something, see someone </a:t>
            </a:r>
            <a:r>
              <a:rPr lang="en-US" altLang="zh-CN" sz="3200" b="1" i="1" dirty="0" err="1"/>
              <a:t>etc</a:t>
            </a:r>
            <a:r>
              <a:rPr lang="en-US" altLang="zh-CN" sz="3200" b="1" i="1" dirty="0"/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进入权</a:t>
            </a:r>
            <a:r>
              <a:rPr lang="en-US" altLang="zh-CN" sz="3200" b="1" dirty="0">
                <a:solidFill>
                  <a:schemeClr val="tx1"/>
                </a:solidFill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</a:rPr>
              <a:t>使用权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30530" y="2806700"/>
            <a:ext cx="11288395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tabLst>
                <a:tab pos="3284220" algn="l"/>
              </a:tabLst>
            </a:pP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have/gain/get (free) access to</a:t>
            </a:r>
          </a:p>
          <a:p>
            <a:pPr>
              <a:lnSpc>
                <a:spcPct val="120000"/>
              </a:lnSpc>
              <a:tabLst>
                <a:tab pos="3284220" algn="l"/>
              </a:tabLst>
            </a:pPr>
            <a:r>
              <a:rPr lang="zh-CN" altLang="en-US" sz="3200" b="1" dirty="0">
                <a:sym typeface="+mn-ea"/>
              </a:rPr>
              <a:t>可以获得</a:t>
            </a:r>
            <a:r>
              <a:rPr lang="en-US" altLang="zh-CN" sz="3200" b="1" dirty="0">
                <a:sym typeface="+mn-ea"/>
              </a:rPr>
              <a:t>/ </a:t>
            </a:r>
            <a:r>
              <a:rPr lang="zh-CN" altLang="en-US" sz="3200" b="1" dirty="0">
                <a:sym typeface="+mn-ea"/>
              </a:rPr>
              <a:t>接近</a:t>
            </a:r>
            <a:r>
              <a:rPr lang="en-US" altLang="zh-CN" sz="3200" b="1" dirty="0">
                <a:sym typeface="+mn-ea"/>
              </a:rPr>
              <a:t>/</a:t>
            </a:r>
            <a:r>
              <a:rPr lang="zh-CN" altLang="en-US" sz="3200" b="1" dirty="0">
                <a:sym typeface="+mn-ea"/>
              </a:rPr>
              <a:t>使用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tabLst>
                <a:tab pos="3284220" algn="l"/>
              </a:tabLst>
            </a:pP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with access to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7350" y="429260"/>
            <a:ext cx="1140333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86255" indent="-17862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access vt.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find information, especially on a computer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进入，使用；（计算机）访问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87350" y="1881505"/>
            <a:ext cx="1140396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tabLst>
                <a:tab pos="3284220" algn="l"/>
              </a:tabLst>
            </a:pPr>
            <a:r>
              <a:rPr lang="en-US" sz="3200" b="1" dirty="0">
                <a:solidFill>
                  <a:schemeClr val="tx2"/>
                </a:solidFill>
                <a:sym typeface="+mn-ea"/>
              </a:rPr>
              <a:t>access sth</a:t>
            </a:r>
          </a:p>
          <a:p>
            <a:pPr>
              <a:lnSpc>
                <a:spcPct val="120000"/>
              </a:lnSpc>
              <a:tabLst>
                <a:tab pos="3284220" algn="l"/>
              </a:tabLst>
            </a:pPr>
            <a:r>
              <a:rPr lang="en-US" sz="3200" b="1" dirty="0"/>
              <a:t>The attic(</a:t>
            </a:r>
            <a:r>
              <a:rPr lang="zh-CN" altLang="en-US" sz="3200" b="1" dirty="0"/>
              <a:t>阁楼</a:t>
            </a:r>
            <a:r>
              <a:rPr lang="en-US" altLang="zh-CN" sz="3200" b="1" dirty="0"/>
              <a:t>)</a:t>
            </a:r>
            <a:r>
              <a:rPr lang="en-US" sz="3200" b="1" dirty="0"/>
              <a:t> can be </a:t>
            </a:r>
            <a:r>
              <a:rPr lang="en-US" sz="3200" b="1" dirty="0">
                <a:solidFill>
                  <a:schemeClr val="tx2"/>
                </a:solidFill>
              </a:rPr>
              <a:t>accessed </a:t>
            </a:r>
            <a:r>
              <a:rPr lang="en-US" sz="3200" b="1" dirty="0"/>
              <a:t>by a ladder.</a:t>
            </a:r>
          </a:p>
          <a:p>
            <a:pPr>
              <a:lnSpc>
                <a:spcPct val="120000"/>
              </a:lnSpc>
              <a:tabLst>
                <a:tab pos="3284220" algn="l"/>
              </a:tabLst>
            </a:pPr>
            <a:r>
              <a:rPr lang="en-US" altLang="zh-CN" sz="3200" b="1" dirty="0">
                <a:sym typeface="+mn-ea"/>
              </a:rPr>
              <a:t>Eva ________________________________ (</a:t>
            </a:r>
            <a:r>
              <a:rPr lang="zh-CN" altLang="en-US" sz="3200" b="1" dirty="0">
                <a:sym typeface="+mn-ea"/>
              </a:rPr>
              <a:t>访问了</a:t>
            </a:r>
            <a:r>
              <a:rPr lang="en-US" altLang="zh-CN" sz="3200" b="1" dirty="0">
                <a:sym typeface="+mn-ea"/>
              </a:rPr>
              <a:t>3</a:t>
            </a:r>
            <a:r>
              <a:rPr lang="zh-CN" altLang="en-US" sz="3200" b="1" dirty="0">
                <a:sym typeface="+mn-ea"/>
              </a:rPr>
              <a:t>个不同的文件</a:t>
            </a:r>
            <a:r>
              <a:rPr lang="en-US" altLang="zh-CN" sz="3200" b="1" dirty="0">
                <a:sym typeface="+mn-ea"/>
              </a:rPr>
              <a:t>) to find the correct information.</a:t>
            </a:r>
            <a:endParaRPr lang="en-US" sz="3200" b="1" dirty="0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1402453" y="3029214"/>
            <a:ext cx="644588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accessed three different documents 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1366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23215" y="330200"/>
            <a:ext cx="11057255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580005" indent="-25800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cs typeface="Courier New" panose="02070409020205090404" pitchFamily="49" charset="0"/>
                <a:sym typeface="+mn-ea"/>
              </a:rPr>
              <a:t>accessible</a:t>
            </a:r>
            <a:r>
              <a:rPr lang="en-US" altLang="zh-CN" sz="3200" b="1" i="1" dirty="0">
                <a:solidFill>
                  <a:srgbClr val="FF0000"/>
                </a:solidFill>
                <a:cs typeface="Courier New" panose="02070409020205090404" pitchFamily="49" charset="0"/>
                <a:sym typeface="+mn-ea"/>
              </a:rPr>
              <a:t> adj.</a:t>
            </a:r>
            <a:r>
              <a:rPr lang="en-US" altLang="zh-CN" sz="3200" b="1" dirty="0">
                <a:solidFill>
                  <a:srgbClr val="FF0000"/>
                </a:solidFill>
                <a:cs typeface="Courier New" panose="02070409020205090404" pitchFamily="49" charset="0"/>
                <a:sym typeface="+mn-ea"/>
              </a:rPr>
              <a:t> </a:t>
            </a:r>
            <a:r>
              <a:rPr lang="en-US" sz="3200" b="1" dirty="0">
                <a:cs typeface="Courier New" panose="02070409020205090404" pitchFamily="49" charset="0"/>
                <a:sym typeface="+mn-ea"/>
              </a:rPr>
              <a:t>easy to reach, to obtain, and to understand (</a:t>
            </a:r>
            <a:r>
              <a:rPr lang="en-US" sz="3200" b="1" i="1" dirty="0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straightforward, approachable</a:t>
            </a:r>
            <a:r>
              <a:rPr lang="en-US" sz="3200" b="1" dirty="0">
                <a:cs typeface="Courier New" panose="02070409020205090404" pitchFamily="49" charset="0"/>
                <a:sym typeface="+mn-ea"/>
              </a:rPr>
              <a:t>)</a:t>
            </a:r>
          </a:p>
          <a:p>
            <a:pPr marL="2580005" indent="-2580005">
              <a:lnSpc>
                <a:spcPct val="120000"/>
              </a:lnSpc>
            </a:pPr>
            <a:r>
              <a:rPr lang="en-US" sz="3200" b="1" dirty="0">
                <a:cs typeface="Courier New" panose="02070409020205090404" pitchFamily="49" charset="0"/>
                <a:sym typeface="+mn-ea"/>
              </a:rPr>
              <a:t>Her poetry is always very </a:t>
            </a:r>
            <a:r>
              <a:rPr lang="en-US" sz="3200" b="1" dirty="0">
                <a:solidFill>
                  <a:schemeClr val="tx2"/>
                </a:solidFill>
                <a:cs typeface="Courier New" panose="02070409020205090404" pitchFamily="49" charset="0"/>
                <a:sym typeface="+mn-ea"/>
              </a:rPr>
              <a:t>accessible</a:t>
            </a:r>
            <a:r>
              <a:rPr lang="en-US" sz="3200" b="1" dirty="0">
                <a:cs typeface="Courier New" panose="02070409020205090404" pitchFamily="49" charset="0"/>
                <a:sym typeface="+mn-ea"/>
              </a:rPr>
              <a:t>.</a:t>
            </a:r>
          </a:p>
          <a:p>
            <a:pPr marL="2580005" indent="-2580005">
              <a:lnSpc>
                <a:spcPct val="120000"/>
              </a:lnSpc>
            </a:pPr>
            <a:endParaRPr lang="en-US" sz="3200" b="1" dirty="0">
              <a:cs typeface="Courier New" panose="02070409020205090404" pitchFamily="49" charset="0"/>
              <a:sym typeface="+mn-ea"/>
            </a:endParaRPr>
          </a:p>
          <a:p>
            <a:pPr marL="2580005" indent="-2580005">
              <a:lnSpc>
                <a:spcPct val="120000"/>
              </a:lnSpc>
            </a:pPr>
            <a:r>
              <a:rPr lang="en-US" sz="3200" b="1" dirty="0">
                <a:solidFill>
                  <a:schemeClr val="tx2"/>
                </a:solidFill>
                <a:cs typeface="Courier New" panose="02070409020205090404" pitchFamily="49" charset="0"/>
                <a:sym typeface="+mn-ea"/>
              </a:rPr>
              <a:t>inaccessible</a:t>
            </a:r>
            <a:r>
              <a:rPr lang="en-US" sz="3200" b="1" dirty="0">
                <a:cs typeface="Courier New" panose="02070409020205090404" pitchFamily="49" charset="0"/>
                <a:sym typeface="+mn-ea"/>
              </a:rPr>
              <a:t> </a:t>
            </a:r>
            <a:r>
              <a:rPr lang="zh-CN" altLang="en-US" sz="3200" b="1" dirty="0">
                <a:cs typeface="Courier New" panose="02070409020205090404" pitchFamily="49" charset="0"/>
                <a:sym typeface="+mn-ea"/>
              </a:rPr>
              <a:t>难以到达的</a:t>
            </a:r>
            <a:endParaRPr lang="en-US" sz="3200" b="1" dirty="0">
              <a:cs typeface="Courier New" panose="02070409020205090404" pitchFamily="49" charset="0"/>
              <a:sym typeface="+mn-ea"/>
            </a:endParaRPr>
          </a:p>
          <a:p>
            <a:pPr marL="2580005" indent="-2580005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cs typeface="Courier New" panose="02070409020205090404" pitchFamily="49" charset="0"/>
                <a:sym typeface="+mn-ea"/>
              </a:rPr>
              <a:t>be accessible to</a:t>
            </a:r>
            <a:r>
              <a:rPr lang="en-US" altLang="zh-CN" sz="3200" b="1" dirty="0">
                <a:cs typeface="Courier New" panose="02070409020205090404" pitchFamily="49" charset="0"/>
                <a:sym typeface="+mn-ea"/>
              </a:rPr>
              <a:t>  </a:t>
            </a:r>
            <a:r>
              <a:rPr lang="zh-CN" altLang="zh-CN" sz="3200" b="1" dirty="0">
                <a:cs typeface="Times New Roman" panose="02020503050405090304" pitchFamily="18" charset="0"/>
                <a:sym typeface="+mn-ea"/>
              </a:rPr>
              <a:t>易接近的；能进入的</a:t>
            </a:r>
          </a:p>
          <a:p>
            <a:pPr marL="2580005" indent="-2580005">
              <a:lnSpc>
                <a:spcPct val="120000"/>
              </a:lnSpc>
            </a:pPr>
            <a:endParaRPr lang="zh-CN" altLang="zh-CN" sz="3200" b="1" dirty="0">
              <a:cs typeface="Times New Roman" panose="02020503050405090304" pitchFamily="18" charset="0"/>
              <a:sym typeface="+mn-ea"/>
            </a:endParaRPr>
          </a:p>
          <a:p>
            <a:pPr marL="2580005" indent="-2580005">
              <a:lnSpc>
                <a:spcPct val="120000"/>
              </a:lnSpc>
            </a:pPr>
            <a:r>
              <a:rPr lang="en-US" sz="3200" b="1" dirty="0"/>
              <a:t>让成年人更容易获得学习机会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23215" y="5146040"/>
            <a:ext cx="116020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  <a:tabLst>
                <a:tab pos="3284220" algn="l"/>
              </a:tabLst>
            </a:pPr>
            <a:r>
              <a:rPr lang="en-US" sz="3200" b="1" dirty="0">
                <a:solidFill>
                  <a:schemeClr val="tx2"/>
                </a:solidFill>
                <a:sym typeface="+mn-ea"/>
              </a:rPr>
              <a:t>make learning opportunities more accessible to adults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430530"/>
            <a:ext cx="1102868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a certain/an/some/a large extent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在一定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很大程度上</a:t>
            </a: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 does sth to such an extent that ...</a:t>
            </a:r>
            <a:endParaRPr lang="zh-CN" alt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3855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one’s fingertips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掌握，对……了如指掌</a:t>
            </a:r>
          </a:p>
          <a:p>
            <a:pPr indent="-363855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计算机技术使世界上所有的信息都触手可及。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Computer technology puts all the information in the world at our fingertips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6390" y="831850"/>
            <a:ext cx="1133729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鼠标轻轻一点，即可查看电子邮件。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 can check your email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a click of your mouse.</a:t>
            </a:r>
          </a:p>
          <a:p>
            <a:pPr marL="363855" indent="-363855">
              <a:lnSpc>
                <a:spcPct val="120000"/>
              </a:lnSpc>
            </a:pP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click the button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点击按钮</a:t>
            </a: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click one’s fingers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打响指</a:t>
            </a: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7355" y="270510"/>
            <a:ext cx="1138999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855" indent="-363855">
              <a:lnSpc>
                <a:spcPct val="120000"/>
              </a:lnSpc>
            </a:pP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click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咔嗒声</a:t>
            </a: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clicked off the radio.</a:t>
            </a:r>
          </a:p>
          <a:p>
            <a:pPr marL="363855" indent="-363855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4)  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豁然开朗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 I saw the television report,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all clicked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我看到电视报道时才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恍然大悟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suddenly clicked that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this was fantastically fun.</a:t>
            </a: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9240" y="14605"/>
            <a:ext cx="1167066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63855" fontAlgn="auto">
              <a:lnSpc>
                <a:spcPct val="12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recipe for sth (biscuits)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某事的做法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某事的诀窍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(means of achieving sth)</a:t>
            </a: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What's her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recipe for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success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?</a:t>
            </a: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她成功的秘诀是什么？</a:t>
            </a:r>
          </a:p>
          <a:p>
            <a:pPr indent="-363855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military affair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(always plural)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军事事务</a:t>
            </a: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(foreign, economic, world)</a:t>
            </a:r>
            <a:endParaRPr lang="zh-CN" altLang="en-US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In the time it takes to do sth, we can do sth.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在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的时间里你可以做某事。</a:t>
            </a:r>
            <a:endParaRPr lang="en-US" altLang="zh-CN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Y</a:t>
            </a:r>
            <a:r>
              <a:rPr lang="zh-CN" altLang="en-US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ou 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can </a:t>
            </a:r>
            <a:r>
              <a:rPr lang="zh-CN" altLang="en-US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f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a</a:t>
            </a:r>
            <a:r>
              <a:rPr lang="zh-CN" altLang="en-US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ll asleep in the time it takes to turn off the light.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440" y="270510"/>
            <a:ext cx="1148778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In the time it takes to find one book in the library, we can </a:t>
            </a: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use a search engine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 up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millions of results.</a:t>
            </a: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在图书馆找到一本书的功夫，我们可以用搜索引擎让上百万的结果出现在屏幕上。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006600" indent="-2006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 up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make something appear on a computer screen </a:t>
            </a:r>
          </a:p>
          <a:p>
            <a:pPr marL="2006600">
              <a:lnSpc>
                <a:spcPct val="120000"/>
              </a:lnSpc>
            </a:pP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使显示在计算机屏幕上，调出</a:t>
            </a:r>
            <a:r>
              <a:rPr lang="en-US" altLang="zh-CN" sz="3200" b="1" i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</a:p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Click this icon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 up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new menu.</a:t>
            </a:r>
          </a:p>
          <a:p>
            <a:pPr marL="363855" indent="-3638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点击这个图标，调出一个新选单。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4660" y="541020"/>
            <a:ext cx="11320780" cy="5259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63855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链接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】bring up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还有其他含义：</a:t>
            </a:r>
            <a:endParaRPr lang="en-US" altLang="zh-CN" sz="28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3855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2800" b="1" dirty="0">
                <a:solidFill>
                  <a:schemeClr val="bg2"/>
                </a:solidFill>
              </a:rPr>
              <a:t>提起</a:t>
            </a:r>
            <a:r>
              <a:rPr lang="en-US" altLang="zh-CN" sz="2800" b="1" dirty="0">
                <a:solidFill>
                  <a:schemeClr val="bg2"/>
                </a:solidFill>
              </a:rPr>
              <a:t>〔</a:t>
            </a:r>
            <a:r>
              <a:rPr lang="zh-CN" altLang="en-US" sz="2800" b="1" dirty="0">
                <a:solidFill>
                  <a:schemeClr val="bg2"/>
                </a:solidFill>
              </a:rPr>
              <a:t>某个话题</a:t>
            </a:r>
            <a:r>
              <a:rPr lang="en-US" altLang="zh-CN" sz="2800" b="1" dirty="0">
                <a:solidFill>
                  <a:schemeClr val="bg2"/>
                </a:solidFill>
              </a:rPr>
              <a:t>〕mention</a:t>
            </a:r>
          </a:p>
          <a:p>
            <a:pPr indent="-1170305" fontAlgn="auto"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manager wanted to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 it up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 the meeting as soon as possible.</a:t>
            </a:r>
          </a:p>
          <a:p>
            <a:pPr indent="-1170305" fontAlgn="auto">
              <a:lnSpc>
                <a:spcPct val="12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经理希望尽快在会议上提出这件事。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bg2"/>
                </a:solidFill>
              </a:rPr>
              <a:t>2) </a:t>
            </a:r>
            <a:r>
              <a:rPr lang="zh-CN" altLang="en-US" sz="2800" b="1" dirty="0">
                <a:solidFill>
                  <a:schemeClr val="bg2"/>
                </a:solidFill>
              </a:rPr>
              <a:t>养育；抚养  </a:t>
            </a:r>
            <a:r>
              <a:rPr lang="en-US" altLang="zh-CN" sz="2800" b="1" dirty="0">
                <a:solidFill>
                  <a:schemeClr val="bg2"/>
                </a:solidFill>
              </a:rPr>
              <a:t>raise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2800" b="1" dirty="0"/>
              <a:t>Her parents died when she was a baby and she </a:t>
            </a:r>
            <a:r>
              <a:rPr lang="en-US" altLang="zh-CN" sz="2800" b="1" dirty="0">
                <a:solidFill>
                  <a:srgbClr val="FF0000"/>
                </a:solidFill>
              </a:rPr>
              <a:t>was brought up </a:t>
            </a:r>
            <a:r>
              <a:rPr lang="en-US" altLang="zh-CN" sz="2800" b="1" dirty="0"/>
              <a:t>by her aunt.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bg2"/>
                </a:solidFill>
                <a:sym typeface="+mn-ea"/>
              </a:rPr>
              <a:t>3) </a:t>
            </a:r>
            <a:r>
              <a:rPr lang="zh-CN" altLang="en-US" sz="2800" b="1" dirty="0">
                <a:solidFill>
                  <a:schemeClr val="bg2"/>
                </a:solidFill>
                <a:sym typeface="+mn-ea"/>
              </a:rPr>
              <a:t>呕吐</a:t>
            </a:r>
            <a:r>
              <a:rPr lang="en-US" altLang="zh-CN" sz="2800" b="1" dirty="0">
                <a:solidFill>
                  <a:schemeClr val="bg2"/>
                </a:solidFill>
                <a:sym typeface="+mn-ea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sym typeface="+mn-ea"/>
              </a:rPr>
              <a:t>吐出</a:t>
            </a:r>
            <a:r>
              <a:rPr lang="en-US" altLang="zh-CN" sz="2800" b="1" dirty="0">
                <a:solidFill>
                  <a:schemeClr val="bg2"/>
                </a:solidFill>
                <a:sym typeface="+mn-ea"/>
              </a:rPr>
              <a:t> vomit up</a:t>
            </a:r>
            <a:endParaRPr lang="zh-CN" altLang="en-US" sz="2800" b="1" dirty="0">
              <a:solidFill>
                <a:schemeClr val="bg2"/>
              </a:solidFill>
            </a:endParaRPr>
          </a:p>
          <a:p>
            <a:pPr indent="-631825" fontAlgn="auto">
              <a:lnSpc>
                <a:spcPct val="120000"/>
              </a:lnSpc>
            </a:pPr>
            <a:r>
              <a:rPr lang="en-US" altLang="zh-CN" sz="2800" b="1" dirty="0">
                <a:sym typeface="+mn-ea"/>
              </a:rPr>
              <a:t>The child </a:t>
            </a:r>
            <a:r>
              <a:rPr lang="en-US" altLang="zh-CN" sz="2800" b="1" dirty="0">
                <a:solidFill>
                  <a:srgbClr val="FF0000"/>
                </a:solidFill>
                <a:sym typeface="+mn-ea"/>
              </a:rPr>
              <a:t>brought up </a:t>
            </a:r>
            <a:r>
              <a:rPr lang="en-US" altLang="zh-CN" sz="2800" b="1" dirty="0">
                <a:sym typeface="+mn-ea"/>
              </a:rPr>
              <a:t>everything in the morning. </a:t>
            </a:r>
            <a:endParaRPr lang="en-US" altLang="zh-CN" sz="2800" b="1" dirty="0"/>
          </a:p>
          <a:p>
            <a:pPr indent="-631825" fontAlgn="auto">
              <a:lnSpc>
                <a:spcPct val="120000"/>
              </a:lnSpc>
            </a:pPr>
            <a:r>
              <a:rPr lang="zh-CN" altLang="en-US" sz="2800" b="1" dirty="0">
                <a:sym typeface="+mn-ea"/>
              </a:rPr>
              <a:t>小孩早上把所有吃的东西都吐了。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5920" y="541020"/>
            <a:ext cx="11368405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 fontAlgn="auto">
              <a:lnSpc>
                <a:spcPct val="120000"/>
              </a:lnSpc>
            </a:pPr>
            <a:r>
              <a:rPr lang="en-US" altLang="zh-CN" sz="2800" b="1" dirty="0"/>
              <a:t>5. No wonder the Internet has now become the first place that the </a:t>
            </a:r>
            <a:r>
              <a:rPr lang="en-US" altLang="zh-CN" sz="2800" b="1" dirty="0">
                <a:solidFill>
                  <a:srgbClr val="FF0000"/>
                </a:solidFill>
              </a:rPr>
              <a:t>majority </a:t>
            </a:r>
            <a:r>
              <a:rPr lang="en-US" altLang="zh-CN" sz="2800" b="1" dirty="0"/>
              <a:t>of people turn to for information. </a:t>
            </a:r>
          </a:p>
          <a:p>
            <a:pPr marL="358775" indent="0" fontAlgn="auto">
              <a:lnSpc>
                <a:spcPct val="120000"/>
              </a:lnSpc>
            </a:pPr>
            <a:r>
              <a:rPr lang="en-US" altLang="zh-CN" sz="2800" b="1" dirty="0"/>
              <a:t>难怪互联网现在已经成为</a:t>
            </a:r>
            <a:r>
              <a:rPr lang="en-US" altLang="zh-CN" sz="2800" b="1" dirty="0">
                <a:solidFill>
                  <a:srgbClr val="FF0000"/>
                </a:solidFill>
              </a:rPr>
              <a:t>大多数人</a:t>
            </a:r>
            <a:r>
              <a:rPr lang="en-US" altLang="zh-CN" sz="2800" b="1" dirty="0"/>
              <a:t>查找信息的首选途径。</a:t>
            </a:r>
          </a:p>
          <a:p>
            <a:pPr marL="358775" indent="0" fontAlgn="auto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majority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solidFill>
                  <a:schemeClr val="bg2"/>
                </a:solidFill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</a:rPr>
              <a:t>. </a:t>
            </a:r>
            <a:r>
              <a:rPr lang="en-US" altLang="zh-CN" sz="2800" b="1" i="1" dirty="0"/>
              <a:t>the larger number or part of something </a:t>
            </a:r>
          </a:p>
          <a:p>
            <a:pPr marL="358775" indent="2041525" fontAlgn="auto">
              <a:lnSpc>
                <a:spcPct val="120000"/>
              </a:lnSpc>
            </a:pPr>
            <a:r>
              <a:rPr lang="en-US" altLang="zh-CN" sz="2800" b="1" dirty="0" err="1">
                <a:solidFill>
                  <a:schemeClr val="bg2"/>
                </a:solidFill>
              </a:rPr>
              <a:t>大部分</a:t>
            </a:r>
            <a:r>
              <a:rPr lang="zh-CN" altLang="en-US" sz="2800" b="1" dirty="0">
                <a:solidFill>
                  <a:schemeClr val="bg2"/>
                </a:solidFill>
              </a:rPr>
              <a:t>，</a:t>
            </a:r>
            <a:r>
              <a:rPr lang="en-US" altLang="zh-CN" sz="2800" b="1" dirty="0" err="1">
                <a:solidFill>
                  <a:schemeClr val="bg2"/>
                </a:solidFill>
              </a:rPr>
              <a:t>大多数</a:t>
            </a:r>
            <a:endParaRPr lang="zh-CN" altLang="en-US" sz="2800" b="1" dirty="0">
              <a:solidFill>
                <a:schemeClr val="bg2"/>
              </a:solidFill>
            </a:endParaRPr>
          </a:p>
          <a:p>
            <a:pPr marL="631825" indent="-631825" fontAlgn="auto">
              <a:lnSpc>
                <a:spcPct val="120000"/>
              </a:lnSpc>
            </a:pPr>
            <a:r>
              <a:rPr lang="en-US" altLang="zh-CN" sz="2800" b="1" u="sng" dirty="0">
                <a:solidFill>
                  <a:srgbClr val="FF0000"/>
                </a:solidFill>
                <a:sym typeface="+mn-ea"/>
              </a:rPr>
              <a:t>The great/vast majority of </a:t>
            </a:r>
            <a:r>
              <a:rPr lang="en-US" altLang="zh-CN" sz="2800" b="1" dirty="0">
                <a:sym typeface="+mn-ea"/>
              </a:rPr>
              <a:t>people seem to agree with the proposal.</a:t>
            </a:r>
            <a:endParaRPr lang="en-US" altLang="zh-CN" sz="2800" b="1" dirty="0"/>
          </a:p>
          <a:p>
            <a:pPr marL="631825" indent="-631825" fontAlgn="auto">
              <a:lnSpc>
                <a:spcPct val="120000"/>
              </a:lnSpc>
            </a:pPr>
            <a:r>
              <a:rPr lang="en-US" altLang="zh-CN" sz="2800" b="1" dirty="0" err="1">
                <a:sym typeface="+mn-ea"/>
              </a:rPr>
              <a:t>似乎</a:t>
            </a:r>
            <a:r>
              <a:rPr lang="en-US" altLang="zh-CN" sz="2800" b="1" u="sng" dirty="0" err="1">
                <a:sym typeface="+mn-ea"/>
              </a:rPr>
              <a:t>绝大多数人</a:t>
            </a:r>
            <a:r>
              <a:rPr lang="en-US" altLang="zh-CN" sz="2800" b="1" dirty="0" err="1">
                <a:sym typeface="+mn-ea"/>
              </a:rPr>
              <a:t>都同意这一提案</a:t>
            </a:r>
            <a:r>
              <a:rPr lang="en-US" altLang="zh-CN" sz="2800" b="1" dirty="0">
                <a:sym typeface="+mn-ea"/>
              </a:rPr>
              <a:t>。</a:t>
            </a:r>
          </a:p>
          <a:p>
            <a:pPr marL="631825" indent="-631825" fontAlgn="auto">
              <a:lnSpc>
                <a:spcPct val="120000"/>
              </a:lnSpc>
            </a:pPr>
            <a:r>
              <a:rPr lang="en-US" altLang="zh-CN" sz="2800" b="1" dirty="0">
                <a:sym typeface="+mn-ea"/>
              </a:rPr>
              <a:t>the </a:t>
            </a:r>
            <a:r>
              <a:rPr lang="en-US" altLang="zh-CN" sz="2800" b="1" dirty="0">
                <a:solidFill>
                  <a:schemeClr val="tx2"/>
                </a:solidFill>
                <a:sym typeface="+mn-ea"/>
              </a:rPr>
              <a:t>vast/great</a:t>
            </a:r>
            <a:r>
              <a:rPr lang="en-US" altLang="zh-CN" sz="2800" b="1" dirty="0">
                <a:sym typeface="+mn-ea"/>
              </a:rPr>
              <a:t> majority of ... </a:t>
            </a:r>
            <a:r>
              <a:rPr lang="zh-CN" altLang="en-US" sz="2800" b="1" dirty="0">
                <a:sym typeface="+mn-ea"/>
              </a:rPr>
              <a:t>绝大多数</a:t>
            </a:r>
            <a:endParaRPr lang="en-US" altLang="zh-CN" sz="2800" b="1" dirty="0">
              <a:sym typeface="+mn-ea"/>
            </a:endParaRPr>
          </a:p>
          <a:p>
            <a:pPr marL="631825" indent="-631825" fontAlgn="auto">
              <a:lnSpc>
                <a:spcPct val="120000"/>
              </a:lnSpc>
            </a:pPr>
            <a:endParaRPr lang="zh-CN" altLang="en-US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6240" y="354330"/>
            <a:ext cx="11419840" cy="410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6405" indent="-4464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87755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5425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373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1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68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5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3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0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</a:t>
            </a:r>
          </a:p>
          <a:p>
            <a:pPr marL="444500" indent="-444500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1) </a:t>
            </a:r>
            <a:r>
              <a:rPr lang="zh-CN" altLang="en-US" b="1" dirty="0">
                <a:latin typeface="Times New Roman" panose="02020503050405090304" pitchFamily="18" charset="0"/>
              </a:rPr>
              <a:t>这个公司大多数人能说英语。</a:t>
            </a:r>
          </a:p>
          <a:p>
            <a:pPr marL="444500" indent="-444500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The majority of peole in this company can speak English.</a:t>
            </a:r>
          </a:p>
          <a:p>
            <a:pPr marL="444500" indent="-444500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People who can speak English in this company </a:t>
            </a:r>
            <a:r>
              <a:rPr lang="zh-CN" altLang="en-US" b="1" dirty="0">
                <a:latin typeface="Times New Roman" panose="02020503050405090304" pitchFamily="18" charset="0"/>
              </a:rPr>
              <a:t>占大多数</a:t>
            </a:r>
            <a:r>
              <a:rPr lang="en-US" altLang="zh-CN" b="1" dirty="0">
                <a:latin typeface="Times New Roman" panose="02020503050405090304" pitchFamily="18" charset="0"/>
              </a:rPr>
              <a:t>                                      .</a:t>
            </a:r>
            <a:endParaRPr lang="zh-CN" altLang="zh-CN" b="1" dirty="0">
              <a:latin typeface="Times New Roman" panose="0202050305040509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589405" y="2733675"/>
            <a:ext cx="344424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sym typeface="+mn-ea"/>
              </a:rPr>
              <a:t>are in the majority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672580" y="627380"/>
            <a:ext cx="14039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</a:rPr>
              <a:t>多数人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37519" y="2243833"/>
            <a:ext cx="417766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</a:rPr>
              <a:t>The majority was/were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20700" y="519430"/>
            <a:ext cx="11290935" cy="3044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31825" indent="-631825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The majority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单独用作主语，意为</a:t>
            </a:r>
          </a:p>
          <a:p>
            <a:pPr marL="631825" indent="-63182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少数人</a:t>
            </a:r>
          </a:p>
          <a:p>
            <a:pPr marL="631825" indent="-63182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少数民族语言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sym typeface="+mn-ea"/>
              </a:rPr>
              <a:t>minority language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sym typeface="+mn-ea"/>
            </a:endParaRPr>
          </a:p>
          <a:p>
            <a:pPr marL="631825" indent="-6318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sym typeface="+mn-ea"/>
              </a:rPr>
              <a:t>_____________________ in favor of banning smoking.</a:t>
            </a:r>
          </a:p>
          <a:p>
            <a:pPr marL="631825" indent="-6318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+mn-ea"/>
              </a:rPr>
              <a:t>大多数人支持禁烟。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465195" y="1109980"/>
            <a:ext cx="233870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631825" indent="-6318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sym typeface="+mn-ea"/>
              </a:rPr>
              <a:t>the minority</a:t>
            </a:r>
          </a:p>
        </p:txBody>
      </p:sp>
      <p:sp>
        <p:nvSpPr>
          <p:cNvPr id="9" name="矩形 3"/>
          <p:cNvSpPr/>
          <p:nvPr/>
        </p:nvSpPr>
        <p:spPr>
          <a:xfrm>
            <a:off x="520700" y="3563620"/>
            <a:ext cx="11290935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1825" indent="-631825" fontAlgn="auto">
              <a:lnSpc>
                <a:spcPct val="120000"/>
              </a:lnSpc>
            </a:pPr>
            <a:r>
              <a:rPr lang="en-US" altLang="zh-CN" sz="3200" b="1" dirty="0"/>
              <a:t>*</a:t>
            </a:r>
            <a:r>
              <a:rPr lang="zh-CN" altLang="en-US" sz="3200" b="1" dirty="0"/>
              <a:t>多数票</a:t>
            </a:r>
            <a:r>
              <a:rPr lang="en-US" altLang="zh-CN" sz="3200" b="1" dirty="0"/>
              <a:t>    </a:t>
            </a:r>
          </a:p>
          <a:p>
            <a:pPr marL="631825" indent="-631825" fontAlgn="auto">
              <a:lnSpc>
                <a:spcPct val="120000"/>
              </a:lnSpc>
            </a:pPr>
            <a:r>
              <a:rPr lang="en-US" altLang="zh-CN" sz="3200" b="1" dirty="0"/>
              <a:t>The Socialists </a:t>
            </a:r>
            <a:r>
              <a:rPr lang="en-US" altLang="zh-CN" sz="3200" b="1" u="sng" dirty="0"/>
              <a:t>won </a:t>
            </a:r>
            <a:r>
              <a:rPr lang="en-US" altLang="zh-CN" sz="3200" b="1" u="sng" dirty="0">
                <a:solidFill>
                  <a:srgbClr val="FF0000"/>
                </a:solidFill>
              </a:rPr>
              <a:t>by a narrow/large majority</a:t>
            </a:r>
            <a:r>
              <a:rPr lang="en-US" altLang="zh-CN" sz="3200" b="1" dirty="0"/>
              <a:t>.</a:t>
            </a:r>
          </a:p>
          <a:p>
            <a:pPr marL="631825" indent="-631825" fontAlgn="auto">
              <a:lnSpc>
                <a:spcPct val="120000"/>
              </a:lnSpc>
            </a:pPr>
            <a:r>
              <a:rPr lang="zh-CN" altLang="en-US" sz="3200" b="1" dirty="0"/>
              <a:t>社会党党员获得的票数稍微／远远超出对手，在选举中获胜。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 bldLvl="0" animBg="1"/>
      <p:bldP spid="7" grpId="1" animBg="1"/>
      <p:bldP spid="3" grpId="0"/>
      <p:bldP spid="3" grpId="1"/>
      <p:bldP spid="9" grpId="0"/>
      <p:bldP spid="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9575" y="270510"/>
            <a:ext cx="1129220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You can have food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delivered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you using food delivery apps and sites.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通过外卖程序和网站，你可以让人送餐上门。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227580" indent="-222758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sth delivered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安排送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</a:p>
          <a:p>
            <a:pPr marL="2227580" indent="-2227580">
              <a:lnSpc>
                <a:spcPct val="120000"/>
              </a:lnSpc>
            </a:pP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227580" indent="-222758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deliver a speech/a message/a baby</a:t>
            </a:r>
          </a:p>
          <a:p>
            <a:pPr marL="2227580" indent="-222758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发表演讲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传递信息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生婴儿</a:t>
            </a:r>
          </a:p>
          <a:p>
            <a:pPr marL="2227580" indent="-2227580">
              <a:lnSpc>
                <a:spcPct val="120000"/>
              </a:lnSpc>
            </a:pPr>
            <a:endParaRPr lang="zh-CN" alt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227580" indent="-222758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delivery n.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递送，交付</a:t>
            </a:r>
          </a:p>
          <a:p>
            <a:pPr marL="2227580" indent="-222758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Please pay for goods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delivery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1780" y="282575"/>
            <a:ext cx="1150620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6195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</a:t>
            </a:r>
            <a:r>
              <a:rPr 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Gone are the days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searching shop after shop for ...</a:t>
            </a:r>
          </a:p>
          <a:p>
            <a:pPr indent="-361950" fontAlgn="auto">
              <a:lnSpc>
                <a:spcPct val="120000"/>
              </a:lnSpc>
            </a:pPr>
            <a:r>
              <a:rPr lang="en-US" sz="3200" b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表语置于句首的倒装</a:t>
            </a:r>
          </a:p>
          <a:p>
            <a:pPr indent="-36195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的日子一去不复返了</a:t>
            </a:r>
          </a:p>
          <a:p>
            <a:pPr indent="-361950" fontAlgn="auto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19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人类不得不从事艰苦的体力劳动才能生存的日子已经一去不复返了。</a:t>
            </a:r>
          </a:p>
          <a:p>
            <a:pPr indent="-3619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Gone are the days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12725" y="3877945"/>
            <a:ext cx="1131887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</a:t>
            </a:r>
            <a:r>
              <a:rPr lang="en-US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when</a:t>
            </a:r>
            <a:r>
              <a:rPr 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humans had to do hard physical work to survive.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524000" y="1067435"/>
            <a:ext cx="8978900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comfort of your living room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舒舒服服地待在你的客厅</a:t>
            </a:r>
          </a:p>
          <a:p>
            <a:pPr algn="ctr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sit back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惬意地坐好；袖手旁观</a:t>
            </a:r>
          </a:p>
          <a:p>
            <a:pPr algn="ctr">
              <a:lnSpc>
                <a:spcPct val="11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sit in a relaxed position (not getting too involved in sth)</a:t>
            </a:r>
          </a:p>
          <a:p>
            <a:pPr algn="ctr">
              <a:lnSpc>
                <a:spcPct val="110000"/>
              </a:lnSpc>
            </a:pP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relax indoor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s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在室内休息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3360" y="590550"/>
            <a:ext cx="1176591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/>
              <a:t>8. When you wish to go on holiday, you can make all your travel</a:t>
            </a:r>
            <a:r>
              <a:rPr lang="en-US" altLang="zh-CN" sz="3200" b="1" dirty="0">
                <a:solidFill>
                  <a:srgbClr val="FF0000"/>
                </a:solidFill>
              </a:rPr>
              <a:t> arrangement</a:t>
            </a:r>
            <a:r>
              <a:rPr lang="en-US" altLang="zh-CN" sz="3200" b="1" u="sng" dirty="0">
                <a:solidFill>
                  <a:srgbClr val="FF0000"/>
                </a:solidFill>
              </a:rPr>
              <a:t>s</a:t>
            </a:r>
            <a:r>
              <a:rPr lang="en-US" altLang="zh-CN" sz="3200" b="1" dirty="0"/>
              <a:t> just in front of the computer. </a:t>
            </a:r>
          </a:p>
          <a:p>
            <a:pPr indent="-358775" fontAlgn="auto">
              <a:lnSpc>
                <a:spcPct val="120000"/>
              </a:lnSpc>
            </a:pPr>
            <a:endParaRPr lang="zh-CN" altLang="en-US" sz="3200" b="1" dirty="0">
              <a:solidFill>
                <a:schemeClr val="bg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make arrangement</a:t>
            </a:r>
            <a:r>
              <a:rPr lang="en-US" altLang="zh-CN" sz="3200" b="1" u="sng" dirty="0">
                <a:solidFill>
                  <a:schemeClr val="tx2"/>
                </a:solidFill>
                <a:sym typeface="+mn-ea"/>
              </a:rPr>
              <a:t>s</a:t>
            </a: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 (for)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(</a:t>
            </a:r>
            <a:r>
              <a:rPr lang="zh-CN" altLang="en-US" sz="3200" b="1" dirty="0">
                <a:sym typeface="+mn-ea"/>
              </a:rPr>
              <a:t>为</a:t>
            </a:r>
            <a:r>
              <a:rPr lang="en-US" altLang="zh-CN" sz="3200" b="1" dirty="0">
                <a:latin typeface="+mn-ea"/>
                <a:sym typeface="+mn-ea"/>
              </a:rPr>
              <a:t>……)</a:t>
            </a:r>
            <a:r>
              <a:rPr lang="en-US" altLang="zh-CN" sz="3200" b="1" dirty="0"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做安排</a:t>
            </a: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come to/male 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arrangement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over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关于……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达成一致约定</a:t>
            </a: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the arrangement of heavy industry</a:t>
            </a:r>
            <a:r>
              <a:rPr lang="en-US" altLang="zh-CN" sz="3200" b="1" dirty="0"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重工业布局</a:t>
            </a:r>
          </a:p>
          <a:p>
            <a:pPr indent="-358775" fontAlgn="auto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83565" y="286385"/>
            <a:ext cx="1126680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arrange </a:t>
            </a:r>
            <a:r>
              <a:rPr lang="en-US" altLang="zh-CN" sz="3200" b="1" i="1" dirty="0">
                <a:solidFill>
                  <a:schemeClr val="bg2"/>
                </a:solidFill>
                <a:sym typeface="+mn-ea"/>
              </a:rPr>
              <a:t>v</a:t>
            </a:r>
            <a:r>
              <a:rPr lang="en-US" altLang="zh-CN" sz="3200" b="1" dirty="0">
                <a:solidFill>
                  <a:schemeClr val="bg2"/>
                </a:solidFill>
                <a:sym typeface="+mn-ea"/>
              </a:rPr>
              <a:t>. </a:t>
            </a:r>
            <a:r>
              <a:rPr lang="zh-CN" altLang="en-US" sz="3200" b="1" dirty="0">
                <a:sym typeface="+mn-ea"/>
              </a:rPr>
              <a:t>筹备；安排；整理</a:t>
            </a:r>
            <a:endParaRPr lang="en-US" altLang="zh-CN" sz="3200" b="1" dirty="0">
              <a:sym typeface="+mn-ea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arrange to do 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安排做某事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arrange 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 for sb.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为某人安排某事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arrange for 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为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某人安排做某事</a:t>
            </a:r>
            <a:endParaRPr lang="en-US" sz="32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40385" y="2779395"/>
            <a:ext cx="11146790" cy="2430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defTabSz="91440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+mn-lt"/>
                <a:cs typeface="Times New Roman" panose="02020503050405090304" pitchFamily="18" charset="0"/>
                <a:sym typeface="Arial" panose="020B0604020202090204" pitchFamily="3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+mn-lt"/>
                <a:cs typeface="Times New Roman" panose="02020503050405090304" pitchFamily="18" charset="0"/>
                <a:sym typeface="Arial" panose="020B0604020202090204" pitchFamily="3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+mn-lt"/>
                <a:cs typeface="Times New Roman" panose="02020503050405090304" pitchFamily="18" charset="0"/>
                <a:sym typeface="Arial" panose="020B0604020202090204" pitchFamily="34" charset="0"/>
              </a:rPr>
              <a:t>】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汉译英。</a:t>
            </a:r>
            <a:endParaRPr kumimoji="0" lang="zh-CN" altLang="zh-CN" sz="32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ahoma" panose="020B0604030504040204" pitchFamily="34" charset="0"/>
              </a:rPr>
              <a:t>1) 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我会安排人到机场接你。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ahoma" panose="020B0604030504040204" pitchFamily="34" charset="0"/>
              </a:rPr>
              <a:t>2) 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他们商定好每周去一次公园。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15340" y="3914140"/>
            <a:ext cx="11146790" cy="659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Tahoma" panose="020B0604030504040204" pitchFamily="34" charset="0"/>
              </a:rPr>
              <a:t>I’ll make arrangements for you to be picked up at the airport.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815340" y="5210175"/>
            <a:ext cx="11266805" cy="1249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cs typeface="Tahoma" panose="020B0604030504040204" pitchFamily="34" charset="0"/>
              </a:rPr>
              <a:t>They have come to an arrangement that they should go to the park once a week.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bldLvl="0" animBg="1"/>
      <p:bldP spid="11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335" y="681990"/>
            <a:ext cx="1134300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Above all else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Internet helps us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establish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maintain social ties.</a:t>
            </a:r>
          </a:p>
          <a:p>
            <a:pPr marL="2891155" indent="-28911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above all else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most important of all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最重要的是</a:t>
            </a:r>
            <a:endParaRPr lang="en-US" altLang="zh-CN" sz="3200" b="1" dirty="0">
              <a:solidFill>
                <a:schemeClr val="bg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establish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contact/a relationship with sb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与某人建立联系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2) establish</a:t>
            </a:r>
            <a:r>
              <a:rPr lang="en-US" altLang="zh-CN" sz="3200" b="1" dirty="0">
                <a:sym typeface="+mn-ea"/>
              </a:rPr>
              <a:t> a new research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centre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创立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</a:t>
            </a:r>
            <a:r>
              <a:rPr lang="en-US" altLang="zh-CN" sz="3200" b="1" i="1" dirty="0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set up</a:t>
            </a:r>
            <a:r>
              <a:rPr lang="en-US" altLang="zh-CN" sz="3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an organization, a system, or a set of rules)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3050" y="270510"/>
            <a:ext cx="1191958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3)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to hold a position for long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确立，使立足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established himself as</a:t>
            </a: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a well-known professor </a:t>
            </a:r>
            <a:r>
              <a:rPr lang="zh-CN" altLang="en-US" sz="3200" b="1" dirty="0">
                <a:sym typeface="+mn-ea"/>
              </a:rPr>
              <a:t>确立了</a:t>
            </a:r>
            <a:r>
              <a:rPr lang="en-US" altLang="zh-CN" sz="3200" b="1" dirty="0">
                <a:sym typeface="+mn-ea"/>
              </a:rPr>
              <a:t>...</a:t>
            </a:r>
            <a:r>
              <a:rPr lang="zh-CN" altLang="en-US" sz="3200" b="1" dirty="0">
                <a:sym typeface="+mn-ea"/>
              </a:rPr>
              <a:t>为</a:t>
            </a:r>
            <a:r>
              <a:rPr lang="en-US" altLang="zh-CN" sz="3200" b="1" dirty="0">
                <a:sym typeface="+mn-ea"/>
              </a:rPr>
              <a:t>...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正是这次战争确立了美国的独立。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It was the war that </a:t>
            </a: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established 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the independece </a:t>
            </a:r>
            <a:r>
              <a:rPr lang="en-US" altLang="zh-CN" sz="3200" b="1" dirty="0">
                <a:sym typeface="+mn-ea"/>
              </a:rPr>
              <a:t>of the United States.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make people accept  a belief, custom etc.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使获得接受，认可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establish one’s reputation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确立了声誉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Traditions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get established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over time. </a:t>
            </a: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传统是随着时间的推移而得到认可的。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4) establish </a:t>
            </a:r>
            <a:r>
              <a:rPr lang="en-US" altLang="zh-CN" sz="3200" b="1" dirty="0">
                <a:sym typeface="+mn-ea"/>
              </a:rPr>
              <a:t>the facts/truth </a:t>
            </a:r>
            <a:r>
              <a:rPr lang="zh-CN" altLang="en-US" sz="3200" b="1" dirty="0">
                <a:sym typeface="+mn-ea"/>
              </a:rPr>
              <a:t>证实事实</a:t>
            </a:r>
            <a:r>
              <a:rPr lang="en-US" altLang="zh-CN" sz="3200" b="1" dirty="0">
                <a:sym typeface="+mn-ea"/>
              </a:rPr>
              <a:t>/</a:t>
            </a:r>
            <a:r>
              <a:rPr lang="zh-CN" altLang="en-US" sz="3200" b="1" dirty="0">
                <a:sym typeface="+mn-ea"/>
              </a:rPr>
              <a:t>真相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7685" y="382905"/>
            <a:ext cx="1121219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endParaRPr sz="3200" b="1" i="1" dirty="0">
              <a:solidFill>
                <a:schemeClr val="tx2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well</a:t>
            </a:r>
            <a:r>
              <a:rPr 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established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tradition / companies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历史悠久的；久负盛誉的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sth long exists</a:t>
            </a:r>
            <a:endParaRPr 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establishment = a business organization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企业</a:t>
            </a:r>
            <a:endParaRPr lang="zh-CN" alt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establishment of sth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的创立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06550" y="1174115"/>
            <a:ext cx="8978900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get/be in the way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妨碍；挡着……路</a:t>
            </a:r>
          </a:p>
          <a:p>
            <a:pPr algn="ctr">
              <a:lnSpc>
                <a:spcPct val="110000"/>
              </a:lnSpc>
            </a:pP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loved ones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所爱之人（亲人）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5130" y="610870"/>
            <a:ext cx="1130046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An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instant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message, a group chat, video call, a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on an update ...</a:t>
            </a:r>
          </a:p>
          <a:p>
            <a:pPr marL="361950" indent="-361950">
              <a:lnSpc>
                <a:spcPct val="120000"/>
              </a:lnSpc>
            </a:pPr>
            <a:endParaRPr lang="en-US" altLang="zh-CN" sz="3200" b="1" i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 immediate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an instant message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即时消息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show was </a:t>
            </a:r>
            <a:r>
              <a:rPr 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instant success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instant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noodles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方便面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/ instant coffee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速溶咖啡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8765" y="430530"/>
            <a:ext cx="1163510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instant = moment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瞬间，片刻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that instant/moment, the door...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ym typeface="+mn-ea"/>
              </a:rPr>
              <a:t>When the rain started, the crowd vanished </a:t>
            </a: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in an instant/moment.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我一眼就认出她了。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recognized her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instant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 saw her.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endParaRPr lang="zh-CN" alt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adv. instantly = immediately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5295" y="270510"/>
            <a:ext cx="11321415" cy="42252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comment 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评论；批评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(un.)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comment on an update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对更新的评论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zh-CN" altLang="en-US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made helpful comments on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my work.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我的工作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提出了有益的意见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There </a:t>
            </a:r>
            <a:r>
              <a:rPr lang="zh-CN" altLang="en-US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lot of comment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about his behaviour.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对他的行为举止有很多的议论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指责。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 comment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（通常用于回答记者的问题）无可奉告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5295" y="270510"/>
            <a:ext cx="11321415" cy="481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comment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.&amp; </a:t>
            </a:r>
            <a:r>
              <a:rPr lang="en-US" altLang="zh-CN" sz="3200" b="1" i="1" dirty="0" err="1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express an opinion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表达意见</a:t>
            </a: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comment on/upon sth.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  <a:sym typeface="+mn-ea"/>
              </a:rPr>
              <a:t>作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出评论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comment 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...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评论说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don't feel I can </a:t>
            </a:r>
            <a:r>
              <a:rPr lang="zh-CN" altLang="en-US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comment on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their decision.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我觉得我无法对他们的决定作出评论。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spokesperson </a:t>
            </a:r>
            <a:r>
              <a:rPr lang="zh-CN" altLang="en-US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commented that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levels of carbon dioxide were very high.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9560" y="270510"/>
            <a:ext cx="1171384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6318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10.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with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any great invention, we must be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aware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these problems and be careful to use the Internet properly and responsibly.</a:t>
            </a:r>
          </a:p>
          <a:p>
            <a:pPr indent="-6318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with sth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...一样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（复合介词）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like</a:t>
            </a:r>
            <a:endParaRPr lang="zh-CN" alt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31825" fontAlgn="auto">
              <a:lnSpc>
                <a:spcPct val="120000"/>
              </a:lnSpc>
            </a:pPr>
            <a:endParaRPr lang="zh-CN" alt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318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aware 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知道；意识到；察觉到</a:t>
            </a:r>
          </a:p>
          <a:p>
            <a:pPr indent="-6318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be/become (fully/well) aware of the problem</a:t>
            </a:r>
          </a:p>
          <a:p>
            <a:pPr indent="-6318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知道……</a:t>
            </a:r>
          </a:p>
          <a:p>
            <a:pPr indent="-6318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was aware that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something went wrong.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我意识到……</a:t>
            </a: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318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you are aware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正如你所知道的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/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far as I’m aware,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05" y="617855"/>
            <a:ext cx="1144143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1825" indent="-63182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suddenly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became aware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people looking at them.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意识到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31825" indent="-63182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有……意识的（与副词连用）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Young people are very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environmentally aware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631825" indent="-631825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opp. adj.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unaware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(environmental, social)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awareness</a:t>
            </a:r>
          </a:p>
          <a:p>
            <a:pPr marL="631825" indent="-631825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sym typeface="+mn-ea"/>
              </a:rPr>
              <a:t>raise/heighten one’s awareness of sth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提高某人的意识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4" name="Rectangle 4"/>
          <p:cNvSpPr>
            <a:spLocks noChangeArrowheads="1"/>
          </p:cNvSpPr>
          <p:nvPr/>
        </p:nvSpPr>
        <p:spPr bwMode="auto">
          <a:xfrm>
            <a:off x="354330" y="295275"/>
            <a:ext cx="11443970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完成下列小题。</a:t>
            </a: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人们日益担心空气质量，部分是因为他们对这个问题的意识增强了。</a:t>
            </a: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_____________________air quality is _______ due to ______________________ the issue.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这些问题旨在提高学生对语法规则的认识。</a:t>
            </a: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These questions ________________________________ the grammatical rules.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人们逐渐认识到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</a:p>
          <a:p>
            <a:pPr marL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a growing awareness of ...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386205" y="2065020"/>
            <a:ext cx="41789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growing concern about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924165" y="2065020"/>
            <a:ext cx="12439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partly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55040" y="2687955"/>
            <a:ext cx="415544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increased awareness of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269615" y="3924935"/>
            <a:ext cx="65944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aim to raise students’ awareness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5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5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55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065" y="270510"/>
            <a:ext cx="1136777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6254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Only in this way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can the Internet be a place of discovery, wonder and inspiration for everyone.</a:t>
            </a:r>
          </a:p>
          <a:p>
            <a:pPr indent="-62547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“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only 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状语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(in this way)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”置于句首，句子用了部分倒装，即将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提到主语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way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之前。</a:t>
            </a:r>
          </a:p>
          <a:p>
            <a:pPr indent="-625475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54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结构：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only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所修饰的</a:t>
            </a:r>
            <a:r>
              <a:rPr lang="zh-CN" altLang="en-US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副词、介词短语或状语从句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位于句首</a:t>
            </a:r>
          </a:p>
          <a:p>
            <a:pPr indent="-62547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部分倒装：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把谓语的一部分（助动词或情态动词）提到主语之前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5255"/>
            <a:ext cx="11940540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only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状语从句】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直到她回到家，她的母亲才知道这个消息。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Only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 she came home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did her mother learn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news.</a:t>
            </a:r>
          </a:p>
          <a:p>
            <a:pPr marL="446405" indent="-446405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only介词短语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只有这样，他才能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被录取进入这所大学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Only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this way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can he be admitted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this university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 marL="446405" indent="-446405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only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副词】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直到那时，他才明白这部电影的情节。</a:t>
            </a:r>
          </a:p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Only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then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did he understand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plot of the film.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0675" y="337185"/>
            <a:ext cx="1152525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ea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ea typeface="宋体" pitchFamily="2" charset="-122"/>
              </a:rPr>
              <a:t>1) 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Only after talking to two students ______________ (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我才发现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) that having strong motivation is one of the biggest factors in reaching goals.</a:t>
            </a:r>
            <a:endParaRPr lang="en-US" altLang="zh-CN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2) Only when we stick to what we have decided to do ___________________(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我们才会完成目标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).</a:t>
            </a:r>
          </a:p>
        </p:txBody>
      </p:sp>
      <p:sp>
        <p:nvSpPr>
          <p:cNvPr id="7" name="矩形 6"/>
          <p:cNvSpPr/>
          <p:nvPr/>
        </p:nvSpPr>
        <p:spPr>
          <a:xfrm>
            <a:off x="6798945" y="901700"/>
            <a:ext cx="305181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did I discover	</a:t>
            </a:r>
          </a:p>
        </p:txBody>
      </p:sp>
      <p:sp>
        <p:nvSpPr>
          <p:cNvPr id="2" name="矩形 1"/>
          <p:cNvSpPr/>
          <p:nvPr/>
        </p:nvSpPr>
        <p:spPr>
          <a:xfrm>
            <a:off x="482600" y="2699385"/>
            <a:ext cx="802957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                                                                                      will we achieve a goal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06550" y="948055"/>
            <a:ext cx="8978900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raise questions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提出问题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algn="ctr">
              <a:lnSpc>
                <a:spcPct val="110000"/>
              </a:lnSpc>
            </a:pP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establish/issue/lay down/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draw up 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guidelines 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on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 sth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就……确立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发布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制订了准则</a:t>
            </a:r>
          </a:p>
          <a:p>
            <a:pPr algn="ctr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remove sth from sth</a:t>
            </a: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把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从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处拿开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移开</a:t>
            </a: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the removal of sth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06550" y="2030095"/>
            <a:ext cx="8978900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</a:rPr>
              <a:t>keep your personal information private</a:t>
            </a:r>
            <a:endParaRPr lang="zh-CN" altLang="en-US" sz="3200" b="1" dirty="0">
              <a:solidFill>
                <a:schemeClr val="tx2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对你的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个人信息保密</a:t>
            </a:r>
          </a:p>
          <a:p>
            <a:pPr algn="ctr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algn="ctr">
              <a:lnSpc>
                <a:spcPct val="11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cut off contact</a:t>
            </a: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切断联系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高中教材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高中教材课件</Template>
  <TotalTime>0</TotalTime>
  <Words>2636</Words>
  <Application>Microsoft Macintosh PowerPoint</Application>
  <PresentationFormat>Widescreen</PresentationFormat>
  <Paragraphs>326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宋体</vt:lpstr>
      <vt:lpstr>Times New Roman Bold</vt:lpstr>
      <vt:lpstr>Times New Roman Bold Italic</vt:lpstr>
      <vt:lpstr>Times New Roman Italic</vt:lpstr>
      <vt:lpstr>Arial</vt:lpstr>
      <vt:lpstr>Calibri</vt:lpstr>
      <vt:lpstr>Courier New</vt:lpstr>
      <vt:lpstr>Times New Roman</vt:lpstr>
      <vt:lpstr>高中教材课件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25</cp:revision>
  <dcterms:created xsi:type="dcterms:W3CDTF">2024-03-29T05:52:09Z</dcterms:created>
  <dcterms:modified xsi:type="dcterms:W3CDTF">2026-07-22T14:17:02Z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22938A5048A5E87EB83C10647D1A9762_42</vt:lpwstr>
  </property>
</Properties>
</file>