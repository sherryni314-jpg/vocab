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623" r:id="rId2"/>
    <p:sldId id="663" r:id="rId3"/>
    <p:sldId id="624" r:id="rId4"/>
    <p:sldId id="622" r:id="rId5"/>
    <p:sldId id="664" r:id="rId6"/>
    <p:sldId id="666" r:id="rId7"/>
    <p:sldId id="667" r:id="rId8"/>
    <p:sldId id="668" r:id="rId9"/>
    <p:sldId id="67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CC"/>
    <a:srgbClr val="0000FF"/>
    <a:srgbClr val="FFFF99"/>
    <a:srgbClr val="006600"/>
    <a:srgbClr val="00CC66"/>
    <a:srgbClr val="E9EBF5"/>
    <a:srgbClr val="CFD5EA"/>
    <a:srgbClr val="4472C4"/>
    <a:srgbClr val="0A7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13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13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14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14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721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10" y="1825625"/>
            <a:ext cx="1051572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10" y="6356350"/>
            <a:ext cx="2743232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46" y="6356350"/>
            <a:ext cx="4114847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99" y="6356350"/>
            <a:ext cx="2743232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436007" y="482637"/>
            <a:ext cx="11320526" cy="604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8775" indent="-35877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JustDance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is a website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belonging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all dance lovers.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belong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something belongs somewhere, that is the right place or situation for it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应在（某处）；能适应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Put the chair back where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belongs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翻译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把椅子放回原处。</a:t>
            </a:r>
          </a:p>
          <a:p>
            <a:pPr eaLnBrk="1" hangingPunct="1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belong to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属于 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不用于进行时态和被动语态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chemeClr val="bg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book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belongs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Dan.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belong to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是成员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属于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一部分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Lions and tigers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belong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cat family.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35525" y="525366"/>
            <a:ext cx="11515786" cy="4314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【</a:t>
            </a:r>
            <a:r>
              <a:rPr lang="zh-CN" altLang="en-US" b="1" dirty="0">
                <a:solidFill>
                  <a:srgbClr val="0000FF"/>
                </a:solidFill>
              </a:rPr>
              <a:t>语境应用</a:t>
            </a:r>
            <a:r>
              <a:rPr lang="en-US" altLang="zh-CN" b="1" dirty="0">
                <a:solidFill>
                  <a:srgbClr val="0000FF"/>
                </a:solidFill>
              </a:rPr>
              <a:t>】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句型转换。</a:t>
            </a:r>
          </a:p>
          <a:p>
            <a:pPr marL="450850" indent="-45085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503050405090304" pitchFamily="18" charset="0"/>
                <a:ea typeface="黑体" panose="02010609060101010101" pitchFamily="49" charset="-122"/>
                <a:sym typeface="Arial" panose="020B0604020202090204" pitchFamily="34" charset="0"/>
              </a:rPr>
              <a:t>1) The boy is a member of a football club and plays every Saturday.</a:t>
            </a:r>
          </a:p>
          <a:p>
            <a:pPr marL="450850" indent="-45085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503050405090304" pitchFamily="18" charset="0"/>
                <a:ea typeface="黑体" panose="02010609060101010101" pitchFamily="49" charset="-122"/>
                <a:sym typeface="Arial" panose="020B0604020202090204" pitchFamily="34" charset="0"/>
              </a:rPr>
              <a:t>→The boy </a:t>
            </a:r>
            <a:r>
              <a:rPr lang="zh-CN" altLang="en-US" b="1" dirty="0">
                <a:latin typeface="Times New Roman" panose="02020503050405090304" pitchFamily="18" charset="0"/>
                <a:ea typeface="黑体" panose="02010609060101010101" pitchFamily="49" charset="-122"/>
                <a:sym typeface="Arial" panose="020B0604020202090204" pitchFamily="34" charset="0"/>
              </a:rPr>
              <a:t>_______</a:t>
            </a:r>
            <a:r>
              <a:rPr lang="en-US" altLang="zh-CN" b="1" dirty="0">
                <a:latin typeface="Times New Roman" panose="02020503050405090304" pitchFamily="18" charset="0"/>
                <a:ea typeface="黑体" panose="02010609060101010101" pitchFamily="49" charset="-122"/>
                <a:sym typeface="Arial" panose="020B0604020202090204" pitchFamily="34" charset="0"/>
              </a:rPr>
              <a:t>_____ a football club and plays every Saturday.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401731" y="2485975"/>
            <a:ext cx="3023593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belongs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60073" y="108180"/>
            <a:ext cx="11271994" cy="6330127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marL="0" indent="-11607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a sense of belonging (n.)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归属感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0" indent="-11607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belongings </a:t>
            </a:r>
            <a:r>
              <a:rPr lang="zh-CN" altLang="en-US" sz="3200" b="1" i="1" dirty="0">
                <a:latin typeface="Times New Roman" panose="02020503050405090304" pitchFamily="18" charset="0"/>
                <a:sym typeface="Arial" panose="020B0604020202090204" pitchFamily="34" charset="0"/>
              </a:rPr>
              <a:t>n.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(</a:t>
            </a:r>
            <a:r>
              <a:rPr lang="en-US" altLang="zh-CN" sz="3200" b="1" i="1" dirty="0">
                <a:latin typeface="Times New Roman" panose="02020503050405090304" pitchFamily="18" charset="0"/>
                <a:sym typeface="Arial" panose="020B0604020202090204" pitchFamily="34" charset="0"/>
              </a:rPr>
              <a:t>pl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.) 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财产; 所有物; 财物</a:t>
            </a:r>
            <a:endParaRPr lang="en-US" altLang="zh-CN" sz="3200" b="1" dirty="0"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0" indent="-11607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personal belongings </a:t>
            </a:r>
            <a:r>
              <a:rPr lang="zh-CN" altLang="en-US" sz="3200" b="1" dirty="0"/>
              <a:t>个人财物</a:t>
            </a:r>
          </a:p>
          <a:p>
            <a:pPr marL="0" indent="-1160780" fontAlgn="auto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/>
          </a:p>
          <a:p>
            <a:pPr marL="0" indent="-11607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/>
              <a:t>他收拾好自行车和一些物品，出门去找女孩。</a:t>
            </a:r>
          </a:p>
          <a:p>
            <a:pPr marL="0" indent="-11607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/>
              <a:t>He packs his bike and a few </a:t>
            </a:r>
            <a:r>
              <a:rPr lang="en-US" altLang="zh-CN" sz="3200" b="1" dirty="0">
                <a:solidFill>
                  <a:schemeClr val="tx2"/>
                </a:solidFill>
              </a:rPr>
              <a:t>belongings </a:t>
            </a:r>
            <a:r>
              <a:rPr lang="en-US" altLang="zh-CN" sz="3200" b="1" dirty="0"/>
              <a:t>and heads out to find the girl.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8877" y="1040110"/>
            <a:ext cx="11354387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defPPr>
              <a:defRPr lang="en-US"/>
            </a:defPPr>
            <a:lvl1pPr marR="0" lvl="0" indent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9pPr>
          </a:lstStyle>
          <a:p>
            <a:pPr marL="361950" indent="-361950"/>
            <a:r>
              <a:rPr lang="en-US" altLang="zh-CN" dirty="0"/>
              <a:t>2. </a:t>
            </a:r>
            <a:r>
              <a:rPr lang="en-US" altLang="zh-CN" dirty="0">
                <a:sym typeface="+mn-ea"/>
              </a:rPr>
              <a:t>Fiona wanted to introduce more people to dance, so she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set up </a:t>
            </a:r>
            <a:r>
              <a:rPr lang="en-US" altLang="zh-CN" dirty="0" err="1">
                <a:sym typeface="+mn-ea"/>
              </a:rPr>
              <a:t>JustDance</a:t>
            </a:r>
            <a:r>
              <a:rPr lang="en-US" altLang="zh-CN" dirty="0">
                <a:sym typeface="+mn-ea"/>
              </a:rPr>
              <a:t>. </a:t>
            </a:r>
          </a:p>
          <a:p>
            <a:pPr marL="361950" indent="-361950"/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set up</a:t>
            </a:r>
            <a:r>
              <a:rPr lang="zh-CN" altLang="en-US" dirty="0"/>
              <a:t> </a:t>
            </a:r>
            <a:r>
              <a:rPr lang="en-US" altLang="zh-CN" i="1" dirty="0"/>
              <a:t>If you set something up, you create or arrange it </a:t>
            </a:r>
            <a:r>
              <a:rPr lang="zh-CN" altLang="en-US" dirty="0">
                <a:solidFill>
                  <a:schemeClr val="bg2"/>
                </a:solidFill>
              </a:rPr>
              <a:t>创建，建立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establish</a:t>
            </a:r>
            <a:endParaRPr lang="zh-CN" altLang="en-US" dirty="0">
              <a:solidFill>
                <a:schemeClr val="bg2"/>
              </a:solidFill>
            </a:endParaRPr>
          </a:p>
          <a:p>
            <a:pPr marL="361950" indent="-361950"/>
            <a:endParaRPr lang="en-US" altLang="zh-CN" dirty="0"/>
          </a:p>
          <a:p>
            <a:pPr marL="361950" indent="-361950"/>
            <a:r>
              <a:rPr lang="en-US" altLang="zh-CN" dirty="0"/>
              <a:t>His aim is to </a:t>
            </a:r>
            <a:r>
              <a:rPr lang="en-US" altLang="zh-CN" dirty="0">
                <a:solidFill>
                  <a:srgbClr val="FF0000"/>
                </a:solidFill>
              </a:rPr>
              <a:t>set up</a:t>
            </a:r>
            <a:r>
              <a:rPr lang="en-US" altLang="zh-CN" dirty="0"/>
              <a:t> his own business.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8877" y="342181"/>
            <a:ext cx="11354387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defPPr>
              <a:defRPr lang="en-US"/>
            </a:defPPr>
            <a:lvl1pPr marR="0" lvl="0" indent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9pPr>
          </a:lstStyle>
          <a:p>
            <a:pPr indent="-361950"/>
            <a:r>
              <a:rPr lang="en-US" altLang="zh-CN" dirty="0">
                <a:solidFill>
                  <a:schemeClr val="tx2"/>
                </a:solidFill>
              </a:rPr>
              <a:t>   【</a:t>
            </a:r>
            <a:r>
              <a:rPr lang="zh-CN" altLang="en-US" dirty="0">
                <a:solidFill>
                  <a:schemeClr val="tx2"/>
                </a:solidFill>
              </a:rPr>
              <a:t>归纳</a:t>
            </a:r>
            <a:r>
              <a:rPr lang="en-US" altLang="zh-CN" dirty="0">
                <a:solidFill>
                  <a:schemeClr val="tx2"/>
                </a:solidFill>
              </a:rPr>
              <a:t>】set up</a:t>
            </a:r>
            <a:r>
              <a:rPr lang="zh-CN" altLang="en-US" dirty="0">
                <a:solidFill>
                  <a:schemeClr val="tx2"/>
                </a:solidFill>
              </a:rPr>
              <a:t>还有如下含义：</a:t>
            </a:r>
          </a:p>
          <a:p>
            <a:pPr indent="-361950"/>
            <a:r>
              <a:rPr lang="zh-CN" altLang="en-US" dirty="0">
                <a:solidFill>
                  <a:schemeClr val="bg2"/>
                </a:solidFill>
              </a:rPr>
              <a:t> 竖立，架起，建造</a:t>
            </a:r>
            <a:r>
              <a:rPr lang="en-US" altLang="zh-CN" dirty="0">
                <a:solidFill>
                  <a:schemeClr val="bg2"/>
                </a:solidFill>
              </a:rPr>
              <a:t> make a piece of equipment ready</a:t>
            </a:r>
          </a:p>
          <a:p>
            <a:pPr indent="-361950"/>
            <a:r>
              <a:rPr lang="en-US" altLang="zh-CN" dirty="0"/>
              <a:t>I need one or two people to help me </a:t>
            </a:r>
            <a:r>
              <a:rPr lang="en-US" altLang="zh-CN" dirty="0">
                <a:solidFill>
                  <a:srgbClr val="FF0000"/>
                </a:solidFill>
              </a:rPr>
              <a:t>set up </a:t>
            </a:r>
            <a:r>
              <a:rPr lang="en-US" altLang="zh-CN" dirty="0">
                <a:solidFill>
                  <a:schemeClr val="tx1"/>
                </a:solidFill>
              </a:rPr>
              <a:t>the camera</a:t>
            </a:r>
            <a:r>
              <a:rPr lang="en-US" altLang="zh-CN" dirty="0"/>
              <a:t>.</a:t>
            </a:r>
          </a:p>
          <a:p>
            <a:pPr indent="-361950"/>
            <a:endParaRPr lang="zh-CN" altLang="en-US" dirty="0"/>
          </a:p>
          <a:p>
            <a:pPr indent="-361950"/>
            <a:r>
              <a:rPr lang="zh-CN" altLang="en-US" dirty="0">
                <a:solidFill>
                  <a:schemeClr val="bg2"/>
                </a:solidFill>
              </a:rPr>
              <a:t>安排，准备</a:t>
            </a:r>
            <a:r>
              <a:rPr lang="en-US" altLang="zh-CN" dirty="0">
                <a:solidFill>
                  <a:schemeClr val="bg2"/>
                </a:solidFill>
              </a:rPr>
              <a:t> arrange</a:t>
            </a:r>
          </a:p>
          <a:p>
            <a:pPr indent="-361950"/>
            <a:r>
              <a:rPr lang="en-US" altLang="zh-CN" dirty="0"/>
              <a:t>We need to </a:t>
            </a:r>
            <a:r>
              <a:rPr lang="en-US" altLang="zh-CN" u="sng" dirty="0">
                <a:solidFill>
                  <a:srgbClr val="FF0000"/>
                </a:solidFill>
              </a:rPr>
              <a:t>set up a meeting</a:t>
            </a:r>
            <a:r>
              <a:rPr lang="en-US" altLang="zh-CN" dirty="0"/>
              <a:t> to discuss the proposals.</a:t>
            </a:r>
          </a:p>
          <a:p>
            <a:pPr indent="-361950"/>
            <a:endParaRPr lang="en-US" altLang="zh-CN" dirty="0"/>
          </a:p>
          <a:p>
            <a:pPr indent="-361950"/>
            <a:r>
              <a:rPr lang="zh-CN" altLang="en-US" dirty="0">
                <a:solidFill>
                  <a:schemeClr val="bg2"/>
                </a:solidFill>
                <a:sym typeface="+mn-ea"/>
              </a:rPr>
              <a:t>引发；产生</a:t>
            </a:r>
            <a:endParaRPr lang="en-US" altLang="zh-CN" dirty="0">
              <a:solidFill>
                <a:schemeClr val="bg2"/>
              </a:solidFill>
            </a:endParaRPr>
          </a:p>
          <a:p>
            <a:pPr indent="-361950"/>
            <a:r>
              <a:rPr lang="en-US" altLang="zh-CN" dirty="0">
                <a:sym typeface="+mn-ea"/>
              </a:rPr>
              <a:t>The slump on Wall Street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set up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a chain reaction i</a:t>
            </a:r>
            <a:r>
              <a:rPr lang="en-US" altLang="zh-CN" dirty="0">
                <a:sym typeface="+mn-ea"/>
              </a:rPr>
              <a:t>n stock markets.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3730" y="402590"/>
            <a:ext cx="11657152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】根据括号内所给提示，用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set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短语完成句子。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marR="0" lvl="0" indent="-4508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1) You must be careful when _________________ (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放烟火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marR="0" lvl="0" indent="-4508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2) He liked the novel so much that he _____________________ (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放下他自己的工作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 and translated it into German.</a:t>
            </a:r>
          </a:p>
          <a:p>
            <a:pPr marL="450850" marR="0" lvl="0" indent="-4508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A committee _________________ (</a:t>
            </a:r>
            <a:r>
              <a:rPr lang="zh-CN" altLang="en-US" sz="32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已经被建立</a:t>
            </a:r>
            <a:r>
              <a:rPr lang="en-US" altLang="zh-CN" sz="32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to organize social events in the college.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marR="0" lvl="0" indent="-4508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 They ___________________ (</a:t>
            </a:r>
            <a:r>
              <a:rPr lang="zh-CN" altLang="en-US" sz="32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出发去北京</a:t>
            </a:r>
            <a:r>
              <a:rPr lang="en-US" altLang="zh-CN" sz="32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early the next morning.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marR="0" lvl="0" indent="-4508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69205" y="1125267"/>
            <a:ext cx="5011280" cy="58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setting off fireworks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067803" y="1620131"/>
            <a:ext cx="7152079" cy="58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set aside his own work </a:t>
            </a:r>
          </a:p>
        </p:txBody>
      </p:sp>
      <p:sp>
        <p:nvSpPr>
          <p:cNvPr id="7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81455" y="2769272"/>
            <a:ext cx="5011280" cy="58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has been set up     </a:t>
            </a:r>
          </a:p>
        </p:txBody>
      </p:sp>
      <p:sp>
        <p:nvSpPr>
          <p:cNvPr id="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98412" y="3921281"/>
            <a:ext cx="7376401" cy="58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set off / out for Beijing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1315" y="-127147"/>
            <a:ext cx="11969510" cy="659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265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advantage of sth</a:t>
            </a:r>
          </a:p>
          <a:p>
            <a:pPr algn="ctr">
              <a:lnSpc>
                <a:spcPct val="110000"/>
              </a:lnSpc>
            </a:pPr>
            <a:r>
              <a:rPr lang="zh-CN" altLang="en-US" sz="4265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</a:t>
            </a:r>
          </a:p>
          <a:p>
            <a:pPr algn="ctr">
              <a:lnSpc>
                <a:spcPct val="110000"/>
              </a:lnSpc>
            </a:pPr>
            <a:endParaRPr lang="en-US" altLang="zh-CN" sz="4265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4265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introductions </a:t>
            </a:r>
            <a:r>
              <a:rPr lang="en-US" altLang="zh-CN" sz="4265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to</a:t>
            </a:r>
            <a:r>
              <a:rPr lang="en-US" altLang="zh-CN" sz="4265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altLang="zh-CN" sz="4265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tips </a:t>
            </a:r>
            <a:r>
              <a:rPr lang="en-US" altLang="zh-CN" sz="4265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for/on</a:t>
            </a:r>
          </a:p>
          <a:p>
            <a:pPr algn="ctr">
              <a:lnSpc>
                <a:spcPct val="110000"/>
              </a:lnSpc>
            </a:pPr>
            <a:r>
              <a:rPr lang="en-US" altLang="zh-CN" sz="4265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topics </a:t>
            </a:r>
            <a:r>
              <a:rPr lang="en-US" altLang="zh-CN" sz="4265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on</a:t>
            </a:r>
            <a:endParaRPr lang="en-US" altLang="zh-CN" sz="4265" b="1" dirty="0">
              <a:solidFill>
                <a:schemeClr val="tx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>
              <a:lnSpc>
                <a:spcPct val="110000"/>
              </a:lnSpc>
            </a:pPr>
            <a:endParaRPr lang="zh-CN" altLang="en-US" sz="4265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sz="4265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satisfy different users’ needs</a:t>
            </a:r>
          </a:p>
          <a:p>
            <a:pPr algn="ctr">
              <a:lnSpc>
                <a:spcPct val="110000"/>
              </a:lnSpc>
            </a:pPr>
            <a:r>
              <a:rPr lang="zh-CN" altLang="en-US" sz="4265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满足不同用户的需求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1155" y="1120140"/>
            <a:ext cx="1145794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3. She has 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requested 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a technical team to develop an app so as to ...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ask sth formally and politely</a:t>
            </a:r>
            <a:endParaRPr kumimoji="0" lang="zh-CN" altLang="en-US" sz="3200" b="1" i="1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request sth (from sb) </a:t>
            </a:r>
            <a:r>
              <a:rPr lang="zh-CN" altLang="en-US" sz="3200" b="1" dirty="0">
                <a:ln>
                  <a:noFill/>
                </a:ln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请求某人某事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request sb to do sth 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要求某人做某事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request that ...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（虚拟语气）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The boss requested that no one 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可以被透露这个计划。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732378" y="5215922"/>
            <a:ext cx="10839433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(should) be told about the plan.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78583" y="597664"/>
            <a:ext cx="11034974" cy="3100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make a request for sth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请求，要求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He was there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at the request of his manager.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应某人的要求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Catalogues are available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on request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目录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可以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索取。（一经要求）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高中教材课件</Template>
  <TotalTime>0</TotalTime>
  <Words>528</Words>
  <Application>Microsoft Macintosh PowerPoint</Application>
  <PresentationFormat>Widescreen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 Bold</vt:lpstr>
      <vt:lpstr>Times New Roman Bold Italic</vt:lpstr>
      <vt:lpstr>Arial</vt:lpstr>
      <vt:lpstr>Calibri</vt:lpstr>
      <vt:lpstr>Times New Roman</vt:lpstr>
      <vt:lpstr>高中教材课件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22</cp:revision>
  <dcterms:created xsi:type="dcterms:W3CDTF">2024-04-02T05:22:27Z</dcterms:created>
  <dcterms:modified xsi:type="dcterms:W3CDTF">2026-07-22T14:18:46Z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CDE71F7662A3934D1FB812645BEB6A85_42</vt:lpwstr>
  </property>
</Properties>
</file>