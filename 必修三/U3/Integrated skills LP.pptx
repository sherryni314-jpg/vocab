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8"/>
  </p:notesMasterIdLst>
  <p:sldIdLst>
    <p:sldId id="535" r:id="rId2"/>
    <p:sldId id="536" r:id="rId3"/>
    <p:sldId id="537" r:id="rId4"/>
    <p:sldId id="538" r:id="rId5"/>
    <p:sldId id="539" r:id="rId6"/>
    <p:sldId id="541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5E986C9B-A88A-41B8-B907-BBD3FD4A4393}">
          <p14:sldIdLst>
            <p14:sldId id="535"/>
            <p14:sldId id="536"/>
            <p14:sldId id="537"/>
            <p14:sldId id="538"/>
            <p14:sldId id="539"/>
            <p14:sldId id="54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novo" initials="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00"/>
    <a:srgbClr val="0A74F9"/>
    <a:srgbClr val="FFFFFF"/>
    <a:srgbClr val="E9EBF5"/>
    <a:srgbClr val="CFD5EA"/>
    <a:srgbClr val="4472C4"/>
    <a:srgbClr val="C4DF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87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82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7/22/26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章节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主题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9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objectiv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Homewo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2CF8D2-1FBB-4566-BAA4-CFEBD45A3143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E3B083D-B8AC-4346-88EF-1027595E983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67665" y="242570"/>
            <a:ext cx="11491595" cy="54063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Online activities </a:t>
            </a:r>
            <a:r>
              <a:rPr lang="en-US" altLang="zh-CN" sz="3200" b="1" u="sng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by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percentage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在线活动百分比</a:t>
            </a:r>
          </a:p>
          <a:p>
            <a:pPr marL="450850" indent="-450850">
              <a:lnSpc>
                <a:spcPct val="120000"/>
              </a:lnSpc>
            </a:pP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high/low/small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percentage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比例高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/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低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男职工中，已婚人士的占比很高。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 high percentage of the male staff </a:t>
            </a:r>
            <a:r>
              <a:rPr lang="en-US" altLang="zh-CN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are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married workers.</a:t>
            </a:r>
          </a:p>
          <a:p>
            <a:pPr marL="450850" indent="-450850">
              <a:lnSpc>
                <a:spcPct val="12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per cent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百分之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... (%)</a:t>
            </a:r>
          </a:p>
          <a:p>
            <a:pPr marL="450850" indent="-450850">
              <a:lnSpc>
                <a:spcPct val="12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在过去三年中，人均收入增长了大约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16%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。</a:t>
            </a:r>
          </a:p>
          <a:p>
            <a:pPr marL="450850" indent="-450850">
              <a:lnSpc>
                <a:spcPct val="12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In the past three years, 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307340" y="5017135"/>
            <a:ext cx="11490960" cy="10763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                                        the income per head has risen by 16 per cent.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32740" y="389255"/>
            <a:ext cx="11520170" cy="45231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entertainment n.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娱乐活动；文娱节目</a:t>
            </a:r>
          </a:p>
          <a:p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place of entertainment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娱乐场所</a:t>
            </a:r>
          </a:p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family entertainment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家庭娱乐</a:t>
            </a:r>
          </a:p>
          <a:p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联欢会上将有现场表演。</a:t>
            </a: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There will be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live entertainment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at the party.</a:t>
            </a:r>
          </a:p>
          <a:p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受欢迎的电视演员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 popular television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entertainer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429895" y="327025"/>
            <a:ext cx="12162155" cy="568007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entertain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vi. &amp; vt.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款待；使快乐（娱乐）</a:t>
            </a:r>
          </a:p>
          <a:p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Barbecues are a favorite way of </a:t>
            </a:r>
            <a:r>
              <a:rPr lang="en-US" sz="3200" b="1" u="sng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entertaining friends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 (</a:t>
            </a:r>
            <a:r>
              <a:rPr lang="en-US" sz="3200" b="1" i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entertain sb</a:t>
            </a:r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)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这套系列节目既是为了娱乐也是为了教育。</a:t>
            </a:r>
          </a:p>
          <a:p>
            <a:r>
              <a:rPr 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aim of the series is both ____________________________.</a:t>
            </a:r>
          </a:p>
          <a:p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这家公司制作既</a:t>
            </a:r>
            <a:r>
              <a:rPr lang="zh-CN" altLang="en-US" sz="3200" b="1" u="sng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有娱乐性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也有教育性的节目。</a:t>
            </a:r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r>
              <a:rPr lang="zh-CN" altLang="en-US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company produces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entertaining</a:t>
            </a:r>
            <a:r>
              <a:rPr lang="en-US" altLang="zh-CN" sz="3200" b="1" dirty="0"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and educational programmes</a:t>
            </a:r>
            <a:r>
              <a:rPr lang="en-US" altLang="zh-CN" sz="3200" b="1" dirty="0"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.</a:t>
            </a:r>
            <a:endParaRPr lang="en-US" altLang="zh-CN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marL="3657600" lvl="8" indent="457200"/>
            <a:r>
              <a:rPr lang="en-US" sz="3200" b="1" i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adj.  </a:t>
            </a:r>
            <a:r>
              <a:rPr lang="zh-CN" altLang="en-US" sz="3200" b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令人愉快的，有趣的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一位风趣的主持人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</a:t>
            </a:r>
            <a:r>
              <a:rPr lang="en-US" altLang="zh-CN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an entertaining host</a:t>
            </a:r>
          </a:p>
          <a:p>
            <a:endParaRPr 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entertain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vt.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怀有，心存（想法、希望、感觉）</a:t>
            </a: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 wouldn’t 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entertain the idea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of living in the countryside.</a:t>
            </a:r>
          </a:p>
        </p:txBody>
      </p:sp>
      <p:sp>
        <p:nvSpPr>
          <p:cNvPr id="3" name="Text Box 2"/>
          <p:cNvSpPr txBox="1"/>
          <p:nvPr/>
        </p:nvSpPr>
        <p:spPr>
          <a:xfrm>
            <a:off x="5624830" y="2195830"/>
            <a:ext cx="5659755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to entertain and educate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3"/>
          <p:cNvSpPr txBox="1"/>
          <p:nvPr/>
        </p:nvSpPr>
        <p:spPr>
          <a:xfrm>
            <a:off x="399415" y="182880"/>
            <a:ext cx="11488420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mobile </a:t>
            </a:r>
            <a:r>
              <a:rPr lang="en-US" altLang="zh-CN" sz="3200" b="1" i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adj.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1)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手机相关的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移动设备</a:t>
            </a:r>
          </a:p>
          <a:p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2)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行动方便；腿脚灵便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专为上了年纪或行动不便的人设计的厨房</a:t>
            </a: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A kitchen especially designed for the elderly or people who are                     . </a:t>
            </a:r>
          </a:p>
          <a:p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3)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流动的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流动的社会</a:t>
            </a:r>
            <a:r>
              <a:rPr lang="en-US" altLang="zh-CN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 mobile society</a:t>
            </a:r>
            <a:endParaRPr lang="zh-CN" altLang="en-US" sz="3200" b="1" dirty="0">
              <a:solidFill>
                <a:schemeClr val="tx2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2295525" y="622300"/>
            <a:ext cx="331025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mobile equipment</a:t>
            </a:r>
          </a:p>
        </p:txBody>
      </p:sp>
      <p:sp>
        <p:nvSpPr>
          <p:cNvPr id="2" name="Text Box 1"/>
          <p:cNvSpPr txBox="1"/>
          <p:nvPr/>
        </p:nvSpPr>
        <p:spPr>
          <a:xfrm>
            <a:off x="1067435" y="3075940"/>
            <a:ext cx="206819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less mobile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" grpId="0"/>
      <p:bldP spid="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/>
          <p:cNvSpPr txBox="1"/>
          <p:nvPr/>
        </p:nvSpPr>
        <p:spPr>
          <a:xfrm>
            <a:off x="177800" y="182880"/>
            <a:ext cx="11930380" cy="60007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immobile </a:t>
            </a:r>
            <a:r>
              <a:rPr lang="en-US" sz="3200" b="1" i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opp. adj.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瘫痪的；静止的</a:t>
            </a:r>
          </a:p>
          <a:p>
            <a:endParaRPr lang="zh-CN" altLang="en-US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mobilize</a:t>
            </a:r>
            <a:r>
              <a:rPr lang="en-US" altLang="zh-CN" sz="3200" b="1" dirty="0">
                <a:solidFill>
                  <a:schemeClr val="tx2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vt. 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organize and encourage (a group of people) to take collective action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鼓动；动员</a:t>
            </a:r>
            <a:r>
              <a:rPr lang="en-US" altLang="zh-CN" sz="3200" b="1" dirty="0">
                <a:solidFill>
                  <a:srgbClr val="0000FF"/>
                </a:solidFill>
                <a:latin typeface="Times New Roman Bold Italic" panose="02020503050405090304" charset="0"/>
                <a:cs typeface="Times New Roman Bold Italic" panose="02020503050405090304" charset="0"/>
                <a:sym typeface="+mn-ea"/>
              </a:rPr>
              <a:t> /moʊbɪlaɪz/</a:t>
            </a:r>
            <a:endParaRPr lang="en-US" altLang="zh-CN" sz="3200" b="1" dirty="0">
              <a:solidFill>
                <a:schemeClr val="tx1"/>
              </a:solidFill>
              <a:latin typeface="Times New Roman Bold Italic" panose="02020503050405090304" charset="0"/>
              <a:cs typeface="Times New Roman Bold Italic" panose="02020503050405090304" charset="0"/>
              <a:sym typeface="+mn-ea"/>
            </a:endParaRPr>
          </a:p>
          <a:p>
            <a:r>
              <a:rPr lang="zh-CN" altLang="en-US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mobilize one's energies</a:t>
            </a:r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鼓足干劲</a:t>
            </a:r>
          </a:p>
          <a:p>
            <a:endParaRPr lang="zh-CN" altLang="en-US" sz="3200" b="1" dirty="0">
              <a:solidFill>
                <a:schemeClr val="tx1"/>
              </a:solidFill>
              <a:latin typeface="Times New Roman Bold" panose="02020503050405090304" charset="0"/>
              <a:cs typeface="Times New Roman Bold" panose="02020503050405090304" charset="0"/>
              <a:sym typeface="+mn-ea"/>
            </a:endParaRP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The best hope is that we will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mobilize international support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and get down to action.</a:t>
            </a:r>
          </a:p>
          <a:p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最大的希望是，我们将</a:t>
            </a:r>
            <a:r>
              <a:rPr lang="zh-CN" altLang="en-US" sz="3200" b="1" u="sng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动员国际支持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并采取行动。</a:t>
            </a:r>
          </a:p>
          <a:p>
            <a:r>
              <a:rPr lang="en-US" altLang="zh-CN" sz="3200" b="1" dirty="0">
                <a:solidFill>
                  <a:schemeClr val="tx2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mobility</a:t>
            </a:r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 n. 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流动性</a:t>
            </a:r>
          </a:p>
          <a:p>
            <a:r>
              <a:rPr lang="en-US" altLang="zh-CN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I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ndustrialization would open up increasing chances of </a:t>
            </a:r>
            <a:r>
              <a:rPr lang="zh-CN" altLang="en-US" sz="3200" b="1" dirty="0">
                <a:solidFill>
                  <a:srgbClr val="FF0000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social mobility</a:t>
            </a:r>
            <a:r>
              <a:rPr lang="zh-CN" altLang="en-US" sz="3200" b="1" dirty="0">
                <a:solidFill>
                  <a:schemeClr val="tx1"/>
                </a:solidFill>
                <a:latin typeface="Times New Roman Bold" panose="02020503050405090304" charset="0"/>
                <a:cs typeface="Times New Roman Bold" panose="02020503050405090304" charset="0"/>
                <a:sym typeface="+mn-ea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"/>
          <p:cNvSpPr txBox="1"/>
          <p:nvPr/>
        </p:nvSpPr>
        <p:spPr>
          <a:xfrm>
            <a:off x="263525" y="255905"/>
            <a:ext cx="11821160" cy="50158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device n.</a:t>
            </a:r>
            <a:r>
              <a:rPr lang="en-US" sz="3200" b="1" dirty="0"/>
              <a:t> 1) </a:t>
            </a:r>
            <a:r>
              <a:rPr lang="en-US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a piece of equipment </a:t>
            </a:r>
            <a:r>
              <a:rPr lang="zh-CN" altLang="en-US" sz="3200" b="1" dirty="0">
                <a:latin typeface="Times New Roman Bold Italic" panose="02020503050405090304" charset="0"/>
                <a:cs typeface="Times New Roman Bold Italic" panose="02020503050405090304" charset="0"/>
              </a:rPr>
              <a:t>设备，装置</a:t>
            </a:r>
            <a:endParaRPr lang="en-US" sz="3200" b="1" dirty="0"/>
          </a:p>
          <a:p>
            <a:r>
              <a:rPr lang="en-US" sz="3200" b="1" dirty="0">
                <a:solidFill>
                  <a:schemeClr val="tx2"/>
                </a:solidFill>
              </a:rPr>
              <a:t>devices</a:t>
            </a:r>
            <a:r>
              <a:rPr lang="en-US" sz="3200" b="1" dirty="0"/>
              <a:t> such as tablet PCs and mobile phones</a:t>
            </a:r>
          </a:p>
          <a:p>
            <a:r>
              <a:rPr lang="en-US" sz="3200" b="1" dirty="0"/>
              <a:t>平板电脑和手机等</a:t>
            </a:r>
            <a:r>
              <a:rPr lang="en-US" sz="3200" b="1" u="sng" dirty="0"/>
              <a:t>设备</a:t>
            </a:r>
            <a:endParaRPr lang="en-US" sz="3200" b="1" dirty="0"/>
          </a:p>
          <a:p>
            <a:r>
              <a:rPr lang="en-US" sz="3200" b="1" dirty="0"/>
              <a:t>Rescuers used the special </a:t>
            </a:r>
            <a:r>
              <a:rPr lang="en-US" sz="3200" b="1" u="sng" dirty="0">
                <a:solidFill>
                  <a:schemeClr val="tx2"/>
                </a:solidFill>
              </a:rPr>
              <a:t>device for</a:t>
            </a:r>
            <a:r>
              <a:rPr lang="zh-CN" altLang="en-US" sz="3200" b="1" u="sng" dirty="0">
                <a:solidFill>
                  <a:schemeClr val="tx2"/>
                </a:solidFill>
              </a:rPr>
              <a:t> locating/to locate</a:t>
            </a:r>
            <a:r>
              <a:rPr lang="en-US" sz="3200" b="1" dirty="0"/>
              <a:t> survivors trapped in the rubble (</a:t>
            </a:r>
            <a:r>
              <a:rPr lang="zh-CN" altLang="en-US" sz="3200" b="1" dirty="0"/>
              <a:t>瓦砾</a:t>
            </a:r>
            <a:r>
              <a:rPr lang="en-US" altLang="zh-CN" sz="3200" b="1" dirty="0"/>
              <a:t>)</a:t>
            </a:r>
            <a:r>
              <a:rPr lang="en-US" sz="3200" b="1" dirty="0"/>
              <a:t>.</a:t>
            </a:r>
          </a:p>
          <a:p>
            <a:endParaRPr lang="en-US" sz="3200" b="1" dirty="0"/>
          </a:p>
          <a:p>
            <a:r>
              <a:rPr lang="en-US" sz="3200" b="1" dirty="0"/>
              <a:t>2) </a:t>
            </a:r>
            <a:r>
              <a:rPr lang="zh-CN" altLang="en-US" sz="3200" b="1" dirty="0"/>
              <a:t>手段，方法，技巧</a:t>
            </a:r>
            <a:r>
              <a:rPr lang="en-US" altLang="zh-CN" sz="3200" b="1" dirty="0"/>
              <a:t> </a:t>
            </a:r>
            <a:r>
              <a:rPr lang="en-US" altLang="zh-CN" sz="3200" b="1" dirty="0">
                <a:solidFill>
                  <a:schemeClr val="tx2"/>
                </a:solidFill>
              </a:rPr>
              <a:t>a rhetorical device</a:t>
            </a:r>
            <a:r>
              <a:rPr lang="en-US" altLang="zh-CN" sz="3200" b="1" dirty="0"/>
              <a:t> </a:t>
            </a:r>
            <a:r>
              <a:rPr lang="zh-CN" altLang="en-US" sz="3200" b="1" dirty="0"/>
              <a:t>修辞手法</a:t>
            </a:r>
            <a:endParaRPr lang="en-US" sz="3200" b="1" dirty="0"/>
          </a:p>
          <a:p>
            <a:r>
              <a:rPr lang="en-US" sz="3200" b="1" dirty="0"/>
              <a:t>Sending advertising by email is very successful as </a:t>
            </a:r>
            <a:r>
              <a:rPr lang="en-US" sz="3200" b="1" u="sng" dirty="0">
                <a:solidFill>
                  <a:schemeClr val="tx2"/>
                </a:solidFill>
              </a:rPr>
              <a:t>a marketing device</a:t>
            </a:r>
            <a:r>
              <a:rPr lang="en-US" sz="3200" b="1" dirty="0"/>
              <a:t>.</a:t>
            </a:r>
          </a:p>
          <a:p>
            <a:r>
              <a:rPr lang="en-US" sz="3200" b="1" dirty="0"/>
              <a:t>作为一种</a:t>
            </a:r>
            <a:r>
              <a:rPr lang="en-US" sz="3200" b="1" u="sng" dirty="0">
                <a:solidFill>
                  <a:srgbClr val="0000FF"/>
                </a:solidFill>
              </a:rPr>
              <a:t>营销手段</a:t>
            </a:r>
            <a:r>
              <a:rPr lang="en-US" sz="3200" b="1" dirty="0"/>
              <a:t>，用电子邮件发送广告是非常成功的。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高中教材课件">
  <a:themeElements>
    <a:clrScheme name="高中编辑部">
      <a:dk1>
        <a:srgbClr val="000000"/>
      </a:dk1>
      <a:lt1>
        <a:srgbClr val="FFFFFF"/>
      </a:lt1>
      <a:dk2>
        <a:srgbClr val="E4002A"/>
      </a:dk2>
      <a:lt2>
        <a:srgbClr val="2419FF"/>
      </a:lt2>
      <a:accent1>
        <a:srgbClr val="F8C083"/>
      </a:accent1>
      <a:accent2>
        <a:srgbClr val="2C99FE"/>
      </a:accent2>
      <a:accent3>
        <a:srgbClr val="C788EA"/>
      </a:accent3>
      <a:accent4>
        <a:srgbClr val="FE824B"/>
      </a:accent4>
      <a:accent5>
        <a:srgbClr val="F5DAE9"/>
      </a:accent5>
      <a:accent6>
        <a:srgbClr val="96DD9A"/>
      </a:accent6>
      <a:hlink>
        <a:srgbClr val="2419FF"/>
      </a:hlink>
      <a:folHlink>
        <a:srgbClr val="000000"/>
      </a:folHlink>
    </a:clrScheme>
    <a:fontScheme name="课件">
      <a:majorFont>
        <a:latin typeface="Arial"/>
        <a:ea typeface="黑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3200" b="1"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sz="3200" b="1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高中教材课件</Template>
  <TotalTime>0</TotalTime>
  <Words>449</Words>
  <Application>Microsoft Macintosh PowerPoint</Application>
  <PresentationFormat>Widescreen</PresentationFormat>
  <Paragraphs>60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Times New Roman</vt:lpstr>
      <vt:lpstr>Calibri</vt:lpstr>
      <vt:lpstr>Times New Roman Bold</vt:lpstr>
      <vt:lpstr>Arial</vt:lpstr>
      <vt:lpstr>Times New Roman Bold Italic</vt:lpstr>
      <vt:lpstr>高中教材课件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Qing NI</cp:lastModifiedBy>
  <cp:revision>10</cp:revision>
  <dcterms:created xsi:type="dcterms:W3CDTF">2024-04-02T02:41:07Z</dcterms:created>
  <dcterms:modified xsi:type="dcterms:W3CDTF">2026-07-22T14:19:34Z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1033-6.5.2.8766</vt:lpwstr>
  </property>
  <property fmtid="{D5CDD505-2E9C-101B-9397-08002B2CF9AE}" pid="3" name="ICV">
    <vt:lpwstr>D9A9D95B271E4FB9FFA91664598E6E18_42</vt:lpwstr>
  </property>
</Properties>
</file>