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178.xml" ContentType="application/vnd.openxmlformats-officedocument.presentationml.tags+xml"/>
  <Override PartName="/ppt/notesSlides/notesSlide2.xml" ContentType="application/vnd.openxmlformats-officedocument.presentationml.notesSlide+xml"/>
  <Override PartName="/ppt/tags/tag179.xml" ContentType="application/vnd.openxmlformats-officedocument.presentationml.tags+xml"/>
  <Override PartName="/ppt/notesSlides/notesSlide3.xml" ContentType="application/vnd.openxmlformats-officedocument.presentationml.notesSlide+xml"/>
  <Override PartName="/ppt/tags/tag180.xml" ContentType="application/vnd.openxmlformats-officedocument.presentationml.tags+xml"/>
  <Override PartName="/ppt/notesSlides/notesSlide4.xml" ContentType="application/vnd.openxmlformats-officedocument.presentationml.notesSlide+xml"/>
  <Override PartName="/ppt/tags/tag181.xml" ContentType="application/vnd.openxmlformats-officedocument.presentationml.tags+xml"/>
  <Override PartName="/ppt/notesSlides/notesSlide5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6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5.xml" ContentType="application/vnd.openxmlformats-officedocument.themeOverride+xml"/>
  <Override PartName="/ppt/tags/tag190.xml" ContentType="application/vnd.openxmlformats-officedocument.presentationml.tags+xml"/>
  <Override PartName="/ppt/notesSlides/notesSlide18.xml" ContentType="application/vnd.openxmlformats-officedocument.presentationml.notesSlide+xml"/>
  <Override PartName="/ppt/tags/tag191.xml" ContentType="application/vnd.openxmlformats-officedocument.presentationml.tags+xml"/>
  <Override PartName="/ppt/notesSlides/notesSlide19.xml" ContentType="application/vnd.openxmlformats-officedocument.presentationml.notesSlide+xml"/>
  <Override PartName="/ppt/theme/themeOverride6.xml" ContentType="application/vnd.openxmlformats-officedocument.themeOverride+xml"/>
  <Override PartName="/ppt/tags/tag192.xml" ContentType="application/vnd.openxmlformats-officedocument.presentationml.tags+xml"/>
  <Override PartName="/ppt/notesSlides/notesSlide20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21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8.xml" ContentType="application/vnd.openxmlformats-officedocument.themeOverride+xml"/>
  <Override PartName="/ppt/tags/tag195.xml" ContentType="application/vnd.openxmlformats-officedocument.presentationml.tags+xml"/>
  <Override PartName="/ppt/notesSlides/notesSlide24.xml" ContentType="application/vnd.openxmlformats-officedocument.presentationml.notesSlide+xml"/>
  <Override PartName="/ppt/theme/themeOverride9.xml" ContentType="application/vnd.openxmlformats-officedocument.themeOverride+xml"/>
  <Override PartName="/ppt/tags/tag196.xml" ContentType="application/vnd.openxmlformats-officedocument.presentationml.tags+xml"/>
  <Override PartName="/ppt/notesSlides/notesSlide25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48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49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  <p:sldMasterId id="2147483700" r:id="rId3"/>
    <p:sldMasterId id="2147483712" r:id="rId4"/>
    <p:sldMasterId id="2147483739" r:id="rId5"/>
  </p:sldMasterIdLst>
  <p:notesMasterIdLst>
    <p:notesMasterId r:id="rId68"/>
  </p:notesMasterIdLst>
  <p:sldIdLst>
    <p:sldId id="729" r:id="rId6"/>
    <p:sldId id="730" r:id="rId7"/>
    <p:sldId id="677" r:id="rId8"/>
    <p:sldId id="888" r:id="rId9"/>
    <p:sldId id="678" r:id="rId10"/>
    <p:sldId id="785" r:id="rId11"/>
    <p:sldId id="786" r:id="rId12"/>
    <p:sldId id="624" r:id="rId13"/>
    <p:sldId id="625" r:id="rId14"/>
    <p:sldId id="789" r:id="rId15"/>
    <p:sldId id="790" r:id="rId16"/>
    <p:sldId id="791" r:id="rId17"/>
    <p:sldId id="792" r:id="rId18"/>
    <p:sldId id="840" r:id="rId19"/>
    <p:sldId id="787" r:id="rId20"/>
    <p:sldId id="788" r:id="rId21"/>
    <p:sldId id="793" r:id="rId22"/>
    <p:sldId id="794" r:id="rId23"/>
    <p:sldId id="396" r:id="rId24"/>
    <p:sldId id="611" r:id="rId25"/>
    <p:sldId id="426" r:id="rId26"/>
    <p:sldId id="612" r:id="rId27"/>
    <p:sldId id="427" r:id="rId28"/>
    <p:sldId id="613" r:id="rId29"/>
    <p:sldId id="795" r:id="rId30"/>
    <p:sldId id="550" r:id="rId31"/>
    <p:sldId id="551" r:id="rId32"/>
    <p:sldId id="629" r:id="rId33"/>
    <p:sldId id="614" r:id="rId34"/>
    <p:sldId id="555" r:id="rId35"/>
    <p:sldId id="615" r:id="rId36"/>
    <p:sldId id="608" r:id="rId37"/>
    <p:sldId id="609" r:id="rId38"/>
    <p:sldId id="889" r:id="rId39"/>
    <p:sldId id="599" r:id="rId40"/>
    <p:sldId id="796" r:id="rId41"/>
    <p:sldId id="797" r:id="rId42"/>
    <p:sldId id="630" r:id="rId43"/>
    <p:sldId id="559" r:id="rId44"/>
    <p:sldId id="799" r:id="rId45"/>
    <p:sldId id="610" r:id="rId46"/>
    <p:sldId id="617" r:id="rId47"/>
    <p:sldId id="563" r:id="rId48"/>
    <p:sldId id="564" r:id="rId49"/>
    <p:sldId id="618" r:id="rId50"/>
    <p:sldId id="619" r:id="rId51"/>
    <p:sldId id="633" r:id="rId52"/>
    <p:sldId id="634" r:id="rId53"/>
    <p:sldId id="636" r:id="rId54"/>
    <p:sldId id="568" r:id="rId55"/>
    <p:sldId id="947" r:id="rId56"/>
    <p:sldId id="948" r:id="rId57"/>
    <p:sldId id="570" r:id="rId58"/>
    <p:sldId id="637" r:id="rId59"/>
    <p:sldId id="638" r:id="rId60"/>
    <p:sldId id="572" r:id="rId61"/>
    <p:sldId id="621" r:id="rId62"/>
    <p:sldId id="639" r:id="rId63"/>
    <p:sldId id="620" r:id="rId64"/>
    <p:sldId id="622" r:id="rId65"/>
    <p:sldId id="640" r:id="rId66"/>
    <p:sldId id="623" r:id="rId67"/>
  </p:sldIdLst>
  <p:sldSz cx="12192000" cy="6858000"/>
  <p:notesSz cx="6858000" cy="9144000"/>
  <p:custDataLst>
    <p:tags r:id="rId6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9933FF"/>
    <a:srgbClr val="FFFFCC"/>
    <a:srgbClr val="FF3399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tags" Target="tags/tag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F3376-9DB4-4461-9888-1396C77DDD8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66566-37A5-4B76-8242-8ED462C8FD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He is a man in a million.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as</a:t>
            </a:r>
            <a:r>
              <a:rPr lang="zh-CN" altLang="en-US"/>
              <a:t>作连词引导比较状语从句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en-US" altLang="zh-CN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detail = thoroughly</a:t>
            </a:r>
          </a:p>
          <a:p>
            <a:pPr algn="l"/>
            <a:endParaRPr lang="en-US"/>
          </a:p>
          <a:p>
            <a:pPr algn="l"/>
            <a:r>
              <a:rPr lang="en-US"/>
              <a:t>He went to extreme lengths to achieve his goals.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an endangered species / living species / extinct species</a:t>
            </a:r>
          </a:p>
          <a:p>
            <a:r>
              <a:rPr lang="en-US"/>
              <a:t>a rare species of beetles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people from diverse cultures</a:t>
            </a:r>
          </a:p>
          <a:p>
            <a:r>
              <a:rPr lang="en-US"/>
              <a:t>不同文化背景的人</a:t>
            </a:r>
          </a:p>
          <a:p>
            <a:r>
              <a:rPr lang="en-US"/>
              <a:t>My interests are very diverse.</a:t>
            </a:r>
          </a:p>
          <a:p>
            <a:r>
              <a:rPr lang="en-US"/>
              <a:t>我的兴趣非常广泛。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谓语动词跟随名词形式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 rare variety of orchid</a:t>
            </a:r>
          </a:p>
          <a:p>
            <a:r>
              <a:rPr lang="en-US"/>
              <a:t>兰花的稀有品种</a:t>
            </a:r>
          </a:p>
          <a:p>
            <a:r>
              <a:rPr lang="en-US"/>
              <a:t>different varieties of English</a:t>
            </a:r>
          </a:p>
          <a:p>
            <a:r>
              <a:rPr lang="en-US"/>
              <a:t>各类英语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various reasons</a:t>
            </a:r>
          </a:p>
          <a:p>
            <a:endParaRPr lang="en-US"/>
          </a:p>
          <a:p>
            <a:r>
              <a:rPr lang="en-US"/>
              <a:t>It is essential that your diet is varied and balanced. 重要的是你的饮食应当是多样而平衡的。</a:t>
            </a:r>
          </a:p>
          <a:p>
            <a:endParaRPr lang="en-US"/>
          </a:p>
          <a:p>
            <a:r>
              <a:rPr lang="en-US"/>
              <a:t>This is a fabulous album. It’s fresh, varied, fun. 这是个极好的专辑。它是新颖的、多样的、有趣的。</a:t>
            </a:r>
          </a:p>
          <a:p>
            <a:endParaRPr lang="en-US"/>
          </a:p>
          <a:p>
            <a:r>
              <a:rPr lang="en-US"/>
              <a:t>A rich and varied cultural life is essential for this couple. 丰富多彩的、多样化的文化生活对于这对夫妇而言是必不可少的。</a:t>
            </a:r>
          </a:p>
          <a:p>
            <a:endParaRPr lang="en-US"/>
          </a:p>
          <a:p>
            <a:r>
              <a:rPr lang="en-US"/>
              <a:t>With its varied climate, the country attracts both winter and summer sports enthusiasts.  该国气候多变，吸引了冬季和夏季运动爱好者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bright, lively and cheerful</a:t>
            </a:r>
          </a:p>
          <a:p>
            <a:r>
              <a:rPr lang="en-US"/>
              <a:t>lively music </a:t>
            </a:r>
            <a:r>
              <a:rPr lang="zh-CN" altLang="en-US"/>
              <a:t>轻快的</a:t>
            </a:r>
            <a:endParaRPr lang="en-US"/>
          </a:p>
          <a:p>
            <a:r>
              <a:rPr lang="en-US"/>
              <a:t>lively narrative </a:t>
            </a:r>
            <a:r>
              <a:rPr lang="zh-CN" altLang="en-US"/>
              <a:t>生动的故事</a:t>
            </a:r>
          </a:p>
          <a:p>
            <a:r>
              <a:rPr lang="en-US" altLang="zh-CN"/>
              <a:t>lively mind/imagination</a:t>
            </a:r>
            <a:endParaRPr lang="en-US"/>
          </a:p>
          <a:p>
            <a:r>
              <a:rPr lang="en-US"/>
              <a:t>liveliness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breakdown u. She is still recovering from breakdown.</a:t>
            </a:r>
          </a:p>
          <a:p>
            <a:r>
              <a:rPr lang="en-US"/>
              <a:t>The breakdown of proteins in the digestive system</a:t>
            </a:r>
          </a:p>
          <a:p>
            <a:r>
              <a:rPr lang="en-US"/>
              <a:t>break down big goals into smaller ones</a:t>
            </a:r>
          </a:p>
          <a:p>
            <a:r>
              <a:rPr lang="en-US"/>
              <a:t>Suger are broken down in the stomach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disappearance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is out of sight / be lost in sight </a:t>
            </a:r>
            <a:r>
              <a:rPr lang="zh-CN" altLang="en-US"/>
              <a:t>消失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一月份就要开始上学了。</a:t>
            </a:r>
          </a:p>
          <a:p>
            <a:r>
              <a:rPr lang="en-US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下一班火车预定在五分钟后抵达。</a:t>
            </a:r>
            <a:endParaRPr lang="en-US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/>
              <a:t>it has to be given to the teacher by then.</a:t>
            </a:r>
          </a:p>
          <a:p>
            <a:endParaRPr lang="en-US"/>
          </a:p>
          <a:p>
            <a:r>
              <a:rPr lang="en-US"/>
              <a:t>due date </a:t>
            </a:r>
            <a:r>
              <a:rPr lang="zh-CN" altLang="en-US"/>
              <a:t>到期日</a:t>
            </a:r>
          </a:p>
          <a:p>
            <a:r>
              <a:rPr lang="en-US" altLang="zh-CN"/>
              <a:t>due = suitable, right </a:t>
            </a:r>
            <a:r>
              <a:rPr lang="zh-CN" altLang="en-US"/>
              <a:t>恰当的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blow </a:t>
            </a:r>
            <a:r>
              <a:rPr lang="zh-CN" altLang="en-US"/>
              <a:t>重击</a:t>
            </a:r>
          </a:p>
          <a:p>
            <a:r>
              <a:rPr lang="en-US" altLang="zh-CN"/>
              <a:t>the impact of A on B</a:t>
            </a:r>
          </a:p>
          <a:p>
            <a:r>
              <a:rPr lang="en-US" altLang="zh-CN"/>
              <a:t>the danger/threat of A to B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considerable, enormous, serious, permanent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serious/extensive/permanent/minor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3.png"/><Relationship Id="rId5" Type="http://schemas.openxmlformats.org/officeDocument/2006/relationships/tags" Target="../tags/tag40.xml"/><Relationship Id="rId10" Type="http://schemas.openxmlformats.org/officeDocument/2006/relationships/image" Target="../media/image2.png"/><Relationship Id="rId4" Type="http://schemas.openxmlformats.org/officeDocument/2006/relationships/tags" Target="../tags/tag3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image" Target="../media/image3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2.png"/><Relationship Id="rId5" Type="http://schemas.openxmlformats.org/officeDocument/2006/relationships/tags" Target="../tags/tag4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3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2.png"/><Relationship Id="rId5" Type="http://schemas.openxmlformats.org/officeDocument/2006/relationships/tags" Target="../tags/tag5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3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2.png"/><Relationship Id="rId5" Type="http://schemas.openxmlformats.org/officeDocument/2006/relationships/tags" Target="../tags/tag6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2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3.png"/><Relationship Id="rId5" Type="http://schemas.openxmlformats.org/officeDocument/2006/relationships/tags" Target="../tags/tag86.xml"/><Relationship Id="rId10" Type="http://schemas.openxmlformats.org/officeDocument/2006/relationships/image" Target="../media/image2.png"/><Relationship Id="rId4" Type="http://schemas.openxmlformats.org/officeDocument/2006/relationships/tags" Target="../tags/tag85.xml"/><Relationship Id="rId9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0.xml"/><Relationship Id="rId7" Type="http://schemas.openxmlformats.org/officeDocument/2006/relationships/image" Target="../media/image4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9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0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9" Type="http://schemas.openxmlformats.org/officeDocument/2006/relationships/image" Target="../media/image3.png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3.png"/><Relationship Id="rId5" Type="http://schemas.openxmlformats.org/officeDocument/2006/relationships/tags" Target="../tags/tag128.xml"/><Relationship Id="rId10" Type="http://schemas.openxmlformats.org/officeDocument/2006/relationships/image" Target="../media/image2.png"/><Relationship Id="rId4" Type="http://schemas.openxmlformats.org/officeDocument/2006/relationships/tags" Target="../tags/tag127.xml"/><Relationship Id="rId9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image" Target="../media/image3.png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image" Target="../media/image2.png"/><Relationship Id="rId5" Type="http://schemas.openxmlformats.org/officeDocument/2006/relationships/tags" Target="../tags/tag136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135.xml"/><Relationship Id="rId9" Type="http://schemas.openxmlformats.org/officeDocument/2006/relationships/tags" Target="../tags/tag140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image" Target="../media/image3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image" Target="../media/image2.png"/><Relationship Id="rId5" Type="http://schemas.openxmlformats.org/officeDocument/2006/relationships/tags" Target="../tags/tag145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144.xml"/><Relationship Id="rId9" Type="http://schemas.openxmlformats.org/officeDocument/2006/relationships/tags" Target="../tags/tag149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image" Target="../media/image3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image" Target="../media/image2.png"/><Relationship Id="rId5" Type="http://schemas.openxmlformats.org/officeDocument/2006/relationships/tags" Target="../tags/tag154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153.xml"/><Relationship Id="rId9" Type="http://schemas.openxmlformats.org/officeDocument/2006/relationships/tags" Target="../tags/tag15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image" Target="../media/image2.png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image" Target="../media/image3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image" Target="../media/image3.png"/><Relationship Id="rId5" Type="http://schemas.openxmlformats.org/officeDocument/2006/relationships/tags" Target="../tags/tag174.xml"/><Relationship Id="rId10" Type="http://schemas.openxmlformats.org/officeDocument/2006/relationships/image" Target="../media/image2.png"/><Relationship Id="rId4" Type="http://schemas.openxmlformats.org/officeDocument/2006/relationships/tags" Target="../tags/tag173.xml"/><Relationship Id="rId9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609600" y="274638"/>
            <a:ext cx="10972800" cy="58515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BABEB481-E1B6-4D51-9128-DAA0D42B603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2026/7/22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57643CD4-5B07-4C14-B49D-87F06A558FD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2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6299269" y="2095765"/>
            <a:ext cx="4825365" cy="1846659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6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Arial" panose="020B060402020209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3"/>
            </p:custDataLst>
          </p:nvPr>
        </p:nvSpPr>
        <p:spPr>
          <a:xfrm>
            <a:off x="6299269" y="4115857"/>
            <a:ext cx="4826000" cy="370205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200" b="0" i="0" u="none" strike="noStrike" kern="1200" cap="none" spc="2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Arial" panose="020B0604020202090204" pitchFamily="34" charset="0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5153" y="1811319"/>
            <a:ext cx="2439665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5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4521871" y="3613741"/>
            <a:ext cx="6857365" cy="58293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160" b="1" i="0" u="none" strike="noStrike" kern="1200" cap="none" spc="30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7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4521871" y="4261441"/>
            <a:ext cx="6857365" cy="1669926"/>
          </a:xfrm>
        </p:spPr>
        <p:txBody>
          <a:bodyPr vert="horz" wrap="square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8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228" y="1234440"/>
            <a:ext cx="3309682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4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04687" y="2463322"/>
            <a:ext cx="4825403" cy="640394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 5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604053" y="3256115"/>
            <a:ext cx="4826038" cy="1138555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600" b="1" i="0" u="none" strike="noStrike" kern="1200" cap="none" spc="7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0" y="3024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310" y="58355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2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6299269" y="2095765"/>
            <a:ext cx="4825365" cy="1846659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6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Arial" panose="020B060402020209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3"/>
            </p:custDataLst>
          </p:nvPr>
        </p:nvSpPr>
        <p:spPr>
          <a:xfrm>
            <a:off x="6299269" y="4115857"/>
            <a:ext cx="4826000" cy="370205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200" b="0" i="0" u="none" strike="noStrike" kern="1200" cap="none" spc="2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Arial" panose="020B0604020202090204" pitchFamily="34" charset="0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5153" y="1811319"/>
            <a:ext cx="2439665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5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4521871" y="3613741"/>
            <a:ext cx="6857365" cy="58293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160" b="1" i="0" u="none" strike="noStrike" kern="1200" cap="none" spc="30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7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4521871" y="4261441"/>
            <a:ext cx="6857365" cy="1669926"/>
          </a:xfrm>
        </p:spPr>
        <p:txBody>
          <a:bodyPr vert="horz" wrap="square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8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9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228" y="1234440"/>
            <a:ext cx="3309682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幼圆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4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04687" y="2463322"/>
            <a:ext cx="4825403" cy="640394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幼圆" panose="02010509060101010101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 5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604053" y="3256115"/>
            <a:ext cx="4826038" cy="1138555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600" b="1" i="0" u="none" strike="noStrike" kern="1200" cap="none" spc="7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90204" pitchFamily="34" charset="0"/>
                <a:ea typeface="汉仪乐喵体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0" y="3024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310" y="58355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幼圆" panose="0201050906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Relationship Id="rId30" Type="http://schemas.openxmlformats.org/officeDocument/2006/relationships/tags" Target="../tags/tag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29" Type="http://schemas.openxmlformats.org/officeDocument/2006/relationships/tags" Target="../tags/tag9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tags" Target="../tags/tag90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theme" Target="../theme/theme4.xml"/><Relationship Id="rId30" Type="http://schemas.openxmlformats.org/officeDocument/2006/relationships/tags" Target="../tags/tag9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幼圆" panose="02010509060101010101" charset="-122"/>
                <a:cs typeface="幼圆" panose="020105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幼圆" panose="020105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7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7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18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56.xml"/><Relationship Id="rId4" Type="http://schemas.openxmlformats.org/officeDocument/2006/relationships/tags" Target="../tags/tag18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0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2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5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" Type="http://schemas.openxmlformats.org/officeDocument/2006/relationships/themeOverride" Target="../theme/themeOverride9.xml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6550" y="878205"/>
            <a:ext cx="1172972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Welcome to the jungle,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huge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sea 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green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alive with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sounds of animals.</a:t>
            </a: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欢迎来到亚马逊森林，这是一片绿色的海洋。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sea of: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vast expanse or quantity of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大量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zh-CN" alt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，茫茫一片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e.g.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looked down and saw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sea of smiling faces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他往下看，看到一张张笑脸。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(be) alive with: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full of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充满，到处是(</a:t>
            </a:r>
            <a:r>
              <a:rPr lang="zh-CN" alt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活的或动的东西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marL="358775" indent="19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pond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alive with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frogs. 池塘里都是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跳来跳去的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青蛙</a:t>
            </a:r>
            <a:r>
              <a:rPr lang="en-US" altLang="zh-CN" sz="3200" b="1" dirty="0"/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48760" y="21844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 noProof="0" dirty="0">
                <a:ln>
                  <a:noFill/>
                </a:ln>
                <a:solidFill>
                  <a:srgbClr val="A08C60">
                    <a:lumMod val="7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ea"/>
                <a:sym typeface="+mn-ea"/>
              </a:rPr>
              <a:t>Paragraph 1</a:t>
            </a:r>
            <a:endParaRPr lang="en-US" altLang="en-US" sz="4000" b="1" noProof="0" dirty="0">
              <a:ln>
                <a:noFill/>
              </a:ln>
              <a:solidFill>
                <a:srgbClr val="A08C60">
                  <a:lumMod val="75000"/>
                </a:srgb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Times New Roman" panose="02020503050405090304" pitchFamily="18" charset="0"/>
              <a:ea typeface="宋体" pitchFamily="2" charset="-122"/>
              <a:cs typeface="+mn-ea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0605" y="259715"/>
            <a:ext cx="104622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Translate the following sentences.</a:t>
            </a:r>
          </a:p>
          <a:p>
            <a:pPr marL="342900" indent="-342900">
              <a:lnSpc>
                <a:spcPts val="3600"/>
              </a:lnSpc>
              <a:buAutoNum type="arabicPeriod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was </a:t>
            </a:r>
            <a:r>
              <a:rPr lang="en-US" altLang="zh-CN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a sea of faces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every scenic area in China during the Spring Festival.</a:t>
            </a:r>
          </a:p>
          <a:p>
            <a:pPr>
              <a:lnSpc>
                <a:spcPts val="36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春节期间，中国的每个景点都是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人山人海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  <a:p>
            <a:pPr>
              <a:lnSpc>
                <a:spcPts val="36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We must face </a:t>
            </a:r>
            <a:r>
              <a:rPr lang="en-US" altLang="zh-CN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a huge sea of troubles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and bear them.</a:t>
            </a:r>
          </a:p>
          <a:p>
            <a:pPr>
              <a:lnSpc>
                <a:spcPts val="36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我们必须面对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海量的困难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并忍受它们。</a:t>
            </a:r>
            <a:endParaRPr lang="en-US" altLang="zh-CN" sz="32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  <a:p>
            <a:pPr>
              <a:lnSpc>
                <a:spcPts val="36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No wonder people say Austria is always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alive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sound of music.</a:t>
            </a:r>
          </a:p>
          <a:p>
            <a:pPr>
              <a:lnSpc>
                <a:spcPts val="36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难怪人们说奥地利永远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充满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音乐之声。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0605" y="259715"/>
            <a:ext cx="1046226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[Idiomatic phrases]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1. The pictures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bring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the book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alive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														= make sth interesting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2. The game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came alive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 in the second half.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									= become interesting and exciting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The city starts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come alive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 after dark.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									= become busy and full of activity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She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came alive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 as she talked about her job.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706120" y="375285"/>
            <a:ext cx="10745470" cy="3756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lvl="0" indent="0" algn="l" defTabSz="914400" rtl="0" fontAlgn="base">
              <a:lnSpc>
                <a:spcPts val="41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2. As the largest rainforest in the world, it </a:t>
            </a:r>
            <a:r>
              <a:rPr lang="en-US" altLang="zh-CN" sz="3200" b="1" u="sng" kern="1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plays a significant role in</a:t>
            </a: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kern="1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maintaining the fine balance of the Earth’s ecosystem</a:t>
            </a: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. (page 2, lines 2–3)</a:t>
            </a:r>
            <a:endParaRPr lang="zh-CN" altLang="zh-CN" sz="3200" b="1" kern="10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>
              <a:lnSpc>
                <a:spcPts val="4040"/>
              </a:lnSpc>
            </a:pPr>
            <a:r>
              <a:rPr lang="zh-CN" altLang="zh-CN" sz="3200" b="1" kern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作为世界上最大的雨林，它在</a:t>
            </a:r>
            <a:r>
              <a:rPr lang="zh-CN" altLang="zh-CN" sz="3200" b="1" kern="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维系地球生态系统的微妙平衡</a:t>
            </a:r>
            <a:r>
              <a:rPr lang="zh-CN" altLang="zh-CN" sz="3200" b="1" kern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</a:t>
            </a:r>
            <a:r>
              <a:rPr lang="zh-CN" altLang="zh-CN" sz="3200" b="1" kern="0" dirty="0">
                <a:solidFill>
                  <a:srgbClr val="0000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发挥着举足轻重的作用</a:t>
            </a:r>
            <a:r>
              <a:rPr lang="zh-CN" altLang="zh-CN" sz="3200" b="1" kern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 </a:t>
            </a:r>
            <a:endParaRPr lang="zh-CN" altLang="zh-CN" sz="3200" b="1" kern="1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R="0" lvl="0" indent="0" algn="just" defTabSz="914400" rtl="0" fontAlgn="base">
              <a:lnSpc>
                <a:spcPts val="40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The foods you consume every day </a:t>
            </a:r>
            <a:r>
              <a:rPr kumimoji="0" lang="en-US" altLang="zh-CN" sz="3200" b="1" i="0" u="sng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play a significant role in</a:t>
            </a:r>
            <a:r>
              <a:rPr kumimoji="0" lang="en-US" altLang="zh-CN" sz="3200" b="1" i="0" u="none" strike="noStrike" kern="1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 the health of your skin as well as your overall health.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6120" y="4215765"/>
            <a:ext cx="110375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eco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system  </a:t>
            </a:r>
            <a:r>
              <a:rPr lang="en-US" altLang="zh-CN" sz="3200" b="1" i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n.</a:t>
            </a:r>
            <a:r>
              <a:rPr lang="en-US" altLang="zh-CN" sz="3200" b="1" i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生态系统</a:t>
            </a:r>
          </a:p>
          <a:p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ecology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r>
              <a:rPr lang="en-US" altLang="zh-CN" sz="3200" b="1" i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n.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生态；生态学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</a:t>
            </a:r>
          </a:p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eco-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微软雅黑" panose="020B0503020204020204" charset="-122"/>
              </a:rPr>
              <a:t>生态的；环境的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         </a:t>
            </a:r>
            <a:r>
              <a:rPr lang="en-US" altLang="zh-CN" sz="3200" b="1">
                <a:solidFill>
                  <a:sysClr val="windowText" lastClr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 </a:t>
            </a:r>
            <a:r>
              <a:rPr lang="en-US" altLang="zh-CN" sz="2400">
                <a:solidFill>
                  <a:sysClr val="windowText" lastClr="000000"/>
                </a:solidFill>
                <a:latin typeface="Arial" panose="020B0604020202090204" pitchFamily="34" charset="0"/>
                <a:cs typeface="Arial" panose="020B0604020202090204" pitchFamily="34" charset="0"/>
                <a:sym typeface="Arial" panose="020B0604020202090204" pitchFamily="34" charset="0"/>
              </a:rPr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12130" y="5190490"/>
            <a:ext cx="5331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eco-friendly adj.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环保的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144145"/>
            <a:ext cx="7886700" cy="774065"/>
          </a:xfrm>
        </p:spPr>
        <p:txBody>
          <a:bodyPr/>
          <a:lstStyle/>
          <a:p>
            <a:r>
              <a:rPr lang="zh-CN" altLang="en-US"/>
              <a:t>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26110" y="3747135"/>
            <a:ext cx="10608945" cy="26511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countries </a:t>
            </a:r>
            <a:r>
              <a:rPr lang="en-US" altLang="zh-CN" sz="3200" b="1" kern="1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include</a:t>
            </a: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Brazil and Peru, ...</a:t>
            </a: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我们都去了，连我在内。</a:t>
            </a: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all went, </a:t>
            </a:r>
            <a:r>
              <a:rPr lang="en-US" altLang="zh-CN" sz="3200" b="1" kern="1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including</a:t>
            </a: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me.</a:t>
            </a: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all went, me </a:t>
            </a:r>
            <a:r>
              <a:rPr lang="en-US" altLang="zh-CN" sz="3200" b="1" kern="1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included</a:t>
            </a:r>
            <a:r>
              <a:rPr lang="en-US" altLang="zh-CN" sz="3200" b="1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7875" y="-76200"/>
            <a:ext cx="10791190" cy="3687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Paragraph 2</a:t>
            </a:r>
          </a:p>
          <a:p>
            <a:pPr indent="266700" algn="just"/>
            <a:endParaRPr lang="en-US" altLang="zh-CN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auto">
              <a:lnSpc>
                <a:spcPts val="4240"/>
              </a:lnSpc>
            </a:pPr>
            <a:r>
              <a:rPr lang="en-US" altLang="zh-CN" sz="3200" b="1" kern="100" dirty="0">
                <a:solidFill>
                  <a:srgbClr val="11111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</a:t>
            </a:r>
            <a:r>
              <a:rPr lang="en-US" altLang="zh-CN" sz="3200" b="1" kern="10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Amazon rainforest crosses into eight countries, </a:t>
            </a:r>
            <a:r>
              <a:rPr lang="en-US" altLang="zh-CN" sz="3200" b="1" kern="1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including</a:t>
            </a:r>
            <a:r>
              <a:rPr lang="en-US" altLang="zh-CN" sz="3200" b="1" kern="10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Brazil and Peru, and one </a:t>
            </a:r>
            <a:r>
              <a:rPr lang="en-US" altLang="zh-CN" sz="3200" b="1" kern="1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overseas</a:t>
            </a:r>
            <a:r>
              <a:rPr lang="en-US" altLang="zh-CN" sz="3200" b="1" kern="10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kern="1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region</a:t>
            </a:r>
            <a:r>
              <a:rPr lang="en-US" altLang="zh-CN" sz="3200" b="1" kern="10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 France, all on the South American continent. </a:t>
            </a:r>
            <a:r>
              <a:rPr lang="en-US" altLang="zh-CN" sz="3200" kern="10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(page 2, lines 4–5)</a:t>
            </a:r>
            <a:endParaRPr lang="zh-CN" altLang="zh-CN" sz="3200" b="1" kern="100" dirty="0">
              <a:solidFill>
                <a:srgbClr val="11111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algn="l" fontAlgn="auto">
              <a:lnSpc>
                <a:spcPts val="4240"/>
              </a:lnSpc>
            </a:pPr>
            <a:r>
              <a:rPr lang="zh-CN" altLang="zh-CN" sz="3200" b="1" kern="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亚马孙雨林穿过</a:t>
            </a:r>
            <a:r>
              <a:rPr lang="zh-CN" altLang="zh-CN" sz="3200" b="1" kern="0" dirty="0"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包括</a:t>
            </a:r>
            <a:r>
              <a:rPr lang="zh-CN" altLang="zh-CN" sz="3200" b="1" kern="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巴西、秘鲁在内的八个国家，以及一块法国的</a:t>
            </a:r>
            <a:r>
              <a:rPr lang="zh-CN" altLang="zh-CN" sz="3200" b="1" kern="0" dirty="0"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海外领地</a:t>
            </a:r>
            <a:r>
              <a:rPr lang="zh-CN" altLang="zh-CN" sz="3200" b="1" kern="0" dirty="0">
                <a:solidFill>
                  <a:srgbClr val="11111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，都位于南美洲大陆。</a:t>
            </a:r>
            <a:endParaRPr lang="zh-CN" altLang="zh-CN" sz="3200" b="1" kern="100" dirty="0">
              <a:solidFill>
                <a:srgbClr val="11111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63785" y="3887470"/>
            <a:ext cx="7550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73190" y="5201285"/>
            <a:ext cx="1527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prep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11" name="文本框 10"/>
          <p:cNvSpPr txBox="1"/>
          <p:nvPr/>
        </p:nvSpPr>
        <p:spPr>
          <a:xfrm rot="10800000" flipH="1" flipV="1">
            <a:off x="6400026" y="5784753"/>
            <a:ext cx="8808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144145"/>
            <a:ext cx="7886700" cy="774065"/>
          </a:xfrm>
        </p:spPr>
        <p:txBody>
          <a:bodyPr/>
          <a:lstStyle/>
          <a:p>
            <a:r>
              <a:rPr lang="zh-CN" altLang="en-US"/>
              <a:t>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34010" y="203200"/>
            <a:ext cx="452945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overseas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sz="2800" b="1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en-US" altLang="zh-CN" sz="28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adj.   </a:t>
            </a:r>
            <a:r>
              <a:rPr lang="zh-CN" altLang="en-US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海外的，国外的                  </a:t>
            </a:r>
            <a:r>
              <a:rPr lang="en-US" altLang="zh-CN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</a:t>
            </a:r>
          </a:p>
          <a:p>
            <a:r>
              <a:rPr lang="en-US" altLang="zh-CN" sz="28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adv. </a:t>
            </a:r>
            <a:r>
              <a:rPr lang="en-US" altLang="zh-CN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在海外，在国外</a:t>
            </a:r>
            <a:r>
              <a:rPr lang="en-US" altLang="zh-CN" sz="2800" b="1"/>
              <a:t>  </a:t>
            </a: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301490" y="671830"/>
            <a:ext cx="286512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海外留学生</a:t>
            </a:r>
            <a:r>
              <a:rPr lang="en-US" altLang="zh-CN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市场</a:t>
            </a:r>
          </a:p>
          <a:p>
            <a:r>
              <a:rPr lang="zh-CN" altLang="en-US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在国外生活</a:t>
            </a:r>
            <a:r>
              <a:rPr lang="en-US" altLang="zh-CN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2800" b="1">
                <a:latin typeface="宋体" pitchFamily="2" charset="-122"/>
                <a:ea typeface="宋体" pitchFamily="2" charset="-122"/>
                <a:cs typeface="宋体" pitchFamily="2" charset="-122"/>
              </a:rPr>
              <a:t>出国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385050" y="631825"/>
            <a:ext cx="416306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overseas students/markets</a:t>
            </a:r>
          </a:p>
          <a:p>
            <a:r>
              <a:rPr lang="en-US" altLang="zh-CN" sz="28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 overseas/go overseas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0" y="2515870"/>
            <a:ext cx="97040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region </a:t>
            </a:r>
            <a:r>
              <a:rPr lang="en-US" altLang="zh-CN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</a:t>
            </a:r>
            <a:r>
              <a:rPr lang="en-US" altLang="zh-CN" sz="24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n. </a:t>
            </a:r>
            <a:r>
              <a:rPr lang="zh-CN" altLang="en-US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微软雅黑" panose="020B0503020204020204" charset="-122"/>
              </a:rPr>
              <a:t>地区，区域；行政区</a:t>
            </a:r>
            <a:endParaRPr lang="zh-CN" altLang="en-US" sz="2400" b="1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微软雅黑" panose="020B0503020204020204" charset="-122"/>
            </a:endParaRPr>
          </a:p>
          <a:p>
            <a:pPr algn="l"/>
            <a:r>
              <a:rPr lang="zh-CN" altLang="en-US" sz="24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微软雅黑" panose="020B0503020204020204" charset="-122"/>
              </a:rPr>
              <a:t>    </a:t>
            </a:r>
            <a:r>
              <a:rPr lang="en-US" altLang="zh-CN" sz="24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微软雅黑" panose="020B0503020204020204" charset="-122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regional</a:t>
            </a:r>
            <a:r>
              <a:rPr lang="en-US" altLang="zh-CN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  </a:t>
            </a:r>
            <a:r>
              <a:rPr lang="en-US" altLang="zh-CN" sz="24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adj</a:t>
            </a:r>
            <a:r>
              <a:rPr lang="en-US" altLang="zh-CN" sz="24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. </a:t>
            </a:r>
            <a:r>
              <a:rPr lang="zh-CN" altLang="en-US" sz="28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微软雅黑" panose="020B0503020204020204" charset="-122"/>
              </a:rPr>
              <a:t>地区的；区域的；地方的</a:t>
            </a:r>
            <a:r>
              <a:rPr lang="en-US" altLang="zh-CN" sz="2400"/>
              <a:t> 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504825" y="1542415"/>
            <a:ext cx="107035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normal to spend two or three years working in this country before being posted ___________ (</a:t>
            </a:r>
            <a:r>
              <a:rPr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往国外</a:t>
            </a:r>
            <a:r>
              <a:rPr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).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15635" y="2056130"/>
            <a:ext cx="1868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overseas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8610" y="243205"/>
            <a:ext cx="1176782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With an area of around 6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million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square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kilometres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Amazon rainforest is more than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half the size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China.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亚马孙雨林的面积约为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600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万平方千米，比中国国土面积的一半还要大。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million          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num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1 000 000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一百万；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very large amount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许多，大量</a:t>
            </a:r>
            <a:endParaRPr lang="en-US" altLang="zh-CN" sz="28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Arial" panose="020B0604020202090204" pitchFamily="34" charset="0"/>
                <a:cs typeface="Times New Roman" panose="02020503050405090304" pitchFamily="18" charset="0"/>
                <a:sym typeface="+mn-ea"/>
              </a:rPr>
              <a:t>millionaire</a:t>
            </a:r>
            <a:r>
              <a:rPr lang="en-US" altLang="zh-CN" sz="3200" b="1">
                <a:solidFill>
                  <a:sysClr val="windowText" lastClr="000000"/>
                </a:solidFill>
                <a:latin typeface="Times New Roman" panose="02020503050405090304" pitchFamily="18" charset="0"/>
                <a:ea typeface="Arial" panose="020B0604020202090204" pitchFamily="34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503050405090304" pitchFamily="18" charset="0"/>
                <a:ea typeface="Arial" panose="020B0604020202090204" pitchFamily="34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503050405090304" pitchFamily="18" charset="0"/>
                <a:ea typeface="Arial" panose="020B0604020202090204" pitchFamily="34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zh-CN" altLang="en-US" sz="2400" b="1">
                <a:solidFill>
                  <a:sysClr val="windowText" lastClr="000000"/>
                </a:solidFill>
                <a:latin typeface="Times New Roman" panose="02020503050405090304" pitchFamily="18" charset="0"/>
                <a:ea typeface="Arial" panose="020B0604020202090204" pitchFamily="34" charset="0"/>
                <a:cs typeface="Times New Roman" panose="02020503050405090304" pitchFamily="18" charset="0"/>
                <a:sym typeface="+mn-ea"/>
              </a:rPr>
              <a:t>百万富翁；大富豪</a:t>
            </a:r>
          </a:p>
          <a:p>
            <a:pPr marL="35877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Four million (people) _____ affected.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Two million (pounds) ____ withdrawn from the account.</a:t>
            </a: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49935" y="3878580"/>
            <a:ext cx="626237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①六百万   </a:t>
            </a:r>
          </a:p>
          <a:p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②数百万的</a:t>
            </a:r>
          </a:p>
          <a:p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③万里挑一的人</a:t>
            </a: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物；不同寻常的人</a:t>
            </a: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物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228840" y="3770630"/>
            <a:ext cx="394335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6  million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millions of.../a million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one in a million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5066665" y="5560060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158105" y="6195060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336" y="257020"/>
            <a:ext cx="10911016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____________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people worldwide were affected.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亿）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Our immune systems are killing _____________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germs right now.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我们的免疫系统正在杀死数以十亿计的细菌。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This war has brought misery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millions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这场战争给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无数人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(pron.)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带来了不幸。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(4) I still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million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things to do.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我还有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很多很多的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事情要做。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were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millions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people there.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那里人山人海。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94790" y="257175"/>
            <a:ext cx="24472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Two billion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2800" y="782955"/>
            <a:ext cx="238315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billions of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259013" y="89535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6065" y="332740"/>
            <a:ext cx="11671935" cy="3897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4240"/>
              </a:lnSpc>
            </a:pPr>
            <a:r>
              <a:rPr lang="en-US" altLang="zh-CN" sz="3200" b="1">
                <a:solidFill>
                  <a:schemeClr val="tx1"/>
                </a:solidFill>
              </a:rPr>
              <a:t>5. 亚马逊雨林面积约600万平方公里，是中国面积的一半以上。</a:t>
            </a:r>
          </a:p>
          <a:p>
            <a:pPr indent="0" fontAlgn="auto">
              <a:lnSpc>
                <a:spcPts val="4240"/>
              </a:lnSpc>
            </a:pPr>
            <a:r>
              <a:rPr lang="en-US" altLang="zh-CN" sz="3200" b="1" u="sng">
                <a:solidFill>
                  <a:schemeClr val="tx1"/>
                </a:solidFill>
              </a:rPr>
              <a:t>With an area of</a:t>
            </a:r>
            <a:r>
              <a:rPr lang="en-US" altLang="zh-CN" sz="3200" b="1">
                <a:solidFill>
                  <a:schemeClr val="tx1"/>
                </a:solidFill>
              </a:rPr>
              <a:t> around 6 million square kilometres, the Amazon rainforest is </a:t>
            </a:r>
            <a:r>
              <a:rPr lang="en-US" altLang="zh-CN" sz="3200" b="1" u="sng">
                <a:solidFill>
                  <a:srgbClr val="FF0000"/>
                </a:solidFill>
              </a:rPr>
              <a:t>more than half the size of</a:t>
            </a:r>
            <a:r>
              <a:rPr lang="en-US" altLang="zh-CN" sz="3200" b="1">
                <a:solidFill>
                  <a:schemeClr val="tx1"/>
                </a:solidFill>
              </a:rPr>
              <a:t> China. </a:t>
            </a:r>
          </a:p>
          <a:p>
            <a:pPr indent="0" fontAlgn="auto">
              <a:lnSpc>
                <a:spcPts val="4240"/>
              </a:lnSpc>
            </a:pPr>
            <a:r>
              <a:rPr lang="en-US" altLang="zh-CN" sz="3200" b="1">
                <a:solidFill>
                  <a:srgbClr val="FF0000"/>
                </a:solidFill>
              </a:rPr>
              <a:t>= </a:t>
            </a:r>
            <a:r>
              <a:rPr lang="en-US" altLang="zh-CN" sz="3200" b="1" u="sng">
                <a:solidFill>
                  <a:srgbClr val="FF0000"/>
                </a:solidFill>
              </a:rPr>
              <a:t>Covering</a:t>
            </a:r>
            <a:r>
              <a:rPr lang="en-US" altLang="zh-CN" sz="3200" b="1">
                <a:solidFill>
                  <a:srgbClr val="FF0000"/>
                </a:solidFill>
              </a:rPr>
              <a:t> an area of ... kilometers, the rainforest ...</a:t>
            </a:r>
          </a:p>
          <a:p>
            <a:pPr indent="0" fontAlgn="auto">
              <a:lnSpc>
                <a:spcPts val="4240"/>
              </a:lnSpc>
            </a:pPr>
            <a:endParaRPr lang="en-US" altLang="zh-CN" sz="3200" b="1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ts val="4240"/>
              </a:lnSpc>
            </a:pP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Our school has expanded into a big one, which is _______</a:t>
            </a:r>
          </a:p>
          <a:p>
            <a:pPr indent="0" fontAlgn="auto">
              <a:lnSpc>
                <a:spcPts val="42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（三倍大）the previous one.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4705" y="4230370"/>
            <a:ext cx="4196715" cy="1568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three times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as big as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three times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size of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three times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bigger than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3264" y="788910"/>
            <a:ext cx="10907308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倍数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+as+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副词原级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as</a:t>
            </a:r>
          </a:p>
          <a:p>
            <a:pPr marL="1260475" indent="-7175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Now China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several times as many welfare projects as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(it had) in the past.</a:t>
            </a:r>
          </a:p>
          <a:p>
            <a:pPr marL="1260475" indent="-1260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倍数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副词比较级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+than</a:t>
            </a:r>
          </a:p>
          <a:p>
            <a:pPr marL="1260475" indent="-7175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The number of people who joined the campaign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three times larger than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in another.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6545" y="1075055"/>
            <a:ext cx="1164336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倍数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the + size/ weight/ height/ depth/ width/ length/…+ of…</a:t>
            </a: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This organization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three times the size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one.</a:t>
            </a:r>
          </a:p>
          <a:p>
            <a:pPr indent="11620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skyscraper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twice the height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one.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倍数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what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60475" indent="-7175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People’s average income is almost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five times what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earned ten years ago.</a:t>
            </a:r>
          </a:p>
          <a:p>
            <a:pPr marL="1260475" indent="-126047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60475" indent="-12604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两倍用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twice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三倍或三倍以上用“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基数词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+times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”表达。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1341" y="1383957"/>
            <a:ext cx="11022227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new stadium being built will be three times _________ (big) than the present one.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This river is almost twice the _________ (long) of that one.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it’s said that the power plant is now twice the size _________ what it was.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Output now is six times _________  it was 10 years ago.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02347" y="1915297"/>
            <a:ext cx="130195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bigger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8443" y="3089189"/>
            <a:ext cx="127791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length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314" y="4312508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7310" y="4944219"/>
            <a:ext cx="105028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71120" y="279400"/>
            <a:ext cx="810577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length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n. 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长度；时间的长短；篇幅，片长</a:t>
            </a:r>
          </a:p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long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adj.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长的，长距离的</a:t>
            </a:r>
          </a:p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lengthy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漫长的，冗长的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445" y="2083435"/>
            <a:ext cx="1105725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1. </a:t>
            </a:r>
            <a:r>
              <a:rPr lang="zh-CN" altLang="en-US" sz="3200" b="1">
                <a:latin typeface="宋体" pitchFamily="2" charset="-122"/>
                <a:ea typeface="宋体" pitchFamily="2" charset="-122"/>
                <a:cs typeface="宋体" pitchFamily="2" charset="-122"/>
              </a:rPr>
              <a:t>这张桌子两米长。</a:t>
            </a:r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(measure)</a:t>
            </a:r>
            <a:endParaRPr lang="en-US" altLang="zh-CN" sz="3200" b="1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/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table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measures </a:t>
            </a:r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two meters long.</a:t>
            </a:r>
          </a:p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two meters in length/width/height/depth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two meters long / wide / high / deep</a:t>
            </a:r>
            <a:endParaRPr lang="en-US" altLang="zh-CN" sz="3200" b="1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/>
            <a:endParaRPr lang="en-US" altLang="zh-CN" sz="3200" b="1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/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2. </a:t>
            </a:r>
            <a:r>
              <a:rPr lang="zh-CN" altLang="en-US" sz="3200" b="1">
                <a:latin typeface="宋体" pitchFamily="2" charset="-122"/>
                <a:ea typeface="宋体" pitchFamily="2" charset="-122"/>
                <a:cs typeface="宋体" pitchFamily="2" charset="-122"/>
              </a:rPr>
              <a:t>终于，最后；详细地，充分地</a:t>
            </a:r>
          </a:p>
          <a:p>
            <a:pPr algn="l">
              <a:buClrTx/>
              <a:buSzTx/>
              <a:buFontTx/>
            </a:pPr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have already discussed this matter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great length</a:t>
            </a:r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algn="l">
              <a:buClrTx/>
              <a:buSzTx/>
              <a:buFontTx/>
            </a:pPr>
            <a:r>
              <a:rPr lang="en-US" altLang="zh-CN" sz="3200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3.</a:t>
            </a:r>
            <a:r>
              <a:rPr lang="en-US" altLang="zh-CN" sz="3200" b="1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 </a:t>
            </a:r>
            <a:r>
              <a:rPr lang="zh-CN" altLang="en-US" sz="3200" b="1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竭尽全力做某事</a:t>
            </a:r>
            <a:r>
              <a:rPr lang="en-US" altLang="zh-CN" sz="3200" b="1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go to extreme/great lengths</a:t>
            </a:r>
            <a:r>
              <a:rPr lang="en-US" altLang="zh-CN" sz="3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 do sth</a:t>
            </a:r>
            <a:endParaRPr lang="en-US" altLang="zh-CN" sz="3200" b="1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523230" y="771525"/>
            <a:ext cx="704215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shoulder-length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齐肩的</a:t>
            </a:r>
          </a:p>
          <a:p>
            <a:pPr algn="l"/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full-length  		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全身的，足本的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9384" y="508388"/>
            <a:ext cx="11112130" cy="180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100" b="1" dirty="0"/>
              <a:t>6. The Amazon River, </a:t>
            </a:r>
            <a:r>
              <a:rPr lang="en-US" altLang="zh-CN" sz="3100" b="1" dirty="0">
                <a:solidFill>
                  <a:srgbClr val="FF0000"/>
                </a:solidFill>
              </a:rPr>
              <a:t>from which</a:t>
            </a:r>
            <a:r>
              <a:rPr lang="en-US" altLang="zh-CN" sz="3100" b="1" dirty="0"/>
              <a:t> the rainforest gets its name,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100" b="1" dirty="0"/>
              <a:t>    </a:t>
            </a:r>
            <a:r>
              <a:rPr lang="en-US" altLang="zh-CN" sz="3100" b="1" dirty="0">
                <a:solidFill>
                  <a:srgbClr val="FF0000"/>
                </a:solidFill>
              </a:rPr>
              <a:t>is close to</a:t>
            </a:r>
            <a:r>
              <a:rPr lang="en-US" altLang="zh-CN" sz="3100" b="1" dirty="0"/>
              <a:t> 6,400 kilometers </a:t>
            </a:r>
            <a:r>
              <a:rPr lang="en-US" altLang="zh-CN" sz="3100" b="1" dirty="0">
                <a:solidFill>
                  <a:srgbClr val="FF0000"/>
                </a:solidFill>
              </a:rPr>
              <a:t>in length</a:t>
            </a:r>
            <a:r>
              <a:rPr lang="en-US" altLang="zh-CN" sz="3100" b="1" dirty="0"/>
              <a:t> — roughly 100 </a:t>
            </a:r>
            <a:r>
              <a:rPr lang="en-US" altLang="zh-CN" sz="3100" b="1" dirty="0" err="1"/>
              <a:t>kilometres</a:t>
            </a:r>
            <a:r>
              <a:rPr lang="en-US" altLang="zh-CN" sz="3100" b="1" dirty="0"/>
              <a:t> longer than the Yangtze River.</a:t>
            </a:r>
            <a:endParaRPr lang="en-US" altLang="zh-CN" sz="3100" b="1" dirty="0">
              <a:solidFill>
                <a:srgbClr val="333333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7866" y="2315713"/>
            <a:ext cx="10794040" cy="180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100" b="1" dirty="0">
                <a:solidFill>
                  <a:schemeClr val="tx1"/>
                </a:solidFill>
              </a:rPr>
              <a:t>from which the rainforest gets its </a:t>
            </a:r>
            <a:r>
              <a:rPr lang="en-US" altLang="zh-CN" sz="3100" b="1" dirty="0" err="1">
                <a:solidFill>
                  <a:schemeClr val="tx1"/>
                </a:solidFill>
              </a:rPr>
              <a:t>name是</a:t>
            </a:r>
            <a:r>
              <a:rPr lang="zh-CN" altLang="en-US" sz="3100" b="1" dirty="0">
                <a:solidFill>
                  <a:schemeClr val="tx1"/>
                </a:solidFill>
              </a:rPr>
              <a:t>“介词</a:t>
            </a:r>
            <a:r>
              <a:rPr lang="en-US" altLang="zh-CN" sz="3100" b="1" dirty="0">
                <a:solidFill>
                  <a:schemeClr val="tx1"/>
                </a:solidFill>
              </a:rPr>
              <a:t>+</a:t>
            </a:r>
            <a:r>
              <a:rPr lang="zh-CN" altLang="en-US" sz="3100" b="1" dirty="0">
                <a:solidFill>
                  <a:schemeClr val="tx1"/>
                </a:solidFill>
              </a:rPr>
              <a:t>关系代词”引导的</a:t>
            </a:r>
            <a:r>
              <a:rPr lang="en-US" altLang="zh-CN" sz="3100" b="1" dirty="0" err="1">
                <a:solidFill>
                  <a:schemeClr val="tx1"/>
                </a:solidFill>
              </a:rPr>
              <a:t>非限制性定语从句</a:t>
            </a:r>
            <a:r>
              <a:rPr lang="zh-CN" altLang="en-US" sz="3100" b="1" dirty="0">
                <a:solidFill>
                  <a:schemeClr val="tx1"/>
                </a:solidFill>
              </a:rPr>
              <a:t>，</a:t>
            </a:r>
            <a:r>
              <a:rPr lang="en-US" altLang="zh-CN" sz="3100" b="1" dirty="0" err="1">
                <a:solidFill>
                  <a:schemeClr val="tx1"/>
                </a:solidFill>
              </a:rPr>
              <a:t>为先行</a:t>
            </a:r>
            <a:r>
              <a:rPr lang="zh-CN" altLang="en-US" sz="3100" b="1" dirty="0">
                <a:solidFill>
                  <a:schemeClr val="tx1"/>
                </a:solidFill>
              </a:rPr>
              <a:t>词</a:t>
            </a:r>
            <a:r>
              <a:rPr lang="en-US" altLang="zh-CN" sz="3100" b="1" dirty="0">
                <a:solidFill>
                  <a:schemeClr val="tx1"/>
                </a:solidFill>
              </a:rPr>
              <a:t> The Amazon </a:t>
            </a:r>
            <a:r>
              <a:rPr lang="en-US" altLang="zh-CN" sz="3100" b="1" dirty="0" err="1">
                <a:solidFill>
                  <a:schemeClr val="tx1"/>
                </a:solidFill>
              </a:rPr>
              <a:t>river</a:t>
            </a:r>
            <a:r>
              <a:rPr lang="en-US" altLang="zh-CN" sz="3100" b="1" dirty="0" err="1">
                <a:solidFill>
                  <a:srgbClr val="FF0000"/>
                </a:solidFill>
              </a:rPr>
              <a:t>提供补充信息</a:t>
            </a:r>
            <a:r>
              <a:rPr lang="zh-CN" altLang="en-US" sz="3100" b="1" dirty="0">
                <a:solidFill>
                  <a:schemeClr val="tx1"/>
                </a:solidFill>
              </a:rPr>
              <a:t>，</a:t>
            </a:r>
            <a:r>
              <a:rPr lang="en-US" altLang="zh-CN" sz="3100" b="1" dirty="0" err="1">
                <a:solidFill>
                  <a:schemeClr val="tx1"/>
                </a:solidFill>
              </a:rPr>
              <a:t>先行项和非限制性定语从句之间</a:t>
            </a:r>
            <a:r>
              <a:rPr lang="en-US" altLang="zh-CN" sz="3100" b="1" dirty="0" err="1">
                <a:solidFill>
                  <a:srgbClr val="FF0000"/>
                </a:solidFill>
              </a:rPr>
              <a:t>用逗号隔开</a:t>
            </a:r>
            <a:r>
              <a:rPr lang="en-US" altLang="zh-CN" sz="3100" b="1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3484" y="445803"/>
            <a:ext cx="1134687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文章中还出现了几处定语从句：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3484" y="939138"/>
            <a:ext cx="11312434" cy="442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This tall and ancient brazil nut tree produces nuts that we can eat; … (Para. 3)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These frogs, in turn, feed on insects which eat leaves and fruit. (Para. 4)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Moreover, the Amazon rainforest is a treasure house of species that can be used for food or medicine. (Para. 5)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9794966" y="1442399"/>
            <a:ext cx="1332412" cy="492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连接符 8"/>
          <p:cNvCxnSpPr/>
          <p:nvPr/>
        </p:nvCxnSpPr>
        <p:spPr bwMode="auto">
          <a:xfrm>
            <a:off x="1119051" y="1985465"/>
            <a:ext cx="1332412" cy="492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文本框 9"/>
          <p:cNvSpPr txBox="1"/>
          <p:nvPr/>
        </p:nvSpPr>
        <p:spPr>
          <a:xfrm>
            <a:off x="965698" y="2022843"/>
            <a:ext cx="10799751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引导的定语从句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修饰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nuts,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关系代词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的宾语。</a:t>
            </a:r>
          </a:p>
        </p:txBody>
      </p:sp>
      <p:cxnSp>
        <p:nvCxnSpPr>
          <p:cNvPr id="11" name="直接连接符 10"/>
          <p:cNvCxnSpPr/>
          <p:nvPr/>
        </p:nvCxnSpPr>
        <p:spPr bwMode="auto">
          <a:xfrm flipV="1">
            <a:off x="7371974" y="3052467"/>
            <a:ext cx="4393475" cy="28782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965698" y="3663323"/>
            <a:ext cx="10222670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定语从句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修饰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insects,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关系代词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在从句中作主语。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 flipV="1">
            <a:off x="2338252" y="5169567"/>
            <a:ext cx="6501839" cy="2089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文本框 14"/>
          <p:cNvSpPr txBox="1"/>
          <p:nvPr/>
        </p:nvSpPr>
        <p:spPr>
          <a:xfrm>
            <a:off x="848133" y="5352636"/>
            <a:ext cx="11027786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630" indent="-876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定语从句，修饰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treasure house of species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，关系代词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在从句中作主语。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259013" y="89535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155" y="149225"/>
            <a:ext cx="1151636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雨林得名于亚马逊河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rainforest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gets its name from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Amazon River.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长度接近6400公里</a:t>
            </a:r>
          </a:p>
          <a:p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(is) close to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6,400 kilometres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length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be almost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is reported that the two boys _____________________ (kill) in the explosion. 据报道，这两个男孩在爆炸中差点丧命。</a:t>
            </a:r>
          </a:p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他的电影长达两个多小时，是对家庭生活的一次很好的研究。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His film, over two hours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__________, is a fin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 study of family life.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赋予这片区域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地球上最丰富的生物多样性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give this area the richest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biodiversity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on the Earth</a:t>
            </a:r>
          </a:p>
          <a:p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世界上十分之一的已知物种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one in ten known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species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 the world  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[ˈspiːʃiːz]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79795" y="2105660"/>
            <a:ext cx="3589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were close to being killed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02225" y="3550285"/>
            <a:ext cx="17075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length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05856" y="272"/>
            <a:ext cx="11611972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biodiversity  </a:t>
            </a:r>
            <a:r>
              <a:rPr lang="en-US" altLang="zh-CN" sz="3200" b="1" i="1" dirty="0">
                <a:solidFill>
                  <a:srgbClr val="FF0000"/>
                </a:solidFill>
              </a:rPr>
              <a:t>n. </a:t>
            </a:r>
            <a:r>
              <a:rPr lang="en-US" altLang="zh-CN" sz="3200" b="1" i="1" dirty="0">
                <a:solidFill>
                  <a:schemeClr val="tx1"/>
                </a:solidFill>
              </a:rPr>
              <a:t>the variety of plants and animals in a particular place</a:t>
            </a:r>
            <a:r>
              <a:rPr lang="en-US" altLang="zh-CN" sz="3200" b="1" i="1" dirty="0">
                <a:solidFill>
                  <a:srgbClr val="9933FF"/>
                </a:solidFill>
              </a:rPr>
              <a:t>  </a:t>
            </a:r>
            <a:r>
              <a:rPr lang="en-US" altLang="zh-CN" sz="3200" b="1" dirty="0" err="1">
                <a:solidFill>
                  <a:srgbClr val="FF0000"/>
                </a:solidFill>
              </a:rPr>
              <a:t>生物多样性</a:t>
            </a:r>
            <a:r>
              <a:rPr lang="en-US" altLang="zh-CN" sz="3200" b="1" dirty="0"/>
              <a:t>  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bio- :  </a:t>
            </a:r>
            <a:r>
              <a:rPr lang="zh-CN" altLang="en-US" sz="3200" b="1" dirty="0">
                <a:solidFill>
                  <a:srgbClr val="FF0000"/>
                </a:solidFill>
              </a:rPr>
              <a:t>生物的；与生物相关的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lvl="2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biology				  </a:t>
            </a:r>
            <a:r>
              <a:rPr lang="zh-CN" altLang="en-US" sz="3200" b="1" dirty="0">
                <a:sym typeface="+mn-ea"/>
              </a:rPr>
              <a:t>生物学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lvl="2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biophysics           </a:t>
            </a:r>
            <a:r>
              <a:rPr lang="zh-CN" altLang="en-US" sz="3200" b="1" dirty="0">
                <a:solidFill>
                  <a:schemeClr val="tx1"/>
                </a:solidFill>
              </a:rPr>
              <a:t>生物物理学</a:t>
            </a:r>
          </a:p>
          <a:p>
            <a:pPr marL="457200" lvl="1" indent="4572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bioengineering </a:t>
            </a:r>
            <a:r>
              <a:rPr lang="en-US" altLang="zh-CN" sz="3200" b="1" dirty="0"/>
              <a:t>   </a:t>
            </a:r>
            <a:r>
              <a:rPr lang="zh-CN" altLang="en-US" sz="3200" b="1" dirty="0"/>
              <a:t>生物工程</a:t>
            </a:r>
          </a:p>
          <a:p>
            <a:pPr marL="0" lvl="1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</a:rPr>
              <a:t>diversity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</a:rPr>
              <a:t>多样性</a:t>
            </a:r>
          </a:p>
          <a:p>
            <a:pPr marL="0" lvl="1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</a:rPr>
              <a:t>There is a need for </a:t>
            </a:r>
            <a:r>
              <a:rPr lang="en-US" altLang="zh-CN" sz="3200" b="1" u="sng" dirty="0">
                <a:solidFill>
                  <a:srgbClr val="FF0000"/>
                </a:solidFill>
              </a:rPr>
              <a:t>greater diversity</a:t>
            </a:r>
            <a:r>
              <a:rPr lang="en-US" altLang="zh-CN" sz="3200" b="1" dirty="0">
                <a:solidFill>
                  <a:schemeClr val="tx1"/>
                </a:solidFill>
              </a:rPr>
              <a:t> and choice in education.</a:t>
            </a:r>
          </a:p>
          <a:p>
            <a:pPr marL="0" lvl="1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</a:rPr>
              <a:t>教育方面需要</a:t>
            </a:r>
            <a:r>
              <a:rPr lang="en-US" altLang="zh-CN" sz="3200" b="1" dirty="0">
                <a:solidFill>
                  <a:srgbClr val="0000FF"/>
                </a:solidFill>
              </a:rPr>
              <a:t>更加多元化</a:t>
            </a:r>
            <a:r>
              <a:rPr lang="en-US" altLang="zh-CN" sz="3200" b="1" dirty="0">
                <a:solidFill>
                  <a:schemeClr val="tx1"/>
                </a:solidFill>
              </a:rPr>
              <a:t>和更大的选择性。</a:t>
            </a:r>
          </a:p>
          <a:p>
            <a:pPr marL="0" lvl="1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</a:rPr>
              <a:t>promote/embrace/appreciate/value cultural diversity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促进</a:t>
            </a:r>
            <a:r>
              <a:rPr lang="en-US" altLang="zh-CN" sz="3200" b="1" dirty="0">
                <a:solidFill>
                  <a:schemeClr val="tx1"/>
                </a:solidFill>
              </a:rPr>
              <a:t>/欣然接纳/</a:t>
            </a:r>
            <a:r>
              <a:rPr lang="zh-CN" altLang="en-US" sz="3200" b="1" dirty="0">
                <a:solidFill>
                  <a:schemeClr val="tx1"/>
                </a:solidFill>
              </a:rPr>
              <a:t>重视</a:t>
            </a:r>
            <a:r>
              <a:rPr lang="en-US" altLang="zh-CN" sz="3200" b="1" dirty="0">
                <a:solidFill>
                  <a:schemeClr val="tx1"/>
                </a:solidFill>
              </a:rPr>
              <a:t>文化多样性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109335" y="34290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diverse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多样的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2688" y="269241"/>
            <a:ext cx="1139897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/>
              <a:t>8. The forest’s different levels support an </a:t>
            </a:r>
            <a:r>
              <a:rPr lang="en-US" altLang="zh-CN" sz="3200" b="1" u="sng" dirty="0">
                <a:solidFill>
                  <a:srgbClr val="0000FF"/>
                </a:solidFill>
              </a:rPr>
              <a:t>unbelievable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variety</a:t>
            </a:r>
            <a:r>
              <a:rPr lang="en-US" altLang="zh-CN" sz="3200" b="1" dirty="0"/>
              <a:t> of wildlife.   </a:t>
            </a:r>
            <a:r>
              <a:rPr lang="zh-CN" altLang="en-US" sz="3200" b="1" dirty="0"/>
              <a:t>雨林的不同层次养活的野生动物种类多到</a:t>
            </a:r>
            <a:r>
              <a:rPr lang="zh-CN" altLang="en-US" sz="3200" b="1" dirty="0">
                <a:solidFill>
                  <a:srgbClr val="0000FF"/>
                </a:solidFill>
              </a:rPr>
              <a:t>难以置信</a:t>
            </a:r>
            <a:r>
              <a:rPr lang="zh-CN" altLang="en-US" sz="3200" b="1" dirty="0"/>
              <a:t>。</a:t>
            </a:r>
            <a:endParaRPr lang="en-US" altLang="zh-CN" sz="3200" b="1" dirty="0"/>
          </a:p>
        </p:txBody>
      </p:sp>
      <p:sp>
        <p:nvSpPr>
          <p:cNvPr id="2" name="矩形 1"/>
          <p:cNvSpPr/>
          <p:nvPr/>
        </p:nvSpPr>
        <p:spPr>
          <a:xfrm>
            <a:off x="271780" y="1622425"/>
            <a:ext cx="11523980" cy="4620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89430" lvl="0" indent="-1789430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variety  </a:t>
            </a:r>
            <a:r>
              <a:rPr lang="en-US" altLang="zh-CN" sz="3200" b="1" i="1" kern="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sing</a:t>
            </a:r>
            <a:r>
              <a:rPr lang="en-US" altLang="zh-CN" sz="3200" b="1" i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i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several different sorts of the same thing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</a:p>
          <a:p>
            <a:pPr marL="1789430" lvl="0" indent="-1789430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同一事物的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) </a:t>
            </a:r>
            <a:r>
              <a:rPr lang="en-US" altLang="zh-CN" sz="3200" b="1" kern="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不同种类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, </a:t>
            </a:r>
            <a:r>
              <a:rPr lang="en-US" altLang="zh-CN" sz="3200" b="1" kern="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多种式样</a:t>
            </a:r>
            <a:endParaRPr lang="en-US" altLang="zh-CN" sz="3200" b="1" kern="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1789430" lvl="0" indent="-1789430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    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Arial" panose="020B0604020202090204" pitchFamily="34" charset="0"/>
              </a:rPr>
              <a:t>a variety of/varieties of </a:t>
            </a:r>
            <a:r>
              <a:rPr lang="en-US" altLang="zh-CN" sz="3200" b="1" i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</a:t>
            </a:r>
            <a:r>
              <a:rPr lang="en-US" altLang="zh-CN" sz="3200" b="1" kern="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各种各样的</a:t>
            </a:r>
            <a:endParaRPr lang="en-US" altLang="zh-CN" sz="3200" b="1" kern="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719455" lvl="0" indent="-71945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(1) This tool can be used in</a:t>
            </a:r>
            <a:r>
              <a:rPr lang="en-US" altLang="zh-CN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 variety of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ways.</a:t>
            </a:r>
          </a:p>
          <a:p>
            <a:pPr marL="719455" lvl="0" indent="-71945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(2) People prefer to shop online,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这里有各种各样的商品可供选择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（定语从句）</a:t>
            </a:r>
            <a:endParaRPr lang="en-US" altLang="zh-CN" sz="3200" b="1" kern="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174625" lvl="0" indent="-1746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后接可数名词复数和不可数名词。</a:t>
            </a:r>
          </a:p>
          <a:p>
            <a:pPr marL="174625" lvl="0" indent="-1746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variety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可用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 wide/great/large/rich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修饰</a:t>
            </a:r>
            <a:endParaRPr lang="zh-CN" altLang="en-US" sz="3200" b="1" kern="0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19780" y="4486910"/>
            <a:ext cx="88265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where there are a variety of goods to choose from.</a:t>
            </a:r>
            <a:endParaRPr lang="zh-CN" altLang="en-US" sz="3200" b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09575" y="3983355"/>
            <a:ext cx="11073765" cy="2922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add/bring/give variety to sth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为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......</a:t>
            </a:r>
            <a:r>
              <a:rPr lang="zh-CN" altLang="en-US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增添趣味</a:t>
            </a:r>
            <a:endParaRPr lang="en-US" altLang="zh-CN" sz="3200" b="1" kern="0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(1) 偶尔的旅行可以为我们的日常生活增添</a:t>
            </a:r>
            <a:r>
              <a:rPr lang="zh-CN" altLang="en-US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趣味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。</a:t>
            </a: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Occasional trips can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add variety to our daily life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(2) I don’t like to do the work which _____ ______.</a:t>
            </a: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</a:t>
            </a:r>
            <a:r>
              <a:rPr lang="zh-CN" altLang="en-US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我不喜欢做缺少变化的工作。</a:t>
            </a:r>
          </a:p>
        </p:txBody>
      </p:sp>
      <p:sp>
        <p:nvSpPr>
          <p:cNvPr id="4" name="矩形 3"/>
          <p:cNvSpPr/>
          <p:nvPr/>
        </p:nvSpPr>
        <p:spPr>
          <a:xfrm>
            <a:off x="409575" y="-71120"/>
            <a:ext cx="11343640" cy="4054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631825" lvl="0" indent="-631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kern="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[C] </a:t>
            </a:r>
            <a:r>
              <a:rPr lang="en-US" altLang="zh-CN" sz="3200" b="1" i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 type of a thing, for example a plant or language, that is different from the others in the same general group</a:t>
            </a:r>
          </a:p>
          <a:p>
            <a:pPr marL="631825" lvl="0" indent="-631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  (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植物、语言等的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)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变种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;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变体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;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异体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;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品种</a:t>
            </a:r>
          </a:p>
          <a:p>
            <a:pPr marL="631825" lvl="0" indent="-631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Apples come in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 great many varieties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</a:t>
            </a:r>
            <a:r>
              <a:rPr lang="zh-CN" altLang="en-US" sz="3200" b="1" kern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苹果的品种繁多。</a:t>
            </a:r>
            <a:endParaRPr lang="en-US" altLang="zh-CN" sz="3200" b="1" kern="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kern="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[U]</a:t>
            </a:r>
            <a:r>
              <a:rPr lang="en-US" altLang="zh-CN" sz="3200" b="1" i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i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the quality of not being the same thing all the time  </a:t>
            </a: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变化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;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多样性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;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多变性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= diversity</a:t>
            </a:r>
          </a:p>
          <a:p>
            <a:pPr marL="2155825" lvl="0" indent="-215582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We all need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variety</a:t>
            </a:r>
            <a:r>
              <a:rPr lang="en-US" altLang="zh-CN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in our diet. </a:t>
            </a:r>
            <a:r>
              <a:rPr lang="zh-CN" altLang="en-US" sz="3200" b="1" kern="0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我们都需要饮食多样化。</a:t>
            </a:r>
            <a:endParaRPr lang="en-US" altLang="zh-CN" sz="3200" b="1" kern="0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664325" y="5772150"/>
            <a:ext cx="23837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lacks variety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9203" y="235"/>
            <a:ext cx="1832553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链接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39500" y="626945"/>
            <a:ext cx="10559144" cy="575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 </a:t>
            </a:r>
            <a:r>
              <a:rPr lang="en-US" altLang="zh-CN" sz="3200" b="1" i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v.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使某事物有变化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,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改变某事物；相异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,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不同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,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有别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in ...                  </a:t>
            </a:r>
            <a:r>
              <a:rPr lang="zh-CN" altLang="en-US" sz="3200" b="1" kern="0" dirty="0">
                <a:latin typeface="+mn-ea"/>
                <a:cs typeface="Times New Roman" panose="02020503050405090304" pitchFamily="18" charset="0"/>
                <a:sym typeface="Arial" panose="020B0604020202090204" pitchFamily="34" charset="0"/>
              </a:rPr>
              <a:t>在</a:t>
            </a:r>
            <a:r>
              <a:rPr lang="en-US" altLang="zh-CN" sz="3200" b="1" kern="0" dirty="0">
                <a:latin typeface="+mn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kern="0" dirty="0">
                <a:latin typeface="+mn-ea"/>
                <a:cs typeface="Times New Roman" panose="02020503050405090304" pitchFamily="18" charset="0"/>
                <a:sym typeface="Arial" panose="020B0604020202090204" pitchFamily="34" charset="0"/>
              </a:rPr>
              <a:t>方面不同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with                 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随着</a:t>
            </a:r>
            <a:r>
              <a:rPr lang="en-US" altLang="zh-CN" sz="3200" b="1" kern="0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kern="0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而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变化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from … to …/vary between ... and ...  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 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由</a:t>
            </a:r>
            <a:r>
              <a:rPr lang="en-US" altLang="zh-CN" sz="3200" b="1" kern="0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到</a:t>
            </a:r>
            <a:r>
              <a:rPr lang="en-US" altLang="zh-CN" sz="3200" b="1" kern="0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kern="0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情况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不等</a:t>
            </a:r>
            <a:endParaRPr lang="en-US" altLang="zh-CN" sz="3200" b="1" kern="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(1) The quality of the students' work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varies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kern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considerably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(2) The students' work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varies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considerably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in quality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(3) The </a:t>
            </a:r>
            <a:r>
              <a:rPr lang="en-US" altLang="zh-CN" sz="3200" b="1" kern="0" dirty="0" err="1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colours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of tree leaves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with the season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(4) Our mood seems to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according to the weather.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(5) Old people don’t like to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their habits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13715" y="4303395"/>
            <a:ext cx="11438255" cy="2411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indent="-53657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variable   </a:t>
            </a:r>
            <a:r>
              <a:rPr lang="en-US" sz="3200" b="1" i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adj.</a:t>
            </a:r>
            <a:r>
              <a:rPr lang="en-US" sz="3200" b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可变的</a:t>
            </a:r>
            <a:r>
              <a:rPr lang="zh-CN" altLang="en-US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Arial" panose="020B0604020202090204" pitchFamily="3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Arial" panose="020B0604020202090204" pitchFamily="3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变量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y=ax+b, x and y are variables</a:t>
            </a:r>
          </a:p>
          <a:p>
            <a:pPr marL="536575" indent="-53657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various    </a:t>
            </a:r>
            <a:r>
              <a:rPr lang="en-US" sz="3200" b="1" i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adj</a:t>
            </a:r>
            <a:r>
              <a:rPr lang="en-US" sz="3200" b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. 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各种各样的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不同的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 (diverse, several different)</a:t>
            </a:r>
            <a:endParaRPr lang="zh-CN" altLang="en-US" sz="3200" b="1" dirty="0">
              <a:solidFill>
                <a:schemeClr val="tx1"/>
              </a:solidFill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536575" indent="-53657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varied      </a:t>
            </a:r>
            <a:r>
              <a:rPr lang="en-US" sz="3200" b="1" i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adj</a:t>
            </a:r>
            <a:r>
              <a:rPr lang="en-US" sz="3200" b="1" dirty="0">
                <a:solidFill>
                  <a:srgbClr val="0000FF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.  </a:t>
            </a:r>
            <a:r>
              <a:rPr lang="zh-CN" altLang="en-US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多变的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 (has many different elements)</a:t>
            </a:r>
          </a:p>
          <a:p>
            <a:pPr marL="536575" indent="-53657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  <a:sym typeface="Arial" panose="020B0604020202090204" pitchFamily="34" charset="0"/>
              </a:rPr>
              <a:t>a rich and varied (diverse) cultural life</a:t>
            </a:r>
          </a:p>
        </p:txBody>
      </p:sp>
      <p:sp>
        <p:nvSpPr>
          <p:cNvPr id="3" name="矩形 2"/>
          <p:cNvSpPr/>
          <p:nvPr/>
        </p:nvSpPr>
        <p:spPr>
          <a:xfrm>
            <a:off x="513715" y="382905"/>
            <a:ext cx="10956290" cy="4054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(1) Opinions _____ _____ person ____ person on the impact of the new regulation.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关于新规定的影响，看法因人而异。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(2) The temperature in this mountainous area _____________.</a:t>
            </a: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这个山区的温度每天发生变化。</a:t>
            </a:r>
            <a:endParaRPr lang="en-US" altLang="zh-CN" sz="3200" b="1" kern="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(3) In this school, the class numbers </a:t>
            </a:r>
            <a:r>
              <a:rPr lang="zh-CN" altLang="en-US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班级人数从</a:t>
            </a:r>
            <a:r>
              <a:rPr lang="en-US" altLang="zh-CN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25</a:t>
            </a:r>
            <a:r>
              <a:rPr lang="zh-CN" altLang="en-US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到</a:t>
            </a:r>
            <a:r>
              <a:rPr lang="en-US" altLang="zh-CN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30</a:t>
            </a:r>
            <a:r>
              <a:rPr lang="zh-CN" altLang="en-US" sz="3200" b="1" u="sng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不等</a:t>
            </a:r>
            <a:r>
              <a:rPr lang="zh-CN" altLang="en-US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。</a:t>
            </a:r>
            <a:endParaRPr lang="en-US" altLang="zh-CN" sz="3200" b="1" kern="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536575" lvl="0" indent="-536575" defTabSz="9144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vary between 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25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and</a:t>
            </a:r>
            <a:r>
              <a:rPr lang="en-US" altLang="zh-CN" sz="3200" b="1" kern="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30.</a:t>
            </a: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79090" y="453390"/>
            <a:ext cx="43021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vary  from                   to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573770" y="2098040"/>
            <a:ext cx="290639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varies from day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to day 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36172" y="1008411"/>
            <a:ext cx="10678885" cy="4509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根据汉语意思补全下面句子（每空一词）。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1) 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这些花的颜色和大小都不相同，但它们都很漂亮。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 marL="446405" indent="-44640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     The flowers ________ ________ ________ ________ ________ but all of them are beautiful.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2) 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这家宾馆每个房间的费用由</a:t>
            </a:r>
            <a:r>
              <a:rPr lang="en-US" altLang="zh-CN" sz="3200" b="1" dirty="0">
                <a:solidFill>
                  <a:srgbClr val="000000"/>
                </a:solidFill>
              </a:rPr>
              <a:t>20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美元到</a:t>
            </a:r>
            <a:r>
              <a:rPr lang="en-US" altLang="zh-CN" sz="3200" b="1" dirty="0">
                <a:solidFill>
                  <a:srgbClr val="000000"/>
                </a:solidFill>
              </a:rPr>
              <a:t>30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美元不等。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 marL="358775" indent="-35877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    The charge for a room in this hotel ________ ________ $20 ________ $30.</a:t>
            </a:r>
          </a:p>
        </p:txBody>
      </p:sp>
      <p:sp>
        <p:nvSpPr>
          <p:cNvPr id="6" name="矩形 5"/>
          <p:cNvSpPr/>
          <p:nvPr/>
        </p:nvSpPr>
        <p:spPr>
          <a:xfrm>
            <a:off x="4000289" y="2327252"/>
            <a:ext cx="63776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vary           in          </a:t>
            </a:r>
            <a:r>
              <a:rPr lang="en-US" altLang="zh-CN" sz="3200" b="1" dirty="0" err="1">
                <a:solidFill>
                  <a:srgbClr val="FF0000"/>
                </a:solidFill>
              </a:rPr>
              <a:t>colour</a:t>
            </a:r>
            <a:r>
              <a:rPr lang="en-US" altLang="zh-CN" sz="3200" b="1" dirty="0">
                <a:solidFill>
                  <a:srgbClr val="FF0000"/>
                </a:solidFill>
              </a:rPr>
              <a:t>        and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03574" y="2992643"/>
            <a:ext cx="926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size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04416" y="4241754"/>
            <a:ext cx="3389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varies       between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07879" y="4896034"/>
            <a:ext cx="8451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and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84039" y="4896033"/>
            <a:ext cx="28895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/varies from; to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7944" y="1014455"/>
            <a:ext cx="10580913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3) 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一般来说，水果和蔬菜的价格随季节变化而变化。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 marL="446405" lvl="0">
              <a:lnSpc>
                <a:spcPct val="120000"/>
              </a:lnSpc>
              <a:tabLst>
                <a:tab pos="86995" algn="l"/>
              </a:tabLst>
            </a:pPr>
            <a:r>
              <a:rPr lang="en-US" altLang="zh-CN" sz="3200" b="1" dirty="0">
                <a:solidFill>
                  <a:srgbClr val="000000"/>
                </a:solidFill>
              </a:rPr>
              <a:t>Generally speaking, prices of fruit and vegetables ________ ________ ________ ________.</a:t>
            </a:r>
          </a:p>
          <a:p>
            <a:pPr marL="446405" lvl="0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4) 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试着不要每句话都以“</a:t>
            </a:r>
            <a:r>
              <a:rPr lang="en-US" altLang="zh-CN" sz="3200" b="1" dirty="0">
                <a:solidFill>
                  <a:srgbClr val="000000"/>
                </a:solidFill>
              </a:rPr>
              <a:t>The</a:t>
            </a:r>
            <a:r>
              <a:rPr lang="en-US" altLang="zh-CN" sz="3200" b="1" dirty="0">
                <a:solidFill>
                  <a:srgbClr val="000000"/>
                </a:solidFill>
                <a:ea typeface="宋体" pitchFamily="2" charset="-122"/>
              </a:rPr>
              <a:t>”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开头。让你的句子的开头有所不同。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 marL="446405" lvl="0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    Try not to start every sentence with “The”. ________ ________ ___________ ________ your sentences.</a:t>
            </a:r>
          </a:p>
        </p:txBody>
      </p:sp>
      <p:sp>
        <p:nvSpPr>
          <p:cNvPr id="3" name="矩形 2"/>
          <p:cNvSpPr/>
          <p:nvPr/>
        </p:nvSpPr>
        <p:spPr>
          <a:xfrm>
            <a:off x="1688849" y="4546322"/>
            <a:ext cx="5985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the          beginnings         of</a:t>
            </a:r>
            <a:endParaRPr lang="en-US" altLang="zh-CN" sz="3200" b="1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77963" y="2201056"/>
            <a:ext cx="65229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vary           with          the        season</a:t>
            </a:r>
          </a:p>
        </p:txBody>
      </p:sp>
      <p:sp>
        <p:nvSpPr>
          <p:cNvPr id="5" name="矩形 4"/>
          <p:cNvSpPr/>
          <p:nvPr/>
        </p:nvSpPr>
        <p:spPr>
          <a:xfrm>
            <a:off x="9183545" y="3996945"/>
            <a:ext cx="1164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Vary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259013" y="89535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9285" y="272415"/>
            <a:ext cx="11139170" cy="5111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地下</a:t>
            </a: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的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一个根系系统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system of roots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beneath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ground</a:t>
            </a:r>
          </a:p>
          <a:p>
            <a:pPr marL="352425" lvl="0" indent="-352425">
              <a:lnSpc>
                <a:spcPct val="120000"/>
              </a:lnSpc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considers such jobs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beneath him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352425" lvl="0" indent="-352425">
              <a:lnSpc>
                <a:spcPct val="120000"/>
              </a:lnSpc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他觉得这些工作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有失他的身份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</a:p>
          <a:p>
            <a:pPr marL="352425" lvl="0" indent="-35242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在它的上面是黑暗森林地面上的大量落叶。</a:t>
            </a:r>
          </a:p>
          <a:p>
            <a:pPr marL="352425" lvl="0" indent="-3524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Above that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mass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of leaf litter on the dark forest floor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352425" lvl="0" indent="-3524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介词短语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above that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放句首，句子用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完全倒装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。</a:t>
            </a:r>
          </a:p>
          <a:p>
            <a:pPr marL="352425" lvl="0" indent="-35242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这样可以保持句子平衡或使上下文衔接紧密。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801610" y="710565"/>
            <a:ext cx="33610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在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......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下面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33013" y="856573"/>
            <a:ext cx="2998742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0" b="1" dirty="0">
                <a:solidFill>
                  <a:schemeClr val="bg1"/>
                </a:solidFill>
              </a:rPr>
              <a:t>Language points</a:t>
            </a:r>
            <a:endParaRPr lang="zh-CN" altLang="en-US" sz="31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2725" y="270510"/>
            <a:ext cx="1176655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(1) </a:t>
            </a: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他的朋友吉姆就在这些人当中。</a:t>
            </a:r>
          </a:p>
          <a:p>
            <a:pPr marL="352425"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Among these people </a:t>
            </a:r>
            <a:r>
              <a:rPr lang="en-US" altLang="zh-CN" sz="3200" b="1" u="sng" dirty="0">
                <a:solidFill>
                  <a:srgbClr val="FF0000"/>
                </a:solidFill>
              </a:rPr>
              <a:t>was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</a:rPr>
              <a:t>his friend Jim.</a:t>
            </a:r>
            <a:endParaRPr lang="zh-CN" altLang="en-US" sz="3200" b="1" dirty="0">
              <a:solidFill>
                <a:prstClr val="black"/>
              </a:solidFill>
            </a:endParaRPr>
          </a:p>
          <a:p>
            <a:pPr marL="352425"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(2) </a:t>
            </a: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窗户边坐着一个年轻人，手里拿着一本杂志。</a:t>
            </a:r>
            <a:endParaRPr lang="zh-CN" altLang="en-US" sz="3200" b="1" dirty="0">
              <a:solidFill>
                <a:prstClr val="black"/>
              </a:solidFill>
            </a:endParaRPr>
          </a:p>
          <a:p>
            <a:pPr marL="352425"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By the window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</a:rPr>
              <a:t>sat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</a:rPr>
              <a:t>a young man with a magazine in his hand. </a:t>
            </a:r>
          </a:p>
          <a:p>
            <a:pPr marL="352425" lvl="0"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在把他带上法庭之前，你必须收集大量证据。</a:t>
            </a:r>
          </a:p>
          <a:p>
            <a:pPr marL="352425" lvl="0"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(3) On top of the hill _______ (stand) an old temple dating back to Ming Dynasty.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352425" lvl="0">
              <a:lnSpc>
                <a:spcPct val="120000"/>
              </a:lnSpc>
            </a:pPr>
            <a:endParaRPr lang="zh-CN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文本框 4"/>
          <p:cNvSpPr txBox="1"/>
          <p:nvPr>
            <p:custDataLst>
              <p:tags r:id="rId2"/>
            </p:custDataLst>
          </p:nvPr>
        </p:nvSpPr>
        <p:spPr>
          <a:xfrm>
            <a:off x="4307205" y="3216275"/>
            <a:ext cx="12896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stands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17245" y="438785"/>
            <a:ext cx="108991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7005" indent="-14370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mass  </a:t>
            </a:r>
          </a:p>
          <a:p>
            <a:pPr marL="1437005" indent="-143700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 </a:t>
            </a:r>
            <a:r>
              <a:rPr lang="en-US" altLang="zh-CN" sz="3200" b="1" i="1" dirty="0">
                <a:sym typeface="+mn-ea"/>
              </a:rPr>
              <a:t>a large amount of a substance that does not have a definite shape or form 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团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块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堆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1437005" indent="-143700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</a:t>
            </a:r>
            <a:r>
              <a:rPr lang="en-US" altLang="zh-CN" sz="3200" b="1" i="1" dirty="0">
                <a:sym typeface="+mn-ea"/>
              </a:rPr>
              <a:t>a large amount or quantity of </a:t>
            </a:r>
            <a:r>
              <a:rPr lang="en-US" altLang="zh-CN" sz="3200" b="1" i="1" dirty="0" err="1">
                <a:sym typeface="+mn-ea"/>
              </a:rPr>
              <a:t>sth</a:t>
            </a:r>
            <a:r>
              <a:rPr lang="en-US" altLang="zh-CN" sz="3200" b="1" i="1" dirty="0">
                <a:sym typeface="+mn-ea"/>
              </a:rPr>
              <a:t>.  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大量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许多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1437005" indent="-14370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    </a:t>
            </a:r>
            <a:r>
              <a:rPr lang="en-US" sz="3200" b="1" i="1" dirty="0">
                <a:sym typeface="+mn-ea"/>
              </a:rPr>
              <a:t>a large number of people or things grouped together, often in </a:t>
            </a:r>
          </a:p>
          <a:p>
            <a:pPr marL="1437005" indent="-1437005" fontAlgn="auto">
              <a:lnSpc>
                <a:spcPct val="120000"/>
              </a:lnSpc>
            </a:pPr>
            <a:r>
              <a:rPr lang="en-US" sz="3200" b="1" i="1" dirty="0">
                <a:sym typeface="+mn-ea"/>
              </a:rPr>
              <a:t>       a confused way </a:t>
            </a:r>
            <a:r>
              <a:rPr lang="en-US" sz="3200" b="1" i="1" dirty="0">
                <a:solidFill>
                  <a:srgbClr val="9933FF"/>
                </a:solidFill>
                <a:sym typeface="+mn-ea"/>
              </a:rPr>
              <a:t>        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常指混乱的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一群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一堆</a:t>
            </a:r>
            <a:endParaRPr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1094" y="4148583"/>
            <a:ext cx="9615509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lvl="0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 a(the) mass of / masses of    </a:t>
            </a: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大量，许多</a:t>
            </a:r>
            <a:endParaRPr lang="en-US" altLang="zh-CN" sz="3200" b="1" dirty="0">
              <a:solidFill>
                <a:prstClr val="black"/>
              </a:solidFill>
              <a:sym typeface="+mn-ea"/>
            </a:endParaRPr>
          </a:p>
          <a:p>
            <a:pPr marL="446405" lvl="0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 the masses                      </a:t>
            </a: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群众</a:t>
            </a: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 the ordinary people</a:t>
            </a:r>
            <a:endParaRPr lang="zh-CN" altLang="en-US" sz="3200" b="1" dirty="0">
              <a:solidFill>
                <a:prstClr val="black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0448" y="605482"/>
            <a:ext cx="10898659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 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mass of/ masses of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后可接可数名词复数或不可数名词，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mass of/ masses of+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名词”作主语时，谓语动词的数要与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后的名词的数保持一致。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7836" y="3061539"/>
            <a:ext cx="10663881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Masses __________ people love to skate in Japan, Norway or Canada.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There __________ (be) masses of people in the shops yesterday.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7978" y="3637466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30025" y="4832747"/>
            <a:ext cx="102201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2165" y="409575"/>
            <a:ext cx="1116139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(1)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a </a:t>
            </a:r>
            <a:r>
              <a:rPr lang="en-US" altLang="zh-CN" sz="3200" b="1" dirty="0">
                <a:solidFill>
                  <a:srgbClr val="FF0000"/>
                </a:solidFill>
              </a:rPr>
              <a:t>mass of</a:t>
            </a:r>
            <a:r>
              <a:rPr lang="en-US" altLang="zh-CN" sz="3200" b="1" dirty="0">
                <a:solidFill>
                  <a:prstClr val="black"/>
                </a:solidFill>
              </a:rPr>
              <a:t> snow and rocks falling down the mountain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</a:rPr>
              <a:t>       从山上滚下来的一堆积雪和石块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</a:rPr>
              <a:t>A mass of </a:t>
            </a:r>
            <a:r>
              <a:rPr lang="en-US" altLang="zh-CN" sz="3200" b="1" dirty="0">
                <a:solidFill>
                  <a:prstClr val="black"/>
                </a:solidFill>
              </a:rPr>
              <a:t>books/</a:t>
            </a:r>
            <a:r>
              <a:rPr lang="en-US" altLang="zh-CN" sz="3200" b="1" dirty="0">
                <a:solidFill>
                  <a:srgbClr val="FF0000"/>
                </a:solidFill>
              </a:rPr>
              <a:t>Masses of </a:t>
            </a:r>
            <a:r>
              <a:rPr lang="en-US" altLang="zh-CN" sz="3200" b="1" dirty="0">
                <a:solidFill>
                  <a:prstClr val="black"/>
                </a:solidFill>
              </a:rPr>
              <a:t>books were sent to Project Hope.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      </a:t>
            </a:r>
            <a:r>
              <a:rPr lang="zh-CN" altLang="en-US" sz="3200" b="1" dirty="0">
                <a:solidFill>
                  <a:prstClr val="black"/>
                </a:solidFill>
              </a:rPr>
              <a:t>大量的书籍被送往了希望工程。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(3) I struggled through </a:t>
            </a:r>
            <a:r>
              <a:rPr lang="en-US" altLang="zh-CN" sz="3200" b="1" u="sng" dirty="0">
                <a:solidFill>
                  <a:prstClr val="black"/>
                </a:solidFill>
              </a:rPr>
              <a:t>the</a:t>
            </a:r>
            <a:r>
              <a:rPr lang="en-US" altLang="zh-CN" sz="3200" b="1" u="sng" dirty="0">
                <a:solidFill>
                  <a:srgbClr val="FF0000"/>
                </a:solidFill>
              </a:rPr>
              <a:t> mass </a:t>
            </a:r>
            <a:r>
              <a:rPr lang="en-US" altLang="zh-CN" sz="3200" b="1" u="sng" dirty="0">
                <a:solidFill>
                  <a:prstClr val="black"/>
                </a:solidFill>
              </a:rPr>
              <a:t>of people</a:t>
            </a:r>
            <a:r>
              <a:rPr lang="en-US" altLang="zh-CN" sz="3200" b="1" dirty="0">
                <a:solidFill>
                  <a:prstClr val="black"/>
                </a:solidFill>
              </a:rPr>
              <a:t> to the exit.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      </a:t>
            </a:r>
            <a:r>
              <a:rPr lang="zh-CN" altLang="en-US" sz="3200" b="1" dirty="0">
                <a:solidFill>
                  <a:prstClr val="black"/>
                </a:solidFill>
              </a:rPr>
              <a:t>我在人群里挤来挤去，挤到了出口处。</a:t>
            </a:r>
          </a:p>
          <a:p>
            <a:pPr lvl="0">
              <a:lnSpc>
                <a:spcPct val="120000"/>
              </a:lnSpc>
            </a:pPr>
            <a:endParaRPr lang="en-US" altLang="zh-CN" sz="3200" b="1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3984" y="4005210"/>
            <a:ext cx="11138131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affecting or involving a large number of people or things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大批的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广泛的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unemployment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大批失业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1505" indent="-18815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production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批量生产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0204" y="423117"/>
            <a:ext cx="11222809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ym typeface="+mn-ea"/>
              </a:rPr>
              <a:t>10</a:t>
            </a:r>
            <a:r>
              <a:rPr sz="3200" b="1" dirty="0">
                <a:sym typeface="+mn-ea"/>
              </a:rPr>
              <a:t>.</a:t>
            </a:r>
            <a:r>
              <a:rPr lang="en-US" sz="3200" b="1" dirty="0">
                <a:sym typeface="+mn-ea"/>
              </a:rPr>
              <a:t> </a:t>
            </a:r>
            <a:r>
              <a:rPr sz="3200" b="1" dirty="0">
                <a:sym typeface="+mn-ea"/>
              </a:rPr>
              <a:t>Each level of the forest forms its own </a:t>
            </a:r>
            <a:r>
              <a:rPr lang="en-US" sz="3200" b="1" dirty="0">
                <a:sym typeface="+mn-ea"/>
              </a:rPr>
              <a:t>little </a:t>
            </a:r>
            <a:r>
              <a:rPr sz="3200" b="1" dirty="0">
                <a:sym typeface="+mn-ea"/>
              </a:rPr>
              <a:t>world, home to </a:t>
            </a:r>
            <a:r>
              <a:rPr lang="en-US" sz="3200" b="1" dirty="0">
                <a:sym typeface="+mn-ea"/>
              </a:rPr>
              <a:t>different </a:t>
            </a:r>
            <a:r>
              <a:rPr sz="3200" b="1" dirty="0">
                <a:sym typeface="+mn-ea"/>
              </a:rPr>
              <a:t>kinds of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living</a:t>
            </a:r>
            <a:r>
              <a:rPr sz="3200" b="1" dirty="0">
                <a:sym typeface="+mn-ea"/>
              </a:rPr>
              <a:t> things.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雨</a:t>
            </a:r>
            <a:r>
              <a:rPr sz="3200" b="1" dirty="0">
                <a:sym typeface="+mn-ea"/>
              </a:rPr>
              <a:t>林</a:t>
            </a:r>
            <a:r>
              <a:rPr lang="zh-CN" altLang="en-US" sz="3200" b="1" dirty="0">
                <a:sym typeface="+mn-ea"/>
              </a:rPr>
              <a:t>的每一层</a:t>
            </a:r>
            <a:r>
              <a:rPr sz="3200" b="1" dirty="0">
                <a:sym typeface="+mn-ea"/>
              </a:rPr>
              <a:t>都</a:t>
            </a:r>
            <a:r>
              <a:rPr lang="zh-CN" altLang="en-US" sz="3200" b="1" dirty="0">
                <a:sym typeface="+mn-ea"/>
              </a:rPr>
              <a:t>自成一个小</a:t>
            </a:r>
            <a:r>
              <a:rPr sz="3200" b="1" dirty="0" err="1">
                <a:sym typeface="+mn-ea"/>
              </a:rPr>
              <a:t>世界</a:t>
            </a:r>
            <a:r>
              <a:rPr sz="3200" b="1" dirty="0">
                <a:sym typeface="+mn-ea"/>
              </a:rPr>
              <a:t>，</a:t>
            </a:r>
            <a:r>
              <a:rPr lang="zh-CN" altLang="en-US" sz="3200" b="1" dirty="0">
                <a:sym typeface="+mn-ea"/>
              </a:rPr>
              <a:t>成为</a:t>
            </a:r>
            <a:r>
              <a:rPr sz="3200" b="1" dirty="0" err="1">
                <a:sym typeface="+mn-ea"/>
              </a:rPr>
              <a:t>各种生物的家园</a:t>
            </a:r>
            <a:r>
              <a:rPr sz="3200" b="1" dirty="0">
                <a:sym typeface="+mn-ea"/>
              </a:rPr>
              <a:t>。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   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living</a:t>
            </a:r>
            <a:r>
              <a:rPr sz="3200" b="1" dirty="0">
                <a:sym typeface="+mn-ea"/>
              </a:rPr>
              <a:t> </a:t>
            </a:r>
            <a:r>
              <a:rPr lang="en-US" sz="3200" b="1" dirty="0">
                <a:sym typeface="+mn-ea"/>
              </a:rPr>
              <a:t>  </a:t>
            </a:r>
            <a:r>
              <a:rPr lang="en-US" sz="3200" b="1" i="1" dirty="0">
                <a:solidFill>
                  <a:srgbClr val="FF0000"/>
                </a:solidFill>
                <a:sym typeface="+mn-ea"/>
              </a:rPr>
              <a:t>a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dj</a:t>
            </a:r>
            <a:r>
              <a:rPr lang="en-US" sz="3200" b="1" i="1" dirty="0">
                <a:sym typeface="+mn-ea"/>
              </a:rPr>
              <a:t>.</a:t>
            </a:r>
            <a:r>
              <a:rPr lang="en-US" altLang="zh-CN" sz="3200" b="1" i="1" dirty="0">
                <a:sym typeface="+mn-ea"/>
              </a:rPr>
              <a:t>  alive now </a:t>
            </a:r>
            <a:r>
              <a:rPr sz="3200" b="1" dirty="0" err="1">
                <a:solidFill>
                  <a:srgbClr val="FF0000"/>
                </a:solidFill>
                <a:sym typeface="+mn-ea"/>
              </a:rPr>
              <a:t>活着的；活的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e.g. </a:t>
            </a:r>
            <a:r>
              <a:rPr sz="3200" b="1" dirty="0">
                <a:sym typeface="+mn-ea"/>
              </a:rPr>
              <a:t>the finest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living</a:t>
            </a:r>
            <a:r>
              <a:rPr sz="3200" b="1" dirty="0">
                <a:sym typeface="+mn-ea"/>
              </a:rPr>
              <a:t> pianist </a:t>
            </a:r>
            <a:endParaRPr lang="en-US" sz="3200" b="1" dirty="0"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      </a:t>
            </a:r>
            <a:r>
              <a:rPr lang="zh-CN" sz="3200" b="1" dirty="0">
                <a:sym typeface="+mn-ea"/>
              </a:rPr>
              <a:t>当</a:t>
            </a:r>
            <a:r>
              <a:rPr sz="3200" b="1" dirty="0" err="1">
                <a:sym typeface="+mn-ea"/>
              </a:rPr>
              <a:t>世的最杰出的钢琴家</a:t>
            </a:r>
            <a:endParaRPr sz="3200" b="1" dirty="0"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ym typeface="+mn-ea"/>
              </a:rPr>
              <a:t>                        </a:t>
            </a:r>
            <a:r>
              <a:rPr lang="en-US" sz="3200" b="1" i="1" dirty="0">
                <a:sym typeface="+mn-ea"/>
              </a:rPr>
              <a:t>used or </a:t>
            </a:r>
            <a:r>
              <a:rPr lang="en-US" sz="3200" b="1" i="1" dirty="0" err="1">
                <a:sym typeface="+mn-ea"/>
              </a:rPr>
              <a:t>practised</a:t>
            </a:r>
            <a:r>
              <a:rPr lang="en-US" sz="3200" b="1" i="1" dirty="0">
                <a:sym typeface="+mn-ea"/>
              </a:rPr>
              <a:t> now    </a:t>
            </a:r>
            <a:r>
              <a:rPr sz="3200" b="1" dirty="0" err="1">
                <a:solidFill>
                  <a:srgbClr val="FF0000"/>
                </a:solidFill>
                <a:sym typeface="+mn-ea"/>
              </a:rPr>
              <a:t>在使用的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e.g.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living</a:t>
            </a:r>
            <a:r>
              <a:rPr lang="en-US" sz="3200" b="1" dirty="0">
                <a:sym typeface="+mn-ea"/>
              </a:rPr>
              <a:t> languages   </a:t>
            </a:r>
            <a:r>
              <a:rPr sz="3200" b="1" dirty="0" err="1">
                <a:sym typeface="+mn-ea"/>
              </a:rPr>
              <a:t>现用语言</a:t>
            </a:r>
            <a:endParaRPr lang="en-US" sz="3200" b="1"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77593" y="843793"/>
            <a:ext cx="9701986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9080" indent="-1529080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</a:rPr>
              <a:t>n. </a:t>
            </a:r>
            <a:r>
              <a:rPr lang="en-US" altLang="zh-CN" sz="3200" b="1" i="1" dirty="0"/>
              <a:t>money to buy the things that you need in life</a:t>
            </a:r>
          </a:p>
          <a:p>
            <a:pPr marL="1529080" indent="-1529080">
              <a:lnSpc>
                <a:spcPct val="110000"/>
              </a:lnSpc>
            </a:pPr>
            <a:r>
              <a:rPr lang="en-US" altLang="zh-CN" sz="3200" b="1" i="1" dirty="0">
                <a:solidFill>
                  <a:srgbClr val="9933FF"/>
                </a:solidFill>
              </a:rPr>
              <a:t>     </a:t>
            </a:r>
            <a:r>
              <a:rPr lang="zh-CN" altLang="en-US" sz="3200" b="1" dirty="0">
                <a:solidFill>
                  <a:srgbClr val="FF0000"/>
                </a:solidFill>
              </a:rPr>
              <a:t>生计</a:t>
            </a:r>
            <a:r>
              <a:rPr lang="en-US" altLang="zh-CN" sz="3200" b="1" dirty="0">
                <a:solidFill>
                  <a:srgbClr val="FF0000"/>
                </a:solidFill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</a:rPr>
              <a:t>谋生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1529080" indent="-1529080">
              <a:lnSpc>
                <a:spcPct val="110000"/>
              </a:lnSpc>
            </a:pPr>
            <a:r>
              <a:rPr lang="en-US" altLang="zh-CN" sz="3200" b="1" dirty="0"/>
              <a:t>e.g. What do you do for a </a:t>
            </a:r>
            <a:r>
              <a:rPr lang="en-US" altLang="zh-CN" sz="3200" b="1" dirty="0">
                <a:solidFill>
                  <a:srgbClr val="FF0000"/>
                </a:solidFill>
              </a:rPr>
              <a:t>living</a:t>
            </a:r>
            <a:r>
              <a:rPr lang="en-US" altLang="zh-CN" sz="3200" b="1" dirty="0"/>
              <a:t>?</a:t>
            </a:r>
          </a:p>
          <a:p>
            <a:pPr marL="1529080" indent="-1529080">
              <a:lnSpc>
                <a:spcPct val="110000"/>
              </a:lnSpc>
            </a:pPr>
            <a:r>
              <a:rPr lang="en-US" altLang="zh-CN" sz="3200" b="1" dirty="0"/>
              <a:t>        </a:t>
            </a:r>
            <a:r>
              <a:rPr lang="zh-CN" altLang="en-US" sz="3200" b="1" dirty="0"/>
              <a:t>你靠什么谋生？</a:t>
            </a:r>
            <a:endParaRPr lang="en-US" altLang="zh-CN" sz="3200" b="1" dirty="0"/>
          </a:p>
          <a:p>
            <a:pPr marL="1529080" indent="-152908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</a:t>
            </a:r>
            <a:r>
              <a:rPr lang="en-US" altLang="zh-CN" sz="3200" b="1" i="1" dirty="0"/>
              <a:t>a way or style of life  </a:t>
            </a:r>
            <a:r>
              <a:rPr lang="en-US" altLang="zh-CN" sz="3200" b="1" i="1" dirty="0">
                <a:solidFill>
                  <a:srgbClr val="9933FF"/>
                </a:solidFill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</a:rPr>
              <a:t>生活方式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1529080" indent="-1529080">
              <a:lnSpc>
                <a:spcPct val="110000"/>
              </a:lnSpc>
            </a:pPr>
            <a:r>
              <a:rPr lang="en-US" altLang="zh-CN" sz="3200" b="1" dirty="0"/>
              <a:t>e.g. everyday </a:t>
            </a:r>
            <a:r>
              <a:rPr lang="en-US" altLang="zh-CN" sz="3200" b="1" dirty="0">
                <a:solidFill>
                  <a:srgbClr val="FF0000"/>
                </a:solidFill>
              </a:rPr>
              <a:t>living</a:t>
            </a:r>
            <a:r>
              <a:rPr lang="en-US" altLang="zh-CN" sz="3200" b="1" dirty="0"/>
              <a:t>   </a:t>
            </a:r>
            <a:r>
              <a:rPr lang="zh-CN" altLang="en-US" sz="3200" b="1" dirty="0"/>
              <a:t>日常生活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88518" y="669875"/>
            <a:ext cx="7560840" cy="72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4500" indent="-444500">
              <a:spcBef>
                <a:spcPct val="20000"/>
              </a:spcBef>
              <a:buChar char="•"/>
              <a:tabLst>
                <a:tab pos="448945" algn="l"/>
                <a:tab pos="4927600" algn="l"/>
              </a:tabLst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>
              <a:spcBef>
                <a:spcPct val="20000"/>
              </a:spcBef>
              <a:buChar char="–"/>
              <a:tabLst>
                <a:tab pos="448945" algn="l"/>
                <a:tab pos="4927600" algn="l"/>
              </a:tabLst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>
              <a:spcBef>
                <a:spcPct val="20000"/>
              </a:spcBef>
              <a:buChar char="•"/>
              <a:tabLst>
                <a:tab pos="448945" algn="l"/>
                <a:tab pos="4927600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>
              <a:spcBef>
                <a:spcPct val="20000"/>
              </a:spcBef>
              <a:buChar char="–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>
              <a:spcBef>
                <a:spcPct val="20000"/>
              </a:spcBef>
              <a:buChar char="»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8945" algn="l"/>
                <a:tab pos="4927600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             living, lively, alive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与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live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00" y="692330"/>
            <a:ext cx="2472822" cy="67616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81594" y="1390947"/>
            <a:ext cx="11125199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living 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活着的，活的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可作表语或前置定语。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e.g. The sun affects all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things.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alive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活着的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有活力的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常作表语、后置定语或补语</a:t>
            </a:r>
          </a:p>
          <a:p>
            <a:pPr marL="535305" indent="-908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His grandparents are still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（表语）</a:t>
            </a:r>
          </a:p>
          <a:p>
            <a:pPr marL="535305" indent="6273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Who is the greatest poet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（后置定语）</a:t>
            </a:r>
          </a:p>
          <a:p>
            <a:pPr marL="1260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the end, two brave soldiers caught the enemy general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（宾补）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6463" y="739977"/>
            <a:ext cx="11619237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作定语或表语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= full of life and energy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= full of activity and excitement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is a bright,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lively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cheerful girl.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fell into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discussion of the question.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liveliness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精力充沛；热闹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317490" y="1343660"/>
            <a:ext cx="14039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活泼的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543675" y="1873885"/>
            <a:ext cx="384619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热闹的，充满兴奋的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6463" y="1021282"/>
            <a:ext cx="11619237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居住；以……方式生活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(live+n.)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活的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dead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一般只作定语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&amp; adv.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现场直播，现场表演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couple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living a peaceful life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countryside.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lived a single woman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is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tiger. Don’t get too close to it.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club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music most nights.</a:t>
            </a: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the match is broadcast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CCTV 5, we needn’t go to the stadium.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2701" y="512695"/>
            <a:ext cx="10607042" cy="601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选用括号内合适的单词填空。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/>
              <a:t>1) The sport is still very much ________ (alive / lively) in this country. 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/>
              <a:t>2) She's a ________ (live / lively) child and popular with everyone.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/>
              <a:t>3) It was a really bad accident — they're lucky to be ________ (alive / lively).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/>
              <a:t>4) The sun affects all ________ (living / alive) things — people, animals, and plants.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/>
              <a:t>5) It's always different when you perform in front of a(n) ________ (alive / live) audience.</a:t>
            </a:r>
            <a:endParaRPr lang="zh-CN" altLang="en-US" sz="3200" b="1" dirty="0"/>
          </a:p>
        </p:txBody>
      </p:sp>
      <p:sp>
        <p:nvSpPr>
          <p:cNvPr id="4" name="矩形 3"/>
          <p:cNvSpPr/>
          <p:nvPr/>
        </p:nvSpPr>
        <p:spPr>
          <a:xfrm>
            <a:off x="1750044" y="5904249"/>
            <a:ext cx="800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live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64835" y="1066511"/>
            <a:ext cx="11079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alive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36849" y="2090220"/>
            <a:ext cx="11192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lively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5375" y="3768993"/>
            <a:ext cx="1210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alive 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79529" y="4234027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living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259013" y="89535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355" y="59055"/>
            <a:ext cx="11322050" cy="5469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 sz="2400">
              <a:sym typeface="+mn-ea"/>
            </a:endParaRP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由低矮的阔叶植物组成</a:t>
            </a:r>
          </a:p>
          <a:p>
            <a:pPr indent="0" fontAlgn="auto">
              <a:lnSpc>
                <a:spcPts val="4340"/>
              </a:lnSpc>
            </a:pP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made up of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shorter plants with large leaves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本集由三部分组成：诗歌、散文和短篇小说。</a:t>
            </a: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This collection _______________ three parts: poems, essays and short stories.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高耸的古老硬木</a:t>
            </a: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towering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ancient hardwoods</a:t>
            </a:r>
          </a:p>
          <a:p>
            <a:pPr indent="0" fontAlgn="auto">
              <a:lnSpc>
                <a:spcPts val="434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是各种生物的家园</a:t>
            </a:r>
          </a:p>
          <a:p>
            <a:pPr indent="0" fontAlgn="auto">
              <a:lnSpc>
                <a:spcPts val="4340"/>
              </a:lnSpc>
            </a:pP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home to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different kinds of living things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95675" y="2108835"/>
            <a:ext cx="27006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 made up of</a:t>
            </a: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259013" y="89535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980" y="330200"/>
            <a:ext cx="11223625" cy="6564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4240"/>
              </a:lnSpc>
            </a:pPr>
            <a:r>
              <a:rPr 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400多种哺乳动物隐藏在丛林的植物中。</a:t>
            </a:r>
          </a:p>
          <a:p>
            <a:pPr indent="0" fontAlgn="auto">
              <a:lnSpc>
                <a:spcPts val="424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Over 400 species of </a:t>
            </a:r>
            <a:r>
              <a:rPr lang="en-US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mammals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hide among the jungle's plant life.</a:t>
            </a:r>
            <a:endParaRPr 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ts val="4240"/>
              </a:lnSpc>
            </a:pPr>
            <a:r>
              <a:rPr lang="en-US" sz="3200" b="1" u="sng">
                <a:latin typeface="Times New Roman" panose="02020503050405090304" pitchFamily="18" charset="0"/>
                <a:cs typeface="Times New Roman" panose="02020503050405090304" pitchFamily="18" charset="0"/>
              </a:rPr>
              <a:t>虽然</a:t>
            </a:r>
            <a:r>
              <a:rPr 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有相当数量的美洲虎在这里生存,</a:t>
            </a:r>
          </a:p>
          <a:p>
            <a:pPr indent="0" fontAlgn="auto">
              <a:lnSpc>
                <a:spcPts val="4240"/>
              </a:lnSpc>
            </a:pPr>
            <a:r>
              <a:rPr lang="en-US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significant number of jaguars </a:t>
            </a:r>
            <a:r>
              <a:rPr lang="en-US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survive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here,</a:t>
            </a:r>
          </a:p>
          <a:p>
            <a:pPr indent="0" fontAlgn="auto">
              <a:lnSpc>
                <a:spcPts val="4240"/>
              </a:lnSpc>
            </a:pPr>
            <a:endParaRPr lang="en-US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ts val="4240"/>
              </a:lnSpc>
            </a:pPr>
            <a:r>
              <a:rPr 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在飞机失事的140名乘客中，只有12人幸存。</a:t>
            </a:r>
          </a:p>
          <a:p>
            <a:pPr indent="0" fontAlgn="auto">
              <a:lnSpc>
                <a:spcPts val="424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Only 12 of the 140 passengers </a:t>
            </a:r>
            <a:r>
              <a:rPr lang="en-US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survived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 the plane crash.</a:t>
            </a:r>
            <a:endParaRPr lang="en-US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ts val="4240"/>
              </a:lnSpc>
            </a:pPr>
            <a:r>
              <a:rPr lang="en-US" altLang="zh-CN"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If cancers are spotted early, there's a high chance of  _______ (survive).   如果癌症早期发现，存活的几率很高。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ts val="4240"/>
              </a:lnSpc>
            </a:pPr>
            <a:r>
              <a:rPr 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她是这家人中仅存的一员。</a:t>
            </a:r>
          </a:p>
          <a:p>
            <a:pPr indent="0" fontAlgn="auto">
              <a:lnSpc>
                <a:spcPts val="4240"/>
              </a:lnSpc>
            </a:pPr>
            <a:r>
              <a:rPr 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was the last _________ member of the family.</a:t>
            </a:r>
          </a:p>
          <a:p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3530" y="2431415"/>
            <a:ext cx="1986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800" b="1">
                <a:solidFill>
                  <a:srgbClr val="0000FF"/>
                </a:solidFill>
                <a:sym typeface="+mn-ea"/>
              </a:rPr>
              <a:t>[ˈdʒægjʊəz]</a:t>
            </a:r>
            <a:endParaRPr lang="en-US" altLang="en-US" sz="2800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26600" y="4133850"/>
            <a:ext cx="16846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survival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397250" y="5668010"/>
            <a:ext cx="19862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surviving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8941" y="446450"/>
            <a:ext cx="10766854" cy="4961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continue to exist after a long time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生存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存活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6405" indent="-44640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(1) Of the six people injured in the crash, only two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The company managed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the crisis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on                    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靠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生存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the attack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在袭击中幸免于难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the earthquake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在地震中幸免于难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the crisis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度过危局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1619250" lvl="0" indent="-16192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struggle to survive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为了生存而挣扎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834085" y="1030276"/>
            <a:ext cx="7607375" cy="127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survival  </a:t>
            </a:r>
            <a:r>
              <a:rPr lang="en-US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生存；幸存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survivor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sz="3200" b="1" i="1" dirty="0"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幸存者；生还者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endParaRPr sz="32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3" y="1140023"/>
            <a:ext cx="1889924" cy="105469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4400" y="2304471"/>
            <a:ext cx="1039203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troops went to the forest in search of the pilot who __________ (survive) the air crash.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Human life is regarded as part of nature and the only way for us __________ (survive)  is to live in harmony with nature.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7395" y="3468917"/>
            <a:ext cx="255550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had survived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5113" y="4633363"/>
            <a:ext cx="200888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survive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2183448" y="485140"/>
            <a:ext cx="309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endParaRPr lang="zh-CN" altLang="en-US" sz="36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3" name="Text Box 3"/>
          <p:cNvSpPr txBox="1"/>
          <p:nvPr/>
        </p:nvSpPr>
        <p:spPr>
          <a:xfrm>
            <a:off x="1523683" y="149225"/>
            <a:ext cx="864076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　　　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3370" y="260985"/>
            <a:ext cx="11682730" cy="641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ym typeface="+mn-ea"/>
              </a:rPr>
              <a:t>12. These frogs,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in turn</a:t>
            </a:r>
            <a:r>
              <a:rPr lang="en-US" sz="3200" b="1" dirty="0">
                <a:sym typeface="+mn-ea"/>
              </a:rPr>
              <a:t>, feed on insects which eat leaves and fruit. 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相应地</a:t>
            </a:r>
            <a:r>
              <a:rPr lang="en-US" sz="3200" b="1" dirty="0">
                <a:sym typeface="+mn-ea"/>
              </a:rPr>
              <a:t>, </a:t>
            </a:r>
            <a:r>
              <a:rPr lang="zh-CN" altLang="en-US" sz="3200" b="1" dirty="0">
                <a:sym typeface="+mn-ea"/>
              </a:rPr>
              <a:t>这些青蛙的食物，是以树叶和水果为食的昆虫</a:t>
            </a:r>
            <a:r>
              <a:rPr lang="en-US" sz="3200" b="1" dirty="0">
                <a:sym typeface="+mn-ea"/>
              </a:rPr>
              <a:t>。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    in turn: 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ts val="44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(1) 轮流/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依次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one after one in a particular order</a:t>
            </a:r>
            <a:endParaRPr lang="zh-CN" altLang="en-US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ts val="444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开车去海滩需要很长时间，我们三个人轮流开车。</a:t>
            </a:r>
          </a:p>
          <a:p>
            <a:pPr indent="0" fontAlgn="auto">
              <a:lnSpc>
                <a:spcPts val="444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was a long drive to get to the beach and we three took the wheel __________.</a:t>
            </a:r>
          </a:p>
          <a:p>
            <a:pPr indent="0" fontAlgn="auto">
              <a:lnSpc>
                <a:spcPts val="4440"/>
              </a:lnSpc>
            </a:pP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ts val="44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相应地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as a result of sth in a series of events</a:t>
            </a:r>
            <a:endParaRPr lang="zh-CN" altLang="en-US"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ts val="444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增加生产会继而增加利润。</a:t>
            </a:r>
            <a:endParaRPr lang="zh-CN" altLang="en-US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ts val="444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Increased production 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increased profits.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2480" y="3649345"/>
            <a:ext cx="13912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in turn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99585" y="5961380"/>
            <a:ext cx="359283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will, in turn, lead to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257810"/>
            <a:ext cx="1114996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turns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./ (in)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轮流做某事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one’s turn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轮到某人做某事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turns making/to make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dinner.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It's your turn to clean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blackboard.        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turn = change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 turns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轮流地，交替地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e.g. The book is,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 turns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funny and very sad.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health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taken a turn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for the worse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492" y="1098152"/>
            <a:ext cx="1114079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完成句子。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 1) It’s my turn _________ (deliver) a speech in public.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 2) They took care of their sick father ______ turns.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 3) People try to avoid public transportation delays by using their own cars, and this ____________ (接下来) creates more problems.</a:t>
            </a:r>
          </a:p>
        </p:txBody>
      </p:sp>
      <p:sp>
        <p:nvSpPr>
          <p:cNvPr id="3" name="矩形 2"/>
          <p:cNvSpPr/>
          <p:nvPr/>
        </p:nvSpPr>
        <p:spPr>
          <a:xfrm>
            <a:off x="3095199" y="1757765"/>
            <a:ext cx="18373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to deliver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90958" y="2249569"/>
            <a:ext cx="6174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by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71180" y="3518439"/>
            <a:ext cx="1449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in turn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61620" y="136525"/>
            <a:ext cx="11736705" cy="658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13</a:t>
            </a:r>
            <a:r>
              <a:rPr sz="3200" b="1" dirty="0">
                <a:sym typeface="+mn-ea"/>
              </a:rPr>
              <a:t>.</a:t>
            </a:r>
            <a:r>
              <a:rPr lang="en-US" sz="3200" b="1" dirty="0">
                <a:sym typeface="+mn-ea"/>
              </a:rPr>
              <a:t> </a:t>
            </a:r>
            <a:r>
              <a:rPr sz="3200" b="1" dirty="0">
                <a:sym typeface="+mn-ea"/>
              </a:rPr>
              <a:t>When </a:t>
            </a:r>
            <a:r>
              <a:rPr lang="en-US" altLang="zh-CN" sz="3200" b="1" dirty="0">
                <a:sym typeface="+mn-ea"/>
              </a:rPr>
              <a:t>a </a:t>
            </a:r>
            <a:r>
              <a:rPr sz="3200" b="1" dirty="0">
                <a:sym typeface="+mn-ea"/>
              </a:rPr>
              <a:t>jaguar dies, a tiny army of microorganisms helps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break down </a:t>
            </a:r>
            <a:r>
              <a:rPr sz="3200" b="1" dirty="0">
                <a:sym typeface="+mn-ea"/>
              </a:rPr>
              <a:t>its body and return the nutrients to the earth.</a:t>
            </a:r>
          </a:p>
          <a:p>
            <a:pPr marL="358775" fontAlgn="auto">
              <a:lnSpc>
                <a:spcPct val="110000"/>
              </a:lnSpc>
            </a:pPr>
            <a:r>
              <a:rPr lang="zh-CN" altLang="en-US" sz="3200" b="1" dirty="0">
                <a:sym typeface="+mn-ea"/>
              </a:rPr>
              <a:t>美洲豹死后，一小支微生物军队会助力基尸体的分解，让营养素重回土壤中。</a:t>
            </a:r>
            <a:endParaRPr lang="en-US" altLang="zh-CN" sz="3200" b="1" dirty="0">
              <a:sym typeface="+mn-ea"/>
            </a:endParaRPr>
          </a:p>
          <a:p>
            <a:pPr marL="2595880" indent="-2237105" fontAlgn="auto">
              <a:lnSpc>
                <a:spcPct val="110000"/>
              </a:lnSpc>
            </a:pPr>
            <a:r>
              <a:rPr sz="3200" b="1" dirty="0">
                <a:solidFill>
                  <a:srgbClr val="FF0000"/>
                </a:solidFill>
                <a:sym typeface="+mn-ea"/>
              </a:rPr>
              <a:t>break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sth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down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/ sth breaks down</a:t>
            </a:r>
            <a:r>
              <a:rPr sz="3200" b="1" dirty="0">
                <a:sym typeface="+mn-ea"/>
              </a:rPr>
              <a:t> </a:t>
            </a:r>
          </a:p>
          <a:p>
            <a:pPr marL="446405" indent="0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1) Sugar and starch </a:t>
            </a:r>
            <a:r>
              <a:rPr lang="en-US" sz="3200" b="1" u="sng" dirty="0">
                <a:solidFill>
                  <a:srgbClr val="FF0000"/>
                </a:solidFill>
                <a:sym typeface="+mn-ea"/>
              </a:rPr>
              <a:t>are broken down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sz="3200" b="1" dirty="0">
                <a:sym typeface="+mn-ea"/>
              </a:rPr>
              <a:t>in the stomach.</a:t>
            </a:r>
          </a:p>
          <a:p>
            <a:pPr marL="446405" indent="0" fontAlgn="auto">
              <a:lnSpc>
                <a:spcPct val="110000"/>
              </a:lnSpc>
            </a:pPr>
            <a:r>
              <a:rPr lang="zh-CN" altLang="en-US" sz="3200" b="1" dirty="0">
                <a:sym typeface="+mn-ea"/>
              </a:rPr>
              <a:t>被分解</a:t>
            </a:r>
            <a:endParaRPr lang="en-US" sz="3200" b="1" dirty="0">
              <a:sym typeface="+mn-ea"/>
            </a:endParaRPr>
          </a:p>
          <a:p>
            <a:pPr marL="446405" indent="0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2) Plastics in the ocean kill fish and sea animals and take hundreads of years to </a:t>
            </a:r>
            <a:r>
              <a:rPr lang="en-US" sz="3200" b="1" u="sng" dirty="0">
                <a:solidFill>
                  <a:srgbClr val="FF0000"/>
                </a:solidFill>
                <a:sym typeface="+mn-ea"/>
              </a:rPr>
              <a:t>break down</a:t>
            </a:r>
            <a:r>
              <a:rPr lang="en-US" sz="3200" b="1" u="sng" dirty="0">
                <a:sym typeface="+mn-ea"/>
              </a:rPr>
              <a:t> </a:t>
            </a:r>
            <a:r>
              <a:rPr lang="en-US" sz="3200" b="1" u="sng" dirty="0">
                <a:solidFill>
                  <a:srgbClr val="FF0000"/>
                </a:solidFill>
                <a:sym typeface="+mn-ea"/>
              </a:rPr>
              <a:t>into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sz="3200" b="1" dirty="0">
                <a:sym typeface="+mn-ea"/>
              </a:rPr>
              <a:t>less harmful materials.</a:t>
            </a:r>
          </a:p>
          <a:p>
            <a:pPr marL="446405" indent="0" fontAlgn="auto">
              <a:lnSpc>
                <a:spcPct val="110000"/>
              </a:lnSpc>
            </a:pPr>
            <a:r>
              <a:rPr lang="zh-CN" altLang="en-US" sz="3200" b="1" dirty="0">
                <a:sym typeface="+mn-ea"/>
              </a:rPr>
              <a:t>降解</a:t>
            </a:r>
            <a:r>
              <a:rPr lang="en-US" altLang="zh-CN" sz="3200" b="1" dirty="0">
                <a:sym typeface="+mn-ea"/>
              </a:rPr>
              <a:t> (degrade)</a:t>
            </a:r>
          </a:p>
          <a:p>
            <a:pPr marL="446405" indent="0" fontAlgn="auto">
              <a:lnSpc>
                <a:spcPct val="110000"/>
              </a:lnSpc>
            </a:pPr>
            <a:r>
              <a:rPr lang="zh-CN" altLang="en-US" sz="3200" b="1" dirty="0">
                <a:sym typeface="+mn-ea"/>
              </a:rPr>
              <a:t>Over time, the protein in the eggshell </a:t>
            </a:r>
            <a:r>
              <a:rPr lang="zh-CN" altLang="en-US" sz="3200" b="1" u="sng" dirty="0">
                <a:solidFill>
                  <a:srgbClr val="FF0000"/>
                </a:solidFill>
                <a:sym typeface="+mn-ea"/>
              </a:rPr>
              <a:t>breaks down into</a:t>
            </a:r>
            <a:r>
              <a:rPr lang="zh-CN" altLang="en-US" sz="3200" b="1" dirty="0">
                <a:sym typeface="+mn-ea"/>
              </a:rPr>
              <a:t> amino acids.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4020" y="175260"/>
            <a:ext cx="11522710" cy="695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en-US" sz="3100" b="1" dirty="0">
                <a:sym typeface="+mn-ea"/>
              </a:rPr>
              <a:t>e.g. The telephone system </a:t>
            </a:r>
            <a:r>
              <a:rPr lang="en-US" sz="3100" b="1" dirty="0">
                <a:solidFill>
                  <a:srgbClr val="FF0000"/>
                </a:solidFill>
                <a:sym typeface="+mn-ea"/>
              </a:rPr>
              <a:t>has broken down</a:t>
            </a:r>
            <a:r>
              <a:rPr lang="en-US" sz="3100" b="1" dirty="0">
                <a:sym typeface="+mn-ea"/>
              </a:rPr>
              <a:t>.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100" b="1" i="1" dirty="0">
                <a:sym typeface="+mn-ea"/>
              </a:rPr>
              <a:t>(2) (of a machine or vehicle) to stop working because of a fault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机器或车辆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故障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坏掉</a:t>
            </a:r>
            <a:endParaRPr lang="en-US" sz="3100" b="1" dirty="0"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sz="3100" b="1" dirty="0">
                <a:sym typeface="+mn-ea"/>
              </a:rPr>
              <a:t>Negotiations between the two sides </a:t>
            </a:r>
            <a:r>
              <a:rPr lang="en-US" sz="3100" b="1" dirty="0">
                <a:solidFill>
                  <a:srgbClr val="FF0000"/>
                </a:solidFill>
                <a:sym typeface="+mn-ea"/>
              </a:rPr>
              <a:t>have broken down</a:t>
            </a:r>
            <a:r>
              <a:rPr lang="en-US" sz="3100" b="1" dirty="0">
                <a:sym typeface="+mn-ea"/>
              </a:rPr>
              <a:t>.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100" b="1" i="1" dirty="0">
                <a:sym typeface="+mn-ea"/>
              </a:rPr>
              <a:t>(3) to fail   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失败</a:t>
            </a:r>
            <a:endParaRPr lang="en-US" sz="3100" b="1" dirty="0"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sz="3100" b="1" dirty="0">
                <a:sym typeface="+mn-ea"/>
              </a:rPr>
              <a:t>e.g. Her health </a:t>
            </a:r>
            <a:r>
              <a:rPr lang="en-US" sz="3100" b="1" dirty="0">
                <a:solidFill>
                  <a:srgbClr val="FF0000"/>
                </a:solidFill>
                <a:sym typeface="+mn-ea"/>
              </a:rPr>
              <a:t>broke down </a:t>
            </a:r>
            <a:r>
              <a:rPr lang="en-US" sz="3100" b="1" dirty="0">
                <a:sym typeface="+mn-ea"/>
              </a:rPr>
              <a:t>under the pressure of work.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sz="3100" b="1" i="1" dirty="0">
                <a:sym typeface="+mn-ea"/>
              </a:rPr>
              <a:t>(4) to become very bad  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被搞垮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跨掉</a:t>
            </a:r>
          </a:p>
          <a:p>
            <a:pPr marL="446405" indent="-446405" fontAlgn="auto">
              <a:lnSpc>
                <a:spcPct val="120000"/>
              </a:lnSpc>
            </a:pPr>
            <a:endParaRPr lang="zh-CN" altLang="en-US" sz="31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sz="3100" b="1" dirty="0">
                <a:sym typeface="+mn-ea"/>
              </a:rPr>
              <a:t>e.g. </a:t>
            </a:r>
            <a:r>
              <a:rPr lang="en-US" sz="3100" b="1" dirty="0">
                <a:solidFill>
                  <a:srgbClr val="FF0000"/>
                </a:solidFill>
                <a:sym typeface="+mn-ea"/>
              </a:rPr>
              <a:t>break down </a:t>
            </a:r>
            <a:r>
              <a:rPr lang="en-US" sz="3100" b="1" dirty="0">
                <a:sym typeface="+mn-ea"/>
              </a:rPr>
              <a:t>sb.’s shyness   </a:t>
            </a:r>
            <a:r>
              <a:rPr lang="zh-CN" altLang="en-US" sz="3100" b="1" dirty="0">
                <a:sym typeface="+mn-ea"/>
              </a:rPr>
              <a:t>驱除某人的胆怯</a:t>
            </a:r>
            <a:endParaRPr lang="en-US" sz="3100" b="1" dirty="0"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sz="3100" b="1" i="1" dirty="0">
                <a:sym typeface="+mn-ea"/>
              </a:rPr>
              <a:t>(5) to destroy </a:t>
            </a:r>
            <a:r>
              <a:rPr lang="en-US" sz="3100" b="1" i="1" dirty="0" err="1">
                <a:sym typeface="+mn-ea"/>
              </a:rPr>
              <a:t>sth</a:t>
            </a:r>
            <a:r>
              <a:rPr lang="en-US" sz="3100" b="1" i="1" dirty="0">
                <a:sym typeface="+mn-ea"/>
              </a:rPr>
              <a:t>. or make it disappear, especially a particular feeling or attitude that sb. has 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破坏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消除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100" b="1" dirty="0">
                <a:solidFill>
                  <a:srgbClr val="FF0000"/>
                </a:solidFill>
                <a:sym typeface="+mn-ea"/>
              </a:rPr>
              <a:t>尤指某种感情或态度</a:t>
            </a:r>
            <a:r>
              <a:rPr lang="en-US" altLang="zh-CN" sz="3100" b="1" dirty="0">
                <a:solidFill>
                  <a:srgbClr val="FF0000"/>
                </a:solidFill>
                <a:sym typeface="+mn-ea"/>
              </a:rPr>
              <a:t>)</a:t>
            </a:r>
          </a:p>
          <a:p>
            <a:pPr fontAlgn="auto">
              <a:lnSpc>
                <a:spcPct val="120000"/>
              </a:lnSpc>
            </a:pPr>
            <a:endParaRPr lang="en-US" sz="3100" b="1"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82838" y="1968054"/>
            <a:ext cx="78594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常见的含</a:t>
            </a:r>
            <a:r>
              <a:rPr lang="en-US" altLang="zh-CN" sz="3200" b="1" dirty="0">
                <a:solidFill>
                  <a:srgbClr val="0000FF"/>
                </a:solidFill>
              </a:rPr>
              <a:t>break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的短语：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break out </a:t>
            </a:r>
            <a:r>
              <a:rPr lang="en-US" altLang="zh-CN" sz="3200" b="1" dirty="0">
                <a:solidFill>
                  <a:srgbClr val="000000"/>
                </a:solidFill>
              </a:rPr>
              <a:t>           </a:t>
            </a:r>
            <a:r>
              <a:rPr lang="en-US" altLang="zh-CN" sz="3200" b="1" dirty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战争、火灾等</a:t>
            </a:r>
            <a:r>
              <a:rPr lang="en-US" altLang="zh-CN" sz="3200" b="1" dirty="0">
                <a:solidFill>
                  <a:srgbClr val="000000"/>
                </a:solidFill>
                <a:ea typeface="宋体" pitchFamily="2" charset="-122"/>
              </a:rPr>
              <a:t>)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爆发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break up </a:t>
            </a:r>
            <a:r>
              <a:rPr lang="en-US" altLang="zh-CN" sz="3200" b="1" dirty="0">
                <a:solidFill>
                  <a:srgbClr val="000000"/>
                </a:solidFill>
              </a:rPr>
              <a:t>             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打碎，分裂，解体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break off </a:t>
            </a:r>
            <a:r>
              <a:rPr lang="en-US" altLang="zh-CN" sz="3200" b="1" dirty="0">
                <a:solidFill>
                  <a:srgbClr val="000000"/>
                </a:solidFill>
              </a:rPr>
              <a:t>            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突然中断</a:t>
            </a:r>
            <a:r>
              <a:rPr lang="zh-CN" altLang="en-US" sz="3200" b="1" dirty="0">
                <a:solidFill>
                  <a:srgbClr val="000000"/>
                </a:solidFill>
              </a:rPr>
              <a:t>               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break through </a:t>
            </a:r>
            <a:r>
              <a:rPr lang="en-US" altLang="zh-CN" sz="3200" b="1" dirty="0">
                <a:solidFill>
                  <a:srgbClr val="000000"/>
                </a:solidFill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突破</a:t>
            </a:r>
            <a:r>
              <a:rPr lang="zh-CN" altLang="en-US" sz="3200" b="1" dirty="0">
                <a:solidFill>
                  <a:srgbClr val="000000"/>
                </a:solidFill>
              </a:rPr>
              <a:t>  </a:t>
            </a:r>
            <a:endParaRPr lang="zh-CN" altLang="en-US" sz="3200" b="1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6" y="1162677"/>
            <a:ext cx="1443162" cy="805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658" y="624655"/>
            <a:ext cx="10537371" cy="521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用含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break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的短语的正确形式填空。</a:t>
            </a:r>
          </a:p>
          <a:p>
            <a:pPr marL="631825" indent="-544830"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 </a:t>
            </a:r>
            <a:r>
              <a:rPr lang="en-US" altLang="zh-CN" sz="3200" b="1" dirty="0">
                <a:ea typeface="宋体" pitchFamily="2" charset="-122"/>
              </a:rPr>
              <a:t>1) Scientists think they are beginning to ______________ in the fight against cancer.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ea typeface="宋体" pitchFamily="2" charset="-122"/>
              </a:rPr>
              <a:t>  2) The lift ____________, so we had to walk up the stairs.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ea typeface="宋体" pitchFamily="2" charset="-122"/>
              </a:rPr>
              <a:t>  3) I was still living in London when the war ___________.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ea typeface="宋体" pitchFamily="2" charset="-122"/>
              </a:rPr>
              <a:t>  4) Your health will _____________ if you work too hard.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ea typeface="宋体" pitchFamily="2" charset="-122"/>
              </a:rPr>
              <a:t>  5) She _____________ the glass in her search for money yesterday.</a:t>
            </a:r>
          </a:p>
        </p:txBody>
      </p:sp>
      <p:sp>
        <p:nvSpPr>
          <p:cNvPr id="5" name="矩形 4"/>
          <p:cNvSpPr/>
          <p:nvPr/>
        </p:nvSpPr>
        <p:spPr>
          <a:xfrm>
            <a:off x="2562619" y="4466388"/>
            <a:ext cx="19703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broke up</a:t>
            </a:r>
            <a:endParaRPr lang="en-US" altLang="zh-CN" sz="3200" b="1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45152" y="1317361"/>
            <a:ext cx="28131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break through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31527" y="2607169"/>
            <a:ext cx="2262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broke down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84906" y="3264180"/>
            <a:ext cx="2079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broke out 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30695" y="3881613"/>
            <a:ext cx="2365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break down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6627" y="1000897"/>
            <a:ext cx="1083687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Over the past 50 years, about 17 per cent of the rainforest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due to human activities such as agriculture and cattle farming. 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在过去的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年里，由于农耕和养牛等人类活动，约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17%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的雨林已经消失了。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/>
              <a:t>to stop existing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不复存在，灭绝，消亡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2237105">
              <a:lnSpc>
                <a:spcPct val="120000"/>
              </a:lnSpc>
            </a:pPr>
            <a:r>
              <a:rPr lang="en-US" altLang="zh-CN" sz="3200" b="1" i="1" dirty="0"/>
              <a:t>to become impossible to see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消失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2237105">
              <a:lnSpc>
                <a:spcPct val="120000"/>
              </a:lnSpc>
            </a:pPr>
            <a:r>
              <a:rPr lang="en-US" altLang="zh-CN" sz="3200" b="1" i="1" dirty="0"/>
              <a:t>to be lost or impossible to find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失踪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1913" y="753762"/>
            <a:ext cx="1129407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 from view/ sight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从视线中消失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 behind/ into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消失在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中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Her nervousness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quickly disappeared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once she was on stage.</a:t>
            </a:r>
          </a:p>
          <a:p>
            <a:pPr indent="716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child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disappeared from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home some time after four.</a:t>
            </a:r>
          </a:p>
          <a:p>
            <a:pPr indent="716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plane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disappeared behind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cloud.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838" y="1754659"/>
            <a:ext cx="109604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By the 1920s, wolves ______________ (disappear) from the Yellowstone area.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______________ (disappear) of the insects had brought many unexpected results.`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42097" y="2323070"/>
            <a:ext cx="318606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had disappeared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27654" y="3509319"/>
            <a:ext cx="271580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disappearance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97814" y="656590"/>
            <a:ext cx="11480529" cy="40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7380" indent="-627380" fontAlgn="auto">
              <a:lnSpc>
                <a:spcPct val="114000"/>
              </a:lnSpc>
            </a:pPr>
            <a:r>
              <a:rPr lang="en-US" sz="3200" b="1" dirty="0">
                <a:sym typeface="+mn-ea"/>
              </a:rPr>
              <a:t>15. </a:t>
            </a:r>
            <a:r>
              <a:rPr sz="3200" b="1" dirty="0">
                <a:sym typeface="+mn-ea"/>
              </a:rPr>
              <a:t>As the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 impact</a:t>
            </a:r>
            <a:r>
              <a:rPr sz="3200" b="1" dirty="0">
                <a:sym typeface="+mn-ea"/>
              </a:rPr>
              <a:t> of human activities continues to grow and the list of species in danger of extinction becomes longer, we are left with a question: can we afford to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damage</a:t>
            </a:r>
            <a:r>
              <a:rPr sz="3200" b="1" dirty="0">
                <a:sym typeface="+mn-ea"/>
              </a:rPr>
              <a:t> the </a:t>
            </a:r>
            <a:r>
              <a:rPr lang="en-US" sz="3200" b="1" dirty="0">
                <a:sym typeface="+mn-ea"/>
              </a:rPr>
              <a:t>“</a:t>
            </a:r>
            <a:r>
              <a:rPr sz="3200" b="1" dirty="0">
                <a:sym typeface="+mn-ea"/>
              </a:rPr>
              <a:t>lungs of the planet</a:t>
            </a:r>
            <a:r>
              <a:rPr lang="en-US" sz="3200" b="1" dirty="0">
                <a:sym typeface="+mn-ea"/>
              </a:rPr>
              <a:t>”</a:t>
            </a:r>
            <a:r>
              <a:rPr sz="3200" b="1" dirty="0">
                <a:sym typeface="+mn-ea"/>
              </a:rPr>
              <a:t>?</a:t>
            </a:r>
          </a:p>
          <a:p>
            <a:pPr marL="627380" fontAlgn="auto">
              <a:lnSpc>
                <a:spcPct val="114000"/>
              </a:lnSpc>
            </a:pPr>
            <a:endParaRPr lang="en-US" altLang="zh-CN" sz="3200" b="1" dirty="0">
              <a:solidFill>
                <a:srgbClr val="0000FF"/>
              </a:solidFill>
              <a:sym typeface="+mn-ea"/>
            </a:endParaRPr>
          </a:p>
          <a:p>
            <a:pPr marL="62738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sym typeface="+mn-ea"/>
              </a:rPr>
              <a:t>句子结构分析</a:t>
            </a: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】</a:t>
            </a:r>
          </a:p>
          <a:p>
            <a:pPr marL="627380" fontAlgn="auto">
              <a:lnSpc>
                <a:spcPct val="114000"/>
              </a:lnSpc>
            </a:pP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as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引导时间状语从句。从句中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and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连接两个并列句。</a:t>
            </a:r>
            <a:endParaRPr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78155" y="205740"/>
            <a:ext cx="11394440" cy="6471285"/>
          </a:xfrm>
        </p:spPr>
        <p:txBody>
          <a:bodyPr>
            <a:normAutofit lnSpcReduction="20000"/>
          </a:bodyPr>
          <a:lstStyle/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16. ... about 17 per cent of the rainforest has disappeared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due to </a:t>
            </a:r>
            <a:r>
              <a:rPr lang="en-US" sz="3200" b="1" u="sng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human activities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such as </a:t>
            </a:r>
            <a:r>
              <a:rPr lang="en-US" sz="3200" b="1" u="sng">
                <a:latin typeface="Times New Roman Bold" panose="02020503050405090304" charset="0"/>
                <a:cs typeface="Times New Roman Bold" panose="02020503050405090304" charset="0"/>
              </a:rPr>
              <a:t>agriculture and cattle farming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to give reasons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en-US" sz="3200" b="1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increase in childhood obesity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is largely due to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/</a:t>
            </a: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result of </a:t>
            </a: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changes in lifestyle and diet over the last twenty years.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Many obese children are bullied at school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 account of /because of </a:t>
            </a: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their weight.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Childhood obesity may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caused by</a:t>
            </a: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genetic factors.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thanks to / owing to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归因于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78155" y="205740"/>
            <a:ext cx="11394440" cy="6652260"/>
          </a:xfrm>
        </p:spPr>
        <p:txBody>
          <a:bodyPr>
            <a:normAutofit fontScale="90000" lnSpcReduction="20000"/>
          </a:bodyPr>
          <a:lstStyle/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due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预期的，预计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Rose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due to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start school in January.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预计，预定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next train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due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in five minutes.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My essay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due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next Friday.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到期，应交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She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's due for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 promotion soon.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她很快该晋升了。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After due consideration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, we have decided to appoint Mr Davis to the job.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经过</a:t>
            </a:r>
            <a:r>
              <a:rPr lang="zh-CN" altLang="en-US" sz="3200" b="1" u="sng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适当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考虑之后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(formal)</a:t>
            </a:r>
          </a:p>
          <a:p>
            <a:pPr marL="0" indent="0" fontAlgn="auto">
              <a:lnSpc>
                <a:spcPct val="100000"/>
              </a:lnSpc>
              <a:buNone/>
            </a:pP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新的市图书馆预计今年年底开放。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new city library ____ _____ _____ ____ at the end of this year.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38295" y="56083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is   due   to   open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14677" y="614369"/>
            <a:ext cx="11218094" cy="514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 fontAlgn="auto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impact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marL="446405" indent="-446405" fontAlgn="auto"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>
                <a:sym typeface="+mn-ea"/>
              </a:rPr>
              <a:t>effect</a:t>
            </a:r>
            <a:r>
              <a:rPr lang="en-US" altLang="zh-CN" sz="3200" b="1" i="1" dirty="0">
                <a:solidFill>
                  <a:srgbClr val="9933FF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作用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影响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rgbClr val="9933FF"/>
                </a:solidFill>
                <a:sym typeface="+mn-ea"/>
              </a:rPr>
              <a:t>[ˈɪmpækt]   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the </a:t>
            </a:r>
            <a:r>
              <a:rPr lang="en-US" sz="3200" b="1" u="sng" dirty="0">
                <a:solidFill>
                  <a:srgbClr val="FF0000"/>
                </a:solidFill>
                <a:sym typeface="+mn-ea"/>
              </a:rPr>
              <a:t>environmental impact of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tourism</a:t>
            </a:r>
          </a:p>
          <a:p>
            <a:pPr marL="1795780" indent="-1795780" fontAlgn="auto">
              <a:lnSpc>
                <a:spcPct val="114000"/>
              </a:lnSpc>
            </a:pPr>
            <a:r>
              <a:rPr lang="en-US" altLang="zh-CN" sz="3200" b="1" dirty="0">
                <a:sym typeface="+mn-ea"/>
              </a:rPr>
              <a:t>2) </a:t>
            </a:r>
            <a:r>
              <a:rPr lang="en-US" sz="3200" b="1" i="1" dirty="0" err="1">
                <a:solidFill>
                  <a:schemeClr val="tx1"/>
                </a:solidFill>
                <a:sym typeface="+mn-ea"/>
              </a:rPr>
              <a:t>the action of hitting sth </a:t>
            </a:r>
            <a:r>
              <a:rPr sz="3200" b="1" dirty="0" err="1">
                <a:solidFill>
                  <a:schemeClr val="tx1"/>
                </a:solidFill>
                <a:sym typeface="+mn-ea"/>
              </a:rPr>
              <a:t>撞击</a:t>
            </a:r>
            <a:r>
              <a:rPr lang="en-US" sz="3200" b="1" dirty="0">
                <a:solidFill>
                  <a:schemeClr val="tx1"/>
                </a:solidFill>
                <a:sym typeface="+mn-ea"/>
              </a:rPr>
              <a:t>, </a:t>
            </a:r>
            <a:r>
              <a:rPr sz="3200" b="1" dirty="0" err="1">
                <a:solidFill>
                  <a:schemeClr val="tx1"/>
                </a:solidFill>
                <a:sym typeface="+mn-ea"/>
              </a:rPr>
              <a:t>冲撞</a:t>
            </a:r>
            <a:endParaRPr sz="3200" b="1" i="1" dirty="0">
              <a:solidFill>
                <a:schemeClr val="tx1"/>
              </a:solidFill>
              <a:sym typeface="+mn-ea"/>
            </a:endParaRPr>
          </a:p>
          <a:p>
            <a:pPr marL="446405" indent="-446405" fontAlgn="auto">
              <a:lnSpc>
                <a:spcPct val="114000"/>
              </a:lnSpc>
            </a:pPr>
            <a:r>
              <a:rPr sz="3200" b="1" dirty="0">
                <a:sym typeface="+mn-ea"/>
              </a:rPr>
              <a:t>The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 impact </a:t>
            </a:r>
            <a:r>
              <a:rPr sz="3200" b="1" dirty="0">
                <a:sym typeface="+mn-ea"/>
              </a:rPr>
              <a:t>of the blow knocked Jack off balance.</a:t>
            </a:r>
          </a:p>
          <a:p>
            <a:pPr marL="446405" indent="-446405" fontAlgn="auto">
              <a:lnSpc>
                <a:spcPct val="114000"/>
              </a:lnSpc>
            </a:pPr>
            <a:endParaRPr lang="en-US" sz="3200" b="1" i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14000"/>
              </a:lnSpc>
            </a:pPr>
            <a:r>
              <a:rPr lang="en-US" sz="3200" b="1" i="1" dirty="0">
                <a:solidFill>
                  <a:srgbClr val="FF0000"/>
                </a:solidFill>
                <a:sym typeface="+mn-ea"/>
              </a:rPr>
              <a:t>v.  </a:t>
            </a:r>
            <a:r>
              <a:rPr lang="en-US" sz="3200" b="1" i="1" dirty="0">
                <a:sym typeface="+mn-ea"/>
              </a:rPr>
              <a:t>to have an effect on </a:t>
            </a:r>
            <a:r>
              <a:rPr lang="en-US" sz="3200" b="1" i="1" dirty="0" err="1">
                <a:sym typeface="+mn-ea"/>
              </a:rPr>
              <a:t>sth</a:t>
            </a:r>
            <a:r>
              <a:rPr lang="en-US" sz="3200" b="1" i="1" dirty="0">
                <a:sym typeface="+mn-ea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有影响</a:t>
            </a:r>
            <a:r>
              <a:rPr lang="en-US" altLang="zh-CN" sz="3200" b="1" dirty="0">
                <a:solidFill>
                  <a:srgbClr val="9933FF"/>
                </a:solidFill>
                <a:sym typeface="+mn-ea"/>
              </a:rPr>
              <a:t>   [ˈɪmˌpækt]</a:t>
            </a:r>
          </a:p>
          <a:p>
            <a:pPr marL="446405" indent="0" fontAlgn="auto">
              <a:lnSpc>
                <a:spcPct val="114000"/>
              </a:lnSpc>
            </a:pPr>
            <a:r>
              <a:rPr lang="en-US" altLang="zh-CN" sz="3200" b="1" i="1" dirty="0">
                <a:sym typeface="+mn-ea"/>
              </a:rPr>
              <a:t>to hit </a:t>
            </a:r>
            <a:r>
              <a:rPr lang="en-US" altLang="zh-CN" sz="3200" b="1" i="1" dirty="0" err="1">
                <a:sym typeface="+mn-ea"/>
              </a:rPr>
              <a:t>sth</a:t>
            </a:r>
            <a:r>
              <a:rPr lang="en-US" altLang="zh-CN" sz="3200" b="1" i="1" dirty="0">
                <a:sym typeface="+mn-ea"/>
              </a:rPr>
              <a:t>. with great force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冲击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14000"/>
              </a:lnSpc>
            </a:pPr>
            <a:r>
              <a:rPr lang="en-US" altLang="zh-CN" sz="3200" b="1" dirty="0">
                <a:sym typeface="+mn-ea"/>
              </a:rPr>
              <a:t>Her father's death</a:t>
            </a:r>
            <a:r>
              <a:rPr lang="en-US" altLang="zh-CN" sz="3200" b="1" u="sng" dirty="0"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impacted</a:t>
            </a:r>
            <a:r>
              <a:rPr lang="en-US" altLang="zh-CN" sz="3200" b="1" u="sng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her greatly.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2889" y="1544419"/>
            <a:ext cx="9924625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46405" indent="971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make/have an impact on/ upon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有影响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46405" indent="971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economic impact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经济影响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6405" indent="971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visual impact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视觉冲击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3697" y="1878227"/>
            <a:ext cx="109110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Gordon says the HUNCH program has an impact __________ college admissions and practical life skills.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We can observe that artificial intelligence has already made __________ impact on our lives in many ways.·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5231" y="3085865"/>
            <a:ext cx="61747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97891" y="4202092"/>
            <a:ext cx="61214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16420" y="1011735"/>
            <a:ext cx="10444209" cy="422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0405" indent="-1970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d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amage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/>
              <a:t>physical harm caused to 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. which makes it less attractive, useful or valuable</a:t>
            </a:r>
            <a:r>
              <a:rPr lang="en-US" sz="3200" b="1" dirty="0">
                <a:sym typeface="+mn-ea"/>
              </a:rPr>
              <a:t>    </a:t>
            </a:r>
            <a:r>
              <a:rPr lang="en-US" altLang="zh-CN" sz="3200" b="1" dirty="0">
                <a:sym typeface="+mn-ea"/>
              </a:rPr>
              <a:t>(</a:t>
            </a:r>
            <a:r>
              <a:rPr lang="zh-CN" altLang="en-US" sz="3200" b="1" dirty="0">
                <a:sym typeface="+mn-ea"/>
              </a:rPr>
              <a:t>常与</a:t>
            </a:r>
            <a:r>
              <a:rPr lang="en-US" altLang="zh-CN" sz="3200" b="1" dirty="0">
                <a:sym typeface="+mn-ea"/>
              </a:rPr>
              <a:t>to</a:t>
            </a:r>
            <a:r>
              <a:rPr lang="zh-CN" altLang="en-US" sz="3200" b="1" dirty="0">
                <a:sym typeface="+mn-ea"/>
              </a:rPr>
              <a:t>连用</a:t>
            </a:r>
            <a:r>
              <a:rPr lang="en-US" altLang="zh-CN" sz="3200" b="1" dirty="0">
                <a:sym typeface="+mn-ea"/>
              </a:rPr>
              <a:t>)</a:t>
            </a:r>
            <a:r>
              <a:rPr lang="en-US" sz="3200" b="1" dirty="0">
                <a:sym typeface="+mn-ea"/>
              </a:rPr>
              <a:t>  </a:t>
            </a:r>
          </a:p>
          <a:p>
            <a:pPr marL="1795780" indent="-179578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                   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有形的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) </a:t>
            </a:r>
            <a:r>
              <a:rPr sz="3200" b="1" dirty="0" err="1">
                <a:solidFill>
                  <a:srgbClr val="FF0000"/>
                </a:solidFill>
                <a:sym typeface="+mn-ea"/>
              </a:rPr>
              <a:t>损害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,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破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坏,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损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失</a:t>
            </a:r>
            <a:endParaRPr sz="3200" b="1" dirty="0">
              <a:solidFill>
                <a:srgbClr val="FF0000"/>
              </a:solidFill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e.g. The accident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did great damage to</a:t>
            </a:r>
            <a:r>
              <a:rPr lang="en-US" altLang="zh-CN" sz="3200" b="1" dirty="0">
                <a:sym typeface="+mn-ea"/>
              </a:rPr>
              <a:t> the car.</a:t>
            </a:r>
          </a:p>
          <a:p>
            <a:pPr marL="446405" indent="-446405">
              <a:lnSpc>
                <a:spcPct val="120000"/>
              </a:lnSpc>
            </a:pPr>
            <a:r>
              <a:rPr lang="en-US" sz="3200" b="1" i="1" dirty="0">
                <a:solidFill>
                  <a:srgbClr val="9933FF"/>
                </a:solidFill>
                <a:sym typeface="+mn-ea"/>
              </a:rPr>
              <a:t>                   </a:t>
            </a:r>
            <a:r>
              <a:rPr lang="en-US" sz="3200" b="1" i="1" dirty="0">
                <a:sym typeface="+mn-ea"/>
              </a:rPr>
              <a:t>harmful effects on sb./</a:t>
            </a:r>
            <a:r>
              <a:rPr lang="en-US" sz="3200" b="1" i="1" dirty="0" err="1">
                <a:sym typeface="+mn-ea"/>
              </a:rPr>
              <a:t>sth</a:t>
            </a:r>
            <a:r>
              <a:rPr lang="en-US" sz="3200" b="1" i="1" dirty="0">
                <a:sym typeface="+mn-ea"/>
              </a:rPr>
              <a:t>.   </a:t>
            </a:r>
            <a:r>
              <a:rPr lang="en-US" altLang="zh-CN" sz="3200" b="1" dirty="0">
                <a:sym typeface="+mn-ea"/>
              </a:rPr>
              <a:t>(</a:t>
            </a:r>
            <a:r>
              <a:rPr lang="zh-CN" altLang="en-US" sz="3200" b="1" dirty="0">
                <a:sym typeface="+mn-ea"/>
              </a:rPr>
              <a:t>常与</a:t>
            </a:r>
            <a:r>
              <a:rPr lang="en-US" altLang="zh-CN" sz="3200" b="1" dirty="0">
                <a:sym typeface="+mn-ea"/>
              </a:rPr>
              <a:t>to</a:t>
            </a:r>
            <a:r>
              <a:rPr lang="zh-CN" altLang="en-US" sz="3200" b="1" dirty="0">
                <a:sym typeface="+mn-ea"/>
              </a:rPr>
              <a:t>连用</a:t>
            </a:r>
            <a:r>
              <a:rPr lang="en-US" altLang="zh-CN" sz="3200" b="1" dirty="0">
                <a:sym typeface="+mn-ea"/>
              </a:rPr>
              <a:t>)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9933FF"/>
                </a:solidFill>
                <a:sym typeface="+mn-ea"/>
              </a:rPr>
              <a:t>                 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损害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伤害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446405" indent="-446405">
              <a:lnSpc>
                <a:spcPct val="120000"/>
              </a:lnSpc>
            </a:pPr>
            <a:r>
              <a:rPr lang="en-US" sz="3200" b="1" dirty="0">
                <a:sym typeface="+mn-ea"/>
              </a:rPr>
              <a:t>e.g. The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damage</a:t>
            </a:r>
            <a:r>
              <a:rPr lang="en-US" sz="3200" b="1" dirty="0">
                <a:sym typeface="+mn-ea"/>
              </a:rPr>
              <a:t> to the bank is extremely serious.</a:t>
            </a:r>
            <a:r>
              <a:rPr lang="en-US" sz="3200" b="1" i="1" dirty="0">
                <a:solidFill>
                  <a:srgbClr val="9933FF"/>
                </a:solidFill>
                <a:sym typeface="+mn-ea"/>
              </a:rPr>
              <a:t> </a:t>
            </a:r>
            <a:endParaRPr 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66148" y="883532"/>
            <a:ext cx="10112829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i="1" dirty="0">
                <a:sym typeface="+mn-ea"/>
              </a:rPr>
              <a:t>an amount of money that a court decides should be paid to sb. by the person, company, etc. that has caused them harm or injury   </a:t>
            </a: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prstClr val="black"/>
                </a:solidFill>
                <a:sym typeface="+mn-ea"/>
              </a:rPr>
              <a:t>常用复数形式</a:t>
            </a: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)</a:t>
            </a:r>
            <a:r>
              <a:rPr lang="en-US" altLang="zh-CN" sz="3200" b="1" i="1" dirty="0">
                <a:solidFill>
                  <a:srgbClr val="9933FF"/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法院判定的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损害赔偿金</a:t>
            </a:r>
            <a:endParaRPr lang="en-US" altLang="zh-CN" sz="3200" b="1" dirty="0">
              <a:solidFill>
                <a:prstClr val="black"/>
              </a:solidFill>
              <a:sym typeface="+mn-ea"/>
            </a:endParaRPr>
          </a:p>
          <a:p>
            <a:pPr marL="719455" lvl="0" indent="-71945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e.g. He was ordered to pay $1,500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damages </a:t>
            </a:r>
            <a:r>
              <a:rPr lang="en-US" altLang="zh-CN" sz="3200" b="1" dirty="0">
                <a:solidFill>
                  <a:prstClr val="black"/>
                </a:solidFill>
                <a:sym typeface="+mn-ea"/>
              </a:rPr>
              <a:t>to the person he had hurt.</a:t>
            </a:r>
          </a:p>
          <a:p>
            <a:pPr marL="1970405" lvl="0" indent="-197040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v.  </a:t>
            </a:r>
            <a:r>
              <a:rPr lang="en-US" altLang="zh-CN" sz="3200" b="1" i="1" dirty="0">
                <a:sym typeface="+mn-ea"/>
              </a:rPr>
              <a:t>to harm or spoil </a:t>
            </a:r>
            <a:r>
              <a:rPr lang="en-US" altLang="zh-CN" sz="3200" b="1" i="1" dirty="0" err="1">
                <a:sym typeface="+mn-ea"/>
              </a:rPr>
              <a:t>sth</a:t>
            </a:r>
            <a:r>
              <a:rPr lang="en-US" altLang="zh-CN" sz="3200" b="1" i="1" dirty="0">
                <a:sym typeface="+mn-ea"/>
              </a:rPr>
              <a:t>./sb.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损害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伤害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毁坏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破坏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marL="1970405" lvl="0" indent="-197040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e.g. Many buildings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were</a:t>
            </a:r>
            <a:r>
              <a:rPr lang="en-US" altLang="zh-CN" sz="3200" b="1" dirty="0">
                <a:sym typeface="+mn-ea"/>
              </a:rPr>
              <a:t> badly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damaged</a:t>
            </a:r>
            <a:r>
              <a:rPr lang="en-US" altLang="zh-CN" sz="3200" b="1" dirty="0">
                <a:sym typeface="+mn-ea"/>
              </a:rPr>
              <a:t> by the fire.</a:t>
            </a:r>
          </a:p>
          <a:p>
            <a:pPr marL="1970405" lvl="0" indent="-197040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   Smoking seriously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damages </a:t>
            </a:r>
            <a:r>
              <a:rPr lang="en-US" altLang="zh-CN" sz="3200" b="1" dirty="0">
                <a:sym typeface="+mn-ea"/>
              </a:rPr>
              <a:t>your health.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70702" y="494270"/>
            <a:ext cx="1087394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 do / cause damage to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造成损害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pay for the damage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赔偿损失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prevent serious property damage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防止严重的财产损失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brain / liver damage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肝损伤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damage to property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财产损失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42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damage to one’s reputation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对某人名誉的损害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5542" y="436326"/>
            <a:ext cx="1054825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6175" indent="-2416175"/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根据括号内的汉语提示补全下面句子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每空一词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。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 marL="446405" indent="-446405"/>
            <a:r>
              <a:rPr lang="en-US" altLang="zh-CN" sz="3200" b="1" dirty="0">
                <a:solidFill>
                  <a:srgbClr val="000000"/>
                </a:solidFill>
              </a:rPr>
              <a:t>1) The factory will be closed, which will ________ ________ ________ ________ (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给</a:t>
            </a:r>
            <a:r>
              <a:rPr lang="en-US" altLang="zh-CN" sz="3200" b="1" dirty="0">
                <a:solidFill>
                  <a:srgbClr val="000000"/>
                </a:solidFill>
                <a:ea typeface="宋体" pitchFamily="2" charset="-122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引起巨大的损失</a:t>
            </a:r>
            <a:r>
              <a:rPr lang="en-US" altLang="zh-CN" sz="3200" b="1" dirty="0">
                <a:solidFill>
                  <a:srgbClr val="000000"/>
                </a:solidFill>
              </a:rPr>
              <a:t>) the local economy.</a:t>
            </a:r>
          </a:p>
          <a:p>
            <a:pPr marL="446405" indent="-446405"/>
            <a:r>
              <a:rPr lang="en-US" altLang="zh-CN" sz="3200" b="1" dirty="0">
                <a:solidFill>
                  <a:srgbClr val="000000"/>
                </a:solidFill>
              </a:rPr>
              <a:t>2) He ________ ________ _________ (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得到了五万美元的赔偿金</a:t>
            </a:r>
            <a:r>
              <a:rPr lang="en-US" altLang="zh-CN" sz="3200" b="1" dirty="0">
                <a:solidFill>
                  <a:srgbClr val="000000"/>
                </a:solidFill>
              </a:rPr>
              <a:t>) from his company for the loss of his right arm while at work.</a:t>
            </a:r>
          </a:p>
          <a:p>
            <a:pPr marL="446405" indent="-446405"/>
            <a:r>
              <a:rPr lang="en-US" altLang="zh-CN" sz="3200" b="1" dirty="0">
                <a:solidFill>
                  <a:srgbClr val="000000"/>
                </a:solidFill>
              </a:rPr>
              <a:t>3) The earthquake which happened last night _________ ________ _________ (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毁坏了很多建筑物</a:t>
            </a:r>
            <a:r>
              <a:rPr lang="en-US" altLang="zh-CN" sz="3200" b="1" dirty="0">
                <a:solidFill>
                  <a:srgbClr val="000000"/>
                </a:solidFill>
              </a:rPr>
              <a:t>).</a:t>
            </a:r>
            <a:endParaRPr lang="zh-CN" altLang="en-US" sz="3200" b="1" dirty="0">
              <a:solidFill>
                <a:srgbClr val="000000"/>
              </a:solidFill>
            </a:endParaRPr>
          </a:p>
          <a:p>
            <a:pPr marL="446405" indent="-446405"/>
            <a:r>
              <a:rPr lang="en-US" altLang="zh-CN" sz="3200" b="1" dirty="0">
                <a:solidFill>
                  <a:srgbClr val="000000"/>
                </a:solidFill>
              </a:rPr>
              <a:t>4) The president’s speech has ________ ________ ________ (</a:t>
            </a:r>
            <a:r>
              <a:rPr lang="zh-CN" altLang="en-US" sz="3200" b="1" dirty="0">
                <a:solidFill>
                  <a:srgbClr val="000000"/>
                </a:solidFill>
                <a:ea typeface="宋体" pitchFamily="2" charset="-122"/>
              </a:rPr>
              <a:t>破坏了关系</a:t>
            </a:r>
            <a:r>
              <a:rPr lang="en-US" altLang="zh-CN" sz="3200" b="1" dirty="0">
                <a:solidFill>
                  <a:srgbClr val="000000"/>
                </a:solidFill>
              </a:rPr>
              <a:t>) between the two countries.</a:t>
            </a:r>
            <a:endParaRPr lang="en-US" altLang="zh-CN" sz="3200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91533" y="5292550"/>
            <a:ext cx="5454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damaged     the        relations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75008" y="1377862"/>
            <a:ext cx="29712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cause        great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54594" y="2841355"/>
            <a:ext cx="52341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got           $50,000   damages  </a:t>
            </a:r>
          </a:p>
        </p:txBody>
      </p:sp>
      <p:sp>
        <p:nvSpPr>
          <p:cNvPr id="6" name="矩形 5"/>
          <p:cNvSpPr/>
          <p:nvPr/>
        </p:nvSpPr>
        <p:spPr>
          <a:xfrm>
            <a:off x="1457405" y="4802370"/>
            <a:ext cx="34996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many       buildings</a:t>
            </a:r>
          </a:p>
        </p:txBody>
      </p:sp>
      <p:sp>
        <p:nvSpPr>
          <p:cNvPr id="7" name="矩形 6"/>
          <p:cNvSpPr/>
          <p:nvPr/>
        </p:nvSpPr>
        <p:spPr>
          <a:xfrm>
            <a:off x="8749137" y="4312911"/>
            <a:ext cx="1882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 damaged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22139" y="1850437"/>
            <a:ext cx="29193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damage         to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6" grpId="0"/>
      <p:bldP spid="7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4947" y="509378"/>
            <a:ext cx="10849158" cy="604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7380" indent="-627380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16. For another thing, due to the Amazon’s hot climate, it is difficult for the soil to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build up </a:t>
            </a:r>
            <a:r>
              <a:rPr lang="en-US" sz="3200" b="1" dirty="0">
                <a:sym typeface="+mn-ea"/>
              </a:rPr>
              <a:t>enough nutrients.</a:t>
            </a:r>
          </a:p>
          <a:p>
            <a:pPr marL="627380" indent="-627380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      </a:t>
            </a:r>
            <a:r>
              <a:rPr lang="zh-CN" altLang="en-US" sz="3200" b="1" dirty="0">
                <a:sym typeface="+mn-ea"/>
              </a:rPr>
              <a:t>另一方面，由于亚马孙的炎热气候，土壤很难堆积足够的养分。</a:t>
            </a:r>
            <a:endParaRPr lang="en-US" altLang="zh-CN" sz="3200" b="1" dirty="0">
              <a:sym typeface="+mn-ea"/>
            </a:endParaRPr>
          </a:p>
          <a:p>
            <a:pPr marL="627380" indent="-62738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      build up 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a.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加强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力量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，增强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体质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)     b.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建立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开发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627380" indent="-6273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                     c.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积累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积聚   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d.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逐渐增强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变得严重起来 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627380" indent="-627380" fontAlgn="auto">
              <a:lnSpc>
                <a:spcPct val="110000"/>
              </a:lnSpc>
            </a:pPr>
            <a:r>
              <a:rPr lang="en-US" sz="3200" b="1" dirty="0">
                <a:sym typeface="+mn-ea"/>
              </a:rPr>
              <a:t>      e.g. </a:t>
            </a:r>
            <a:r>
              <a:rPr lang="en-US" altLang="zh-CN" sz="3200" b="1" dirty="0">
                <a:sym typeface="+mn-ea"/>
              </a:rPr>
              <a:t>They gave him soup to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build</a:t>
            </a:r>
            <a:r>
              <a:rPr lang="en-US" altLang="zh-CN" sz="3200" b="1" dirty="0">
                <a:sym typeface="+mn-ea"/>
              </a:rPr>
              <a:t> him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up</a:t>
            </a:r>
            <a:r>
              <a:rPr lang="en-US" altLang="zh-CN" sz="3200" b="1" dirty="0">
                <a:sym typeface="+mn-ea"/>
              </a:rPr>
              <a:t>. </a:t>
            </a:r>
          </a:p>
          <a:p>
            <a:pPr marL="627380" indent="-627380" fontAlgn="auto">
              <a:lnSpc>
                <a:spcPct val="110000"/>
              </a:lnSpc>
            </a:pPr>
            <a:r>
              <a:rPr lang="en-US" altLang="zh-CN" sz="3200" b="1" dirty="0">
                <a:sym typeface="+mn-ea"/>
              </a:rPr>
              <a:t>             She’s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built up </a:t>
            </a:r>
            <a:r>
              <a:rPr lang="en-US" altLang="zh-CN" sz="3200" b="1" dirty="0">
                <a:sym typeface="+mn-ea"/>
              </a:rPr>
              <a:t>a very successful business.</a:t>
            </a:r>
          </a:p>
          <a:p>
            <a:pPr marL="627380" indent="-627380" fontAlgn="auto">
              <a:lnSpc>
                <a:spcPct val="110000"/>
              </a:lnSpc>
            </a:pPr>
            <a:r>
              <a:rPr lang="en-US" altLang="zh-CN" sz="3200" b="1" dirty="0">
                <a:sym typeface="+mn-ea"/>
              </a:rPr>
              <a:t>             The museum has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built up </a:t>
            </a:r>
            <a:r>
              <a:rPr lang="en-US" altLang="zh-CN" sz="3200" b="1" dirty="0">
                <a:sym typeface="+mn-ea"/>
              </a:rPr>
              <a:t>a fine art collection. </a:t>
            </a:r>
          </a:p>
          <a:p>
            <a:pPr marL="1349375" indent="-627380">
              <a:lnSpc>
                <a:spcPct val="110000"/>
              </a:lnSpc>
            </a:pPr>
            <a:r>
              <a:rPr lang="en-US" sz="3200" b="1" dirty="0">
                <a:sym typeface="+mn-ea"/>
              </a:rPr>
              <a:t>      If you don’t express your feelings, frustration and anger can 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build up</a:t>
            </a:r>
            <a:r>
              <a:rPr lang="en-US" sz="3200" b="1" dirty="0">
                <a:sym typeface="+mn-ea"/>
              </a:rPr>
              <a:t>.</a:t>
            </a:r>
            <a:endParaRPr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81" y="476101"/>
            <a:ext cx="1385686" cy="7733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" y="1701800"/>
            <a:ext cx="1200213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build on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的基础上发展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   	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弥补；构成；编造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占据；开始人事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wake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醒来；开始警觉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pick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捡起；学会；搭载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set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建立，创立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抚养；提出；呕吐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clear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打扫；放晴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上升；被提及；即将发生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stay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深夜不睡；熬夜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up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举起；张贴；留宿；建立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6626" y="753762"/>
            <a:ext cx="11219935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Practising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Chinese kung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can not only build __________ one’s strength, but also develop one’s character.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They want to set __________ their own import-export business.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Michael put __________  a picture of Yao Ming beside the bed to keep himself reminded of his own dreams.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author referred to the ways __________ (build) up confidence in detail in his new book.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62984" y="1235676"/>
            <a:ext cx="6399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1978" y="2426043"/>
            <a:ext cx="6399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98959" y="3599935"/>
            <a:ext cx="6399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59145" y="4831492"/>
            <a:ext cx="164179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build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4daa983-afa8-4ee0-a120-df3c43d97275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129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1293_1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2"/>
  <p:tag name="KSO_WM_UNIT_DEC_AREA_ID" val="87fed009d2ac4cc6b2d08df403cd486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d519dc74f5422794ba784262847fd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4"/>
  <p:tag name="KSO_WM_UNIT_TYPE" val="a"/>
  <p:tag name="KSO_WM_UNIT_INDEX" val="1"/>
  <p:tag name="KSO_WM_UNIT_ISNUMDGMTITLE" val="0"/>
  <p:tag name="KSO_WM_UNIT_PRESET_TEXT" val="创意品牌推广方案"/>
  <p:tag name="KSO_WM_UNIT_BLOCK" val="0"/>
  <p:tag name="KSO_WM_UNIT_DEC_AREA_ID" val="e94bd682be8b4418be03daacfb752d4c"/>
  <p:tag name="KSO_WM_UNIT_DEFAULT_FONT" val="24;60;4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9bc15d7d3044c80a6fc7b7d9c4ac089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ae"/>
  <p:tag name="KSO_WM_TEMPLATE_ASSEMBLE_GROUPID" val="5fa0fd07a8fc48be8080e79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9"/>
  <p:tag name="KSO_WM_UNIT_TYPE" val="b"/>
  <p:tag name="KSO_WM_UNIT_INDEX" val="1"/>
  <p:tag name="KSO_WM_UNIT_ISNUMDGMTITLE" val="0"/>
  <p:tag name="KSO_WM_UNIT_PRESET_TEXT" val="此处添加副标题内容"/>
  <p:tag name="KSO_WM_UNIT_BLOCK" val="0"/>
  <p:tag name="KSO_WM_UNIT_DEC_AREA_ID" val="bbcf2772b2c343209350ea40fe9b3f86"/>
  <p:tag name="KSO_WM_UNIT_DEFAULT_FONT" val="18;24;2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9bc15d7d3044c80a6fc7b7d9c4ac089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ae"/>
  <p:tag name="KSO_WM_TEMPLATE_ASSEMBLE_GROUPID" val="5fa0fd07a8fc48be8080e79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2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3"/>
  <p:tag name="KSO_WM_UNIT_DEC_AREA_ID" val="ab4ece2c928a4baaafb90c3c2e278ac4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e15ba83617d64fc6b109e9b981a2786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34f37ec0980f47a1af3b7d3af8ed1ab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da15b3f4ce2483da3539565a25eaaf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b886f1253c3b428282adae0639e94fb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62f32f05c4a4f00ab00d35837cf7c7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32;2"/>
  <p:tag name="KSO_WM_UNIT_BLOCK" val="0"/>
  <p:tag name="KSO_WM_UNIT_DEC_AREA_ID" val="babe2e0cd4c342568048a050fb317af6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82df27532dd14e25b7f604e27735c25a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a9"/>
  <p:tag name="KSO_WM_TEMPLATE_ASSEMBLE_GROUPID" val="5fa0fd07a8fc48be8080e7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6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7a8c00639c474901b56d9777ab95a400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82df27532dd14e25b7f604e27735c25a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a9"/>
  <p:tag name="KSO_WM_TEMPLATE_ASSEMBLE_GROUPID" val="5fa0fd07a8fc48be8080e79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2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3"/>
  <p:tag name="KSO_WM_UNIT_DEC_AREA_ID" val="71da2df21867433a8785a6e49e807f6e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fd81a4c5f14149d8af6cd44c0f24266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26a788a8b837421390fb74640dd338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0d7ca7f5f494a319fe07cece3ce11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1293_1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2"/>
  <p:tag name="KSO_WM_UNIT_DEC_AREA_ID" val="87fed009d2ac4cc6b2d08df403cd486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d519dc74f5422794ba784262847fd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96d83f363bcc494ea61ee02635dd7cf8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929c46263b774243b778b3be232cdc81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c4"/>
  <p:tag name="KSO_WM_TEMPLATE_ASSEMBLE_GROUPID" val="5fa0fd07a8fc48be8080e79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a5f8170114864349bad27e18bf193b90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929c46263b774243b778b3be232cdc81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c4"/>
  <p:tag name="KSO_WM_TEMPLATE_ASSEMBLE_GROUPID" val="5fa0fd07a8fc48be8080e79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  <p:tag name="KSO_WM_SLIDE_BACKGROUND_TYPE" val="genera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  <p:tag name="KSO_WM_SLIDE_BACKGROUND_TYPE" val="genera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6f85697011dd4c36953a7afb80b62e6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a46edf111714b50a52e157a8204f32d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86ab4b764f084da0b0502715ef32d34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4c6c9ef86c441ffa4c6c1da9248515d"/>
  <p:tag name="KSO_WM_SLIDE_BACKGROUND_TYPE" val="fram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20a7f9f60f3246429387fc233527e96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95f201a57ca4aad8084c553c63b0aa9"/>
  <p:tag name="KSO_WM_SLIDE_BACKGROUND_TYPE" val="fram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1d59e8ea84f849ada1bcf878678826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977b0a7ba2e438cb853c03727ed2470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2a643f70f90349f49bd0b4e8a8c3011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2b7eab650cc40d39006fce446f7fe43"/>
  <p:tag name="KSO_WM_SLIDE_BACKGROUND_TYPE" val="leftRigh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0130ad08a7fd42a3ba645fd34681ba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33360b5c486479486f189883183c53a"/>
  <p:tag name="KSO_WM_SLIDE_BACKGROUND_TYPE" val="leftRigh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9ce9fcbcdd454ec6b7cb78105b003fd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29a7da2a7710452499ce906a6815b25a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bb1dbd7aca9e40908e1e17eb1041170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8d234d209be4976b2e0cf01005a0ef0"/>
  <p:tag name="KSO_WM_SLIDE_BACKGROUND_TYPE" val="topBot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e002303fbfca4df79512f67617623bf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5a2004ac49b4bb69c57f8a02a26ca3c"/>
  <p:tag name="KSO_WM_SLIDE_BACKGROUND_TYPE" val="topBot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fb223afda20e4bc98e7e527da0d4061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fc67831cb5a49c892673ec7cdbcd031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43ced91df8614865bce67ad2c586938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053a95a3884383997281928459716d"/>
  <p:tag name="KSO_WM_SLIDE_BACKGROUND_TYPE" val="bottomTop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18b5cfe565f84a319a39b55186d91e5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6ee6a1a3283454ab095ea878c93175b"/>
  <p:tag name="KSO_WM_SLIDE_BACKGROUND_TYPE" val="bottomTop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21db78a4d71642f9a87d6340830d130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ae098f97e7544f99dcde5a345b84b25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c62eb7bccd404f4ca7c94d4633816c7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cf38ca99e8c4975816fd3b4fa3bcaef"/>
  <p:tag name="KSO_WM_SLIDE_BACKGROUND_TYPE" val="naviga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43565377674c4cd0a3bff888d75576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cb715d7cd84472bb6f1213135d85596"/>
  <p:tag name="KSO_WM_SLIDE_BACKGROUND_TYPE" val="navigati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31b30d0a2a7348c58dd356ae2b69102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588f85b4d0f401db79975545894d9c4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777104886814beabcda27e16173ea6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80169f800204570a19767162010aec9"/>
  <p:tag name="KSO_WM_SLIDE_BACKGROUND_TYPE" val="bel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a2a9c69b03444257a848bde0c59860b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66040eb1a6e446992c17124a1fc928c"/>
  <p:tag name="KSO_WM_SLIDE_BACKGROUND_TYPE" val="bel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129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1293_1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2"/>
  <p:tag name="KSO_WM_UNIT_DEC_AREA_ID" val="87fed009d2ac4cc6b2d08df403cd486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d519dc74f5422794ba784262847fd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4"/>
  <p:tag name="KSO_WM_UNIT_TYPE" val="a"/>
  <p:tag name="KSO_WM_UNIT_INDEX" val="1"/>
  <p:tag name="KSO_WM_UNIT_ISNUMDGMTITLE" val="0"/>
  <p:tag name="KSO_WM_UNIT_PRESET_TEXT" val="创意品牌推广方案"/>
  <p:tag name="KSO_WM_UNIT_BLOCK" val="0"/>
  <p:tag name="KSO_WM_UNIT_DEC_AREA_ID" val="e94bd682be8b4418be03daacfb752d4c"/>
  <p:tag name="KSO_WM_UNIT_DEFAULT_FONT" val="24;60;4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9bc15d7d3044c80a6fc7b7d9c4ac089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ae"/>
  <p:tag name="KSO_WM_TEMPLATE_ASSEMBLE_GROUPID" val="5fa0fd07a8fc48be8080e79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9"/>
  <p:tag name="KSO_WM_UNIT_TYPE" val="b"/>
  <p:tag name="KSO_WM_UNIT_INDEX" val="1"/>
  <p:tag name="KSO_WM_UNIT_ISNUMDGMTITLE" val="0"/>
  <p:tag name="KSO_WM_UNIT_PRESET_TEXT" val="此处添加副标题内容"/>
  <p:tag name="KSO_WM_UNIT_BLOCK" val="0"/>
  <p:tag name="KSO_WM_UNIT_DEC_AREA_ID" val="bbcf2772b2c343209350ea40fe9b3f86"/>
  <p:tag name="KSO_WM_UNIT_DEFAULT_FONT" val="18;24;2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9bc15d7d3044c80a6fc7b7d9c4ac089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ae"/>
  <p:tag name="KSO_WM_TEMPLATE_ASSEMBLE_GROUPID" val="5fa0fd07a8fc48be8080e79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2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3"/>
  <p:tag name="KSO_WM_UNIT_DEC_AREA_ID" val="ab4ece2c928a4baaafb90c3c2e278ac4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e15ba83617d64fc6b109e9b981a2786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34f37ec0980f47a1af3b7d3af8ed1ab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da15b3f4ce2483da3539565a25eaaf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b886f1253c3b428282adae0639e94fb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62f32f05c4a4f00ab00d35837cf7c7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32;2"/>
  <p:tag name="KSO_WM_UNIT_BLOCK" val="0"/>
  <p:tag name="KSO_WM_UNIT_DEC_AREA_ID" val="babe2e0cd4c342568048a050fb317af6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82df27532dd14e25b7f604e27735c25a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a9"/>
  <p:tag name="KSO_WM_TEMPLATE_ASSEMBLE_GROUPID" val="5fa0fd07a8fc48be8080e79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6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7a8c00639c474901b56d9777ab95a400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82df27532dd14e25b7f604e27735c25a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a9"/>
  <p:tag name="KSO_WM_TEMPLATE_ASSEMBLE_GROUPID" val="5fa0fd07a8fc48be8080e79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2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3"/>
  <p:tag name="KSO_WM_UNIT_DEC_AREA_ID" val="71da2df21867433a8785a6e49e807f6e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fd81a4c5f14149d8af6cd44c0f24266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26a788a8b837421390fb74640dd338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0d7ca7f5f494a319fe07cece3ce117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1293_1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2"/>
  <p:tag name="KSO_WM_UNIT_DEC_AREA_ID" val="87fed009d2ac4cc6b2d08df403cd486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d519dc74f5422794ba784262847fd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1293_1*b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96d83f363bcc494ea61ee02635dd7cf8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929c46263b774243b778b3be232cdc81"/>
  <p:tag name="KSO_WM_UNIT_TEXT_FILL_FORE_SCHEMECOLOR_INDEX_BRIGHTNESS" val="0.35"/>
  <p:tag name="KSO_WM_UNIT_TEXT_FILL_FORE_SCHEMECOLOR_INDEX" val="13"/>
  <p:tag name="KSO_WM_UNIT_TEXT_FILL_TYPE" val="1"/>
  <p:tag name="KSO_WM_TEMPLATE_ASSEMBLE_XID" val="5fa10962a8fc48be8080f8c4"/>
  <p:tag name="KSO_WM_TEMPLATE_ASSEMBLE_GROUPID" val="5fa0fd07a8fc48be8080e79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1293_1*a*1"/>
  <p:tag name="KSO_WM_TEMPLATE_CATEGORY" val="custom"/>
  <p:tag name="KSO_WM_TEMPLATE_INDEX" val="20201293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a5f8170114864349bad27e18bf193b90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929c46263b774243b778b3be232cdc81"/>
  <p:tag name="KSO_WM_UNIT_TEXT_FILL_FORE_SCHEMECOLOR_INDEX_BRIGHTNESS" val="0.15"/>
  <p:tag name="KSO_WM_UNIT_TEXT_FILL_FORE_SCHEMECOLOR_INDEX" val="13"/>
  <p:tag name="KSO_WM_UNIT_TEXT_FILL_TYPE" val="1"/>
  <p:tag name="KSO_WM_TEMPLATE_ASSEMBLE_XID" val="5fa10962a8fc48be8080f8c4"/>
  <p:tag name="KSO_WM_TEMPLATE_ASSEMBLE_GROUPID" val="5fa0fd07a8fc48be8080e79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b966c19b8754f9f93cb9042a7a420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065b8a75fb4407c87e632bbc8e4014b"/>
  <p:tag name="KSO_WM_SLIDE_BACKGROUND_TYPE" val="genera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c2735642b92e4964ba5ebc667497bb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7c9b494148b40e39254004b50a66bf2"/>
  <p:tag name="KSO_WM_SLIDE_BACKGROUND_TYPE" val="genera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6f85697011dd4c36953a7afb80b62e6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a46edf111714b50a52e157a8204f32d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86ab4b764f084da0b0502715ef32d34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4c6c9ef86c441ffa4c6c1da9248515d"/>
  <p:tag name="KSO_WM_SLIDE_BACKGROUND_TYPE" val="fram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20a7f9f60f3246429387fc233527e96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95f201a57ca4aad8084c553c63b0aa9"/>
  <p:tag name="KSO_WM_SLIDE_BACKGROUND_TYPE" val="fram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1d59e8ea84f849ada1bcf878678826e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977b0a7ba2e438cb853c03727ed2470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2a643f70f90349f49bd0b4e8a8c3011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2b7eab650cc40d39006fce446f7fe43"/>
  <p:tag name="KSO_WM_SLIDE_BACKGROUND_TYPE" val="left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0130ad08a7fd42a3ba645fd34681ba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33360b5c486479486f189883183c53a"/>
  <p:tag name="KSO_WM_SLIDE_BACKGROUND_TYPE" val="left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9ce9fcbcdd454ec6b7cb78105b003fd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29a7da2a7710452499ce906a6815b25a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bb1dbd7aca9e40908e1e17eb1041170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8d234d209be4976b2e0cf01005a0ef0"/>
  <p:tag name="KSO_WM_SLIDE_BACKGROUND_TYPE" val="topBotto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e002303fbfca4df79512f67617623bf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5a2004ac49b4bb69c57f8a02a26ca3c"/>
  <p:tag name="KSO_WM_SLIDE_BACKGROUND_TYPE" val="topBotto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fb223afda20e4bc98e7e527da0d4061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fc67831cb5a49c892673ec7cdbcd031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43ced91df8614865bce67ad2c586938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053a95a3884383997281928459716d"/>
  <p:tag name="KSO_WM_SLIDE_BACKGROUND_TYPE" val="bottomTop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18b5cfe565f84a319a39b55186d91e5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6ee6a1a3283454ab095ea878c93175b"/>
  <p:tag name="KSO_WM_SLIDE_BACKGROUND_TYPE" val="bottomTop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21db78a4d71642f9a87d6340830d130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ae098f97e7544f99dcde5a345b84b25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c62eb7bccd404f4ca7c94d4633816c7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cf38ca99e8c4975816fd3b4fa3bcaef"/>
  <p:tag name="KSO_WM_SLIDE_BACKGROUND_TYPE" val="navigation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43565377674c4cd0a3bff888d75576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cb715d7cd84472bb6f1213135d85596"/>
  <p:tag name="KSO_WM_SLIDE_BACKGROUND_TYPE" val="navigation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1293_5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6"/>
  <p:tag name="KSO_WM_UNIT_DEC_AREA_ID" val="31b30d0a2a7348c58dd356ae2b69102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588f85b4d0f401db79975545894d9c4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3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4"/>
  <p:tag name="KSO_WM_UNIT_DEC_AREA_ID" val="7777104886814beabcda27e16173ea6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80169f800204570a19767162010aec9"/>
  <p:tag name="KSO_WM_SLIDE_BACKGROUND_TYPE" val="bel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1293_4*i*1"/>
  <p:tag name="KSO_WM_TEMPLATE_CATEGORY" val="chip"/>
  <p:tag name="KSO_WM_TEMPLATE_INDEX" val="20201293"/>
  <p:tag name="KSO_WM_UNIT_LAYERLEVEL" val="1"/>
  <p:tag name="KSO_WM_TAG_VERSION" val="1.0"/>
  <p:tag name="KSO_WM_BEAUTIFY_FLAG" val="#wm#"/>
  <p:tag name="KSO_WM_CHIP_GROUPID" val="5fa0fd07a8fc48be8080e791"/>
  <p:tag name="KSO_WM_CHIP_XID" val="5fa0fd07a8fc48be8080e795"/>
  <p:tag name="KSO_WM_UNIT_DEC_AREA_ID" val="a2a9c69b03444257a848bde0c59860b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66040eb1a6e446992c17124a1fc928c"/>
  <p:tag name="KSO_WM_SLIDE_BACKGROUND_TYPE" val="bel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129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6F62A1"/>
      </a:accent1>
      <a:accent2>
        <a:srgbClr val="4775AD"/>
      </a:accent2>
      <a:accent3>
        <a:srgbClr val="3A8599"/>
      </a:accent3>
      <a:accent4>
        <a:srgbClr val="4A8D79"/>
      </a:accent4>
      <a:accent5>
        <a:srgbClr val="708F62"/>
      </a:accent5>
      <a:accent6>
        <a:srgbClr val="A08C6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6F62A1"/>
      </a:accent1>
      <a:accent2>
        <a:srgbClr val="4775AD"/>
      </a:accent2>
      <a:accent3>
        <a:srgbClr val="3A8599"/>
      </a:accent3>
      <a:accent4>
        <a:srgbClr val="4A8D79"/>
      </a:accent4>
      <a:accent5>
        <a:srgbClr val="708F62"/>
      </a:accent5>
      <a:accent6>
        <a:srgbClr val="A08C6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djacency">
    <a:dk1>
      <a:srgbClr val="000000"/>
    </a:dk1>
    <a:lt1>
      <a:srgbClr val="FFFFFF"/>
    </a:lt1>
    <a:dk2>
      <a:srgbClr val="F0F0F0"/>
    </a:dk2>
    <a:lt2>
      <a:srgbClr val="FFFFFF"/>
    </a:lt2>
    <a:accent1>
      <a:srgbClr val="6F62A1"/>
    </a:accent1>
    <a:accent2>
      <a:srgbClr val="4775AD"/>
    </a:accent2>
    <a:accent3>
      <a:srgbClr val="3A8599"/>
    </a:accent3>
    <a:accent4>
      <a:srgbClr val="4A8D79"/>
    </a:accent4>
    <a:accent5>
      <a:srgbClr val="708F62"/>
    </a:accent5>
    <a:accent6>
      <a:srgbClr val="A08C60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5680</Words>
  <Application>Microsoft Macintosh PowerPoint</Application>
  <PresentationFormat>Widescreen</PresentationFormat>
  <Paragraphs>581</Paragraphs>
  <Slides>62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楷体</vt:lpstr>
      <vt:lpstr>微软雅黑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Wingdings</vt:lpstr>
      <vt:lpstr>Office 主题​​</vt:lpstr>
      <vt:lpstr>1_Office 主题​​</vt:lpstr>
      <vt:lpstr>2_Office 主题​​</vt:lpstr>
      <vt:lpstr>3_Office 主题​​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414</cp:revision>
  <dcterms:created xsi:type="dcterms:W3CDTF">2024-02-28T03:04:41Z</dcterms:created>
  <dcterms:modified xsi:type="dcterms:W3CDTF">2026-07-22T05:16:25Z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1033-6.5.1.8687</vt:lpwstr>
  </property>
  <property fmtid="{D5CDD505-2E9C-101B-9397-08002B2CF9AE}" pid="3" name="ICV">
    <vt:lpwstr>4363EEF7F8B44CAB8B3EEAFEB2CB3E18</vt:lpwstr>
  </property>
</Properties>
</file>