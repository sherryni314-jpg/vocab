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619" r:id="rId2"/>
    <p:sldId id="621" r:id="rId3"/>
    <p:sldId id="624" r:id="rId4"/>
    <p:sldId id="598" r:id="rId5"/>
    <p:sldId id="600" r:id="rId6"/>
    <p:sldId id="442" r:id="rId7"/>
    <p:sldId id="656" r:id="rId8"/>
    <p:sldId id="443" r:id="rId9"/>
    <p:sldId id="444" r:id="rId10"/>
    <p:sldId id="591" r:id="rId11"/>
    <p:sldId id="616" r:id="rId12"/>
    <p:sldId id="601" r:id="rId13"/>
    <p:sldId id="602" r:id="rId14"/>
    <p:sldId id="617" r:id="rId15"/>
    <p:sldId id="604" r:id="rId16"/>
    <p:sldId id="590" r:id="rId17"/>
    <p:sldId id="618" r:id="rId18"/>
    <p:sldId id="593" r:id="rId19"/>
    <p:sldId id="605" r:id="rId20"/>
    <p:sldId id="606" r:id="rId21"/>
    <p:sldId id="608" r:id="rId22"/>
    <p:sldId id="622" r:id="rId23"/>
    <p:sldId id="680" r:id="rId24"/>
    <p:sldId id="627" r:id="rId25"/>
    <p:sldId id="681" r:id="rId26"/>
    <p:sldId id="628" r:id="rId27"/>
    <p:sldId id="629" r:id="rId28"/>
    <p:sldId id="630" r:id="rId29"/>
    <p:sldId id="631" r:id="rId30"/>
    <p:sldId id="632" r:id="rId31"/>
    <p:sldId id="588" r:id="rId32"/>
    <p:sldId id="62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F39B77"/>
    <a:srgbClr val="E9EBF5"/>
    <a:srgbClr val="FFFFFF"/>
    <a:srgbClr val="CFD5EA"/>
    <a:srgbClr val="4472C4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3F60E-794B-40BA-960D-A62AADD4841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69CFB-EF14-41ED-809A-6131161FDF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增添了生气和趣味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1.未经加工或经最低限度加工的食品(unprocessed or minimally processed foods)，包括水果、蔬菜、牛奶、鱼、鸡蛋等食品，这些食品没有添加任何成分，而且几乎没有改变自然状态；2.加工过的食品原料(processed ingredients)：从第一组食品中提炼用于烹饪的调味料，如盐、糖和油；3.加工食品(processed foods)：将第一组和第二组的食物组合在一起，并经过加工处理而成，包括果酱、盐焗坚果、罐头水果和蔬菜(tinned fruits and vegetables)等；4.超加工食品：通常含有许多添加剂(additives)，如防腐剂(preservatives)、甜味剂(sweeteners)、人工色素(artificial colours)，这些食品通常具有很长的保质期(shelf life)。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grow/expand/boost the economy of China</a:t>
            </a:r>
          </a:p>
          <a:p>
            <a:r>
              <a:rPr lang="en-US"/>
              <a:t>ruin / weaken ...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紧张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620" y="82550"/>
            <a:ext cx="1220406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Joining us in the studio tonight are James Smith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a local resident </a:t>
            </a:r>
            <a:r>
              <a:rPr 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完全倒装的情况：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Standing inside were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lots of strange creatures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white skin and large black eyes.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be carefully considered are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following questions.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表语置于居首</a:t>
            </a:r>
          </a:p>
          <a:p>
            <a:pPr eaLnBrk="0" fontAlgn="auto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Down came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hammer and out flew the sparks.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073150" eaLnBrk="0" fontAlgn="auto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Out rushed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little boy with a wooden gun from behind the tree. </a:t>
            </a:r>
          </a:p>
          <a:p>
            <a:pPr indent="-1073150" eaLnBrk="0" fontAlgn="auto" hangingPunct="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地点时间方位词置于居首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7569" y="2904792"/>
            <a:ext cx="9609506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当句子的主语是代词时，主谓不倒装。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you are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I’ve been looking for you.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85420" y="204470"/>
            <a:ext cx="11675745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1073150" eaLnBrk="0" fontAlgn="auto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remains a certain doubt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among the people as to  the practical value of the project.</a:t>
            </a:r>
          </a:p>
          <a:p>
            <a:pPr indent="-1073150" eaLnBrk="0" fontAlgn="auto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+ live, exist, lie, rise, remain, come, go...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2370" y="164122"/>
            <a:ext cx="11054861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用完全倒装形式完成句子。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We have to stop talking here outside. Listen! 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铃响了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！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child tiptoed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踮着脚走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quietly to the bird. __________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它飞走进了森林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We have been keeping guard for four hours and _________________________________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现在轮到你了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河对岸住着一位老教授。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(beyond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置于句首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___________________________________________________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重生的机会来自每一次危机。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(out of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置于句首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indent="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___________________________________________________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9231" y="1259938"/>
            <a:ext cx="1066800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goes the bell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79231" y="1908578"/>
            <a:ext cx="10668000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              Away it flew into the forest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5675" y="3634740"/>
            <a:ext cx="422529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now comes your turn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4739" y="4794738"/>
            <a:ext cx="698492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Beyond the river lives an old professor.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5446" y="5978015"/>
            <a:ext cx="888794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every crisis comes the chance to be reborn.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9240" y="216535"/>
            <a:ext cx="1192339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505" indent="-3575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Then heavy industry factories moved in, and things became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entirely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different.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entirely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completely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完全地，全部地，完整地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entire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【Synonyms】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wholly, totally, completely, thoroughly, all, altogether, outright.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claimed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声称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the unemployment figures were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 entirely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unexpected.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她声称失业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数据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并非完全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出乎意料。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14855" y="1322113"/>
            <a:ext cx="10610946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dark, rainy evening, the wind, the thundering clouds held me _________ (entire) in their power.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她这一辈子都生活在伦敦。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She has spent _______________ in London.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婴儿完全依赖别人喂食。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Babies ________________ others for food.</a:t>
            </a:r>
          </a:p>
        </p:txBody>
      </p:sp>
      <p:sp>
        <p:nvSpPr>
          <p:cNvPr id="6" name="矩形 5"/>
          <p:cNvSpPr/>
          <p:nvPr/>
        </p:nvSpPr>
        <p:spPr>
          <a:xfrm>
            <a:off x="2949145" y="2467587"/>
            <a:ext cx="1522148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entirely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4280" y="3655102"/>
            <a:ext cx="2540632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her entire life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685076" y="4799073"/>
            <a:ext cx="283718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rely entirely 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0810" y="135255"/>
            <a:ext cx="1185227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27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smog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the air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colored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sky a smoky grey; it’s also given me a cough that I can’t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get rid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452755" fontAlgn="auto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空气中的雾霾把天空染成了烟灰色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还让我患上了咳嗽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老是不好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indent="-4527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smog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 form of air pollution that is or looks like a mixture of smoke and fog, especially in cities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>
                <a:latin typeface="Times New Roman" panose="02020503050405090304" pitchFamily="18" charset="0"/>
                <a:cs typeface="Times New Roman" panose="02020503050405090304" pitchFamily="18" charset="0"/>
              </a:rPr>
              <a:t>烟雾（烟与雾混合的空气污染物，尤见于城市）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-452755" fontAlgn="auto">
              <a:lnSpc>
                <a:spcPct val="120000"/>
              </a:lnSpc>
            </a:pP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由smoke和fog两个词各取一部分缩合而成的一个新词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称为缩合构词法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brunch, motel,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38542" y="419662"/>
            <a:ext cx="11327473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children love to draw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colour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drew a monster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coloured it green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Don’t let your judgement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coloured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personal feelings.</a:t>
            </a:r>
          </a:p>
          <a:p>
            <a:pPr marL="452755" indent="-45275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Her acting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added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warmth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colour to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production.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37550" y="1101725"/>
            <a:ext cx="292163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colour sth + adj.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985510" y="2282825"/>
            <a:ext cx="567118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负面影响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to affect sth negatively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397750" y="3597275"/>
            <a:ext cx="425894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make it more interesting</a:t>
            </a:r>
          </a:p>
        </p:txBody>
      </p:sp>
      <p:sp>
        <p:nvSpPr>
          <p:cNvPr id="6" name="Text Box 5"/>
          <p:cNvSpPr txBox="1"/>
          <p:nvPr>
            <p:custDataLst>
              <p:tags r:id="rId1"/>
            </p:custDataLst>
          </p:nvPr>
        </p:nvSpPr>
        <p:spPr>
          <a:xfrm>
            <a:off x="8464550" y="419735"/>
            <a:ext cx="9969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涂色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267335" y="270510"/>
            <a:ext cx="11721465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rid of  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摆脱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丢弃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扔掉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		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throw sth away; make yourself free of sth annoying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rid sth 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(formal) </a:t>
            </a:r>
            <a:r>
              <a:rPr lang="en-US" altLang="zh-CN" sz="3200" b="1" dirty="0" err="1">
                <a:latin typeface="Times New Roman" panose="02020503050405090304" pitchFamily="18" charset="0"/>
                <a:sym typeface="+mn-ea"/>
              </a:rPr>
              <a:t>去除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, </a:t>
            </a:r>
            <a:r>
              <a:rPr lang="en-US" altLang="zh-CN" sz="3200" b="1" dirty="0" err="1">
                <a:latin typeface="Times New Roman" panose="02020503050405090304" pitchFamily="18" charset="0"/>
                <a:sym typeface="+mn-ea"/>
              </a:rPr>
              <a:t>清除</a:t>
            </a:r>
            <a:endParaRPr lang="en-US" altLang="zh-CN" sz="3200" b="1" dirty="0">
              <a:latin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rid oneself of sb. /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摆脱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从</a:t>
            </a:r>
            <a:r>
              <a:rPr lang="en-US" altLang="zh-CN" sz="3200" b="1" dirty="0">
                <a:latin typeface="+mn-ea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中解脱</a:t>
            </a:r>
            <a:endParaRPr lang="en-US" altLang="zh-CN" sz="3200" b="1" dirty="0">
              <a:latin typeface="Times New Roman" panose="02020503050405090304" pitchFamily="18" charset="0"/>
              <a:sym typeface="+mn-ea"/>
            </a:endParaRPr>
          </a:p>
          <a:p>
            <a:pPr indent="-714375" fontAlgn="auto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It’s easy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into the habit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of taking drugs but hard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rid of 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714375" fontAlgn="auto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can’t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get rid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war until we get rid of the causes of war. </a:t>
            </a:r>
          </a:p>
          <a:p>
            <a:pPr indent="-714375" fontAlgn="auto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is very hard for the people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rid the earth of pollution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714375" fontAlgn="auto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Will science finally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rid us of this disease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? </a:t>
            </a:r>
          </a:p>
          <a:p>
            <a:pPr indent="-714375" fontAlgn="auto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man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rid himself of debt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6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6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6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6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6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6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6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361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361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663072" y="946500"/>
            <a:ext cx="10292143" cy="521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每空填一词，使上下两句话的意思相同或相近。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1) It is not easy for him to get rid of the bad habit.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 It is hard for him to _______ _______ _______ the bad habit.</a:t>
            </a:r>
          </a:p>
          <a:p>
            <a:pPr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2) John plans to give up smoking in two months.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     John plans to ________ ________ ________ smoking in two months.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4976551" y="2870103"/>
            <a:ext cx="445466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rid        himself       of </a:t>
            </a:r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4095120" y="4757496"/>
            <a:ext cx="4139275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get            rid            of </a:t>
            </a:r>
          </a:p>
        </p:txBody>
      </p:sp>
      <p:sp>
        <p:nvSpPr>
          <p:cNvPr id="2" name="矩形 1"/>
          <p:cNvSpPr/>
          <p:nvPr/>
        </p:nvSpPr>
        <p:spPr>
          <a:xfrm>
            <a:off x="5237962" y="5440760"/>
            <a:ext cx="2645276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/rid himself of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/>
      <p:bldP spid="156678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4897" y="161569"/>
            <a:ext cx="11366246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Mr Smith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protested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against heavy industry.</a:t>
            </a:r>
          </a:p>
          <a:p>
            <a:pPr indent="-21558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protest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say or do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to show that you disagree with, especially publicly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[prəˈtɛst]</a:t>
            </a:r>
            <a:endParaRPr lang="en-US" altLang="zh-CN" sz="3200" b="1" i="1" dirty="0">
              <a:solidFill>
                <a:srgbClr val="9933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15582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公开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反对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抗议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(~about/against/at sth)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15582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Students took to the streets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protest against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decision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224345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say firmly that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is true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坚决地表示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申辩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后常接名词或从句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4527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has always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protested her innocence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4527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protested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journey was too far by car.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0680" y="409575"/>
            <a:ext cx="1142873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2755" lvl="0" indent="-45275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抗议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抗议书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行动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);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反对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['prəʊtest]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workers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staged a protest against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proposed changes in their contracts.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发起抗议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常用搭配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without protest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乖乖地，毫不反对地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under protest 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无奈地，不服气地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accepted the charge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without protest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wrote a letter of apology but only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under protest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7970" y="607642"/>
            <a:ext cx="11381096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workers went on strike __________(protest) against the economic policy of the government.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There is no point in __________ (protest). It won’t help much.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Thousands of people crowded into the street, __________ (protest) against the war.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Despite 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尽管当地居民反对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the building work will go ahead.</a:t>
            </a:r>
          </a:p>
        </p:txBody>
      </p:sp>
      <p:sp>
        <p:nvSpPr>
          <p:cNvPr id="3" name="矩形 2"/>
          <p:cNvSpPr/>
          <p:nvPr/>
        </p:nvSpPr>
        <p:spPr>
          <a:xfrm>
            <a:off x="5874047" y="1168882"/>
            <a:ext cx="1852367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protest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73068" y="2339799"/>
            <a:ext cx="1954959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protesting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831856" y="2938459"/>
            <a:ext cx="1954959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protesting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3"/>
          <p:cNvSpPr/>
          <p:nvPr>
            <p:custDataLst>
              <p:tags r:id="rId1"/>
            </p:custDataLst>
          </p:nvPr>
        </p:nvSpPr>
        <p:spPr>
          <a:xfrm>
            <a:off x="2335530" y="4094480"/>
            <a:ext cx="649605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protest from local residents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530" y="143510"/>
            <a:ext cx="120148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3855" fontAlgn="auto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People tend to connect factories with pictures of clouds of dirty smoke and  irresponsible businessmen eager to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huge profits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1970405" fontAlgn="auto"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profit 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money that you make in business or by selling things, especially after paying the costs involved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利润</a:t>
            </a:r>
            <a:r>
              <a:rPr lang="en-US" altLang="zh-CN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收益</a:t>
            </a:r>
            <a:r>
              <a:rPr lang="en-US" altLang="zh-CN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赢利</a:t>
            </a:r>
            <a:endParaRPr lang="en-US" altLang="zh-CN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make/earn a (big/small) profit  </a:t>
            </a:r>
            <a:r>
              <a:rPr lang="zh-CN" altLang="en-US" sz="30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盈利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0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sold the painting </a:t>
            </a:r>
            <a:r>
              <a:rPr lang="en-US" altLang="zh-CN" sz="30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a huge profit</a:t>
            </a:r>
            <a:r>
              <a:rPr lang="en-US" altLang="zh-CN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赚了很多钱</a:t>
            </a:r>
            <a:endParaRPr lang="zh-CN" altLang="en-US" sz="3000" b="1" u="sng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63855" fontAlgn="auto">
              <a:lnSpc>
                <a:spcPct val="120000"/>
              </a:lnSpc>
            </a:pPr>
            <a:r>
              <a:rPr lang="en-US" altLang="zh-CN" sz="30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report shows that there is an increase in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profits</a:t>
            </a:r>
            <a:r>
              <a:rPr lang="en-US" altLang="zh-CN" sz="30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this year.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0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advantage that you get from doing </a:t>
            </a:r>
            <a:r>
              <a:rPr lang="en-US" altLang="zh-CN" sz="30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0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好处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利益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[formal]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Future lawyers could study this text </a:t>
            </a:r>
            <a:r>
              <a:rPr lang="en-US" altLang="zh-CN" sz="30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with profit</a:t>
            </a:r>
            <a:r>
              <a:rPr lang="en-US" altLang="zh-CN" sz="3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770" y="541020"/>
            <a:ext cx="1157732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2755" lvl="0" indent="-45275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get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useful from a situation; to be useful to sb. or give them an advantage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获益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得到好处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有益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或有用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2755" lvl="0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profit from/ by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从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  <a:sym typeface="+mn-ea"/>
              </a:rPr>
              <a:t>中受益；靠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  <a:sym typeface="+mn-ea"/>
              </a:rPr>
              <a:t>获利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2755" lvl="0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 profit sb = sb profit from sth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某事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使某人获益</a:t>
            </a:r>
          </a:p>
          <a:p>
            <a:pPr marL="452755" lvl="0" indent="-45275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 can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profit from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mistakes and avoid them yourself.</a:t>
            </a:r>
          </a:p>
          <a:p>
            <a:pPr marL="452755" lvl="0" indent="-452755">
              <a:lnSpc>
                <a:spcPct val="12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2755" lvl="0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profitable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有利可图的；有益的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74625" lvl="0" indent="-174625" defTabSz="1797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It would be more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profitable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combine the two factories.</a:t>
            </a:r>
          </a:p>
          <a:p>
            <a:pPr marL="174625" lvl="0" indent="-174625" defTabSz="1797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spent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profitable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afternoon in the library.</a:t>
            </a:r>
          </a:p>
          <a:p>
            <a:pPr marL="174625" lvl="0" indent="-174625" defTabSz="1797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non-profit organization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非盈利组织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9017635" y="5188585"/>
            <a:ext cx="221805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颇有收获的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21324" y="1852247"/>
            <a:ext cx="10843846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We cannot guarantee that your firm will absolutely earn ________ profit by developing software.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He profited much ________ selling his shares to other investors.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architect sold the house he designed ________ a profit.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05354" y="3039495"/>
            <a:ext cx="38985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38200" y="3552093"/>
            <a:ext cx="179465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by/ from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28185" y="4858455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4140" y="304800"/>
            <a:ext cx="12216130" cy="658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755" indent="-452755">
              <a:lnSpc>
                <a:spcPct val="105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the factories, however,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  <a:p>
            <a:pPr marL="452755" indent="-452755">
              <a:lnSpc>
                <a:spcPct val="105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of /in one’s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为</a:t>
            </a:r>
            <a:r>
              <a:rPr lang="en-US" altLang="zh-CN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en-US" altLang="zh-CN" sz="3200" b="1" dirty="0" err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辩护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；保卫</a:t>
            </a:r>
            <a:r>
              <a:rPr lang="en-US" altLang="zh-CN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soldiers fought bravely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defence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of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country.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Whenevr anyone criticizes her son, she immediately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rushes/comes/jumps to his defence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赶忙为某人辩护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immune system in our body is our main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defence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against illness.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人体的免疫系统是抵御疾病的主要屏障。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3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something that is said or written in order to support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辩解；辩白</a:t>
            </a:r>
          </a:p>
          <a:p>
            <a:pPr lvl="0">
              <a:lnSpc>
                <a:spcPct val="13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defence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that she was somewhere completely different at the time of the crime.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95504" y="1467683"/>
            <a:ext cx="10439401" cy="4570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defend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保卫；防守；辩护；维护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defend … against/from …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保卫</a:t>
            </a:r>
            <a:r>
              <a:rPr lang="en-US" altLang="zh-CN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  <a:sym typeface="+mn-ea"/>
              </a:rPr>
              <a:t>免受</a:t>
            </a:r>
            <a:r>
              <a:rPr lang="en-US" altLang="zh-CN" sz="3200" b="1" dirty="0">
                <a:solidFill>
                  <a:prstClr val="black"/>
                </a:solidFill>
                <a:latin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Students should be ready to explain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their views.</a:t>
            </a:r>
          </a:p>
          <a:p>
            <a:pPr lvl="0">
              <a:lnSpc>
                <a:spcPct val="130000"/>
              </a:lnSpc>
            </a:pPr>
            <a:endParaRPr lang="en-US" altLang="zh-CN" sz="3200" b="1" dirty="0">
              <a:solidFill>
                <a:prstClr val="black"/>
              </a:solidFill>
              <a:latin typeface="宋体" pitchFamily="2" charset="-122"/>
              <a:cs typeface="Times New Roman" panose="02020503050405090304" pitchFamily="18" charset="0"/>
            </a:endParaRPr>
          </a:p>
          <a:p>
            <a:pPr lvl="0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defensive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防御的，保卫的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Don’t ask him about his plans - he just gets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defensive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存有戒心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826671" y="1075980"/>
            <a:ext cx="10754995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</a:rPr>
              <a:t>完成句子。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sym typeface="+mn-ea"/>
              </a:rPr>
              <a:t>T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hey were fighting like lions in </a:t>
            </a:r>
            <a:r>
              <a:rPr lang="en-US" altLang="zh-CN" sz="3200" b="1" dirty="0" err="1">
                <a:latin typeface="Times New Roman" panose="02020503050405090304" pitchFamily="18" charset="0"/>
                <a:sym typeface="+mn-ea"/>
              </a:rPr>
              <a:t>defence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 ________ their homeland.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</a:rPr>
              <a:t>2) </a:t>
            </a: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As a famous politician once said, attack is the best method of _________ (defend)</a:t>
            </a:r>
            <a:r>
              <a:rPr lang="zh-CN" altLang="en-US" sz="3200" b="1" dirty="0">
                <a:latin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sym typeface="+mn-ea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sym typeface="+mn-ea"/>
              </a:rPr>
              <a:t>3) The PLA defends our motherland _____________ being attacked.</a:t>
            </a:r>
            <a:endParaRPr lang="en-US" altLang="zh-CN" sz="3200" b="1" dirty="0">
              <a:latin typeface="Times New Roman" panose="02020503050405090304" pitchFamily="18" charset="0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969068" y="3400919"/>
            <a:ext cx="1721584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defence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sym typeface="+mn-ea"/>
            </a:endParaRPr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8719966" y="1628729"/>
            <a:ext cx="76555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of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7412073" y="3983239"/>
            <a:ext cx="2615786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from/against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/>
      <p:bldP spid="156678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9570" y="-169"/>
            <a:ext cx="11338207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We’ve been taking various measures, … to reduce pollution in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production process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even though these measures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raise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production costs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Repetition can help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learning process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marL="452755" indent="-4527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学习过程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stood up to say hello and spilled my drink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the process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			in the process of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某事的过程中</a:t>
            </a:r>
            <a:endParaRPr lang="en-US" altLang="zh-CN" sz="3200" b="1" dirty="0">
              <a:latin typeface="+mj-ea"/>
              <a:ea typeface="+mj-ea"/>
              <a:cs typeface="Times New Roman" panose="0202050305040509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000875" y="4748530"/>
            <a:ext cx="398272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= while I was doing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8445" y="172720"/>
            <a:ext cx="1129474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5877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treat raw material, food, etc. in order to change it, preserve it, </a:t>
            </a:r>
            <a:r>
              <a:rPr lang="en-US" altLang="zh-CN" sz="3200" b="1" i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etc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加工；处理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Most of the food we buy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process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ed in some way.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我们买的大部分食品都用某种方法加工过。</a:t>
            </a:r>
          </a:p>
          <a:p>
            <a:pPr indent="-3587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ultra-processed food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超加工食品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(unprocessed/minimally processed food)</a:t>
            </a:r>
          </a:p>
          <a:p>
            <a:pPr indent="-358775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常用搭配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食品加工业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污水处理厂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228975" y="4934585"/>
            <a:ext cx="509397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food processing industry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228975" y="5487670"/>
            <a:ext cx="46418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sewage processing plant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2680" y="1081803"/>
            <a:ext cx="10646727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All the information was then ready ________________ (process) into film negatives.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More than 100 applications for travel visas have to be _____________ (process).</a:t>
            </a: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company is 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过程中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moving to new offices.</a:t>
            </a:r>
          </a:p>
        </p:txBody>
      </p:sp>
      <p:sp>
        <p:nvSpPr>
          <p:cNvPr id="3" name="矩形 2"/>
          <p:cNvSpPr/>
          <p:nvPr/>
        </p:nvSpPr>
        <p:spPr>
          <a:xfrm>
            <a:off x="7466657" y="1689317"/>
            <a:ext cx="29488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be processed 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1326911" y="3445914"/>
            <a:ext cx="1889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processed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74037" y="4030689"/>
            <a:ext cx="311873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process of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3393" y="614240"/>
            <a:ext cx="11266714" cy="442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7. We’ve been taking various measures, …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本句是主从复合句。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主句使用现在完成进行时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been doing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，表示动作从过去某个时间开始，一直延续到现在，并有可能持续下去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know, I ________________ (look) for a job for three months, but I haven’t had any luck.</a:t>
            </a:r>
          </a:p>
        </p:txBody>
      </p:sp>
      <p:sp>
        <p:nvSpPr>
          <p:cNvPr id="3" name="矩形 4"/>
          <p:cNvSpPr/>
          <p:nvPr/>
        </p:nvSpPr>
        <p:spPr>
          <a:xfrm>
            <a:off x="2924992" y="3800819"/>
            <a:ext cx="32994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been looking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94615"/>
            <a:ext cx="12033250" cy="658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economic benefits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经济效益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/ˌiːkəˈnɒmɪk/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economical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经济实惠的，节俭的</a:t>
            </a:r>
          </a:p>
          <a:p>
            <a:pPr lvl="1">
              <a:lnSpc>
                <a:spcPct val="11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economical car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节油型汽车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(cars that are more economical on fuel)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1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would be more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economical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buy the bigger size.</a:t>
            </a:r>
          </a:p>
          <a:p>
            <a:pPr lvl="1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买尺寸大点的更实惠。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economy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经济，经济情况；节约，节省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/ɪˈkɒnəmi/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world economy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世界经济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4572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It's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false economy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buy cheap clothes.</a:t>
            </a:r>
          </a:p>
          <a:p>
            <a:pPr indent="457200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买便宜衣服实际上划不来。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economics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经济学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economist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经济学家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7684" y="270803"/>
            <a:ext cx="11136923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pollution levels on the rise…</a:t>
            </a:r>
          </a:p>
          <a:p>
            <a:pPr indent="3638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鉴于污染程度不断加重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 indent="3638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=with pollution levels rising, ...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7684" y="270803"/>
            <a:ext cx="11136923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38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介词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复合结构，常在句中作状语，表示谓语动作发生的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伴随情况、时间、原因、方式等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，也可作定语。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38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构成：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代词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宾语补足语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不定式、分词、形容词、副词、介词短语、名词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878205" indent="-514350">
              <a:lnSpc>
                <a:spcPct val="120000"/>
              </a:lnSpc>
              <a:buAutoNum type="arabicParenBoth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 to do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表动作还未发生，可用主动表被动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430655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so many things to deal with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I have to work around clock.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原因状语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0985" y="1008184"/>
            <a:ext cx="10972800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with+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+doing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宾语和动词之间是主动关系，表示动作正在进行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16078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the kind man leading us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we had no difficulty in finding the house where you lived.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原因状语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62103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with+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+done(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宾语和动词之间是被动关系，还可表示动作已经完成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16078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The thief was caught by the villagers,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his hands tied behind his back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7200" y="750276"/>
            <a:ext cx="11195539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with+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形容词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16078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We are having an English lesson,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the windows open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160780" indent="-11607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(5) with+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副词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16078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Tian’anmen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Square looks even more beautiful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all lights 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160780" indent="-11607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(6) with+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宾语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介词短语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16078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On the first day of my first grade, I stood by the door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butterflies in my stomach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139" y="351691"/>
            <a:ext cx="11289323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with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复合结构除作状语外，还可用作定语。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54125" indent="-7143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At the class meeting, our teacher told us about the program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the theme “working is the most beautiful”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62103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复合结构中，多数情况下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with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可省略，变为独立主格结构。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254125" indent="-7143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his homework done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(=Homework done), he went out with his friends.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过去分词构成独立主格结构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125412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friend came to visit me,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a smile on her face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(=a smile on face)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介词短语”构成独立主格结构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5107" y="715107"/>
            <a:ext cx="10855569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a lot of homework to do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(= A lot of homework to do), I have no time to do what I like to do. (“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不定式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构成独立主格结构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eventually climbed up to the top of the mountain,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tears streaming down the cheeks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(=tears streaming down the cheeks).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“名词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现在分词短语”构成独立主格结构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without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也可用于复合结构。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160780" indent="-6210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e.g.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a word more spoken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she left the meeting silently.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伴随状语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5108" y="762000"/>
            <a:ext cx="10714892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Moreover, with the stadium ____________ (set) up, a wide range of sports events are able to be held.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Without anything ____________ (worry) about, I feel asleep quickly, relieved.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In front of my house is a small river, with trees ____________ (stand) on both sides.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He lay in the dark empty house, feeling helpless, ____________ anyone to turn to.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98677" y="1336431"/>
            <a:ext cx="66396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6462" y="2520462"/>
            <a:ext cx="180369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worry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9846" y="4232030"/>
            <a:ext cx="168828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standing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94338" y="5489448"/>
            <a:ext cx="1629508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2241" y="248608"/>
            <a:ext cx="11427246" cy="567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855" indent="-363855">
              <a:lnSpc>
                <a:spcPct val="11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9. A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former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UN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official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once said, “Saving our planet,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lifting people out of poverty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advancing economic growth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…these are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one and the same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fight”.</a:t>
            </a:r>
            <a:r>
              <a:rPr lang="en-US" altLang="zh-CN" sz="3000" b="1" i="1" dirty="0">
                <a:latin typeface="Times New Roman Bold Italic" panose="02020503050405090304" charset="0"/>
                <a:ea typeface="+mj-ea"/>
                <a:cs typeface="Times New Roman Bold Italic" panose="02020503050405090304" charset="0"/>
                <a:sym typeface="+mn-ea"/>
              </a:rPr>
              <a:t>(used for emphasis)</a:t>
            </a:r>
            <a:endParaRPr lang="en-US" altLang="zh-CN" sz="3000" b="1" i="1" dirty="0">
              <a:latin typeface="Times New Roman Bold Italic" panose="02020503050405090304" charset="0"/>
              <a:ea typeface="+mj-ea"/>
              <a:cs typeface="Times New Roman Bold Italic" panose="02020503050405090304" charset="0"/>
            </a:endParaRPr>
          </a:p>
          <a:p>
            <a:pPr marL="363855" indent="-363855">
              <a:lnSpc>
                <a:spcPct val="11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0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一位联合国</a:t>
            </a:r>
            <a:r>
              <a:rPr lang="en-US" altLang="zh-CN" sz="30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前官员</a:t>
            </a:r>
            <a:r>
              <a:rPr lang="en-US" altLang="zh-CN" sz="30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曾经说过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“拯救我们的地球，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让人们摆脱贫困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实现经济增长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…… </a:t>
            </a:r>
            <a:r>
              <a:rPr lang="en-US" altLang="zh-CN" sz="30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这是</a:t>
            </a:r>
            <a:r>
              <a:rPr lang="en-US" altLang="zh-CN" sz="3000" b="1" dirty="0" err="1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同一场</a:t>
            </a:r>
            <a:r>
              <a:rPr lang="en-US" altLang="zh-CN" sz="30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战斗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</a:p>
          <a:p>
            <a:pPr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former 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000" dirty="0"/>
              <a:t> 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used to exist in earlier times</a:t>
            </a:r>
            <a:r>
              <a:rPr lang="en-US" altLang="zh-CN" sz="30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以前的</a:t>
            </a:r>
            <a:endParaRPr lang="en-US" altLang="zh-CN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416175" indent="-2416175">
              <a:lnSpc>
                <a:spcPct val="110000"/>
              </a:lnSpc>
            </a:pPr>
            <a:r>
              <a:rPr lang="en-US" altLang="zh-CN" sz="30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adj. </a:t>
            </a:r>
            <a:r>
              <a:rPr lang="en-US" altLang="zh-CN" sz="30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 used to have a particular position or status in the past</a:t>
            </a:r>
            <a:r>
              <a:rPr lang="en-US" altLang="zh-CN" sz="30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昔日的</a:t>
            </a:r>
            <a:r>
              <a:rPr lang="en-US" altLang="zh-CN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0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前任的</a:t>
            </a:r>
            <a:endParaRPr lang="en-US" altLang="zh-CN" sz="30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416175" indent="-2416175"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the former 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pron. (singular &amp; plural)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前者</a:t>
            </a:r>
          </a:p>
          <a:p>
            <a:pPr marL="2416175" indent="-2416175">
              <a:lnSpc>
                <a:spcPct val="11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latter  </a:t>
            </a:r>
            <a:r>
              <a:rPr lang="en-US" altLang="zh-CN" sz="30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后者的；后面的</a:t>
            </a:r>
            <a:endParaRPr lang="en-US" altLang="zh-CN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63855" indent="-363855">
              <a:lnSpc>
                <a:spcPct val="11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former… the latter…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前者</a:t>
            </a:r>
            <a:r>
              <a:rPr lang="en-US" altLang="zh-CN" sz="30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  <a:r>
              <a:rPr lang="zh-CN" altLang="en-US" sz="3000" b="1" dirty="0">
                <a:latin typeface="+mj-ea"/>
                <a:ea typeface="+mj-ea"/>
                <a:cs typeface="Times New Roman" panose="02020503050405090304" pitchFamily="18" charset="0"/>
              </a:rPr>
              <a:t>后者</a:t>
            </a:r>
            <a:r>
              <a:rPr lang="en-US" altLang="zh-CN" sz="30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7685" y="1249680"/>
            <a:ext cx="1137856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他们的农场已缩小到以前一半大小。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farm has been reduced to half _____ ______ ______.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beautiful old building has been restored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its former glory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这座美丽的老建筑物已恢复了昔日的壮观。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在游泳和足球中他更喜欢前者。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 swimming and football he prefers ______ _______.</a:t>
            </a:r>
            <a:endParaRPr lang="zh-CN" altLang="en-US" sz="3200" dirty="0"/>
          </a:p>
        </p:txBody>
      </p:sp>
      <p:sp>
        <p:nvSpPr>
          <p:cNvPr id="3" name="Text Box 2"/>
          <p:cNvSpPr txBox="1"/>
          <p:nvPr/>
        </p:nvSpPr>
        <p:spPr>
          <a:xfrm>
            <a:off x="7311390" y="1774190"/>
            <a:ext cx="3601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its    former   size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311390" y="40328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   former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2831</Words>
  <Application>Microsoft Macintosh PowerPoint</Application>
  <PresentationFormat>Widescreen</PresentationFormat>
  <Paragraphs>244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316</cp:revision>
  <dcterms:created xsi:type="dcterms:W3CDTF">2024-03-06T06:09:50Z</dcterms:created>
  <dcterms:modified xsi:type="dcterms:W3CDTF">2026-07-22T05:18:25Z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8212E42BDB52858FD22EF7639F61858C</vt:lpwstr>
  </property>
</Properties>
</file>