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5"/>
  </p:notesMasterIdLst>
  <p:sldIdLst>
    <p:sldId id="469" r:id="rId2"/>
    <p:sldId id="479" r:id="rId3"/>
    <p:sldId id="472" r:id="rId4"/>
    <p:sldId id="549" r:id="rId5"/>
    <p:sldId id="476" r:id="rId6"/>
    <p:sldId id="477" r:id="rId7"/>
    <p:sldId id="480" r:id="rId8"/>
    <p:sldId id="481" r:id="rId9"/>
    <p:sldId id="471" r:id="rId10"/>
    <p:sldId id="495" r:id="rId11"/>
    <p:sldId id="496" r:id="rId12"/>
    <p:sldId id="497" r:id="rId13"/>
    <p:sldId id="498" r:id="rId14"/>
  </p:sldIdLst>
  <p:sldSz cx="12192000" cy="6858000"/>
  <p:notesSz cx="6858000" cy="9144000"/>
  <p:embeddedFontLst>
    <p:embeddedFont>
      <p:font typeface="宋体" panose="02010600030101010101" pitchFamily="2" charset="-122"/>
      <p:regular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5E986C9B-A88A-41B8-B907-BBD3FD4A4393}">
          <p14:sldIdLst>
            <p14:sldId id="469"/>
            <p14:sldId id="479"/>
            <p14:sldId id="472"/>
            <p14:sldId id="549"/>
            <p14:sldId id="476"/>
            <p14:sldId id="477"/>
            <p14:sldId id="480"/>
            <p14:sldId id="481"/>
            <p14:sldId id="471"/>
            <p14:sldId id="495"/>
            <p14:sldId id="496"/>
            <p14:sldId id="497"/>
            <p14:sldId id="49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9933FF"/>
    <a:srgbClr val="0A74F9"/>
    <a:srgbClr val="FFFFFF"/>
    <a:srgbClr val="E9EBF5"/>
    <a:srgbClr val="CFD5EA"/>
    <a:srgbClr val="4472C4"/>
    <a:srgbClr val="C4DF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4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4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7/22/26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615615" y="1732548"/>
            <a:ext cx="10864515" cy="4228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1. When you think of a fearsome hunter, images of lions and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sharks may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spring to mind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当你想到一个可怕的捕猎者时，狮子和鲨鱼的形象可能会立刻跃入脑海。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3138805" indent="-31388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spring to mind: </a:t>
            </a:r>
            <a:r>
              <a:rPr lang="en-US" altLang="zh-CN" sz="3200" b="1" i="1" dirty="0">
                <a:solidFill>
                  <a:srgbClr val="9933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if </a:t>
            </a:r>
            <a:r>
              <a:rPr lang="en-US" altLang="zh-CN" sz="3200" b="1" i="1" dirty="0" err="1">
                <a:solidFill>
                  <a:srgbClr val="9933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sth</a:t>
            </a:r>
            <a:r>
              <a:rPr lang="en-US" altLang="zh-CN" sz="3200" b="1" i="1" dirty="0">
                <a:solidFill>
                  <a:srgbClr val="9933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 comes/springs to mind, you suddenly remember or think of it  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马上想到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,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突然记起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或想到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300" y="428582"/>
            <a:ext cx="5745144" cy="11189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65760" y="430530"/>
            <a:ext cx="11536680" cy="54063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fontAlgn="auto" hangingPunct="0">
              <a:lnSpc>
                <a:spcPct val="120000"/>
              </a:lnSpc>
              <a:buSzPct val="100000"/>
              <a:buFont typeface="Times New Roman" panose="02020503050405090304" pitchFamily="18" charset="0"/>
              <a:buNone/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When discussing modern artists, three names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spring/come to mind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.</a:t>
            </a:r>
          </a:p>
          <a:p>
            <a:pPr indent="0" fontAlgn="auto" hangingPunct="0">
              <a:lnSpc>
                <a:spcPct val="120000"/>
              </a:lnSpc>
              <a:buSzPct val="100000"/>
              <a:buFont typeface="Times New Roman" panose="02020503050405090304" pitchFamily="18" charset="0"/>
              <a:buNone/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讨论现代艺术家时，有三个名字一下子出现在脑海中。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 indent="0" fontAlgn="auto" hangingPunct="0">
              <a:lnSpc>
                <a:spcPct val="120000"/>
              </a:lnSpc>
              <a:buSzPct val="100000"/>
              <a:buFont typeface="Times New Roman" panose="02020503050405090304" pitchFamily="18" charset="0"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spring into action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,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spring into/to life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:</a:t>
            </a:r>
            <a:r>
              <a:rPr lang="en-US" altLang="zh-CN" sz="3200" dirty="0"/>
              <a:t>  </a:t>
            </a:r>
          </a:p>
          <a:p>
            <a:pPr indent="0" fontAlgn="auto" hangingPunct="0">
              <a:lnSpc>
                <a:spcPct val="120000"/>
              </a:lnSpc>
              <a:buSzPct val="100000"/>
              <a:buFont typeface="Times New Roman" panose="02020503050405090304" pitchFamily="18" charset="0"/>
              <a:buNone/>
            </a:pPr>
            <a:r>
              <a:rPr lang="en-US" altLang="zh-CN" sz="3200" b="1" i="1" dirty="0">
                <a:solidFill>
                  <a:srgbClr val="9933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(of a person, machine, etc.) to suddenly start working or doing </a:t>
            </a:r>
            <a:r>
              <a:rPr lang="en-US" altLang="zh-CN" sz="3200" b="1" i="1" dirty="0" err="1">
                <a:solidFill>
                  <a:srgbClr val="9933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sth</a:t>
            </a:r>
            <a:r>
              <a:rPr lang="en-US" altLang="zh-CN" sz="3200" b="1" i="1" dirty="0">
                <a:solidFill>
                  <a:srgbClr val="9933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 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突然工作(或行动)起来</a:t>
            </a:r>
          </a:p>
          <a:p>
            <a:pPr indent="0" fontAlgn="auto" hangingPunct="0">
              <a:lnSpc>
                <a:spcPct val="120000"/>
              </a:lnSpc>
              <a:buSzPct val="100000"/>
              <a:buFont typeface="Times New Roman" panose="02020503050405090304" pitchFamily="18" charset="0"/>
              <a:buNone/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“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Let's go!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”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he said,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springing into action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. </a:t>
            </a:r>
          </a:p>
          <a:p>
            <a:pPr indent="0" fontAlgn="auto" hangingPunct="0">
              <a:lnSpc>
                <a:spcPct val="120000"/>
              </a:lnSpc>
              <a:buSzPct val="100000"/>
              <a:buFont typeface="Times New Roman" panose="02020503050405090304" pitchFamily="18" charset="0"/>
              <a:buNone/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他突然行动起来，说道:“咱们走！”</a:t>
            </a:r>
          </a:p>
          <a:p>
            <a:pPr indent="0" fontAlgn="auto" hangingPunct="0">
              <a:lnSpc>
                <a:spcPct val="120000"/>
              </a:lnSpc>
              <a:buSzPct val="100000"/>
              <a:buFont typeface="Times New Roman" panose="02020503050405090304" pitchFamily="18" charset="0"/>
              <a:buNone/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The town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springs into life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during the carnival.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9553575" y="5716905"/>
            <a:ext cx="2638425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=become busy</a:t>
            </a:r>
            <a:endParaRPr 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7"/>
          <p:cNvSpPr txBox="1"/>
          <p:nvPr/>
        </p:nvSpPr>
        <p:spPr>
          <a:xfrm>
            <a:off x="131445" y="135255"/>
            <a:ext cx="11854815" cy="6587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Everyone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sprang to their feet</a:t>
            </a: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when the principal walked in.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(= stood up suddenly)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立刻站起来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spring to one’s defence/assistance</a:t>
            </a: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立刻站出来保护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/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帮助某人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spring out of bed</a:t>
            </a:r>
            <a:endParaRPr 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The branch 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sprang back</a:t>
            </a: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and hit him in the face.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弹回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Tears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sprang to her eyes.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她眼里一下子涌出了泪水。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The idea for the novel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sprang from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a trip to India.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写这部小说的想法</a:t>
            </a:r>
            <a:r>
              <a:rPr lang="zh-CN" altLang="en-US" sz="3200" b="1" u="sng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源于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一次去印度的旅行。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New theatres and arts centres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sprang up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all over the country.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新的剧院和艺术中心突然在全国各地</a:t>
            </a:r>
            <a:r>
              <a:rPr lang="zh-CN" altLang="en-US" sz="3200" b="1" u="sng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涌现出来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7"/>
          <p:cNvSpPr txBox="1"/>
          <p:nvPr/>
        </p:nvSpPr>
        <p:spPr>
          <a:xfrm>
            <a:off x="131445" y="135255"/>
            <a:ext cx="11854815" cy="24536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[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其他“突然想到”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]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It never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occurred to me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that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he hadn’t been invited to the party.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It suddenly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struck(hit) me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that ...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It flashed through/crossed my mind that...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0" y="628015"/>
            <a:ext cx="12192000" cy="3063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10593" tIns="55297" rIns="110593" bIns="55297" anchor="ctr">
            <a:spAutoFit/>
          </a:bodyPr>
          <a:lstStyle>
            <a:lvl1pPr marL="441325" indent="-441325" defTabSz="828675"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1pPr>
            <a:lvl2pPr marL="621030" defTabSz="828675"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2pPr>
            <a:lvl3pPr marL="828675" defTabSz="828675"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3pPr>
            <a:lvl4pPr marL="1244600" defTabSz="828675"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4pPr>
            <a:lvl5pPr marL="1659255" defTabSz="828675"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5pPr>
            <a:lvl6pPr marL="2116455" defTabSz="8286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6pPr>
            <a:lvl7pPr marL="2573655" defTabSz="8286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7pPr>
            <a:lvl8pPr marL="3030855" defTabSz="8286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8pPr>
            <a:lvl9pPr marL="3488055" defTabSz="8286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</a:defRPr>
            </a:lvl9pPr>
          </a:lstStyle>
          <a:p>
            <a:pPr marL="443230" indent="-443230" fontAlgn="auto" hangingPunct="0">
              <a:lnSpc>
                <a:spcPct val="120000"/>
              </a:lnSpc>
              <a:buSzPct val="100000"/>
              <a:buFont typeface="Times New Roman" panose="02020503050405090304" pitchFamily="18" charset="0"/>
              <a:buNone/>
            </a:pPr>
            <a:r>
              <a:rPr lang="en-US" altLang="zh-CN" sz="3200" b="1" dirty="0">
                <a:solidFill>
                  <a:schemeClr val="tx1"/>
                </a:solidFill>
              </a:rPr>
              <a:t>2. Still others hunt animals just for fun: deer are</a:t>
            </a:r>
            <a:r>
              <a:rPr lang="en-US" altLang="zh-CN" sz="3200" b="1" dirty="0">
                <a:solidFill>
                  <a:srgbClr val="FF0000"/>
                </a:solidFill>
              </a:rPr>
              <a:t> tracked</a:t>
            </a:r>
            <a:r>
              <a:rPr lang="en-US" altLang="zh-CN" sz="3200" b="1" dirty="0">
                <a:solidFill>
                  <a:schemeClr val="tx1"/>
                </a:solidFill>
              </a:rPr>
              <a:t> and shot ...</a:t>
            </a:r>
          </a:p>
          <a:p>
            <a:pPr marL="1884680" indent="-1884680" fontAlgn="auto" hangingPunct="0">
              <a:lnSpc>
                <a:spcPct val="120000"/>
              </a:lnSpc>
              <a:buSzPct val="100000"/>
              <a:buFont typeface="Times New Roman" panose="02020503050405090304" pitchFamily="18" charset="0"/>
              <a:buNone/>
            </a:pPr>
            <a:r>
              <a:rPr lang="en-US" altLang="zh-CN" sz="3200" b="1" dirty="0">
                <a:solidFill>
                  <a:srgbClr val="FF0000"/>
                </a:solidFill>
              </a:rPr>
              <a:t>track  </a:t>
            </a:r>
            <a:r>
              <a:rPr lang="en-US" altLang="zh-CN" sz="3200" b="1" i="1" dirty="0">
                <a:solidFill>
                  <a:srgbClr val="FF0000"/>
                </a:solidFill>
              </a:rPr>
              <a:t>v. </a:t>
            </a:r>
            <a:r>
              <a:rPr lang="en-US" altLang="zh-CN" sz="3200" b="1" i="1" dirty="0">
                <a:solidFill>
                  <a:srgbClr val="9933FF"/>
                </a:solidFill>
              </a:rPr>
              <a:t>to find sb./</a:t>
            </a:r>
            <a:r>
              <a:rPr lang="en-US" altLang="zh-CN" sz="3200" b="1" i="1" dirty="0" err="1">
                <a:solidFill>
                  <a:srgbClr val="9933FF"/>
                </a:solidFill>
              </a:rPr>
              <a:t>sth</a:t>
            </a:r>
            <a:r>
              <a:rPr lang="en-US" altLang="zh-CN" sz="3200" b="1" i="1" dirty="0">
                <a:solidFill>
                  <a:srgbClr val="9933FF"/>
                </a:solidFill>
              </a:rPr>
              <a:t>. by following the marks, signs, information, </a:t>
            </a:r>
            <a:r>
              <a:rPr lang="en-US" altLang="zh-CN" sz="3200" b="1" i="1" dirty="0" err="1">
                <a:solidFill>
                  <a:srgbClr val="9933FF"/>
                </a:solidFill>
              </a:rPr>
              <a:t>etc</a:t>
            </a:r>
            <a:r>
              <a:rPr lang="en-US" altLang="zh-CN" sz="3200" b="1" i="1" dirty="0">
                <a:solidFill>
                  <a:srgbClr val="9933FF"/>
                </a:solidFill>
              </a:rPr>
              <a:t>, that they have left behind them</a:t>
            </a:r>
            <a:r>
              <a:rPr lang="en-US" altLang="zh-CN" sz="3200" dirty="0"/>
              <a:t> </a:t>
            </a:r>
            <a:r>
              <a:rPr lang="zh-CN" altLang="en-US" sz="3200" b="1" dirty="0">
                <a:solidFill>
                  <a:schemeClr val="tx1"/>
                </a:solidFill>
              </a:rPr>
              <a:t>跟踪</a:t>
            </a:r>
            <a:r>
              <a:rPr lang="en-US" altLang="zh-CN" sz="3200" b="1" dirty="0">
                <a:solidFill>
                  <a:schemeClr val="tx1"/>
                </a:solidFill>
              </a:rPr>
              <a:t>, </a:t>
            </a:r>
            <a:r>
              <a:rPr lang="en-US" altLang="zh-CN" sz="3200" b="1" dirty="0" err="1">
                <a:solidFill>
                  <a:schemeClr val="tx1"/>
                </a:solidFill>
              </a:rPr>
              <a:t>追踪</a:t>
            </a:r>
          </a:p>
          <a:p>
            <a:pPr marL="1884680" indent="-1884680" fontAlgn="auto" hangingPunct="0">
              <a:lnSpc>
                <a:spcPct val="120000"/>
              </a:lnSpc>
              <a:buSzPct val="100000"/>
              <a:buFont typeface="Times New Roman" panose="02020503050405090304" pitchFamily="18" charset="0"/>
              <a:buNone/>
            </a:pPr>
            <a:r>
              <a:rPr lang="en-US" altLang="zh-CN" sz="3200" b="1" dirty="0">
                <a:solidFill>
                  <a:schemeClr val="tx1"/>
                </a:solidFill>
              </a:rPr>
              <a:t>Police have been </a:t>
            </a:r>
            <a:r>
              <a:rPr lang="en-US" altLang="zh-CN" sz="3200" b="1" dirty="0">
                <a:solidFill>
                  <a:srgbClr val="FF0000"/>
                </a:solidFill>
              </a:rPr>
              <a:t>tracking </a:t>
            </a:r>
            <a:r>
              <a:rPr lang="en-US" altLang="zh-CN" sz="3200" b="1" dirty="0">
                <a:solidFill>
                  <a:schemeClr val="tx1"/>
                </a:solidFill>
              </a:rPr>
              <a:t>the criminal for months.</a:t>
            </a:r>
          </a:p>
          <a:p>
            <a:pPr marL="1884680" indent="-1884680" fontAlgn="auto" hangingPunct="0">
              <a:lnSpc>
                <a:spcPct val="120000"/>
              </a:lnSpc>
              <a:buSzPct val="100000"/>
              <a:buFont typeface="Times New Roman" panose="02020503050405090304" pitchFamily="18" charset="0"/>
              <a:buNone/>
            </a:pPr>
            <a:r>
              <a:rPr lang="en-US" altLang="zh-CN" sz="3200" b="1" dirty="0" err="1">
                <a:solidFill>
                  <a:schemeClr val="tx1"/>
                </a:solidFill>
              </a:rPr>
              <a:t>警察</a:t>
            </a:r>
            <a:r>
              <a:rPr lang="zh-CN" altLang="en-US" sz="3200" b="1" dirty="0">
                <a:solidFill>
                  <a:schemeClr val="tx1"/>
                </a:solidFill>
              </a:rPr>
              <a:t>几</a:t>
            </a:r>
            <a:r>
              <a:rPr lang="en-US" altLang="zh-CN" sz="3200" b="1" dirty="0" err="1">
                <a:solidFill>
                  <a:schemeClr val="tx1"/>
                </a:solidFill>
              </a:rPr>
              <a:t>个月来都在追踪那名罪犯</a:t>
            </a:r>
            <a:r>
              <a:rPr lang="en-US" altLang="zh-CN" sz="3200" b="1" dirty="0">
                <a:solidFill>
                  <a:schemeClr val="tx1"/>
                </a:solidFill>
              </a:rPr>
              <a:t>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48942" y="279648"/>
            <a:ext cx="11195827" cy="60274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1920" tIns="60960" rIns="121920" bIns="60960" numCol="1" anchor="ctr" anchorCtr="0" compatLnSpc="1">
            <a:spAutoFit/>
          </a:bodyPr>
          <a:lstStyle/>
          <a:p>
            <a:pPr marL="360680" indent="-360680" fontAlgn="auto" hangingPunct="0">
              <a:lnSpc>
                <a:spcPct val="120000"/>
              </a:lnSpc>
              <a:buSzPct val="100000"/>
              <a:buFont typeface="Times New Roman" panose="02020503050405090304" pitchFamily="18" charset="0"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track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n. </a:t>
            </a:r>
          </a:p>
          <a:p>
            <a:pPr marL="360680" indent="-360680" fontAlgn="auto" hangingPunct="0">
              <a:lnSpc>
                <a:spcPct val="120000"/>
              </a:lnSpc>
              <a:buSzPct val="100000"/>
              <a:buFont typeface="Times New Roman" panose="02020503050405090304" pitchFamily="18" charset="0"/>
              <a:buNone/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1)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rough path or road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(</a:t>
            </a:r>
            <a:r>
              <a:rPr lang="zh-CN" altLang="en-US" sz="3200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人踩出的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 </a:t>
            </a:r>
            <a:r>
              <a:rPr lang="en-US" altLang="zh-CN" sz="3200" b="1" dirty="0" err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小道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,  </a:t>
            </a:r>
            <a:r>
              <a:rPr lang="en-US" altLang="zh-CN" sz="3200" b="1" dirty="0" err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小径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 hangingPunct="0">
              <a:lnSpc>
                <a:spcPct val="120000"/>
              </a:lnSpc>
              <a:buSzPct val="100000"/>
              <a:buFont typeface="Times New Roman" panose="02020503050405090304" pitchFamily="18" charset="0"/>
              <a:buNone/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a muddy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track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through the forest 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 hangingPunct="0">
              <a:lnSpc>
                <a:spcPct val="120000"/>
              </a:lnSpc>
              <a:buSzPct val="100000"/>
              <a:buFont typeface="Times New Roman" panose="02020503050405090304" pitchFamily="18" charset="0"/>
              <a:buNone/>
            </a:pPr>
            <a:r>
              <a:rPr lang="en-US" altLang="zh-CN" sz="3200" b="1" dirty="0" err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穿过森林的泥泞</a:t>
            </a:r>
            <a:r>
              <a:rPr lang="en-US" altLang="zh-CN" sz="3200" b="1" u="sng" dirty="0" err="1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小径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</a:p>
          <a:p>
            <a:pPr indent="0" fontAlgn="auto" hangingPunct="0">
              <a:lnSpc>
                <a:spcPct val="120000"/>
              </a:lnSpc>
              <a:buSzPct val="100000"/>
              <a:buFont typeface="Times New Roman" panose="02020503050405090304" pitchFamily="18" charset="0"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a mountain track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山路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lvl="0" defTabSz="914400" eaLnBrk="0" fontAlgn="base" hangingPunct="0">
              <a:lnSpc>
                <a:spcPct val="120000"/>
              </a:lnSpc>
            </a:pPr>
            <a:r>
              <a:rPr lang="en-US" altLang="zh-CN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2)</a:t>
            </a:r>
            <a:r>
              <a:rPr lang="en-US" altLang="zh-CN" sz="3200" b="1" i="1" dirty="0">
                <a:solidFill>
                  <a:srgbClr val="9933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marks left by a person, an animal or a moving vehicle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 </a:t>
            </a:r>
            <a:r>
              <a:rPr kumimoji="0" lang="en-US" altLang="zh-CN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</a:t>
            </a:r>
            <a:r>
              <a:rPr kumimoji="0" lang="en-US" altLang="zh-CN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人、动物或车辆留下的</a:t>
            </a:r>
            <a:r>
              <a:rPr kumimoji="0" lang="en-US" altLang="zh-CN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</a:t>
            </a:r>
            <a:r>
              <a:rPr kumimoji="0" lang="en-US" altLang="zh-CN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足迹</a:t>
            </a:r>
            <a:r>
              <a:rPr kumimoji="0" lang="zh-CN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，</a:t>
            </a:r>
            <a:r>
              <a:rPr kumimoji="0" lang="en-US" altLang="zh-CN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踪迹；车辙</a:t>
            </a:r>
          </a:p>
          <a:p>
            <a:pPr lvl="0" defTabSz="914400" eaLnBrk="0" fontAlgn="base" hangingPunct="0">
              <a:lnSpc>
                <a:spcPct val="120000"/>
              </a:lnSpc>
            </a:pPr>
            <a:endParaRPr kumimoji="0" lang="en-US" altLang="zh-CN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buClrTx/>
              <a:buSzTx/>
              <a:buFontTx/>
              <a:buNone/>
            </a:pPr>
            <a:r>
              <a:rPr kumimoji="0" lang="en-US" altLang="zh-CN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We </a:t>
            </a:r>
            <a:r>
              <a:rPr kumimoji="0" lang="en-US" altLang="zh-CN" sz="32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follow</a:t>
            </a:r>
            <a:r>
              <a:rPr kumimoji="0" lang="en-US" altLang="zh-CN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ed </a:t>
            </a:r>
            <a:r>
              <a:rPr kumimoji="0" lang="en-US" altLang="zh-CN" sz="32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</a:t>
            </a:r>
            <a:r>
              <a:rPr kumimoji="0" lang="en-US" altLang="zh-CN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bear's </a:t>
            </a:r>
            <a:r>
              <a:rPr kumimoji="0" lang="en-US" altLang="zh-CN" sz="3200" b="1" i="0" u="sng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tracks</a:t>
            </a:r>
            <a:r>
              <a:rPr kumimoji="0" lang="en-US" altLang="zh-CN" sz="32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kumimoji="0" lang="en-US" altLang="zh-CN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in the snow. 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buClrTx/>
              <a:buSzTx/>
              <a:buFontTx/>
              <a:buNone/>
            </a:pPr>
            <a:r>
              <a:rPr kumimoji="0" lang="en-US" altLang="zh-CN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我们</a:t>
            </a:r>
            <a:r>
              <a:rPr kumimoji="0" lang="en-US" altLang="zh-CN" sz="3200" b="1" i="0" u="sng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跟着</a:t>
            </a:r>
            <a:r>
              <a:rPr kumimoji="0" lang="en-US" altLang="zh-CN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熊在雪地上留下的</a:t>
            </a:r>
            <a:r>
              <a:rPr kumimoji="0" lang="en-US" altLang="zh-CN" sz="3200" b="1" i="0" u="sng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足迹</a:t>
            </a:r>
            <a:r>
              <a:rPr kumimoji="0" lang="en-US" altLang="zh-CN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走</a:t>
            </a:r>
            <a:r>
              <a:rPr kumimoji="0" lang="en-US" altLang="zh-CN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2058" y="761580"/>
            <a:ext cx="10647947" cy="4815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lnSpc>
                <a:spcPct val="120000"/>
              </a:lnSpc>
            </a:pPr>
            <a:r>
              <a:rPr lang="en-US" altLang="zh-CN" sz="3200" b="1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3) rails that a train moves along </a:t>
            </a:r>
            <a:r>
              <a:rPr lang="en-US" altLang="zh-CN" sz="3200" b="1" i="1" dirty="0">
                <a:solidFill>
                  <a:srgbClr val="9933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 err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轨道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lvl="0" defTabSz="914400" eaLnBrk="0" fontAlgn="base" hangingPunct="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railway / railroad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tracks </a:t>
            </a:r>
            <a:r>
              <a:rPr lang="en-US" altLang="zh-CN" sz="3200" b="1" dirty="0" err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铁路轨道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</a:p>
          <a:p>
            <a:pPr lvl="0" defTabSz="914400" eaLnBrk="0" fontAlgn="base" hangingPunct="0">
              <a:lnSpc>
                <a:spcPct val="120000"/>
              </a:lnSpc>
            </a:pPr>
            <a:r>
              <a:rPr lang="en-US" altLang="zh-CN" sz="3200" b="1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4)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</a:t>
            </a:r>
            <a:r>
              <a:rPr lang="en-US" altLang="zh-CN" sz="3200" b="1" dirty="0" err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赛跑、赛车等的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</a:t>
            </a:r>
            <a:r>
              <a:rPr lang="en-US" altLang="zh-CN" sz="3200" b="1" dirty="0" err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跑道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lvl="0" defTabSz="914400" eaLnBrk="0" fontAlgn="base" hangingPunct="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 running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track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</a:t>
            </a:r>
            <a:r>
              <a:rPr lang="en-US" altLang="zh-CN" sz="3200" b="1" dirty="0" err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赛跑跑道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</a:p>
          <a:p>
            <a:pPr lvl="0" defTabSz="914400" eaLnBrk="0" fontAlgn="base" hangingPunct="0">
              <a:lnSpc>
                <a:spcPct val="120000"/>
              </a:lnSpc>
            </a:pPr>
            <a:r>
              <a:rPr lang="en-US" altLang="zh-CN" sz="3200" b="1" i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5) the path or direction that sb./</a:t>
            </a:r>
            <a:r>
              <a:rPr lang="en-US" altLang="zh-CN" sz="3200" b="1" i="1" dirty="0" err="1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sth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 is moving in</a:t>
            </a:r>
          </a:p>
          <a:p>
            <a:pPr lvl="0" defTabSz="914400" eaLnBrk="0" fontAlgn="base" hangingPunct="0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移动的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路径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,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路线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,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方向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lvl="0" defTabSz="914400" eaLnBrk="0" fontAlgn="base" hangingPunct="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Police are on the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track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of (= searching for) the thieves.</a:t>
            </a:r>
          </a:p>
          <a:p>
            <a:pPr lvl="0" defTabSz="914400" eaLnBrk="0" fontAlgn="base" hangingPunct="0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警察正在追踪窃贼。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96545" y="359410"/>
            <a:ext cx="11598910" cy="4815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It is hard to 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keep track of</a:t>
            </a: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everything that is happening.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要想</a:t>
            </a:r>
            <a:r>
              <a:rPr 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了解……的动态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</a:t>
            </a: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正在发生的所有事情是很困难的。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He browses the Internet every day to 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keep track of current events</a:t>
            </a: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police have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lost the track of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the criminals.</a:t>
            </a:r>
            <a:endParaRPr lang="en-US" altLang="zh-CN" sz="32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失去……联系</a:t>
            </a:r>
            <a:endParaRPr 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We are 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on the right/wrong track</a:t>
            </a: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for continued growth.</a:t>
            </a:r>
          </a:p>
          <a:p>
            <a:pPr>
              <a:lnSpc>
                <a:spcPct val="120000"/>
              </a:lnSpc>
            </a:pPr>
            <a:r>
              <a:rPr lang="en-US" sz="3200" b="1" i="1" dirty="0"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think or behave in the right/wrong way</a:t>
            </a:r>
            <a:r>
              <a:rPr 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思路、做法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不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对头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get off the track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偏离正题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24843" y="314993"/>
            <a:ext cx="11141607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36385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3. … we destroy animal habitats and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leave many animals with nowhere to live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, or no food to eat.</a:t>
            </a:r>
          </a:p>
          <a:p>
            <a:pPr indent="-363855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令很多动物没有居住的地方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363855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This discussion is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leading us nowhere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</a:p>
          <a:p>
            <a:pPr indent="-363855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我们这场讨论将</a:t>
            </a:r>
            <a:r>
              <a:rPr lang="zh-CN" altLang="en-US" sz="3200" b="1" u="sng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毫无结果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。</a:t>
            </a:r>
          </a:p>
          <a:p>
            <a:pPr indent="-363855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We discussed it all morning but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got nowhere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</a:p>
          <a:p>
            <a:pPr indent="-363855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我们讨论了一早上但是</a:t>
            </a:r>
            <a:r>
              <a:rPr lang="zh-CN" altLang="en-US" sz="3200" b="1" u="sng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毫无进展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。</a:t>
            </a:r>
          </a:p>
          <a:p>
            <a:pPr indent="-36385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 was thinking hard and then the answer just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came out of nowhere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</a:p>
          <a:p>
            <a:pPr indent="-363855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我正在苦思冥想，然后答案就</a:t>
            </a:r>
            <a:r>
              <a:rPr lang="zh-CN" altLang="en-US" sz="3200" b="1" u="sng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突然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冒出来了。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38828" y="751562"/>
            <a:ext cx="10847539" cy="5410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3855" indent="-36385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4. As the human population continues to grow,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so does the effect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we have on animals.</a:t>
            </a:r>
          </a:p>
          <a:p>
            <a:pPr marL="363855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随着人口的持续增长，我们对动物的影响也在不断增加。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36385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so+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助动词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情态动词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连系动词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be+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主语 某人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某物情况也是如此，用于肯定句中。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36385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e.g. Mike has bought some foreign books.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So has Bob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</a:p>
          <a:p>
            <a:pPr marL="363855" indent="714375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迈克买了一些外国书。鲍勃也一样。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363855" indent="7143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Your sister works very hard.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And so do you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</a:p>
          <a:p>
            <a:pPr marL="363855" indent="714375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你姐姐工作很努力。你也很努力。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876" y="1275142"/>
            <a:ext cx="1889924" cy="1054699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864296" y="2329841"/>
            <a:ext cx="10359025" cy="2456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neither/ nor +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助动词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/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情态动词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连系动词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be+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主语， “</a:t>
            </a:r>
            <a:r>
              <a:rPr lang="en-US" altLang="zh-CN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……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也不”，用来表示前者否定的情况也适用后者。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e.g. Mother has never been to Japan.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Neither has Father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</a:p>
          <a:p>
            <a:pPr indent="714375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妈妈从来没去过日本。爸爸也没有。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88722" y="177743"/>
            <a:ext cx="11073009" cy="6592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注意：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(1) so+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主语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+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连系动词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be/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助动词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情态动词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538480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此句型表示对前面某种说法的赞同或附和“某人或某物确实如此”，用于肯定的情况。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53848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e.g. ‒You seem to like tea.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你似乎喜欢喝茶。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538480" indent="62738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‒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So I do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我确实喜欢。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538480" indent="-53848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(2) neither+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主语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+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连系动词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be/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助动词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情态动词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538480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此句型表示对前面某种说法的赞同或附和“某人某物确实如此”，用于否定的情况。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53848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e.g. ‒ Tom doesn’t like English.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汤姆不喜欢英语。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538480" indent="627380">
              <a:lnSpc>
                <a:spcPct val="120000"/>
              </a:lnSpc>
            </a:pPr>
            <a:r>
              <a:rPr lang="zh-CN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‒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Neither Tom does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汤姆确实如此。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76613" y="1653434"/>
            <a:ext cx="10384077" cy="3637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单句语法填空。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802005" indent="-802005">
              <a:lnSpc>
                <a:spcPct val="120000"/>
              </a:lnSpc>
              <a:tabLst>
                <a:tab pos="714375" algn="l"/>
              </a:tabLst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1) ‒ I will go there for a visit with my family during the long holiday of May.</a:t>
            </a:r>
          </a:p>
          <a:p>
            <a:pPr marL="802005" indent="-438150">
              <a:lnSpc>
                <a:spcPct val="120000"/>
              </a:lnSpc>
              <a:tabLst>
                <a:tab pos="714375" algn="l"/>
              </a:tabLst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‒ ________ will I.</a:t>
            </a:r>
          </a:p>
          <a:p>
            <a:pPr marL="802005" indent="-802005">
              <a:lnSpc>
                <a:spcPct val="120000"/>
              </a:lnSpc>
              <a:tabLst>
                <a:tab pos="714375" algn="l"/>
              </a:tabLst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2) ‒ I have never visited a paper factory.</a:t>
            </a:r>
          </a:p>
          <a:p>
            <a:pPr marL="802005" indent="-438150">
              <a:lnSpc>
                <a:spcPct val="120000"/>
              </a:lnSpc>
              <a:tabLst>
                <a:tab pos="714375" algn="l"/>
              </a:tabLst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‒ __________ have I.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966587" y="3472394"/>
            <a:ext cx="720069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So 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77864" y="4609578"/>
            <a:ext cx="2400594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Neither/Nor 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lnSpc>
            <a:spcPct val="120000"/>
          </a:lnSpc>
          <a:defRPr sz="3200" b="1" dirty="0" smtClean="0">
            <a:latin typeface="Times New Roman" panose="02020503050405090304" pitchFamily="18" charset="0"/>
            <a:ea typeface="宋体" pitchFamily="2" charset="-122"/>
            <a:cs typeface="Times New Roman" panose="02020503050405090304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1050</Words>
  <Application>Microsoft Macintosh PowerPoint</Application>
  <PresentationFormat>Widescreen</PresentationFormat>
  <Paragraphs>90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Times New Roman</vt:lpstr>
      <vt:lpstr>Calibri Light</vt:lpstr>
      <vt:lpstr>Times New Roman Bold</vt:lpstr>
      <vt:lpstr>宋体</vt:lpstr>
      <vt:lpstr>Arial</vt:lpstr>
      <vt:lpstr>Times New Roman Bold Italic</vt:lpstr>
      <vt:lpstr>Calibri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/>
  <cp:lastModifiedBy>Qing NI</cp:lastModifiedBy>
  <cp:revision>243</cp:revision>
  <dcterms:created xsi:type="dcterms:W3CDTF">2024-03-04T10:16:13Z</dcterms:created>
  <dcterms:modified xsi:type="dcterms:W3CDTF">2026-07-22T05:18:02Z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1033-6.5.2.8766</vt:lpwstr>
  </property>
  <property fmtid="{D5CDD505-2E9C-101B-9397-08002B2CF9AE}" pid="3" name="ICV">
    <vt:lpwstr>ABD83EFC94330460E5D3F563A5089A1F</vt:lpwstr>
  </property>
</Properties>
</file>