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5.xml" ContentType="application/vnd.openxmlformats-officedocument.presentationml.tags+xml"/>
  <Override PartName="/ppt/theme/themeOverride1.xml" ContentType="application/vnd.openxmlformats-officedocument.themeOverride+xml"/>
  <Override PartName="/ppt/tags/tag16.xml" ContentType="application/vnd.openxmlformats-officedocument.presentationml.tags+xml"/>
  <Override PartName="/ppt/theme/themeOverride2.xml" ContentType="application/vnd.openxmlformats-officedocument.themeOverride+xml"/>
  <Override PartName="/ppt/tags/tag1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72" r:id="rId2"/>
    <p:sldId id="270" r:id="rId3"/>
    <p:sldId id="276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00FF"/>
    <a:srgbClr val="9999FF"/>
    <a:srgbClr val="9966FF"/>
    <a:srgbClr val="FBD53F"/>
    <a:srgbClr val="0066FF"/>
    <a:srgbClr val="FFCCFF"/>
    <a:srgbClr val="1F2DA8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93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648" y="168"/>
      </p:cViewPr>
      <p:guideLst>
        <p:guide orient="horz" pos="218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2026/7/22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‹#›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2026/7/22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69930" y="1296000"/>
            <a:ext cx="5283242" cy="504000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238925" y="1296000"/>
            <a:ext cx="5283242" cy="50400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2026/7/22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69930" y="952508"/>
            <a:ext cx="10852237" cy="504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69882" y="2588281"/>
            <a:ext cx="10852237" cy="899167"/>
          </a:xfrm>
        </p:spPr>
        <p:txBody>
          <a:bodyPr vert="horz" lIns="101600" tIns="38100" rIns="25400" bIns="381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5400" b="0" i="0" u="none" strike="noStrike" kern="1200" cap="none" spc="60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6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7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76243" y="315171"/>
            <a:ext cx="89192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1. Science Festival goes off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with a bang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!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38810" y="1089821"/>
            <a:ext cx="11049098" cy="683264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with a bang: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zh-CN" sz="3200" b="1" i="1" dirty="0">
                <a:latin typeface="Times New Roman" panose="02020603050405020304" charset="0"/>
                <a:cs typeface="Times New Roman" panose="02020603050405020304" charset="0"/>
              </a:rPr>
              <a:t>(informal) </a:t>
            </a:r>
            <a:r>
              <a:rPr lang="zh-CN" altLang="en-US" sz="3200" b="1" i="1" dirty="0">
                <a:latin typeface="Times New Roman" panose="02020603050405020304" charset="0"/>
                <a:cs typeface="Times New Roman" panose="02020603050405020304" charset="0"/>
              </a:rPr>
              <a:t>very successfully </a:t>
            </a:r>
            <a:r>
              <a:rPr lang="zh-CN" altLang="en-US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603050405020304" charset="0"/>
              </a:rPr>
              <a:t>极为成功，大受欢迎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38810" y="1964055"/>
            <a:ext cx="11049635" cy="24536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</a:rPr>
              <a:t>The party went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with a bang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The team won their last four games, ending the season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with a bang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该队赢了最后四场比赛，本赛季</a:t>
            </a:r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</a:rPr>
              <a:t>圆满落幕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。</a:t>
            </a:r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13995" y="820568"/>
            <a:ext cx="11764645" cy="1813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7505" indent="-357505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2. The most popular experiment was “Planets in a bottle”, in which students tried to create the conditions of different planets inside glass bottles.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29005" y="2850490"/>
            <a:ext cx="10734624" cy="2456057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rPr>
              <a:t>“</a:t>
            </a:r>
            <a:r>
              <a:rPr lang="zh-CN" altLang="en-US" sz="3200" b="1" dirty="0"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rPr>
              <a:t>介词</a:t>
            </a:r>
            <a:r>
              <a:rPr lang="en-US" altLang="zh-CN" sz="3200" b="1" dirty="0"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rPr>
              <a:t>+which”</a:t>
            </a:r>
            <a:r>
              <a:rPr lang="zh-CN" altLang="en-US" sz="3200" b="1" dirty="0"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rPr>
              <a:t>引导的非限制性定语从句，修饰</a:t>
            </a:r>
            <a:r>
              <a:rPr lang="en-US" altLang="zh-CN" sz="3200" b="1" dirty="0"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rPr>
              <a:t>experiment (Planets in a bottle) </a:t>
            </a:r>
            <a:r>
              <a:rPr lang="zh-CN" altLang="en-US" sz="3200" b="1" dirty="0"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rPr>
              <a:t>。非限制性定语从句对所修饰的名词没有限制意义，只是补充说明情况，与主句关系不紧密。将其拿掉后，主句仍然成立。</a:t>
            </a:r>
            <a:endParaRPr lang="en-US" altLang="zh-CN" sz="3200" b="1" dirty="0">
              <a:latin typeface="Times New Roman" panose="02020603050405020304" charset="0"/>
              <a:ea typeface="宋体" pitchFamily="2" charset="-122"/>
              <a:cs typeface="Times New Roman" panose="02020603050405020304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 flipV="1">
            <a:off x="689113" y="1974938"/>
            <a:ext cx="10919791" cy="26504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V="1">
            <a:off x="689113" y="2588566"/>
            <a:ext cx="3153544" cy="4557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V="1">
            <a:off x="10442713" y="1378590"/>
            <a:ext cx="384313" cy="9224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55386" y="561274"/>
            <a:ext cx="8951900" cy="68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3. Possibly the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standout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 activity of the fair was …</a:t>
            </a:r>
          </a:p>
        </p:txBody>
      </p:sp>
      <p:sp>
        <p:nvSpPr>
          <p:cNvPr id="2" name="矩形 1"/>
          <p:cNvSpPr/>
          <p:nvPr/>
        </p:nvSpPr>
        <p:spPr>
          <a:xfrm>
            <a:off x="885301" y="4480947"/>
            <a:ext cx="10692912" cy="1863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The song is the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standout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 track on the album.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He was the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standout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 in last Saturday’s game.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His performance was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outstanding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</a:p>
        </p:txBody>
      </p:sp>
      <p:sp>
        <p:nvSpPr>
          <p:cNvPr id="4" name="矩形 3"/>
          <p:cNvSpPr/>
          <p:nvPr/>
        </p:nvSpPr>
        <p:spPr>
          <a:xfrm>
            <a:off x="885301" y="1433959"/>
            <a:ext cx="10903927" cy="3046988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standout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adj.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zh-CN" sz="3200" b="1" i="1" dirty="0">
                <a:latin typeface="Times New Roman" panose="02020603050405020304" charset="0"/>
                <a:cs typeface="Times New Roman" panose="02020603050405020304" charset="0"/>
              </a:rPr>
              <a:t>much better than all the rest </a:t>
            </a:r>
            <a:r>
              <a:rPr lang="zh-CN" altLang="en-US" sz="3200" b="1" dirty="0">
                <a:solidFill>
                  <a:srgbClr val="FF0000"/>
                </a:solidFill>
                <a:latin typeface="宋体" pitchFamily="2" charset="-122"/>
                <a:cs typeface="Times New Roman" panose="02020603050405020304" charset="0"/>
              </a:rPr>
              <a:t>突出的</a:t>
            </a:r>
            <a:r>
              <a:rPr lang="en-US" altLang="zh-CN" sz="3200" b="1" dirty="0">
                <a:solidFill>
                  <a:srgbClr val="FF0000"/>
                </a:solidFill>
                <a:latin typeface="宋体" pitchFamily="2" charset="-122"/>
                <a:cs typeface="Times New Roman" panose="02020603050405020304" charset="0"/>
              </a:rPr>
              <a:t>,</a:t>
            </a:r>
            <a:r>
              <a:rPr lang="zh-CN" altLang="en-US" sz="3200" b="1" dirty="0">
                <a:solidFill>
                  <a:srgbClr val="FF0000"/>
                </a:solidFill>
                <a:latin typeface="宋体" pitchFamily="2" charset="-122"/>
                <a:cs typeface="Times New Roman" panose="02020603050405020304" charset="0"/>
              </a:rPr>
              <a:t>引起注意的</a:t>
            </a:r>
            <a:endParaRPr lang="en-US" altLang="zh-CN" sz="3200" b="1" dirty="0">
              <a:solidFill>
                <a:srgbClr val="FF0000"/>
              </a:solidFill>
              <a:latin typeface="宋体" pitchFamily="2" charset="-122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                n.    </a:t>
            </a:r>
            <a:r>
              <a:rPr lang="en-US" altLang="zh-CN" sz="3200" b="1" i="1" dirty="0">
                <a:latin typeface="Times New Roman" panose="02020603050405020304" charset="0"/>
                <a:cs typeface="Times New Roman" panose="02020603050405020304" charset="0"/>
              </a:rPr>
              <a:t>sb. or </a:t>
            </a:r>
            <a:r>
              <a:rPr lang="en-US" altLang="zh-CN" sz="3200" b="1" i="1" dirty="0" err="1">
                <a:latin typeface="Times New Roman" panose="02020603050405020304" charset="0"/>
                <a:cs typeface="Times New Roman" panose="02020603050405020304" charset="0"/>
              </a:rPr>
              <a:t>sth</a:t>
            </a:r>
            <a:r>
              <a:rPr lang="en-US" altLang="zh-CN" sz="3200" b="1" i="1" dirty="0">
                <a:latin typeface="Times New Roman" panose="02020603050405020304" charset="0"/>
                <a:cs typeface="Times New Roman" panose="02020603050405020304" charset="0"/>
              </a:rPr>
              <a:t>. who is much better than others </a:t>
            </a:r>
          </a:p>
          <a:p>
            <a:pPr>
              <a:lnSpc>
                <a:spcPct val="120000"/>
              </a:lnSpc>
            </a:pP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                     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突出的人或物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charset="0"/>
                <a:cs typeface="Times New Roman" panose="02020603050405020304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charset="0"/>
                <a:cs typeface="Times New Roman" panose="02020603050405020304" charset="0"/>
              </a:rPr>
              <a:t>拓展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charset="0"/>
                <a:cs typeface="Times New Roman" panose="02020603050405020304" charset="0"/>
              </a:rPr>
              <a:t>】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stand out (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phrasal v.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)  </a:t>
            </a:r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</a:rPr>
              <a:t>引人注目，显眼</a:t>
            </a:r>
            <a:endParaRPr lang="en-US" altLang="zh-CN" sz="32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indent="36385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             outstanding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adj.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          </a:t>
            </a:r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</a:rPr>
              <a:t>杰出的；优秀的；出色的</a:t>
            </a:r>
            <a:endParaRPr lang="zh-CN" altLang="en-US" sz="3200" dirty="0"/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235</Words>
  <Application>Microsoft Macintosh PowerPoint</Application>
  <PresentationFormat>Widescreen</PresentationFormat>
  <Paragraphs>16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微软雅黑</vt:lpstr>
      <vt:lpstr>宋体</vt:lpstr>
      <vt:lpstr>Arial</vt:lpstr>
      <vt:lpstr>Calibri</vt:lpstr>
      <vt:lpstr>Calibri Light</vt:lpstr>
      <vt:lpstr>Times New Roman</vt:lpstr>
      <vt:lpstr>Office 主题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Qing NI</cp:lastModifiedBy>
  <cp:revision>105</cp:revision>
  <dcterms:created xsi:type="dcterms:W3CDTF">2024-04-29T02:03:06Z</dcterms:created>
  <dcterms:modified xsi:type="dcterms:W3CDTF">2026-07-22T14:26:29Z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1033-6.7.0.8823</vt:lpwstr>
  </property>
  <property fmtid="{D5CDD505-2E9C-101B-9397-08002B2CF9AE}" pid="3" name="ICV">
    <vt:lpwstr>CC496D319E3259A338B4256611FEB28C_42</vt:lpwstr>
  </property>
</Properties>
</file>