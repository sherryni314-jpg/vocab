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notesSlides/notesSlide4.xml" ContentType="application/vnd.openxmlformats-officedocument.presentationml.notesSlide+xml"/>
  <Override PartName="/ppt/tags/tag22.xml" ContentType="application/vnd.openxmlformats-officedocument.presentationml.tags+xml"/>
  <Override PartName="/ppt/notesSlides/notesSlide5.xml" ContentType="application/vnd.openxmlformats-officedocument.presentationml.notesSlide+xml"/>
  <Override PartName="/ppt/tags/tag23.xml" ContentType="application/vnd.openxmlformats-officedocument.presentationml.tags+xml"/>
  <Override PartName="/ppt/notesSlides/notesSlide6.xml" ContentType="application/vnd.openxmlformats-officedocument.presentationml.notesSlide+xml"/>
  <Override PartName="/ppt/tags/tag24.xml" ContentType="application/vnd.openxmlformats-officedocument.presentationml.tags+xml"/>
  <Override PartName="/ppt/notesSlides/notesSlide7.xml" ContentType="application/vnd.openxmlformats-officedocument.presentationml.notesSlide+xml"/>
  <Override PartName="/ppt/tags/tag25.xml" ContentType="application/vnd.openxmlformats-officedocument.presentationml.tags+xml"/>
  <Override PartName="/ppt/notesSlides/notesSlide8.xml" ContentType="application/vnd.openxmlformats-officedocument.presentationml.notesSlide+xml"/>
  <Override PartName="/ppt/tags/tag26.xml" ContentType="application/vnd.openxmlformats-officedocument.presentationml.tags+xml"/>
  <Override PartName="/ppt/notesSlides/notesSlide9.xml" ContentType="application/vnd.openxmlformats-officedocument.presentationml.notesSlide+xml"/>
  <Override PartName="/ppt/tags/tag27.xml" ContentType="application/vnd.openxmlformats-officedocument.presentationml.tags+xml"/>
  <Override PartName="/ppt/notesSlides/notesSlide10.xml" ContentType="application/vnd.openxmlformats-officedocument.presentationml.notesSlide+xml"/>
  <Override PartName="/ppt/tags/tag28.xml" ContentType="application/vnd.openxmlformats-officedocument.presentationml.tags+xml"/>
  <Override PartName="/ppt/notesSlides/notesSlide11.xml" ContentType="application/vnd.openxmlformats-officedocument.presentationml.notesSlide+xml"/>
  <Override PartName="/ppt/tags/tag29.xml" ContentType="application/vnd.openxmlformats-officedocument.presentationml.tags+xml"/>
  <Override PartName="/ppt/notesSlides/notesSlide12.xml" ContentType="application/vnd.openxmlformats-officedocument.presentationml.notesSlide+xml"/>
  <Override PartName="/ppt/tags/tag30.xml" ContentType="application/vnd.openxmlformats-officedocument.presentationml.tags+xml"/>
  <Override PartName="/ppt/notesSlides/notesSlide13.xml" ContentType="application/vnd.openxmlformats-officedocument.presentationml.notesSlide+xml"/>
  <Override PartName="/ppt/tags/tag31.xml" ContentType="application/vnd.openxmlformats-officedocument.presentationml.tags+xml"/>
  <Override PartName="/ppt/notesSlides/notesSlide14.xml" ContentType="application/vnd.openxmlformats-officedocument.presentationml.notesSlide+xml"/>
  <Override PartName="/ppt/tags/tag32.xml" ContentType="application/vnd.openxmlformats-officedocument.presentationml.tags+xml"/>
  <Override PartName="/ppt/notesSlides/notesSlide15.xml" ContentType="application/vnd.openxmlformats-officedocument.presentationml.notesSlide+xml"/>
  <Override PartName="/ppt/tags/tag33.xml" ContentType="application/vnd.openxmlformats-officedocument.presentationml.tags+xml"/>
  <Override PartName="/ppt/notesSlides/notesSlide16.xml" ContentType="application/vnd.openxmlformats-officedocument.presentationml.notesSlide+xml"/>
  <Override PartName="/ppt/tags/tag34.xml" ContentType="application/vnd.openxmlformats-officedocument.presentationml.tags+xml"/>
  <Override PartName="/ppt/notesSlides/notesSlide17.xml" ContentType="application/vnd.openxmlformats-officedocument.presentationml.notesSlide+xml"/>
  <Override PartName="/ppt/tags/tag35.xml" ContentType="application/vnd.openxmlformats-officedocument.presentationml.tags+xml"/>
  <Override PartName="/ppt/notesSlides/notesSlide18.xml" ContentType="application/vnd.openxmlformats-officedocument.presentationml.notesSlide+xml"/>
  <Override PartName="/ppt/tags/tag36.xml" ContentType="application/vnd.openxmlformats-officedocument.presentationml.tags+xml"/>
  <Override PartName="/ppt/notesSlides/notesSlide19.xml" ContentType="application/vnd.openxmlformats-officedocument.presentationml.notesSlide+xml"/>
  <Override PartName="/ppt/tags/tag37.xml" ContentType="application/vnd.openxmlformats-officedocument.presentationml.tags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480" r:id="rId2"/>
    <p:sldId id="293" r:id="rId3"/>
    <p:sldId id="445" r:id="rId4"/>
    <p:sldId id="446" r:id="rId5"/>
    <p:sldId id="294" r:id="rId6"/>
    <p:sldId id="447" r:id="rId7"/>
    <p:sldId id="448" r:id="rId8"/>
    <p:sldId id="460" r:id="rId9"/>
    <p:sldId id="450" r:id="rId10"/>
    <p:sldId id="310" r:id="rId11"/>
    <p:sldId id="399" r:id="rId12"/>
    <p:sldId id="453" r:id="rId13"/>
    <p:sldId id="454" r:id="rId14"/>
    <p:sldId id="400" r:id="rId15"/>
    <p:sldId id="455" r:id="rId16"/>
    <p:sldId id="311" r:id="rId17"/>
    <p:sldId id="456" r:id="rId18"/>
    <p:sldId id="458" r:id="rId19"/>
    <p:sldId id="457" r:id="rId20"/>
    <p:sldId id="403" r:id="rId21"/>
    <p:sldId id="459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EFE5FB"/>
    <a:srgbClr val="810202"/>
    <a:srgbClr val="F3E7FF"/>
    <a:srgbClr val="9900CC"/>
    <a:srgbClr val="FBD53F"/>
    <a:srgbClr val="FF00FF"/>
    <a:srgbClr val="1F2DA8"/>
    <a:srgbClr val="A518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648" y="168"/>
      </p:cViewPr>
      <p:guideLst>
        <p:guide orient="horz" pos="2160"/>
        <p:guide pos="384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2026/7/22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be packed with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1" y="1296000"/>
            <a:ext cx="5283243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3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1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3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16535" y="165735"/>
            <a:ext cx="11619230" cy="5507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mould </a:t>
            </a:r>
            <a:r>
              <a:rPr lang="en-US" altLang="zh-CN" sz="3200" b="1" i="1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n.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1) 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模具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Pour the chocolate into a heart-shaped </a:t>
            </a:r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mould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</a:p>
          <a:p>
            <a:r>
              <a:rPr lang="en-US" altLang="zh-CN" sz="3200" b="1">
                <a:latin typeface="Times New Roman Bold" panose="02020603050405020304" charset="0"/>
                <a:cs typeface="Times New Roman Bold" panose="02020603050405020304" charset="0"/>
              </a:rPr>
              <a:t>2) </a:t>
            </a:r>
            <a:r>
              <a:rPr lang="en-US" altLang="zh-CN" sz="3200" b="1" i="1">
                <a:latin typeface="Times New Roman Bold Italic" panose="02020603050405020304" charset="0"/>
                <a:cs typeface="Times New Roman Bold Italic" panose="02020603050405020304" charset="0"/>
              </a:rPr>
              <a:t>a particular style</a:t>
            </a:r>
            <a:r>
              <a:rPr lang="en-US" altLang="zh-CN" sz="3200" b="1"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类型，风格</a:t>
            </a:r>
          </a:p>
          <a:p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She doesn't fit the traditional </a:t>
            </a:r>
            <a:r>
              <a:rPr lang="zh-CN" alt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mould 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of an academic.</a:t>
            </a:r>
          </a:p>
          <a:p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她不像一个传统的学者。</a:t>
            </a:r>
          </a:p>
          <a:p>
            <a:endParaRPr lang="zh-CN" alt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mould </a:t>
            </a:r>
            <a:r>
              <a:rPr lang="en-US" altLang="zh-CN" sz="3200" b="1" i="1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v.</a:t>
            </a:r>
            <a:r>
              <a:rPr lang="en-US" altLang="zh-CN" sz="3200" b="1"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浇筑；塑造</a:t>
            </a:r>
          </a:p>
          <a:p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The figure had been </a:t>
            </a:r>
            <a:r>
              <a:rPr lang="zh-CN" altLang="en-US" sz="3200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moulded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 in clay.</a:t>
            </a:r>
          </a:p>
          <a:p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这座人像是用黏土塑造的。</a:t>
            </a:r>
          </a:p>
          <a:p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The experience had </a:t>
            </a:r>
            <a:r>
              <a:rPr lang="zh-CN" altLang="en-US" sz="3200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moulded and coloured her whole life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</a:p>
          <a:p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这次经历影响了她的一生。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12192635" cy="4126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1. He observed that the bacteria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surrounding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 the mould were dead.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surround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v. </a:t>
            </a:r>
            <a:r>
              <a:rPr lang="zh-CN" altLang="en-US" sz="3200" b="1" i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to be all around sth</a:t>
            </a:r>
            <a:r>
              <a:rPr lang="en-US" altLang="zh-CN" sz="3200" b="1" i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.</a:t>
            </a:r>
            <a:r>
              <a:rPr lang="zh-CN" altLang="en-US" sz="3200" b="1" i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/sb</a:t>
            </a:r>
            <a:r>
              <a:rPr lang="en-US" altLang="zh-CN" sz="3200" b="1" i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.</a:t>
            </a:r>
            <a:r>
              <a:rPr lang="zh-CN" altLang="en-US" sz="3200" b="1" i="1" dirty="0">
                <a:solidFill>
                  <a:srgbClr val="C0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使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包围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环绕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围绕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charset="0"/>
              <a:ea typeface="宋体" pitchFamily="2" charset="-122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surround ... with …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用</a:t>
            </a:r>
            <a:r>
              <a:rPr lang="en-US" altLang="zh-CN" sz="3200" b="1" dirty="0">
                <a:solidFill>
                  <a:srgbClr val="000000"/>
                </a:solidFill>
                <a:latin typeface="宋体" pitchFamily="2" charset="-122"/>
                <a:cs typeface="Times New Roman" panose="02020603050405020304" charset="0"/>
                <a:sym typeface="+mn-ea"/>
              </a:rPr>
              <a:t>……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包围</a:t>
            </a:r>
            <a:r>
              <a:rPr lang="en-US" altLang="zh-CN" sz="3200" b="1" dirty="0">
                <a:solidFill>
                  <a:srgbClr val="000000"/>
                </a:solidFill>
                <a:latin typeface="宋体" pitchFamily="2" charset="-122"/>
                <a:cs typeface="Times New Roman" panose="02020603050405020304" charset="0"/>
                <a:sym typeface="+mn-ea"/>
              </a:rPr>
              <a:t>……</a:t>
            </a:r>
            <a:endParaRPr lang="en-US" altLang="zh-CN" sz="3200" b="1" dirty="0">
              <a:solidFill>
                <a:srgbClr val="000000"/>
              </a:solidFill>
              <a:latin typeface="宋体" pitchFamily="2" charset="-122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be surrounded by/with sth/sb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被某物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某人所包围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603050405020304" charset="0"/>
              <a:ea typeface="宋体" pitchFamily="2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Tall trees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surround</a:t>
            </a:r>
            <a:r>
              <a:rPr lang="zh-CN" altLang="en-US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 the lake. </a:t>
            </a:r>
            <a:endParaRPr lang="en-US" altLang="zh-CN" sz="3200" b="1" dirty="0">
              <a:latin typeface="Times New Roman" panose="02020603050405020304" charset="0"/>
              <a:ea typeface="宋体" pitchFamily="2" charset="-122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The lake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is surrounded with/by </a:t>
            </a:r>
            <a:r>
              <a:rPr lang="zh-CN" altLang="en-US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trees.</a:t>
            </a: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63830"/>
            <a:ext cx="12043410" cy="501269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】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surrounding  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en-US" altLang="zh-CN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(</a:t>
            </a:r>
            <a:r>
              <a:rPr lang="zh-CN" altLang="en-US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作定语</a:t>
            </a:r>
            <a:r>
              <a:rPr lang="en-US" altLang="zh-CN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) </a:t>
            </a:r>
            <a:r>
              <a:rPr lang="zh-CN" altLang="en-US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周围的</a:t>
            </a:r>
            <a:r>
              <a:rPr lang="en-US" altLang="zh-CN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; </a:t>
            </a:r>
            <a:r>
              <a:rPr lang="zh-CN" altLang="en-US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附近的</a:t>
            </a:r>
            <a:endParaRPr lang="zh-CN" altLang="en-US" sz="3200" b="1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surroundings n. (pl.)</a:t>
            </a:r>
            <a:r>
              <a:rPr lang="en-US" altLang="zh-CN" sz="3200" b="1" dirty="0">
                <a:solidFill>
                  <a:srgbClr val="FF00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zh-CN" altLang="en-US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环境</a:t>
            </a:r>
            <a:r>
              <a:rPr lang="en-US" altLang="zh-CN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(</a:t>
            </a:r>
            <a:r>
              <a:rPr lang="zh-CN" altLang="en-US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同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environment</a:t>
            </a:r>
            <a:r>
              <a:rPr lang="en-US" altLang="zh-CN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)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rgbClr val="00000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1. Standing on the top platform, we can admire the ___________________ (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周围的景色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2. This complex matches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surroundings 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quite well.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这个建筑群和周围的环境很相配。</a:t>
            </a:r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rgbClr val="00000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76530" y="2805430"/>
            <a:ext cx="3951605" cy="64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surrounding scenes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4" name="Text Box 4"/>
          <p:cNvSpPr txBox="1">
            <a:spLocks noChangeArrowheads="1"/>
          </p:cNvSpPr>
          <p:nvPr/>
        </p:nvSpPr>
        <p:spPr bwMode="auto">
          <a:xfrm>
            <a:off x="0" y="-635"/>
            <a:ext cx="12191365" cy="522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surround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的适当形式填空。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charset="0"/>
              </a:rPr>
              <a:t>  1) Lucy was sitting on the floor ____________ by toys.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charset="0"/>
              </a:rPr>
              <a:t>  2) We decided to explore the _____________ countryside. 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charset="0"/>
                <a:sym typeface="+mn-ea"/>
              </a:rPr>
              <a:t>  3) It’s important to work in friendly ______________.</a:t>
            </a:r>
            <a:endParaRPr lang="en-US" altLang="zh-CN" sz="3200" b="1" dirty="0">
              <a:latin typeface="Times New Roman" panose="02020603050405020304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4) And when he saw the mists rising from the river and the soft clouds ____________ (surround) the mountain tops, he was reduced to tears.</a:t>
            </a:r>
            <a:endParaRPr lang="en-US" altLang="zh-CN" sz="3200" b="1" dirty="0">
              <a:latin typeface="Times New Roman" panose="02020603050405020304" charset="0"/>
              <a:ea typeface="宋体" pitchFamily="2" charset="-122"/>
              <a:cs typeface="Times New Roman" panose="02020603050405020304" charset="0"/>
            </a:endParaRPr>
          </a:p>
          <a:p>
            <a:pPr marL="446405" indent="-446405">
              <a:lnSpc>
                <a:spcPct val="120000"/>
              </a:lnSpc>
            </a:pPr>
            <a:endParaRPr lang="en-US" altLang="zh-CN" sz="3200" b="1" dirty="0">
              <a:latin typeface="Times New Roman" panose="02020603050405020304" charset="0"/>
            </a:endParaRPr>
          </a:p>
        </p:txBody>
      </p:sp>
      <p:sp>
        <p:nvSpPr>
          <p:cNvPr id="194565" name="Rectangle 5"/>
          <p:cNvSpPr>
            <a:spLocks noChangeArrowheads="1"/>
          </p:cNvSpPr>
          <p:nvPr/>
        </p:nvSpPr>
        <p:spPr bwMode="auto">
          <a:xfrm>
            <a:off x="5836573" y="615611"/>
            <a:ext cx="231711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</a:rPr>
              <a:t>surrounded </a:t>
            </a:r>
          </a:p>
        </p:txBody>
      </p:sp>
      <p:sp>
        <p:nvSpPr>
          <p:cNvPr id="194566" name="Rectangle 6"/>
          <p:cNvSpPr>
            <a:spLocks noChangeArrowheads="1"/>
          </p:cNvSpPr>
          <p:nvPr/>
        </p:nvSpPr>
        <p:spPr bwMode="auto">
          <a:xfrm>
            <a:off x="5417438" y="1199188"/>
            <a:ext cx="250952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</a:rPr>
              <a:t>surroundings</a:t>
            </a:r>
          </a:p>
        </p:txBody>
      </p:sp>
      <p:sp>
        <p:nvSpPr>
          <p:cNvPr id="194568" name="Rectangle 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904079" y="1796751"/>
            <a:ext cx="250952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</a:rPr>
              <a:t>surroundings</a:t>
            </a:r>
          </a:p>
        </p:txBody>
      </p:sp>
      <p:sp>
        <p:nvSpPr>
          <p:cNvPr id="8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77337" y="2845448"/>
            <a:ext cx="235140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surrounding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4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5" grpId="0" bldLvl="0" animBg="1"/>
      <p:bldP spid="194566" grpId="0" bldLvl="0" animBg="1"/>
      <p:bldP spid="194568" grpId="0" bldLvl="0" animBg="1"/>
      <p:bldP spid="8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12191365" cy="4420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2. The results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indicated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 that ...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indicate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v.</a:t>
            </a:r>
            <a:r>
              <a:rPr lang="en-US" altLang="zh-CN" sz="3200" b="1" i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3200" b="1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 show that sth is true or exist</a:t>
            </a:r>
            <a:r>
              <a:rPr lang="zh-CN" altLang="en-US" sz="3200" b="1" i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 </a:t>
            </a: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Arial" panose="020B0704020202020204" pitchFamily="34" charset="0"/>
                <a:sym typeface="+mn-ea"/>
              </a:rPr>
              <a:t>表明</a:t>
            </a:r>
            <a:endParaRPr lang="en-US" altLang="zh-CN" sz="32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Arial" panose="020B07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When I asked the passer-by for direction, 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indicated to me the quickest way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to my destination.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indicate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 to sb. </a:t>
            </a:r>
            <a:r>
              <a:rPr lang="zh-CN" altLang="en-US" sz="3200" b="1" dirty="0">
                <a:latin typeface="+mj-ea"/>
                <a:cs typeface="Times New Roman" panose="02020603050405020304" charset="0"/>
                <a:sym typeface="+mn-ea"/>
              </a:rPr>
              <a:t>向某人指示</a:t>
            </a:r>
            <a:r>
              <a:rPr lang="en-US" altLang="zh-CN" sz="3200" b="1" dirty="0">
                <a:latin typeface="+mj-ea"/>
                <a:cs typeface="Times New Roman" panose="02020603050405020304" charset="0"/>
                <a:sym typeface="+mn-ea"/>
              </a:rPr>
              <a:t>/</a:t>
            </a:r>
            <a:r>
              <a:rPr lang="zh-CN" altLang="en-US" sz="3200" b="1" dirty="0">
                <a:latin typeface="+mj-ea"/>
                <a:cs typeface="Times New Roman" panose="02020603050405020304" charset="0"/>
                <a:sym typeface="+mn-ea"/>
              </a:rPr>
              <a:t>暗示</a:t>
            </a:r>
            <a:r>
              <a:rPr lang="en-US" altLang="zh-CN" sz="3200" b="1" dirty="0">
                <a:latin typeface="+mj-ea"/>
                <a:cs typeface="Times New Roman" panose="02020603050405020304" charset="0"/>
                <a:sym typeface="+mn-ea"/>
              </a:rPr>
              <a:t>……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latin typeface="+mj-ea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Research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indicates that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eating habits are changing fast.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+mj-ea"/>
                <a:cs typeface="Times New Roman" panose="02020603050405020304" charset="0"/>
                <a:sym typeface="+mn-ea"/>
              </a:rPr>
              <a:t>指示</a:t>
            </a:r>
            <a:r>
              <a:rPr lang="en-US" altLang="zh-CN" sz="3200" b="1" dirty="0">
                <a:latin typeface="+mj-ea"/>
                <a:cs typeface="Times New Roman" panose="02020603050405020304" charset="0"/>
                <a:sym typeface="+mn-ea"/>
              </a:rPr>
              <a:t>……</a:t>
            </a:r>
            <a:r>
              <a:rPr lang="zh-CN" altLang="en-US" sz="3200" b="1" dirty="0">
                <a:latin typeface="+mj-ea"/>
                <a:cs typeface="Times New Roman" panose="02020603050405020304" charset="0"/>
                <a:sym typeface="+mn-ea"/>
              </a:rPr>
              <a:t>；表明</a:t>
            </a:r>
            <a:r>
              <a:rPr lang="en-US" altLang="zh-CN" sz="3200" b="1" dirty="0">
                <a:latin typeface="+mj-ea"/>
                <a:cs typeface="Times New Roman" panose="02020603050405020304" charset="0"/>
                <a:sym typeface="+mn-ea"/>
              </a:rPr>
              <a:t>……</a:t>
            </a: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0"/>
            <a:ext cx="12192000" cy="40284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indication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. </a:t>
            </a:r>
            <a:r>
              <a:rPr lang="zh-CN" altLang="en-US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象征</a:t>
            </a:r>
            <a:r>
              <a:rPr lang="en-US" altLang="zh-CN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; </a:t>
            </a:r>
            <a:r>
              <a:rPr lang="zh-CN" altLang="en-US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显示</a:t>
            </a:r>
            <a:r>
              <a:rPr lang="en-US" altLang="zh-CN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; </a:t>
            </a:r>
            <a:r>
              <a:rPr lang="zh-CN" altLang="en-US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标示</a:t>
            </a:r>
            <a:endParaRPr lang="zh-CN" altLang="en-US" sz="3200" b="1" dirty="0">
              <a:latin typeface="Times New Roman" panose="02020603050405020304" charset="0"/>
              <a:ea typeface="宋体" pitchFamily="2" charset="-122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There are clear indications that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economy is improving.</a:t>
            </a:r>
            <a:endParaRPr lang="en-US" altLang="zh-CN" sz="3200" b="1" dirty="0">
              <a:latin typeface="+mj-ea"/>
              <a:ea typeface="+mj-ea"/>
              <a:cs typeface="Times New Roman" panose="02020603050405020304" charset="0"/>
            </a:endParaRP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有迹象表明</a:t>
            </a:r>
            <a:r>
              <a:rPr lang="en-US" altLang="zh-CN" sz="3200" b="1" dirty="0">
                <a:latin typeface="+mj-ea"/>
                <a:ea typeface="+mj-ea"/>
                <a:cs typeface="Times New Roman" panose="02020603050405020304" charset="0"/>
                <a:sym typeface="+mn-ea"/>
              </a:rPr>
              <a:t>……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There is no indication that...</a:t>
            </a:r>
            <a:r>
              <a:rPr lang="en-US" altLang="zh-CN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  </a:t>
            </a:r>
            <a:r>
              <a:rPr lang="zh-CN" altLang="en-US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无迹象表明</a:t>
            </a:r>
            <a:r>
              <a:rPr lang="en-US" altLang="zh-CN" sz="3200" b="1" dirty="0">
                <a:latin typeface="+mj-ea"/>
                <a:ea typeface="+mj-ea"/>
                <a:cs typeface="Times New Roman" panose="02020603050405020304" charset="0"/>
                <a:sym typeface="+mn-ea"/>
              </a:rPr>
              <a:t>……</a:t>
            </a:r>
          </a:p>
          <a:p>
            <a:pPr>
              <a:lnSpc>
                <a:spcPct val="114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indicator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n.</a:t>
            </a:r>
            <a:r>
              <a:rPr lang="en-US" altLang="zh-CN" sz="3200" b="1" dirty="0">
                <a:latin typeface="+mj-ea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3200" b="1" dirty="0">
                <a:latin typeface="+mj-ea"/>
                <a:cs typeface="Times New Roman" panose="02020603050405020304" charset="0"/>
                <a:sym typeface="+mn-ea"/>
              </a:rPr>
              <a:t>标志，指标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economic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indicators 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are better than expected.</a:t>
            </a:r>
            <a:endParaRPr lang="zh-CN" altLang="en-US" sz="3200" b="1" dirty="0">
              <a:latin typeface="+mj-ea"/>
              <a:cs typeface="Times New Roman" panose="0202060305040502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-635"/>
            <a:ext cx="12192000" cy="4906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3.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One might think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 Fleming discovered penicillin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by accident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, but actually this 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far from the truth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. (翻译)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有人可能会认为弗莱明发现青霉素是偶然的，但事实远非如此。</a:t>
            </a: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One might think </a:t>
            </a: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603050405020304" charset="0"/>
              </a:rPr>
              <a:t>有人可能会认为</a:t>
            </a:r>
            <a:endParaRPr lang="zh-CN" altLang="en-US" sz="32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by accident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60305040502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603050405020304" charset="0"/>
              </a:rPr>
              <a:t>偶然地</a:t>
            </a:r>
            <a:endParaRPr lang="zh-CN" altLang="en-US" sz="32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far from the truth </a:t>
            </a: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603050405020304" charset="0"/>
              </a:rPr>
              <a:t>事实远非如此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4940" y="208915"/>
            <a:ext cx="12037060" cy="33381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by accident = by chance = accidentally 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/ˌæksɪˈdentəli/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偶然，意外地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It is no accident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(n.)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that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 online courses have grown rapidly in recent months.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……并非偶然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Leaving the door unlocked when I was out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was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 pure accident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纯属意外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5925" y="1760220"/>
            <a:ext cx="11510010" cy="33381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10000"/>
              </a:lnSpc>
              <a:buFont typeface="Wingdings" panose="05000000000000000000" charset="0"/>
              <a:buNone/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1)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他打算怎样做一点都不清楚。</a:t>
            </a:r>
          </a:p>
          <a:p>
            <a:pPr indent="0">
              <a:lnSpc>
                <a:spcPct val="110000"/>
              </a:lnSpc>
              <a:buFont typeface="Wingdings" panose="05000000000000000000" charset="0"/>
              <a:buNone/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It is _____________what he ____________.</a:t>
            </a:r>
          </a:p>
          <a:p>
            <a:pPr indent="0">
              <a:lnSpc>
                <a:spcPct val="110000"/>
              </a:lnSpc>
              <a:buFont typeface="Wingdings" panose="05000000000000000000" charset="0"/>
              <a:buNone/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2) Computers,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far from destroying jobs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, can create employment. </a:t>
            </a:r>
          </a:p>
          <a:p>
            <a:pPr indent="0">
              <a:lnSpc>
                <a:spcPct val="110000"/>
              </a:lnSpc>
              <a:buFont typeface="Wingdings" panose="05000000000000000000" charset="0"/>
              <a:buNone/>
            </a:pP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计算机远非破坏就业，而是能创造就业。</a:t>
            </a:r>
          </a:p>
          <a:p>
            <a:pPr indent="0">
              <a:lnSpc>
                <a:spcPct val="110000"/>
              </a:lnSpc>
              <a:buFont typeface="Wingdings" panose="05000000000000000000" charset="0"/>
              <a:buNone/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3) His account of the accident was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far from the truth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pPr indent="0">
              <a:lnSpc>
                <a:spcPct val="110000"/>
              </a:lnSpc>
              <a:buFont typeface="Wingdings" panose="05000000000000000000" charset="0"/>
              <a:buNone/>
            </a:pP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绝不是真相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774190" y="699135"/>
            <a:ext cx="171894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anything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323975" y="2280920"/>
            <a:ext cx="261937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far from clear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51450" y="2280920"/>
            <a:ext cx="241871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intends to do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518920" y="151765"/>
            <a:ext cx="9883140" cy="11734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far from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远非，根本不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+ adj. / n. / v-ing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(________ but)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/>
      <p:bldP spid="6" grpId="1"/>
      <p:bldP spid="7" grpId="0"/>
      <p:bldP spid="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12191365" cy="712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4. Fortune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favours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 the prepared mind. (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翻译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)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603050405020304" charset="0"/>
              </a:rPr>
              <a:t>幸运眷顾有准备的人。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favour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vt.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1) </a:t>
            </a:r>
            <a:r>
              <a:rPr lang="zh-CN" altLang="en-US" sz="3200" b="1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 treat sb better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603050405020304" charset="0"/>
                <a:sym typeface="+mn-ea"/>
              </a:rPr>
              <a:t>偏袒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(treat better)</a:t>
            </a:r>
            <a:endParaRPr lang="en-US" altLang="zh-CN" sz="3200" b="1" dirty="0">
              <a:solidFill>
                <a:srgbClr val="FF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  <a:p>
            <a:pPr indent="-719455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policy seems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favour 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graduates with experiences of studying abroad.</a:t>
            </a: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-719455" fontAlgn="auto">
              <a:lnSpc>
                <a:spcPct val="110000"/>
              </a:lnSpc>
            </a:pPr>
            <a:r>
              <a:rPr 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这项</a:t>
            </a:r>
            <a:r>
              <a:rPr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政策似乎更</a:t>
            </a:r>
            <a:r>
              <a:rPr sz="3200" b="1" u="sng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偏向</a:t>
            </a:r>
            <a:r>
              <a:rPr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有留学经历的毕业生。</a:t>
            </a:r>
          </a:p>
          <a:p>
            <a:pPr indent="-719455" fontAlgn="auto">
              <a:lnSpc>
                <a:spcPct val="110000"/>
              </a:lnSpc>
            </a:pPr>
            <a:r>
              <a:rPr 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2)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v. </a:t>
            </a:r>
            <a:r>
              <a:rPr lang="zh-CN" altLang="en-US" sz="3200" b="1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 prefer</a:t>
            </a:r>
            <a:r>
              <a:rPr lang="en-US" altLang="zh-CN" sz="3200" b="1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one</a:t>
            </a:r>
            <a:r>
              <a:rPr lang="zh-CN" altLang="en-US" sz="3200" b="1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way of doing sth, etc. to another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较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603050405020304" charset="0"/>
                <a:sym typeface="+mn-ea"/>
              </a:rPr>
              <a:t>喜欢</a:t>
            </a:r>
            <a:r>
              <a:rPr lang="en-US" altLang="zh-CN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(prefer)</a:t>
            </a:r>
            <a:endParaRPr lang="zh-CN" altLang="en-US" sz="3200" b="1" dirty="0">
              <a:solidFill>
                <a:srgbClr val="0000FF"/>
              </a:solidFill>
              <a:latin typeface="宋体" pitchFamily="2" charset="-122"/>
              <a:ea typeface="宋体" pitchFamily="2" charset="-122"/>
              <a:cs typeface="Times New Roman" panose="02020603050405020304" charset="0"/>
            </a:endParaRPr>
          </a:p>
          <a:p>
            <a:pPr indent="-719455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favour 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 quiet and peaceful life.</a:t>
            </a:r>
          </a:p>
          <a:p>
            <a:pPr indent="-719455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3) </a:t>
            </a:r>
            <a:r>
              <a:rPr lang="zh-CN" altLang="en-US" sz="3200" b="1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 provide suitable conditions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603050405020304" charset="0"/>
                <a:sym typeface="+mn-ea"/>
              </a:rPr>
              <a:t>有利于，有助于</a:t>
            </a:r>
            <a:r>
              <a:rPr lang="en-US" altLang="zh-CN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(help)</a:t>
            </a:r>
            <a:endParaRPr lang="zh-CN" altLang="en-US" sz="3200" b="1" dirty="0">
              <a:solidFill>
                <a:srgbClr val="FF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  <a:p>
            <a:pPr indent="0">
              <a:lnSpc>
                <a:spcPct val="110000"/>
              </a:lnSpc>
              <a:buFont typeface="Wingdings" panose="05000000000000000000" charset="0"/>
              <a:buNone/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warm climate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favours 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many types of tropical plants.</a:t>
            </a:r>
          </a:p>
          <a:p>
            <a:pPr marL="719455" indent="-719455">
              <a:lnSpc>
                <a:spcPct val="110000"/>
              </a:lnSpc>
            </a:pP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温暖的气候</a:t>
            </a:r>
            <a:r>
              <a:rPr lang="zh-CN" altLang="en-US" sz="3200" b="1" u="sng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对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多种热带植物生长</a:t>
            </a:r>
            <a:r>
              <a:rPr lang="zh-CN" altLang="en-US" sz="3200" b="1" u="sng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有利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。</a:t>
            </a:r>
          </a:p>
          <a:p>
            <a:pPr indent="-719455" fontAlgn="auto">
              <a:lnSpc>
                <a:spcPct val="110000"/>
              </a:lnSpc>
            </a:pPr>
            <a:endParaRPr sz="32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-719455" fontAlgn="auto">
              <a:lnSpc>
                <a:spcPct val="110000"/>
              </a:lnSpc>
            </a:pPr>
            <a:endParaRPr lang="zh-CN" altLang="en-US" sz="3200" b="1" dirty="0">
              <a:latin typeface="宋体" pitchFamily="2" charset="-122"/>
              <a:ea typeface="宋体" pitchFamily="2" charset="-122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12192000" cy="4961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favour n. </a:t>
            </a:r>
          </a:p>
          <a:p>
            <a:pPr lvl="0" algn="l">
              <a:lnSpc>
                <a:spcPct val="110000"/>
              </a:lnSpc>
              <a:buClrTx/>
              <a:buSzTx/>
              <a:buFontTx/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514350" lvl="0" indent="-514350" algn="l">
              <a:lnSpc>
                <a:spcPct val="110000"/>
              </a:lnSpc>
              <a:buClrTx/>
              <a:buSzTx/>
              <a:buFontTx/>
              <a:buAutoNum type="arabicPeriod"/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恩惠，帮助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(help)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do sb a favour        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帮某人忙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owe sb a favour	       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欠某人一个人情</a:t>
            </a:r>
          </a:p>
          <a:p>
            <a:pPr lvl="0" algn="l">
              <a:lnSpc>
                <a:spcPct val="110000"/>
              </a:lnSpc>
              <a:buClrTx/>
              <a:buSzTx/>
              <a:buFontTx/>
            </a:pP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indent="0" algn="l">
              <a:lnSpc>
                <a:spcPct val="110000"/>
              </a:lnSpc>
              <a:buClrTx/>
              <a:buSzTx/>
              <a:buFont typeface="+mj-lt"/>
              <a:buNone/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2. 偏袒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(better treatment)</a:t>
            </a: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indent="0" algn="l">
              <a:lnSpc>
                <a:spcPct val="110000"/>
              </a:lnSpc>
              <a:buClrTx/>
              <a:buSzTx/>
              <a:buNone/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As an examiner, 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showed (no) favour to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any candidate.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indent="0" algn="l">
              <a:lnSpc>
                <a:spcPct val="110000"/>
              </a:lnSpc>
              <a:buClrTx/>
              <a:buSzTx/>
              <a:buNone/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(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不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)偏袒某人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12191365" cy="55029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indent="0" algn="l">
              <a:lnSpc>
                <a:spcPct val="110000"/>
              </a:lnSpc>
              <a:buClrTx/>
              <a:buSzTx/>
              <a:buFont typeface="+mj-lt"/>
              <a:buNone/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3. 赞同，支持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(support)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有利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(advantage)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，喜爱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(like)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indent="0" algn="l">
              <a:lnSpc>
                <a:spcPct val="110000"/>
              </a:lnSpc>
              <a:buClrTx/>
              <a:buSzTx/>
              <a:buFont typeface="Wingdings" panose="05000000000000000000" charset="0"/>
              <a:buNone/>
            </a:pPr>
            <a:endParaRPr lang="en-US" altLang="zh-CN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indent="0" algn="l">
              <a:lnSpc>
                <a:spcPct val="110000"/>
              </a:lnSpc>
              <a:buClrTx/>
              <a:buSzTx/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1) I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am in favour of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the proposal you put forward at the meeting.</a:t>
            </a:r>
          </a:p>
          <a:p>
            <a:pPr lvl="0" indent="0" algn="l">
              <a:lnSpc>
                <a:spcPct val="110000"/>
              </a:lnSpc>
              <a:buClrTx/>
              <a:buSzTx/>
              <a:buNone/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赞成; 支持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indent="0" algn="l">
              <a:lnSpc>
                <a:spcPct val="110000"/>
              </a:lnSpc>
              <a:buClrTx/>
              <a:buSzTx/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2) People are willing to make the effort, especially when the work is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 their favour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</a:p>
          <a:p>
            <a:pPr lvl="0" indent="0" algn="l">
              <a:lnSpc>
                <a:spcPct val="110000"/>
              </a:lnSpc>
              <a:buClrTx/>
              <a:buSz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 to one’s advantage 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对某人有利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indent="0" algn="l">
              <a:lnSpc>
                <a:spcPct val="110000"/>
              </a:lnSpc>
              <a:buClrTx/>
              <a:buSzTx/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3) It remains to be seen if the show will still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find/win favour with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a 1990s audience.</a:t>
            </a:r>
          </a:p>
          <a:p>
            <a:pPr lvl="0" indent="0" algn="l">
              <a:lnSpc>
                <a:spcPct val="110000"/>
              </a:lnSpc>
              <a:buClrTx/>
              <a:buSzTx/>
              <a:buNone/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赢得(某人的)欢迎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175635" y="2590165"/>
            <a:ext cx="584009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leave/make a favourable impression on sb 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175635" y="3769360"/>
            <a:ext cx="58400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favourable comments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0" y="0"/>
            <a:ext cx="12192000" cy="55029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favourable adj. 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肯定的，赞同的，有利的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(opp. adj.)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unfavourable</a:t>
            </a:r>
          </a:p>
          <a:p>
            <a:pPr lvl="0" algn="l">
              <a:lnSpc>
                <a:spcPct val="110000"/>
              </a:lnSpc>
              <a:buClrTx/>
              <a:buSzTx/>
              <a:buFontTx/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be favourable to sb/sth 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对……有利</a:t>
            </a:r>
          </a:p>
          <a:p>
            <a:pPr lvl="0" algn="l">
              <a:lnSpc>
                <a:spcPct val="110000"/>
              </a:lnSpc>
              <a:buClrTx/>
              <a:buSzTx/>
              <a:buFontTx/>
            </a:pPr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Wingdings" panose="05000000000000000000" charset="0"/>
              <a:buChar char=""/>
            </a:pP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留下好印象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Wingdings" panose="05000000000000000000" charset="0"/>
              <a:buChar char=""/>
            </a:pPr>
            <a:endParaRPr lang="zh-CN" altLang="en-US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Wingdings" panose="05000000000000000000" charset="0"/>
              <a:buChar char=""/>
            </a:pP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好评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Wingdings" panose="05000000000000000000" charset="0"/>
              <a:buChar char=""/>
            </a:pPr>
            <a:endParaRPr lang="zh-CN" altLang="en-US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Wingdings" panose="05000000000000000000" charset="0"/>
              <a:buChar char=""/>
            </a:pP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有利的经济环境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favourable economic conditions</a:t>
            </a:r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5" name="Rectangle 5"/>
          <p:cNvSpPr>
            <a:spLocks noChangeArrowheads="1"/>
          </p:cNvSpPr>
          <p:nvPr/>
        </p:nvSpPr>
        <p:spPr bwMode="auto">
          <a:xfrm>
            <a:off x="0" y="295275"/>
            <a:ext cx="12192000" cy="4225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630555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完成句子。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1) Could you _______________ and tell Kelly I can’t make it?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你帮个忙告诉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Kelly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说我来不了好吗？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2) My sister was against my suggestion while my brother ______________ (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赞成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) it.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3) Duncan had his height and weight ___________ (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对他有利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) during the fight.</a:t>
            </a:r>
          </a:p>
        </p:txBody>
      </p:sp>
      <p:sp>
        <p:nvSpPr>
          <p:cNvPr id="230407" name="Rectangle 7"/>
          <p:cNvSpPr>
            <a:spLocks noChangeArrowheads="1"/>
          </p:cNvSpPr>
          <p:nvPr/>
        </p:nvSpPr>
        <p:spPr bwMode="auto">
          <a:xfrm>
            <a:off x="2270125" y="872490"/>
            <a:ext cx="4532630" cy="632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do me a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favour</a:t>
            </a:r>
          </a:p>
        </p:txBody>
      </p:sp>
      <p:sp>
        <p:nvSpPr>
          <p:cNvPr id="230410" name="Rectangle 10"/>
          <p:cNvSpPr>
            <a:spLocks noChangeArrowheads="1"/>
          </p:cNvSpPr>
          <p:nvPr/>
        </p:nvSpPr>
        <p:spPr bwMode="auto">
          <a:xfrm>
            <a:off x="358775" y="2652395"/>
            <a:ext cx="423862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was in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favour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 of</a:t>
            </a: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6508115" y="3235960"/>
            <a:ext cx="273050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in his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favour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30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7" grpId="0" bldLvl="0" animBg="1"/>
      <p:bldP spid="230410" grpId="0" bldLvl="0" animBg="1"/>
      <p:bldP spid="6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5" name="Rectangle 5"/>
          <p:cNvSpPr>
            <a:spLocks noChangeArrowheads="1"/>
          </p:cNvSpPr>
          <p:nvPr/>
        </p:nvSpPr>
        <p:spPr bwMode="auto">
          <a:xfrm>
            <a:off x="135890" y="488315"/>
            <a:ext cx="12055475" cy="3044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630555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完成句子。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1) A generation which would once only wear old-fashioned clothes is now _________ (favour) the same high street looks.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2)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</a:rPr>
              <a:t>我个人更喜欢前一个决定。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0410" name="Rectangle 10"/>
          <p:cNvSpPr>
            <a:spLocks noChangeArrowheads="1"/>
          </p:cNvSpPr>
          <p:nvPr/>
        </p:nvSpPr>
        <p:spPr bwMode="auto">
          <a:xfrm>
            <a:off x="1457960" y="1718945"/>
            <a:ext cx="265747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favouring</a:t>
            </a: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619760" y="2948940"/>
            <a:ext cx="803021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rPr>
              <a:t>I personally favour the former decision.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0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10" grpId="0" bldLvl="0" animBg="1"/>
      <p:bldP spid="6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57499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5. He designed an experiment to prove his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theory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theory   c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./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un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. </a:t>
            </a:r>
            <a:r>
              <a:rPr lang="zh-CN" altLang="en-US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理论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charset="0"/>
              <a:ea typeface="宋体" pitchFamily="2" charset="-122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theoretical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.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 /ˌθɪəˈretɪkl/ </a:t>
            </a:r>
            <a:r>
              <a:rPr lang="zh-CN" altLang="en-US" sz="3200" b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理论上的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charset="0"/>
              <a:ea typeface="宋体" pitchFamily="2" charset="-122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theoretically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adv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.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提出一个理论</a:t>
            </a:r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come up with / put forward / propose a theory</a:t>
            </a:r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将理论付诸实践</a:t>
            </a:r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theory of sth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...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理论</a:t>
            </a:r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 theory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理论上讲，按理说</a:t>
            </a: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665855" y="3876675"/>
            <a:ext cx="427990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put theory into practice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635" cy="57499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6. When ..., the lightning would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charge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the key.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charge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v.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收费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；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充电；</a:t>
            </a:r>
            <a:r>
              <a:rPr lang="zh-CN" altLang="en-US" sz="3200" b="1" i="1" dirty="0"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to accuse sb formally of a crime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cs typeface="Times New Roman" panose="02020603050405020304" charset="0"/>
                <a:sym typeface="+mn-ea"/>
              </a:rPr>
              <a:t>控诉</a:t>
            </a:r>
          </a:p>
          <a:p>
            <a:pPr>
              <a:lnSpc>
                <a:spcPct val="110000"/>
              </a:lnSpc>
            </a:pPr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restaurant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charged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£20 for dinner.</a:t>
            </a:r>
          </a:p>
          <a:p>
            <a:pPr>
              <a:lnSpc>
                <a:spcPct val="110000"/>
              </a:lnSpc>
            </a:pPr>
            <a:r>
              <a:rPr lang="pl-PL" altLang="en-US" sz="3200" b="1" dirty="0">
                <a:solidFill>
                  <a:srgbClr val="FF0000"/>
                </a:solidFill>
                <a:latin typeface="Times New Roman Bold" panose="02020603050405020304" charset="0"/>
                <a:ea typeface="新宋体" panose="02010609030101010101" pitchFamily="49" charset="-122"/>
                <a:cs typeface="Times New Roman Bold" panose="02020603050405020304" charset="0"/>
                <a:sym typeface="+mn-ea"/>
              </a:rPr>
              <a:t>charge sb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ea typeface="新宋体" panose="02010609030101010101" pitchFamily="49" charset="-122"/>
                <a:cs typeface="Times New Roman Bold" panose="02020603050405020304" charset="0"/>
                <a:sym typeface="+mn-ea"/>
              </a:rPr>
              <a:t> ($5) </a:t>
            </a:r>
            <a:r>
              <a:rPr lang="pl-PL" altLang="en-US" sz="3200" b="1" dirty="0">
                <a:solidFill>
                  <a:srgbClr val="FF0000"/>
                </a:solidFill>
                <a:latin typeface="Times New Roman Bold" panose="02020603050405020304" charset="0"/>
                <a:ea typeface="新宋体" panose="02010609030101010101" pitchFamily="49" charset="-122"/>
                <a:cs typeface="Times New Roman Bold" panose="02020603050405020304" charset="0"/>
                <a:sym typeface="+mn-ea"/>
              </a:rPr>
              <a:t>for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ea typeface="新宋体" panose="02010609030101010101" pitchFamily="49" charset="-122"/>
                <a:cs typeface="Times New Roman Bold" panose="02020603050405020304" charset="0"/>
                <a:sym typeface="+mn-ea"/>
              </a:rPr>
              <a:t> sth</a:t>
            </a:r>
            <a:r>
              <a:rPr lang="en-US" altLang="zh-CN" sz="3200" b="1" dirty="0">
                <a:latin typeface="Times New Roman Bold" panose="02020603050405020304" charset="0"/>
                <a:ea typeface="新宋体" panose="02010609030101010101" pitchFamily="49" charset="-122"/>
                <a:cs typeface="Times New Roman Bold" panose="02020603050405020304" charset="0"/>
                <a:sym typeface="+mn-ea"/>
              </a:rPr>
              <a:t> </a:t>
            </a:r>
            <a:r>
              <a:rPr lang="zh-CN" altLang="en-US" sz="3200" b="1" dirty="0">
                <a:latin typeface="Times New Roman Regular" panose="02020603050405020304" charset="0"/>
                <a:ea typeface="新宋体" panose="02010609030101010101" pitchFamily="49" charset="-122"/>
                <a:cs typeface="Times New Roman Regular" panose="02020603050405020304" charset="0"/>
                <a:sym typeface="+mn-ea"/>
              </a:rPr>
              <a:t>为</a:t>
            </a:r>
            <a:r>
              <a:rPr lang="en-US" altLang="zh-CN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……</a:t>
            </a:r>
            <a:r>
              <a:rPr lang="zh-CN" altLang="en-US" sz="3200" b="1" dirty="0">
                <a:latin typeface="Times New Roman Regular" panose="02020603050405020304" charset="0"/>
                <a:ea typeface="新宋体" panose="02010609030101010101" pitchFamily="49" charset="-122"/>
                <a:cs typeface="Times New Roman Regular" panose="02020603050405020304" charset="0"/>
                <a:sym typeface="+mn-ea"/>
              </a:rPr>
              <a:t>向某人收取费用</a:t>
            </a:r>
            <a:endParaRPr lang="zh-CN" altLang="en-US" sz="3200" b="1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Several people were arrested but</a:t>
            </a: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nobody was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charged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(with theft)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pl-PL" altLang="en-US" sz="3200" b="1" dirty="0">
                <a:solidFill>
                  <a:srgbClr val="FF0000"/>
                </a:solidFill>
                <a:latin typeface="Times New Roman Bold" panose="02020603050405020304" charset="0"/>
                <a:ea typeface="新宋体" panose="02010609030101010101" pitchFamily="49" charset="-122"/>
                <a:cs typeface="Times New Roman Bold" panose="02020603050405020304" charset="0"/>
                <a:sym typeface="+mn-ea"/>
              </a:rPr>
              <a:t>charge sb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ea typeface="新宋体" panose="02010609030101010101" pitchFamily="49" charset="-122"/>
                <a:cs typeface="Times New Roman Bold" panose="02020603050405020304" charset="0"/>
                <a:sym typeface="+mn-ea"/>
              </a:rPr>
              <a:t> </a:t>
            </a:r>
            <a:r>
              <a:rPr lang="pl-PL" altLang="en-US" sz="3200" b="1" dirty="0">
                <a:solidFill>
                  <a:srgbClr val="FF0000"/>
                </a:solidFill>
                <a:latin typeface="Times New Roman Bold" panose="02020603050405020304" charset="0"/>
                <a:ea typeface="新宋体" panose="02010609030101010101" pitchFamily="49" charset="-122"/>
                <a:cs typeface="Times New Roman Bold" panose="02020603050405020304" charset="0"/>
                <a:sym typeface="+mn-ea"/>
              </a:rPr>
              <a:t>with (doing)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ea typeface="新宋体" panose="02010609030101010101" pitchFamily="49" charset="-122"/>
                <a:cs typeface="Times New Roman Bold" panose="02020603050405020304" charset="0"/>
                <a:sym typeface="+mn-ea"/>
              </a:rPr>
              <a:t> </a:t>
            </a:r>
            <a:r>
              <a:rPr lang="pl-PL" altLang="en-US" sz="3200" b="1" dirty="0">
                <a:solidFill>
                  <a:srgbClr val="FF0000"/>
                </a:solidFill>
                <a:latin typeface="Times New Roman Bold" panose="02020603050405020304" charset="0"/>
                <a:ea typeface="新宋体" panose="02010609030101010101" pitchFamily="49" charset="-122"/>
                <a:cs typeface="Times New Roman Bold" panose="02020603050405020304" charset="0"/>
                <a:sym typeface="+mn-ea"/>
              </a:rPr>
              <a:t>sth.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ea typeface="新宋体" panose="02010609030101010101" pitchFamily="49" charset="-122"/>
                <a:cs typeface="Times New Roman Bold" panose="02020603050405020304" charset="0"/>
                <a:sym typeface="+mn-ea"/>
              </a:rPr>
              <a:t> = accuse sb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ea typeface="新宋体" panose="02010609030101010101" pitchFamily="49" charset="-122"/>
                <a:cs typeface="Times New Roman Bold" panose="02020603050405020304" charset="0"/>
                <a:sym typeface="+mn-ea"/>
              </a:rPr>
              <a:t> of</a:t>
            </a:r>
            <a:r>
              <a:rPr lang="en-US" altLang="zh-CN" sz="3200" b="1" dirty="0">
                <a:latin typeface="Times New Roman Bold" panose="02020603050405020304" charset="0"/>
                <a:ea typeface="新宋体" panose="02010609030101010101" pitchFamily="49" charset="-122"/>
                <a:cs typeface="Times New Roman Bold" panose="02020603050405020304" charset="0"/>
                <a:sym typeface="+mn-ea"/>
              </a:rPr>
              <a:t> </a:t>
            </a:r>
            <a:r>
              <a:rPr lang="en-US" altLang="zh-CN" sz="3200" dirty="0">
                <a:ea typeface="新宋体" panose="02010609030101010101" pitchFamily="49" charset="-122"/>
                <a:sym typeface="+mn-ea"/>
              </a:rPr>
              <a:t> </a:t>
            </a:r>
            <a:r>
              <a:rPr lang="zh-CN" altLang="en-US" sz="3200" b="1" dirty="0">
                <a:ea typeface="新宋体" panose="02010609030101010101" pitchFamily="49" charset="-122"/>
                <a:sym typeface="+mn-ea"/>
              </a:rPr>
              <a:t>控告某人</a:t>
            </a:r>
            <a:r>
              <a:rPr lang="pl-PL" altLang="en-US" sz="3200" b="1" dirty="0">
                <a:ea typeface="新宋体" panose="02010609030101010101" pitchFamily="49" charset="-122"/>
                <a:sym typeface="+mn-ea"/>
              </a:rPr>
              <a:t>(</a:t>
            </a:r>
            <a:r>
              <a:rPr lang="zh-CN" altLang="en-US" sz="3200" b="1" dirty="0">
                <a:ea typeface="新宋体" panose="02010609030101010101" pitchFamily="49" charset="-122"/>
                <a:sym typeface="+mn-ea"/>
              </a:rPr>
              <a:t>做</a:t>
            </a:r>
            <a:r>
              <a:rPr lang="pl-PL" altLang="en-US" sz="3200" b="1" dirty="0">
                <a:ea typeface="新宋体" panose="02010609030101010101" pitchFamily="49" charset="-122"/>
                <a:sym typeface="+mn-ea"/>
              </a:rPr>
              <a:t>)</a:t>
            </a:r>
            <a:r>
              <a:rPr lang="zh-CN" altLang="en-US" sz="3200" b="1" dirty="0">
                <a:ea typeface="新宋体" panose="02010609030101010101" pitchFamily="49" charset="-122"/>
                <a:sym typeface="+mn-ea"/>
              </a:rPr>
              <a:t>某事</a:t>
            </a:r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Before use, the battery must be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charged</a:t>
            </a:r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12192000" cy="6620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rgbClr val="0000FF"/>
                </a:solidFill>
                <a:ea typeface="新宋体" panose="02010609030101010101" pitchFamily="49" charset="-122"/>
              </a:rPr>
              <a:t>【</a:t>
            </a:r>
            <a:r>
              <a:rPr lang="zh-CN" altLang="en-US" dirty="0">
                <a:solidFill>
                  <a:srgbClr val="0000FF"/>
                </a:solidFill>
                <a:ea typeface="新宋体" panose="02010609030101010101" pitchFamily="49" charset="-122"/>
              </a:rPr>
              <a:t>拓展</a:t>
            </a:r>
            <a:r>
              <a:rPr lang="en-US" altLang="zh-CN" dirty="0">
                <a:solidFill>
                  <a:srgbClr val="0000FF"/>
                </a:solidFill>
                <a:ea typeface="新宋体" panose="02010609030101010101" pitchFamily="49" charset="-122"/>
              </a:rPr>
              <a:t>】</a:t>
            </a:r>
            <a:endParaRPr lang="zh-CN" altLang="en-US" dirty="0">
              <a:ea typeface="新宋体" panose="02010609030101010101" pitchFamily="49" charset="-12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新宋体" panose="02010609030101010101" pitchFamily="49" charset="-122"/>
              </a:rPr>
              <a:t>be charged with (doing) sth</a:t>
            </a:r>
            <a:r>
              <a:rPr lang="en-US" altLang="zh-CN" dirty="0">
                <a:ea typeface="新宋体" panose="02010609030101010101" pitchFamily="49" charset="-122"/>
              </a:rPr>
              <a:t>  </a:t>
            </a:r>
            <a:r>
              <a:rPr lang="zh-CN" altLang="en-US" dirty="0">
                <a:ea typeface="新宋体" panose="02010609030101010101" pitchFamily="49" charset="-122"/>
              </a:rPr>
              <a:t>承担……责任，负责</a:t>
            </a:r>
            <a:r>
              <a:rPr lang="en-US" altLang="zh-CN" i="1" dirty="0">
                <a:latin typeface="Times New Roman Bold Italic" panose="02020603050405020304" charset="0"/>
                <a:ea typeface="新宋体" panose="02010609030101010101" pitchFamily="49" charset="-122"/>
                <a:cs typeface="Times New Roman Bold Italic" panose="02020603050405020304" charset="0"/>
              </a:rPr>
              <a:t> [formal]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dirty="0">
                <a:ea typeface="新宋体" panose="02010609030101010101" pitchFamily="49" charset="-122"/>
              </a:rPr>
              <a:t>A special committee </a:t>
            </a:r>
            <a:r>
              <a:rPr lang="en-US" altLang="zh-CN" dirty="0">
                <a:solidFill>
                  <a:srgbClr val="FF0000"/>
                </a:solidFill>
                <a:ea typeface="新宋体" panose="02010609030101010101" pitchFamily="49" charset="-122"/>
              </a:rPr>
              <a:t>has been charged with </a:t>
            </a:r>
            <a:r>
              <a:rPr lang="en-US" altLang="zh-CN" dirty="0">
                <a:ea typeface="新宋体" panose="02010609030101010101" pitchFamily="49" charset="-122"/>
              </a:rPr>
              <a:t>monitoring the process of construction.</a:t>
            </a: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"/>
            </a:pPr>
            <a:endParaRPr lang="zh-CN" altLang="en-US" dirty="0">
              <a:ea typeface="新宋体" panose="02010609030101010101" pitchFamily="49" charset="-12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新宋体" panose="02010609030101010101" pitchFamily="49" charset="-122"/>
              </a:rPr>
              <a:t>be charged with</a:t>
            </a:r>
            <a:r>
              <a:rPr lang="en-US" altLang="zh-CN" dirty="0">
                <a:ea typeface="新宋体" panose="02010609030101010101" pitchFamily="49" charset="-122"/>
              </a:rPr>
              <a:t> </a:t>
            </a:r>
            <a:r>
              <a:rPr lang="zh-CN" altLang="en-US" dirty="0">
                <a:ea typeface="新宋体" panose="02010609030101010101" pitchFamily="49" charset="-122"/>
              </a:rPr>
              <a:t>充满……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dirty="0">
                <a:ea typeface="新宋体" panose="02010609030101010101" pitchFamily="49" charset="-122"/>
              </a:rPr>
              <a:t>The house </a:t>
            </a:r>
            <a:r>
              <a:rPr lang="en-US" altLang="zh-CN" dirty="0">
                <a:solidFill>
                  <a:srgbClr val="FF0000"/>
                </a:solidFill>
                <a:ea typeface="新宋体" panose="02010609030101010101" pitchFamily="49" charset="-122"/>
              </a:rPr>
              <a:t>is</a:t>
            </a:r>
            <a:r>
              <a:rPr lang="en-US" altLang="zh-CN" dirty="0">
                <a:ea typeface="新宋体" panose="02010609030101010101" pitchFamily="49" charset="-122"/>
              </a:rPr>
              <a:t> always </a:t>
            </a:r>
            <a:r>
              <a:rPr lang="en-US" altLang="zh-CN" dirty="0">
                <a:solidFill>
                  <a:srgbClr val="FF0000"/>
                </a:solidFill>
                <a:ea typeface="新宋体" panose="02010609030101010101" pitchFamily="49" charset="-122"/>
              </a:rPr>
              <a:t>charged with</a:t>
            </a:r>
            <a:r>
              <a:rPr lang="en-US" altLang="zh-CN" dirty="0">
                <a:ea typeface="新宋体" panose="02010609030101010101" pitchFamily="49" charset="-122"/>
              </a:rPr>
              <a:t> warmth and joy.</a:t>
            </a:r>
            <a:endParaRPr lang="zh-CN" altLang="en-US" dirty="0">
              <a:ea typeface="新宋体" panose="0201060903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11994515" cy="5590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en-US" altLang="zh-CN" dirty="0">
                <a:solidFill>
                  <a:srgbClr val="0000FF"/>
                </a:solidFill>
                <a:ea typeface="新宋体" panose="02010609030101010101" pitchFamily="49" charset="-122"/>
              </a:rPr>
              <a:t>【</a:t>
            </a:r>
            <a:r>
              <a:rPr lang="zh-CN" altLang="en-US" dirty="0">
                <a:solidFill>
                  <a:srgbClr val="0000FF"/>
                </a:solidFill>
                <a:ea typeface="新宋体" panose="02010609030101010101" pitchFamily="49" charset="-122"/>
              </a:rPr>
              <a:t>拓展</a:t>
            </a:r>
            <a:r>
              <a:rPr lang="en-US" altLang="zh-CN" dirty="0">
                <a:solidFill>
                  <a:srgbClr val="0000FF"/>
                </a:solidFill>
                <a:ea typeface="新宋体" panose="02010609030101010101" pitchFamily="49" charset="-122"/>
              </a:rPr>
              <a:t>】</a:t>
            </a:r>
          </a:p>
          <a:p>
            <a:pPr algn="l"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 Bold" panose="02020603050405020304" charset="0"/>
                <a:ea typeface="新宋体" panose="02010609030101010101" pitchFamily="49" charset="-122"/>
                <a:cs typeface="Times New Roman Bold" panose="02020603050405020304" charset="0"/>
              </a:rPr>
              <a:t>charge</a:t>
            </a:r>
            <a:r>
              <a:rPr lang="zh-CN" altLang="en-US" i="1" dirty="0">
                <a:solidFill>
                  <a:srgbClr val="FF0000"/>
                </a:solidFill>
                <a:ea typeface="新宋体" panose="02010609030101010101" pitchFamily="49" charset="-122"/>
              </a:rPr>
              <a:t>  n.</a:t>
            </a:r>
            <a:r>
              <a:rPr lang="zh-CN" altLang="en-US" dirty="0">
                <a:solidFill>
                  <a:srgbClr val="FF0000"/>
                </a:solidFill>
                <a:ea typeface="新宋体" panose="02010609030101010101" pitchFamily="49" charset="-122"/>
              </a:rPr>
              <a:t> </a:t>
            </a:r>
            <a:r>
              <a:rPr lang="zh-CN" altLang="en-US" dirty="0">
                <a:ea typeface="新宋体" panose="02010609030101010101" pitchFamily="49" charset="-122"/>
              </a:rPr>
              <a:t>费用; 主管</a:t>
            </a:r>
            <a:endParaRPr lang="en-US" altLang="zh-CN" dirty="0">
              <a:ea typeface="新宋体" panose="02010609030101010101" pitchFamily="49" charset="-122"/>
            </a:endParaRPr>
          </a:p>
          <a:p>
            <a:pPr algn="l"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solidFill>
                  <a:srgbClr val="0000FF"/>
                </a:solidFill>
                <a:ea typeface="新宋体" panose="02010609030101010101" pitchFamily="49" charset="-122"/>
              </a:rPr>
              <a:t>  </a:t>
            </a:r>
            <a:r>
              <a:rPr lang="pl-PL" altLang="en-US" dirty="0">
                <a:solidFill>
                  <a:srgbClr val="FF0000"/>
                </a:solidFill>
                <a:ea typeface="新宋体" panose="02010609030101010101" pitchFamily="49" charset="-122"/>
              </a:rPr>
              <a:t>take charge of</a:t>
            </a:r>
            <a:r>
              <a:rPr lang="pl-PL" altLang="en-US" dirty="0">
                <a:ea typeface="新宋体" panose="02010609030101010101" pitchFamily="49" charset="-122"/>
              </a:rPr>
              <a:t> </a:t>
            </a:r>
            <a:r>
              <a:rPr lang="zh-CN" altLang="en-US" dirty="0">
                <a:ea typeface="新宋体" panose="02010609030101010101" pitchFamily="49" charset="-122"/>
              </a:rPr>
              <a:t>掌管；负责</a:t>
            </a:r>
            <a:r>
              <a:rPr lang="pl-PL" altLang="en-US" dirty="0">
                <a:latin typeface="宋体" pitchFamily="2" charset="-122"/>
              </a:rPr>
              <a:t>…</a:t>
            </a:r>
            <a:r>
              <a:rPr lang="en-US" altLang="en-US" dirty="0">
                <a:latin typeface="宋体" pitchFamily="2" charset="-122"/>
              </a:rPr>
              <a:t>…</a:t>
            </a:r>
            <a:r>
              <a:rPr lang="en-US" altLang="zh-CN" dirty="0">
                <a:solidFill>
                  <a:srgbClr val="FF0000"/>
                </a:solidFill>
                <a:ea typeface="新宋体" panose="02010609030101010101" pitchFamily="49" charset="-122"/>
              </a:rPr>
              <a:t>  </a:t>
            </a:r>
          </a:p>
          <a:p>
            <a:pPr algn="l" eaLnBrk="1" hangingPunct="1">
              <a:lnSpc>
                <a:spcPct val="120000"/>
              </a:lnSpc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ea typeface="新宋体" panose="02010609030101010101" pitchFamily="49" charset="-122"/>
              </a:rPr>
              <a:t>  </a:t>
            </a:r>
            <a:r>
              <a:rPr lang="pl-PL" altLang="en-US" dirty="0">
                <a:solidFill>
                  <a:srgbClr val="FF0000"/>
                </a:solidFill>
                <a:ea typeface="新宋体" panose="02010609030101010101" pitchFamily="49" charset="-122"/>
              </a:rPr>
              <a:t>in charge of </a:t>
            </a:r>
            <a:r>
              <a:rPr lang="en-US" altLang="pl-PL" dirty="0">
                <a:solidFill>
                  <a:srgbClr val="FF0000"/>
                </a:solidFill>
                <a:ea typeface="新宋体" panose="02010609030101010101" pitchFamily="49" charset="-122"/>
              </a:rPr>
              <a:t>sth </a:t>
            </a:r>
            <a:r>
              <a:rPr lang="zh-CN" altLang="en-US" dirty="0">
                <a:ea typeface="新宋体" panose="02010609030101010101" pitchFamily="49" charset="-122"/>
              </a:rPr>
              <a:t>主管，负责</a:t>
            </a:r>
            <a:r>
              <a:rPr lang="pl-PL" altLang="en-US" dirty="0">
                <a:latin typeface="宋体" pitchFamily="2" charset="-122"/>
              </a:rPr>
              <a:t>…</a:t>
            </a:r>
            <a:r>
              <a:rPr lang="en-US" altLang="zh-CN" dirty="0">
                <a:latin typeface="宋体" pitchFamily="2" charset="-122"/>
              </a:rPr>
              <a:t>…</a:t>
            </a:r>
            <a:endParaRPr lang="pl-PL" altLang="en-US" dirty="0">
              <a:latin typeface="宋体" pitchFamily="2" charset="-122"/>
            </a:endParaRPr>
          </a:p>
          <a:p>
            <a:pPr algn="l"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新宋体" panose="02010609030101010101" pitchFamily="49" charset="-122"/>
              </a:rPr>
              <a:t>  </a:t>
            </a:r>
            <a:r>
              <a:rPr lang="en-US" altLang="pl-PL" dirty="0">
                <a:solidFill>
                  <a:srgbClr val="FF0000"/>
                </a:solidFill>
                <a:ea typeface="新宋体" panose="02010609030101010101" pitchFamily="49" charset="-122"/>
                <a:sym typeface="+mn-ea"/>
              </a:rPr>
              <a:t>in the charge of sb</a:t>
            </a:r>
            <a:r>
              <a:rPr lang="en-US" altLang="pl-PL" dirty="0">
                <a:ea typeface="新宋体" panose="02010609030101010101" pitchFamily="49" charset="-122"/>
                <a:sym typeface="+mn-ea"/>
              </a:rPr>
              <a:t> </a:t>
            </a:r>
            <a:r>
              <a:rPr lang="pl-PL" altLang="en-US" dirty="0">
                <a:ea typeface="新宋体" panose="02010609030101010101" pitchFamily="49" charset="-122"/>
              </a:rPr>
              <a:t> </a:t>
            </a:r>
            <a:r>
              <a:rPr lang="zh-CN" altLang="en-US" dirty="0">
                <a:ea typeface="新宋体" panose="02010609030101010101" pitchFamily="49" charset="-122"/>
              </a:rPr>
              <a:t>由</a:t>
            </a:r>
            <a:r>
              <a:rPr lang="pl-PL" altLang="en-US" dirty="0">
                <a:latin typeface="宋体" pitchFamily="2" charset="-122"/>
              </a:rPr>
              <a:t>…</a:t>
            </a:r>
            <a:r>
              <a:rPr lang="en-US" altLang="zh-CN" dirty="0">
                <a:latin typeface="宋体" pitchFamily="2" charset="-122"/>
              </a:rPr>
              <a:t>…</a:t>
            </a:r>
            <a:r>
              <a:rPr lang="zh-CN" altLang="en-US" dirty="0">
                <a:latin typeface="宋体" pitchFamily="2" charset="-122"/>
              </a:rPr>
              <a:t>负责</a:t>
            </a:r>
            <a:endParaRPr lang="zh-CN" altLang="en-US" dirty="0">
              <a:ea typeface="新宋体" panose="02010609030101010101" pitchFamily="49" charset="-122"/>
            </a:endParaRPr>
          </a:p>
          <a:p>
            <a:pPr algn="l"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ea typeface="新宋体" panose="02010609030101010101" pitchFamily="49" charset="-122"/>
              </a:rPr>
              <a:t>  </a:t>
            </a:r>
            <a:r>
              <a:rPr lang="pl-PL" altLang="en-US" dirty="0">
                <a:solidFill>
                  <a:srgbClr val="FF0000"/>
                </a:solidFill>
                <a:ea typeface="新宋体" panose="02010609030101010101" pitchFamily="49" charset="-122"/>
              </a:rPr>
              <a:t>free of charge</a:t>
            </a:r>
            <a:r>
              <a:rPr lang="pl-PL" altLang="en-US" dirty="0">
                <a:ea typeface="新宋体" panose="02010609030101010101" pitchFamily="49" charset="-122"/>
              </a:rPr>
              <a:t> </a:t>
            </a:r>
            <a:r>
              <a:rPr lang="zh-CN" altLang="en-US" dirty="0">
                <a:ea typeface="新宋体" panose="02010609030101010101" pitchFamily="49" charset="-122"/>
              </a:rPr>
              <a:t>免费</a:t>
            </a:r>
          </a:p>
          <a:p>
            <a:pPr algn="l" eaLnBrk="1" hangingPunct="1">
              <a:lnSpc>
                <a:spcPct val="120000"/>
              </a:lnSpc>
              <a:buFontTx/>
              <a:buNone/>
            </a:pPr>
            <a:endParaRPr lang="zh-CN" altLang="en-US" dirty="0">
              <a:ea typeface="新宋体" panose="02010609030101010101" pitchFamily="49" charset="-122"/>
            </a:endParaRPr>
          </a:p>
          <a:p>
            <a:pPr marL="0" indent="0" algn="l" eaLnBrk="1" hangingPunct="1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dirty="0">
                <a:ea typeface="新宋体" panose="02010609030101010101" pitchFamily="49" charset="-122"/>
              </a:rPr>
              <a:t>The company is now </a:t>
            </a:r>
            <a:r>
              <a:rPr lang="en-US" altLang="zh-CN" dirty="0">
                <a:solidFill>
                  <a:srgbClr val="FF0000"/>
                </a:solidFill>
                <a:ea typeface="新宋体" panose="02010609030101010101" pitchFamily="49" charset="-122"/>
              </a:rPr>
              <a:t>in the charge of</a:t>
            </a:r>
            <a:r>
              <a:rPr lang="en-US" altLang="zh-CN" dirty="0">
                <a:ea typeface="新宋体" panose="02010609030101010101" pitchFamily="49" charset="-122"/>
              </a:rPr>
              <a:t> the general manager.</a:t>
            </a:r>
          </a:p>
          <a:p>
            <a:pPr marL="0" indent="0" algn="l" eaLnBrk="1" hangingPunct="1">
              <a:lnSpc>
                <a:spcPct val="120000"/>
              </a:lnSpc>
              <a:buFont typeface="Wingdings" panose="05000000000000000000" charset="0"/>
              <a:buNone/>
            </a:pPr>
            <a:r>
              <a:rPr lang="zh-CN" altLang="en-US" dirty="0">
                <a:ea typeface="新宋体" panose="02010609030101010101" pitchFamily="49" charset="-122"/>
              </a:rPr>
              <a:t>这家公司现在由总经理负责。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8" name="Rectangle 4"/>
          <p:cNvSpPr>
            <a:spLocks noChangeArrowheads="1"/>
          </p:cNvSpPr>
          <p:nvPr/>
        </p:nvSpPr>
        <p:spPr bwMode="auto">
          <a:xfrm>
            <a:off x="405765" y="430530"/>
            <a:ext cx="11541760" cy="4815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4500" indent="-444500"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1pPr>
            <a:lvl2pPr marL="624205"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2pPr>
            <a:lvl3pPr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3pPr>
            <a:lvl4pPr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4pPr>
            <a:lvl5pPr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5pPr>
            <a:lvl6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6pPr>
            <a:lvl7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7pPr>
            <a:lvl8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8pPr>
            <a:lvl9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solidFill>
                  <a:srgbClr val="0000FF"/>
                </a:solidFill>
              </a:rPr>
              <a:t>【</a:t>
            </a:r>
            <a:r>
              <a:rPr lang="zh-CN" altLang="en-US" dirty="0">
                <a:solidFill>
                  <a:srgbClr val="0000FF"/>
                </a:solidFill>
              </a:rPr>
              <a:t>语境应用</a:t>
            </a:r>
            <a:r>
              <a:rPr lang="en-US" altLang="zh-CN" dirty="0">
                <a:solidFill>
                  <a:srgbClr val="0000FF"/>
                </a:solidFill>
              </a:rPr>
              <a:t>】</a:t>
            </a:r>
            <a:r>
              <a:rPr lang="zh-CN" altLang="en-US" dirty="0">
                <a:solidFill>
                  <a:srgbClr val="0000FF"/>
                </a:solidFill>
              </a:rPr>
              <a:t>完成句子。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/>
              <a:t>1) Your order will be delivered _____________ (</a:t>
            </a:r>
            <a:r>
              <a:rPr lang="zh-CN" altLang="en-US" dirty="0"/>
              <a:t>免费</a:t>
            </a:r>
            <a:r>
              <a:rPr lang="en-US" altLang="zh-CN" dirty="0"/>
              <a:t>) within a ten­-mile limit.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/>
              <a:t>2) They charged me five dollars ______ a cup of coffee.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/>
              <a:t>3) Do you know if Linda is willing to ______________ (</a:t>
            </a:r>
            <a:r>
              <a:rPr lang="zh-CN" altLang="en-US" dirty="0"/>
              <a:t>负责</a:t>
            </a:r>
            <a:r>
              <a:rPr lang="en-US" altLang="zh-CN" dirty="0"/>
              <a:t>) the project?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/>
              <a:t>4) </a:t>
            </a:r>
            <a:r>
              <a:rPr dirty="0"/>
              <a:t>任何被发现超限驾驶的司机都将被收费</a:t>
            </a:r>
            <a:r>
              <a:rPr lang="en-US" altLang="zh-CN" dirty="0"/>
              <a:t>。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/>
              <a:t>	Any drivers 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charset="0"/>
                <a:sym typeface="+mn-ea"/>
              </a:rPr>
              <a:t>found driving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charset="0"/>
                <a:sym typeface="+mn-ea"/>
              </a:rPr>
              <a:t> </a:t>
            </a:r>
            <a:r>
              <a:rPr lang="en-US" altLang="zh-CN" dirty="0"/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6892925" y="2747010"/>
            <a:ext cx="4487545" cy="681990"/>
          </a:xfrm>
          <a:prstGeom prst="rect">
            <a:avLst/>
          </a:prstGeom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take charge of</a:t>
            </a:r>
            <a:endParaRPr lang="en-US" altLang="zh-CN" b="0" dirty="0">
              <a:solidFill>
                <a:srgbClr val="FF0000"/>
              </a:solidFill>
            </a:endParaRPr>
          </a:p>
        </p:txBody>
      </p:sp>
      <p:sp>
        <p:nvSpPr>
          <p:cNvPr id="108550" name="Rectangle 6"/>
          <p:cNvSpPr>
            <a:spLocks noChangeArrowheads="1"/>
          </p:cNvSpPr>
          <p:nvPr/>
        </p:nvSpPr>
        <p:spPr bwMode="auto">
          <a:xfrm>
            <a:off x="5887720" y="951230"/>
            <a:ext cx="299656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free of charge</a:t>
            </a:r>
          </a:p>
        </p:txBody>
      </p:sp>
      <p:sp>
        <p:nvSpPr>
          <p:cNvPr id="108551" name="Rectangle 7"/>
          <p:cNvSpPr>
            <a:spLocks noChangeArrowheads="1"/>
          </p:cNvSpPr>
          <p:nvPr/>
        </p:nvSpPr>
        <p:spPr bwMode="auto">
          <a:xfrm>
            <a:off x="6285230" y="2118360"/>
            <a:ext cx="106108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for</a:t>
            </a:r>
          </a:p>
        </p:txBody>
      </p:sp>
      <p:sp>
        <p:nvSpPr>
          <p:cNvPr id="108552" name="Rectangle 8"/>
          <p:cNvSpPr>
            <a:spLocks noChangeArrowheads="1"/>
          </p:cNvSpPr>
          <p:nvPr/>
        </p:nvSpPr>
        <p:spPr bwMode="auto">
          <a:xfrm>
            <a:off x="5543550" y="4508500"/>
            <a:ext cx="831532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beyond the limit will be charged.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8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8550" grpId="0" bldLvl="0" animBg="1"/>
      <p:bldP spid="108551" grpId="0" bldLvl="0" animBg="1"/>
      <p:bldP spid="108552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8" name="Rectangle 4"/>
          <p:cNvSpPr>
            <a:spLocks noChangeArrowheads="1"/>
          </p:cNvSpPr>
          <p:nvPr/>
        </p:nvSpPr>
        <p:spPr bwMode="auto">
          <a:xfrm>
            <a:off x="290830" y="180975"/>
            <a:ext cx="11715115" cy="4225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4500" indent="-444500"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1pPr>
            <a:lvl2pPr marL="624205"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2pPr>
            <a:lvl3pPr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3pPr>
            <a:lvl4pPr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4pPr>
            <a:lvl5pPr eaLnBrk="0" hangingPunct="0"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5pPr>
            <a:lvl6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6pPr>
            <a:lvl7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7pPr>
            <a:lvl8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8pPr>
            <a:lvl9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 sz="3200" b="1">
                <a:solidFill>
                  <a:schemeClr val="tx1"/>
                </a:solidFill>
                <a:latin typeface="Times New Roman" panose="02020603050405020304" charset="0"/>
                <a:ea typeface="宋体" pitchFamily="2" charset="-122"/>
                <a:sym typeface="Arial" panose="020B07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solidFill>
                  <a:srgbClr val="0000FF"/>
                </a:solidFill>
              </a:rPr>
              <a:t>【</a:t>
            </a:r>
            <a:r>
              <a:rPr lang="zh-CN" altLang="en-US" dirty="0">
                <a:solidFill>
                  <a:srgbClr val="0000FF"/>
                </a:solidFill>
              </a:rPr>
              <a:t>语境应用</a:t>
            </a:r>
            <a:r>
              <a:rPr lang="en-US" altLang="zh-CN" dirty="0">
                <a:solidFill>
                  <a:srgbClr val="0000FF"/>
                </a:solidFill>
              </a:rPr>
              <a:t>】</a:t>
            </a:r>
            <a:r>
              <a:rPr lang="zh-CN" altLang="en-US" dirty="0">
                <a:solidFill>
                  <a:srgbClr val="0000FF"/>
                </a:solidFill>
              </a:rPr>
              <a:t>完成句子。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/>
              <a:t>5) </a:t>
            </a:r>
            <a:r>
              <a:rPr lang="zh-CN" altLang="en-US" dirty="0"/>
              <a:t>一个人不可能事事负责，因为事情太多了。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/>
              <a:t>One cannot be _____ _____ ____ everything because there are so many thins going on.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dirty="0"/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/>
              <a:t>6) One moment it was quiet and calm in the forest; the next, the air ____ ______ _____ tension.</a:t>
            </a:r>
          </a:p>
        </p:txBody>
      </p:sp>
      <p:sp>
        <p:nvSpPr>
          <p:cNvPr id="108550" name="Rectangle 6"/>
          <p:cNvSpPr>
            <a:spLocks noChangeArrowheads="1"/>
          </p:cNvSpPr>
          <p:nvPr/>
        </p:nvSpPr>
        <p:spPr bwMode="auto">
          <a:xfrm>
            <a:off x="2870200" y="1303655"/>
            <a:ext cx="299656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in     charge   of</a:t>
            </a:r>
          </a:p>
        </p:txBody>
      </p:sp>
      <p:sp>
        <p:nvSpPr>
          <p:cNvPr id="108552" name="Rectangle 8"/>
          <p:cNvSpPr>
            <a:spLocks noChangeArrowheads="1"/>
          </p:cNvSpPr>
          <p:nvPr/>
        </p:nvSpPr>
        <p:spPr bwMode="auto">
          <a:xfrm>
            <a:off x="1501140" y="3632835"/>
            <a:ext cx="335724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is   charged with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50" grpId="0" bldLvl="0" animBg="1"/>
      <p:bldP spid="108552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1446</Words>
  <Application>Microsoft Macintosh PowerPoint</Application>
  <PresentationFormat>Widescreen</PresentationFormat>
  <Paragraphs>177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微软雅黑</vt:lpstr>
      <vt:lpstr>新宋体</vt:lpstr>
      <vt:lpstr>宋体</vt:lpstr>
      <vt:lpstr>Times New Roman Bold</vt:lpstr>
      <vt:lpstr>Times New Roman Bold Italic</vt:lpstr>
      <vt:lpstr>Times New Roman Regular</vt:lpstr>
      <vt:lpstr>Arial</vt:lpstr>
      <vt:lpstr>Calibri</vt:lpstr>
      <vt:lpstr>Calibri Light</vt:lpstr>
      <vt:lpstr>Times New Roman</vt:lpstr>
      <vt:lpstr>Wingdings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183</cp:revision>
  <dcterms:created xsi:type="dcterms:W3CDTF">2024-04-28T00:38:08Z</dcterms:created>
  <dcterms:modified xsi:type="dcterms:W3CDTF">2026-07-22T14:26:09Z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1033-6.6.1.8808</vt:lpwstr>
  </property>
  <property fmtid="{D5CDD505-2E9C-101B-9397-08002B2CF9AE}" pid="3" name="ICV">
    <vt:lpwstr>B1D82276784DE24E43F82464CC287B50_42</vt:lpwstr>
  </property>
</Properties>
</file>