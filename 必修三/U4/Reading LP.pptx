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2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43.xml" ContentType="application/vnd.openxmlformats-officedocument.presentationml.notesSlide+xml"/>
  <Override PartName="/ppt/tags/tag3.xml" ContentType="application/vnd.openxmlformats-officedocument.presentationml.tags+xml"/>
  <Override PartName="/ppt/notesSlides/notesSlide44.xml" ContentType="application/vnd.openxmlformats-officedocument.presentationml.notesSlide+xml"/>
  <Override PartName="/ppt/tags/tag4.xml" ContentType="application/vnd.openxmlformats-officedocument.presentationml.tags+xml"/>
  <Override PartName="/ppt/notesSlides/notesSlide45.xml" ContentType="application/vnd.openxmlformats-officedocument.presentationml.notesSlide+xml"/>
  <Override PartName="/ppt/tags/tag5.xml" ContentType="application/vnd.openxmlformats-officedocument.presentationml.tags+xml"/>
  <Override PartName="/ppt/notesSlides/notesSlide46.xml" ContentType="application/vnd.openxmlformats-officedocument.presentationml.notesSlide+xml"/>
  <Override PartName="/ppt/tags/tag6.xml" ContentType="application/vnd.openxmlformats-officedocument.presentationml.tags+xml"/>
  <Override PartName="/ppt/notesSlides/notesSlide47.xml" ContentType="application/vnd.openxmlformats-officedocument.presentationml.notesSlide+xml"/>
  <Override PartName="/ppt/tags/tag7.xml" ContentType="application/vnd.openxmlformats-officedocument.presentationml.tags+xml"/>
  <Override PartName="/ppt/notesSlides/notesSlide48.xml" ContentType="application/vnd.openxmlformats-officedocument.presentationml.notesSlide+xml"/>
  <Override PartName="/ppt/tags/tag8.xml" ContentType="application/vnd.openxmlformats-officedocument.presentationml.tags+xml"/>
  <Override PartName="/ppt/notesSlides/notesSlide49.xml" ContentType="application/vnd.openxmlformats-officedocument.presentationml.notesSlide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333" r:id="rId2"/>
    <p:sldId id="394" r:id="rId3"/>
    <p:sldId id="336" r:id="rId4"/>
    <p:sldId id="257" r:id="rId5"/>
    <p:sldId id="334" r:id="rId6"/>
    <p:sldId id="299" r:id="rId7"/>
    <p:sldId id="259" r:id="rId8"/>
    <p:sldId id="337" r:id="rId9"/>
    <p:sldId id="338" r:id="rId10"/>
    <p:sldId id="339" r:id="rId11"/>
    <p:sldId id="335" r:id="rId12"/>
    <p:sldId id="395" r:id="rId13"/>
    <p:sldId id="260" r:id="rId14"/>
    <p:sldId id="341" r:id="rId15"/>
    <p:sldId id="261" r:id="rId16"/>
    <p:sldId id="262" r:id="rId17"/>
    <p:sldId id="344" r:id="rId18"/>
    <p:sldId id="343" r:id="rId19"/>
    <p:sldId id="345" r:id="rId20"/>
    <p:sldId id="266" r:id="rId21"/>
    <p:sldId id="297" r:id="rId22"/>
    <p:sldId id="265" r:id="rId23"/>
    <p:sldId id="264" r:id="rId24"/>
    <p:sldId id="348" r:id="rId25"/>
    <p:sldId id="346" r:id="rId26"/>
    <p:sldId id="352" r:id="rId27"/>
    <p:sldId id="350" r:id="rId28"/>
    <p:sldId id="349" r:id="rId29"/>
    <p:sldId id="270" r:id="rId30"/>
    <p:sldId id="269" r:id="rId31"/>
    <p:sldId id="268" r:id="rId32"/>
    <p:sldId id="354" r:id="rId33"/>
    <p:sldId id="273" r:id="rId34"/>
    <p:sldId id="275" r:id="rId35"/>
    <p:sldId id="274" r:id="rId36"/>
    <p:sldId id="353" r:id="rId37"/>
    <p:sldId id="279" r:id="rId38"/>
    <p:sldId id="277" r:id="rId39"/>
    <p:sldId id="356" r:id="rId40"/>
    <p:sldId id="355" r:id="rId41"/>
    <p:sldId id="280" r:id="rId42"/>
    <p:sldId id="300" r:id="rId43"/>
    <p:sldId id="301" r:id="rId44"/>
    <p:sldId id="286" r:id="rId45"/>
    <p:sldId id="287" r:id="rId46"/>
    <p:sldId id="358" r:id="rId47"/>
    <p:sldId id="360" r:id="rId48"/>
    <p:sldId id="361" r:id="rId49"/>
    <p:sldId id="363" r:id="rId50"/>
    <p:sldId id="364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3653" autoAdjust="0"/>
  </p:normalViewPr>
  <p:slideViewPr>
    <p:cSldViewPr snapToGrid="0">
      <p:cViewPr varScale="1">
        <p:scale>
          <a:sx n="110" d="100"/>
          <a:sy n="110" d="100"/>
        </p:scale>
        <p:origin x="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04D1C-87D8-4866-9827-FE10F1566DC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DD735-C651-4445-BF52-391E40D507A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FF"/>
                </a:solidFill>
                <a:latin typeface="Times New Roman" panose="02020503050405090304" pitchFamily="18" charset="0"/>
                <a:sym typeface="+mn-ea"/>
              </a:rPr>
              <a:t>【总结】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be beneficial to sb/sth = be of benefit to sb/sth = benefit sb/sth </a:t>
            </a:r>
            <a:r>
              <a:rPr lang="zh-CN" altLang="en-US" b="1" dirty="0">
                <a:latin typeface="Times New Roman" panose="02020503050405090304" pitchFamily="18" charset="0"/>
                <a:sym typeface="+mn-ea"/>
              </a:rPr>
              <a:t>对</a:t>
            </a:r>
            <a:r>
              <a:rPr lang="en-US" altLang="zh-CN" b="1" dirty="0">
                <a:latin typeface="+mn-ea"/>
                <a:sym typeface="+mn-ea"/>
              </a:rPr>
              <a:t>……</a:t>
            </a:r>
            <a:r>
              <a:rPr lang="zh-CN" altLang="en-US" b="1" dirty="0">
                <a:latin typeface="Times New Roman" panose="02020503050405090304" pitchFamily="18" charset="0"/>
                <a:sym typeface="+mn-ea"/>
              </a:rPr>
              <a:t>有益</a:t>
            </a:r>
            <a:endParaRPr 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0DD735-C651-4445-BF52-391E40D507AB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8AC9-FF84-40BB-82EB-33FDB918C8D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379F2-21C7-40D4-A468-35BDF349533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8AC9-FF84-40BB-82EB-33FDB918C8D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379F2-21C7-40D4-A468-35BDF349533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8AC9-FF84-40BB-82EB-33FDB918C8D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379F2-21C7-40D4-A468-35BDF349533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8AC9-FF84-40BB-82EB-33FDB918C8D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379F2-21C7-40D4-A468-35BDF349533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8AC9-FF84-40BB-82EB-33FDB918C8D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379F2-21C7-40D4-A468-35BDF349533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8AC9-FF84-40BB-82EB-33FDB918C8D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379F2-21C7-40D4-A468-35BDF349533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8AC9-FF84-40BB-82EB-33FDB918C8D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379F2-21C7-40D4-A468-35BDF349533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8AC9-FF84-40BB-82EB-33FDB918C8D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379F2-21C7-40D4-A468-35BDF349533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8AC9-FF84-40BB-82EB-33FDB918C8D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379F2-21C7-40D4-A468-35BDF349533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8AC9-FF84-40BB-82EB-33FDB918C8D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379F2-21C7-40D4-A468-35BDF349533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8AC9-FF84-40BB-82EB-33FDB918C8D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379F2-21C7-40D4-A468-35BDF349533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48AC9-FF84-40BB-82EB-33FDB918C8D5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379F2-21C7-40D4-A468-35BDF349533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8320" y="1761490"/>
            <a:ext cx="11188700" cy="211772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分析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endParaRPr lang="en-US" altLang="zh-CN" sz="3200" b="1" dirty="0">
              <a:solidFill>
                <a:srgbClr val="FF0000"/>
              </a:solidFill>
              <a:latin typeface="+mn-ea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当被修饰词是序数词或被序数词修饰时，通常用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不定式作后置定语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。被修饰词与不定式之间是逻辑上的主谓关系。</a:t>
            </a:r>
          </a:p>
        </p:txBody>
      </p:sp>
      <p:sp>
        <p:nvSpPr>
          <p:cNvPr id="3" name="矩形 2"/>
          <p:cNvSpPr/>
          <p:nvPr/>
        </p:nvSpPr>
        <p:spPr>
          <a:xfrm>
            <a:off x="283845" y="267970"/>
            <a:ext cx="11707495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Tu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Youyou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has become the first female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scientist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of the People’s Republic of China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receive a Nobel Prize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...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1"/>
          <p:cNvSpPr/>
          <p:nvPr>
            <p:custDataLst>
              <p:tags r:id="rId1"/>
            </p:custDataLst>
          </p:nvPr>
        </p:nvSpPr>
        <p:spPr>
          <a:xfrm>
            <a:off x="528320" y="3947795"/>
            <a:ext cx="11188700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仿写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Jane Goodall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是第一位研究黑猩猩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(chimps)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与人类之间联系的女性。</a:t>
            </a:r>
          </a:p>
        </p:txBody>
      </p:sp>
      <p:sp>
        <p:nvSpPr>
          <p:cNvPr id="5" name="矩形 2"/>
          <p:cNvSpPr/>
          <p:nvPr>
            <p:custDataLst>
              <p:tags r:id="rId2"/>
            </p:custDataLst>
          </p:nvPr>
        </p:nvSpPr>
        <p:spPr>
          <a:xfrm>
            <a:off x="528320" y="5070475"/>
            <a:ext cx="10904855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Jane Goodall was the first woman to study the connections between chimps and human beings.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" grpId="0"/>
      <p:bldP spid="4" grpId="1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83845" y="267970"/>
            <a:ext cx="11707495" cy="3044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...,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awarded for her contribution to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fight against malaria.</a:t>
            </a:r>
          </a:p>
          <a:p>
            <a:pPr marL="360680" indent="-36068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因对……的贡献而获奖</a:t>
            </a:r>
          </a:p>
          <a:p>
            <a:pPr marL="360680" indent="-360680"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60680" indent="-36068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被授予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诺贝尔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奖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awarded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Nobel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Prize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44170" y="267970"/>
            <a:ext cx="11370945" cy="659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... one of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deadliest diseases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human history.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deadly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adj.</a:t>
            </a:r>
            <a:endParaRPr lang="en-US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(1) likely to cause death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（可能）致命的</a:t>
            </a:r>
            <a:endParaRPr lang="zh-CN" altLang="en-US" sz="3200" b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deadly poison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剧毒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(2) extreme; complet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e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十足的；极度的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 sat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deadly silence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我们默不作声地坐着。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deadly serious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极其严肃的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(adv.)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0660" y="203200"/>
            <a:ext cx="11748770" cy="5749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…malaria patients all over the world now have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had a greatly increased chance of survival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	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存活率大大提高</a:t>
            </a: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survival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(1)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state of continuing to live or exist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生存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His only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chance of survival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was a heart transplant.</a:t>
            </a:r>
          </a:p>
          <a:p>
            <a:pPr indent="0" fontAlgn="auto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只有进行心脏移植，他才有望活下去。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(2) something that has continued to exist from an earlier ti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残存物，幸存事物</a:t>
            </a:r>
          </a:p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ceremony is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survival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from 4,000 years ago.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2044065" y="1007110"/>
            <a:ext cx="450469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survive the severe winter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0" y="0"/>
            <a:ext cx="12192000" cy="4961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survive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v.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survive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幸免于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，从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中艰难度过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熬过寒冬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Some strange customs have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survived from earlier times.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continue to live or exist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survive from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从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存留下来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survive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(=live on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.)  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  <a:sym typeface="+mn-ea"/>
              </a:rPr>
              <a:t>依靠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  <a:sym typeface="+mn-ea"/>
              </a:rPr>
              <a:t>生活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survivor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幸存者，生还者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69545" y="11430"/>
            <a:ext cx="12021820" cy="3634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1)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After all, not everyone has realized that wildlife has thoughts, feelings, and most importantly, equal rights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_____________ (survive).</a:t>
            </a:r>
          </a:p>
          <a:p>
            <a:pPr marL="444500" lvl="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Some people reasonably and rightfully want to have better lives, rather than only ______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_____________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为生存奋斗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).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609965" y="1049655"/>
            <a:ext cx="217678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survive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681095" y="2964180"/>
            <a:ext cx="388239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struggle for survival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9870" y="359410"/>
            <a:ext cx="1154874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…, </a:t>
            </a:r>
            <a:r>
              <a:rPr lang="en-US" altLang="zh-CN" sz="3200" b="1" u="sng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acquiring a broad knowledge of</a:t>
            </a: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 both traditional Chinese medicine and Western medicine.</a:t>
            </a:r>
          </a:p>
          <a:p>
            <a:pPr indent="-450850" fontAlgn="auto">
              <a:lnSpc>
                <a:spcPct val="120000"/>
              </a:lnSpc>
            </a:pPr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获得广泛的</a:t>
            </a: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r>
              <a:rPr lang="zh-CN" altLang="en-US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知识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broad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(1)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nclude a wide range of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广泛的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(2) wide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宽阔的；广阔的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(3) general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概括的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"/>
          <p:cNvSpPr/>
          <p:nvPr/>
        </p:nvSpPr>
        <p:spPr>
          <a:xfrm>
            <a:off x="248285" y="213995"/>
            <a:ext cx="11642090" cy="6385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各种各样的产品</a:t>
            </a:r>
          </a:p>
          <a:p>
            <a:pPr marL="457200" indent="-457200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广泛的支持</a:t>
            </a:r>
          </a:p>
          <a:p>
            <a:pPr marL="457200" indent="-457200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广泛吸引了各年龄段的观众</a:t>
            </a:r>
          </a:p>
          <a:p>
            <a:pPr marL="457200" indent="-457200">
              <a:lnSpc>
                <a:spcPct val="120000"/>
              </a:lnSpc>
              <a:buFont typeface="Wingdings" panose="05000000000000000000" charset="0"/>
              <a:buChar char=""/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charset="0"/>
              <a:buChar char=""/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咧嘴笑</a:t>
            </a:r>
          </a:p>
          <a:p>
            <a:pPr marL="457200" indent="-457200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宽肩</a:t>
            </a:r>
          </a:p>
          <a:p>
            <a:pPr marL="457200" indent="-457200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大体的框架</a:t>
            </a:r>
          </a:p>
          <a:p>
            <a:pPr marL="457200" indent="-457200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从大体上说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331335" y="159385"/>
            <a:ext cx="469836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broad range of products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341495" y="727075"/>
            <a:ext cx="267843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broad support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2294255" y="2084070"/>
            <a:ext cx="775779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broad appeal to the audience of all ages 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531870" y="3168650"/>
            <a:ext cx="253111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broad smile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642360" y="3759200"/>
            <a:ext cx="299466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broad shoulders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4194810" y="4349115"/>
            <a:ext cx="282511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broad outline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095750" y="4923790"/>
            <a:ext cx="275653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broad terms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3" grpId="0"/>
      <p:bldP spid="3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"/>
          <p:cNvSpPr/>
          <p:nvPr/>
        </p:nvSpPr>
        <p:spPr>
          <a:xfrm>
            <a:off x="0" y="0"/>
            <a:ext cx="1219263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broadly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大体上说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broaden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endParaRPr lang="en-US" altLang="zh-CN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(1)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vi.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to become wider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变宽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His smile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broadened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他笑得更灿烂了。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a promise to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broaden access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to higher education</a:t>
            </a:r>
          </a:p>
          <a:p>
            <a:pPr>
              <a:lnSpc>
                <a:spcPct val="120000"/>
              </a:lnSpc>
            </a:pPr>
            <a:r>
              <a:rPr lang="zh-CN" altLang="en-US" sz="3200" b="1" u="sng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拓宽高等教育渠道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的承诺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(2)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vt. &amp; vi. 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to in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crease your experience, knowledge, etc.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增长（知识，经验）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拓宽眼界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broaden one’s mind/horizons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broad-minded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心胸宽广的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168910"/>
            <a:ext cx="12192000" cy="3634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1)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I’m relieved to know that “cool” has a much _________(broad) definition than what I used to think.</a:t>
            </a:r>
          </a:p>
          <a:p>
            <a:pPr marL="444500" lvl="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His historical view was __________ (broad), and his sense of his own country deepening.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444500" lvl="0" indent="-444500">
              <a:lnSpc>
                <a:spcPct val="120000"/>
              </a:lnSpc>
            </a:pP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45170" y="759460"/>
            <a:ext cx="217678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broader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570095" y="1920875"/>
            <a:ext cx="231330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broadening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… head of a team that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intended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to find a cure for the disease.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intend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&amp; vi. </a:t>
            </a:r>
            <a:endParaRPr lang="en-US" altLang="zh-CN" sz="3200" b="1" i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(1)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have a plan when you do sth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想要，计划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plan to do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intend to run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my own studio on my return from the training.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Obviously, the writer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intends his readers to relate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the main characters in his novel.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作者显然想使读者能与主人公产生共鸣。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intend that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production will start next month.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is intended that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morning meetings will become a regular event.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计划……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intend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&amp; vi. </a:t>
            </a:r>
            <a:endParaRPr lang="en-US" altLang="zh-CN" sz="3200" b="1" i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(2)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plan that something should have a particular meaning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意指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mean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What exactly did you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intend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 that remark?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你那句话到底想说什么？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intended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it as a joke.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他只想开个玩笑。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"/>
          <p:cNvSpPr/>
          <p:nvPr/>
        </p:nvSpPr>
        <p:spPr>
          <a:xfrm>
            <a:off x="0" y="0"/>
            <a:ext cx="1219263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 intended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Arial" panose="020B0604020202090204" pitchFamily="34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.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意欲达到的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+ noun</a:t>
            </a:r>
          </a:p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 	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be intended for sb/sth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专门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为……设计的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 pitchFamily="34" charset="0"/>
            </a:endParaRPr>
          </a:p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 	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be intended to be/do 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目的是，旨在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book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is intended for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children. 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这本书是为儿童写的。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这场辩论旨在提高学生的环保意识。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This debate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 intended to raise students’ awareness of environmental protection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intended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effect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预期效果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intended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target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预期目标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"/>
          <p:cNvSpPr/>
          <p:nvPr/>
        </p:nvSpPr>
        <p:spPr>
          <a:xfrm>
            <a:off x="0" y="-43180"/>
            <a:ext cx="1219200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intention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意图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目的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打算</a:t>
            </a:r>
            <a:endParaRPr lang="zh-CN" altLang="en-US" sz="3200" b="1" dirty="0">
              <a:latin typeface="Times New Roman" panose="0202050305040509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 	have the/no intention of doing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. / to do sth</a:t>
            </a: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	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有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无意做某事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charset="0"/>
              <a:buChar char=""/>
            </a:pP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 no intention of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going to the wedding.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was not my intention that 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should suffer.</a:t>
            </a:r>
          </a:p>
          <a:p>
            <a:pPr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我没有要她吃苦头的意思。</a:t>
            </a:r>
          </a:p>
          <a:p>
            <a:pPr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is full of good intentions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but they rarely work out.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015490" y="4772660"/>
            <a:ext cx="181102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出于好意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0" y="5546090"/>
            <a:ext cx="786320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intentional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有意的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 (opp.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unintentional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/>
      <p:bldP spid="6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1365" cy="6427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rtl="1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完成句子。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1) The university is known for its language and culture courses _________ (intend) for international students. 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2) I have no __________ (intend) of retiring just yet. 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3)</a:t>
            </a:r>
            <a:r>
              <a:rPr lang="en-US" altLang="zh-CN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 This type of robot, like other social robots, ____________________ replace workers</a:t>
            </a:r>
            <a:r>
              <a:rPr lang="zh-CN" altLang="en-US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（不是为了取代人工）</a:t>
            </a:r>
            <a:r>
              <a:rPr lang="en-US" altLang="zh-CN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, but to work alongside other employees.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 pitchFamily="34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20395" y="1155700"/>
            <a:ext cx="176212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intended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382520" y="1729105"/>
            <a:ext cx="191516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intention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183245" y="2289175"/>
            <a:ext cx="378968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is not intended to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-25400"/>
            <a:ext cx="12192635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5. ...</a:t>
            </a: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and made hundreds of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extracts </a:t>
            </a: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from different herbs.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extract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/'ekstrækt/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(1)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cn/un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提取物</a:t>
            </a:r>
            <a:endParaRPr lang="en-US" altLang="zh-CN" sz="3200" b="1" i="1" dirty="0"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(2)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节选，摘录</a:t>
            </a:r>
          </a:p>
          <a:p>
            <a:pPr marL="358775" indent="-358775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following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extract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is taken from her new novel.</a:t>
            </a:r>
            <a:endParaRPr lang="en-US" altLang="zh-CN" sz="32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2"/>
          <p:cNvSpPr/>
          <p:nvPr/>
        </p:nvSpPr>
        <p:spPr>
          <a:xfrm>
            <a:off x="1866900" y="4090670"/>
            <a:ext cx="899668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charset="0"/>
              <a:buChar char=""/>
            </a:pP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"/>
          <p:cNvSpPr/>
          <p:nvPr/>
        </p:nvSpPr>
        <p:spPr>
          <a:xfrm>
            <a:off x="0" y="0"/>
            <a:ext cx="1219263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extract v. /ɪk'strækt/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(1) </a:t>
            </a:r>
            <a:r>
              <a:rPr lang="en-US" altLang="zh-CN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v. 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选取；摘录；取出；设法得到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(2) </a:t>
            </a:r>
            <a:r>
              <a:rPr lang="en-US" altLang="zh-CN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v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提取；提炼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extract from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从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中取出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得到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摘录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提炼出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charset="0"/>
              <a:buChar char=""/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 article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is extracted from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his new book.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本文选自他的新书。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They are unlikely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extract much benefit from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trip.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他们不太能从这次旅行中获得多大益处。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5" y="163195"/>
            <a:ext cx="1219200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6.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Tu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referred to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ancient books of traditional Chinese medicine...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refer to: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(1) to look at a book, piece of paper </a:t>
            </a:r>
            <a:r>
              <a:rPr lang="en-US" altLang="zh-CN" sz="3200" b="1" i="1" dirty="0" err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etc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for informati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查阅，参考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他不看讲稿发表了演讲。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gave the speech without ____________________.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不要每遇到一个新单词就去查词典。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Don’t _____________________________ you come across a new word.</a:t>
            </a:r>
            <a:endParaRPr lang="zh-CN" altLang="en-US" sz="3200" b="1" dirty="0">
              <a:solidFill>
                <a:srgbClr val="FF0000"/>
              </a:solidFill>
              <a:latin typeface="+mj-ea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36650" y="364807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refer to the dictionary every time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951095" y="240601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referring to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his notes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0"/>
            <a:ext cx="12191365" cy="4225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refer to: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(2) to mention or speak about someone or so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mething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提到，谈及</a:t>
            </a:r>
            <a:endParaRPr lang="zh-CN" altLang="en-US" sz="3200" b="1" dirty="0">
              <a:solidFill>
                <a:srgbClr val="FF0000"/>
              </a:solidFill>
              <a:latin typeface="+mj-ea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 agreed never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refer to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matter again.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我们同意永远不再提这件事。</a:t>
            </a:r>
          </a:p>
          <a:p>
            <a:pPr indent="0">
              <a:lnSpc>
                <a:spcPct val="120000"/>
              </a:lnSpc>
              <a:buNone/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victims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were not referred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r>
              <a:rPr 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 names.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没有提到受害者的姓名。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0"/>
            <a:ext cx="12192635" cy="5406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refer to: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to describe or be connected to sb/sth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通常为术语下定义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“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指的是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...”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、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“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与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...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相关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”</a:t>
            </a:r>
          </a:p>
          <a:p>
            <a:pPr marL="358775" indent="-358775">
              <a:lnSpc>
                <a:spcPct val="12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term “...”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refers 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sth.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“...”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can be defined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as sth.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charset="0"/>
              <a:buChar char=""/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star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refers 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items which are intended for the advanced learner.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标有星号的项目是给高阶学习者的。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58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1325" indent="-441325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reference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.  </a:t>
            </a:r>
            <a:r>
              <a:rPr lang="zh-CN" altLang="en-US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提及；谈到；参考；查阅</a:t>
            </a:r>
          </a:p>
          <a:p>
            <a:pPr marL="441325" indent="-441325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reference books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参考书</a:t>
            </a:r>
          </a:p>
          <a:p>
            <a:pPr marL="441325" indent="-441325"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There is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 a list of references </a:t>
            </a:r>
            <a:r>
              <a:rPr lang="zh-CN" altLang="en-US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at the end of each chapter.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sym typeface="Arial" panose="020B0604020202090204" pitchFamily="34" charset="0"/>
            </a:endParaRPr>
          </a:p>
          <a:p>
            <a:pPr marL="441325" indent="-441325"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每一章的后面都有参考书目。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sym typeface="Arial" panose="020B0604020202090204" pitchFamily="34" charset="0"/>
            </a:endParaRPr>
          </a:p>
          <a:p>
            <a:pPr marL="441325" indent="-441325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a reference letter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推荐信</a:t>
            </a:r>
          </a:p>
          <a:p>
            <a:pPr marL="441325" indent="-441325"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My previous boss will act as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a reference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for me.</a:t>
            </a:r>
          </a:p>
          <a:p>
            <a:pPr marL="441325" indent="-441325"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我的前任上司将做我的推荐人。</a:t>
            </a:r>
          </a:p>
          <a:p>
            <a:pPr marL="441325" indent="-441325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for your reference / information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供参考</a:t>
            </a:r>
          </a:p>
          <a:p>
            <a:pPr marL="441325" indent="-441325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for quick/easy/future reference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以便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将来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查阅</a:t>
            </a:r>
          </a:p>
          <a:p>
            <a:pPr marL="441325" indent="-441325">
              <a:lnSpc>
                <a:spcPct val="120000"/>
              </a:lnSpc>
              <a:spcBef>
                <a:spcPct val="0"/>
              </a:spcBef>
            </a:pPr>
            <a:r>
              <a:rPr lang="zh-CN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in/with reference to...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关于</a:t>
            </a:r>
            <a:r>
              <a:rPr lang="zh-CN" altLang="zh-CN" sz="3200" b="1" dirty="0">
                <a:latin typeface="+mj-ea"/>
                <a:ea typeface="+mj-ea"/>
                <a:sym typeface="Arial" panose="020B0604020202090204" pitchFamily="34" charset="0"/>
              </a:rPr>
              <a:t>…</a:t>
            </a:r>
            <a:r>
              <a:rPr lang="en-US" altLang="zh-CN" sz="3200" b="1" dirty="0">
                <a:latin typeface="+mj-ea"/>
                <a:ea typeface="+mj-ea"/>
                <a:sym typeface="Arial" panose="020B0604020202090204" pitchFamily="34" charset="0"/>
              </a:rPr>
              <a:t>… </a:t>
            </a:r>
          </a:p>
          <a:p>
            <a:pPr marL="441325" indent="-441325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make (no) reference to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未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提到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Text Box 2"/>
          <p:cNvSpPr txBox="1">
            <a:spLocks noChangeArrowheads="1"/>
          </p:cNvSpPr>
          <p:nvPr/>
        </p:nvSpPr>
        <p:spPr bwMode="auto">
          <a:xfrm>
            <a:off x="0" y="0"/>
            <a:ext cx="12192000" cy="558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1325" indent="-44132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109093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4986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906905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314575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771775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228975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686175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143375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根据提示补全下列句子。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Marcia _______________________________.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把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Jerry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称作好朋友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Please do not include covers. A list of __________(refer) must be included.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The trend, then, was towards the “penny paper”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—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 term _______ (refer) to papers made widely available to the public.</a:t>
            </a:r>
          </a:p>
        </p:txBody>
      </p:sp>
      <p:sp>
        <p:nvSpPr>
          <p:cNvPr id="280580" name="Rectangle 4"/>
          <p:cNvSpPr>
            <a:spLocks noChangeArrowheads="1"/>
          </p:cNvSpPr>
          <p:nvPr/>
        </p:nvSpPr>
        <p:spPr bwMode="auto">
          <a:xfrm>
            <a:off x="2092325" y="568325"/>
            <a:ext cx="646557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referred to Jerry as a dear friend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081520" y="1722438"/>
            <a:ext cx="230759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buFontTx/>
              <a:buNone/>
              <a:defRPr sz="3000">
                <a:solidFill>
                  <a:srgbClr val="FF0000"/>
                </a:solidFill>
                <a:latin typeface="Times New Roman" panose="02020503050405090304" pitchFamily="18" charset="0"/>
              </a:defRPr>
            </a:lvl1pPr>
          </a:lstStyle>
          <a:p>
            <a:r>
              <a:rPr lang="en-US" altLang="zh-CN" sz="3200" b="1" dirty="0">
                <a:cs typeface="Times New Roman" panose="02020503050405090304" pitchFamily="18" charset="0"/>
              </a:rPr>
              <a:t>references </a:t>
            </a:r>
          </a:p>
        </p:txBody>
      </p:sp>
      <p:sp>
        <p:nvSpPr>
          <p:cNvPr id="3" name="文本框 1"/>
          <p:cNvSpPr txBox="1"/>
          <p:nvPr/>
        </p:nvSpPr>
        <p:spPr>
          <a:xfrm>
            <a:off x="242570" y="3428683"/>
            <a:ext cx="230759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buFontTx/>
              <a:buNone/>
              <a:defRPr sz="3000">
                <a:solidFill>
                  <a:srgbClr val="FF0000"/>
                </a:solidFill>
                <a:latin typeface="Times New Roman" panose="02020503050405090304" pitchFamily="18" charset="0"/>
              </a:defRPr>
            </a:lvl1pPr>
          </a:lstStyle>
          <a:p>
            <a:r>
              <a:rPr lang="en-US" altLang="zh-CN" sz="3200" b="1" dirty="0">
                <a:cs typeface="Times New Roman" panose="02020503050405090304" pitchFamily="18" charset="0"/>
              </a:rPr>
              <a:t>referring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80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80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8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80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80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80" grpId="0" bldLvl="0" animBg="1"/>
      <p:bldP spid="2" grpId="0" bldLvl="0" animBg="1"/>
      <p:bldP spid="3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136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7. ... Tu redesigned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experiments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tried extracting the herb at a low temperature.</a:t>
            </a:r>
          </a:p>
          <a:p>
            <a:pPr marL="450850" indent="-450850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experiment n.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1)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实验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do/conduct/perform/carry out an experiment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做实验</a:t>
            </a:r>
          </a:p>
          <a:p>
            <a:pPr marL="450850" indent="-450850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Many people do not like the idea of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experiments on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animals.</a:t>
            </a:r>
          </a:p>
          <a:p>
            <a:pPr marL="450850" indent="-450850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2)</a:t>
            </a:r>
            <a:r>
              <a:rPr 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实践；尝试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country’s belief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experiment in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democracy.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35" y="0"/>
            <a:ext cx="12191365" cy="4815840"/>
          </a:xfrm>
          <a:prstGeom prst="rect">
            <a:avLst/>
          </a:prstGeom>
          <a:ln w="28575">
            <a:noFill/>
          </a:ln>
        </p:spPr>
        <p:txBody>
          <a:bodyPr wrap="square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experiment vi.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做实验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	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experiment with sth (a new idea)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尝试某事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	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experiment on sth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在……上做实验</a:t>
            </a:r>
          </a:p>
          <a:p>
            <a:pPr marL="450850" indent="-450850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young film-makers are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experimenting with</a:t>
            </a:r>
            <a:r>
              <a:rPr 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new filming techniques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Experimenting on mice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can throw light on the disease.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在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老鼠身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上做试验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能使人们了解这种疾病。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136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8. produce enough qinghao extract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 large trials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用于大规模试验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try - trial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</a:p>
          <a:p>
            <a:pPr indent="0">
              <a:lnSpc>
                <a:spcPct val="120000"/>
              </a:lnSpc>
              <a:buNone/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had the machine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trial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试用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for a week.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agreed to employ me for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trial period. 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试用期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drug is undergoing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clinical trials.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临床试验</a:t>
            </a:r>
          </a:p>
          <a:p>
            <a:pPr indent="0">
              <a:lnSpc>
                <a:spcPct val="120000"/>
              </a:lnSpc>
              <a:buNone/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by/through trial and error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反复试验；不断摸索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Text Box 2"/>
          <p:cNvSpPr txBox="1">
            <a:spLocks noChangeArrowheads="1"/>
          </p:cNvSpPr>
          <p:nvPr/>
        </p:nvSpPr>
        <p:spPr bwMode="auto">
          <a:xfrm>
            <a:off x="-635" y="243840"/>
            <a:ext cx="12192000" cy="558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1325" indent="-44132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109093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4986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906905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314575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771775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228975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686175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143375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根据提示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翻译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我们不可能立即找到这种病的治愈方法，这只能是反复试验的过程。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	We cannot find a cure for the illness instantly. It’s just a process of trial and error.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她用接下来的两年时间在网上做研究，进行试验来得到一个菜谱。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	She spent the next two years researching online and _______________ to get a recipe.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35940" y="4333875"/>
            <a:ext cx="310705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conducting trials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0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0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0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0"/>
            <a:ext cx="12192635" cy="3634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go/be on trial for sth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因……而受审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bring sb to trial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把某人交由法庭审理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former general manager of the company is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 trial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for corruption.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公司的前总经理因为贪污而受审。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897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9. ... because research resources were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limited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limited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有限的</a:t>
            </a:r>
            <a:endParaRPr lang="en-US" altLang="zh-CN" sz="3200" b="1" i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not very great in amount, number, ability etc.</a:t>
            </a:r>
            <a:endParaRPr lang="en-US" altLang="zh-CN" sz="3200" b="1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limit  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 / v.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限定；限制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the greatest or smallest amount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限度；限额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limitation 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限制；控制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the act of limiting or controlling sb</a:t>
            </a:r>
            <a:endParaRPr lang="en-US" altLang="zh-CN" sz="3200" b="1" i="1" dirty="0"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limitations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局限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843530" y="1288415"/>
            <a:ext cx="8047990" cy="556958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】limit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limit...to...</a:t>
            </a:r>
            <a:r>
              <a:rPr lang="en-US" altLang="zh-CN" sz="3200" b="1" dirty="0">
                <a:solidFill>
                  <a:srgbClr val="0066FF"/>
                </a:solidFill>
                <a:latin typeface="Times New Roman" panose="02020503050405090304" pitchFamily="18" charset="0"/>
              </a:rPr>
              <a:t>  </a:t>
            </a:r>
            <a:r>
              <a:rPr lang="zh-CN" altLang="en-US" sz="3200" b="1" dirty="0">
                <a:latin typeface="Times New Roman" panose="02020503050405090304" pitchFamily="18" charset="0"/>
              </a:rPr>
              <a:t>把</a:t>
            </a:r>
            <a:r>
              <a:rPr lang="en-US" altLang="zh-CN" sz="3200" b="1" dirty="0">
                <a:latin typeface="+mj-ea"/>
                <a:ea typeface="+mj-ea"/>
              </a:rPr>
              <a:t>……</a:t>
            </a:r>
            <a:r>
              <a:rPr lang="zh-CN" altLang="en-US" sz="3200" b="1" dirty="0">
                <a:latin typeface="+mj-ea"/>
                <a:ea typeface="+mj-ea"/>
              </a:rPr>
              <a:t>限制在</a:t>
            </a:r>
            <a:r>
              <a:rPr lang="en-US" altLang="zh-CN" sz="3200" b="1" dirty="0">
                <a:latin typeface="+mj-ea"/>
                <a:ea typeface="+mj-ea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</a:rPr>
              <a:t>范围内</a:t>
            </a:r>
            <a:endParaRPr lang="en-US" altLang="zh-CN" sz="3200" b="1" dirty="0">
              <a:latin typeface="Times New Roman" panose="02020503050405090304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be limited to...    </a:t>
            </a:r>
            <a:r>
              <a:rPr lang="zh-CN" altLang="en-US" sz="3200" b="1" dirty="0">
                <a:latin typeface="Times New Roman" panose="02020503050405090304" pitchFamily="18" charset="0"/>
              </a:rPr>
              <a:t>局限于</a:t>
            </a:r>
            <a:r>
              <a:rPr lang="en-US" altLang="zh-CN" sz="3200" b="1" dirty="0">
                <a:latin typeface="+mj-ea"/>
                <a:ea typeface="+mj-ea"/>
              </a:rPr>
              <a:t>……</a:t>
            </a:r>
            <a:endParaRPr lang="en-US" altLang="zh-CN" sz="32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a time/speed/age limit  </a:t>
            </a:r>
            <a:r>
              <a:rPr lang="zh-CN" altLang="en-US" sz="3200" b="1" dirty="0">
                <a:latin typeface="Times New Roman" panose="02020503050405090304" pitchFamily="18" charset="0"/>
              </a:rPr>
              <a:t>时间</a:t>
            </a:r>
            <a:r>
              <a:rPr lang="en-US" altLang="zh-CN" sz="3200" b="1" dirty="0">
                <a:latin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</a:rPr>
              <a:t>速度</a:t>
            </a:r>
            <a:r>
              <a:rPr lang="en-US" altLang="zh-CN" sz="3200" b="1" dirty="0">
                <a:latin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</a:rPr>
              <a:t>年龄限制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within limits     </a:t>
            </a:r>
            <a:r>
              <a:rPr lang="zh-CN" altLang="en-US" sz="3200" b="1" dirty="0">
                <a:latin typeface="Times New Roman" panose="02020503050405090304" pitchFamily="18" charset="0"/>
              </a:rPr>
              <a:t>在某种程度上</a:t>
            </a:r>
            <a:r>
              <a:rPr lang="en-US" altLang="zh-CN" sz="3200" b="1" dirty="0">
                <a:latin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</a:rPr>
              <a:t>有一定限制</a:t>
            </a:r>
          </a:p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Courier New" panose="02070409020205090404" pitchFamily="49" charset="0"/>
              </a:rPr>
              <a:t>set a limit on </a:t>
            </a:r>
            <a:r>
              <a:rPr lang="en-US" altLang="zh-CN" sz="3200" b="1" dirty="0">
                <a:latin typeface="Times New Roman" panose="02020503050405090304" pitchFamily="18" charset="0"/>
                <a:cs typeface="Courier New" panose="02070409020205090404" pitchFamily="49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加以限制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Courier New" panose="02070409020205090404" pitchFamily="49" charset="0"/>
              </a:rPr>
              <a:t>beyond the limit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超过限度</a:t>
            </a:r>
          </a:p>
        </p:txBody>
      </p:sp>
      <p:sp>
        <p:nvSpPr>
          <p:cNvPr id="2" name="左大括号 1"/>
          <p:cNvSpPr/>
          <p:nvPr/>
        </p:nvSpPr>
        <p:spPr>
          <a:xfrm>
            <a:off x="2649855" y="2040255"/>
            <a:ext cx="193675" cy="97345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1524000" y="2235200"/>
            <a:ext cx="13906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vt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</p:txBody>
      </p:sp>
      <p:sp>
        <p:nvSpPr>
          <p:cNvPr id="5" name="左大括号 4"/>
          <p:cNvSpPr/>
          <p:nvPr/>
        </p:nvSpPr>
        <p:spPr>
          <a:xfrm>
            <a:off x="2550160" y="3201670"/>
            <a:ext cx="293370" cy="2228215"/>
          </a:xfrm>
          <a:prstGeom prst="leftBrace">
            <a:avLst>
              <a:gd name="adj1" fmla="val 2433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1840865" y="4054475"/>
            <a:ext cx="7092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9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348615"/>
            <a:ext cx="12192000" cy="4225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630555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cs typeface="Times New Roman" panose="02020503050405090304" pitchFamily="18" charset="0"/>
              </a:rPr>
              <a:t>完成句子。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cs typeface="Times New Roman" panose="02020503050405090304" pitchFamily="18" charset="0"/>
              </a:rPr>
              <a:t>1) My wife and I __________ (</a:t>
            </a:r>
            <a:r>
              <a:rPr lang="zh-CN" altLang="en-US" sz="3200" b="1" dirty="0">
                <a:cs typeface="Times New Roman" panose="02020503050405090304" pitchFamily="18" charset="0"/>
              </a:rPr>
              <a:t>定了一个限额</a:t>
            </a:r>
            <a:r>
              <a:rPr lang="en-US" altLang="zh-CN" sz="3200" b="1" dirty="0">
                <a:cs typeface="Times New Roman" panose="02020503050405090304" pitchFamily="18" charset="0"/>
              </a:rPr>
              <a:t>) on how much we spend on clothes.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cs typeface="Times New Roman" panose="02020503050405090304" pitchFamily="18" charset="0"/>
              </a:rPr>
              <a:t>2) I ______________ two cups of coffee a day.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cs typeface="Times New Roman" panose="02020503050405090304" pitchFamily="18" charset="0"/>
              </a:rPr>
              <a:t>我一天只允许自己喝两杯咖啡。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cs typeface="Times New Roman" panose="02020503050405090304" pitchFamily="18" charset="0"/>
              </a:rPr>
              <a:t>3) They told us that we could do whatever we liked, 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cs typeface="Times New Roman" panose="02020503050405090304" pitchFamily="18" charset="0"/>
              </a:rPr>
              <a:t>    ___________________</a:t>
            </a:r>
            <a:r>
              <a:rPr lang="en-US" altLang="zh-CN" sz="3200" b="1" i="1" dirty="0"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cs typeface="Times New Roman" panose="02020503050405090304" pitchFamily="18" charset="0"/>
              </a:rPr>
              <a:t>在一定限度内</a:t>
            </a:r>
            <a:r>
              <a:rPr lang="en-US" altLang="zh-CN" sz="3200" b="1" dirty="0">
                <a:cs typeface="Times New Roman" panose="02020503050405090304" pitchFamily="18" charset="0"/>
              </a:rPr>
              <a:t>).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084195" y="943610"/>
            <a:ext cx="304292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set a limit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916940" y="2109470"/>
            <a:ext cx="326580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limit myself to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15290" y="3849370"/>
            <a:ext cx="467360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within (certain) limits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5" y="73660"/>
            <a:ext cx="12191365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10. The trials on patients were likely to be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postponed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because they did not have sufficient safety data.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25755" y="1346200"/>
            <a:ext cx="11866880" cy="30441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postpone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delay an event and plan or decide that it should happen at a later date or tim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延迟，延期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put off/delay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postpone (doing) sth to/until ...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推迟某事到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...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We’ll have to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postpone the meeting until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next week.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0" y="0"/>
            <a:ext cx="12192000" cy="4815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sufficient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足够的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enough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opp. 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insufficient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不充分的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self-sufficient adj.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自给自足的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sufficiency n.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足量，充足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These reasons are not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sufficient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justify the ban.</a:t>
            </a:r>
          </a:p>
          <a:p>
            <a:pPr indent="0">
              <a:lnSpc>
                <a:spcPct val="120000"/>
              </a:lnSpc>
              <a:buNone/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country is totally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self-sufficient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food production.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-25400"/>
            <a:ext cx="12192000" cy="716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11.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speed up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the process and ensure its safety,…</a:t>
            </a:r>
          </a:p>
        </p:txBody>
      </p:sp>
      <p:sp>
        <p:nvSpPr>
          <p:cNvPr id="6" name="矩形 5"/>
          <p:cNvSpPr/>
          <p:nvPr/>
        </p:nvSpPr>
        <p:spPr>
          <a:xfrm>
            <a:off x="0" y="691515"/>
            <a:ext cx="12192635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speed up: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move or happen faster, or to make something move or happen faste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使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加速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 pitchFamily="34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at a speed of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以</a:t>
            </a:r>
            <a:r>
              <a:rPr lang="zh-CN" altLang="en-US" sz="3200" b="1" dirty="0">
                <a:latin typeface="+mj-ea"/>
                <a:cs typeface="Times New Roman" panose="02020503050405090304" pitchFamily="18" charset="0"/>
                <a:sym typeface="Arial" panose="020B0604020202090204" pitchFamily="34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的速度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at high/low/full/top speed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以高/低/全/最快速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Arial" panose="020B0604020202090204" pitchFamily="34" charset="0"/>
              </a:rPr>
              <a:t>speed by  </a:t>
            </a:r>
            <a:r>
              <a:rPr lang="en-US" altLang="zh-CN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时间</a:t>
            </a:r>
            <a:r>
              <a:rPr lang="en-US" altLang="zh-CN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sym typeface="Arial" panose="020B0604020202090204" pitchFamily="34" charset="0"/>
              </a:rPr>
              <a:t>很快地过去，飞逝</a:t>
            </a:r>
            <a:endParaRPr lang="zh-CN" altLang="en-US" sz="3200" b="1" dirty="0">
              <a:sym typeface="Arial" panose="020B0604020202090204" pitchFamily="3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反义短语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】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slow down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减速，慢下来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truck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speeded/sped up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going down the hill.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卡车在下山时加快了速度。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-635" y="0"/>
            <a:ext cx="12192000" cy="6433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speed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相关短语的适当形式完成句子。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显而易见，一个好的学习习惯能帮助我们尽快实现我们的目标。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Obviously, a good learning habit can help us to ______________________________.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既然他以每小时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60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英里的速度开车，那么事故是怎样发生的呢？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How did the accident come about since he drove ______________________________?</a:t>
            </a:r>
          </a:p>
        </p:txBody>
      </p:sp>
      <p:sp>
        <p:nvSpPr>
          <p:cNvPr id="13" name="内容占位符 2"/>
          <p:cNvSpPr>
            <a:spLocks noChangeArrowheads="1"/>
          </p:cNvSpPr>
          <p:nvPr/>
        </p:nvSpPr>
        <p:spPr bwMode="auto">
          <a:xfrm>
            <a:off x="469265" y="1704340"/>
            <a:ext cx="6899910" cy="540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defTabSz="211772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211772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211772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211772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211772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21177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21177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21177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21177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speed up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reach our goals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内容占位符 2"/>
          <p:cNvSpPr>
            <a:spLocks noChangeArrowheads="1"/>
          </p:cNvSpPr>
          <p:nvPr/>
        </p:nvSpPr>
        <p:spPr bwMode="auto">
          <a:xfrm>
            <a:off x="-328295" y="3429000"/>
            <a:ext cx="7697470" cy="71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defTabSz="211772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211772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211772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211772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211772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21177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21177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21177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21177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 a speed of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sixty miles per hour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9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28270"/>
            <a:ext cx="12192635" cy="848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12. The efforts of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Tu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her team finally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paid off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976630"/>
            <a:ext cx="12192000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pay off: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物作主语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(1)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if something you do pays off, it is successful or has a good result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成功，奏效，达到目的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All her effort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paid off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the end, and she finally passed the exam.</a:t>
            </a:r>
          </a:p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她的所有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努力最终有了收获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——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她终于通过了考试。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186690"/>
            <a:ext cx="11964035" cy="5406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pay off: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人作主语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(2)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give someone all the money you owe them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付清（还清）债务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I’ll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pay off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 all my debts first.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首先我要还清欠款。</a:t>
            </a:r>
          </a:p>
          <a:p>
            <a:pPr indent="0">
              <a:lnSpc>
                <a:spcPct val="120000"/>
              </a:lnSpc>
              <a:buNone/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(3)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pay sb off: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pay someone their wages and tell them they no longer have a job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付清工资解雇某人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Two hundred workers have been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paid off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两百名工人拿到工资被解雇了。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186690" y="218440"/>
            <a:ext cx="11634470" cy="3634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446405" indent="-44640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68375" indent="-3429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pay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的相关短语完成句子。</a:t>
            </a:r>
          </a:p>
          <a:p>
            <a:pPr>
              <a:lnSpc>
                <a:spcPct val="120000"/>
              </a:lnSpc>
              <a:buFontTx/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My hard work finally _________when they called me for an interview.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I will ___________ the book whatever the price.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How can I ________ you ________ for all your kindness?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I _____________ Mr. and Mrs. Smith yesterday afternoon.</a:t>
            </a: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2086885" y="1925692"/>
            <a:ext cx="153733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pay for </a:t>
            </a: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>
            <a:off x="4832645" y="782754"/>
            <a:ext cx="152654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paid off</a:t>
            </a: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>
            <a:off x="2879054" y="2521979"/>
            <a:ext cx="347980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pay                  back</a:t>
            </a: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1103622" y="3203908"/>
            <a:ext cx="252031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paid a visit to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bldLvl="0" animBg="1"/>
      <p:bldP spid="38914" grpId="1" animBg="1"/>
      <p:bldP spid="38918" grpId="0" bldLvl="0" animBg="1"/>
      <p:bldP spid="38918" grpId="1" animBg="1"/>
      <p:bldP spid="38919" grpId="0" bldLvl="0" animBg="1"/>
      <p:bldP spid="38919" grpId="1" animBg="1"/>
      <p:bldP spid="38920" grpId="0" bldLvl="0" animBg="1"/>
      <p:bldP spid="38920" grpId="1" animBg="1"/>
      <p:bldP spid="38921" grpId="0" bldLvl="0" animBg="1"/>
      <p:bldP spid="38921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60350" y="283210"/>
            <a:ext cx="1167257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13.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drawing 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wisdom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traditional Chinese medicine, will ... </a:t>
            </a:r>
          </a:p>
          <a:p>
            <a:pPr marL="360680" indent="-36068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借鉴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的智慧</a:t>
            </a:r>
          </a:p>
        </p:txBody>
      </p:sp>
      <p:sp>
        <p:nvSpPr>
          <p:cNvPr id="2" name="矩形 1"/>
          <p:cNvSpPr/>
          <p:nvPr/>
        </p:nvSpPr>
        <p:spPr>
          <a:xfrm>
            <a:off x="260350" y="1707515"/>
            <a:ext cx="11672570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singer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drew on her own experiences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to compose a new song, which instantly became a hit.</a:t>
            </a:r>
          </a:p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利用自己的个人经历</a:t>
            </a:r>
          </a:p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Night was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drawing on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if a time or a season draws on, it passes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时光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渐渐过去，荏苒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1651000" y="769620"/>
            <a:ext cx="8890635" cy="540639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】draw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短语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draw out </a:t>
            </a:r>
            <a:r>
              <a:rPr lang="zh-CN" altLang="en-US" sz="3200" b="1" dirty="0">
                <a:latin typeface="Times New Roman" panose="02020503050405090304" pitchFamily="18" charset="0"/>
              </a:rPr>
              <a:t>提取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draw up</a:t>
            </a:r>
            <a:r>
              <a:rPr lang="en-US" altLang="zh-CN" sz="3200" b="1" dirty="0">
                <a:latin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</a:rPr>
              <a:t>拟定，起草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draw one’s attention     </a:t>
            </a:r>
            <a:r>
              <a:rPr lang="zh-CN" altLang="en-US" sz="3200" b="1" dirty="0">
                <a:latin typeface="Times New Roman" panose="02020503050405090304" pitchFamily="18" charset="0"/>
              </a:rPr>
              <a:t>使某人注意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draw a conclusion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下结论</a:t>
            </a:r>
            <a:endParaRPr lang="zh-CN" altLang="en-US" sz="3200" b="1" dirty="0">
              <a:latin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draw to a close/an end        </a:t>
            </a:r>
            <a:r>
              <a:rPr lang="zh-CN" altLang="en-US" sz="3200" b="1" dirty="0">
                <a:latin typeface="Times New Roman" panose="02020503050405090304" pitchFamily="18" charset="0"/>
              </a:rPr>
              <a:t>结束，终止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  draw near/close </a:t>
            </a:r>
            <a:r>
              <a:rPr lang="zh-CN" altLang="en-US" sz="3200" b="1" dirty="0">
                <a:latin typeface="Times New Roman" panose="02020503050405090304" pitchFamily="18" charset="0"/>
              </a:rPr>
              <a:t>靠近，接近</a:t>
            </a:r>
            <a:endParaRPr lang="en-US" altLang="zh-CN" sz="3200" b="1" dirty="0">
              <a:latin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  draw a comparison between A and B </a:t>
            </a:r>
            <a:r>
              <a:rPr lang="zh-CN" altLang="en-US" sz="3200" b="1" dirty="0">
                <a:latin typeface="Times New Roman" panose="02020503050405090304" pitchFamily="18" charset="0"/>
              </a:rPr>
              <a:t>在</a:t>
            </a:r>
            <a:r>
              <a:rPr lang="en-US" altLang="zh-CN" sz="3200" b="1" dirty="0">
                <a:latin typeface="Times New Roman" panose="02020503050405090304" pitchFamily="18" charset="0"/>
              </a:rPr>
              <a:t>A</a:t>
            </a:r>
            <a:r>
              <a:rPr lang="zh-CN" altLang="en-US" sz="3200" b="1" dirty="0">
                <a:latin typeface="Times New Roman" panose="02020503050405090304" pitchFamily="18" charset="0"/>
              </a:rPr>
              <a:t>和</a:t>
            </a:r>
            <a:r>
              <a:rPr lang="en-US" altLang="zh-CN" sz="3200" b="1" dirty="0">
                <a:latin typeface="Times New Roman" panose="02020503050405090304" pitchFamily="18" charset="0"/>
              </a:rPr>
              <a:t>B</a:t>
            </a:r>
            <a:r>
              <a:rPr lang="zh-CN" altLang="en-US" sz="3200" b="1" dirty="0">
                <a:latin typeface="Times New Roman" panose="02020503050405090304" pitchFamily="18" charset="0"/>
              </a:rPr>
              <a:t>之间进行比较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7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0825" y="259080"/>
            <a:ext cx="11701145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14. …will indeed discover more medicines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beneficial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to global health care.</a:t>
            </a:r>
          </a:p>
        </p:txBody>
      </p:sp>
      <p:sp>
        <p:nvSpPr>
          <p:cNvPr id="2" name="矩形 1"/>
          <p:cNvSpPr/>
          <p:nvPr/>
        </p:nvSpPr>
        <p:spPr>
          <a:xfrm>
            <a:off x="495935" y="1731645"/>
            <a:ext cx="11456035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骑自行车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对于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身体和环境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大有裨益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Cycling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is highly beneficial to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health and the environment.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926840" y="1515110"/>
            <a:ext cx="249745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benefit sb/sth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947160" y="3313430"/>
            <a:ext cx="307213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be of benefit to   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935730" y="2101850"/>
            <a:ext cx="308356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benefit from / by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71475" y="330200"/>
            <a:ext cx="11534775" cy="4225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sym typeface="+mn-ea"/>
              </a:rPr>
              <a:t>回顾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sym typeface="+mn-ea"/>
              </a:rPr>
              <a:t>】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benefit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使受益；得益于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对某人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某事有益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受益于</a:t>
            </a:r>
            <a:r>
              <a:rPr lang="en-US" altLang="zh-CN" sz="3200" b="1" dirty="0">
                <a:latin typeface="+mj-ea"/>
                <a:ea typeface="+mj-ea"/>
                <a:sym typeface="+mn-ea"/>
              </a:rPr>
              <a:t>……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益处，好处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对</a:t>
            </a:r>
            <a:r>
              <a:rPr lang="en-US" altLang="zh-CN" sz="3200" b="1" dirty="0">
                <a:latin typeface="+mj-ea"/>
                <a:ea typeface="+mj-ea"/>
                <a:sym typeface="+mn-ea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有好处</a:t>
            </a:r>
            <a:endParaRPr lang="en-US" altLang="zh-CN" sz="3200" b="1" dirty="0">
              <a:latin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for sb.’s benefit=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for the benefit of sb.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为了帮助某人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193800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Although popular beliefs regarding emotional intelligence run far ahead of what research can reasonably support, the overall effects of the publicity have been more __________ (benefit) that harmful. (2021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新高考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I)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If you see humor as an optional form of entertainment, you’re missing some of its biggest __________ (benefit). (2020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江苏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27586" y="3543424"/>
            <a:ext cx="153733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benefits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421084" y="1771947"/>
            <a:ext cx="185356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beneficial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4805" y="164465"/>
            <a:ext cx="11631295" cy="2453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As a result, __________ the benefit of your health, it is necessary that you should have enough sleep and rest.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You can also go over the knowledge at the same time and you are sure to benefit __________ it.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98596" y="1936232"/>
            <a:ext cx="104013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from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383353" y="-47"/>
            <a:ext cx="70167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635" y="0"/>
            <a:ext cx="1192911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0555" indent="-6305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15. However, it was not until the 1970s that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Tu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succeeded in discovering </a:t>
            </a:r>
            <a:r>
              <a:rPr lang="en-US" altLang="zh-CN" sz="3200" b="1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qinghaosu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after many failed experiments.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67882" y="1644415"/>
            <a:ext cx="4067146" cy="10763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is 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宋体" pitchFamily="2" charset="-122"/>
              </a:rPr>
              <a:t>+ </a:t>
            </a:r>
            <a:r>
              <a:rPr lang="zh-CN" altLang="zh-CN" sz="3200" b="1" dirty="0">
                <a:latin typeface="宋体" pitchFamily="2" charset="-122"/>
                <a:ea typeface="宋体" pitchFamily="2" charset="-122"/>
                <a:cs typeface="宋体" pitchFamily="2" charset="-122"/>
              </a:rPr>
              <a:t>被强调成分 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宋体" pitchFamily="2" charset="-122"/>
              </a:rPr>
              <a:t>+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that/who ...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2303780" y="636270"/>
            <a:ext cx="99504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620510" y="636270"/>
            <a:ext cx="9182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爆炸形 2 7"/>
          <p:cNvSpPr/>
          <p:nvPr/>
        </p:nvSpPr>
        <p:spPr>
          <a:xfrm>
            <a:off x="9214876" y="1272451"/>
            <a:ext cx="3230880" cy="1160621"/>
          </a:xfrm>
          <a:prstGeom prst="irregularSeal2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强调句式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67715" y="2983865"/>
            <a:ext cx="7790815" cy="5835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is + not until ...</a:t>
            </a:r>
            <a:r>
              <a:rPr lang="zh-CN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+ that ...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直到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</a:rPr>
              <a:t>才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084445" y="1618615"/>
            <a:ext cx="36957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与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not... until...</a:t>
            </a:r>
            <a:r>
              <a:rPr lang="zh-CN" altLang="en-US" sz="3200" b="1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结合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64210" y="3642360"/>
            <a:ext cx="1126490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分析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该句式是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not…until 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用于强调句中。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8" grpId="0" bldLvl="0" animBg="1"/>
      <p:bldP spid="10" grpId="0" bldLvl="0" animBg="1"/>
      <p:bldP spid="12" grpId="0"/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5270" y="456565"/>
            <a:ext cx="11936730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仿写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He didn't realize his mistake until his partner pointed it out.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was not until his partner pointed it out that he realized his mistake.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We didn't come back home until we got the result.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was not until we got the result that we came back home.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"/>
          <p:cNvSpPr txBox="1"/>
          <p:nvPr/>
        </p:nvSpPr>
        <p:spPr>
          <a:xfrm>
            <a:off x="635" y="190500"/>
            <a:ext cx="12190730" cy="739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16. Their efforts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conduct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research in both fields ...</a:t>
            </a:r>
          </a:p>
        </p:txBody>
      </p:sp>
      <p:sp>
        <p:nvSpPr>
          <p:cNvPr id="9" name="矩形 1"/>
          <p:cNvSpPr/>
          <p:nvPr/>
        </p:nvSpPr>
        <p:spPr>
          <a:xfrm>
            <a:off x="290195" y="3030855"/>
            <a:ext cx="11466830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conduct an experiment/a survey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做实验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进行调查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conduct an orchestra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指挥管弦乐队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conduct oneself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举止，表现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每位学生都应该遵守学校的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行为准则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Every student is supposed to obey the school’s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code of conduct/bebavior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" name="矩形 3"/>
          <p:cNvSpPr/>
          <p:nvPr/>
        </p:nvSpPr>
        <p:spPr>
          <a:xfrm>
            <a:off x="635" y="930275"/>
            <a:ext cx="12191365" cy="1863090"/>
          </a:xfrm>
          <a:prstGeom prst="rect">
            <a:avLst/>
          </a:prstGeom>
          <a:ln w="28575">
            <a:noFill/>
          </a:ln>
        </p:spPr>
        <p:txBody>
          <a:bodyPr wrap="square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conduct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 </a:t>
            </a:r>
            <a:r>
              <a:rPr lang="en-US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organize and/or do a particular activity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实施；执行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		    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v. </a:t>
            </a:r>
            <a:r>
              <a:rPr lang="en-US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direct a group</a:t>
            </a:r>
            <a:r>
              <a:rPr lang="en-US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指挥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		    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v/n. </a:t>
            </a:r>
            <a:r>
              <a:rPr lang="en-US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behave in a particular way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举止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2"/>
          <p:cNvSpPr txBox="1"/>
          <p:nvPr/>
        </p:nvSpPr>
        <p:spPr>
          <a:xfrm>
            <a:off x="247015" y="287020"/>
            <a:ext cx="1167257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17.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good example to illustrate this point is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...</a:t>
            </a:r>
          </a:p>
          <a:p>
            <a:pPr marL="360680" indent="-36068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说明这一点的一个很好的例子是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</a:p>
        </p:txBody>
      </p:sp>
      <p:sp>
        <p:nvSpPr>
          <p:cNvPr id="9" name="矩形 1"/>
          <p:cNvSpPr/>
          <p:nvPr/>
        </p:nvSpPr>
        <p:spPr>
          <a:xfrm>
            <a:off x="247015" y="3742690"/>
            <a:ext cx="11671935" cy="2453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illustrated book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一本有插图的书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His lecture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illustrated with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photos taken during the expedition.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他在演讲中使用了探险时拍摄的照片。</a:t>
            </a:r>
          </a:p>
        </p:txBody>
      </p:sp>
      <p:sp>
        <p:nvSpPr>
          <p:cNvPr id="11" name="矩形 3"/>
          <p:cNvSpPr/>
          <p:nvPr/>
        </p:nvSpPr>
        <p:spPr>
          <a:xfrm>
            <a:off x="246380" y="1879600"/>
            <a:ext cx="11672570" cy="1863090"/>
          </a:xfrm>
          <a:prstGeom prst="rect">
            <a:avLst/>
          </a:prstGeom>
          <a:ln w="28575">
            <a:noFill/>
          </a:ln>
        </p:spPr>
        <p:txBody>
          <a:bodyPr wrap="square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illustrate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 </a:t>
            </a:r>
            <a:r>
              <a:rPr lang="en-US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use pictures, photographs and diagrams etc.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加插图于，给（书）做图表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(illustrate sth with sth)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1"/>
          <p:cNvSpPr/>
          <p:nvPr/>
        </p:nvSpPr>
        <p:spPr>
          <a:xfrm>
            <a:off x="425450" y="2204085"/>
            <a:ext cx="11766550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Statistics and graphs may help you better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illustrate your point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图表和数据可以帮助你更好地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说明你的观点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" name="矩形 3"/>
          <p:cNvSpPr/>
          <p:nvPr/>
        </p:nvSpPr>
        <p:spPr>
          <a:xfrm>
            <a:off x="425450" y="1127125"/>
            <a:ext cx="8291195" cy="681990"/>
          </a:xfrm>
          <a:prstGeom prst="rect">
            <a:avLst/>
          </a:prstGeom>
          <a:ln w="28575">
            <a:noFill/>
          </a:ln>
        </p:spPr>
        <p:txBody>
          <a:bodyPr wrap="square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illustrate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v. </a:t>
            </a:r>
            <a:r>
              <a:rPr lang="en-US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说明，解释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explain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585085" y="7488555"/>
            <a:ext cx="160528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		     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3845" y="434340"/>
            <a:ext cx="1162621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0555" indent="-6305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18.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Without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her broad knowledge of both traditional Chinese medicine and Western medicine, Tu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might never have discovered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qinghaosu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630555" indent="-6305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屠呦呦也许永远也不会发现青蒿素</a:t>
            </a:r>
          </a:p>
          <a:p>
            <a:pPr marL="630555" indent="-630555"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30555" indent="-630555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【分析】含蓄条件句（虚拟语气）</a:t>
            </a:r>
          </a:p>
          <a:p>
            <a:pPr marL="630555" indent="-63055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本句中的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without sth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可以转换为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she had not had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her broad knowledge of ...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/>
          <p:nvPr/>
        </p:nvSpPr>
        <p:spPr>
          <a:xfrm>
            <a:off x="400685" y="607695"/>
            <a:ext cx="11476355" cy="25533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might/would/should/could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have done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表示对过去事件的虚拟</a:t>
            </a:r>
          </a:p>
          <a:p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might/would/should/could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do</a:t>
            </a:r>
          </a:p>
          <a:p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表示对现在事件的虚拟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9" name="矩形 1"/>
          <p:cNvSpPr/>
          <p:nvPr/>
        </p:nvSpPr>
        <p:spPr>
          <a:xfrm>
            <a:off x="400050" y="3381375"/>
            <a:ext cx="11475720" cy="2453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没有你的帮助，我们不可能如此顺利完成任务。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Without your help, 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could not have finished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task so smoothly.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没有空气和水，地球上就没有生命。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Without air and water, there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could be no life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 Earth.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3418</Words>
  <Application>Microsoft Macintosh PowerPoint</Application>
  <PresentationFormat>Widescreen</PresentationFormat>
  <Paragraphs>369</Paragraphs>
  <Slides>50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9" baseType="lpstr">
      <vt:lpstr>宋体</vt:lpstr>
      <vt:lpstr>Times New Roman Bold</vt:lpstr>
      <vt:lpstr>Times New Roman Bold Italic</vt:lpstr>
      <vt:lpstr>Arial</vt:lpstr>
      <vt:lpstr>Calibri</vt:lpstr>
      <vt:lpstr>Calibri Light</vt:lpstr>
      <vt:lpstr>Times New Roman</vt:lpstr>
      <vt:lpstr>Wingdings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110</cp:revision>
  <dcterms:created xsi:type="dcterms:W3CDTF">2024-04-17T09:05:44Z</dcterms:created>
  <dcterms:modified xsi:type="dcterms:W3CDTF">2026-07-22T14:25:45Z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00AC24A7A8F6BEE79FB61E64E7E9F75C_42</vt:lpwstr>
  </property>
  <property fmtid="{D5CDD505-2E9C-101B-9397-08002B2CF9AE}" pid="3" name="KSOProductBuildVer">
    <vt:lpwstr>1033-6.5.2.8766</vt:lpwstr>
  </property>
</Properties>
</file>