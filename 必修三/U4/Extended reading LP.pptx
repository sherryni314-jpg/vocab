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29.xml" ContentType="application/vnd.openxmlformats-officedocument.presentationml.notesSlide+xml"/>
  <Override PartName="/ppt/tags/tag4.xml" ContentType="application/vnd.openxmlformats-officedocument.presentationml.tags+xml"/>
  <Override PartName="/ppt/notesSlides/notesSlide30.xml" ContentType="application/vnd.openxmlformats-officedocument.presentationml.notesSlide+xml"/>
  <Override PartName="/ppt/tags/tag5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645" r:id="rId2"/>
    <p:sldId id="819" r:id="rId3"/>
    <p:sldId id="787" r:id="rId4"/>
    <p:sldId id="654" r:id="rId5"/>
    <p:sldId id="647" r:id="rId6"/>
    <p:sldId id="655" r:id="rId7"/>
    <p:sldId id="759" r:id="rId8"/>
    <p:sldId id="726" r:id="rId9"/>
    <p:sldId id="646" r:id="rId10"/>
    <p:sldId id="657" r:id="rId11"/>
    <p:sldId id="658" r:id="rId12"/>
    <p:sldId id="659" r:id="rId13"/>
    <p:sldId id="660" r:id="rId14"/>
    <p:sldId id="662" r:id="rId15"/>
    <p:sldId id="648" r:id="rId16"/>
    <p:sldId id="760" r:id="rId17"/>
    <p:sldId id="649" r:id="rId18"/>
    <p:sldId id="697" r:id="rId19"/>
    <p:sldId id="698" r:id="rId20"/>
    <p:sldId id="699" r:id="rId21"/>
    <p:sldId id="700" r:id="rId22"/>
    <p:sldId id="701" r:id="rId23"/>
    <p:sldId id="650" r:id="rId24"/>
    <p:sldId id="652" r:id="rId25"/>
    <p:sldId id="702" r:id="rId26"/>
    <p:sldId id="678" r:id="rId27"/>
    <p:sldId id="679" r:id="rId28"/>
    <p:sldId id="727" r:id="rId29"/>
    <p:sldId id="634" r:id="rId30"/>
    <p:sldId id="672" r:id="rId31"/>
    <p:sldId id="430" r:id="rId32"/>
    <p:sldId id="670" r:id="rId33"/>
    <p:sldId id="761" r:id="rId34"/>
    <p:sldId id="762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personal morality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=allow</a:t>
            </a:r>
          </a:p>
          <a:p>
            <a:r>
              <a:rPr lang="en-US"/>
              <a:t>issue/apply for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7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30884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evil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struggle with good and evil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善与恶的斗争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 (more) evil to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对……作恶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evils of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的坏处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evil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adj.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evil effects of sth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负面影响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308840" cy="6381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“Is there some evil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science?”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“科学里有罪恶吗？”</a:t>
            </a:r>
          </a:p>
          <a:p>
            <a:pPr marL="22860" indent="-22860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involve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include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 as a necessary part of it</a:t>
            </a:r>
            <a:r>
              <a:rPr lang="en-US" altLang="zh-CN" sz="3200" dirty="0"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包含；需要</a:t>
            </a:r>
          </a:p>
          <a:p>
            <a:pPr marL="22860" indent="-22860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job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involves me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/my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travelling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all over the country.</a:t>
            </a:r>
          </a:p>
          <a:p>
            <a:pPr marL="22860" indent="-22860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这份工作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我在全国各地跑。</a:t>
            </a:r>
          </a:p>
          <a:p>
            <a:pPr marL="22860" indent="-22860">
              <a:lnSpc>
                <a:spcPct val="114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affect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涉及；影响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20725" indent="-720725">
              <a:lnSpc>
                <a:spcPct val="120000"/>
              </a:lnSpc>
            </a:pP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 many people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were involved in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staff cutbacks?</a:t>
            </a:r>
            <a:endParaRPr lang="en-US" sz="32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20725" indent="-720725"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裁员</a:t>
            </a:r>
            <a:r>
              <a:rPr lang="zh-CN" altLang="en-US" sz="3200" b="1" u="sng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涉及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多少人？</a:t>
            </a:r>
            <a:endParaRPr lang="en-US" altLang="zh-CN" sz="3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605405" indent="-2605405"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 part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actively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particular activity</a:t>
            </a:r>
            <a:r>
              <a:rPr lang="en-US" altLang="zh-CN" sz="32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参加</a:t>
            </a:r>
          </a:p>
          <a:p>
            <a:pPr marL="2605405" indent="-2605405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Parents should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involve themselves in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their child's education.</a:t>
            </a:r>
          </a:p>
          <a:p>
            <a:pPr marL="2605405" indent="-2605405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父母应当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参与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孩子的教育。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3088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参与；耗费时间，投入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album came out of her growing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involvement with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contemporary music.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新专辑是她对当代音乐日益投入的成果。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这个星期天见证了我参加……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Sunday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witnessed my involvement 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02602" y="1371238"/>
            <a:ext cx="1092134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2130" indent="-53213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【语境应用】根据括号内的汉语提示补全句子。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This serious traffic incident 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涉及一群年轻人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2130" indent="-5321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凡是参与这个案件的人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will be under further investigation.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2130" indent="-5321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家务事包括做饭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washing dishes, sweeping and cleaning. </a:t>
            </a:r>
          </a:p>
        </p:txBody>
      </p:sp>
      <p:sp>
        <p:nvSpPr>
          <p:cNvPr id="4" name="矩形 3"/>
          <p:cNvSpPr/>
          <p:nvPr/>
        </p:nvSpPr>
        <p:spPr>
          <a:xfrm>
            <a:off x="1106658" y="2585007"/>
            <a:ext cx="5616624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young people</a:t>
            </a:r>
          </a:p>
        </p:txBody>
      </p:sp>
      <p:sp>
        <p:nvSpPr>
          <p:cNvPr id="6" name="矩形 5"/>
          <p:cNvSpPr/>
          <p:nvPr/>
        </p:nvSpPr>
        <p:spPr>
          <a:xfrm>
            <a:off x="1106698" y="3169782"/>
            <a:ext cx="5904656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Whoever is involved in the case</a:t>
            </a:r>
          </a:p>
        </p:txBody>
      </p:sp>
      <p:sp>
        <p:nvSpPr>
          <p:cNvPr id="7" name="矩形 6"/>
          <p:cNvSpPr/>
          <p:nvPr/>
        </p:nvSpPr>
        <p:spPr>
          <a:xfrm>
            <a:off x="1106658" y="4345742"/>
            <a:ext cx="56166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Housework involves cooking</a:t>
            </a:r>
          </a:p>
        </p:txBody>
      </p:sp>
      <p:sp>
        <p:nvSpPr>
          <p:cNvPr id="8" name="矩形 7"/>
          <p:cNvSpPr/>
          <p:nvPr/>
        </p:nvSpPr>
        <p:spPr>
          <a:xfrm>
            <a:off x="6014054" y="1940658"/>
            <a:ext cx="375749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a group of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4310" y="196850"/>
            <a:ext cx="11836400" cy="652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Of course, if we make good things, it is not only to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science; it is also to the credit of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moral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choice which led us to good work. 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当然，如果我们做了善事，不仅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归功于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科学，还归功于引导我们行善的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道德选择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indent="-1905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 the credit of sb / to one’s credit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某人值得称赞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/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归功于某人</a:t>
            </a:r>
          </a:p>
          <a:p>
            <a:pPr indent="-1905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credit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approval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or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praise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赞扬，认可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90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He's a player who rarely seems to get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credit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deserves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190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值得赞扬</a:t>
            </a:r>
          </a:p>
          <a:p>
            <a:pPr indent="-19050" fontAlgn="auto"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his credit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Jack never told anyone exactly what had happened.</a:t>
            </a:r>
          </a:p>
          <a:p>
            <a:pPr indent="-190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杰克对发生的事守口如瓶，值得赞扬。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1765" y="12700"/>
            <a:ext cx="1192403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-720725" fontAlgn="auto">
              <a:lnSpc>
                <a:spcPct val="120000"/>
              </a:lnSpc>
            </a:pPr>
            <a:r>
              <a:rPr lang="en-US"/>
              <a:t>My math class is worth three </a:t>
            </a:r>
            <a:r>
              <a:rPr lang="en-US">
                <a:solidFill>
                  <a:srgbClr val="FF0000"/>
                </a:solidFill>
              </a:rPr>
              <a:t>credits</a:t>
            </a:r>
            <a:r>
              <a:rPr lang="en-US"/>
              <a:t>.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/>
              <a:t>我的数学课为三个</a:t>
            </a:r>
            <a:r>
              <a:rPr lang="en-US">
                <a:solidFill>
                  <a:srgbClr val="FF0000"/>
                </a:solidFill>
              </a:rPr>
              <a:t>学分</a:t>
            </a:r>
            <a:r>
              <a:rPr lang="en-US"/>
              <a:t>。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 err="1">
                <a:solidFill>
                  <a:schemeClr val="tx1"/>
                </a:solidFill>
                <a:sym typeface="+mn-ea"/>
              </a:rPr>
              <a:t>The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credits </a:t>
            </a:r>
            <a:r>
              <a:rPr lang="en-US" altLang="zh-CN" dirty="0" err="1">
                <a:solidFill>
                  <a:schemeClr val="tx1"/>
                </a:solidFill>
                <a:sym typeface="+mn-ea"/>
              </a:rPr>
              <a:t>(= the list of all the people involved) seemed to last almost as long as the film!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u="sng" dirty="0" err="1">
                <a:solidFill>
                  <a:schemeClr val="tx1"/>
                </a:solidFill>
                <a:sym typeface="+mn-ea"/>
              </a:rPr>
              <a:t>演职人员字幕</a:t>
            </a:r>
            <a:r>
              <a:rPr lang="en-US" altLang="zh-CN" dirty="0" err="1">
                <a:solidFill>
                  <a:schemeClr val="tx1"/>
                </a:solidFill>
                <a:sym typeface="+mn-ea"/>
              </a:rPr>
              <a:t>持续的时间几乎与这部电影一样</a:t>
            </a:r>
            <a:r>
              <a:rPr lang="zh-CN" altLang="en-US" dirty="0" err="1">
                <a:solidFill>
                  <a:schemeClr val="tx1"/>
                </a:solidFill>
                <a:sym typeface="+mn-ea"/>
              </a:rPr>
              <a:t>长！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1765" y="12700"/>
            <a:ext cx="1192403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-720725" fontAlgn="auto">
              <a:lnSpc>
                <a:spcPct val="12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credit</a:t>
            </a:r>
            <a:r>
              <a:rPr lang="en-US" altLang="zh-CN" i="1" dirty="0" err="1">
                <a:solidFill>
                  <a:srgbClr val="FF0000"/>
                </a:solidFill>
                <a:sym typeface="+mn-ea"/>
              </a:rPr>
              <a:t> vt.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to add money to a bank account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存入金额</a:t>
            </a:r>
          </a:p>
          <a:p>
            <a:pPr marL="0" indent="-720725" fontAlgn="auto">
              <a:lnSpc>
                <a:spcPct val="120000"/>
              </a:lnSpc>
            </a:pPr>
            <a:endParaRPr lang="en-US" altLang="zh-CN" dirty="0"/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credit A with B = credit B to A</a:t>
            </a:r>
            <a:r>
              <a:rPr lang="en-US" altLang="zh-CN" dirty="0"/>
              <a:t> </a:t>
            </a:r>
            <a:r>
              <a:rPr lang="zh-CN" altLang="en-US" dirty="0"/>
              <a:t>把</a:t>
            </a:r>
            <a:r>
              <a:rPr lang="en-US" altLang="zh-CN" dirty="0"/>
              <a:t>B</a:t>
            </a:r>
            <a:r>
              <a:rPr lang="zh-CN" altLang="en-US" dirty="0"/>
              <a:t>存入</a:t>
            </a:r>
            <a:r>
              <a:rPr lang="en-US" altLang="zh-CN" dirty="0"/>
              <a:t>A</a:t>
            </a:r>
            <a:r>
              <a:rPr lang="zh-CN" altLang="en-US" dirty="0"/>
              <a:t>；把</a:t>
            </a:r>
            <a:r>
              <a:rPr lang="en-US" altLang="zh-CN" dirty="0"/>
              <a:t>B</a:t>
            </a:r>
            <a:r>
              <a:rPr lang="zh-CN" altLang="en-US" dirty="0"/>
              <a:t>归功于</a:t>
            </a:r>
            <a:r>
              <a:rPr lang="en-US" altLang="zh-CN" dirty="0"/>
              <a:t>A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>
                <a:sym typeface="+mn-ea"/>
              </a:rPr>
              <a:t>$50,000 has </a:t>
            </a:r>
            <a:r>
              <a:rPr lang="en-US" altLang="zh-CN" u="sng">
                <a:solidFill>
                  <a:srgbClr val="FF0000"/>
                </a:solidFill>
                <a:sym typeface="+mn-ea"/>
              </a:rPr>
              <a:t>been credited to</a:t>
            </a:r>
            <a:r>
              <a:rPr lang="en-US" altLang="zh-CN">
                <a:sym typeface="+mn-ea"/>
              </a:rPr>
              <a:t> your account.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>
                <a:sym typeface="+mn-ea"/>
              </a:rPr>
              <a:t>已把 5 万美元</a:t>
            </a:r>
            <a:r>
              <a:rPr lang="en-US" altLang="zh-CN" u="sng">
                <a:sym typeface="+mn-ea"/>
              </a:rPr>
              <a:t>存入</a:t>
            </a:r>
            <a:r>
              <a:rPr lang="en-US" altLang="zh-CN">
                <a:sym typeface="+mn-ea"/>
              </a:rPr>
              <a:t>你的账户。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/>
              <a:t>The company </a:t>
            </a:r>
            <a:r>
              <a:rPr lang="en-US" altLang="zh-CN" u="sng" dirty="0">
                <a:solidFill>
                  <a:srgbClr val="FF0000"/>
                </a:solidFill>
              </a:rPr>
              <a:t>is credited with</a:t>
            </a:r>
            <a:r>
              <a:rPr lang="en-US" altLang="zh-CN" dirty="0"/>
              <a:t> inventing the industrial robot.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/>
              <a:t>发明工业机器人</a:t>
            </a:r>
            <a:r>
              <a:rPr lang="en-US" altLang="zh-CN" u="sng" dirty="0"/>
              <a:t>是</a:t>
            </a:r>
            <a:r>
              <a:rPr lang="en-US" altLang="zh-CN" dirty="0"/>
              <a:t>那家公司</a:t>
            </a:r>
            <a:r>
              <a:rPr lang="en-US" altLang="zh-CN" u="sng" dirty="0"/>
              <a:t>的功劳</a:t>
            </a:r>
            <a:r>
              <a:rPr lang="en-US" altLang="zh-CN" dirty="0"/>
              <a:t>。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/>
              <a:t>The cheetah </a:t>
            </a:r>
            <a:r>
              <a:rPr lang="en-US" altLang="zh-CN" u="sng" dirty="0">
                <a:solidFill>
                  <a:srgbClr val="FF0000"/>
                </a:solidFill>
              </a:rPr>
              <a:t>is generally credited as</a:t>
            </a:r>
            <a:r>
              <a:rPr lang="en-US" altLang="zh-CN" dirty="0"/>
              <a:t> the world's fastest animal.</a:t>
            </a:r>
          </a:p>
          <a:p>
            <a:pPr marL="0" indent="-720725" fontAlgn="auto">
              <a:lnSpc>
                <a:spcPct val="120000"/>
              </a:lnSpc>
            </a:pPr>
            <a:r>
              <a:rPr lang="en-US" altLang="zh-CN" dirty="0"/>
              <a:t>普遍</a:t>
            </a:r>
            <a:r>
              <a:rPr lang="en-US" altLang="zh-CN" u="sng" dirty="0"/>
              <a:t>认为</a:t>
            </a:r>
            <a:r>
              <a:rPr lang="en-US" altLang="zh-CN" dirty="0"/>
              <a:t>猎豹是世界上跑得最快的动物。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84200" y="916940"/>
            <a:ext cx="1106233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720725" indent="-720725">
              <a:lnSpc>
                <a:spcPct val="120000"/>
              </a:lnSpc>
            </a:pPr>
            <a:r>
              <a:rPr lang="zh-CN" altLang="en-US" dirty="0" err="1"/>
              <a:t>他把冠军归功于全队的共同努力。</a:t>
            </a:r>
          </a:p>
          <a:p>
            <a:pPr marL="720725" indent="-720725">
              <a:lnSpc>
                <a:spcPct val="12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He credited the champion to the team effort.</a:t>
            </a:r>
            <a:endParaRPr lang="zh-CN" altLang="en-US" dirty="0" err="1">
              <a:solidFill>
                <a:srgbClr val="FF0000"/>
              </a:solidFill>
            </a:endParaRPr>
          </a:p>
          <a:p>
            <a:pPr marL="720725" indent="-720725">
              <a:lnSpc>
                <a:spcPct val="120000"/>
              </a:lnSpc>
            </a:pPr>
            <a:endParaRPr lang="zh-CN" altLang="en-US" dirty="0" err="1"/>
          </a:p>
          <a:p>
            <a:pPr marL="720725" indent="-720725">
              <a:lnSpc>
                <a:spcPct val="120000"/>
              </a:lnSpc>
            </a:pPr>
            <a:r>
              <a:rPr lang="zh-CN" altLang="en-US" dirty="0" err="1"/>
              <a:t>引进新系统是她的功劳。</a:t>
            </a:r>
          </a:p>
          <a:p>
            <a:pPr marL="720725" indent="-720725">
              <a:lnSpc>
                <a:spcPct val="12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She is credited with introducing the new system.</a:t>
            </a:r>
          </a:p>
          <a:p>
            <a:pPr marL="720725" indent="-720725">
              <a:lnSpc>
                <a:spcPct val="12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The introduction of the new system is credited to her.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8435" y="307975"/>
            <a:ext cx="1201356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0485" indent="-7048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moral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adj. [only before noun]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relating to the principles of what is right and wrong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behaviour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道德的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道义上的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品行端正的</a:t>
            </a:r>
          </a:p>
          <a:p>
            <a:pPr marL="70485" indent="-70485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传统的道德观念</a:t>
            </a: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道德方面的议题</a:t>
            </a: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道德标准</a:t>
            </a: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道德感强</a:t>
            </a: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道德上的义务</a:t>
            </a:r>
          </a:p>
          <a:p>
            <a:pPr marL="70485" indent="-7048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一个品行端正的人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386455" y="20427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moral values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513455" y="26701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moral issue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86455" y="3223895"/>
            <a:ext cx="83908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moral standards = standards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morality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(n.)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386455" y="37960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highly developed moral sense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513455" y="44049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moral responsibility/duty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978275" y="49218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moral person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055" y="157480"/>
            <a:ext cx="12005945" cy="514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-720725" fontAlgn="auto">
              <a:lnSpc>
                <a:spcPct val="114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moral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s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n. </a:t>
            </a:r>
            <a:r>
              <a:rPr lang="en-US" altLang="zh-CN" i="1" dirty="0"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道德</a:t>
            </a:r>
            <a:r>
              <a:rPr lang="zh-CN" altLang="en-US" dirty="0" err="1">
                <a:solidFill>
                  <a:srgbClr val="FF0000"/>
                </a:solidFill>
              </a:rPr>
              <a:t>；</a:t>
            </a:r>
            <a:r>
              <a:rPr lang="en-US" altLang="zh-CN" dirty="0" err="1">
                <a:solidFill>
                  <a:srgbClr val="FF0000"/>
                </a:solidFill>
              </a:rPr>
              <a:t>moral </a:t>
            </a:r>
            <a:r>
              <a:rPr lang="zh-CN" altLang="en-US" dirty="0" err="1">
                <a:solidFill>
                  <a:srgbClr val="FF0000"/>
                </a:solidFill>
              </a:rPr>
              <a:t>教益</a:t>
            </a:r>
            <a:r>
              <a:rPr lang="en-US" altLang="zh-CN" dirty="0" err="1"/>
              <a:t> (</a:t>
            </a:r>
            <a:r>
              <a:rPr lang="en-US" altLang="zh-CN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a practical lesson that sth teaches you</a:t>
            </a:r>
            <a:r>
              <a:rPr lang="en-US" altLang="zh-CN" dirty="0" err="1"/>
              <a:t>)</a:t>
            </a:r>
            <a:endParaRPr lang="zh-CN" altLang="en-US" dirty="0" err="1"/>
          </a:p>
          <a:p>
            <a:pPr marL="0" indent="-720725" fontAlgn="auto">
              <a:lnSpc>
                <a:spcPct val="114000"/>
              </a:lnSpc>
            </a:pPr>
            <a:r>
              <a:rPr lang="en-US"/>
              <a:t>Young people these days </a:t>
            </a:r>
            <a:r>
              <a:rPr lang="en-US" u="sng">
                <a:solidFill>
                  <a:srgbClr val="FF0000"/>
                </a:solidFill>
              </a:rPr>
              <a:t>have no morals</a:t>
            </a:r>
            <a:r>
              <a:rPr lang="en-US"/>
              <a:t>.</a:t>
            </a:r>
          </a:p>
          <a:p>
            <a:pPr marL="0" indent="-720725" fontAlgn="auto">
              <a:lnSpc>
                <a:spcPct val="114000"/>
              </a:lnSpc>
            </a:pPr>
            <a:r>
              <a:rPr lang="en-US"/>
              <a:t>现在的年轻人根本不讲道德。</a:t>
            </a:r>
          </a:p>
          <a:p>
            <a:pPr marL="0" indent="-720725" fontAlgn="auto">
              <a:lnSpc>
                <a:spcPct val="114000"/>
              </a:lnSpc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moral</a:t>
            </a:r>
            <a:r>
              <a:rPr lang="en-US" altLang="zh-CN" dirty="0"/>
              <a:t> of the film was that crime does not pay.</a:t>
            </a:r>
          </a:p>
          <a:p>
            <a:pPr marL="0" indent="-720725" fontAlgn="auto">
              <a:lnSpc>
                <a:spcPct val="114000"/>
              </a:lnSpc>
            </a:pPr>
            <a:r>
              <a:rPr lang="zh-CN" altLang="en-US" dirty="0"/>
              <a:t>这部电影的</a:t>
            </a:r>
            <a:r>
              <a:rPr lang="zh-CN" altLang="en-US" u="sng" dirty="0"/>
              <a:t>寓意</a:t>
            </a:r>
            <a:r>
              <a:rPr lang="zh-CN" altLang="en-US" dirty="0"/>
              <a:t>是犯罪是没好结果的。</a:t>
            </a:r>
          </a:p>
          <a:p>
            <a:pPr marL="0" indent="-720725" fontAlgn="auto">
              <a:lnSpc>
                <a:spcPct val="114000"/>
              </a:lnSpc>
            </a:pPr>
            <a:endParaRPr lang="zh-CN" altLang="en-US" dirty="0"/>
          </a:p>
          <a:p>
            <a:pPr marL="0" indent="-720725" fontAlgn="auto">
              <a:lnSpc>
                <a:spcPct val="114000"/>
              </a:lnSpc>
            </a:pPr>
            <a:r>
              <a:rPr lang="en-US" altLang="zh-CN" u="sng" dirty="0">
                <a:solidFill>
                  <a:srgbClr val="FF0000"/>
                </a:solidFill>
              </a:rPr>
              <a:t>im</a:t>
            </a:r>
            <a:r>
              <a:rPr lang="en-US" altLang="zh-CN" dirty="0">
                <a:solidFill>
                  <a:srgbClr val="FF0000"/>
                </a:solidFill>
              </a:rPr>
              <a:t>moral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</a:p>
          <a:p>
            <a:pPr marL="0" indent="-720725" fontAlgn="auto">
              <a:lnSpc>
                <a:spcPct val="114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immoral act</a:t>
            </a:r>
            <a:r>
              <a:rPr lang="en-US" altLang="zh-CN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/ </a:t>
            </a:r>
            <a:r>
              <a:rPr lang="en-US" altLang="zh-CN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behavior </a:t>
            </a:r>
            <a:r>
              <a:rPr lang="zh-CN" altLang="en-US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不道德的行为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-720725" fontAlgn="auto">
              <a:lnSpc>
                <a:spcPct val="114000"/>
              </a:lnSpc>
            </a:pPr>
            <a:r>
              <a:rPr lang="en-US" altLang="zh-CN" dirty="0">
                <a:solidFill>
                  <a:srgbClr val="FF0000"/>
                </a:solidFill>
              </a:rPr>
              <a:t>morality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 </a:t>
            </a:r>
            <a:r>
              <a:rPr lang="zh-CN" altLang="en-US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道德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46642" y="247665"/>
            <a:ext cx="11722126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…but it does not carry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it.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但它没有自带</a:t>
            </a:r>
            <a:r>
              <a:rPr lang="zh-CN" altLang="en-US" sz="3200" b="1" u="sng" dirty="0">
                <a:latin typeface="+mn-ea"/>
                <a:cs typeface="Times New Roman" panose="02020603050405020304" pitchFamily="18" charset="0"/>
              </a:rPr>
              <a:t>说明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该如何运用。</a:t>
            </a:r>
          </a:p>
          <a:p>
            <a:pPr marL="17145" indent="-1714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1)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9135" indent="-69913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... to ...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应用于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</a:p>
          <a:p>
            <a:pPr marL="699135" indent="-69913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is eager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technology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practical business problems.</a:t>
            </a:r>
            <a:r>
              <a:rPr lang="en-US" altLang="zh-CN" sz="3200" dirty="0">
                <a:sym typeface="+mn-ea"/>
              </a:rPr>
              <a:t> </a:t>
            </a:r>
            <a:endParaRPr lang="en-US" altLang="zh-CN" sz="3200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way they can better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theory to practice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 </a:t>
            </a:r>
          </a:p>
          <a:p>
            <a:pPr marL="0" indent="0">
              <a:lnSpc>
                <a:spcPct val="120000"/>
              </a:lnSpc>
            </a:pP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申请；请求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to ... for ...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申请</a:t>
            </a:r>
          </a:p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 have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 U.S. embassy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大使馆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visa.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6215" y="204470"/>
            <a:ext cx="1181798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590" indent="-2159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贴，涂，敷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... to ...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贴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/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涂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/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敷到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nurse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some medicine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her swollen arm.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zh-CN" sz="3200" b="1" dirty="0"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4)</a:t>
            </a:r>
            <a:r>
              <a:rPr lang="en-US" altLang="zh-CN" sz="3200" dirty="0">
                <a:latin typeface="Times New Roman Regular" panose="02020603050405020304" charset="0"/>
                <a:ea typeface="宋体" pitchFamily="2" charset="-122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适用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to...</a:t>
            </a:r>
            <a:r>
              <a:rPr lang="en-US" altLang="zh-CN" sz="3200" dirty="0"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适用于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  <a:sym typeface="+mn-ea"/>
              </a:rPr>
              <a:t>……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 said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some of you.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cs typeface="Arial" panose="020B0704020202020204" pitchFamily="34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cs typeface="Arial" panose="020B0704020202020204" pitchFamily="34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cs typeface="Arial" panose="020B0704020202020204" pitchFamily="34" charset="0"/>
                <a:sym typeface="+mn-ea"/>
              </a:rPr>
              <a:t>】</a:t>
            </a:r>
            <a:endParaRPr lang="en-US" altLang="zh-CN" sz="3200" b="1" dirty="0">
              <a:solidFill>
                <a:srgbClr val="0000FF"/>
              </a:solidFill>
              <a:cs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致力于</a:t>
            </a:r>
            <a:r>
              <a:rPr lang="en-US" altLang="zh-CN" sz="3200" b="1" dirty="0">
                <a:latin typeface="宋体" pitchFamily="2" charset="-122"/>
                <a:cs typeface="宋体" pitchFamily="2" charset="-122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cs typeface="宋体" pitchFamily="2" charset="-122"/>
                <a:sym typeface="+mn-ea"/>
              </a:rPr>
              <a:t>，专心于</a:t>
            </a:r>
            <a:r>
              <a:rPr lang="en-US" altLang="zh-CN" sz="3200" b="1" dirty="0">
                <a:latin typeface="宋体" pitchFamily="2" charset="-122"/>
                <a:cs typeface="宋体" pitchFamily="2" charset="-122"/>
                <a:sym typeface="+mn-ea"/>
              </a:rPr>
              <a:t>……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Frank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applied himself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this task with considerable energy.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applied our minds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finding a solution to our problem.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272334" y="270391"/>
            <a:ext cx="11653502" cy="540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8650" indent="-6286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7792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58623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93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402205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85940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31660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77380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23100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 c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n.&amp; un.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new technology to teaching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新技术在教学上的应用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invention would have a wide range of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industry.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这项发明在工业中会有</a:t>
            </a:r>
            <a:r>
              <a:rPr lang="zh-CN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广泛用途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 c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n.&amp; un.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申请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 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填写一张申请表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申请人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205146" y="850745"/>
            <a:ext cx="11463113" cy="422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0850" indent="-4508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91630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32397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73228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13995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971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0543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5115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9687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cs typeface="Arial" panose="020B0704020202020204" pitchFamily="34" charset="0"/>
              </a:rPr>
              <a:t>【语境应用】用所给词的正确形式填空。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His ____________ (apply) for membership of the organization was rejected.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Please clean the wound with a clean cloth and then apply the medicine ____ it.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Later I decided to apply my previous experience to __________ (learn) how to read and write.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502133" y="1475483"/>
            <a:ext cx="2246128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application 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460088" y="3264660"/>
            <a:ext cx="804863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 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79206" y="4422126"/>
            <a:ext cx="1745991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learning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538" y="166873"/>
            <a:ext cx="11303152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 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negates the effects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drug.</a:t>
            </a:r>
          </a:p>
          <a:p>
            <a:pPr marL="450850" indent="-450850">
              <a:lnSpc>
                <a:spcPct val="120000"/>
              </a:lnSpc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酒精能使这种药物失效。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stop sth from having any effect)</a:t>
            </a:r>
          </a:p>
          <a:p>
            <a:pPr marL="450850" indent="-450850">
              <a:lnSpc>
                <a:spcPct val="12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enjoyment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智力的享受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curiosity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求知欲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challenging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考验智力的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intellectual(s)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知识分子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538" y="166873"/>
            <a:ext cx="11303152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Never concerned that the answer may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down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pleasure and confidence we turn over each new stone to find unimagined strangeness leading on to more wonderful questions and mysteries.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我们从不担心答案可能会令人失望，总是快乐而自信地开始每一次新探索，发现一些意想不到、稀奇古怪的东西，随之而来的是更加奇妙的问题和奥秘。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09091" y="192605"/>
            <a:ext cx="11278884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720725" indent="-720725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let sb down</a:t>
            </a:r>
            <a:r>
              <a:rPr lang="en-US" dirty="0"/>
              <a:t> </a:t>
            </a:r>
            <a:r>
              <a:rPr lang="zh-CN" altLang="en-US" dirty="0"/>
              <a:t>让某人失望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let alone   let out   let go (of)   let in  </a:t>
            </a:r>
            <a:endParaRPr lang="zh-CN" alt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4333" y="1502717"/>
            <a:ext cx="11593288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2755" indent="-4527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182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完成句子。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1) The whole team count on Messi, and he seldom _____________.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整个队都指望着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Messi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他很少让他们失望。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2) Many young graduates struggle to find any job _________a good one.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许多年轻的毕业生都很难找到工作，更不用说找到一份好工作了。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3) Don’t __________ the news of me losing job, will you?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    别把我丢了工作一事泄露出去，行吗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?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Courier New" panose="02070609020205020404" pitchFamily="49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854400" y="2097074"/>
            <a:ext cx="276844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them down</a:t>
            </a:r>
            <a:endParaRPr lang="zh-CN" altLang="en-US" sz="32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853108" y="3304569"/>
            <a:ext cx="1906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let alone</a:t>
            </a:r>
            <a:endParaRPr lang="zh-CN" altLang="en-US" dirty="0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2078549" y="5043322"/>
            <a:ext cx="1289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Courier New" panose="02070609020205020404" pitchFamily="49" charset="0"/>
              </a:rPr>
              <a:t>let out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Courier New" panose="020706090202050204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9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文本框 3"/>
          <p:cNvSpPr txBox="1"/>
          <p:nvPr/>
        </p:nvSpPr>
        <p:spPr>
          <a:xfrm>
            <a:off x="559435" y="444500"/>
            <a:ext cx="10953115" cy="2453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9050" indent="-1714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concerned that the answer may let us down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pleasure and confidence we turn over each new stone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unimagined strangeness leading on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more wonderful questions and mysteries.</a:t>
            </a:r>
          </a:p>
        </p:txBody>
      </p:sp>
      <p:sp>
        <p:nvSpPr>
          <p:cNvPr id="2" name="矩形 1"/>
          <p:cNvSpPr/>
          <p:nvPr/>
        </p:nvSpPr>
        <p:spPr>
          <a:xfrm>
            <a:off x="559334" y="3243747"/>
            <a:ext cx="10690191" cy="245364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" indent="-1714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concerned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做原因状语，逻辑主语是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we</a:t>
            </a:r>
          </a:p>
          <a:p>
            <a:pPr marL="19050" indent="-1714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find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unimagined strangeness leading on to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宾补结构，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strangeness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是主动关系，用现在分词短语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on to…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作宾补。</a:t>
            </a:r>
            <a:endParaRPr lang="en-US" altLang="zh-CN" sz="3200" b="1" dirty="0">
              <a:latin typeface="Times New Roman" panose="02020603050405020304" pitchFamily="18" charset="0"/>
              <a:sym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文本框 3"/>
          <p:cNvSpPr txBox="1"/>
          <p:nvPr/>
        </p:nvSpPr>
        <p:spPr>
          <a:xfrm>
            <a:off x="227527" y="554864"/>
            <a:ext cx="11620500" cy="30441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1) “find +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宾语</a:t>
            </a: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+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宾语补足语</a:t>
            </a: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”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结构中，作宾语补足语的可以是过去分词、现在分词、形容词、副词、介词短语、名词等。</a:t>
            </a:r>
            <a:endParaRPr lang="en-US" altLang="zh-CN" sz="3200" b="1" dirty="0">
              <a:latin typeface="Times New Roman" panose="02020603050405020304" pitchFamily="18" charset="0"/>
              <a:sym typeface="宋体" pitchFamily="2" charset="-122"/>
            </a:endParaRP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find sb. /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. done   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发现某人</a:t>
            </a: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某物被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sym typeface="宋体" pitchFamily="2" charset="-122"/>
              </a:rPr>
              <a:t>……</a:t>
            </a:r>
            <a:endParaRPr lang="en-US" altLang="zh-CN" sz="3200" b="1" dirty="0">
              <a:latin typeface="Times New Roman" panose="02020603050405020304" pitchFamily="18" charset="0"/>
              <a:sym typeface="宋体" pitchFamily="2" charset="-122"/>
            </a:endParaRP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find sb. 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. doing  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发现某人</a:t>
            </a: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某物正在做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sym typeface="宋体" pitchFamily="2" charset="-122"/>
              </a:rPr>
              <a:t>……</a:t>
            </a:r>
            <a:endParaRPr lang="en-US" altLang="zh-CN" sz="3200" b="1" dirty="0">
              <a:latin typeface="Times New Roman" panose="02020603050405020304" pitchFamily="18" charset="0"/>
              <a:sym typeface="宋体" pitchFamily="2" charset="-122"/>
            </a:endParaRP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find sb. /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. 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itchFamily="2" charset="-122"/>
              </a:rPr>
              <a:t>adj. / adv. / n. / prep. 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觉得某人</a:t>
            </a:r>
            <a:r>
              <a:rPr lang="en-US" altLang="zh-CN" sz="3200" b="1" dirty="0">
                <a:latin typeface="Times New Roman" panose="02020603050405020304" pitchFamily="18" charset="0"/>
                <a:sym typeface="宋体" pitchFamily="2" charset="-122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sym typeface="宋体" pitchFamily="2" charset="-122"/>
              </a:rPr>
              <a:t>某物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sym typeface="宋体" pitchFamily="2" charset="-122"/>
              </a:rPr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695931" y="3596814"/>
            <a:ext cx="11268541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him the man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saved me.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Ming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himself wet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he arrived home.(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形容词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 came to,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found myself in my mother’s arms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介词短语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框 3"/>
          <p:cNvSpPr txBox="1"/>
          <p:nvPr/>
        </p:nvSpPr>
        <p:spPr>
          <a:xfrm>
            <a:off x="685800" y="762000"/>
            <a:ext cx="9829800" cy="48197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6405" indent="-446405"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我发现这项工作令人厌烦。</a:t>
            </a:r>
          </a:p>
          <a:p>
            <a:pPr marL="446405" indent="-446405"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我发现他在自己的房间里。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found the job boring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446405" indent="-446405"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I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found him in his own room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sym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</a:rPr>
              <a:t>We __________________ in the garden.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</a:rPr>
              <a:t>我们发现他正在花园里干活。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</a:rPr>
              <a:t>When he came home ________________________.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</a:rPr>
              <a:t>当他回到家的时候，他发现门是关着的。</a:t>
            </a:r>
          </a:p>
        </p:txBody>
      </p:sp>
      <p:sp>
        <p:nvSpPr>
          <p:cNvPr id="2" name="矩形 1"/>
          <p:cNvSpPr/>
          <p:nvPr/>
        </p:nvSpPr>
        <p:spPr>
          <a:xfrm>
            <a:off x="1448877" y="3124200"/>
            <a:ext cx="36583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found him working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96877" y="4352990"/>
            <a:ext cx="44620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he found the door closed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文本框 3"/>
          <p:cNvSpPr txBox="1"/>
          <p:nvPr/>
        </p:nvSpPr>
        <p:spPr>
          <a:xfrm>
            <a:off x="1198880" y="1514475"/>
            <a:ext cx="9639935" cy="34880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6405" indent="-446405" eaLnBrk="1" hangingPunct="1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宾语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+ to do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pPr marL="446405" indent="-446405" eaLnBrk="1" hangingPunct="1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e.g.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男孩发现这本小说很难读懂。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)</a:t>
            </a:r>
          </a:p>
          <a:p>
            <a:pPr marL="446405" indent="-446405" eaLnBrk="1" hangingPunct="1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          The boy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found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the novel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difficult to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read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446405" indent="-446405" eaLnBrk="1" hangingPunct="1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find + it +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adj.+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to do </a:t>
            </a:r>
          </a:p>
          <a:p>
            <a:pPr marL="446405" indent="-446405" eaLnBrk="1" hangingPunct="1">
              <a:lnSpc>
                <a:spcPct val="115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e.g.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我发现很难同他的兄弟相处。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)</a:t>
            </a:r>
          </a:p>
          <a:p>
            <a:pPr marL="446405" indent="-446405" eaLnBrk="1" hangingPunct="1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         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found it hard to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sym typeface="宋体" pitchFamily="2" charset="-122"/>
              </a:rPr>
              <a:t> get along with his brother. 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sym typeface="宋体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847528" y="1611601"/>
            <a:ext cx="8458200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【语境应用】翻译句子。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他们在森林中发现他受伤了。         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当我们到达时，发现他在睡觉。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304728" y="2751106"/>
            <a:ext cx="6674776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found him injured in the forest.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323483" y="3971891"/>
            <a:ext cx="7101624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arrived, we found him in bed.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0732" y="327853"/>
            <a:ext cx="11722126" cy="373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10" indent="-16510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ignorance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lack of knowledge or information about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无知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10" indent="-16510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ignorant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不了解的，无知的，愚昧的</a:t>
            </a:r>
          </a:p>
          <a:p>
            <a:pPr marL="720725" indent="-720725">
              <a:lnSpc>
                <a:spcPct val="120000"/>
              </a:lnSpc>
            </a:pP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It is said that poverty and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ignorance</a:t>
            </a: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are the enemies of progress.</a:t>
            </a:r>
            <a:endParaRPr lang="en-US" sz="32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20725" indent="-720725"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有人说，贫穷和无知是进步之敌。</a:t>
            </a:r>
            <a:endParaRPr lang="en-US" altLang="zh-CN" sz="3200" b="1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720725" indent="-720725"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 remain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ignorant of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the causes of this disease.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endParaRPr lang="en-US" altLang="zh-CN" sz="3200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20725" indent="-720725"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我们对这个疾病的起因仍然一无所知。</a:t>
            </a:r>
            <a:endParaRPr lang="en-US" altLang="zh-CN" sz="3200" b="1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7853" y="215297"/>
            <a:ext cx="11722126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Now, we scientists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it for granted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it is perfectly possible to live and not know. 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现在，我们科学家理所当然地认为，人类生而有所不知是完全有可能的。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 it for granted: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believe that something is true without making sure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想当然地认为，认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为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理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所当然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Her parents were always there and she just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took them for granted.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Arial Bold" panose="020B0704020202020204" charset="0"/>
                <a:sym typeface="+mn-ea"/>
              </a:rPr>
              <a:t>她的父母随时都出现在她身边，她却认为他们理应如此。</a:t>
            </a:r>
            <a:endParaRPr lang="en-US" altLang="zh-CN" sz="3200" b="1" dirty="0">
              <a:solidFill>
                <a:srgbClr val="FF0000"/>
              </a:solidFill>
              <a:latin typeface="Arial Bold" panose="020B0704020202020204" charset="0"/>
              <a:cs typeface="Times New Roman Bold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He just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took it for granted that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I would follow his advice.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(it 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形式宾语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52520" y="629752"/>
            <a:ext cx="11272193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【</a:t>
            </a:r>
            <a:r>
              <a:rPr lang="zh-CN" altLang="en-US" sz="3200" dirty="0">
                <a:solidFill>
                  <a:srgbClr val="0000FF"/>
                </a:solidFill>
              </a:rPr>
              <a:t>语境应用</a:t>
            </a:r>
            <a:r>
              <a:rPr lang="en-US" altLang="zh-CN" sz="3200" dirty="0">
                <a:solidFill>
                  <a:srgbClr val="0000FF"/>
                </a:solidFill>
              </a:rPr>
              <a:t>】</a:t>
            </a:r>
            <a:r>
              <a:rPr lang="zh-CN" altLang="en-US" sz="3200" dirty="0">
                <a:solidFill>
                  <a:srgbClr val="0000FF"/>
                </a:solidFill>
              </a:rPr>
              <a:t>完成句子。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1) He never praises his wife. He just ____________________.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    </a:t>
            </a:r>
            <a:r>
              <a:rPr lang="zh-CN" altLang="en-US" sz="3200" dirty="0"/>
              <a:t>他从不夸妻子，只是觉得她一切理当如此。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2) We all ______________________ they had completed their task.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    </a:t>
            </a:r>
            <a:r>
              <a:rPr lang="zh-CN" altLang="en-US" sz="3200" dirty="0"/>
              <a:t>我们都想当然地认为他们已经完成了他们的任务。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135560" y="2359160"/>
            <a:ext cx="4464050" cy="63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took it for granted that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Courier New" panose="02070609020205020404" pitchFamily="49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843576" y="1179604"/>
            <a:ext cx="4216221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takes her for granted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5360" y="4221088"/>
            <a:ext cx="11416209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3) Human beings __________________ (</a:t>
            </a:r>
            <a:r>
              <a:rPr lang="zh-CN" altLang="en-US" sz="3200" dirty="0"/>
              <a:t>以为它理所当然</a:t>
            </a:r>
            <a:r>
              <a:rPr lang="en-US" altLang="zh-CN" sz="3200" dirty="0"/>
              <a:t>) that their brains held all the solutions, but maybe their hearts can be a better guide.</a:t>
            </a:r>
            <a:endParaRPr lang="zh-CN" altLang="en-US" sz="3200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588075" y="4255354"/>
            <a:ext cx="354965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took it for granted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Courier New" panose="020706090202050204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6045" y="163830"/>
            <a:ext cx="12192000" cy="600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0850" indent="-450850">
              <a:lnSpc>
                <a:spcPct val="100000"/>
              </a:lnSpc>
              <a:tabLst>
                <a:tab pos="2628900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 to questions — to doubt — to not be sure.</a:t>
            </a:r>
          </a:p>
          <a:p>
            <a:pPr marL="450850" indent="-450850">
              <a:lnSpc>
                <a:spcPct val="100000"/>
              </a:lnSpc>
              <a:tabLst>
                <a:tab pos="2628900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允许我们质疑，怀疑，不确定。</a:t>
            </a:r>
          </a:p>
          <a:p>
            <a:pPr marL="0" inden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permit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 vi.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allow something to happen, especially by an official decision, rule, or law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允许，准许，许可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permit doing 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允许做某事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720725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permit sb. 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允许某人做某事</a:t>
            </a:r>
          </a:p>
          <a:p>
            <a:pPr marL="720725" indent="-720725">
              <a:lnSpc>
                <a:spcPct val="10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不被允许做某事</a:t>
            </a:r>
          </a:p>
          <a:p>
            <a:pPr marL="720725" indent="-720725">
              <a:lnSpc>
                <a:spcPct val="10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official written statement giving you the right to do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许可证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work / travel / residence permit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工作／旅游／居住许可证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54045" y="35147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sb be not permitted to do sth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8798" y="526449"/>
            <a:ext cx="11644496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-541655" fontAlgn="auto">
              <a:lnSpc>
                <a:spcPct val="120000"/>
              </a:lnSpc>
            </a:pPr>
            <a:r>
              <a:rPr lang="zh-CN" altLang="en-US" dirty="0"/>
              <a:t>不得携狗进入楼内。</a:t>
            </a:r>
            <a:endParaRPr lang="en-US" altLang="zh-CN" dirty="0"/>
          </a:p>
          <a:p>
            <a:pPr marL="0" indent="-541655" fontAlgn="auto">
              <a:lnSpc>
                <a:spcPct val="120000"/>
              </a:lnSpc>
            </a:pPr>
            <a:r>
              <a:rPr lang="en-US" altLang="zh-CN" dirty="0">
                <a:sym typeface="+mn-ea"/>
              </a:rPr>
              <a:t>Dogs are not  </a:t>
            </a:r>
            <a:endParaRPr lang="en-US" altLang="zh-CN" dirty="0"/>
          </a:p>
          <a:p>
            <a:pPr marL="0" indent="-541655" fontAlgn="auto">
              <a:lnSpc>
                <a:spcPct val="120000"/>
              </a:lnSpc>
            </a:pPr>
            <a:r>
              <a:rPr lang="zh-CN" altLang="en-US" dirty="0"/>
              <a:t>在我们的办公室里不准吸烟。</a:t>
            </a:r>
          </a:p>
          <a:p>
            <a:pPr marL="0" indent="-541655" fontAlgn="auto">
              <a:lnSpc>
                <a:spcPct val="120000"/>
              </a:lnSpc>
            </a:pPr>
            <a:r>
              <a:rPr lang="en-US" altLang="zh-CN" dirty="0">
                <a:sym typeface="+mn-ea"/>
              </a:rPr>
              <a:t>We do not  </a:t>
            </a:r>
            <a:endParaRPr lang="en-US" altLang="zh-CN" dirty="0"/>
          </a:p>
          <a:p>
            <a:pPr marL="0" indent="-541655" fontAlgn="auto">
              <a:lnSpc>
                <a:spcPct val="120000"/>
              </a:lnSpc>
            </a:pPr>
            <a:r>
              <a:rPr lang="zh-CN" altLang="en-US" dirty="0"/>
              <a:t>考试期间，我们不允许查字典。</a:t>
            </a:r>
          </a:p>
          <a:p>
            <a:pPr marL="0" indent="-541655" fontAlgn="auto">
              <a:lnSpc>
                <a:spcPct val="120000"/>
              </a:lnSpc>
            </a:pPr>
            <a:r>
              <a:rPr lang="en-US" altLang="zh-CN" dirty="0">
                <a:sym typeface="+mn-ea"/>
              </a:rPr>
              <a:t>We don’t </a:t>
            </a:r>
          </a:p>
          <a:p>
            <a:pPr marL="0" indent="-541655" fontAlgn="auto">
              <a:lnSpc>
                <a:spcPct val="120000"/>
              </a:lnSpc>
            </a:pPr>
            <a:r>
              <a:rPr lang="zh-CN" altLang="en-US" dirty="0"/>
              <a:t>作为惩罚，她不被允许参加学校的任何活动。</a:t>
            </a:r>
            <a:endParaRPr lang="en-US" altLang="zh-CN" dirty="0"/>
          </a:p>
          <a:p>
            <a:pPr marL="0" indent="-710565" fontAlgn="auto">
              <a:lnSpc>
                <a:spcPct val="120000"/>
              </a:lnSpc>
            </a:pPr>
            <a:r>
              <a:rPr lang="en-US" altLang="zh-CN" dirty="0"/>
              <a:t>As a punishment, </a:t>
            </a:r>
            <a:r>
              <a:rPr lang="en-US" altLang="zh-CN" dirty="0">
                <a:solidFill>
                  <a:srgbClr val="FF0000"/>
                </a:solidFill>
              </a:rPr>
              <a:t>she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was not permitted to attend </a:t>
            </a:r>
            <a:r>
              <a:rPr lang="en-US" altLang="zh-CN" dirty="0"/>
              <a:t>any school activities.  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489200" y="10966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permitted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in the building.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204720" y="22606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permit smoking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 the office.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038985" y="3419475"/>
            <a:ext cx="97193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1655" indent="-5416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permit referring to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dictionary during the exam.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9245" y="539115"/>
            <a:ext cx="1157287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0850" indent="-450850">
              <a:lnSpc>
                <a:spcPct val="130000"/>
              </a:lnSpc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541655" indent="-541655">
              <a:lnSpc>
                <a:spcPct val="120000"/>
              </a:lnSpc>
            </a:pPr>
            <a:r>
              <a:rPr lang="en-US" altLang="zh-CN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2)</a:t>
            </a:r>
            <a:r>
              <a:rPr lang="en-US" altLang="zh-CN" i="1" dirty="0">
                <a:sym typeface="+mn-ea"/>
              </a:rPr>
              <a:t> to make it possible for something to happen 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使有可能 </a:t>
            </a:r>
          </a:p>
          <a:p>
            <a:pPr marL="541655" indent="-541655">
              <a:lnSpc>
                <a:spcPct val="120000"/>
              </a:lnSpc>
            </a:pPr>
            <a:r>
              <a:rPr lang="zh-CN" altLang="en-US" dirty="0"/>
              <a:t>如果时间允许，我一定去拜访你。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dirty="0"/>
              <a:t>If </a:t>
            </a:r>
            <a:r>
              <a:rPr lang="en-US" altLang="zh-CN" dirty="0">
                <a:solidFill>
                  <a:srgbClr val="FF0000"/>
                </a:solidFill>
              </a:rPr>
              <a:t>time permits</a:t>
            </a:r>
            <a:r>
              <a:rPr lang="en-US" altLang="zh-CN" dirty="0"/>
              <a:t>, I’ll definitely pay you a visit.</a:t>
            </a:r>
          </a:p>
          <a:p>
            <a:pPr marL="541655" indent="-541655">
              <a:lnSpc>
                <a:spcPct val="120000"/>
              </a:lnSpc>
            </a:pPr>
            <a:r>
              <a:rPr lang="zh-CN" altLang="en-US" dirty="0"/>
              <a:t>改为分词做状语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dirty="0"/>
              <a:t>_______________, </a:t>
            </a:r>
            <a:r>
              <a:rPr lang="en-US" altLang="zh-CN" dirty="0">
                <a:sym typeface="+mn-ea"/>
              </a:rPr>
              <a:t>I’ll definitely pay you a visit.</a:t>
            </a:r>
          </a:p>
          <a:p>
            <a:pPr marL="541655" indent="-541655">
              <a:lnSpc>
                <a:spcPct val="120000"/>
              </a:lnSpc>
            </a:pPr>
            <a:endParaRPr lang="en-US" altLang="zh-CN" dirty="0">
              <a:sym typeface="+mn-ea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permission</a:t>
            </a:r>
            <a:r>
              <a:rPr lang="en-US" altLang="zh-CN" dirty="0">
                <a:sym typeface="+mn-ea"/>
              </a:rPr>
              <a:t> 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un.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准许，许可</a:t>
            </a:r>
            <a:endParaRPr lang="en-US" altLang="zh-CN" dirty="0">
              <a:sym typeface="+mn-ea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ask permission for sth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报请批准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have permission to do sth</a:t>
            </a:r>
            <a:r>
              <a:rPr lang="en-US" altLang="zh-CN" dirty="0"/>
              <a:t> </a:t>
            </a:r>
            <a:r>
              <a:rPr lang="zh-CN" altLang="en-US" dirty="0"/>
              <a:t>获得许可做某事</a:t>
            </a:r>
            <a:endParaRPr lang="en-US" altLang="zh-CN" dirty="0"/>
          </a:p>
          <a:p>
            <a:pPr marL="541655" indent="-541655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with / without permission</a:t>
            </a:r>
            <a:r>
              <a:rPr lang="en-US" altLang="zh-CN" dirty="0"/>
              <a:t> </a:t>
            </a:r>
            <a:r>
              <a:rPr lang="zh-CN" altLang="en-US" dirty="0"/>
              <a:t>（未）经某人同意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40690" y="2871470"/>
            <a:ext cx="31959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Time permitting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5475" y="565631"/>
            <a:ext cx="11543763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0850" indent="-450850">
              <a:lnSpc>
                <a:spcPct val="120000"/>
              </a:lnSpc>
              <a:tabLst>
                <a:tab pos="2628900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It is 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scientists, knowing the great progress that is the fruit of freedom of thought,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value of this freedom; to teach how doubt is not to be feared but to be welcomed and discussed; and to demand this freedom as our duty to all coming generations.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翻译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  <a:tabLst>
                <a:tab pos="262890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作为科学家，我们明白巨大进步源于思想自由，因此，我们有责任声明这一自由的价值；有责任教育人们不必害怕疑惑，而要欢迎疑惑、讨论疑惑；有责任强烈要求这一自由，这就是我们对后世的义务。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45110" y="0"/>
            <a:ext cx="1185481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responsibility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责任，义务</a:t>
            </a:r>
          </a:p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have responsibility for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..to do sth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做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某事的责任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take/assume responsibility for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承担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做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某事的责任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sense of responsibility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责任感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 on new responsibilities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承担新的责任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rights and responsibilities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权利和义务</a:t>
            </a:r>
          </a:p>
          <a:p>
            <a:pPr marL="627380" indent="-627380">
              <a:lnSpc>
                <a:spcPct val="120000"/>
              </a:lnSpc>
            </a:pPr>
            <a:r>
              <a:rPr lang="zh-CN" altLang="en-US" sz="3200" b="1" dirty="0">
                <a:latin typeface="Arial Bold" panose="020B0704020202020204" charset="0"/>
                <a:cs typeface="Times New Roman Regular" panose="02020603050405020304" charset="0"/>
                <a:sym typeface="+mn-ea"/>
              </a:rPr>
              <a:t>我们必须对自己的健康负责。</a:t>
            </a:r>
            <a:endParaRPr lang="en-US" altLang="zh-CN" sz="3200" b="1" dirty="0">
              <a:latin typeface="Arial Bold" panose="020B0704020202020204" charset="0"/>
              <a:cs typeface="Times New Roman Regular" panose="02020603050405020304" charset="0"/>
            </a:endParaRPr>
          </a:p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 need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take responsibility for looking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after our own health.</a:t>
            </a:r>
            <a:endParaRPr lang="en-US" altLang="zh-CN" sz="32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627380" indent="-627380"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你有责任通知我们任何变动。   </a:t>
            </a:r>
            <a:r>
              <a:rPr lang="zh-CN" altLang="en-US" sz="32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</a:t>
            </a:r>
            <a:r>
              <a:rPr lang="en-US" altLang="zh-CN" sz="32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</a:t>
            </a:r>
            <a:endParaRPr lang="en-US" altLang="zh-CN" sz="32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It's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responsibility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 inform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us of any changes.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183515"/>
            <a:ext cx="12192635" cy="6491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9525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declare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state officially and publicly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that a particular situation exists or that something is true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公布，宣布；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表明，宣称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government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declared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a state of emergency following the tsunami.</a:t>
            </a:r>
            <a:endParaRPr lang="en-US" altLang="zh-CN" sz="32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>
                <a:latin typeface="Arial Bold" panose="020B0704020202020204" charset="0"/>
                <a:sym typeface="+mn-ea"/>
              </a:rPr>
              <a:t>海啸过后，政府宣布进入紧急状态。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(+n.)</a:t>
            </a:r>
            <a:endParaRPr lang="zh-CN" altLang="en-US" sz="3200" b="1" dirty="0">
              <a:latin typeface="Arial Bold" panose="020B0704020202020204" charset="0"/>
              <a:sym typeface="+mn-ea"/>
            </a:endParaRPr>
          </a:p>
          <a:p>
            <a:pPr marL="541655" indent="-541655"/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court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declared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Brown's case should be reviewed.</a:t>
            </a: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04850" indent="-704850"/>
            <a:r>
              <a:rPr lang="zh-CN" altLang="en-US" sz="3200" b="1" dirty="0">
                <a:latin typeface="Arial Bold" panose="020B0704020202020204" charset="0"/>
                <a:sym typeface="+mn-ea"/>
              </a:rPr>
              <a:t>法庭</a:t>
            </a:r>
            <a:r>
              <a:rPr lang="zh-CN" altLang="en-US" sz="3200" b="1" u="sng" dirty="0">
                <a:latin typeface="Arial Bold" panose="020B0704020202020204" charset="0"/>
                <a:sym typeface="+mn-ea"/>
              </a:rPr>
              <a:t>宣布</a:t>
            </a:r>
            <a:r>
              <a:rPr lang="zh-CN" altLang="en-US" sz="3200" b="1" dirty="0">
                <a:latin typeface="Arial Bold" panose="020B0704020202020204" charset="0"/>
                <a:sym typeface="+mn-ea"/>
              </a:rPr>
              <a:t>要对布朗的案子进行复查。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(+that)</a:t>
            </a:r>
            <a:endParaRPr lang="zh-CN" altLang="en-US" sz="3200" b="1" dirty="0">
              <a:latin typeface="Arial Bold" panose="020B0704020202020204" charset="0"/>
              <a:sym typeface="+mn-ea"/>
            </a:endParaRPr>
          </a:p>
          <a:p>
            <a:pPr marL="0" indent="0"/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declared (to be) guilty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 (+adj.)</a:t>
            </a:r>
          </a:p>
          <a:p>
            <a:pPr marL="0" indent="0"/>
            <a:r>
              <a:rPr lang="zh-CN" altLang="en-US" sz="3200" b="1" dirty="0">
                <a:sym typeface="+mn-ea"/>
              </a:rPr>
              <a:t>我宣布这座大桥正式启用。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_________________________.</a:t>
            </a:r>
          </a:p>
          <a:p>
            <a:pPr marL="0" indent="0"/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(+n. + adj.)</a:t>
            </a:r>
          </a:p>
          <a:p>
            <a:pPr marL="0" indent="0"/>
            <a:endParaRPr lang="en-US" altLang="zh-CN" sz="3200" b="1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0" indent="0"/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Most people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declared for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peace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against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war.</a:t>
            </a:r>
            <a:endParaRPr lang="en-US" altLang="zh-CN" sz="32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541655" indent="-541655"/>
            <a:r>
              <a:rPr lang="zh-CN" altLang="en-US" sz="3200" b="1" dirty="0">
                <a:sym typeface="+mn-ea"/>
              </a:rPr>
              <a:t>大多数人声明拥护和平，反对战争。</a:t>
            </a:r>
            <a:endParaRPr lang="zh-CN" altLang="en-US" sz="3200" b="1" dirty="0">
              <a:solidFill>
                <a:srgbClr val="FF0000"/>
              </a:solidFill>
              <a:latin typeface="Arial Bold" panose="020B070402020202020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46395" y="4016375"/>
            <a:ext cx="46964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/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 declare this bridge open</a:t>
            </a:r>
            <a:endParaRPr lang="zh-CN" altLang="en-US" sz="3200" b="1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6224" y="1308298"/>
            <a:ext cx="10719516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【语境应用】翻译句子。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他们宣布他为获胜者。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这地区已宣布为国家公园。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他声称自己是无罪的。</a:t>
            </a:r>
          </a:p>
        </p:txBody>
      </p:sp>
      <p:sp>
        <p:nvSpPr>
          <p:cNvPr id="4" name="矩形 3"/>
          <p:cNvSpPr/>
          <p:nvPr/>
        </p:nvSpPr>
        <p:spPr>
          <a:xfrm>
            <a:off x="1057071" y="3712152"/>
            <a:ext cx="9154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ahoma" panose="020B0804030504040204" pitchFamily="34" charset="0"/>
              </a:rPr>
              <a:t>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area has been declared (to be) a national park.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72980" y="2529603"/>
            <a:ext cx="64649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declared him to be the winner.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72980" y="4933457"/>
            <a:ext cx="60960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declared that he was innocent.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declared himself innocent.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>
            <p:custDataLst>
              <p:tags r:id="rId1"/>
            </p:custDataLst>
          </p:nvPr>
        </p:nvSpPr>
        <p:spPr>
          <a:xfrm>
            <a:off x="245110" y="0"/>
            <a:ext cx="1185481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" indent="-952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demand v.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525" indent="-952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need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需要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这项运动既需要速度也需要体力。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This sport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demands 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both speed and strength.</a:t>
            </a:r>
          </a:p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ask sth firmly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强烈要求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demanded an immediate explanation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UN has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demanded that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all troops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withdrawn.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虚拟语气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 to see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the manager.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我坚决要求见经理。</a:t>
            </a:r>
          </a:p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“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Who are you?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”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he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demanded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angrily.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“你到底是谁？” 他气势汹汹地查问道。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>
            <p:custDataLst>
              <p:tags r:id="rId1"/>
            </p:custDataLst>
          </p:nvPr>
        </p:nvSpPr>
        <p:spPr>
          <a:xfrm>
            <a:off x="245110" y="0"/>
            <a:ext cx="1185481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" indent="-952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demand n.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525" indent="-9525"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</a:t>
            </a:r>
            <a:r>
              <a:rPr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 for</a:t>
            </a: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higher pay</a:t>
            </a:r>
          </a:p>
          <a:p>
            <a:pPr marL="9525" indent="-9525">
              <a:lnSpc>
                <a:spcPct val="120000"/>
              </a:lnSpc>
            </a:pPr>
            <a:r>
              <a:rPr sz="3200" b="1" dirty="0">
                <a:sym typeface="+mn-ea"/>
              </a:rPr>
              <a:t>增加工资的要求</a:t>
            </a:r>
          </a:p>
          <a:p>
            <a:pPr marL="9525" indent="-9525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meet/satisfy their customers' demand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(</a:t>
            </a:r>
            <a:r>
              <a:rPr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)</a:t>
            </a:r>
            <a:r>
              <a:rPr sz="3200" b="1" dirty="0">
                <a:sym typeface="+mn-ea"/>
              </a:rPr>
              <a:t> 满足</a:t>
            </a:r>
            <a:r>
              <a:rPr lang="zh-CN" sz="3200" b="1" dirty="0">
                <a:sym typeface="+mn-ea"/>
              </a:rPr>
              <a:t>顾客需求</a:t>
            </a:r>
          </a:p>
          <a:p>
            <a:pPr marL="9525" indent="-9525">
              <a:lnSpc>
                <a:spcPct val="120000"/>
              </a:lnSpc>
            </a:pPr>
            <a:r>
              <a:rPr 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There's an increased demand for</a:t>
            </a:r>
            <a:r>
              <a:rPr 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organic produce these days.</a:t>
            </a:r>
          </a:p>
          <a:p>
            <a:pPr marL="9525" indent="-9525">
              <a:lnSpc>
                <a:spcPct val="120000"/>
              </a:lnSpc>
            </a:pPr>
            <a:r>
              <a:rPr lang="zh-CN" sz="3200" b="1" dirty="0">
                <a:sym typeface="+mn-ea"/>
              </a:rPr>
              <a:t>目前对有机农产品有更大的需求。</a:t>
            </a:r>
          </a:p>
          <a:p>
            <a:pPr marL="9525" indent="-9525">
              <a:lnSpc>
                <a:spcPct val="120000"/>
              </a:lnSpc>
            </a:pPr>
            <a:endParaRPr lang="zh-CN" sz="3200" b="1" dirty="0">
              <a:sym typeface="+mn-ea"/>
            </a:endParaRPr>
          </a:p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demanding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adj.</a:t>
            </a:r>
          </a:p>
          <a:p>
            <a:pPr marL="9525" indent="-95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demanding boss 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一份需要体力的工作</a:t>
            </a:r>
          </a:p>
          <a:p>
            <a:pPr marL="9525" indent="-952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需要技巧的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797300" y="4702175"/>
            <a:ext cx="6096000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一个苛刻的老板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physically demanding job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technically demanding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2793</Words>
  <Application>Microsoft Macintosh PowerPoint</Application>
  <PresentationFormat>Widescreen</PresentationFormat>
  <Paragraphs>291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 Bold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Tahoma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435</cp:revision>
  <dcterms:created xsi:type="dcterms:W3CDTF">2024-05-13T04:29:34Z</dcterms:created>
  <dcterms:modified xsi:type="dcterms:W3CDTF">2026-07-22T14:27:02Z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1033-6.7.0.8823</vt:lpwstr>
  </property>
  <property fmtid="{D5CDD505-2E9C-101B-9397-08002B2CF9AE}" pid="3" name="ICV">
    <vt:lpwstr>F7A2F31C06294D8EA834D7F264442F42</vt:lpwstr>
  </property>
</Properties>
</file>