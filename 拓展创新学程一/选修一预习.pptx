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15" r:id="rId2"/>
    <p:sldId id="319" r:id="rId3"/>
    <p:sldId id="318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</p:sldIdLst>
  <p:sldSz cx="13004800" cy="9753600"/>
  <p:notesSz cx="6858000" cy="994727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43" autoAdjust="0"/>
  </p:normalViewPr>
  <p:slideViewPr>
    <p:cSldViewPr snapToGrid="0">
      <p:cViewPr varScale="1">
        <p:scale>
          <a:sx n="44" d="100"/>
          <a:sy n="44" d="100"/>
        </p:scale>
        <p:origin x="133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xfrm>
            <a:off x="914400" y="4724956"/>
            <a:ext cx="5029200" cy="447627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110809_FamilyChineseOahu_EN_02390_2880x1921.jpeg"/>
          <p:cNvSpPr>
            <a:spLocks noGrp="1"/>
          </p:cNvSpPr>
          <p:nvPr>
            <p:ph type="pic" sz="quarter" idx="21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110809_FamilyChineseOahu_EN_02016_981x654.jpeg"/>
          <p:cNvSpPr>
            <a:spLocks noGrp="1"/>
          </p:cNvSpPr>
          <p:nvPr>
            <p:ph type="pic" sz="quarter" idx="22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110809_FamilyChineseOahu_EN_00317_2040x1360.jpeg"/>
          <p:cNvSpPr>
            <a:spLocks noGrp="1"/>
          </p:cNvSpPr>
          <p:nvPr>
            <p:ph type="pic" idx="23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>
            <a:spLocks noGrp="1"/>
          </p:cNvSpPr>
          <p:nvPr>
            <p:ph type="body" sz="quarter" idx="22"/>
          </p:nvPr>
        </p:nvSpPr>
        <p:spPr>
          <a:xfrm>
            <a:off x="1270000" y="4222750"/>
            <a:ext cx="10464800" cy="774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“在此键入引文。”</a:t>
            </a:r>
          </a:p>
        </p:txBody>
      </p:sp>
      <p:sp>
        <p:nvSpPr>
          <p:cNvPr id="9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01"/>
          <p:cNvSpPr txBox="1">
            <a:spLocks noGrp="1"/>
          </p:cNvSpPr>
          <p:nvPr>
            <p:ph type="sldNum" sz="quarter" idx="2"/>
          </p:nvPr>
        </p:nvSpPr>
        <p:spPr>
          <a:xfrm>
            <a:off x="9320107" y="8882098"/>
            <a:ext cx="3034454" cy="389270"/>
          </a:xfrm>
          <a:prstGeom prst="rect">
            <a:avLst/>
          </a:prstGeom>
        </p:spPr>
        <p:txBody>
          <a:bodyPr wrap="square" lIns="65023" tIns="65023" rIns="65023" bIns="65023"/>
          <a:lstStyle>
            <a:lvl1pPr algn="r" defTabSz="914400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文本"/>
          <p:cNvSpPr txBox="1"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>
            <a:noAutofit/>
          </a:bodyPr>
          <a:lstStyle>
            <a:lvl1pPr defTabSz="914400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标题文本</a:t>
            </a:r>
          </a:p>
        </p:txBody>
      </p:sp>
      <p:sp>
        <p:nvSpPr>
          <p:cNvPr id="125" name="正文级别 1…"/>
          <p:cNvSpPr txBox="1"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>
            <a:noAutofit/>
          </a:bodyPr>
          <a:lstStyle>
            <a:lvl1pPr marL="471487" indent="-471487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marL="906235" indent="-449035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indent="-419100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marL="1874520" indent="-502920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marL="2331720" indent="-502920" defTabSz="914400">
              <a:spcBef>
                <a:spcPts val="700"/>
              </a:spcBef>
              <a:buSzPct val="100000"/>
              <a:buChar char="»"/>
              <a:defRPr sz="44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" name="01"/>
          <p:cNvSpPr txBox="1">
            <a:spLocks noGrp="1"/>
          </p:cNvSpPr>
          <p:nvPr>
            <p:ph type="sldNum" sz="quarter" idx="2"/>
          </p:nvPr>
        </p:nvSpPr>
        <p:spPr>
          <a:xfrm>
            <a:off x="9320107" y="8882098"/>
            <a:ext cx="3034454" cy="389270"/>
          </a:xfrm>
          <a:prstGeom prst="rect">
            <a:avLst/>
          </a:prstGeom>
        </p:spPr>
        <p:txBody>
          <a:bodyPr wrap="square" lIns="65023" tIns="65023" rIns="65023" bIns="65023"/>
          <a:lstStyle>
            <a:lvl1pPr algn="r" defTabSz="914400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1" r:id="rId10"/>
    <p:sldLayoutId id="2147483662" r:id="rId11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94DE-C351-A930-8E42-C54136AD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EE7A6FBC-E1CF-DFA4-92D4-385F58D2C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3"/>
            <a:ext cx="13004801" cy="6274052"/>
          </a:xfrm>
          <a:prstGeom prst="rect">
            <a:avLst/>
          </a:prstGeom>
        </p:spPr>
        <p:txBody>
          <a:bodyPr numCol="1" spcCol="457200">
            <a:norm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4200" dirty="0"/>
              <a:t>预习示例：</a:t>
            </a:r>
            <a:endParaRPr lang="en-US" altLang="zh-CN" sz="42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1. lie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1) lie</a:t>
            </a:r>
            <a:r>
              <a:rPr lang="zh-CN" altLang="en-US" sz="4200" dirty="0"/>
              <a:t> </a:t>
            </a:r>
            <a:r>
              <a:rPr lang="en-US" altLang="zh-CN" sz="4200" dirty="0"/>
              <a:t>on my back </a:t>
            </a:r>
            <a:r>
              <a:rPr lang="zh-CN" altLang="en-US" sz="4200" dirty="0"/>
              <a:t>仰卧</a:t>
            </a:r>
            <a:endParaRPr lang="en-US" altLang="zh-CN" sz="42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2) </a:t>
            </a:r>
            <a:r>
              <a:rPr lang="zh-CN" altLang="en-US" sz="4200" dirty="0"/>
              <a:t>☆</a:t>
            </a:r>
            <a:r>
              <a:rPr lang="en-US" altLang="zh-CN" sz="4200" dirty="0"/>
              <a:t>The problem </a:t>
            </a:r>
            <a:r>
              <a:rPr lang="en-US" altLang="zh-CN" sz="4200" u="sng" dirty="0"/>
              <a:t>lies in </a:t>
            </a:r>
            <a:r>
              <a:rPr lang="en-US" altLang="zh-CN" sz="4200" dirty="0"/>
              <a:t>deciding when to intervene. 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3) </a:t>
            </a:r>
            <a:r>
              <a:rPr lang="zh-CN" altLang="en-US" sz="4200" dirty="0"/>
              <a:t>△</a:t>
            </a:r>
            <a:r>
              <a:rPr lang="en-US" altLang="zh-CN" sz="4200" dirty="0"/>
              <a:t>The explorers were completely unaware of the dangers that </a:t>
            </a:r>
            <a:r>
              <a:rPr lang="en-US" altLang="zh-CN" sz="4200" u="sng" dirty="0"/>
              <a:t>lay in store </a:t>
            </a:r>
            <a:r>
              <a:rPr lang="en-US" altLang="zh-CN" sz="4200" dirty="0"/>
              <a:t>for them in the deep jungle.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p.p. lie, lay, lain; lie, lied, lied(</a:t>
            </a:r>
            <a:r>
              <a:rPr lang="zh-CN" altLang="en-US" sz="4200" dirty="0"/>
              <a:t>说谎</a:t>
            </a:r>
            <a:r>
              <a:rPr lang="en-US" altLang="zh-CN" sz="4200" dirty="0"/>
              <a:t>)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2. probe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200" dirty="0"/>
              <a:t>He didn’t like the media </a:t>
            </a:r>
            <a:r>
              <a:rPr lang="en-US" altLang="zh-CN" sz="4200" u="sng" dirty="0"/>
              <a:t>probing into </a:t>
            </a:r>
            <a:r>
              <a:rPr lang="en-US" altLang="zh-CN" sz="4200" dirty="0"/>
              <a:t>his past.</a:t>
            </a:r>
          </a:p>
        </p:txBody>
      </p:sp>
    </p:spTree>
    <p:extLst>
      <p:ext uri="{BB962C8B-B14F-4D97-AF65-F5344CB8AC3E}">
        <p14:creationId xmlns:p14="http://schemas.microsoft.com/office/powerpoint/2010/main" val="9924969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EECB-BC9A-980F-3505-1BD52C20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C1F1E650-9D33-97F4-6DD7-F8A460AD8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77880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4000" dirty="0">
                <a:solidFill>
                  <a:srgbClr val="FF0000"/>
                </a:solidFill>
              </a:rPr>
              <a:t>选修一</a:t>
            </a:r>
            <a:r>
              <a:rPr lang="en-US" altLang="zh-CN" sz="4000" dirty="0">
                <a:solidFill>
                  <a:srgbClr val="FF0000"/>
                </a:solidFill>
              </a:rPr>
              <a:t>U1</a:t>
            </a:r>
            <a:r>
              <a:rPr lang="zh-CN" altLang="en-US" sz="4000" dirty="0">
                <a:solidFill>
                  <a:srgbClr val="FF0000"/>
                </a:solidFill>
              </a:rPr>
              <a:t>整理：</a:t>
            </a:r>
            <a:endParaRPr lang="en-US" altLang="zh-CN" sz="4000" dirty="0">
              <a:solidFill>
                <a:srgbClr val="FF0000"/>
              </a:solidFill>
            </a:endParaRP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Reading: 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carve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lie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probe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remain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sink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evolve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capture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measure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pressure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avoid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scarce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have yet to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reveal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be fascinated by</a:t>
            </a:r>
            <a:r>
              <a:rPr lang="zh-CN" altLang="en-US" sz="4000" dirty="0"/>
              <a:t>同义替换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be far from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adapt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await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with </a:t>
            </a:r>
            <a:r>
              <a:rPr lang="en-US" altLang="zh-CN" sz="4000" dirty="0" err="1"/>
              <a:t>sth</a:t>
            </a:r>
            <a:r>
              <a:rPr lang="en-US" altLang="zh-CN" sz="4000" dirty="0"/>
              <a:t>. left to do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pave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341686431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07A8D-C977-672A-09CD-D0A7C238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C75382A0-33E5-EAB8-CB4A-A9B42D36A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Grammar: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leap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spin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motion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case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length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lay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may well/may as well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rotation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gravity/gravitation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apart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contribute to</a:t>
            </a:r>
            <a:r>
              <a:rPr lang="zh-CN" altLang="en-US" sz="4000" dirty="0"/>
              <a:t>同义替换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arise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alter</a:t>
            </a:r>
          </a:p>
        </p:txBody>
      </p:sp>
    </p:spTree>
    <p:extLst>
      <p:ext uri="{BB962C8B-B14F-4D97-AF65-F5344CB8AC3E}">
        <p14:creationId xmlns:p14="http://schemas.microsoft.com/office/powerpoint/2010/main" val="5256691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D71C-9FDA-0ABA-4257-804A2595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90C81320-9A56-B108-9015-D26D63280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Integrated skills: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debate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state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regard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distance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current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impact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measure/measurement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rise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296517673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70C9-59B3-E8D4-9AEA-E04FA614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DEB5B87-6906-B099-70A2-421949563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Extended reading: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rather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crack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drill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intense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close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cast light 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storage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pave (the way)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thrive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enlightening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innermost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leave behind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root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sweep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balance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401434367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9EAE8-1E03-BACC-DCCC-7591B72D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C372E999-2C66-320C-32E8-5DBCD21EE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8736698"/>
          </a:xfrm>
          <a:prstGeom prst="rect">
            <a:avLst/>
          </a:prstGeom>
        </p:spPr>
        <p:txBody>
          <a:bodyPr numCol="3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U2 Reading: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 err="1"/>
              <a:t>labour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rise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precision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spring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baking sun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collaboration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give rise to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reliable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equip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approach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remarkable</a:t>
            </a:r>
            <a:r>
              <a:rPr lang="zh-CN" altLang="en-US" sz="3600" dirty="0"/>
              <a:t>搭配</a:t>
            </a:r>
            <a:r>
              <a:rPr lang="en-US" altLang="zh-CN" sz="3600" dirty="0"/>
              <a:t>/</a:t>
            </a:r>
            <a:r>
              <a:rPr lang="zh-CN" altLang="en-US" sz="3600" dirty="0"/>
              <a:t>近义词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accuracy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aim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conserve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press/pressing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advent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measure/measurement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innovation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combination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massive</a:t>
            </a:r>
            <a:r>
              <a:rPr lang="zh-CN" altLang="en-US" sz="3600" dirty="0"/>
              <a:t>近义词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threat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boast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diverse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diagnose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identify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means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build up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picture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harvest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enormous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yield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simplify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distinguish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delicate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handle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spray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navigate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integration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push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take off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refreshing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contrast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concrete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obstacle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demand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scarce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overcome</a:t>
            </a:r>
          </a:p>
        </p:txBody>
      </p:sp>
    </p:spTree>
    <p:extLst>
      <p:ext uri="{BB962C8B-B14F-4D97-AF65-F5344CB8AC3E}">
        <p14:creationId xmlns:p14="http://schemas.microsoft.com/office/powerpoint/2010/main" val="28772684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04AC-334C-215D-797D-81F4B877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9BBBF52F-42B7-9DFC-E073-41E32326C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Grammar: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refer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refresh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suit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expand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thrive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intensive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abundance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empty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rely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primitive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standard/criteria</a:t>
            </a:r>
            <a:r>
              <a:rPr lang="zh-CN" altLang="en-US" sz="4000" dirty="0"/>
              <a:t>组词</a:t>
            </a:r>
            <a:r>
              <a:rPr lang="en-US" altLang="zh-CN" sz="4000" dirty="0"/>
              <a:t>/</a:t>
            </a:r>
            <a:r>
              <a:rPr lang="zh-CN" altLang="en-US" sz="4000" dirty="0"/>
              <a:t>句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adopt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drip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driving force</a:t>
            </a:r>
          </a:p>
        </p:txBody>
      </p:sp>
    </p:spTree>
    <p:extLst>
      <p:ext uri="{BB962C8B-B14F-4D97-AF65-F5344CB8AC3E}">
        <p14:creationId xmlns:p14="http://schemas.microsoft.com/office/powerpoint/2010/main" val="17452698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CE11-046E-371A-C4AF-A6C2E039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B6BD5EEA-9E0F-E700-2F11-493B3BADE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Integrated skills: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widespread</a:t>
            </a:r>
            <a:r>
              <a:rPr lang="zh-CN" altLang="en-US" sz="4000" dirty="0"/>
              <a:t>组词</a:t>
            </a:r>
            <a:r>
              <a:rPr lang="en-US" altLang="zh-CN" sz="4000" dirty="0"/>
              <a:t>/</a:t>
            </a:r>
            <a:r>
              <a:rPr lang="zh-CN" altLang="en-US" sz="4000" dirty="0"/>
              <a:t>句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fertile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damaging impacts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stand</a:t>
            </a:r>
            <a:r>
              <a:rPr lang="zh-CN" altLang="en-US" sz="4000" dirty="0"/>
              <a:t>词组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ultimately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release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It follows that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terms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break down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apart from</a:t>
            </a:r>
            <a:r>
              <a:rPr lang="zh-CN" altLang="en-US" sz="4000" dirty="0"/>
              <a:t>同义替换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decline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alarmingly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due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awareness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v. one’s way…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threaten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acknowledge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weigh</a:t>
            </a:r>
          </a:p>
        </p:txBody>
      </p:sp>
    </p:spTree>
    <p:extLst>
      <p:ext uri="{BB962C8B-B14F-4D97-AF65-F5344CB8AC3E}">
        <p14:creationId xmlns:p14="http://schemas.microsoft.com/office/powerpoint/2010/main" val="19501253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D1DE-7F86-04E0-A47E-5FD9BEB9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63481A5-FA42-F897-A929-E90E12A1F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6987908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Extended reading: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originate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conquer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extent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legend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come across</a:t>
            </a:r>
            <a:r>
              <a:rPr lang="zh-CN" altLang="en-US" sz="4000" dirty="0"/>
              <a:t>同义替换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refresh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noble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embrace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inspire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reveal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enormous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popularity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deliver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sum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contemplation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steep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maturity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extend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exclusion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regard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>
                <a:solidFill>
                  <a:srgbClr val="FF0000"/>
                </a:solidFill>
              </a:rPr>
              <a:t>Project:</a:t>
            </a:r>
            <a:endParaRPr lang="en-US" altLang="zh-CN" sz="40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innovation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4000" dirty="0"/>
              <a:t>cultivation</a:t>
            </a:r>
          </a:p>
        </p:txBody>
      </p:sp>
    </p:spTree>
    <p:extLst>
      <p:ext uri="{BB962C8B-B14F-4D97-AF65-F5344CB8AC3E}">
        <p14:creationId xmlns:p14="http://schemas.microsoft.com/office/powerpoint/2010/main" val="39037908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803B-B985-0363-FABB-AFFE9DC7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DA37E036-3609-E4D3-B807-189C5CB44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7740655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U3 Reading: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casual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glance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grand</a:t>
            </a:r>
            <a:r>
              <a:rPr lang="zh-CN" altLang="en-US" sz="3600" dirty="0"/>
              <a:t>近义词分别造词或句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ease v.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revolution/ revolve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evolution/ evolve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capture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identify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instruct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accelerate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brake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line</a:t>
            </a:r>
            <a:r>
              <a:rPr lang="zh-CN" altLang="en-US" sz="3600" dirty="0"/>
              <a:t>词组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perceive/perception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ahead</a:t>
            </a:r>
            <a:r>
              <a:rPr lang="zh-CN" altLang="en-US" sz="3600" dirty="0"/>
              <a:t> </a:t>
            </a:r>
            <a:r>
              <a:rPr lang="en-US" altLang="zh-CN" sz="3600" dirty="0"/>
              <a:t>of</a:t>
            </a:r>
            <a:r>
              <a:rPr lang="zh-CN" altLang="en-US" sz="3600" dirty="0"/>
              <a:t> </a:t>
            </a:r>
            <a:r>
              <a:rPr lang="en-US" altLang="zh-CN" sz="3600" dirty="0"/>
              <a:t>time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pose</a:t>
            </a:r>
            <a:r>
              <a:rPr lang="zh-CN" altLang="en-US" sz="3600" dirty="0"/>
              <a:t>宾语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dilemma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resolve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confront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fuel</a:t>
            </a:r>
            <a:r>
              <a:rPr lang="zh-CN" altLang="en-US" sz="3600" dirty="0"/>
              <a:t>宾语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fault</a:t>
            </a:r>
            <a:r>
              <a:rPr lang="zh-CN" altLang="en-US" sz="3600" dirty="0"/>
              <a:t>词组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cautious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bound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vision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exchange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tailor</a:t>
            </a:r>
          </a:p>
        </p:txBody>
      </p:sp>
    </p:spTree>
    <p:extLst>
      <p:ext uri="{BB962C8B-B14F-4D97-AF65-F5344CB8AC3E}">
        <p14:creationId xmlns:p14="http://schemas.microsoft.com/office/powerpoint/2010/main" val="37120205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BF48-4CA8-F7F6-6E2C-5E5A6833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A59E1805-995D-FF05-FE4C-35B65C0ED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8067227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>
                <a:solidFill>
                  <a:srgbClr val="FF0000"/>
                </a:solidFill>
              </a:rPr>
              <a:t>Grammar: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mushroom v.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tackle</a:t>
            </a:r>
            <a:r>
              <a:rPr lang="zh-CN" altLang="en-US" sz="3600" dirty="0"/>
              <a:t>近义词</a:t>
            </a:r>
            <a:r>
              <a:rPr lang="en-US" altLang="zh-CN" sz="3600" dirty="0"/>
              <a:t>(</a:t>
            </a:r>
            <a:r>
              <a:rPr lang="zh-CN" altLang="en-US" sz="3600" dirty="0"/>
              <a:t>组</a:t>
            </a:r>
            <a:r>
              <a:rPr lang="en-US" altLang="zh-CN" sz="3600" dirty="0"/>
              <a:t>)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cater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faith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domestic</a:t>
            </a:r>
            <a:r>
              <a:rPr lang="zh-CN" altLang="en-US" sz="3600" dirty="0"/>
              <a:t>词组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upgrade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shake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frustration (+</a:t>
            </a:r>
            <a:r>
              <a:rPr lang="zh-CN" altLang="en-US" sz="3600" dirty="0"/>
              <a:t>近义词</a:t>
            </a:r>
            <a:r>
              <a:rPr lang="en-US" altLang="zh-CN" sz="3600" dirty="0"/>
              <a:t>)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employ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peak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stick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emission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replace/displace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>
                <a:solidFill>
                  <a:srgbClr val="FF0000"/>
                </a:solidFill>
              </a:rPr>
              <a:t>Integrated skills: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speak</a:t>
            </a:r>
            <a:r>
              <a:rPr lang="zh-CN" altLang="en-US" sz="3600" dirty="0"/>
              <a:t>词组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estimate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concentrate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distract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blink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consume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likely/likelihood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allow/allowance</a:t>
            </a:r>
            <a:r>
              <a:rPr lang="zh-CN" altLang="en-US" sz="3600" dirty="0"/>
              <a:t>词组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overturn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alert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severity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stare (+</a:t>
            </a:r>
            <a:r>
              <a:rPr lang="zh-CN" altLang="en-US" sz="3600" dirty="0"/>
              <a:t>各种看</a:t>
            </a:r>
            <a:r>
              <a:rPr lang="en-US" altLang="zh-CN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41649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1723-8499-18AD-FFDD-99CD1974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821C805B-2049-12DA-B008-2B25A6FE7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8633284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>
                <a:solidFill>
                  <a:srgbClr val="FF0000"/>
                </a:solidFill>
              </a:rPr>
              <a:t>Extended reading: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glide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hiss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anticipation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depart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swift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content/contented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operation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hurdle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debut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total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superior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revive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shine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track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>
                <a:solidFill>
                  <a:srgbClr val="FF0000"/>
                </a:solidFill>
              </a:rPr>
              <a:t>Project:</a:t>
            </a: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ground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flow</a:t>
            </a:r>
          </a:p>
        </p:txBody>
      </p:sp>
    </p:spTree>
    <p:extLst>
      <p:ext uri="{BB962C8B-B14F-4D97-AF65-F5344CB8AC3E}">
        <p14:creationId xmlns:p14="http://schemas.microsoft.com/office/powerpoint/2010/main" val="100899755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374C-3A5C-6827-7FCA-46A44C30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C3B716F0-0A8E-1C4B-00EA-73EB5BCBB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7740655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U4 </a:t>
            </a:r>
            <a:r>
              <a:rPr lang="en-US" altLang="zh-CN" sz="3600" dirty="0" err="1">
                <a:solidFill>
                  <a:srgbClr val="FF0000"/>
                </a:solidFill>
              </a:rPr>
              <a:t>Welcome+Reading</a:t>
            </a:r>
            <a:r>
              <a:rPr lang="en-US" altLang="zh-CN" sz="3600" dirty="0">
                <a:solidFill>
                  <a:srgbClr val="FF0000"/>
                </a:solidFill>
              </a:rPr>
              <a:t>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twinkle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steady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horizon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fragrant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release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invisible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compose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expose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core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blend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invade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foothold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digest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stress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nerve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interaction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suspect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isolation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inject</a:t>
            </a:r>
          </a:p>
        </p:txBody>
      </p:sp>
    </p:spTree>
    <p:extLst>
      <p:ext uri="{BB962C8B-B14F-4D97-AF65-F5344CB8AC3E}">
        <p14:creationId xmlns:p14="http://schemas.microsoft.com/office/powerpoint/2010/main" val="185517898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44E9-20EA-AC43-4269-C74CDBC7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87ECA31-43F7-67A7-870A-EFA3B8231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7740655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U4 Grammar: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fascination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individual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attempt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attach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triumph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miracle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repeat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accumulate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route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encounter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U4 Inte: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resist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roll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slide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witness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expand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shoot</a:t>
            </a:r>
          </a:p>
        </p:txBody>
      </p:sp>
    </p:spTree>
    <p:extLst>
      <p:ext uri="{BB962C8B-B14F-4D97-AF65-F5344CB8AC3E}">
        <p14:creationId xmlns:p14="http://schemas.microsoft.com/office/powerpoint/2010/main" val="39047409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E624-5A9A-DCA7-7621-F725C9D4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46852BBA-ABE2-6F3C-074D-19281ACFB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7740655"/>
          </a:xfrm>
          <a:prstGeom prst="rect">
            <a:avLst/>
          </a:prstGeom>
        </p:spPr>
        <p:txBody>
          <a:bodyPr numCol="2" spcCol="457200">
            <a:noAutofit/>
          </a:bodyPr>
          <a:lstStyle/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U4 Ext: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nature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imitate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engage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stimulate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observe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mirror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position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diverse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intensify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inset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bear v.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600" dirty="0"/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600" dirty="0">
                <a:solidFill>
                  <a:srgbClr val="FF0000"/>
                </a:solidFill>
              </a:rPr>
              <a:t>选修一</a:t>
            </a:r>
            <a:r>
              <a:rPr lang="en-US" altLang="zh-CN" sz="3600" dirty="0">
                <a:solidFill>
                  <a:srgbClr val="FF0000"/>
                </a:solidFill>
              </a:rPr>
              <a:t>U4 Project: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hook</a:t>
            </a:r>
          </a:p>
          <a:p>
            <a:pPr marL="0" indent="0" defTabSz="1222432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600" dirty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66597695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4421</TotalTime>
  <Words>550</Words>
  <Application>Microsoft Office PowerPoint</Application>
  <PresentationFormat>自定义</PresentationFormat>
  <Paragraphs>310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Helvetica Light</vt:lpstr>
      <vt:lpstr>Helvetica Neue</vt:lpstr>
      <vt:lpstr>Arial</vt:lpstr>
      <vt:lpstr>Helvetica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丹 杨</cp:lastModifiedBy>
  <cp:revision>36</cp:revision>
  <cp:lastPrinted>2025-09-04T23:06:53Z</cp:lastPrinted>
  <dcterms:modified xsi:type="dcterms:W3CDTF">2025-12-20T06:44:13Z</dcterms:modified>
</cp:coreProperties>
</file>