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6858000"/>
  <p:notesSz cx="6858000" cy="9144000"/>
  <p:defaultTextStyle>
    <a:lvl1pPr>
      <a:defRPr>
        <a:latin typeface="Calibri"/>
        <a:ea typeface="Calibri"/>
        <a:cs typeface="Calibri"/>
        <a:sym typeface="Calibri"/>
      </a:defRPr>
    </a:lvl1pPr>
    <a:lvl2pPr indent="457200">
      <a:defRPr>
        <a:latin typeface="Calibri"/>
        <a:ea typeface="Calibri"/>
        <a:cs typeface="Calibri"/>
        <a:sym typeface="Calibri"/>
      </a:defRPr>
    </a:lvl2pPr>
    <a:lvl3pPr indent="914400">
      <a:defRPr>
        <a:latin typeface="Calibri"/>
        <a:ea typeface="Calibri"/>
        <a:cs typeface="Calibri"/>
        <a:sym typeface="Calibri"/>
      </a:defRPr>
    </a:lvl3pPr>
    <a:lvl4pPr indent="1371600">
      <a:defRPr>
        <a:latin typeface="Calibri"/>
        <a:ea typeface="Calibri"/>
        <a:cs typeface="Calibri"/>
        <a:sym typeface="Calibri"/>
      </a:defRPr>
    </a:lvl4pPr>
    <a:lvl5pPr indent="1828800">
      <a:defRPr>
        <a:latin typeface="Calibri"/>
        <a:ea typeface="Calibri"/>
        <a:cs typeface="Calibri"/>
        <a:sym typeface="Calibri"/>
      </a:defRPr>
    </a:lvl5pPr>
    <a:lvl6pPr indent="2286000">
      <a:defRPr>
        <a:latin typeface="Calibri"/>
        <a:ea typeface="Calibri"/>
        <a:cs typeface="Calibri"/>
        <a:sym typeface="Calibri"/>
      </a:defRPr>
    </a:lvl6pPr>
    <a:lvl7pPr indent="2743200">
      <a:defRPr>
        <a:latin typeface="Calibri"/>
        <a:ea typeface="Calibri"/>
        <a:cs typeface="Calibri"/>
        <a:sym typeface="Calibri"/>
      </a:defRPr>
    </a:lvl7pPr>
    <a:lvl8pPr indent="3200400">
      <a:defRPr>
        <a:latin typeface="Calibri"/>
        <a:ea typeface="Calibri"/>
        <a:cs typeface="Calibri"/>
        <a:sym typeface="Calibri"/>
      </a:defRPr>
    </a:lvl8pPr>
    <a:lvl9pPr indent="3657600">
      <a:defRPr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64" name="Shape 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the potential for (doing) sth. (做)某事的潜力/可能性</a:t>
            </a:r>
            <a:endParaRPr sz="2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83" name="Shape 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path to freedom/independence</a:t>
            </a:r>
            <a:endParaRPr sz="2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go in a direction/ result in sth</a:t>
            </a:r>
            <a:endParaRPr sz="2200"/>
          </a:p>
          <a:p>
            <a:pPr lvl="0">
              <a:defRPr sz="1800"/>
            </a:pPr>
            <a:r>
              <a:rPr sz="2200"/>
              <a:t>容易被带坏 (be easily persuaded to do sth bad)</a:t>
            </a:r>
            <a:endParaRPr sz="2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91" name="Shape 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他们一下午成功接待了80名小学生。</a:t>
            </a:r>
            <a:endParaRPr sz="2200"/>
          </a:p>
          <a:p>
            <a:pPr lvl="0">
              <a:defRPr sz="1800"/>
            </a:pPr>
            <a:r>
              <a:rPr sz="2200"/>
              <a:t>此次罢工对政府提出了严重的质疑。 </a:t>
            </a:r>
            <a:endParaRPr sz="2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Mike硬逼着要和我下盘棋。</a:t>
            </a:r>
            <a:endParaRPr sz="2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creative, independent, innovative, original</a:t>
            </a:r>
            <a:endParaRPr sz="2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109" name="Shape 1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采取积极措施</a:t>
            </a:r>
            <a:endParaRPr sz="2200"/>
          </a:p>
          <a:p>
            <a:pPr lvl="0">
              <a:defRPr sz="1800"/>
            </a:pPr>
            <a:r>
              <a:rPr sz="2200"/>
              <a:t>要求采取积极行动。</a:t>
            </a:r>
            <a:endParaRPr sz="2200"/>
          </a:p>
          <a:p>
            <a:pPr lvl="0">
              <a:defRPr sz="1800"/>
            </a:pPr>
            <a:r>
              <a:rPr sz="2200"/>
              <a:t>积极的回应</a:t>
            </a:r>
            <a:endParaRPr sz="2200"/>
          </a:p>
          <a:p>
            <a:pPr lvl="0">
              <a:defRPr sz="1800"/>
            </a:pPr>
            <a:r>
              <a:rPr sz="2200"/>
              <a:t>积极反馈</a:t>
            </a:r>
            <a:endParaRPr sz="2200"/>
          </a:p>
          <a:p>
            <a:pPr lvl="0">
              <a:defRPr sz="1800"/>
            </a:pPr>
            <a:r>
              <a:rPr sz="2200"/>
              <a:t>予以充分肯定</a:t>
            </a:r>
            <a:endParaRPr sz="2200"/>
          </a:p>
          <a:p>
            <a:pPr lvl="0">
              <a:defRPr sz="1800"/>
            </a:pPr>
            <a:r>
              <a:rPr sz="2200"/>
              <a:t>好迹象</a:t>
            </a:r>
            <a:endParaRPr sz="2200"/>
          </a:p>
          <a:p>
            <a:pPr lvl="0">
              <a:defRPr sz="1800"/>
            </a:pPr>
            <a:r>
              <a:rPr sz="2200"/>
              <a:t>明确的证明/确凿的证据</a:t>
            </a:r>
            <a:endParaRPr sz="2200"/>
          </a:p>
          <a:p>
            <a:pPr lvl="0">
              <a:defRPr sz="1800"/>
            </a:pPr>
            <a:endParaRPr sz="2200"/>
          </a:p>
          <a:p>
            <a:pPr lvl="0">
              <a:defRPr sz="1800"/>
            </a:pPr>
            <a:r>
              <a:rPr sz="2200"/>
              <a:t>There was no positive evidence that </a:t>
            </a:r>
            <a:r>
              <a:rPr lang="en-US" sz="2200"/>
              <a:t>being overweight is related with genes</a:t>
            </a:r>
            <a:endParaRPr lang="en-US" sz="2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129" name="Shape 1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salary paid before usual time</a:t>
            </a:r>
            <a:endParaRPr sz="2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140" name="Shape 1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向前移动</a:t>
            </a:r>
            <a:endParaRPr sz="2200"/>
          </a:p>
          <a:p>
            <a:pPr lvl="0">
              <a:defRPr sz="1800"/>
            </a:pPr>
            <a:r>
              <a:rPr sz="2200"/>
              <a:t>促进，推动</a:t>
            </a:r>
            <a:endParaRPr sz="2200"/>
          </a:p>
          <a:p>
            <a:pPr lvl="0">
              <a:defRPr sz="1800"/>
            </a:pPr>
            <a:r>
              <a:rPr sz="2200"/>
              <a:t>提出</a:t>
            </a:r>
            <a:endParaRPr sz="2200"/>
          </a:p>
          <a:p>
            <a:pPr lvl="0">
              <a:defRPr sz="1800"/>
            </a:pPr>
            <a:r>
              <a:rPr sz="2200"/>
              <a:t>预付</a:t>
            </a:r>
            <a:endParaRPr sz="2200"/>
          </a:p>
          <a:p>
            <a:pPr lvl="0">
              <a:defRPr sz="1800"/>
            </a:pPr>
            <a:r>
              <a:rPr sz="2200"/>
              <a:t>前进</a:t>
            </a:r>
            <a:endParaRPr sz="2200"/>
          </a:p>
          <a:p>
            <a:pPr lvl="0">
              <a:defRPr sz="1800"/>
            </a:pPr>
            <a:r>
              <a:rPr sz="2200"/>
              <a:t>发展，进步</a:t>
            </a:r>
            <a:endParaRPr sz="2200"/>
          </a:p>
          <a:p>
            <a:pPr lvl="0">
              <a:defRPr sz="1800"/>
            </a:pPr>
            <a:r>
              <a:rPr sz="2200"/>
              <a:t>提前</a:t>
            </a:r>
            <a:endParaRPr sz="2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163" name="Shape 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catch/throw sb off balance 使（毫无准备）不知所措</a:t>
            </a:r>
            <a:endParaRPr sz="2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200"/>
              <a:t>On the floor are piles of books.</a:t>
            </a:r>
            <a:endParaRPr sz="2200"/>
          </a:p>
          <a:p>
            <a:pPr lvl="0">
              <a:defRPr sz="1800"/>
            </a:pPr>
            <a:r>
              <a:rPr sz="2200"/>
              <a:t>Here comes the bus.</a:t>
            </a:r>
            <a:endParaRPr sz="2200"/>
          </a:p>
          <a:p>
            <a:pPr lvl="0">
              <a:defRPr sz="1800"/>
            </a:pPr>
            <a:r>
              <a:rPr sz="2200"/>
              <a:t>There remained one question.</a:t>
            </a:r>
            <a:endParaRPr sz="2200"/>
          </a:p>
          <a:p>
            <a:pPr lvl="0">
              <a:defRPr sz="1800"/>
            </a:pPr>
            <a:r>
              <a:rPr sz="2200"/>
              <a:t>Away went the dog./ Away he went.</a:t>
            </a:r>
            <a:endParaRPr sz="2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/>
          <p:nvPr>
            <p:ph type="title" hasCustomPrompt="1"/>
          </p:nvPr>
        </p:nvSpPr>
        <p:spPr>
          <a:xfrm>
            <a:off x="685800" y="1844675"/>
            <a:ext cx="7772400" cy="204152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7" name="Shape 7"/>
          <p:cNvSpPr/>
          <p:nvPr>
            <p:ph type="body" idx="1" hasCustomPrompt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88888"/>
                </a:solidFill>
              </a:rPr>
              <a:t>正文级别 1</a:t>
            </a:r>
            <a:endParaRPr sz="3200">
              <a:solidFill>
                <a:srgbClr val="888888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88888"/>
                </a:solidFill>
              </a:rPr>
              <a:t>正文级别 2</a:t>
            </a:r>
            <a:endParaRPr sz="3200">
              <a:solidFill>
                <a:srgbClr val="888888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88888"/>
                </a:solidFill>
              </a:rPr>
              <a:t>正文级别 3</a:t>
            </a:r>
            <a:endParaRPr sz="3200">
              <a:solidFill>
                <a:srgbClr val="888888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88888"/>
                </a:solidFill>
              </a:rPr>
              <a:t>正文级别 4</a:t>
            </a:r>
            <a:endParaRPr sz="3200">
              <a:solidFill>
                <a:srgbClr val="888888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888888"/>
                </a:solidFill>
              </a:rPr>
              <a:t>正文级别 5</a:t>
            </a:r>
            <a:endParaRPr sz="3200">
              <a:solidFill>
                <a:srgbClr val="888888"/>
              </a:solidFill>
            </a:endParaRPr>
          </a:p>
        </p:txBody>
      </p:sp>
      <p:sp>
        <p:nvSpPr>
          <p:cNvPr id="8" name="Shape 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11" name="Shape 11"/>
          <p:cNvSpPr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  <a:endParaRPr sz="3200"/>
          </a:p>
          <a:p>
            <a:pPr lvl="1">
              <a:defRPr sz="1800"/>
            </a:pPr>
            <a:r>
              <a:rPr sz="3200"/>
              <a:t>正文级别 2</a:t>
            </a:r>
            <a:endParaRPr sz="3200"/>
          </a:p>
          <a:p>
            <a:pPr lvl="2">
              <a:defRPr sz="1800"/>
            </a:pPr>
            <a:r>
              <a:rPr sz="3200"/>
              <a:t>正文级别 3</a:t>
            </a:r>
            <a:endParaRPr sz="3200"/>
          </a:p>
          <a:p>
            <a:pPr lvl="3">
              <a:defRPr sz="1800"/>
            </a:pPr>
            <a:r>
              <a:rPr sz="3200"/>
              <a:t>正文级别 4</a:t>
            </a:r>
            <a:endParaRPr sz="3200"/>
          </a:p>
          <a:p>
            <a:pPr lvl="4">
              <a:defRPr sz="1800"/>
            </a:pPr>
            <a:r>
              <a:rPr sz="3200"/>
              <a:t>正文级别 5</a:t>
            </a:r>
            <a:endParaRPr sz="3200"/>
          </a:p>
        </p:txBody>
      </p:sp>
      <p:sp>
        <p:nvSpPr>
          <p:cNvPr id="12" name="Shape 1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>
            <p:ph type="title" hasCustomPrompt="1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 sz="1800" b="0" cap="none"/>
            </a:pPr>
            <a:r>
              <a:rPr sz="4000" b="1" cap="all"/>
              <a:t>标题文本</a:t>
            </a:r>
            <a:endParaRPr sz="4000" b="1" cap="all"/>
          </a:p>
        </p:txBody>
      </p:sp>
      <p:sp>
        <p:nvSpPr>
          <p:cNvPr id="15" name="Shape 15"/>
          <p:cNvSpPr/>
          <p:nvPr>
            <p:ph type="body" idx="1" hasCustomPrompt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888888"/>
                </a:solidFill>
              </a:rPr>
              <a:t>正文级别 1</a:t>
            </a:r>
            <a:endParaRPr sz="2000">
              <a:solidFill>
                <a:srgbClr val="888888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888888"/>
                </a:solidFill>
              </a:rPr>
              <a:t>正文级别 2</a:t>
            </a:r>
            <a:endParaRPr sz="2000">
              <a:solidFill>
                <a:srgbClr val="888888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888888"/>
                </a:solidFill>
              </a:rPr>
              <a:t>正文级别 3</a:t>
            </a:r>
            <a:endParaRPr sz="2000">
              <a:solidFill>
                <a:srgbClr val="888888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888888"/>
                </a:solidFill>
              </a:rPr>
              <a:t>正文级别 4</a:t>
            </a:r>
            <a:endParaRPr sz="2000">
              <a:solidFill>
                <a:srgbClr val="888888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888888"/>
                </a:solidFill>
              </a:rPr>
              <a:t>正文级别 5</a:t>
            </a:r>
            <a:endParaRPr sz="2000">
              <a:solidFill>
                <a:srgbClr val="888888"/>
              </a:solidFill>
            </a:endParaRPr>
          </a:p>
        </p:txBody>
      </p:sp>
      <p:sp>
        <p:nvSpPr>
          <p:cNvPr id="16" name="Shape 1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19" name="Shape 19"/>
          <p:cNvSpPr/>
          <p:nvPr>
            <p:ph type="body" idx="1" hasCustomPrompt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正文级别 1</a:t>
            </a:r>
            <a:endParaRPr sz="2800"/>
          </a:p>
          <a:p>
            <a:pPr lvl="1">
              <a:defRPr sz="1800"/>
            </a:pPr>
            <a:r>
              <a:rPr sz="2800"/>
              <a:t>正文级别 2</a:t>
            </a:r>
            <a:endParaRPr sz="2800"/>
          </a:p>
          <a:p>
            <a:pPr lvl="2">
              <a:defRPr sz="1800"/>
            </a:pPr>
            <a:r>
              <a:rPr sz="2800"/>
              <a:t>正文级别 3</a:t>
            </a:r>
            <a:endParaRPr sz="2800"/>
          </a:p>
          <a:p>
            <a:pPr lvl="3">
              <a:defRPr sz="1800"/>
            </a:pPr>
            <a:r>
              <a:rPr sz="2800"/>
              <a:t>正文级别 4</a:t>
            </a:r>
            <a:endParaRPr sz="2800"/>
          </a:p>
          <a:p>
            <a:pPr lvl="4">
              <a:defRPr sz="1800"/>
            </a:pPr>
            <a:r>
              <a:rPr sz="2800"/>
              <a:t>正文级别 5</a:t>
            </a:r>
            <a:endParaRPr sz="2800"/>
          </a:p>
        </p:txBody>
      </p:sp>
      <p:sp>
        <p:nvSpPr>
          <p:cNvPr id="20" name="Shape 2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title" hasCustomPrompt="1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23" name="Shape 23"/>
          <p:cNvSpPr/>
          <p:nvPr>
            <p:ph type="body" idx="1" hasCustomPrompt="1"/>
          </p:nvPr>
        </p:nvSpPr>
        <p:spPr>
          <a:xfrm>
            <a:off x="457200" y="1435465"/>
            <a:ext cx="4040188" cy="73941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 lvl="0">
              <a:defRPr sz="1800" b="0"/>
            </a:pPr>
            <a:r>
              <a:rPr sz="2400" b="1"/>
              <a:t>正文级别 1</a:t>
            </a:r>
            <a:endParaRPr sz="2400" b="1"/>
          </a:p>
          <a:p>
            <a:pPr lvl="1">
              <a:defRPr sz="1800" b="0"/>
            </a:pPr>
            <a:r>
              <a:rPr sz="2400" b="1"/>
              <a:t>正文级别 2</a:t>
            </a:r>
            <a:endParaRPr sz="2400" b="1"/>
          </a:p>
          <a:p>
            <a:pPr lvl="2">
              <a:defRPr sz="1800" b="0"/>
            </a:pPr>
            <a:r>
              <a:rPr sz="2400" b="1"/>
              <a:t>正文级别 3</a:t>
            </a:r>
            <a:endParaRPr sz="2400" b="1"/>
          </a:p>
          <a:p>
            <a:pPr lvl="3">
              <a:defRPr sz="1800" b="0"/>
            </a:pPr>
            <a:r>
              <a:rPr sz="2400" b="1"/>
              <a:t>正文级别 4</a:t>
            </a:r>
            <a:endParaRPr sz="2400" b="1"/>
          </a:p>
          <a:p>
            <a:pPr lvl="4">
              <a:defRPr sz="1800" b="0"/>
            </a:pPr>
            <a:r>
              <a:rPr sz="2400" b="1"/>
              <a:t>正文级别 5</a:t>
            </a:r>
            <a:endParaRPr sz="2400" b="1"/>
          </a:p>
        </p:txBody>
      </p:sp>
      <p:sp>
        <p:nvSpPr>
          <p:cNvPr id="24" name="Shape 2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27" name="Shape 2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title" hasCustomPrompt="1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标题文本</a:t>
            </a:r>
            <a:endParaRPr sz="2000" b="1"/>
          </a:p>
        </p:txBody>
      </p:sp>
      <p:sp>
        <p:nvSpPr>
          <p:cNvPr id="32" name="Shape 32"/>
          <p:cNvSpPr/>
          <p:nvPr>
            <p:ph type="body" idx="1" hasCustomPrompt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  <a:endParaRPr sz="3200"/>
          </a:p>
          <a:p>
            <a:pPr lvl="1">
              <a:defRPr sz="1800"/>
            </a:pPr>
            <a:r>
              <a:rPr sz="3200"/>
              <a:t>正文级别 2</a:t>
            </a:r>
            <a:endParaRPr sz="3200"/>
          </a:p>
          <a:p>
            <a:pPr lvl="2">
              <a:defRPr sz="1800"/>
            </a:pPr>
            <a:r>
              <a:rPr sz="3200"/>
              <a:t>正文级别 3</a:t>
            </a:r>
            <a:endParaRPr sz="3200"/>
          </a:p>
          <a:p>
            <a:pPr lvl="3">
              <a:defRPr sz="1800"/>
            </a:pPr>
            <a:r>
              <a:rPr sz="3200"/>
              <a:t>正文级别 4</a:t>
            </a:r>
            <a:endParaRPr sz="3200"/>
          </a:p>
          <a:p>
            <a:pPr lvl="4">
              <a:defRPr sz="1800"/>
            </a:pPr>
            <a:r>
              <a:rPr sz="3200"/>
              <a:t>正文级别 5</a:t>
            </a:r>
            <a:endParaRPr sz="3200"/>
          </a:p>
        </p:txBody>
      </p:sp>
      <p:sp>
        <p:nvSpPr>
          <p:cNvPr id="33" name="Shape 3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>
            <p:ph type="title" hasCustomPrompt="1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标题文本</a:t>
            </a:r>
            <a:endParaRPr sz="2000" b="1"/>
          </a:p>
        </p:txBody>
      </p:sp>
      <p:sp>
        <p:nvSpPr>
          <p:cNvPr id="36" name="Shape 36"/>
          <p:cNvSpPr/>
          <p:nvPr>
            <p:ph type="body" idx="1" hasCustomPrompt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 lvl="0">
              <a:defRPr sz="1800"/>
            </a:pPr>
            <a:r>
              <a:rPr sz="1400"/>
              <a:t>正文级别 1</a:t>
            </a:r>
            <a:endParaRPr sz="1400"/>
          </a:p>
          <a:p>
            <a:pPr lvl="1">
              <a:defRPr sz="1800"/>
            </a:pPr>
            <a:r>
              <a:rPr sz="1400"/>
              <a:t>正文级别 2</a:t>
            </a:r>
            <a:endParaRPr sz="1400"/>
          </a:p>
          <a:p>
            <a:pPr lvl="2">
              <a:defRPr sz="1800"/>
            </a:pPr>
            <a:r>
              <a:rPr sz="1400"/>
              <a:t>正文级别 3</a:t>
            </a:r>
            <a:endParaRPr sz="1400"/>
          </a:p>
          <a:p>
            <a:pPr lvl="3">
              <a:defRPr sz="1800"/>
            </a:pPr>
            <a:r>
              <a:rPr sz="1400"/>
              <a:t>正文级别 4</a:t>
            </a:r>
            <a:endParaRPr sz="1400"/>
          </a:p>
          <a:p>
            <a:pPr lvl="4">
              <a:defRPr sz="1800"/>
            </a:pPr>
            <a:r>
              <a:rPr sz="1400"/>
              <a:t>正文级别 5</a:t>
            </a:r>
            <a:endParaRPr sz="1400"/>
          </a:p>
        </p:txBody>
      </p:sp>
      <p:sp>
        <p:nvSpPr>
          <p:cNvPr id="37" name="Shape 3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40" name="Shape 40"/>
          <p:cNvSpPr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  <a:endParaRPr sz="3200"/>
          </a:p>
          <a:p>
            <a:pPr lvl="1">
              <a:defRPr sz="1800"/>
            </a:pPr>
            <a:r>
              <a:rPr sz="3200"/>
              <a:t>正文级别 2</a:t>
            </a:r>
            <a:endParaRPr sz="3200"/>
          </a:p>
          <a:p>
            <a:pPr lvl="2">
              <a:defRPr sz="1800"/>
            </a:pPr>
            <a:r>
              <a:rPr sz="3200"/>
              <a:t>正文级别 3</a:t>
            </a:r>
            <a:endParaRPr sz="3200"/>
          </a:p>
          <a:p>
            <a:pPr lvl="3">
              <a:defRPr sz="1800"/>
            </a:pPr>
            <a:r>
              <a:rPr sz="3200"/>
              <a:t>正文级别 4</a:t>
            </a:r>
            <a:endParaRPr sz="3200"/>
          </a:p>
          <a:p>
            <a:pPr lvl="4">
              <a:defRPr sz="1800"/>
            </a:pPr>
            <a:r>
              <a:rPr sz="3200"/>
              <a:t>正文级别 5</a:t>
            </a:r>
            <a:endParaRPr sz="3200"/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title" hasCustomPrompt="1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44" name="Shape 44"/>
          <p:cNvSpPr/>
          <p:nvPr>
            <p:ph type="body" idx="1" hasCustomPrompt="1"/>
          </p:nvPr>
        </p:nvSpPr>
        <p:spPr>
          <a:xfrm>
            <a:off x="457200" y="274638"/>
            <a:ext cx="6019800" cy="6583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  <a:endParaRPr sz="3200"/>
          </a:p>
          <a:p>
            <a:pPr lvl="1">
              <a:defRPr sz="1800"/>
            </a:pPr>
            <a:r>
              <a:rPr sz="3200"/>
              <a:t>正文级别 2</a:t>
            </a:r>
            <a:endParaRPr sz="3200"/>
          </a:p>
          <a:p>
            <a:pPr lvl="2">
              <a:defRPr sz="1800"/>
            </a:pPr>
            <a:r>
              <a:rPr sz="3200"/>
              <a:t>正文级别 3</a:t>
            </a:r>
            <a:endParaRPr sz="3200"/>
          </a:p>
          <a:p>
            <a:pPr lvl="3">
              <a:defRPr sz="1800"/>
            </a:pPr>
            <a:r>
              <a:rPr sz="3200"/>
              <a:t>正文级别 4</a:t>
            </a:r>
            <a:endParaRPr sz="3200"/>
          </a:p>
          <a:p>
            <a:pPr lvl="4">
              <a:defRPr sz="1800"/>
            </a:pPr>
            <a:r>
              <a:rPr sz="3200"/>
              <a:t>正文级别 5</a:t>
            </a:r>
            <a:endParaRPr sz="3200"/>
          </a:p>
        </p:txBody>
      </p:sp>
      <p:sp>
        <p:nvSpPr>
          <p:cNvPr id="45" name="Shape 4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 defTabSz="457200"/>
          </a:lstStyle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 defTabSz="457200"/>
          </a:lstStyle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50" name="Shape 50"/>
          <p:cNvSpPr/>
          <p:nvPr>
            <p:ph type="body" idx="1" hasCustomPrompt="1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 defTabSz="457200"/>
            <a:lvl2pPr defTabSz="457200"/>
            <a:lvl3pPr defTabSz="457200"/>
            <a:lvl4pPr defTabSz="457200"/>
            <a:lvl5pPr defTabSz="457200"/>
          </a:lstStyle>
          <a:p>
            <a:pPr lvl="0">
              <a:defRPr sz="1800"/>
            </a:pPr>
            <a:r>
              <a:rPr sz="3200"/>
              <a:t>正文级别 1</a:t>
            </a:r>
            <a:endParaRPr sz="3200"/>
          </a:p>
          <a:p>
            <a:pPr lvl="1">
              <a:defRPr sz="1800"/>
            </a:pPr>
            <a:r>
              <a:rPr sz="3200"/>
              <a:t>正文级别 2</a:t>
            </a:r>
            <a:endParaRPr sz="3200"/>
          </a:p>
          <a:p>
            <a:pPr lvl="2">
              <a:defRPr sz="1800"/>
            </a:pPr>
            <a:r>
              <a:rPr sz="3200"/>
              <a:t>正文级别 3</a:t>
            </a:r>
            <a:endParaRPr sz="3200"/>
          </a:p>
          <a:p>
            <a:pPr lvl="3">
              <a:defRPr sz="1800"/>
            </a:pPr>
            <a:r>
              <a:rPr sz="3200"/>
              <a:t>正文级别 4</a:t>
            </a:r>
            <a:endParaRPr sz="3200"/>
          </a:p>
          <a:p>
            <a:pPr lvl="4">
              <a:defRPr sz="1800"/>
            </a:pPr>
            <a:r>
              <a:rPr sz="3200"/>
              <a:t>正文级别 5</a:t>
            </a:r>
            <a:endParaRPr sz="3200"/>
          </a:p>
        </p:txBody>
      </p:sp>
      <p:sp>
        <p:nvSpPr>
          <p:cNvPr id="51" name="Shape 5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 defTabSz="457200"/>
          </a:lstStyle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Num" sz="quarter" idx="2"/>
          </p:nvPr>
        </p:nvSpPr>
        <p:spPr>
          <a:xfrm>
            <a:off x="6553200" y="6245225"/>
            <a:ext cx="2133600" cy="28882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</a:lstStyle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Num" sz="quarter" idx="2"/>
          </p:nvPr>
        </p:nvSpPr>
        <p:spPr>
          <a:xfrm>
            <a:off x="6553200" y="6245225"/>
            <a:ext cx="2133600" cy="288824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</a:lstStyle>
          <a:p>
            <a:pPr lvl="0"/>
            <a:fld id="{86CB4B4D-7CA3-9044-876B-883B54F8677D}" type="slidenum">
              <a:rPr/>
            </a:fld>
            <a:endParaRPr/>
          </a:p>
        </p:txBody>
      </p:sp>
      <p:sp>
        <p:nvSpPr>
          <p:cNvPr id="56" name="Shape 56"/>
          <p:cNvSpPr/>
          <p:nvPr>
            <p:ph type="title" hasCustomPrompt="1"/>
          </p:nvPr>
        </p:nvSpPr>
        <p:spPr>
          <a:xfrm>
            <a:off x="457200" y="92074"/>
            <a:ext cx="8229600" cy="150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</a:lstStyle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57" name="Shape 57"/>
          <p:cNvSpPr/>
          <p:nvPr>
            <p:ph type="body" idx="1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FontTx/>
              <a:buChar char="»"/>
              <a:defRPr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>
              <a:buFontTx/>
              <a:defRPr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>
              <a:buFontTx/>
              <a:defRPr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>
              <a:buFontTx/>
              <a:defRPr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35200" indent="-406400">
              <a:buFontTx/>
              <a:defRPr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</a:lstStyle>
          <a:p>
            <a:pPr lvl="0">
              <a:defRPr sz="1800"/>
            </a:pPr>
            <a:r>
              <a:rPr sz="3200"/>
              <a:t>正文级别 1</a:t>
            </a:r>
            <a:endParaRPr sz="3200"/>
          </a:p>
          <a:p>
            <a:pPr lvl="1">
              <a:defRPr sz="1800"/>
            </a:pPr>
            <a:r>
              <a:rPr sz="3200"/>
              <a:t>正文级别 2</a:t>
            </a:r>
            <a:endParaRPr sz="3200"/>
          </a:p>
          <a:p>
            <a:pPr lvl="2">
              <a:defRPr sz="1800"/>
            </a:pPr>
            <a:r>
              <a:rPr sz="3200"/>
              <a:t>正文级别 3</a:t>
            </a:r>
            <a:endParaRPr sz="3200"/>
          </a:p>
          <a:p>
            <a:pPr lvl="3">
              <a:defRPr sz="1800"/>
            </a:pPr>
            <a:r>
              <a:rPr sz="3200"/>
              <a:t>正文级别 4</a:t>
            </a:r>
            <a:endParaRPr sz="3200"/>
          </a:p>
          <a:p>
            <a:pPr lvl="4">
              <a:defRPr sz="1800"/>
            </a:pPr>
            <a:r>
              <a:rPr sz="3200"/>
              <a:t>正文级别 5</a:t>
            </a:r>
            <a:endParaRPr sz="320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 lvl="0">
              <a:defRPr sz="1800"/>
            </a:pPr>
            <a:r>
              <a:rPr sz="4400"/>
              <a:t>标题文本</a:t>
            </a:r>
            <a:endParaRPr sz="4400"/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 lvl="0">
              <a:defRPr sz="1800"/>
            </a:pPr>
            <a:r>
              <a:rPr sz="3200"/>
              <a:t>正文级别 1</a:t>
            </a:r>
            <a:endParaRPr sz="3200"/>
          </a:p>
          <a:p>
            <a:pPr lvl="1">
              <a:defRPr sz="1800"/>
            </a:pPr>
            <a:r>
              <a:rPr sz="3200"/>
              <a:t>正文级别 2</a:t>
            </a:r>
            <a:endParaRPr sz="3200"/>
          </a:p>
          <a:p>
            <a:pPr lvl="2">
              <a:defRPr sz="1800"/>
            </a:pPr>
            <a:r>
              <a:rPr sz="3200"/>
              <a:t>正文级别 3</a:t>
            </a:r>
            <a:endParaRPr sz="3200"/>
          </a:p>
          <a:p>
            <a:pPr lvl="3">
              <a:defRPr sz="1800"/>
            </a:pPr>
            <a:r>
              <a:rPr sz="3200"/>
              <a:t>正文级别 4</a:t>
            </a:r>
            <a:endParaRPr sz="3200"/>
          </a:p>
          <a:p>
            <a:pPr lvl="4">
              <a:defRPr sz="1800"/>
            </a:pPr>
            <a:r>
              <a:rPr sz="3200"/>
              <a:t>正文级别 5</a:t>
            </a:r>
            <a:endParaRPr sz="3200"/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553200" y="6404292"/>
            <a:ext cx="2133600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 lvl="0"/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algn="ctr">
        <a:defRPr sz="4400">
          <a:latin typeface="Calibri"/>
          <a:ea typeface="Calibri"/>
          <a:cs typeface="Calibri"/>
          <a:sym typeface="Calibri"/>
        </a:defRPr>
      </a:lvl1pPr>
      <a:lvl2pPr algn="ctr">
        <a:defRPr sz="4400">
          <a:latin typeface="Calibri"/>
          <a:ea typeface="Calibri"/>
          <a:cs typeface="Calibri"/>
          <a:sym typeface="Calibri"/>
        </a:defRPr>
      </a:lvl2pPr>
      <a:lvl3pPr algn="ctr">
        <a:defRPr sz="4400">
          <a:latin typeface="Calibri"/>
          <a:ea typeface="Calibri"/>
          <a:cs typeface="Calibri"/>
          <a:sym typeface="Calibri"/>
        </a:defRPr>
      </a:lvl3pPr>
      <a:lvl4pPr algn="ctr">
        <a:defRPr sz="4400">
          <a:latin typeface="Calibri"/>
          <a:ea typeface="Calibri"/>
          <a:cs typeface="Calibri"/>
          <a:sym typeface="Calibri"/>
        </a:defRPr>
      </a:lvl4pPr>
      <a:lvl5pPr algn="ctr">
        <a:defRPr sz="4400">
          <a:latin typeface="Calibri"/>
          <a:ea typeface="Calibri"/>
          <a:cs typeface="Calibri"/>
          <a:sym typeface="Calibri"/>
        </a:defRPr>
      </a:lvl5pPr>
      <a:lvl6pPr algn="ctr">
        <a:defRPr sz="4400">
          <a:latin typeface="Calibri"/>
          <a:ea typeface="Calibri"/>
          <a:cs typeface="Calibri"/>
          <a:sym typeface="Calibri"/>
        </a:defRPr>
      </a:lvl6pPr>
      <a:lvl7pPr algn="ctr">
        <a:defRPr sz="4400">
          <a:latin typeface="Calibri"/>
          <a:ea typeface="Calibri"/>
          <a:cs typeface="Calibri"/>
          <a:sym typeface="Calibri"/>
        </a:defRPr>
      </a:lvl7pPr>
      <a:lvl8pPr algn="ctr">
        <a:defRPr sz="4400">
          <a:latin typeface="Calibri"/>
          <a:ea typeface="Calibri"/>
          <a:cs typeface="Calibri"/>
          <a:sym typeface="Calibri"/>
        </a:defRPr>
      </a:lvl8pPr>
      <a:lvl9pPr algn="ctr">
        <a:defRPr sz="4400">
          <a:latin typeface="Calibri"/>
          <a:ea typeface="Calibri"/>
          <a:cs typeface="Calibri"/>
          <a:sym typeface="Calibri"/>
        </a:defRPr>
      </a:lvl9pPr>
    </p:titleStyle>
    <p:bodyStyle>
      <a:lvl1pPr marL="342900" indent="-342900">
        <a:spcBef>
          <a:spcPts val="700"/>
        </a:spcBef>
        <a:buSzPct val="100000"/>
        <a:buFont typeface="Arial" panose="020B0704020202020204"/>
        <a:buChar char="•"/>
        <a:defRPr sz="3200">
          <a:latin typeface="Calibri"/>
          <a:ea typeface="Calibri"/>
          <a:cs typeface="Calibri"/>
          <a:sym typeface="Calibri"/>
        </a:defRPr>
      </a:lvl1pPr>
      <a:lvl2pPr marL="783590" indent="-326390">
        <a:spcBef>
          <a:spcPts val="700"/>
        </a:spcBef>
        <a:buSzPct val="100000"/>
        <a:buFont typeface="Arial" panose="020B0704020202020204"/>
        <a:buChar char="–"/>
        <a:defRPr sz="3200">
          <a:latin typeface="Calibri"/>
          <a:ea typeface="Calibri"/>
          <a:cs typeface="Calibri"/>
          <a:sym typeface="Calibri"/>
        </a:defRPr>
      </a:lvl2pPr>
      <a:lvl3pPr marL="1219200" indent="-304800">
        <a:spcBef>
          <a:spcPts val="700"/>
        </a:spcBef>
        <a:buSzPct val="100000"/>
        <a:buFont typeface="Arial" panose="020B0704020202020204"/>
        <a:buChar char="•"/>
        <a:defRPr sz="3200">
          <a:latin typeface="Calibri"/>
          <a:ea typeface="Calibri"/>
          <a:cs typeface="Calibri"/>
          <a:sym typeface="Calibri"/>
        </a:defRPr>
      </a:lvl3pPr>
      <a:lvl4pPr marL="1737360" indent="-365760">
        <a:spcBef>
          <a:spcPts val="700"/>
        </a:spcBef>
        <a:buSzPct val="100000"/>
        <a:buFont typeface="Arial" panose="020B0704020202020204"/>
        <a:buChar char="–"/>
        <a:defRPr sz="3200">
          <a:latin typeface="Calibri"/>
          <a:ea typeface="Calibri"/>
          <a:cs typeface="Calibri"/>
          <a:sym typeface="Calibri"/>
        </a:defRPr>
      </a:lvl4pPr>
      <a:lvl5pPr marL="2194560" indent="-365760">
        <a:spcBef>
          <a:spcPts val="700"/>
        </a:spcBef>
        <a:buSzPct val="100000"/>
        <a:buFont typeface="Arial" panose="020B0704020202020204"/>
        <a:buChar char="»"/>
        <a:defRPr sz="3200">
          <a:latin typeface="Calibri"/>
          <a:ea typeface="Calibri"/>
          <a:cs typeface="Calibri"/>
          <a:sym typeface="Calibri"/>
        </a:defRPr>
      </a:lvl5pPr>
      <a:lvl6pPr marL="2651760" indent="-365760">
        <a:spcBef>
          <a:spcPts val="700"/>
        </a:spcBef>
        <a:buSzPct val="100000"/>
        <a:buFont typeface="Arial" panose="020B0704020202020204"/>
        <a:buChar char="•"/>
        <a:defRPr sz="3200">
          <a:latin typeface="Calibri"/>
          <a:ea typeface="Calibri"/>
          <a:cs typeface="Calibri"/>
          <a:sym typeface="Calibri"/>
        </a:defRPr>
      </a:lvl6pPr>
      <a:lvl7pPr marL="3108960" indent="-365760">
        <a:spcBef>
          <a:spcPts val="700"/>
        </a:spcBef>
        <a:buSzPct val="100000"/>
        <a:buFont typeface="Arial" panose="020B0704020202020204"/>
        <a:buChar char="•"/>
        <a:defRPr sz="3200">
          <a:latin typeface="Calibri"/>
          <a:ea typeface="Calibri"/>
          <a:cs typeface="Calibri"/>
          <a:sym typeface="Calibri"/>
        </a:defRPr>
      </a:lvl7pPr>
      <a:lvl8pPr marL="3566160" indent="-365760">
        <a:spcBef>
          <a:spcPts val="700"/>
        </a:spcBef>
        <a:buSzPct val="100000"/>
        <a:buFont typeface="Arial" panose="020B0704020202020204"/>
        <a:buChar char="•"/>
        <a:defRPr sz="3200">
          <a:latin typeface="Calibri"/>
          <a:ea typeface="Calibri"/>
          <a:cs typeface="Calibri"/>
          <a:sym typeface="Calibri"/>
        </a:defRPr>
      </a:lvl8pPr>
      <a:lvl9pPr marL="4023360" indent="-365760">
        <a:spcBef>
          <a:spcPts val="700"/>
        </a:spcBef>
        <a:buSzPct val="100000"/>
        <a:buFont typeface="Arial" panose="020B0704020202020204"/>
        <a:buChar char="•"/>
        <a:defRPr sz="3200">
          <a:latin typeface="Calibri"/>
          <a:ea typeface="Calibri"/>
          <a:cs typeface="Calibri"/>
          <a:sym typeface="Calibri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1pPr>
      <a:lvl2pPr indent="4572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2pPr>
      <a:lvl3pPr indent="9144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3pPr>
      <a:lvl4pPr indent="13716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4pPr>
      <a:lvl5pPr indent="18288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5pPr>
      <a:lvl6pPr indent="22860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6pPr>
      <a:lvl7pPr indent="27432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7pPr>
      <a:lvl8pPr indent="32004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8pPr>
      <a:lvl9pPr indent="3657600" algn="r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/>
        </p:nvSpPr>
        <p:spPr>
          <a:xfrm>
            <a:off x="64978" y="124837"/>
            <a:ext cx="9144000" cy="43014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58775" lvl="0" indent="-3587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potential 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(1)the 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possibility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that something will develop in a particular way, or have a particular effect</a:t>
            </a:r>
            <a:b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(2)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natural ability or quality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that shows someone or something will be successful</a:t>
            </a:r>
            <a:endParaRPr sz="30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90270" lvl="0" indent="-89027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那家公司当然有发展潜力。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90270" lvl="0" indent="-89027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company certainly </a:t>
            </a: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has the potential for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growth.  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technology has the potential ________ (change) our transportation systems and our cities…)</a:t>
            </a:r>
            <a:endParaRPr b="1"/>
          </a:p>
          <a:p>
            <a:pPr marL="228600" lvl="0" indent="-228600">
              <a:lnSpc>
                <a:spcPct val="90000"/>
              </a:lnSpc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achieve / fulfill / realize your (full) potential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b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发挥你的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全部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潜力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2" name="Shape 62"/>
          <p:cNvSpPr/>
          <p:nvPr/>
        </p:nvSpPr>
        <p:spPr>
          <a:xfrm>
            <a:off x="5787958" y="2520291"/>
            <a:ext cx="1872209" cy="54407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00" b="1">
                <a:solidFill>
                  <a:srgbClr val="FF0000"/>
                </a:solidFill>
              </a:rPr>
              <a:t>to change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-256540" y="285686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 upright="0">
            <a:spAutoFit/>
          </a:bodyPr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1" bldLvl="5" animBg="1" advAuto="0" uiExpand="1" build="p"/>
      <p:bldP spid="62" grpId="2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/>
        </p:nvSpPr>
        <p:spPr>
          <a:xfrm>
            <a:off x="49312" y="-57060"/>
            <a:ext cx="9045376" cy="396145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131445" lvl="0" indent="-131445"/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adj. likely to develop into a particular type of person or thing in the future</a:t>
            </a:r>
            <a:endParaRPr sz="30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20675" lvl="0" indent="-320675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new ways of attracting _________________________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20675" lvl="0" indent="-320675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 the first time she realized the ________________ of her situation.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20675" lvl="0" indent="-320675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is important for manufacturers to identify __________________ at the design stage.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20675" lvl="0" indent="-320675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___________________ of the drug are unknown.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20675" lvl="0" indent="-320675">
              <a:buSzPct val="100000"/>
              <a:buChar char="•"/>
            </a:pPr>
            <a:r>
              <a:rPr sz="3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potential candidate/ threat/ risk/ benefit</a:t>
            </a:r>
            <a:endParaRPr sz="3000" b="1" u="sng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7" name="Shape 67"/>
          <p:cNvSpPr/>
          <p:nvPr/>
        </p:nvSpPr>
        <p:spPr>
          <a:xfrm>
            <a:off x="4176035" y="833585"/>
            <a:ext cx="7012847" cy="5070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potential customers/clients</a:t>
            </a:r>
            <a:endParaRPr sz="3000" b="1">
              <a:solidFill>
                <a:srgbClr val="FF0000"/>
              </a:solidFill>
            </a:endParaRPr>
          </a:p>
        </p:txBody>
      </p:sp>
      <p:sp>
        <p:nvSpPr>
          <p:cNvPr id="68" name="Shape 68"/>
          <p:cNvSpPr/>
          <p:nvPr/>
        </p:nvSpPr>
        <p:spPr>
          <a:xfrm>
            <a:off x="5914958" y="1282969"/>
            <a:ext cx="7012847" cy="5070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potential danger</a:t>
            </a:r>
            <a:endParaRPr sz="3000" b="1">
              <a:solidFill>
                <a:srgbClr val="FF0000"/>
              </a:solidFill>
            </a:endParaRPr>
          </a:p>
        </p:txBody>
      </p:sp>
      <p:sp>
        <p:nvSpPr>
          <p:cNvPr id="69" name="Shape 69"/>
          <p:cNvSpPr/>
          <p:nvPr/>
        </p:nvSpPr>
        <p:spPr>
          <a:xfrm>
            <a:off x="478381" y="2701364"/>
            <a:ext cx="7012847" cy="5070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potential problems </a:t>
            </a:r>
            <a:endParaRPr sz="3000" b="1">
              <a:solidFill>
                <a:srgbClr val="FF0000"/>
              </a:solidFill>
            </a:endParaRPr>
          </a:p>
        </p:txBody>
      </p:sp>
      <p:sp>
        <p:nvSpPr>
          <p:cNvPr id="70" name="Shape 70"/>
          <p:cNvSpPr/>
          <p:nvPr/>
        </p:nvSpPr>
        <p:spPr>
          <a:xfrm>
            <a:off x="1256077" y="3140979"/>
            <a:ext cx="7012846" cy="5070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potential side effects</a:t>
            </a:r>
            <a:endParaRPr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indefinite" fill="hold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indefinite" fill="hold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dur="indefinite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indefinite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dur="indefinite" fill="hold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25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5" animBg="1" advAuto="0"/>
      <p:bldP spid="66" grpId="1" bldLvl="5" animBg="1" advAuto="0" uiExpand="1" build="p"/>
      <p:bldP spid="67" grpId="2" animBg="1" advAuto="0"/>
      <p:bldP spid="68" grpId="3" animBg="1" advAuto="0"/>
      <p:bldP spid="69" grpId="4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/>
        </p:nvSpPr>
        <p:spPr>
          <a:xfrm>
            <a:off x="93312" y="469681"/>
            <a:ext cx="8640961" cy="559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can’t wait to do sth.: 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 hardly wait to do sth. </a:t>
            </a:r>
            <a:b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迫不及待地要去做某事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 couldn’t help ___________ (wonder)  what he was thinking.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 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couldn’t help but wonder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what he was thinking.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can’t help ___________ (organize) the party. You’d better ask for someone else’s help.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can’t help doing sth./can’t help but do sth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忍不住/不可避免做某事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can’t help (to) do sth. 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不能帮助做某事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3483461" y="1359267"/>
            <a:ext cx="7012847" cy="5070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wondering</a:t>
            </a:r>
            <a:endParaRPr sz="3000" b="1">
              <a:solidFill>
                <a:srgbClr val="FF0000"/>
              </a:solidFill>
            </a:endParaRPr>
          </a:p>
        </p:txBody>
      </p:sp>
      <p:sp>
        <p:nvSpPr>
          <p:cNvPr id="74" name="Shape 74"/>
          <p:cNvSpPr/>
          <p:nvPr/>
        </p:nvSpPr>
        <p:spPr>
          <a:xfrm>
            <a:off x="2425454" y="3175472"/>
            <a:ext cx="7012846" cy="5070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b="1">
                <a:solidFill>
                  <a:srgbClr val="FF0000"/>
                </a:solidFill>
              </a:rPr>
              <a:t>(to) organize</a:t>
            </a:r>
            <a:endParaRPr sz="3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3" animBg="1" advAuto="0"/>
      <p:bldP spid="72" grpId="1" bldLvl="5" animBg="1" advAuto="0" build="p"/>
      <p:bldP spid="73" grpId="2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/>
        </p:nvSpPr>
        <p:spPr>
          <a:xfrm>
            <a:off x="179511" y="764704"/>
            <a:ext cx="8640962" cy="22030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58775" lvl="0" indent="-358775">
              <a:lnSpc>
                <a:spcPct val="110000"/>
              </a:lnSpc>
            </a:pPr>
            <a:r>
              <a:rPr sz="3200" b="1">
                <a:solidFill>
                  <a:srgbClr val="0000FF"/>
                </a:solidFill>
              </a:rPr>
              <a:t>【</a:t>
            </a:r>
            <a:r>
              <a:rPr sz="3200" b="1">
                <a:solidFill>
                  <a:srgbClr val="0000FF"/>
                </a:solidFill>
              </a:rPr>
              <a:t>语境应用</a:t>
            </a:r>
            <a:r>
              <a:rPr sz="3200" b="1">
                <a:solidFill>
                  <a:srgbClr val="0000FF"/>
                </a:solidFill>
              </a:rPr>
              <a:t>】</a:t>
            </a:r>
            <a:r>
              <a:rPr sz="3200" b="1">
                <a:solidFill>
                  <a:srgbClr val="0000FF"/>
                </a:solidFill>
              </a:rPr>
              <a:t>语法填空</a:t>
            </a:r>
            <a:endParaRPr sz="3200" b="1">
              <a:solidFill>
                <a:srgbClr val="0000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1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But something inside me was going to climb that mountain at all cost. I could hardly wait ________(try) this adventure again. 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7" name="Shape 77"/>
          <p:cNvSpPr/>
          <p:nvPr/>
        </p:nvSpPr>
        <p:spPr>
          <a:xfrm>
            <a:off x="467543" y="2348880"/>
            <a:ext cx="1224138" cy="54407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00" b="1">
                <a:solidFill>
                  <a:srgbClr val="FF0000"/>
                </a:solidFill>
              </a:rPr>
              <a:t>to try</a:t>
            </a:r>
            <a:endParaRPr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/>
        </p:nvSpPr>
        <p:spPr>
          <a:xfrm>
            <a:off x="21504" y="16223"/>
            <a:ext cx="9100992" cy="398461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58775" lvl="0" indent="-358775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path 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(1)a track that has been made deliberately or made by many people walking over the same ground </a:t>
            </a:r>
            <a:endParaRPr sz="30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小径，小道</a:t>
            </a:r>
            <a:endParaRPr sz="30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通往避暑别墅的小径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28600" lvl="0" indent="-22860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path leading to the summer house 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(2) (开出的)通道</a:t>
            </a:r>
            <a:endParaRPr sz="30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Police cleared a path through the protesters. 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警察从抗议者中开辟出了一条通道。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1" animBg="1" advAuto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/>
        </p:nvSpPr>
        <p:spPr>
          <a:xfrm>
            <a:off x="52371" y="382341"/>
            <a:ext cx="9039258" cy="47078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0" lvl="0" indent="-358775" eaLnBrk="1" fontAlgn="auto" latinLnBrk="0" hangingPunct="1"/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(3)方向，路线，轨道</a:t>
            </a:r>
            <a:endParaRPr sz="30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tornado destroyed everything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its path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龙卷风摧毁了沿途的一切。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(4) (有助于实现…的)道路，途径</a:t>
            </a:r>
            <a:endParaRPr sz="30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她认为大学学位是自己通往成功的途径。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 saw a college degree as her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path to success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00990" eaLnBrk="1" fontAlgn="auto" latinLnBrk="0" hangingPunct="1"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stand in one’s path/way 妨碍某人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 you believe you can make her happy, I won’t stand in your way.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如果你相信你能使他幸福，我不会妨碍你的。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</a:t>
            </a:r>
            <a:endParaRPr sz="3000" b="1" i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1" bldLvl="5" animBg="1" advAuto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/>
        </p:nvSpPr>
        <p:spPr>
          <a:xfrm>
            <a:off x="93312" y="37881"/>
            <a:ext cx="8855652" cy="56311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58775" lvl="0" indent="-358775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lead to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path </a:t>
            </a: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leads to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yard. 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有条小路通向庭院。 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食用过多的糖会</a:t>
            </a:r>
            <a:r>
              <a:rPr sz="3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引起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健康问题。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Eating too much sugar can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lead to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health problems.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led him to kill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his wife?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是什么原因让他杀了妻子？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His actions could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lead to him losing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his job.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他的行为会让他丢掉工作的。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led you to this conclusion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?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你是如何得出这个结论的？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039870" lvl="0" indent="-403987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（He’s too easily led.）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1" bldLvl="5" animBg="1" advAuto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/>
        </p:nvSpPr>
        <p:spPr>
          <a:xfrm>
            <a:off x="-1" y="27062"/>
            <a:ext cx="9144001" cy="48452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58775" lvl="0" indent="-3587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 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 something that tests strength, skill, or ability, especially in a way that is interesting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lnSpc>
                <a:spcPct val="90000"/>
              </a:lnSpc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Martins现在面临他事业上最大的挑战。 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lnSpc>
                <a:spcPct val="90000"/>
              </a:lnSpc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Martins now 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faces the biggest challenge of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his career.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face / take up / accept a challenge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面对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接受挑战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lnSpc>
                <a:spcPct val="90000"/>
              </a:lnSpc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They </a:t>
            </a:r>
            <a:r>
              <a:rPr sz="3000" b="1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rose to the challenge of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entertaining 80 schoolchildren for an afternoon.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meet a challenge / rise to a challenge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迎接挑战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92100" lvl="0" indent="-292100">
              <a:lnSpc>
                <a:spcPct val="90000"/>
              </a:lnSpc>
              <a:buSzPct val="100000"/>
              <a:buChar char="•"/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strike </a:t>
            </a:r>
            <a:r>
              <a:rPr sz="3000" b="1">
                <a:solidFill>
                  <a:srgbClr val="A62E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represented a serious challenge to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government.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90000"/>
              </a:lnSpc>
            </a:pP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pose/represent/present a challenge to sb.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提出质疑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1" bldLvl="5" animBg="1" advAuto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48710" y="-19657"/>
            <a:ext cx="9144001" cy="5617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/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vt.</a:t>
            </a:r>
            <a:r>
              <a:rPr sz="3000" b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质疑；挑战</a:t>
            </a:r>
            <a:endParaRPr sz="3000" b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如今子女对父母权威的质疑远远多于过去。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Children challenge their parents’ authority far more nowadays than they did in the past.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 sb. to sth.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向某人挑战做某事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Mike challenged me to a game of chess.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 sb to do sth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激励/强烈要求某人做某事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她要求这家报纸证实报道的真实性。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 challenged the newspaper to prove its story.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challenging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adj.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具有挑战性的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challenger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挑战者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1" bldLvl="5" animBg="1" advAuto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/>
        </p:nvSpPr>
        <p:spPr>
          <a:xfrm>
            <a:off x="-1" y="27062"/>
            <a:ext cx="9144001" cy="41548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58775" lvl="0" indent="-358775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thinking [U]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000" b="1" i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(1) the 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 of thinking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about sth. </a:t>
            </a:r>
            <a:r>
              <a:rPr sz="3000" b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思想，思考，思维</a:t>
            </a:r>
            <a:endParaRPr sz="3000" b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(2)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ideas or opinions</a:t>
            </a:r>
            <a:r>
              <a:rPr sz="30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about sth. </a:t>
            </a:r>
            <a:r>
              <a:rPr sz="3000" b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想法，见解</a:t>
            </a:r>
            <a:r>
              <a:rPr sz="3000" b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endParaRPr sz="3000" b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我得迅速思考一番。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have to </a:t>
            </a: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 some quick thinking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 laughed and accused me of </a:t>
            </a: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wishful thinking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他笑着骂我是一厢情愿。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my way of thinking,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…= In my opinion,…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critical thinking/ analytical thinking/ positive thinking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1" bldLvl="5" animBg="1" advAuto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27305"/>
            <a:ext cx="7578725" cy="646303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positive  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adv. positively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你必须更加积极地对待自己的工作。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You’ve got to be more positive about your work.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她对生活抱有非常乐观的态度。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She’s got a really positive attitude to</a:t>
            </a:r>
            <a:r>
              <a:rPr lang="en-US"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/towards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life.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rural environment has a positive effect on the children’s health.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乡村环境对孩子们的健康有好处。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Women should be portrayed in a more positive light.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应该从更正面的角度来描绘女性。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Shape 102"/>
          <p:cNvSpPr/>
          <p:nvPr/>
        </p:nvSpPr>
        <p:spPr>
          <a:xfrm>
            <a:off x="7336421" y="1461267"/>
            <a:ext cx="1778519" cy="951556"/>
          </a:xfrm>
          <a:prstGeom prst="rect">
            <a:avLst/>
          </a:prstGeom>
          <a:ln w="12700">
            <a:solidFill/>
            <a:miter lim="400000"/>
          </a:ln>
        </p:spPr>
        <p:txBody>
          <a:bodyPr lIns="0" tIns="0" rIns="0" bIns="0">
            <a:spAutoFit/>
          </a:bodyPr>
          <a:lstStyle>
            <a:lvl1pPr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/>
            </a:pPr>
            <a:r>
              <a:rPr sz="3000" b="1"/>
              <a:t>hopeful &amp; confident</a:t>
            </a:r>
            <a:endParaRPr sz="3000" b="1"/>
          </a:p>
        </p:txBody>
      </p:sp>
      <p:sp>
        <p:nvSpPr>
          <p:cNvPr id="103" name="Shape 103"/>
          <p:cNvSpPr/>
          <p:nvPr/>
        </p:nvSpPr>
        <p:spPr>
          <a:xfrm>
            <a:off x="7667651" y="4581635"/>
            <a:ext cx="1444982" cy="951556"/>
          </a:xfrm>
          <a:prstGeom prst="rect">
            <a:avLst/>
          </a:prstGeom>
          <a:ln w="12700">
            <a:solidFill/>
            <a:miter lim="400000"/>
          </a:ln>
        </p:spPr>
        <p:txBody>
          <a:bodyPr lIns="0" tIns="0" rIns="0" bIns="0">
            <a:spAutoFit/>
          </a:bodyPr>
          <a:lstStyle>
            <a:lvl1pPr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/>
            </a:pPr>
            <a:r>
              <a:rPr sz="3000" b="1"/>
              <a:t>good or useful</a:t>
            </a:r>
            <a:endParaRPr sz="30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2" animBg="1" advAuto="0"/>
      <p:bldP spid="101" grpId="1" bldLvl="5" animBg="1" advAuto="0" uiExpand="1" build="p"/>
      <p:bldP spid="103" grpId="3" bldLvl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104447" y="95342"/>
            <a:ext cx="5614669" cy="48250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positive response/reaction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positive feedback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positive proof/evidence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athletes who had tested positive for banned substances 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positive charge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00990" lvl="0" indent="-300990">
              <a:buSzPct val="100000"/>
              <a:buChar char="•"/>
            </a:pP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5833909" y="108042"/>
            <a:ext cx="2014878" cy="951556"/>
          </a:xfrm>
          <a:prstGeom prst="rect">
            <a:avLst/>
          </a:prstGeom>
          <a:ln w="12700">
            <a:solidFill/>
            <a:miter lim="400000"/>
          </a:ln>
        </p:spPr>
        <p:txBody>
          <a:bodyPr lIns="0" tIns="0" rIns="0" bIns="0">
            <a:spAutoFit/>
          </a:bodyPr>
          <a:lstStyle>
            <a:lvl1pPr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/>
            </a:pPr>
            <a:r>
              <a:rPr sz="3000" b="1"/>
              <a:t>expressing support</a:t>
            </a:r>
            <a:endParaRPr sz="3000" b="1"/>
          </a:p>
        </p:txBody>
      </p:sp>
      <p:sp>
        <p:nvSpPr>
          <p:cNvPr id="107" name="Shape 107"/>
          <p:cNvSpPr/>
          <p:nvPr/>
        </p:nvSpPr>
        <p:spPr>
          <a:xfrm>
            <a:off x="5828224" y="1262275"/>
            <a:ext cx="2683988" cy="951556"/>
          </a:xfrm>
          <a:prstGeom prst="rect">
            <a:avLst/>
          </a:prstGeom>
          <a:ln w="12700">
            <a:solidFill/>
            <a:miter lim="400000"/>
          </a:ln>
        </p:spPr>
        <p:txBody>
          <a:bodyPr lIns="0" tIns="0" rIns="0" bIns="0">
            <a:spAutoFit/>
          </a:bodyPr>
          <a:lstStyle>
            <a:lvl1pPr>
              <a:def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/>
            </a:pPr>
            <a:r>
              <a:rPr sz="3000" b="1"/>
              <a:t>clear, without doubt</a:t>
            </a:r>
            <a:endParaRPr sz="30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2" animBg="1" advAuto="0"/>
      <p:bldP spid="105" grpId="1" bldLvl="5" animBg="1" advAuto="0" uiExpand="1" build="p"/>
      <p:bldP spid="107" grpId="3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/>
        </p:nvSpPr>
        <p:spPr>
          <a:xfrm>
            <a:off x="107504" y="-71361"/>
            <a:ext cx="8928993" cy="53092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 algn="l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8.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lie—lay—lain—lying </a:t>
            </a: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躺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位于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sz="29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.)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l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lie—lied—lied—lying </a:t>
            </a: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说谎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sz="29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.)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l">
              <a:lnSpc>
                <a:spcPct val="90000"/>
              </a:lnSpc>
            </a:pP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lie in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 algn="l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town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lies in </a:t>
            </a: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small wooded valley.</a:t>
            </a:r>
            <a:endParaRPr sz="29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 algn="l">
              <a:lnSpc>
                <a:spcPct val="90000"/>
              </a:lnSpc>
            </a:pPr>
            <a:r>
              <a:rPr sz="2900" b="1"/>
              <a:t>该镇坐落于一个林木茂盛的山谷中。</a:t>
            </a:r>
            <a:endParaRPr sz="2900" b="1"/>
          </a:p>
          <a:p>
            <a:pPr lvl="0" algn="l">
              <a:lnSpc>
                <a:spcPct val="90000"/>
              </a:lnSpc>
            </a:pP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Part of the blame/responsibility must </a:t>
            </a:r>
            <a:r>
              <a:rPr sz="29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lie with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services.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l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服务肯定也有一部分责任。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l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问题/困难在于要提供足够的证据。</a:t>
            </a:r>
            <a:endParaRPr sz="29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l">
              <a:lnSpc>
                <a:spcPct val="90000"/>
              </a:lnSpc>
            </a:pP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problem/difficulty </a:t>
            </a:r>
            <a:r>
              <a:rPr sz="29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lies in(/with)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providing sufficient evidence.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l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这本书的优点是它取材于课堂经验。</a:t>
            </a:r>
            <a:endParaRPr sz="29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l">
              <a:lnSpc>
                <a:spcPct val="90000"/>
              </a:lnSpc>
            </a:pP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strength of the book </a:t>
            </a:r>
            <a:r>
              <a:rPr sz="29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lies in the fact that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material is from classroom experience.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1" bldLvl="5" animBg="1" advAuto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/>
        </p:nvSpPr>
        <p:spPr>
          <a:xfrm>
            <a:off x="251519" y="606895"/>
            <a:ext cx="8458201" cy="51701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41325" lvl="0" indent="-441325">
              <a:lnSpc>
                <a:spcPct val="120000"/>
              </a:lnSpc>
            </a:pPr>
            <a:r>
              <a:rPr sz="3200" b="1">
                <a:solidFill>
                  <a:srgbClr val="0000FF"/>
                </a:solidFill>
              </a:rPr>
              <a:t>【</a:t>
            </a:r>
            <a:r>
              <a:rPr sz="3200" b="1">
                <a:solidFill>
                  <a:srgbClr val="0000FF"/>
                </a:solidFill>
              </a:rPr>
              <a:t>语境应用</a:t>
            </a:r>
            <a:r>
              <a:rPr sz="3200" b="1">
                <a:solidFill>
                  <a:srgbClr val="0000FF"/>
                </a:solidFill>
              </a:rPr>
              <a:t>】</a:t>
            </a:r>
            <a:r>
              <a:rPr sz="3200" b="1">
                <a:solidFill>
                  <a:srgbClr val="0000FF"/>
                </a:solidFill>
              </a:rPr>
              <a:t>用</a:t>
            </a:r>
            <a:r>
              <a:rPr sz="3200" b="1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lie</a:t>
            </a:r>
            <a:r>
              <a:rPr sz="3200" b="1">
                <a:solidFill>
                  <a:srgbClr val="0000FF"/>
                </a:solidFill>
              </a:rPr>
              <a:t>或</a:t>
            </a:r>
            <a:r>
              <a:rPr sz="3200" b="1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lay</a:t>
            </a:r>
            <a:r>
              <a:rPr sz="3200" b="1">
                <a:solidFill>
                  <a:srgbClr val="0000FF"/>
                </a:solidFill>
              </a:rPr>
              <a:t>的适当形式填空。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1325" lvl="0" indent="-441325">
              <a:lnSpc>
                <a:spcPct val="12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1) Tom got punished because he _____ to his parents yesterday. 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1325" lvl="0" indent="-441325">
              <a:lnSpc>
                <a:spcPct val="12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2) He _____ in bed the whole night, awake and in the morning he fell asleep. 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1325" lvl="0" indent="-441325">
              <a:lnSpc>
                <a:spcPct val="12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3) Last night I _____ my mobile phone on the sofa, but it’s now nowhere to be seen.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41325" lvl="0" indent="-441325">
              <a:lnSpc>
                <a:spcPct val="12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4) When the boy opened his eyes, he found himself _____ in a bed.  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4" name="Shape 114"/>
          <p:cNvSpPr/>
          <p:nvPr/>
        </p:nvSpPr>
        <p:spPr>
          <a:xfrm>
            <a:off x="6030888" y="1259449"/>
            <a:ext cx="736362" cy="54407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00" b="1">
                <a:solidFill>
                  <a:srgbClr val="FF0000"/>
                </a:solidFill>
              </a:rPr>
              <a:t>lied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15" name="Shape 115"/>
          <p:cNvSpPr/>
          <p:nvPr/>
        </p:nvSpPr>
        <p:spPr>
          <a:xfrm>
            <a:off x="1470720" y="2425595"/>
            <a:ext cx="826651" cy="54407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00" b="1">
                <a:solidFill>
                  <a:srgbClr val="FF0000"/>
                </a:solidFill>
              </a:rPr>
              <a:t>lay  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2994719" y="3558217"/>
            <a:ext cx="759184" cy="54407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00" b="1">
                <a:solidFill>
                  <a:srgbClr val="FF0000"/>
                </a:solidFill>
              </a:rPr>
              <a:t>laid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42456" y="5217450"/>
            <a:ext cx="962383" cy="54407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200" b="1">
                <a:solidFill>
                  <a:srgbClr val="FF0000"/>
                </a:solidFill>
              </a:rPr>
              <a:t>lying</a:t>
            </a:r>
            <a:endParaRPr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1" animBg="1" advAuto="0"/>
      <p:bldP spid="115" grpId="2" animBg="1" advAuto="0"/>
      <p:bldP spid="116" grpId="3" animBg="1" advAuto="0"/>
      <p:bldP spid="117" grpId="4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/>
        </p:nvSpPr>
        <p:spPr>
          <a:xfrm>
            <a:off x="215265" y="146685"/>
            <a:ext cx="8848090" cy="48615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0" lvl="0" indent="-358775" eaLnBrk="1" fontAlgn="auto" latinLnBrk="0" hangingPunct="1"/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9. </a:t>
            </a: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acquire </a:t>
            </a:r>
            <a:r>
              <a:rPr sz="31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vt. </a:t>
            </a:r>
            <a:endParaRPr sz="3100" b="1" i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to </a:t>
            </a:r>
            <a:r>
              <a:rPr sz="31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obtain sth by buying</a:t>
            </a:r>
            <a:r>
              <a:rPr sz="31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to being given it</a:t>
            </a:r>
            <a:endParaRPr sz="3100" b="1" i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acquire valuable works of art/ an email address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to</a:t>
            </a:r>
            <a:r>
              <a:rPr sz="31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gain sth by efforts</a:t>
            </a:r>
            <a:r>
              <a:rPr sz="3100" b="1" i="1">
                <a:solidFill>
                  <a:srgbClr val="0433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/ability/behavior</a:t>
            </a:r>
            <a:endParaRPr sz="3100" b="1">
              <a:solidFill>
                <a:srgbClr val="0433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college </a:t>
            </a:r>
            <a:r>
              <a:rPr sz="31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acquired a reputation for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very high standards. 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have recently </a:t>
            </a:r>
            <a:r>
              <a:rPr sz="31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acquired a taste for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olives. 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(an acquired taste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逐渐养成的爱好</a:t>
            </a: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acquisition [C/U] 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获得，习得，得到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like your earrings—are they a recent acquisition?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1" bldLvl="5" animBg="1" advAuto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215515" y="147001"/>
            <a:ext cx="8712970" cy="14463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58775" lvl="0" indent="-358775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achieve a goal/target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achieve success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achieve one’s ambition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1" bldLvl="5" animBg="1" advAuto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/>
        </p:nvSpPr>
        <p:spPr>
          <a:xfrm>
            <a:off x="9438" y="-10822"/>
            <a:ext cx="9303830" cy="625919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effort n.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她尽力想转移话题。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 </a:t>
            </a: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made an effort to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change the subject of the conversation.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every effort to do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尽一切努力做某事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shopping mall </a:t>
            </a: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spares no effort to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attract more customers. 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想尽办法（不遗余力）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an effort to do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(=in order to try to)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solidFill>
                  <a:srgbClr val="3C8A9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Only with a joint effort can we finish the task on time.</a:t>
            </a:r>
            <a:endParaRPr sz="3000" b="1">
              <a:solidFill>
                <a:srgbClr val="3C8A9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通力合作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with effort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费劲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without effort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轻松</a:t>
            </a:r>
            <a:r>
              <a:rPr lang="en-US"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Alex轻巧地一跃而起。 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-358775" eaLnBrk="1" fontAlgn="auto" latinLnBrk="0" hangingPunct="1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Alex _________ feet with________________________.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978542" y="5804149"/>
            <a:ext cx="1802933" cy="5319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marL="358775" indent="-358775">
              <a:lnSpc>
                <a:spcPct val="90000"/>
              </a:lnSpc>
              <a:def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100" b="1">
                <a:solidFill>
                  <a:srgbClr val="FF0000"/>
                </a:solidFill>
              </a:rPr>
              <a:t>rose to his</a:t>
            </a:r>
            <a:endParaRPr sz="3100" b="1">
              <a:solidFill>
                <a:srgbClr val="FF0000"/>
              </a:solidFill>
            </a:endParaRPr>
          </a:p>
        </p:txBody>
      </p:sp>
      <p:sp>
        <p:nvSpPr>
          <p:cNvPr id="125" name="Shape 125"/>
          <p:cNvSpPr/>
          <p:nvPr/>
        </p:nvSpPr>
        <p:spPr>
          <a:xfrm>
            <a:off x="4224994" y="5804149"/>
            <a:ext cx="4838152" cy="5319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marL="358775" indent="-358775">
              <a:lnSpc>
                <a:spcPct val="90000"/>
              </a:lnSpc>
              <a:def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100" b="1">
                <a:solidFill>
                  <a:srgbClr val="FF0000"/>
                </a:solidFill>
              </a:rPr>
              <a:t>a single effortless movement</a:t>
            </a:r>
            <a:endParaRPr sz="31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indefinite" fill="hold"/>
                                        <p:tgtEl>
                                          <p:spTgt spid="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indefinite" fill="hold"/>
                                        <p:tgtEl>
                                          <p:spTgt spid="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dur="indefinite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indefinite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1" bldLvl="5" animBg="1" advAuto="0" uiExpand="1" build="p"/>
      <p:bldP spid="124" grpId="2" animBg="1" advAuto="0"/>
      <p:bldP spid="125" grpId="3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/>
        </p:nvSpPr>
        <p:spPr>
          <a:xfrm>
            <a:off x="53975" y="15240"/>
            <a:ext cx="9136380" cy="566801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358775" lvl="0" indent="-358775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11. </a:t>
            </a: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advance </a:t>
            </a:r>
            <a:r>
              <a:rPr sz="31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</a:t>
            </a:r>
            <a:r>
              <a:rPr sz="31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change, discovery, or invention that brings progress </a:t>
            </a: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进步，进展；前进，行进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90000"/>
              </a:lnSpc>
              <a:buSzPct val="100000"/>
              <a:buChar char="•"/>
            </a:pP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technological/scientific/medical advances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90000"/>
              </a:lnSpc>
              <a:buSzPct val="100000"/>
              <a:buChar char="•"/>
            </a:pP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major advance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90000"/>
              </a:lnSpc>
              <a:buSzPct val="100000"/>
              <a:buChar char="•"/>
            </a:pPr>
            <a:r>
              <a:rPr sz="31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Recent advances in</a:t>
            </a: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genetics have raised moral questions.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90000"/>
              </a:lnSpc>
              <a:buSzPct val="100000"/>
              <a:buChar char="•"/>
            </a:pP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ask for an advance on my salary </a:t>
            </a:r>
            <a:r>
              <a:rPr sz="31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要求预支薪水</a:t>
            </a:r>
            <a:endParaRPr sz="3100" b="1" i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Their aircraft were </a:t>
            </a:r>
            <a:r>
              <a:rPr sz="31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advance of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those used by the US.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airline suggests booking tickets 21 days </a:t>
            </a:r>
            <a:r>
              <a:rPr sz="31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advance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90000"/>
              </a:lnSpc>
            </a:pP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advance of 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在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……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之前；超前于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90000"/>
              </a:lnSpc>
            </a:pP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advance 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预先，提前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1" bldLvl="5" animBg="1" advAuto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/>
        </p:nvSpPr>
        <p:spPr>
          <a:xfrm>
            <a:off x="-11367" y="-25533"/>
            <a:ext cx="5144149" cy="677937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10515" lvl="0" indent="-310515">
              <a:lnSpc>
                <a:spcPct val="70000"/>
              </a:lnSpc>
              <a:spcBef>
                <a:spcPts val="1800"/>
              </a:spcBef>
              <a:buSzPct val="100000"/>
              <a:buChar char="•"/>
            </a:pPr>
            <a:r>
              <a: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 advanced his queen to threaten his opponent’s king. (in a game of chess)</a:t>
            </a:r>
            <a:endParaRPr sz="31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70000"/>
              </a:lnSpc>
              <a:spcBef>
                <a:spcPts val="1800"/>
              </a:spcBef>
              <a:buSzPct val="100000"/>
              <a:buChar char="•"/>
            </a:pPr>
            <a:r>
              <a: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Such conduct is unlikely to advance your career. </a:t>
            </a:r>
            <a:endParaRPr sz="31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70000"/>
              </a:lnSpc>
              <a:spcBef>
                <a:spcPts val="1800"/>
              </a:spcBef>
              <a:buSzPct val="100000"/>
              <a:buChar char="•"/>
            </a:pPr>
            <a:r>
              <a: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Scientists have advanced a new theory to explain this phenomenon. </a:t>
            </a:r>
            <a:endParaRPr sz="31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70000"/>
              </a:lnSpc>
              <a:spcBef>
                <a:spcPts val="1800"/>
              </a:spcBef>
              <a:buSzPct val="100000"/>
              <a:buChar char="•"/>
            </a:pPr>
            <a:r>
              <a: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bank advanced me 2000 yuan.</a:t>
            </a:r>
            <a:endParaRPr sz="31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70000"/>
              </a:lnSpc>
              <a:spcBef>
                <a:spcPts val="1800"/>
              </a:spcBef>
              <a:buSzPct val="100000"/>
              <a:buChar char="•"/>
            </a:pPr>
            <a:r>
              <a: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Our troops have advanced two miles. </a:t>
            </a:r>
            <a:endParaRPr sz="31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70000"/>
              </a:lnSpc>
              <a:spcBef>
                <a:spcPts val="1800"/>
              </a:spcBef>
              <a:buSzPct val="100000"/>
              <a:buChar char="•"/>
            </a:pPr>
            <a:r>
              <a: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Has civilization advanced during this century? </a:t>
            </a:r>
            <a:endParaRPr sz="31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10515" lvl="0" indent="-310515">
              <a:lnSpc>
                <a:spcPct val="70000"/>
              </a:lnSpc>
              <a:spcBef>
                <a:spcPts val="1800"/>
              </a:spcBef>
              <a:buSzPct val="100000"/>
              <a:buChar char="•"/>
            </a:pPr>
            <a:r>
              <a: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date of the meeting was advanced from 10 to 3 June. </a:t>
            </a:r>
            <a:endParaRPr sz="31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6561713" y="44776"/>
            <a:ext cx="2582334" cy="964256"/>
          </a:xfrm>
          <a:prstGeom prst="rect">
            <a:avLst/>
          </a:prstGeom>
          <a:ln w="25400">
            <a:solidFill>
              <a:srgbClr val="E0A8A6"/>
            </a:solidFill>
            <a:miter lim="400000"/>
          </a:ln>
        </p:spPr>
        <p:txBody>
          <a:bodyPr lIns="0" tIns="0" rIns="0" bIns="0">
            <a:spAutoFit/>
          </a:bodyPr>
          <a:lstStyle>
            <a:lvl1pPr algn="r">
              <a:def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3000"/>
              <a:t> move or put (sb/sth) forward </a:t>
            </a:r>
            <a:endParaRPr sz="3000"/>
          </a:p>
        </p:txBody>
      </p:sp>
      <p:sp>
        <p:nvSpPr>
          <p:cNvPr id="133" name="Shape 133"/>
          <p:cNvSpPr/>
          <p:nvPr/>
        </p:nvSpPr>
        <p:spPr>
          <a:xfrm>
            <a:off x="4639338" y="1227717"/>
            <a:ext cx="4557183" cy="922694"/>
          </a:xfrm>
          <a:prstGeom prst="rect">
            <a:avLst/>
          </a:prstGeom>
          <a:ln w="25400">
            <a:solidFill>
              <a:srgbClr val="E0A8A6"/>
            </a:solidFill>
            <a:miter lim="400000"/>
          </a:ln>
        </p:spPr>
        <p:txBody>
          <a:bodyPr lIns="0" tIns="0" rIns="0" bIns="0">
            <a:spAutoFit/>
          </a:bodyPr>
          <a:lstStyle>
            <a:lvl1pPr algn="r">
              <a:lnSpc>
                <a:spcPct val="90000"/>
              </a:lnSpc>
              <a:def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3000"/>
              <a:t>help the progress of (sth); promote (a person, plan, etc) </a:t>
            </a:r>
            <a:endParaRPr sz="3000"/>
          </a:p>
        </p:txBody>
      </p:sp>
      <p:sp>
        <p:nvSpPr>
          <p:cNvPr id="134" name="Shape 134"/>
          <p:cNvSpPr/>
          <p:nvPr/>
        </p:nvSpPr>
        <p:spPr>
          <a:xfrm>
            <a:off x="5560404" y="2196822"/>
            <a:ext cx="3563911" cy="922695"/>
          </a:xfrm>
          <a:prstGeom prst="rect">
            <a:avLst/>
          </a:prstGeom>
          <a:ln w="25400">
            <a:solidFill>
              <a:srgbClr val="E0A8A6"/>
            </a:solidFill>
            <a:miter lim="400000"/>
          </a:ln>
        </p:spPr>
        <p:txBody>
          <a:bodyPr lIns="0" tIns="0" rIns="0" bIns="0">
            <a:spAutoFit/>
          </a:bodyPr>
          <a:lstStyle>
            <a:lvl1pPr algn="r">
              <a:lnSpc>
                <a:spcPct val="90000"/>
              </a:lnSpc>
              <a:def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3000"/>
              <a:t>make or present (a claim, suggestion, etc)</a:t>
            </a:r>
            <a:endParaRPr sz="3000"/>
          </a:p>
        </p:txBody>
      </p:sp>
      <p:sp>
        <p:nvSpPr>
          <p:cNvPr id="135" name="Shape 135"/>
          <p:cNvSpPr/>
          <p:nvPr/>
        </p:nvSpPr>
        <p:spPr>
          <a:xfrm>
            <a:off x="4588538" y="3239698"/>
            <a:ext cx="4557183" cy="922695"/>
          </a:xfrm>
          <a:prstGeom prst="rect">
            <a:avLst/>
          </a:prstGeom>
          <a:ln w="25400">
            <a:solidFill>
              <a:srgbClr val="E0A8A6"/>
            </a:solidFill>
            <a:miter lim="400000"/>
          </a:ln>
        </p:spPr>
        <p:txBody>
          <a:bodyPr lIns="0" tIns="0" rIns="0" bIns="0">
            <a:spAutoFit/>
          </a:bodyPr>
          <a:lstStyle>
            <a:lvl1pPr algn="r">
              <a:lnSpc>
                <a:spcPct val="90000"/>
              </a:lnSpc>
              <a:def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3000"/>
              <a:t>pay (money) before it is due to be paid; lend (money)</a:t>
            </a:r>
            <a:endParaRPr sz="3000"/>
          </a:p>
        </p:txBody>
      </p:sp>
      <p:sp>
        <p:nvSpPr>
          <p:cNvPr id="136" name="Shape 136"/>
          <p:cNvSpPr/>
          <p:nvPr/>
        </p:nvSpPr>
        <p:spPr>
          <a:xfrm>
            <a:off x="5775511" y="4345407"/>
            <a:ext cx="3360739" cy="532456"/>
          </a:xfrm>
          <a:prstGeom prst="rect">
            <a:avLst/>
          </a:prstGeom>
          <a:ln w="25400">
            <a:solidFill>
              <a:srgbClr val="E0A8A6"/>
            </a:solidFill>
            <a:miter lim="400000"/>
          </a:ln>
        </p:spPr>
        <p:txBody>
          <a:bodyPr lIns="0" tIns="0" rIns="0" bIns="0">
            <a:spAutoFit/>
          </a:bodyPr>
          <a:lstStyle>
            <a:lvl1pPr algn="r">
              <a:lnSpc>
                <a:spcPct val="90000"/>
              </a:lnSpc>
              <a:def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3000"/>
              <a:t>come or go forward </a:t>
            </a:r>
            <a:endParaRPr sz="3000"/>
          </a:p>
        </p:txBody>
      </p:sp>
      <p:sp>
        <p:nvSpPr>
          <p:cNvPr id="137" name="Shape 137"/>
          <p:cNvSpPr/>
          <p:nvPr/>
        </p:nvSpPr>
        <p:spPr>
          <a:xfrm>
            <a:off x="6044758" y="5087528"/>
            <a:ext cx="3082843" cy="532456"/>
          </a:xfrm>
          <a:prstGeom prst="rect">
            <a:avLst/>
          </a:prstGeom>
          <a:ln w="25400">
            <a:solidFill>
              <a:srgbClr val="E0A8A6"/>
            </a:solidFill>
            <a:miter lim="400000"/>
          </a:ln>
        </p:spPr>
        <p:txBody>
          <a:bodyPr lIns="0" tIns="0" rIns="0" bIns="0">
            <a:spAutoFit/>
          </a:bodyPr>
          <a:lstStyle>
            <a:lvl1pPr algn="r">
              <a:def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3000"/>
              <a:t>make progress </a:t>
            </a:r>
            <a:endParaRPr sz="3000"/>
          </a:p>
        </p:txBody>
      </p:sp>
      <p:sp>
        <p:nvSpPr>
          <p:cNvPr id="138" name="Shape 138"/>
          <p:cNvSpPr/>
          <p:nvPr/>
        </p:nvSpPr>
        <p:spPr>
          <a:xfrm>
            <a:off x="5775511" y="5829649"/>
            <a:ext cx="3360739" cy="922695"/>
          </a:xfrm>
          <a:prstGeom prst="rect">
            <a:avLst/>
          </a:prstGeom>
          <a:ln w="25400">
            <a:solidFill>
              <a:srgbClr val="E0A8A6"/>
            </a:solidFill>
            <a:miter lim="400000"/>
          </a:ln>
        </p:spPr>
        <p:txBody>
          <a:bodyPr lIns="0" tIns="0" rIns="0" bIns="0">
            <a:spAutoFit/>
          </a:bodyPr>
          <a:lstStyle>
            <a:lvl1pPr algn="r">
              <a:lnSpc>
                <a:spcPct val="90000"/>
              </a:lnSpc>
              <a:def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/>
            </a:pPr>
            <a:r>
              <a:rPr sz="3000"/>
              <a:t> bring (an event) to an earlier date </a:t>
            </a:r>
            <a:endParaRPr sz="30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7" animBg="1" advAuto="0"/>
      <p:bldP spid="137" grpId="6" animBg="1" advAuto="0"/>
      <p:bldP spid="135" grpId="4" animBg="1" advAuto="0"/>
      <p:bldP spid="132" grpId="1" animBg="1" advAuto="0"/>
      <p:bldP spid="136" grpId="5" animBg="1" advAuto="0"/>
      <p:bldP spid="134" grpId="3" animBg="1" advAuto="0"/>
      <p:bldP spid="133" grpId="2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/>
        </p:nvSpPr>
        <p:spPr>
          <a:xfrm>
            <a:off x="179511" y="855650"/>
            <a:ext cx="8640962" cy="222031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58775" lvl="0" indent="-358775">
              <a:lnSpc>
                <a:spcPct val="11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advanced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sz="32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adj</a:t>
            </a: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高级的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先进的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11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advanced learners of English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11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advanced technology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11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 her advanced age/ a woman of advanced years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1" bldLvl="5" animBg="1" advAuto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/>
        </p:nvSpPr>
        <p:spPr>
          <a:xfrm>
            <a:off x="5903" y="188639"/>
            <a:ext cx="9144001" cy="106339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0850" lvl="0" indent="-450850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a difference: </a:t>
            </a:r>
            <a:r>
              <a:rPr sz="31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have an important effect on something, especially a good effect</a:t>
            </a:r>
            <a:r>
              <a:rPr sz="31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起作用，有影响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215515" y="1437774"/>
            <a:ext cx="8712970" cy="42462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92075" lvl="0" indent="-92075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One more person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wouldn’t </a:t>
            </a: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any difference to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arrangements.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2075" lvl="0" indent="-920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多一个人对安排不会有影响。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2075" lvl="0" indent="-92075">
              <a:lnSpc>
                <a:spcPct val="90000"/>
              </a:lnSpc>
            </a:pP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some difference to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对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……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有些作用或影响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2075" lvl="0" indent="-92075">
              <a:lnSpc>
                <a:spcPct val="90000"/>
              </a:lnSpc>
            </a:pPr>
            <a:r>
              <a:rPr sz="3000" b="1" u="sng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a big difference to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对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……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有很大的影响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作用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2075" lvl="0" indent="-92075">
              <a:lnSpc>
                <a:spcPct val="90000"/>
              </a:lnSpc>
            </a:pP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few kind words at the right time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 all the difference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2075" lvl="0" indent="-920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在适当的时候说几句体贴的话效果迥然不同。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2075" lvl="0" indent="-92075">
              <a:lnSpc>
                <a:spcPct val="90000"/>
              </a:lnSpc>
            </a:pP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Morning or afternoon. It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makes no difference to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me.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2075" lvl="0" indent="-920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上午下午都行，我无所谓。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2" bldLvl="5" animBg="1" advAuto="0" uiExpand="1" build="p"/>
      <p:bldP spid="144" grpId="1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/>
        </p:nvSpPr>
        <p:spPr>
          <a:xfrm>
            <a:off x="198120" y="125095"/>
            <a:ext cx="8961755" cy="624713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358775" lvl="0" indent="-358775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13.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take (full) advantage of: </a:t>
            </a:r>
            <a:r>
              <a:rPr sz="29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make (good) use of (something)</a:t>
            </a:r>
            <a:r>
              <a:rPr sz="29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29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利用；占（某人的）便宜</a:t>
            </a:r>
            <a:endParaRPr sz="29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29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take full advantage of </a:t>
            </a:r>
            <a:r>
              <a:rPr lang="zh-CN" sz="29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充分利用</a:t>
            </a:r>
            <a:r>
              <a:rPr sz="29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/at an advantage</a:t>
            </a:r>
            <a:r>
              <a:rPr lang="en-US" sz="29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zh-CN" altLang="en-US" sz="29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有优势</a:t>
            </a:r>
            <a:br>
              <a:rPr sz="29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sz="29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his advantage / have an advantage over</a:t>
            </a:r>
            <a:br>
              <a:rPr sz="29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sz="29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give him an advantage over</a:t>
            </a:r>
            <a:endParaRPr sz="2900" b="1">
              <a:solidFill>
                <a:srgbClr val="FF0000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  <a:p>
            <a:pPr lvl="0">
              <a:lnSpc>
                <a:spcPct val="90000"/>
              </a:lnSpc>
            </a:pP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Young workers tend to be ________________ when applying for jobs, especially for boys aged 25 like him. As we all know,  computer plays a more and more important role in all kinds of fields nowadays. It might be ______________ to take a computer course of some kind. His diligence also _________________________ the other applicants, which means that he __________________</a:t>
            </a:r>
            <a:r>
              <a:rPr lang="en-US"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___</a:t>
            </a:r>
            <a:r>
              <a:rPr sz="2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his opponent. After being employed, he can _____________________ his smartness and enthusiasm to impress others.</a:t>
            </a:r>
            <a:endParaRPr sz="29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4477646" y="2208510"/>
            <a:ext cx="3547161" cy="5319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100" b="1">
                <a:solidFill>
                  <a:srgbClr val="FF2600"/>
                </a:solidFill>
              </a:rPr>
              <a:t>at an advantage</a:t>
            </a:r>
            <a:endParaRPr sz="3100" b="1">
              <a:solidFill>
                <a:srgbClr val="FF2600"/>
              </a:solidFill>
            </a:endParaRPr>
          </a:p>
        </p:txBody>
      </p:sp>
      <p:sp>
        <p:nvSpPr>
          <p:cNvPr id="149" name="Shape 149"/>
          <p:cNvSpPr/>
          <p:nvPr/>
        </p:nvSpPr>
        <p:spPr>
          <a:xfrm>
            <a:off x="638131" y="3737350"/>
            <a:ext cx="3990976" cy="5319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100" b="1">
                <a:solidFill>
                  <a:srgbClr val="FF2600"/>
                </a:solidFill>
              </a:rPr>
              <a:t>to his advantage</a:t>
            </a:r>
            <a:endParaRPr sz="3100" b="1">
              <a:solidFill>
                <a:srgbClr val="FF2600"/>
              </a:solidFill>
            </a:endParaRPr>
          </a:p>
        </p:txBody>
      </p:sp>
      <p:sp>
        <p:nvSpPr>
          <p:cNvPr id="150" name="Shape 150"/>
          <p:cNvSpPr/>
          <p:nvPr/>
        </p:nvSpPr>
        <p:spPr>
          <a:xfrm>
            <a:off x="3929536" y="4242455"/>
            <a:ext cx="5799271" cy="5319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100" b="1">
                <a:solidFill>
                  <a:srgbClr val="FF2600"/>
                </a:solidFill>
              </a:rPr>
              <a:t>gives him an advantage over</a:t>
            </a:r>
            <a:endParaRPr sz="3100" b="1">
              <a:solidFill>
                <a:srgbClr val="FF2600"/>
              </a:solidFill>
            </a:endParaRPr>
          </a:p>
        </p:txBody>
      </p:sp>
      <p:sp>
        <p:nvSpPr>
          <p:cNvPr id="151" name="Shape 151"/>
          <p:cNvSpPr/>
          <p:nvPr/>
        </p:nvSpPr>
        <p:spPr>
          <a:xfrm>
            <a:off x="263590" y="4974624"/>
            <a:ext cx="4805363" cy="53191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100" b="1">
                <a:solidFill>
                  <a:srgbClr val="FF2600"/>
                </a:solidFill>
              </a:rPr>
              <a:t>has an advantage over</a:t>
            </a:r>
            <a:endParaRPr sz="3100" b="1">
              <a:solidFill>
                <a:srgbClr val="FF2600"/>
              </a:solidFill>
            </a:endParaRPr>
          </a:p>
        </p:txBody>
      </p:sp>
      <p:sp>
        <p:nvSpPr>
          <p:cNvPr id="152" name="Shape 152"/>
          <p:cNvSpPr/>
          <p:nvPr/>
        </p:nvSpPr>
        <p:spPr>
          <a:xfrm>
            <a:off x="3110821" y="5409699"/>
            <a:ext cx="3990976" cy="53191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31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100" b="1">
                <a:solidFill>
                  <a:srgbClr val="FF2600"/>
                </a:solidFill>
              </a:rPr>
              <a:t>take full advantage of</a:t>
            </a:r>
            <a:endParaRPr sz="3100" b="1">
              <a:solidFill>
                <a:srgbClr val="FF26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indefinite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5" animBg="1" advAuto="0"/>
      <p:bldP spid="148" grpId="2" animBg="1" advAuto="0"/>
      <p:bldP spid="147" grpId="1" bldLvl="5" animBg="1" advAuto="0" uiExpand="1" build="p"/>
      <p:bldP spid="152" grpId="6" animBg="1" advAuto="0"/>
      <p:bldP spid="149" grpId="3" animBg="1" advAuto="0"/>
      <p:bldP spid="150" grpId="4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/>
        </p:nvSpPr>
        <p:spPr>
          <a:xfrm>
            <a:off x="179511" y="255416"/>
            <a:ext cx="8784978" cy="384307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14.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equal 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adj. 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If two things are equal or if one thing is equal to another, they are the same in size, number, standard, or value.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相同的，相等的；</a:t>
            </a:r>
            <a:b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平等的；相当的，能胜任的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 equal in size/length/height (of equal size…)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(of) equal value/importance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All men are created equal.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architecture here </a:t>
            </a:r>
            <a:r>
              <a:rPr sz="3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is equal to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any in the world. 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Are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you </a:t>
            </a:r>
            <a:r>
              <a:rPr sz="3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equal to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this job?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5" name="Shape 155"/>
          <p:cNvSpPr/>
          <p:nvPr/>
        </p:nvSpPr>
        <p:spPr>
          <a:xfrm>
            <a:off x="179511" y="4241543"/>
            <a:ext cx="8784978" cy="18024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/>
            <a:r>
              <a:rPr sz="300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a. to be as good as something else</a:t>
            </a:r>
            <a:endParaRPr sz="300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b. </a:t>
            </a:r>
            <a:r>
              <a:rPr sz="300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have the ability to deal with a problem, piece of work etc. successfully</a:t>
            </a:r>
            <a:endParaRPr sz="300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= be up to</a:t>
            </a:r>
            <a:endParaRPr sz="3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1" bldLvl="5" animBg="1" advAuto="0" uiExpand="1" build="p"/>
      <p:bldP spid="155" grpId="2" bldLvl="5" animBg="1" advAuto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/>
        </p:nvSpPr>
        <p:spPr>
          <a:xfrm>
            <a:off x="137219" y="116632"/>
            <a:ext cx="8966391" cy="387049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>
              <a:lnSpc>
                <a:spcPct val="90000"/>
              </a:lnSpc>
            </a:pP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同等的人（物）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 treated his staff as equals. 一视同仁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 without equal /have no equal  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出类拔萃，首屈一指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company proved to </a:t>
            </a:r>
            <a:r>
              <a:rPr sz="3000" b="1" u="sng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 the equal of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its US rivals.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事实证明该公司可与其美国竞争对手抗衡。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vt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与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……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相等；比得上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31495" lvl="0" indent="-53149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eg  No amount of money can 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equal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memories like that.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31495" lvl="0" indent="-53149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再多的金钱也比不上那样的记忆。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1" bldLvl="5" animBg="1" advAuto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/>
        </p:nvSpPr>
        <p:spPr>
          <a:xfrm>
            <a:off x="251519" y="46750"/>
            <a:ext cx="8640962" cy="627364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15.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balance </a:t>
            </a:r>
            <a:r>
              <a:rPr sz="3000" b="1" i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vt.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give equal importance to two contrasting things or parts of sth同等重视</a:t>
            </a:r>
            <a:endParaRPr sz="3000" b="1" i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 tries to balance home life and career.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她力图兼顾家庭生活和事业。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be equal in importance, amount, value, or effect to something that has the opposite effect.相抵，抵消</a:t>
            </a:r>
            <a:endParaRPr sz="3000" b="1" i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Job losses in manufacturing were balanced by job increases in the service sector.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制造业职位的减少因服务业就业机会的增加而得到了弥补。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比较；权衡重要性 balance A against B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立稳；保持平衡 balance on one leg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25475" lvl="0" indent="-625475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balance the television on a pile of books</a:t>
            </a:r>
            <a:endParaRPr sz="30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1" bldLvl="5" animBg="1" advAuto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266700" y="168413"/>
            <a:ext cx="8610600" cy="521624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lvl="0">
              <a:lnSpc>
                <a:spcPct val="9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</a:t>
            </a:r>
            <a:endParaRPr sz="32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keep one’s balance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保持平衡，保持镇静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lose one’s balance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失去平衡，慌乱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keep a balance between ... and ...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保持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与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间的均衡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 balance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总的说来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off / out of balance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失去平衡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bank balance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（余额）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</a:t>
            </a:r>
            <a:r>
              <a:rPr sz="32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balance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of $500 must be paid within 2 days.（结欠）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1" bldLvl="5" animBg="1" advAuto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/>
        </p:nvSpPr>
        <p:spPr>
          <a:xfrm>
            <a:off x="120837" y="55935"/>
            <a:ext cx="8902326" cy="48359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16. </a:t>
            </a: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 responsible for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对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……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负责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有责任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airline is legally responsible for the safety of its passengers.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航空公司对乘客的安全负有法律责任。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 is mentally ill and cannot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 held responsible for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his actions.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他有精神病，不能对自己的行为负责。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Council of Ministers </a:t>
            </a:r>
            <a:r>
              <a:rPr sz="3000" b="1" u="sng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is responsible to</a:t>
            </a: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the Assembly.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内阁须向议会负责。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1" bldLvl="5" animBg="1" advAuto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/>
        </p:nvSpPr>
        <p:spPr>
          <a:xfrm>
            <a:off x="163936" y="89955"/>
            <a:ext cx="8816128" cy="52193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irresponsible 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adj.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不负责任的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responsibility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责任；职责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Who do you trust to take responsibility for Tom’s defence?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你信任谁来负责为汤姆辩护？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 don’t feel ready to take on new responsibilities.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我不愿意承担新的责任。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solidFill>
                  <a:srgbClr val="FF26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Nobody has claimed responsibility for the bombing.</a:t>
            </a:r>
            <a:endParaRPr sz="3000" b="1">
              <a:solidFill>
                <a:srgbClr val="FF2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没有人声称对爆炸事件负责。</a:t>
            </a:r>
            <a:endParaRPr sz="3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sense of responsibility (to/towards sb) 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责任感 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/>
            <a:r>
              <a:rPr sz="31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escape/ avoid responsibility 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逃避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回避责任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1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1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1" bldLvl="5" animBg="1" advAuto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/>
        </p:nvSpPr>
        <p:spPr>
          <a:xfrm>
            <a:off x="179511" y="746275"/>
            <a:ext cx="8640962" cy="487104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58775" lvl="0" indent="-358775">
              <a:lnSpc>
                <a:spcPct val="11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</a:t>
            </a: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Of equal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importance are good study habits, useful skills and a positive attitude. 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110000"/>
              </a:lnSpc>
            </a:pPr>
            <a:r>
              <a:rPr sz="3200" b="1"/>
              <a:t>   同样重要的还有良好的学习习惯、实用的技能和积极的态度。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>
              <a:lnSpc>
                <a:spcPct val="110000"/>
              </a:lnSpc>
            </a:pPr>
            <a:r>
              <a:rPr sz="3200" b="1">
                <a:solidFill>
                  <a:srgbClr val="0000FF"/>
                </a:solidFill>
              </a:rPr>
              <a:t>【</a:t>
            </a:r>
            <a:r>
              <a:rPr sz="3200" b="1">
                <a:solidFill>
                  <a:srgbClr val="0000FF"/>
                </a:solidFill>
              </a:rPr>
              <a:t>分析</a:t>
            </a:r>
            <a:r>
              <a:rPr sz="3200" b="1">
                <a:solidFill>
                  <a:srgbClr val="0000FF"/>
                </a:solidFill>
              </a:rPr>
              <a:t>】</a:t>
            </a:r>
            <a:endParaRPr sz="3200" b="1">
              <a:solidFill>
                <a:srgbClr val="0000FF"/>
              </a:solidFill>
            </a:endParaRPr>
          </a:p>
          <a:p>
            <a:pPr marL="358775" lvl="0" indent="-358775">
              <a:lnSpc>
                <a:spcPct val="110000"/>
              </a:lnSpc>
            </a:pP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1) </a:t>
            </a:r>
            <a:r>
              <a:rPr sz="3200" b="1">
                <a:solidFill>
                  <a:srgbClr val="FF0000"/>
                </a:solidFill>
              </a:rPr>
              <a:t>该句是倒装句，主语为</a:t>
            </a:r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good study habits, useful skills and a positive attitude</a:t>
            </a:r>
            <a:r>
              <a:rPr sz="3200" b="1">
                <a:solidFill>
                  <a:srgbClr val="FF0000"/>
                </a:solidFill>
              </a:rPr>
              <a:t>，因主语较长，实用倒装结构可以使句子更平衡。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70" name="Shape 170"/>
          <p:cNvSpPr/>
          <p:nvPr/>
        </p:nvSpPr>
        <p:spPr>
          <a:xfrm>
            <a:off x="3635121" y="23988"/>
            <a:ext cx="1729741" cy="662941"/>
          </a:xfrm>
          <a:prstGeom prst="rect">
            <a:avLst/>
          </a:prstGeom>
          <a:solidFill>
            <a:srgbClr val="FFCC99"/>
          </a:solidFill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defRPr sz="3200" b="1"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</a:lstStyle>
          <a:p>
            <a:pPr lvl="0">
              <a:defRPr sz="1800" b="0"/>
            </a:pPr>
            <a:r>
              <a:rPr sz="3200" b="1"/>
              <a:t>特殊句式</a:t>
            </a:r>
            <a:endParaRPr sz="32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1" bldLvl="5" animBg="1" advAuto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/>
        </p:nvSpPr>
        <p:spPr>
          <a:xfrm>
            <a:off x="179511" y="239563"/>
            <a:ext cx="8640962" cy="570674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0850" lvl="0" indent="-450850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2) </a:t>
            </a:r>
            <a:r>
              <a:rPr sz="3100" b="1">
                <a:solidFill>
                  <a:srgbClr val="FF0000"/>
                </a:solidFill>
              </a:rPr>
              <a:t>常见的完全倒装结构：</a:t>
            </a:r>
            <a:endParaRPr sz="31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0850" lvl="0" indent="-450850">
              <a:lnSpc>
                <a:spcPct val="90000"/>
              </a:lnSpc>
            </a:pPr>
            <a:r>
              <a:rPr sz="3100" b="1"/>
              <a:t>    表示地点的介词短语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+be/live/stand…+</a:t>
            </a:r>
            <a:r>
              <a:rPr sz="3100" b="1"/>
              <a:t>主语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sz="3100" b="1"/>
              <a:t>主语是名词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r>
              <a:rPr sz="3100" b="1"/>
              <a:t>；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0850" lvl="0" indent="-450850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Here/ There/ Now/ Then/ Out/ In/ Up/ Down/ Away/ Off…+come/ go/ rush…+</a:t>
            </a:r>
            <a:r>
              <a:rPr sz="3100" b="1"/>
              <a:t>主语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sz="3100" b="1"/>
              <a:t>主语是名词，谓语是表示位置移动的动词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r>
              <a:rPr sz="3100" b="1"/>
              <a:t>；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0850" lvl="0" indent="-450850">
              <a:lnSpc>
                <a:spcPct val="90000"/>
              </a:lnSpc>
            </a:pP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There + be/ live/ fly /lie/ stand/ remain…+</a:t>
            </a:r>
            <a:r>
              <a:rPr sz="3100" b="1"/>
              <a:t>主语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sz="3100" b="1"/>
              <a:t>表示某地有某物</a:t>
            </a:r>
            <a:r>
              <a:rPr sz="3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90000"/>
              </a:lnSpc>
            </a:pPr>
            <a:r>
              <a:rPr sz="3100" b="1">
                <a:solidFill>
                  <a:srgbClr val="FF0000"/>
                </a:solidFill>
              </a:rPr>
              <a:t>    注意：</a:t>
            </a:r>
            <a:r>
              <a:rPr sz="3100" b="1"/>
              <a:t>若句子的主语是代词，则主谓不倒装。</a:t>
            </a:r>
            <a:endParaRPr sz="3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0850" lvl="0" indent="-450850">
              <a:lnSpc>
                <a:spcPct val="90000"/>
              </a:lnSpc>
            </a:pPr>
            <a:r>
              <a:rPr sz="3100" b="1"/>
              <a:t>    完全倒装结构谓语动词的单复数取决于其主   语，也就是后面的名词。</a:t>
            </a:r>
            <a:endParaRPr sz="3100" b="1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1" bldLvl="5" animBg="1" advAuto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/>
        </p:nvSpPr>
        <p:spPr>
          <a:xfrm>
            <a:off x="179511" y="620687"/>
            <a:ext cx="8640962" cy="417270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58775" lvl="0" indent="-358775"/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教室里有四十名中国学生和两名老师。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In the classroom are forty Chinese students and two teachers.</a:t>
            </a:r>
            <a:endParaRPr sz="32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</a:t>
            </a:r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在这张照片中，我周围都是那时在我生活中很重要的东西：汽车杂志和乐器。</a:t>
            </a:r>
            <a:endParaRPr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58775" lvl="0" indent="-358775"/>
            <a:r>
              <a:rPr sz="32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Around me in this picture are the things that were very important in my life at that time: car magazines and musical instruments.</a:t>
            </a:r>
            <a:endParaRPr sz="3200" b="1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1" animBg="1" advAuto="0" uiExpand="1" build="p"/>
    </p:bld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10303</Words>
  <Application>WPS Presentation</Application>
  <PresentationFormat/>
  <Paragraphs>329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Helvetica Neue</vt:lpstr>
      <vt:lpstr>Arial</vt:lpstr>
      <vt:lpstr>Helvetica Neue</vt:lpstr>
      <vt:lpstr>Times New Roman</vt:lpstr>
      <vt:lpstr>宋体</vt:lpstr>
      <vt:lpstr>汉仪书宋二KW</vt:lpstr>
      <vt:lpstr>微软雅黑</vt:lpstr>
      <vt:lpstr>汉仪旗黑</vt:lpstr>
      <vt:lpstr>Arial Unicode MS</vt:lpstr>
      <vt:lpstr>Default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Elsssie</cp:lastModifiedBy>
  <cp:revision>6</cp:revision>
  <dcterms:created xsi:type="dcterms:W3CDTF">2024-05-28T05:24:44Z</dcterms:created>
  <dcterms:modified xsi:type="dcterms:W3CDTF">2024-05-28T05:24:44Z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722065CDB5139CE8E54D4866604A084B_42</vt:lpwstr>
  </property>
  <property fmtid="{D5CDD505-2E9C-101B-9397-08002B2CF9AE}" pid="3" name="KSOProductBuildVer">
    <vt:lpwstr>1033-6.7.1.8828</vt:lpwstr>
  </property>
</Properties>
</file>