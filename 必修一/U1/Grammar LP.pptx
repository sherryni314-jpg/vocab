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60" r:id="rId2"/>
    <p:sldId id="367" r:id="rId3"/>
    <p:sldId id="353" r:id="rId4"/>
    <p:sldId id="355" r:id="rId5"/>
    <p:sldId id="363" r:id="rId6"/>
    <p:sldId id="369" r:id="rId7"/>
    <p:sldId id="364" r:id="rId8"/>
    <p:sldId id="356" r:id="rId9"/>
    <p:sldId id="448" r:id="rId10"/>
    <p:sldId id="357" r:id="rId11"/>
    <p:sldId id="449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" userDrawn="1">
          <p15:clr>
            <a:srgbClr val="A4A3A4"/>
          </p15:clr>
        </p15:guide>
        <p15:guide id="2" pos="5421" userDrawn="1">
          <p15:clr>
            <a:srgbClr val="A4A3A4"/>
          </p15:clr>
        </p15:guide>
        <p15:guide id="3" orient="horz" pos="580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926"/>
    <a:srgbClr val="00863D"/>
    <a:srgbClr val="00A249"/>
    <a:srgbClr val="CC3399"/>
    <a:srgbClr val="FF6600"/>
    <a:srgbClr val="0000FF"/>
    <a:srgbClr val="9933FF"/>
    <a:srgbClr val="FFFFCC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494" autoAdjust="0"/>
  </p:normalViewPr>
  <p:slideViewPr>
    <p:cSldViewPr showGuides="1">
      <p:cViewPr varScale="1">
        <p:scale>
          <a:sx n="110" d="100"/>
          <a:sy n="110" d="100"/>
        </p:scale>
        <p:origin x="1584" y="168"/>
      </p:cViewPr>
      <p:guideLst>
        <p:guide pos="288"/>
        <p:guide pos="5421"/>
        <p:guide orient="horz" pos="580"/>
        <p:guide orient="horz" pos="709"/>
        <p:guide orient="horz" pos="3928"/>
        <p:guide orient="horz" pos="3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A68E5-A18F-42A4-9F43-0A00ED9D8592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4A160-3528-4945-B2D3-4DB57BAFBB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/>
        </p:nvSpPr>
        <p:spPr bwMode="auto">
          <a:xfrm>
            <a:off x="122" y="-171493"/>
            <a:ext cx="7668852" cy="533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3230" indent="-44323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80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635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402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233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895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67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39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11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1.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Setting goals gives you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focus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life. </a:t>
            </a:r>
          </a:p>
        </p:txBody>
      </p:sp>
      <p:sp>
        <p:nvSpPr>
          <p:cNvPr id="2" name="矩形 1"/>
          <p:cNvSpPr/>
          <p:nvPr/>
        </p:nvSpPr>
        <p:spPr>
          <a:xfrm>
            <a:off x="72390" y="405130"/>
            <a:ext cx="904494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 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focus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 of recent research has been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  environmental issues.</a:t>
            </a: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 焦点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；重点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incident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事件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brought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problem of violence in schools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into (sharp) focus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children’s faces are badly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out of focus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in the photograph.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我们将继续关注顾客的需要。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shall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keep our focus 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needs of customers.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560" y="0"/>
            <a:ext cx="8836660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needs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focus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more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on/upon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his career.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v.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集中在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...</a:t>
            </a:r>
          </a:p>
          <a:p>
            <a:pPr marL="723900" indent="-7239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focused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his blue eyes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her.</a:t>
            </a:r>
          </a:p>
          <a:p>
            <a:pPr marL="723900" indent="-7239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keep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focused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on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保持在某事上专注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sym typeface="+mn-ea"/>
              </a:rPr>
              <a:t>如果你把注意力集中到工作上</a:t>
            </a:r>
            <a:r>
              <a:rPr lang="en-US" altLang="zh-CN" sz="3200" b="1" dirty="0">
                <a:solidFill>
                  <a:srgbClr val="000000"/>
                </a:solidFill>
                <a:sym typeface="+mn-ea"/>
              </a:rPr>
              <a:t>, </a:t>
            </a:r>
            <a:r>
              <a:rPr lang="zh-CN" altLang="en-US" sz="3200" b="1" dirty="0">
                <a:solidFill>
                  <a:srgbClr val="000000"/>
                </a:solidFill>
                <a:sym typeface="+mn-ea"/>
              </a:rPr>
              <a:t>你会按时完成它的。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If you focus your attention on your work,  you will finish it on time.</a:t>
            </a:r>
            <a:endParaRPr lang="en-US" altLang="zh-CN" sz="3200" b="1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9070" y="45085"/>
            <a:ext cx="8767445" cy="1892300"/>
          </a:xfrm>
          <a:prstGeom prst="rect">
            <a:avLst/>
          </a:prstGeom>
          <a:noFill/>
        </p:spPr>
        <p:txBody>
          <a:bodyPr wrap="square" lIns="121914" tIns="60957" rIns="121914" bIns="60957">
            <a:spAutoFit/>
          </a:bodyPr>
          <a:lstStyle/>
          <a:p>
            <a:pPr marL="355600" indent="-355600">
              <a:lnSpc>
                <a:spcPct val="120000"/>
              </a:lnSpc>
              <a:defRPr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a result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your action, your dream will come true and hopefully you will live a happy life.</a:t>
            </a:r>
          </a:p>
        </p:txBody>
      </p:sp>
      <p:sp>
        <p:nvSpPr>
          <p:cNvPr id="3" name="矩形 2"/>
          <p:cNvSpPr/>
          <p:nvPr/>
        </p:nvSpPr>
        <p:spPr>
          <a:xfrm>
            <a:off x="467995" y="2781300"/>
            <a:ext cx="8303260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3400" indent="-53340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【拓展】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result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短语</a:t>
            </a:r>
          </a:p>
          <a:p>
            <a:pPr marL="271780" indent="-27178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As a result, ...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结果是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marL="271780" indent="-27178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result in  	</a:t>
            </a:r>
            <a:r>
              <a:rPr lang="zh-CN" altLang="en-US" sz="3200" b="1" dirty="0">
                <a:latin typeface="Times New Roman" panose="02020503050405090304" pitchFamily="18" charset="0"/>
              </a:rPr>
              <a:t>导致</a:t>
            </a:r>
          </a:p>
          <a:p>
            <a:pPr marL="271780" indent="-27178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result from  	</a:t>
            </a:r>
            <a:r>
              <a:rPr lang="zh-CN" altLang="en-US" sz="3200" b="1" dirty="0">
                <a:latin typeface="Times New Roman" panose="02020503050405090304" pitchFamily="18" charset="0"/>
              </a:rPr>
              <a:t>由</a:t>
            </a:r>
            <a:r>
              <a:rPr lang="en-US" altLang="zh-CN" sz="3200" b="1" dirty="0">
                <a:latin typeface="+mj-ea"/>
              </a:rPr>
              <a:t>……</a:t>
            </a:r>
            <a:r>
              <a:rPr lang="zh-CN" altLang="en-US" sz="3200" b="1" dirty="0">
                <a:latin typeface="+mj-ea"/>
              </a:rPr>
              <a:t>造成</a:t>
            </a:r>
          </a:p>
        </p:txBody>
      </p:sp>
      <p:sp>
        <p:nvSpPr>
          <p:cNvPr id="6" name="Rectangle 2"/>
          <p:cNvSpPr>
            <a:spLocks noGrp="1" noChangeArrowheads="1"/>
          </p:cNvSpPr>
          <p:nvPr/>
        </p:nvSpPr>
        <p:spPr bwMode="auto">
          <a:xfrm>
            <a:off x="467995" y="1989455"/>
            <a:ext cx="8408670" cy="645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443230" indent="-44323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80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635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402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233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895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67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39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11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as a result of = because of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占位符 16385"/>
          <p:cNvSpPr>
            <a:spLocks noGrp="1"/>
          </p:cNvSpPr>
          <p:nvPr>
            <p:ph idx="1"/>
          </p:nvPr>
        </p:nvSpPr>
        <p:spPr>
          <a:xfrm>
            <a:off x="323850" y="549275"/>
            <a:ext cx="8646795" cy="6036945"/>
          </a:xfrm>
        </p:spPr>
        <p:txBody>
          <a:bodyPr>
            <a:no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1) </a:t>
            </a:r>
            <a:r>
              <a:rPr lang="zh-CN" altLang="en-US" b="1" dirty="0">
                <a:latin typeface="Times New Roman" panose="02020503050405090304" pitchFamily="18" charset="0"/>
              </a:rPr>
              <a:t>他的粗心导致了他的失败。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His carelessness resulted in his failure.</a:t>
            </a:r>
            <a:endParaRPr lang="en-US" altLang="zh-CN" b="1" dirty="0">
              <a:latin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2) </a:t>
            </a:r>
            <a:r>
              <a:rPr lang="zh-CN" altLang="en-US" b="1" dirty="0">
                <a:latin typeface="Times New Roman" panose="02020503050405090304" pitchFamily="18" charset="0"/>
              </a:rPr>
              <a:t>他犯了一个大错误，因此失去了工作。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He made one big mistake, and as a result he lost his job. /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  He lost his job as a result of one big mistake.</a:t>
            </a:r>
            <a:endParaRPr lang="en-US" altLang="zh-CN" b="1" dirty="0">
              <a:latin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3) </a:t>
            </a:r>
            <a:r>
              <a:rPr lang="zh-CN" altLang="en-US" b="1" dirty="0">
                <a:latin typeface="Times New Roman" panose="02020503050405090304" pitchFamily="18" charset="0"/>
              </a:rPr>
              <a:t>生病通常是由缺乏睡眠引起的。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</a:rPr>
              <a:t>Sickness often results from lack of sleep.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/>
        </p:nvSpPr>
        <p:spPr bwMode="auto">
          <a:xfrm>
            <a:off x="-36166" y="-170661"/>
            <a:ext cx="8748972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3230" indent="-44323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80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635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402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233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895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67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39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11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3.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Instead, you should set goals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based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on your abilities and skills. </a:t>
            </a: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07950" y="1125855"/>
            <a:ext cx="8676640" cy="1078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443230" indent="-44323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80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635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402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233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895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67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39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11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1704975" indent="-1704975"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base</a:t>
            </a: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dirty="0"/>
              <a:t> </a:t>
            </a: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use something as the thing from which something else is developed 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cs typeface="Times New Roman" panose="02020503050405090304" pitchFamily="18" charset="0"/>
              </a:rPr>
              <a:t>以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cs typeface="Times New Roman" panose="02020503050405090304" pitchFamily="18" charset="0"/>
              </a:rPr>
              <a:t>……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cs typeface="Times New Roman" panose="02020503050405090304" pitchFamily="18" charset="0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基础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依据） </a:t>
            </a:r>
            <a:endParaRPr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7950" y="2205990"/>
            <a:ext cx="8676640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What are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basing this theory 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?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我的理论基于科学实验。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based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my theory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 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on/upon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scientific experiments.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film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is based 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 short story by Jane Austin.</a:t>
            </a:r>
          </a:p>
          <a:p>
            <a:pPr indent="0" eaLnBrk="1" hangingPunct="1">
              <a:lnSpc>
                <a:spcPct val="120000"/>
              </a:lnSpc>
              <a:buNone/>
            </a:pPr>
            <a:r>
              <a:rPr lang="zh-CN" altLang="en-US" sz="3200" b="1" dirty="0">
                <a:ln>
                  <a:noFill/>
                </a:ln>
                <a:latin typeface="Times New Roman" panose="02020503050405090304" pitchFamily="18" charset="0"/>
                <a:sym typeface="+mn-ea"/>
              </a:rPr>
              <a:t>一项基于计算机的工作</a:t>
            </a:r>
            <a:endParaRPr lang="zh-CN" altLang="en-US" sz="3200" b="1" dirty="0">
              <a:ln>
                <a:noFill/>
              </a:ln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a computer-based job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465" y="2493010"/>
            <a:ext cx="8191500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</a:rPr>
              <a:t>She used her family's history </a:t>
            </a:r>
            <a:r>
              <a:rPr lang="en-US" altLang="zh-CN" sz="3200" b="1" u="sng" dirty="0">
                <a:solidFill>
                  <a:srgbClr val="FF0000"/>
                </a:solidFill>
              </a:rPr>
              <a:t>as a base for</a:t>
            </a:r>
            <a:r>
              <a:rPr lang="en-US" altLang="zh-CN" sz="3200" b="1" dirty="0">
                <a:solidFill>
                  <a:srgbClr val="FF0000"/>
                </a:solidFill>
              </a:rPr>
              <a:t> her novel.</a:t>
            </a:r>
          </a:p>
          <a:p>
            <a:pPr marL="723900" indent="-7239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These policies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have a broad base of support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723900" indent="-72390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这些政策得到广泛支持。</a:t>
            </a:r>
          </a:p>
          <a:p>
            <a:pPr marL="723900" indent="-7239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company has its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base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 New York.</a:t>
            </a: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09220" y="46990"/>
            <a:ext cx="8900160" cy="2383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443230" indent="-44323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80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635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402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233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895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67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39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11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1704975" indent="-1704975"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base</a:t>
            </a: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en-US" altLang="zh-CN" sz="2400" dirty="0"/>
              <a:t> </a:t>
            </a: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lowest part of </a:t>
            </a:r>
            <a:r>
              <a:rPr lang="en-US" altLang="zh-CN" sz="2400" b="1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especially the part or surface on which it rests or stands 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cs typeface="Times New Roman" panose="02020503050405090304" pitchFamily="18" charset="0"/>
              </a:rPr>
              <a:t>底部；根基；基础</a:t>
            </a:r>
            <a:endParaRPr lang="en-US" altLang="zh-CN" sz="2400" b="1" dirty="0">
              <a:solidFill>
                <a:srgbClr val="FF0000"/>
              </a:solidFill>
              <a:latin typeface="+mj-ea"/>
              <a:cs typeface="Times New Roman" panose="02020503050405090304" pitchFamily="18" charset="0"/>
            </a:endParaRPr>
          </a:p>
          <a:p>
            <a:pPr marL="2063750" indent="-2063750">
              <a:lnSpc>
                <a:spcPct val="120000"/>
              </a:lnSpc>
            </a:pP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2) </a:t>
            </a: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main place from which a person, company, or organization controls their activities </a:t>
            </a:r>
          </a:p>
          <a:p>
            <a:pPr marL="1704975" indent="-1704975"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基地，根据地，总部，大本营</a:t>
            </a:r>
            <a:endParaRPr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/>
        </p:nvSpPr>
        <p:spPr bwMode="auto">
          <a:xfrm>
            <a:off x="1270" y="-170815"/>
            <a:ext cx="9070975" cy="5801995"/>
          </a:xfrm>
          <a:prstGeom prst="rect">
            <a:avLst/>
          </a:prstGeom>
          <a:noFill/>
          <a:ln w="2857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was chosen for the job </a:t>
            </a:r>
            <a:r>
              <a:rPr lang="en-US" altLang="zh-CN" sz="3200" b="1" u="sng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the basis of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her qualifications </a:t>
            </a:r>
            <a:r>
              <a:rPr lang="en-US" altLang="zh-CN" sz="3200" b="1" dirty="0">
                <a:ln>
                  <a:noFill/>
                </a:ln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n>
                  <a:noFill/>
                </a:ln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资历</a:t>
            </a:r>
            <a:r>
              <a:rPr lang="en-US" altLang="zh-CN" sz="3200" b="1" dirty="0">
                <a:ln>
                  <a:noFill/>
                </a:ln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We’ll hold the meeting </a:t>
            </a:r>
            <a:r>
              <a:rPr lang="en-US" altLang="zh-CN" sz="3200" b="1" u="sng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a regular basis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457200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basis         n. </a:t>
            </a:r>
            <a:r>
              <a:rPr lang="en-US" altLang="zh-CN" sz="3200" b="1" dirty="0">
                <a:ln>
                  <a:noFill/>
                </a:ln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en-US" altLang="zh-CN" sz="3200" b="1" i="1" dirty="0">
                <a:ln>
                  <a:noFill/>
                </a:ln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the reason, the way</a:t>
            </a:r>
            <a:endParaRPr lang="en-US" altLang="zh-CN" sz="3200" b="1" dirty="0">
              <a:ln>
                <a:noFill/>
              </a:ln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basic   </a:t>
            </a:r>
            <a:r>
              <a:rPr lang="en-US" altLang="zh-CN" sz="3200" b="1" i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ln>
                  <a:noFill/>
                </a:ln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n>
                  <a:noFill/>
                </a:ln>
                <a:latin typeface="Times New Roman" panose="02020503050405090304" pitchFamily="18" charset="0"/>
                <a:cs typeface="Times New Roman" panose="02020503050405090304" pitchFamily="18" charset="0"/>
              </a:rPr>
              <a:t>基础的</a:t>
            </a:r>
            <a:r>
              <a:rPr lang="en-US" altLang="zh-CN" sz="3200" b="1" dirty="0">
                <a:ln>
                  <a:noFill/>
                </a:ln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basically   </a:t>
            </a:r>
            <a:r>
              <a:rPr lang="en-US" altLang="zh-CN" sz="3200" b="1" i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adv.  </a:t>
            </a:r>
            <a:r>
              <a:rPr lang="zh-CN" altLang="en-US" sz="3200" b="1" dirty="0">
                <a:ln>
                  <a:noFill/>
                </a:ln>
                <a:sym typeface="+mn-ea"/>
              </a:rPr>
              <a:t>主要地；基本上</a:t>
            </a:r>
            <a:endParaRPr lang="zh-CN" altLang="en-US" sz="3200" b="1" dirty="0">
              <a:ln>
                <a:noFill/>
              </a:ln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eaLnBrk="1" hangingPunct="1">
              <a:lnSpc>
                <a:spcPct val="120000"/>
              </a:lnSpc>
              <a:buNone/>
            </a:pPr>
            <a:r>
              <a:rPr lang="zh-CN" altLang="en-US" sz="3200" b="1" dirty="0">
                <a:ln>
                  <a:noFill/>
                </a:ln>
                <a:latin typeface="Times New Roman" panose="02020503050405090304" pitchFamily="18" charset="0"/>
                <a:sym typeface="+mn-ea"/>
              </a:rPr>
              <a:t>野营地只提供最基本的设施。</a:t>
            </a:r>
            <a:endParaRPr lang="zh-CN" altLang="en-US" sz="3200" b="1" dirty="0">
              <a:ln>
                <a:noFill/>
              </a:ln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The campsite provided only </a:t>
            </a:r>
            <a:r>
              <a:rPr lang="en-US" altLang="zh-CN" sz="3200" b="1" u="sng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basic facilities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n>
                <a:noFill/>
              </a:ln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u="sng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basic skills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of reading and writing</a:t>
            </a:r>
            <a:endParaRPr lang="en-US" altLang="zh-CN" sz="3200" b="1" dirty="0">
              <a:ln>
                <a:noFill/>
              </a:ln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indent="0" eaLnBrk="1" hangingPunct="1">
              <a:lnSpc>
                <a:spcPct val="120000"/>
              </a:lnSpc>
              <a:buNone/>
            </a:pPr>
            <a:r>
              <a:rPr lang="zh-CN" altLang="en-US" sz="3200" b="1" dirty="0">
                <a:ln>
                  <a:noFill/>
                </a:ln>
                <a:latin typeface="Times New Roman" panose="02020503050405090304" pitchFamily="18" charset="0"/>
                <a:sym typeface="+mn-ea"/>
              </a:rPr>
              <a:t>基本的阅读和写作技能</a:t>
            </a:r>
            <a:endParaRPr lang="en-US" altLang="zh-CN" sz="3200" b="1" dirty="0">
              <a:ln>
                <a:noFill/>
              </a:ln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indent="0" eaLnBrk="1" hangingPunct="1">
              <a:lnSpc>
                <a:spcPct val="120000"/>
              </a:lnSpc>
              <a:buNone/>
            </a:pPr>
            <a:endParaRPr lang="en-US" altLang="zh-CN" sz="3200" b="1" dirty="0">
              <a:ln>
                <a:noFill/>
              </a:ln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07315" y="-170815"/>
            <a:ext cx="8940800" cy="1301750"/>
          </a:xfrm>
          <a:prstGeom prst="rect">
            <a:avLst/>
          </a:prstGeom>
          <a:noFill/>
        </p:spPr>
        <p:txBody>
          <a:bodyPr wrap="square" lIns="121914" tIns="60957" rIns="121914" bIns="60957">
            <a:spAutoFit/>
          </a:bodyPr>
          <a:lstStyle/>
          <a:p>
            <a:pPr marL="450850" indent="-450850">
              <a:lnSpc>
                <a:spcPct val="120000"/>
              </a:lnSpc>
              <a:defRPr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This will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remind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of what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are working for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 focused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3" name="矩形 2"/>
          <p:cNvSpPr/>
          <p:nvPr/>
        </p:nvSpPr>
        <p:spPr>
          <a:xfrm>
            <a:off x="-35560" y="2277745"/>
            <a:ext cx="8558530" cy="17659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photos </a:t>
            </a:r>
            <a:r>
              <a:rPr lang="en-US" altLang="zh-CN" sz="3200" b="1" u="sng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reminded me of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excitement at the party.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这些照片让我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想起了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聚会上的兴奋。</a:t>
            </a:r>
            <a:endParaRPr lang="en-US" altLang="zh-CN" sz="3200" b="1" dirty="0">
              <a:ln>
                <a:noFill/>
              </a:ln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My mother often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reminds me to keep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positive attitude towards life.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妈妈经常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提醒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我要对生活保持积极乐观的态度。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/>
        </p:nvSpPr>
        <p:spPr bwMode="auto">
          <a:xfrm>
            <a:off x="36195" y="1197610"/>
            <a:ext cx="8435975" cy="933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443230" indent="-44323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80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635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4025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233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895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67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39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113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2063750" indent="-2063750">
              <a:lnSpc>
                <a:spcPct val="120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remind  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2400" b="1" i="1" dirty="0"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to make someone remember something that they must do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提醒，使想起</a:t>
            </a:r>
            <a:endParaRPr lang="zh-CN" altLang="zh-CN" sz="24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460" y="476885"/>
            <a:ext cx="8558530" cy="52749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谁能提醒我下一步该做什么？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Can someone remind me what I should do next?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应该提醒乘客本次列车禁止吸烟。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Passengers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9705" y="2277110"/>
            <a:ext cx="855853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shouled be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reminded (that) no smoking is allowed on this train.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9875" y="476885"/>
            <a:ext cx="8732520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Similar structures</a:t>
            </a:r>
          </a:p>
          <a:p>
            <a:pPr marL="533400" indent="-5334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warn sb. 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. 		</a:t>
            </a:r>
            <a:r>
              <a:rPr lang="zh-CN" altLang="en-US" sz="3200" b="1" dirty="0">
                <a:latin typeface="Times New Roman" panose="02020503050405090304" pitchFamily="18" charset="0"/>
              </a:rPr>
              <a:t>提醒</a:t>
            </a:r>
            <a:r>
              <a:rPr lang="en-US" altLang="zh-CN" sz="3200" b="1" dirty="0">
                <a:latin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</a:rPr>
              <a:t>警告某人某事</a:t>
            </a:r>
          </a:p>
          <a:p>
            <a:pPr marL="533400" indent="-5334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inform sb. 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. 		</a:t>
            </a:r>
            <a:r>
              <a:rPr lang="zh-CN" altLang="en-US" sz="3200" b="1" dirty="0">
                <a:latin typeface="Times New Roman" panose="02020503050405090304" pitchFamily="18" charset="0"/>
              </a:rPr>
              <a:t>通知某人某事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zh-CN" altLang="en-US" sz="3200" b="1" dirty="0">
              <a:latin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</a:rPr>
              <a:t>医学专家警告高中生缺乏运动的潜在健康风险。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Medical experts warn high school students the potential health risks of lack of exercise.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195" y="-27305"/>
            <a:ext cx="9025890" cy="663511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zh-CN" b="1"/>
              <a:t>5. ...it is important to </a:t>
            </a:r>
            <a:r>
              <a:rPr lang="en-US" altLang="zh-CN" b="1">
                <a:solidFill>
                  <a:srgbClr val="FF0000"/>
                </a:solidFill>
              </a:rPr>
              <a:t>stick to</a:t>
            </a:r>
            <a:r>
              <a:rPr lang="en-US" altLang="zh-CN" b="1"/>
              <a:t> it... </a:t>
            </a:r>
            <a:r>
              <a:rPr lang="zh-CN" altLang="en-US" b="1"/>
              <a:t>坚持</a:t>
            </a:r>
            <a:endParaRPr lang="en-US" altLang="zh-CN" b="1"/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</a:rPr>
              <a:t>He promised to help us and he </a:t>
            </a:r>
            <a:r>
              <a:rPr lang="en-US" altLang="zh-CN" b="1" u="sng">
                <a:solidFill>
                  <a:srgbClr val="FF0000"/>
                </a:solidFill>
              </a:rPr>
              <a:t>stuck to his word</a:t>
            </a:r>
            <a:r>
              <a:rPr lang="en-US" altLang="zh-CN" b="1">
                <a:solidFill>
                  <a:srgbClr val="FF0000"/>
                </a:solidFill>
              </a:rPr>
              <a:t>.</a:t>
            </a:r>
          </a:p>
          <a:p>
            <a:pPr marL="0" indent="457200">
              <a:buNone/>
            </a:pPr>
            <a:r>
              <a:rPr lang="en-US" altLang="zh-CN" b="1">
                <a:solidFill>
                  <a:schemeClr val="tx1"/>
                </a:solidFill>
              </a:rPr>
              <a:t>(He did as he had promised)</a:t>
            </a:r>
          </a:p>
          <a:p>
            <a:pPr marL="0" indent="457200">
              <a:buNone/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(stick-stuck-stuck)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</a:rPr>
              <a:t>She finds it impossible to </a:t>
            </a:r>
            <a:r>
              <a:rPr lang="en-US" altLang="zh-CN" b="1" u="sng">
                <a:solidFill>
                  <a:srgbClr val="FF0000"/>
                </a:solidFill>
              </a:rPr>
              <a:t>stick to a diet</a:t>
            </a:r>
            <a:r>
              <a:rPr lang="en-US" altLang="zh-CN" b="1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altLang="zh-CN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</a:rPr>
              <a:t>A needle </a:t>
            </a:r>
            <a:r>
              <a:rPr lang="en-US" altLang="zh-CN" b="1" u="sng">
                <a:solidFill>
                  <a:srgbClr val="FF0000"/>
                </a:solidFill>
              </a:rPr>
              <a:t>stuck into my finger</a:t>
            </a:r>
            <a:r>
              <a:rPr lang="en-US" altLang="zh-CN" b="1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</a:rPr>
              <a:t>He </a:t>
            </a:r>
            <a:r>
              <a:rPr lang="en-US" altLang="zh-CN" b="1" u="sng">
                <a:solidFill>
                  <a:srgbClr val="FF0000"/>
                </a:solidFill>
              </a:rPr>
              <a:t>stuck</a:t>
            </a:r>
            <a:r>
              <a:rPr lang="en-US" altLang="zh-CN" b="1">
                <a:solidFill>
                  <a:srgbClr val="FF0000"/>
                </a:solidFill>
              </a:rPr>
              <a:t> the broken pieces </a:t>
            </a:r>
            <a:r>
              <a:rPr lang="en-US" altLang="zh-CN" b="1" u="sng">
                <a:solidFill>
                  <a:srgbClr val="FF0000"/>
                </a:solidFill>
              </a:rPr>
              <a:t>together</a:t>
            </a:r>
            <a:r>
              <a:rPr lang="en-US" altLang="zh-CN" b="1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</a:rPr>
              <a:t>I </a:t>
            </a:r>
            <a:r>
              <a:rPr lang="en-US" altLang="zh-CN" b="1" u="sng">
                <a:solidFill>
                  <a:srgbClr val="FF0000"/>
                </a:solidFill>
              </a:rPr>
              <a:t>was stuck in</a:t>
            </a:r>
            <a:r>
              <a:rPr lang="en-US" altLang="zh-CN" b="1">
                <a:solidFill>
                  <a:srgbClr val="FF0000"/>
                </a:solidFill>
              </a:rPr>
              <a:t> the traffic jam for two hours this morning.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</a:rPr>
              <a:t>One of his paintings in particular sticks in my mind.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622165" y="2565400"/>
            <a:ext cx="4450080" cy="632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>
                <a:sym typeface="+mn-ea"/>
              </a:rPr>
              <a:t>push a sharp object into sth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372860" y="3573145"/>
            <a:ext cx="2774315" cy="632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>
                <a:sym typeface="+mn-ea"/>
              </a:rPr>
              <a:t>fix sth to sth else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491865" y="5518150"/>
            <a:ext cx="5342255" cy="632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>
                <a:sym typeface="+mn-ea"/>
              </a:rPr>
              <a:t>be remembered for a long time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420110" y="4653280"/>
            <a:ext cx="5342255" cy="632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>
                <a:sym typeface="+mn-ea"/>
              </a:rPr>
              <a:t>impossible to move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Macintosh PowerPoint</Application>
  <PresentationFormat>On-screen Show (4:3)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宋体</vt:lpstr>
      <vt:lpstr>Times New Roman Bold Italic</vt:lpstr>
      <vt:lpstr>Arial</vt:lpstr>
      <vt:lpstr>Calibri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258</cp:revision>
  <dcterms:created xsi:type="dcterms:W3CDTF">2024-05-28T23:41:53Z</dcterms:created>
  <dcterms:modified xsi:type="dcterms:W3CDTF">2026-07-22T12:28:48Z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7CA67C9BBA899C90EC8DF6645CCC8BA9_42</vt:lpwstr>
  </property>
  <property fmtid="{D5CDD505-2E9C-101B-9397-08002B2CF9AE}" pid="3" name="KSOProductBuildVer">
    <vt:lpwstr>1033-6.7.1.8828</vt:lpwstr>
  </property>
</Properties>
</file>