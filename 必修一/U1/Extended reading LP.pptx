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heme/themeOverride1.xml" ContentType="application/vnd.openxmlformats-officedocument.themeOverr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heme/themeOverride2.xml" ContentType="application/vnd.openxmlformats-officedocument.themeOverr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heme/themeOverride3.xml" ContentType="application/vnd.openxmlformats-officedocument.themeOverr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heme/themeOverride4.xml" ContentType="application/vnd.openxmlformats-officedocument.themeOverr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heme/themeOverride5.xml" ContentType="application/vnd.openxmlformats-officedocument.themeOverr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heme/themeOverride6.xml" ContentType="application/vnd.openxmlformats-officedocument.themeOverr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heme/themeOverride7.xml" ContentType="application/vnd.openxmlformats-officedocument.themeOverr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heme/themeOverride8.xml" ContentType="application/vnd.openxmlformats-officedocument.themeOverr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heme/themeOverride9.xml" ContentType="application/vnd.openxmlformats-officedocument.themeOverr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3.xml" ContentType="application/vnd.openxmlformats-officedocument.presentationml.notesSlide+xml"/>
  <Override PartName="/ppt/tags/tag26.xml" ContentType="application/vnd.openxmlformats-officedocument.presentationml.tags+xml"/>
  <Override PartName="/ppt/notesSlides/notesSlide24.xml" ContentType="application/vnd.openxmlformats-officedocument.presentationml.notesSlide+xml"/>
  <Override PartName="/ppt/tags/tag27.xml" ContentType="application/vnd.openxmlformats-officedocument.presentationml.tags+xml"/>
  <Override PartName="/ppt/notesSlides/notesSlide25.xml" ContentType="application/vnd.openxmlformats-officedocument.presentationml.notesSlide+xml"/>
  <Override PartName="/ppt/tags/tag28.xml" ContentType="application/vnd.openxmlformats-officedocument.presentationml.tags+xml"/>
  <Override PartName="/ppt/notesSlides/notesSlide26.xml" ContentType="application/vnd.openxmlformats-officedocument.presentationml.notesSlide+xml"/>
  <Override PartName="/ppt/tags/tag29.xml" ContentType="application/vnd.openxmlformats-officedocument.presentationml.tags+xml"/>
  <Override PartName="/ppt/notesSlides/notesSlide27.xml" ContentType="application/vnd.openxmlformats-officedocument.presentationml.notesSlide+xml"/>
  <Override PartName="/ppt/tags/tag30.xml" ContentType="application/vnd.openxmlformats-officedocument.presentationml.tags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2"/>
  </p:notesMasterIdLst>
  <p:sldIdLst>
    <p:sldId id="569" r:id="rId3"/>
    <p:sldId id="570" r:id="rId4"/>
    <p:sldId id="571" r:id="rId5"/>
    <p:sldId id="591" r:id="rId6"/>
    <p:sldId id="572" r:id="rId7"/>
    <p:sldId id="574" r:id="rId8"/>
    <p:sldId id="575" r:id="rId9"/>
    <p:sldId id="576" r:id="rId10"/>
    <p:sldId id="577" r:id="rId11"/>
    <p:sldId id="511" r:id="rId12"/>
    <p:sldId id="435" r:id="rId13"/>
    <p:sldId id="578" r:id="rId14"/>
    <p:sldId id="579" r:id="rId15"/>
    <p:sldId id="481" r:id="rId16"/>
    <p:sldId id="580" r:id="rId17"/>
    <p:sldId id="620" r:id="rId18"/>
    <p:sldId id="581" r:id="rId19"/>
    <p:sldId id="582" r:id="rId20"/>
    <p:sldId id="583" r:id="rId21"/>
    <p:sldId id="514" r:id="rId22"/>
    <p:sldId id="513" r:id="rId23"/>
    <p:sldId id="592" r:id="rId24"/>
    <p:sldId id="593" r:id="rId25"/>
    <p:sldId id="585" r:id="rId26"/>
    <p:sldId id="587" r:id="rId27"/>
    <p:sldId id="586" r:id="rId28"/>
    <p:sldId id="588" r:id="rId29"/>
    <p:sldId id="589" r:id="rId30"/>
    <p:sldId id="590" r:id="rId31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  <p:cmAuthor id="3" name="Administrator" initials="A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99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494" autoAdjust="0"/>
  </p:normalViewPr>
  <p:slideViewPr>
    <p:cSldViewPr showGuides="1">
      <p:cViewPr varScale="1">
        <p:scale>
          <a:sx n="109" d="100"/>
          <a:sy n="109" d="100"/>
        </p:scale>
        <p:origin x="1624" y="184"/>
      </p:cViewPr>
      <p:guideLst>
        <p:guide orient="horz" pos="2148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1BD7418E-5BF7-45D8-98B0-F24A9D00B0D2}" type="datetimeFigureOut">
              <a:rPr lang="zh-CN" altLang="en-US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1963279-F46C-4996-BA81-D909470058AD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我们彼此交换了信息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widen. deepen, shorten, quicken...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澳大利亚也是向该区域提供发展援助的主要捐助国。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transition, take a turn in your words</a:t>
            </a:r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transition, take a turn in your words</a:t>
            </a:r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66" name="Shape 16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偶尔，有时</a:t>
            </a:r>
          </a:p>
          <a:p>
            <a:pPr lvl="0">
              <a:defRPr sz="1800"/>
            </a:pPr>
            <a:r>
              <a:rPr sz="2200"/>
              <a:t>曾经，一度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E77015-1E65-4745-B288-6B320AAAD96B}" type="datetimeFigureOut">
              <a:rPr lang="zh-CN" altLang="en-US"/>
              <a:t>2026/7/22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A47FF9-A8EF-4629-9F64-7B2659E5CA9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CBD0B3-60CA-44B7-92BB-D7C53559D205}" type="datetimeFigureOut">
              <a:rPr lang="zh-CN" altLang="en-US"/>
              <a:t>2026/7/22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98F25-653C-46A7-BC3A-B395CFC8131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99D6DBB-4E90-430C-BB71-6C169BC42096}" type="datetimeFigureOut">
              <a:rPr lang="zh-CN" altLang="en-US"/>
              <a:t>2026/7/22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AA1DA-A0B7-4B1F-B856-DDA8F87A378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17A67E-FB70-42F6-AF81-D4EACEAD1433}" type="datetimeFigureOut">
              <a:rPr lang="zh-CN" altLang="en-US"/>
              <a:t>2026/7/22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8D55A3-12A9-414B-871B-33255BDD0A1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CC48ED-5166-4732-9A8C-886EAFE011DF}" type="datetimeFigureOut">
              <a:rPr lang="zh-CN" altLang="en-US"/>
              <a:t>2026/7/22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F568EC-1C48-491C-A7B4-0FB76002131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8A6983-9424-41B0-A7A0-57D3D22060AB}" type="datetimeFigureOut">
              <a:rPr lang="zh-CN" altLang="en-US"/>
              <a:t>2026/7/22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05C17A-9944-499E-B704-3146CA8DF64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3B2F58-1C34-435D-B121-E5F42F6724AE}" type="datetimeFigureOut">
              <a:rPr lang="zh-CN" altLang="en-US"/>
              <a:t>2026/7/22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93D3DF-E401-4984-B33B-B510D0EABD9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0EAF33-B726-40AF-BC0B-DF8227CA8DF2}" type="datetimeFigureOut">
              <a:rPr lang="zh-CN" altLang="en-US"/>
              <a:t>2026/7/22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A0A549-5603-45FE-AA4A-CFCEECF8D75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3BA26E-FFF8-4035-BED5-2198498960D4}" type="datetimeFigureOut">
              <a:rPr lang="zh-CN" altLang="en-US"/>
              <a:t>2026/7/22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B03003-D65B-41C2-8AE0-2E822CAC296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5FCF1B-E7BF-494A-A0F0-7C25C88A55B5}" type="datetimeFigureOut">
              <a:rPr lang="zh-CN" altLang="en-US"/>
              <a:t>2026/7/22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C250BF-EBC8-46BE-B6C7-A90A4CF25DD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87C431-3702-4776-AC4B-D8A8C5D2C5CB}" type="datetimeFigureOut">
              <a:rPr lang="zh-CN" altLang="en-US"/>
              <a:t>2026/7/22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487C39-05EB-4BB6-A82A-128D2C40C91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CB18-DAB1-4DA7-B669-B3B1F441605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02430-52BB-4999-95BA-56CDA9B37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CB18-DAB1-4DA7-B669-B3B1F441605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02430-52BB-4999-95BA-56CDA9B37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CB18-DAB1-4DA7-B669-B3B1F441605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02430-52BB-4999-95BA-56CDA9B37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CB18-DAB1-4DA7-B669-B3B1F441605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02430-52BB-4999-95BA-56CDA9B37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CB18-DAB1-4DA7-B669-B3B1F441605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02430-52BB-4999-95BA-56CDA9B37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CB18-DAB1-4DA7-B669-B3B1F441605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02430-52BB-4999-95BA-56CDA9B37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CB18-DAB1-4DA7-B669-B3B1F441605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02430-52BB-4999-95BA-56CDA9B37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CB18-DAB1-4DA7-B669-B3B1F441605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02430-52BB-4999-95BA-56CDA9B37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CB18-DAB1-4DA7-B669-B3B1F441605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02430-52BB-4999-95BA-56CDA9B37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CB18-DAB1-4DA7-B669-B3B1F441605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02430-52BB-4999-95BA-56CDA9B37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CB18-DAB1-4DA7-B669-B3B1F441605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02430-52BB-4999-95BA-56CDA9B37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C208A64A-C629-467C-9F45-03B5396F059D}" type="datetimeFigureOut">
              <a:rPr lang="zh-CN" altLang="en-US"/>
              <a:t>2026/7/22</a:t>
            </a:fld>
            <a:endParaRPr lang="en-US" altLang="zh-CN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83E57C08-1995-4FC2-AAF4-8224C191B918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0CB18-DAB1-4DA7-B669-B3B1F441605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02430-52BB-4999-95BA-56CDA9B37D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1.xml"/><Relationship Id="rId1" Type="http://schemas.openxmlformats.org/officeDocument/2006/relationships/themeOverride" Target="../theme/themeOverride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themeOverride" Target="../theme/themeOverride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" Type="http://schemas.openxmlformats.org/officeDocument/2006/relationships/themeOverride" Target="../theme/themeOverride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hemeOverride" Target="../theme/themeOverride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6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8.xml"/><Relationship Id="rId1" Type="http://schemas.openxmlformats.org/officeDocument/2006/relationships/themeOverride" Target="../theme/themeOverride7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" Type="http://schemas.openxmlformats.org/officeDocument/2006/relationships/themeOverride" Target="../theme/themeOverride8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0.xml"/><Relationship Id="rId1" Type="http://schemas.openxmlformats.org/officeDocument/2006/relationships/themeOverride" Target="../theme/themeOverride9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" y="0"/>
            <a:ext cx="9108440" cy="68199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1.</a:t>
            </a:r>
            <a:r>
              <a:rPr lang="en-US" altLang="zh-CN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...I had the chance to ... as an </a:t>
            </a: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exchange </a:t>
            </a:r>
            <a:r>
              <a:rPr lang="en-US" altLang="zh-CN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student.</a:t>
            </a:r>
            <a:endParaRPr lang="en-US" altLang="zh-CN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exchange</a:t>
            </a:r>
            <a:r>
              <a:rPr lang="en-US" altLang="zh-CN" b="1">
                <a:latin typeface="Times New Roman Bold Italic" panose="02020503050405090304" charset="0"/>
                <a:ea typeface="楷体" panose="02010609060101010101" charset="-122"/>
                <a:cs typeface="Times New Roman Bold Italic" panose="02020503050405090304" charset="0"/>
                <a:sym typeface="+mn-ea"/>
              </a:rPr>
              <a:t>  </a:t>
            </a:r>
            <a:r>
              <a:rPr lang="en-US" altLang="zh-CN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n.</a:t>
            </a:r>
            <a:r>
              <a:rPr lang="en-US" altLang="zh-CN" b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altLang="zh-CN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&amp;</a:t>
            </a:r>
            <a:r>
              <a:rPr lang="en-US" altLang="zh-CN" b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altLang="zh-CN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vt.</a:t>
            </a:r>
            <a:r>
              <a:rPr lang="en-US" altLang="zh-CN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zh-CN" altLang="en-US" b="1">
                <a:latin typeface="Times New Roman Regular" panose="02020503050405090304" charset="0"/>
                <a:ea typeface="+mj-ea"/>
                <a:cs typeface="Times New Roman Regular" panose="02020503050405090304" charset="0"/>
                <a:sym typeface="+mn-ea"/>
              </a:rPr>
              <a:t>交换；交流；兑换</a:t>
            </a:r>
          </a:p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let her son watch TV </a:t>
            </a:r>
            <a:r>
              <a:rPr lang="en-US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exchange for</a:t>
            </a:r>
            <a:r>
              <a:rPr 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some quiet.</a:t>
            </a:r>
          </a:p>
          <a:p>
            <a:pPr marL="0" indent="0">
              <a:buNone/>
            </a:pP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以换取</a:t>
            </a:r>
            <a:r>
              <a:rPr lang="en-US" altLang="zh-CN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......</a:t>
            </a:r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organization aims for </a:t>
            </a:r>
            <a:r>
              <a:rPr lang="en-US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free exchange of ideas</a:t>
            </a: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among universities.</a:t>
            </a:r>
          </a:p>
          <a:p>
            <a:pPr marL="0" indent="0">
              <a:buNone/>
            </a:pP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该组织着力于大学间思想的自由交流。</a:t>
            </a:r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exchange of information/opinions/views </a:t>
            </a: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信息</a:t>
            </a:r>
            <a:r>
              <a:rPr lang="en-US" altLang="zh-CN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/</a:t>
            </a: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想法的交流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" y="0"/>
            <a:ext cx="9108440" cy="6819900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  <a:effectLst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exchange sth with sb</a:t>
            </a:r>
            <a:r>
              <a:rPr lang="en-US" b="1">
                <a:effectLst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b="1">
                <a:effectLst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与某人交换某物</a:t>
            </a:r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  <a:effectLst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exchange sth for sth</a:t>
            </a:r>
            <a:r>
              <a:rPr lang="en-US" altLang="zh-CN" b="1">
                <a:effectLst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b="1">
                <a:effectLst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更换，兑换</a:t>
            </a:r>
          </a:p>
          <a:p>
            <a:pPr marL="0" indent="0">
              <a:buNone/>
            </a:pPr>
            <a:endParaRPr lang="zh-CN" altLang="en-US" b="1">
              <a:effectLst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0">
              <a:buNone/>
            </a:pPr>
            <a:endParaRPr lang="zh-CN" altLang="en-US" b="1">
              <a:effectLst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44034" name="矩形 1"/>
          <p:cNvSpPr>
            <a:spLocks noChangeArrowheads="1"/>
          </p:cNvSpPr>
          <p:nvPr/>
        </p:nvSpPr>
        <p:spPr bwMode="auto">
          <a:xfrm>
            <a:off x="-35560" y="1125220"/>
            <a:ext cx="9107805" cy="4523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46405" indent="-446405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他给我一个苹果，换一块蛋糕。</a:t>
            </a:r>
          </a:p>
          <a:p>
            <a:pPr marL="446405" indent="-446405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He gave me an apple _______ ________ _______ _______ _______.</a:t>
            </a:r>
          </a:p>
          <a:p>
            <a:pPr marL="446405" indent="-446405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我和你调一个座位好吗？</a:t>
            </a:r>
          </a:p>
          <a:p>
            <a:pPr marL="446405" indent="-446405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May I ________ _______ _______ _______?</a:t>
            </a:r>
          </a:p>
          <a:p>
            <a:pPr marL="446405" indent="-446405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虽然我们在圣诞节互寄信函，但我好几年没见到他了。</a:t>
            </a:r>
          </a:p>
          <a:p>
            <a:pPr marL="446405" indent="-446405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I haven’t seen him for years, though _______</a:t>
            </a:r>
          </a:p>
          <a:p>
            <a:pPr marL="446405" indent="-446405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 _______ at Christmas.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427974" y="1557261"/>
            <a:ext cx="4221063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      exchange       for 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835270" y="2997441"/>
            <a:ext cx="631825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exchange    seats       with         you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019803" y="4581413"/>
            <a:ext cx="3115038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     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38918" y="2040814"/>
            <a:ext cx="403225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a             cake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79070" y="4941570"/>
            <a:ext cx="563499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exchange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letters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" y="0"/>
            <a:ext cx="9108440" cy="68199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2.</a:t>
            </a:r>
            <a:r>
              <a:rPr lang="en-US" altLang="zh-CN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...</a:t>
            </a:r>
            <a:r>
              <a:rPr lang="en-US" altLang="zh-CN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was still </a:t>
            </a:r>
            <a:r>
              <a:rPr lang="en-US" altLang="zh-CN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tough </a:t>
            </a:r>
            <a:r>
              <a:rPr lang="en-US" altLang="zh-CN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for me to remember...</a:t>
            </a:r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1) tough = difficult</a:t>
            </a:r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tough childhood</a:t>
            </a:r>
            <a:r>
              <a:rPr lang="en-US" altLang="zh-CN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苦难的童年</a:t>
            </a:r>
          </a:p>
          <a:p>
            <a:pPr marL="0" indent="0">
              <a:buNone/>
            </a:pPr>
            <a:r>
              <a:rPr lang="en-US" altLang="zh-CN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It’s a tough decision to make</a:t>
            </a: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 </a:t>
            </a: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那是个很难做的决定。</a:t>
            </a:r>
          </a:p>
          <a:p>
            <a:pPr marL="0" indent="0">
              <a:buNone/>
            </a:pPr>
            <a:r>
              <a:rPr b="1">
                <a:solidFill>
                  <a:srgbClr val="FF26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The family has had a tough time (of it) during the last few months.</a:t>
            </a:r>
            <a:endParaRPr lang="zh-CN" altLang="en-US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>
              <a:buNone/>
            </a:pPr>
            <a:r>
              <a:rPr lang="zh-CN" altLang="en-US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对她来说，平衡工作和家庭是很艰难的。</a:t>
            </a:r>
            <a:endParaRPr lang="en-US" altLang="zh-CN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>
              <a:buNone/>
            </a:pPr>
            <a:r>
              <a:rPr lang="en-US" altLang="zh-CN" b="1" spc="-30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It is tough for her to achieve/strike a balance between work and family.  </a:t>
            </a:r>
            <a:endParaRPr lang="en-US" altLang="zh-CN" b="1" spc="-30">
              <a:solidFill>
                <a:srgbClr val="FF0000"/>
              </a:solidFill>
              <a:uFillTx/>
              <a:latin typeface="Times New Roman Bold" panose="02020503050405090304" charset="0"/>
              <a:ea typeface="楷体" panose="02010609060101010101" charset="-122"/>
              <a:cs typeface="Times New Roman Bold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" y="0"/>
            <a:ext cx="9108440" cy="68199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2) tough =strict</a:t>
            </a:r>
          </a:p>
          <a:p>
            <a:pPr marL="0" indent="0" algn="just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b="1" spc="-30">
                <a:solidFill>
                  <a:srgbClr val="FF0000"/>
                </a:solidFill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Don’t </a:t>
            </a:r>
            <a:r>
              <a:rPr lang="en-US" altLang="zh-CN" b="1" u="sng" spc="-30">
                <a:solidFill>
                  <a:srgbClr val="FF0000"/>
                </a:solidFill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too tough on</a:t>
            </a:r>
            <a:r>
              <a:rPr lang="en-US" altLang="zh-CN" b="1" spc="-30">
                <a:solidFill>
                  <a:srgbClr val="FF0000"/>
                </a:solidFill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her—she was just trying to help.</a:t>
            </a:r>
            <a:r>
              <a:rPr lang="en-US" altLang="zh-CN" b="1">
                <a:solidFill>
                  <a:srgbClr val="FF0000"/>
                </a:solidFill>
                <a:latin typeface="+mj-ea"/>
                <a:ea typeface="楷体" panose="02010609060101010101" charset="-122"/>
                <a:cs typeface="+mj-ea"/>
                <a:sym typeface="+mn-ea"/>
              </a:rPr>
              <a:t> </a:t>
            </a:r>
            <a:r>
              <a:rPr lang="zh-CN" altLang="en-US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别对她这么严厉，她只是想帮忙而已。</a:t>
            </a:r>
          </a:p>
          <a:p>
            <a:pPr marL="0" indent="0" algn="just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b="1" spc="-30">
                <a:solidFill>
                  <a:srgbClr val="FF0000"/>
                </a:solidFill>
                <a:uFillTx/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</a:rPr>
              <a:t>talk tough</a:t>
            </a:r>
            <a:r>
              <a:rPr lang="en-US" altLang="zh-CN" spc="-30">
                <a:solidFill>
                  <a:srgbClr val="FF0000"/>
                </a:solidFill>
                <a:uFillTx/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</a:rPr>
              <a:t> </a:t>
            </a:r>
            <a:r>
              <a:rPr lang="zh-CN" altLang="en-US" b="1" spc="-30">
                <a:solidFill>
                  <a:schemeClr val="tx1"/>
                </a:solidFill>
                <a:uFillTx/>
                <a:latin typeface="+mn-ea"/>
                <a:cs typeface="Times New Roman Bold" panose="02020503050405090304" charset="0"/>
              </a:rPr>
              <a:t>说话强硬</a:t>
            </a:r>
            <a:endParaRPr lang="en-US" altLang="zh-CN" spc="-30">
              <a:solidFill>
                <a:srgbClr val="FF0000"/>
              </a:solidFill>
              <a:uFillTx/>
              <a:latin typeface="Times New Roman Bold" panose="02020503050405090304" charset="0"/>
              <a:ea typeface="楷体" panose="02010609060101010101" charset="-122"/>
              <a:cs typeface="Times New Roman Bold" panose="02020503050405090304" charset="0"/>
            </a:endParaRPr>
          </a:p>
          <a:p>
            <a:pPr marL="0" indent="0">
              <a:buNone/>
            </a:pPr>
            <a:endParaRPr lang="en-US" altLang="zh-CN" b="1" spc="-30">
              <a:solidFill>
                <a:srgbClr val="FF0000"/>
              </a:solidFill>
              <a:uFillTx/>
              <a:latin typeface="Times New Roman Bold" panose="02020503050405090304" charset="0"/>
              <a:ea typeface="楷体" panose="02010609060101010101" charset="-122"/>
              <a:cs typeface="Times New Roman Bold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" y="0"/>
            <a:ext cx="9108440" cy="6819900"/>
          </a:xfrm>
        </p:spPr>
        <p:txBody>
          <a:bodyPr/>
          <a:lstStyle/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 spc="-30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3) strong enough to deal with difficult situations successfully </a:t>
            </a:r>
            <a:r>
              <a:rPr lang="en-US" altLang="zh-CN" b="1" spc="-30">
                <a:solidFill>
                  <a:schemeClr val="tx1"/>
                </a:solidFill>
                <a:uFillTx/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坚强的，健壮的，能吃苦耐劳的</a:t>
            </a:r>
            <a:endParaRPr lang="zh-CN" altLang="en-US" b="1" spc="-30">
              <a:solidFill>
                <a:srgbClr val="FF0000"/>
              </a:solidFill>
              <a:uFillTx/>
              <a:latin typeface="Times New Roman" panose="02020503050405090304" pitchFamily="18" charset="0"/>
              <a:ea typeface="楷体" panose="02010609060101010101" charset="-122"/>
              <a:cs typeface="Times New Roman" panose="02020503050405090304" pitchFamily="18" charset="0"/>
              <a:sym typeface="+mn-ea"/>
            </a:endParaRP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 spc="-30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He plays </a:t>
            </a:r>
            <a:r>
              <a:rPr lang="en-US" altLang="zh-CN" b="1" u="sng" spc="-30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a tough guy</a:t>
            </a:r>
            <a:r>
              <a:rPr lang="en-US" altLang="zh-CN" b="1" spc="-30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in the movie.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b="1" spc="-30">
                <a:solidFill>
                  <a:schemeClr val="tx1"/>
                </a:solidFill>
                <a:uFillTx/>
                <a:latin typeface="+mj-ea"/>
                <a:ea typeface="+mj-ea"/>
                <a:cs typeface="Times New Roman" panose="02020503050405090304" pitchFamily="18" charset="0"/>
              </a:rPr>
              <a:t>硬汉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 spc="-30">
                <a:solidFill>
                  <a:srgbClr val="FF0000"/>
                </a:solidFill>
                <a:uFillTx/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He is not tough enough for a career in sales.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b="1" spc="-30">
                <a:solidFill>
                  <a:schemeClr val="tx1"/>
                </a:solidFill>
                <a:uFillTx/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他干推销这一行缺少足够的韧劲。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endParaRPr lang="zh-CN" altLang="en-US" b="1" spc="-30">
              <a:solidFill>
                <a:srgbClr val="FF0000"/>
              </a:solidFill>
              <a:uFillTx/>
              <a:latin typeface="Times New Roman Bold" panose="02020503050405090304" charset="0"/>
              <a:ea typeface="+mj-ea"/>
              <a:cs typeface="Times New Roman Bold" panose="02020503050405090304" charset="0"/>
            </a:endParaRP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 spc="-30">
                <a:solidFill>
                  <a:srgbClr val="FF0000"/>
                </a:solidFill>
                <a:uFillTx/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toughness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韧性；强健；坚强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 spc="-30">
                <a:solidFill>
                  <a:srgbClr val="FF0000"/>
                </a:solidFill>
                <a:uFillTx/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toughen      v.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 spc="-30">
                <a:solidFill>
                  <a:srgbClr val="FF0000"/>
                </a:solidFill>
                <a:uFillTx/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She has toughened (up) a lot since her mother died.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b="1" spc="-30">
                <a:solidFill>
                  <a:schemeClr val="tx1"/>
                </a:solidFill>
                <a:uFillTx/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母亲去世之后，她坚强了很多。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628265" y="4581525"/>
            <a:ext cx="66376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>
                <a:latin typeface="Times New Roman Bold Italic" panose="02020503050405090304" charset="0"/>
                <a:cs typeface="Times New Roman Bold Italic" panose="02020503050405090304" charset="0"/>
              </a:rPr>
              <a:t>to become strong/make sth stricter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" y="0"/>
            <a:ext cx="9108440" cy="6819900"/>
          </a:xfrm>
        </p:spPr>
        <p:txBody>
          <a:bodyPr/>
          <a:lstStyle/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b="1" spc="-3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3. ...</a:t>
            </a:r>
            <a:r>
              <a:rPr lang="en-US" b="1" u="sng" spc="-30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put </a:t>
            </a:r>
            <a:r>
              <a:rPr lang="en-US" b="1" spc="-3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the parts </a:t>
            </a:r>
            <a:r>
              <a:rPr lang="en-US" b="1" u="sng" spc="-30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together</a:t>
            </a:r>
            <a:r>
              <a:rPr lang="en-US" b="1" spc="-3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. I ... use it as my </a:t>
            </a:r>
            <a:r>
              <a:rPr lang="en-US" b="1" spc="-30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alarm</a:t>
            </a:r>
            <a:r>
              <a:rPr lang="en-US" b="1" spc="-3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!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b="1" spc="-30">
                <a:solidFill>
                  <a:schemeClr val="tx1"/>
                </a:solidFill>
                <a:uFillTx/>
                <a:latin typeface="+mn-ea"/>
                <a:cs typeface="Times New Roman" panose="02020503050405090304" pitchFamily="18" charset="0"/>
                <a:sym typeface="+mn-ea"/>
              </a:rPr>
              <a:t>把零件组装起来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alarm </a:t>
            </a:r>
            <a:r>
              <a:rPr lang="en-US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n.</a:t>
            </a:r>
            <a:r>
              <a:rPr lang="en-US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1) </a:t>
            </a:r>
            <a:r>
              <a:rPr lang="en-US" altLang="zh-CN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loud noise or a signal </a:t>
            </a:r>
            <a:r>
              <a:rPr lang="zh-CN" altLang="en-US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警报，闹钟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 </a:t>
            </a:r>
            <a:r>
              <a:rPr lang="en-US" altLang="zh-CN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set my alarm for</a:t>
            </a: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6.30 a.m. before going to bed.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把闹钟设在</a:t>
            </a:r>
            <a:r>
              <a:rPr lang="en-US" altLang="zh-CN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...</a:t>
            </a:r>
            <a:endParaRPr lang="zh-CN" altLang="en-US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She decided to </a:t>
            </a:r>
            <a:r>
              <a:rPr lang="en-US" altLang="zh-CN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sound/raise the alarm</a:t>
            </a: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 </a:t>
            </a: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她决定发出警报。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cat </a:t>
            </a:r>
            <a:r>
              <a:rPr lang="en-US" altLang="zh-CN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set off/activated/triggered the alarm</a:t>
            </a: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  <a:r>
              <a:rPr lang="en-US" altLang="zh-CN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触动警报</a:t>
            </a:r>
            <a:endParaRPr lang="en-US" altLang="zh-CN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car </a:t>
            </a:r>
            <a:r>
              <a:rPr lang="en-US" altLang="zh-CN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alarm went off/sounded/rang</a:t>
            </a: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in the middle of the night. </a:t>
            </a: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警报响了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endParaRPr lang="zh-CN" altLang="en-US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" y="0"/>
            <a:ext cx="9108440" cy="6819900"/>
          </a:xfrm>
        </p:spPr>
        <p:txBody>
          <a:bodyPr/>
          <a:lstStyle/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2) </a:t>
            </a:r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fear and anxiety that sb feels when sth dangerous might happen</a:t>
            </a:r>
            <a:r>
              <a:rPr lang="en-US" altLang="zh-CN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惊恐，惊慌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She looked around </a:t>
            </a:r>
            <a:r>
              <a:rPr lang="en-US" altLang="zh-CN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 alarm</a:t>
            </a: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 </a:t>
            </a:r>
            <a:r>
              <a:rPr lang="en-US" altLang="zh-CN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惊慌地</a:t>
            </a:r>
            <a:endParaRPr lang="zh-CN" altLang="en-US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 felt a growing sense of </a:t>
            </a:r>
            <a:r>
              <a:rPr lang="en-US" altLang="zh-CN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alarm</a:t>
            </a:r>
            <a:r>
              <a:rPr lang="en-US" altLang="zh-CN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when he didn’t return that night.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endParaRPr lang="en-US" altLang="zh-CN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alarm v</a:t>
            </a:r>
            <a:r>
              <a:rPr lang="en-US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. </a:t>
            </a:r>
            <a:r>
              <a:rPr lang="en-US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b="1" i="1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make sb anxious or worried</a:t>
            </a:r>
            <a:r>
              <a:rPr lang="en-US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使惊恐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mother didn’t want to</a:t>
            </a:r>
            <a:r>
              <a:rPr lang="en-US" altLang="zh-CN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alarm her child</a:t>
            </a: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妈妈不想让孩子害怕。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She </a:t>
            </a:r>
            <a:r>
              <a:rPr lang="en-US" altLang="zh-CN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was alarmed by/at</a:t>
            </a: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the thought of going back home alone. </a:t>
            </a: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因</a:t>
            </a:r>
            <a:r>
              <a:rPr lang="en-US" altLang="zh-CN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...</a:t>
            </a: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而害怕，惊恐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" y="0"/>
            <a:ext cx="9108440" cy="6819900"/>
          </a:xfrm>
        </p:spPr>
        <p:txBody>
          <a:bodyPr/>
          <a:lstStyle/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alarmed </a:t>
            </a:r>
            <a:r>
              <a:rPr lang="en-US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</a:t>
            </a:r>
            <a:r>
              <a:rPr 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  <a:r>
              <a:rPr lang="en-US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感到惊慌的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alarming </a:t>
            </a:r>
            <a:r>
              <a:rPr lang="en-US" altLang="zh-CN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</a:t>
            </a: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  <a:r>
              <a:rPr lang="en-US" altLang="zh-CN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令人惊慌的</a:t>
            </a:r>
            <a:r>
              <a:rPr lang="en-US" altLang="zh-CN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  </a:t>
            </a: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alarmingly</a:t>
            </a:r>
            <a:r>
              <a:rPr lang="en-US" altLang="zh-CN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b="1" i="1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adv.</a:t>
            </a:r>
            <a:endParaRPr lang="en-US" altLang="zh-CN" b="1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亚马逊热带雨林正在以惊人的速度消失。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Amazon rainforest ______________________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________________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b="1">
                <a:solidFill>
                  <a:srgbClr val="FF0000"/>
                </a:solidFill>
                <a:uFillTx/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During the early 19th century the crime rate rose </a:t>
            </a:r>
            <a:r>
              <a:rPr lang="en-US" b="1" u="sng">
                <a:solidFill>
                  <a:srgbClr val="FF0000"/>
                </a:solidFill>
                <a:uFillTx/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alarmingly</a:t>
            </a:r>
            <a:r>
              <a:rPr lang="en-US" b="1">
                <a:solidFill>
                  <a:srgbClr val="FF0000"/>
                </a:solidFill>
                <a:uFillTx/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.  </a:t>
            </a:r>
            <a:endParaRPr lang="zh-CN" altLang="en-US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在19世纪初，犯罪率惊人地上升。</a:t>
            </a:r>
            <a:endParaRPr lang="en-US" altLang="zh-CN" b="1">
              <a:solidFill>
                <a:schemeClr val="tx1"/>
              </a:solidFill>
              <a:uFillTx/>
              <a:latin typeface="+mj-ea"/>
              <a:ea typeface="+mj-ea"/>
              <a:cs typeface="+mn-ea"/>
            </a:endParaRP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endParaRPr lang="zh-CN" altLang="en-US" b="1">
              <a:latin typeface="+mj-ea"/>
              <a:ea typeface="+mj-ea"/>
              <a:cs typeface="+mn-ea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19405" y="1772285"/>
            <a:ext cx="832802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                                       is disappering at an alarming speed.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" y="0"/>
            <a:ext cx="9108440" cy="6819900"/>
          </a:xfrm>
        </p:spPr>
        <p:txBody>
          <a:bodyPr/>
          <a:lstStyle/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他从来不介意我的闹钟早上</a:t>
            </a:r>
            <a:r>
              <a:rPr lang="en-US" altLang="zh-CN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4</a:t>
            </a: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点就响。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He never minded ____________________________ __________at </a:t>
            </a:r>
            <a:r>
              <a:rPr 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4 a.m. 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  <a:sym typeface="+mn-ea"/>
              </a:rPr>
              <a:t>一开前门，警铃就会响。</a:t>
            </a:r>
          </a:p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  <a:sym typeface="+mn-ea"/>
              </a:rPr>
              <a:t>Opening the door will _______________________.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04470" y="548005"/>
            <a:ext cx="885761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                                my alarm going off / sounding / ringing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067810" y="2204085"/>
            <a:ext cx="49072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l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set off the alarm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矩形 3"/>
          <p:cNvSpPr>
            <a:spLocks noChangeArrowheads="1"/>
          </p:cNvSpPr>
          <p:nvPr/>
        </p:nvSpPr>
        <p:spPr bwMode="auto">
          <a:xfrm>
            <a:off x="35560" y="44450"/>
            <a:ext cx="9126855" cy="65874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625475" indent="-6254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There are _____________________ I am at a loss which is the best choice.</a:t>
            </a:r>
          </a:p>
          <a:p>
            <a:pPr marL="625475" indent="-6254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It is __________________________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find it is more than</a:t>
            </a:r>
          </a:p>
          <a:p>
            <a:pPr marL="625475" indent="-6254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I can deal with all by myself. </a:t>
            </a:r>
          </a:p>
          <a:p>
            <a:pPr marL="625475" indent="-6254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3. It is _____________________________ </a:t>
            </a:r>
          </a:p>
          <a:p>
            <a:pPr marL="625475" indent="-6254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有这么多的选择，以至于我不知道哪个是最好的。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25475" indent="-6254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这是一个如此困难的挑战，以至于我发现我无法独自应对。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25475" indent="-6254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太冷了，你不能出去。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88895" y="146050"/>
            <a:ext cx="37846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many options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that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300480" y="1277620"/>
            <a:ext cx="52857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such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 difficult challenge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that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327785" y="3004185"/>
            <a:ext cx="58388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cold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that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you can’t go outside.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-36830" y="-26670"/>
            <a:ext cx="9236710" cy="5898515"/>
          </a:xfrm>
          <a:prstGeom prst="rect">
            <a:avLst/>
          </a:prstGeom>
          <a:noFill/>
          <a:ln>
            <a:solidFill>
              <a:srgbClr val="F5F7F9"/>
            </a:solidFill>
          </a:ln>
        </p:spPr>
        <p:txBody>
          <a:bodyPr wrap="square" rtlCol="0">
            <a:spAutoFit/>
          </a:bodyPr>
          <a:lstStyle/>
          <a:p>
            <a:pPr marL="0" algn="l" eaLnBrk="1" fontAlgn="auto" latinLnBrk="0" hangingPunct="1">
              <a:lnSpc>
                <a:spcPct val="100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4. ..., but I could not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make a great contribution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...</a:t>
            </a: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做出大的贡献</a:t>
            </a: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contribution </a:t>
            </a:r>
            <a:r>
              <a:rPr lang="zh-CN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an action that helps to cause or increase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贡献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促成作用    </a:t>
            </a: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make a huge/major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/positive/ significant/important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contribution</a:t>
            </a: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做出伟大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积极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重大的贡献</a:t>
            </a: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玛丽·居里为人类发展做出了巨大的贡献。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Marie Curie ____________________________________________.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-36195" y="4579620"/>
            <a:ext cx="98996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eaLnBrk="1" latinLnBrk="0" hangingPunct="1">
              <a:lnSpc>
                <a:spcPct val="250000"/>
              </a:lnSpc>
            </a:pPr>
            <a:r>
              <a:rPr lang="en-US" altLang="zh-CN" sz="3200" b="1" spc="-30">
                <a:solidFill>
                  <a:srgbClr val="FF0000"/>
                </a:solidFill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made a great contribution to</a:t>
            </a:r>
            <a:r>
              <a:rPr lang="en-US" altLang="zh-CN" sz="3200" b="1" spc="-30"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human development</a:t>
            </a:r>
            <a:endParaRPr lang="zh-CN" altLang="en-US" sz="3200"/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-36830" y="-26670"/>
            <a:ext cx="9298940" cy="4225290"/>
          </a:xfrm>
          <a:prstGeom prst="rect">
            <a:avLst/>
          </a:prstGeom>
          <a:noFill/>
          <a:ln>
            <a:solidFill>
              <a:srgbClr val="F5F7F9"/>
            </a:solidFill>
          </a:ln>
        </p:spPr>
        <p:txBody>
          <a:bodyPr wrap="square" rtlCol="0">
            <a:spAutoFit/>
          </a:bodyPr>
          <a:lstStyle/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作为一名高中生，我提议我们应该为拯救野生动物做出小小贡献。</a:t>
            </a: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 a senior high school student,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propose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that we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should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make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small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contribution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saving wildlife.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纸的发明是对人类的一大贡献。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invention of paper _____________________________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2570" y="3428365"/>
            <a:ext cx="605345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46405" indent="-446405" algn="l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is a great contribution to humans.</a:t>
            </a:r>
            <a:endParaRPr lang="zh-CN" altLang="en-US"/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-36830" y="-26670"/>
            <a:ext cx="9236710" cy="4815840"/>
          </a:xfrm>
          <a:prstGeom prst="rect">
            <a:avLst/>
          </a:prstGeom>
          <a:noFill/>
          <a:ln>
            <a:solidFill>
              <a:srgbClr val="F5F7F9"/>
            </a:solidFill>
          </a:ln>
        </p:spPr>
        <p:txBody>
          <a:bodyPr wrap="square" rtlCol="0">
            <a:spAutoFit/>
          </a:bodyPr>
          <a:lstStyle/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cn.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 sum of money that is given to a person or an organization to help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捐资；捐款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action)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make/offer a contribution (contributions) to charity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给慈善事业捐款</a:t>
            </a: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All contributions will be gratefully received.</a:t>
            </a: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我们对所有的捐资表示感谢。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(money)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contribution of a sum of money was my idea.</a:t>
            </a:r>
          </a:p>
          <a:p>
            <a:pPr marL="0" indent="-625475" algn="l" eaLnBrk="1" latinLnBrk="0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捐一笔钱是我的主意。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(action)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560" y="-99060"/>
            <a:ext cx="9109075" cy="678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contribute</a:t>
            </a:r>
            <a:r>
              <a:rPr lang="en-US" altLang="zh-CN" sz="3200" b="1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i="1">
                <a:solidFill>
                  <a:schemeClr val="tx1"/>
                </a:solidFill>
                <a:uFillTx/>
                <a:latin typeface="Times New Roman Bold Italic" panose="02020503050405090304" charset="0"/>
                <a:ea typeface="楷体" panose="02010609060101010101" charset="-122"/>
                <a:cs typeface="Times New Roman Bold Italic" panose="02020503050405090304" charset="0"/>
                <a:sym typeface="+mn-ea"/>
              </a:rPr>
              <a:t>vi.</a:t>
            </a:r>
            <a:r>
              <a:rPr lang="en-US" altLang="zh-CN" sz="3200" b="1" i="1">
                <a:solidFill>
                  <a:schemeClr val="tx1"/>
                </a:solidFill>
                <a:uFillTx/>
                <a:latin typeface="Times New Roman Bold Italic" panose="02020503050405090304" charset="0"/>
                <a:ea typeface="楷体" panose="02010609060101010101" charset="-122"/>
                <a:cs typeface="Times New Roman Bold Italic" panose="02020503050405090304" charset="0"/>
                <a:sym typeface="+mn-ea"/>
              </a:rPr>
              <a:t> </a:t>
            </a:r>
            <a:r>
              <a:rPr lang="zh-CN" altLang="en-US" sz="3200" b="1" i="1">
                <a:solidFill>
                  <a:schemeClr val="tx1"/>
                </a:solidFill>
                <a:uFillTx/>
                <a:latin typeface="Times New Roman Bold Italic" panose="02020503050405090304" charset="0"/>
                <a:ea typeface="楷体" panose="02010609060101010101" charset="-122"/>
                <a:cs typeface="Times New Roman Bold Italic" panose="02020503050405090304" charset="0"/>
                <a:sym typeface="+mn-ea"/>
              </a:rPr>
              <a:t>&amp;</a:t>
            </a:r>
            <a:r>
              <a:rPr lang="en-US" altLang="zh-CN" sz="3200" b="1" i="1">
                <a:solidFill>
                  <a:schemeClr val="tx1"/>
                </a:solidFill>
                <a:uFillTx/>
                <a:latin typeface="Times New Roman Bold Italic" panose="02020503050405090304" charset="0"/>
                <a:ea typeface="楷体" panose="02010609060101010101" charset="-122"/>
                <a:cs typeface="Times New Roman Bold Italic" panose="02020503050405090304" charset="0"/>
                <a:sym typeface="+mn-ea"/>
              </a:rPr>
              <a:t> </a:t>
            </a:r>
            <a:r>
              <a:rPr lang="zh-CN" altLang="en-US" sz="3200" b="1" i="1">
                <a:solidFill>
                  <a:schemeClr val="tx1"/>
                </a:solidFill>
                <a:uFillTx/>
                <a:latin typeface="Times New Roman Bold Italic" panose="02020503050405090304" charset="0"/>
                <a:ea typeface="楷体" panose="02010609060101010101" charset="-122"/>
                <a:cs typeface="Times New Roman Bold Italic" panose="02020503050405090304" charset="0"/>
                <a:sym typeface="+mn-ea"/>
              </a:rPr>
              <a:t>vt.</a:t>
            </a:r>
            <a:r>
              <a:rPr lang="en-US" altLang="zh-CN" sz="3200" b="1" i="1">
                <a:solidFill>
                  <a:schemeClr val="tx1"/>
                </a:solidFill>
                <a:uFillTx/>
                <a:latin typeface="+mn-ea"/>
                <a:ea typeface="楷体" panose="02010609060101010101" charset="-122"/>
                <a:cs typeface="+mn-ea"/>
                <a:sym typeface="+mn-ea"/>
              </a:rPr>
              <a:t>  </a:t>
            </a:r>
            <a:r>
              <a:rPr lang="zh-CN" altLang="en-US" sz="3200" b="1">
                <a:solidFill>
                  <a:schemeClr val="tx1"/>
                </a:solidFill>
                <a:uFillTx/>
                <a:latin typeface="+mn-ea"/>
                <a:ea typeface="+mn-ea"/>
                <a:cs typeface="+mn-ea"/>
                <a:sym typeface="+mn-ea"/>
              </a:rPr>
              <a:t>捐款；添加，增进</a:t>
            </a:r>
            <a:endParaRPr lang="en-US" altLang="zh-CN" sz="3200" b="1">
              <a:solidFill>
                <a:srgbClr val="C34D07"/>
              </a:solidFill>
              <a:uFillTx/>
              <a:latin typeface="楷体" panose="02010609060101010101" charset="-122"/>
              <a:ea typeface="楷体" panose="02010609060101010101" charset="-122"/>
              <a:cs typeface="Times New Roman" panose="02020503050405090304" pitchFamily="18" charset="0"/>
              <a:sym typeface="+mn-ea"/>
            </a:endParaRP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contribute</a:t>
            </a:r>
            <a:r>
              <a:rPr lang="en-US" altLang="zh-CN"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(sth) to sth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>
              <a:uFillTx/>
              <a:latin typeface="楷体" panose="02010609060101010101" charset="-122"/>
              <a:ea typeface="楷体" panose="02010609060101010101" charset="-122"/>
              <a:cs typeface="Times New Roman" panose="02020503050405090304" pitchFamily="18" charset="0"/>
              <a:sym typeface="+mn-ea"/>
            </a:endParaRP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She </a:t>
            </a:r>
            <a:r>
              <a:rPr lang="zh-CN" altLang="en-US" sz="3200" b="1" u="sng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contributed all her pocket money to</a:t>
            </a:r>
            <a:r>
              <a:rPr lang="zh-CN" altLang="en-US"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the earthquake fund</a:t>
            </a:r>
            <a:r>
              <a:rPr lang="zh-CN" altLang="en-US" sz="3200" b="1"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.</a:t>
            </a:r>
            <a:endParaRPr lang="zh-CN" altLang="en-US" sz="3200" b="1">
              <a:solidFill>
                <a:schemeClr val="tx1"/>
              </a:solidFill>
              <a:uFillTx/>
              <a:latin typeface="Times New Roman" panose="02020503050405090304" pitchFamily="18" charset="0"/>
              <a:ea typeface="楷体" panose="02010609060101010101" charset="-122"/>
              <a:cs typeface="Times New Roman" panose="02020503050405090304" pitchFamily="18" charset="0"/>
            </a:endParaRP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>
                <a:uFillTx/>
                <a:latin typeface="+mj-ea"/>
                <a:ea typeface="+mj-ea"/>
                <a:cs typeface="+mn-ea"/>
                <a:sym typeface="+mn-ea"/>
              </a:rPr>
              <a:t>她把所有的零花钱都</a:t>
            </a:r>
            <a:r>
              <a:rPr lang="zh-CN" altLang="en-US" sz="3200" b="1" u="sng">
                <a:solidFill>
                  <a:srgbClr val="FF0000"/>
                </a:solidFill>
                <a:uFillTx/>
                <a:latin typeface="+mj-ea"/>
                <a:ea typeface="+mj-ea"/>
                <a:cs typeface="+mn-ea"/>
                <a:sym typeface="+mn-ea"/>
              </a:rPr>
              <a:t>捐给了</a:t>
            </a:r>
            <a:r>
              <a:rPr lang="zh-CN" altLang="en-US" sz="3200" b="1">
                <a:uFillTx/>
                <a:latin typeface="+mj-ea"/>
                <a:ea typeface="+mj-ea"/>
                <a:cs typeface="+mn-ea"/>
                <a:sym typeface="+mn-ea"/>
              </a:rPr>
              <a:t>地震基金。</a:t>
            </a: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Plenty of fresh air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contributes to good health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zh-CN" altLang="en-US" sz="3200" b="1">
                <a:uFillTx/>
                <a:latin typeface="+mj-ea"/>
                <a:ea typeface="+mj-ea"/>
                <a:cs typeface="+mn-ea"/>
                <a:sym typeface="+mn-ea"/>
              </a:rPr>
              <a:t>充足的新鲜空气</a:t>
            </a:r>
            <a:r>
              <a:rPr lang="zh-CN" altLang="en-US" sz="3200" b="1">
                <a:solidFill>
                  <a:srgbClr val="FF0000"/>
                </a:solidFill>
                <a:uFillTx/>
                <a:latin typeface="+mj-ea"/>
                <a:ea typeface="+mj-ea"/>
                <a:cs typeface="+mn-ea"/>
                <a:sym typeface="+mn-ea"/>
              </a:rPr>
              <a:t>有利于</a:t>
            </a:r>
            <a:r>
              <a:rPr lang="zh-CN" altLang="en-US" sz="3200" b="1">
                <a:uFillTx/>
                <a:latin typeface="+mj-ea"/>
                <a:ea typeface="+mj-ea"/>
                <a:cs typeface="+mn-ea"/>
                <a:sym typeface="+mn-ea"/>
              </a:rPr>
              <a:t>健康</a:t>
            </a:r>
            <a:r>
              <a:rPr lang="zh-CN" altLang="en-US" sz="3200" b="1" dirty="0">
                <a:latin typeface="+mn-ea"/>
                <a:ea typeface="楷体" panose="02010609060101010101" charset="-122"/>
                <a:cs typeface="+mn-ea"/>
                <a:sym typeface="+mn-ea"/>
              </a:rPr>
              <a:t>。</a:t>
            </a: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= be one of the causes of sth</a:t>
            </a: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zh-CN" altLang="en-US" sz="3200" b="1">
                <a:uFillTx/>
                <a:latin typeface="+mn-ea"/>
                <a:ea typeface="+mn-ea"/>
                <a:cs typeface="+mn-ea"/>
                <a:sym typeface="+mn-ea"/>
              </a:rPr>
              <a:t>这个项目将增进两国之间的文化交流。</a:t>
            </a: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en-US" altLang="zh-CN" sz="3200" b="1">
                <a:uFillTx/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This project will _____________________________</a:t>
            </a: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en-US" altLang="zh-CN" sz="3200" b="1">
                <a:uFillTx/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__________________________________</a:t>
            </a:r>
            <a:r>
              <a:rPr lang="en-US" altLang="zh-CN" sz="2800" b="1"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</a:t>
            </a:r>
            <a:endParaRPr lang="zh-CN" altLang="en-US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360" y="5229225"/>
            <a:ext cx="876935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             contribute to the cultural exchange between the two countries.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36195" y="-170815"/>
            <a:ext cx="9109075" cy="678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Human error may be </a:t>
            </a:r>
            <a:r>
              <a:rPr lang="en-US" sz="3200" b="1" u="sng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a contributing factor</a:t>
            </a:r>
            <a:r>
              <a:rPr lang="en-US"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.</a:t>
            </a: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>
                <a:solidFill>
                  <a:schemeClr val="tx1"/>
                </a:solidFill>
                <a:uFillTx/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人为过错可能是一个起作用的因素。</a:t>
            </a:r>
            <a:endParaRPr lang="en-US" sz="3200" b="1">
              <a:solidFill>
                <a:schemeClr val="tx1"/>
              </a:solidFill>
              <a:uFillTx/>
              <a:latin typeface="+mn-ea"/>
              <a:ea typeface="+mn-ea"/>
              <a:cs typeface="Times New Roman" panose="02020503050405090304" pitchFamily="18" charset="0"/>
              <a:sym typeface="+mn-ea"/>
            </a:endParaRP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(Human error may contribute to sth)</a:t>
            </a: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This book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contributes little to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our understanding of the subject.</a:t>
            </a: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这本书对我们了解这门学科助益甚少。</a:t>
            </a: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我希望大家能参与讨论。</a:t>
            </a: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hope everyone will __________________________.</a:t>
            </a: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All the money __________(contribute) will go to the charity fund.</a:t>
            </a:r>
          </a:p>
          <a:p>
            <a:pPr marL="0" indent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(sb contributes money to ...)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708400" y="3933190"/>
            <a:ext cx="59563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contribute to the discussion</a:t>
            </a:r>
          </a:p>
        </p:txBody>
      </p:sp>
      <p:sp>
        <p:nvSpPr>
          <p:cNvPr id="2" name="文本框 6"/>
          <p:cNvSpPr txBox="1"/>
          <p:nvPr/>
        </p:nvSpPr>
        <p:spPr>
          <a:xfrm>
            <a:off x="2484120" y="4580890"/>
            <a:ext cx="59563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contributed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2" grpId="0"/>
      <p:bldP spid="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3970" y="-99060"/>
            <a:ext cx="9170670" cy="5996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sz="32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他定期给杂志撰稿。</a:t>
            </a:r>
            <a:endParaRPr lang="en-US" sz="3200" b="1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lvl="0">
              <a:lnSpc>
                <a:spcPct val="12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He </a:t>
            </a:r>
            <a:r>
              <a:rPr sz="3200" b="1" u="sng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contributes to </a:t>
            </a:r>
            <a:r>
              <a:rPr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the magazine</a:t>
            </a:r>
            <a:r>
              <a:rPr lang="en-US"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on a regular basis</a:t>
            </a:r>
            <a:r>
              <a:rPr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.</a:t>
            </a:r>
          </a:p>
          <a:p>
            <a:pPr lvl="0">
              <a:lnSpc>
                <a:spcPct val="12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he became a regular </a:t>
            </a:r>
            <a:r>
              <a:rPr sz="3200" b="1" u="sng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contributor</a:t>
            </a:r>
            <a:r>
              <a:rPr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to the magazine.</a:t>
            </a:r>
          </a:p>
          <a:p>
            <a:pPr lvl="0">
              <a:lnSpc>
                <a:spcPct val="120000"/>
              </a:lnSpc>
            </a:pPr>
            <a:endParaRPr sz="3200" b="1">
              <a:solidFill>
                <a:srgbClr val="FF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lvl="0">
              <a:lnSpc>
                <a:spcPct val="12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contributor  </a:t>
            </a:r>
            <a:r>
              <a:rPr sz="3200" b="1" i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n</a:t>
            </a:r>
            <a:r>
              <a:rPr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. </a:t>
            </a:r>
            <a:r>
              <a:rPr lang="zh-CN" sz="3200" b="1">
                <a:solidFill>
                  <a:schemeClr val="tx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投稿人；促成因素；捐助者</a:t>
            </a:r>
            <a:endParaRPr lang="zh-CN" sz="3200" b="1">
              <a:solidFill>
                <a:srgbClr val="FF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lvl="0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</a:t>
            </a:r>
            <a:r>
              <a:rPr lang="zh-CN"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tress is a major </a:t>
            </a:r>
            <a:r>
              <a:rPr lang="zh-CN" sz="3200" b="1" u="sng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contributor</a:t>
            </a:r>
            <a:r>
              <a:rPr lang="zh-CN"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to most diseases.</a:t>
            </a:r>
          </a:p>
          <a:p>
            <a:pPr lvl="0">
              <a:lnSpc>
                <a:spcPct val="120000"/>
              </a:lnSpc>
            </a:pPr>
            <a:r>
              <a:rPr lang="zh-CN" sz="3200" b="1">
                <a:solidFill>
                  <a:schemeClr val="tx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压力是大多数疾病的主要原因。</a:t>
            </a:r>
          </a:p>
          <a:p>
            <a:pPr lvl="0">
              <a:lnSpc>
                <a:spcPct val="120000"/>
              </a:lnSpc>
            </a:pPr>
            <a:r>
              <a:rPr lang="zh-CN"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Australia is also a major </a:t>
            </a:r>
            <a:r>
              <a:rPr lang="zh-CN" sz="3200" b="1" u="sng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contributor </a:t>
            </a:r>
            <a:r>
              <a:rPr lang="zh-CN"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of development assistance to the region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.</a:t>
            </a:r>
          </a:p>
          <a:p>
            <a:pPr lvl="0">
              <a:lnSpc>
                <a:spcPct val="120000"/>
              </a:lnSpc>
            </a:pPr>
            <a:r>
              <a:rPr lang="en-US" sz="3200" b="1">
                <a:sym typeface="+mn-ea"/>
              </a:rPr>
              <a:t>澳大利亚也是向该区域提供发展援助的主要捐助国。</a:t>
            </a:r>
            <a:endParaRPr lang="en-US" altLang="zh-CN" sz="3200" b="1">
              <a:solidFill>
                <a:srgbClr val="FF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36195" y="-170815"/>
            <a:ext cx="9205595" cy="678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sz="3200" b="1">
                <a:solidFill>
                  <a:schemeClr val="tx1"/>
                </a:solidFill>
                <a:uFillTx/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5. Although there was not </a:t>
            </a:r>
            <a:r>
              <a:rPr lang="en-US" sz="3200" b="1">
                <a:solidFill>
                  <a:srgbClr val="FF0000"/>
                </a:solidFill>
                <a:uFillTx/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as</a:t>
            </a:r>
            <a:r>
              <a:rPr lang="en-US" sz="3200" b="1">
                <a:solidFill>
                  <a:schemeClr val="tx1"/>
                </a:solidFill>
                <a:uFillTx/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 </a:t>
            </a:r>
            <a:r>
              <a:rPr lang="en-US" sz="3200" b="1">
                <a:solidFill>
                  <a:srgbClr val="FF0000"/>
                </a:solidFill>
                <a:uFillTx/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much </a:t>
            </a:r>
            <a:r>
              <a:rPr lang="en-US" sz="3200" b="1">
                <a:solidFill>
                  <a:schemeClr val="tx1"/>
                </a:solidFill>
                <a:uFillTx/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homework </a:t>
            </a:r>
            <a:r>
              <a:rPr lang="en-US" sz="3200" b="1">
                <a:solidFill>
                  <a:srgbClr val="FF0000"/>
                </a:solidFill>
                <a:uFillTx/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as I was used to</a:t>
            </a:r>
            <a:r>
              <a:rPr lang="en-US" sz="3200" b="1">
                <a:solidFill>
                  <a:schemeClr val="tx1"/>
                </a:solidFill>
                <a:uFillTx/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, </a:t>
            </a:r>
            <a:r>
              <a:rPr lang="zh-CN" altLang="en-US" sz="3200" b="1">
                <a:solidFill>
                  <a:schemeClr val="tx1"/>
                </a:solidFill>
                <a:uFillTx/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.</a:t>
            </a:r>
            <a:r>
              <a:rPr lang="en-US" altLang="zh-CN" sz="3200" b="1">
                <a:solidFill>
                  <a:schemeClr val="tx1"/>
                </a:solidFill>
                <a:uFillTx/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..</a:t>
            </a:r>
            <a:r>
              <a:rPr lang="zh-CN" altLang="en-US" sz="3200" b="1">
                <a:solidFill>
                  <a:schemeClr val="tx1"/>
                </a:solidFill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  <a:sym typeface="+mn-ea"/>
              </a:rPr>
              <a:t>作业不像我过去习惯的那么多</a:t>
            </a:r>
          </a:p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endParaRPr lang="zh-CN" altLang="en-US" sz="3200" b="1">
              <a:solidFill>
                <a:schemeClr val="tx1"/>
              </a:solidFill>
              <a:uFillTx/>
              <a:latin typeface="Times New Roman Regular" panose="02020503050405090304" charset="0"/>
              <a:ea typeface="+mn-ea"/>
              <a:cs typeface="Times New Roman Regular" panose="02020503050405090304" charset="0"/>
              <a:sym typeface="+mn-ea"/>
            </a:endParaRPr>
          </a:p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>
                <a:solidFill>
                  <a:schemeClr val="tx1"/>
                </a:solidFill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  <a:sym typeface="+mn-ea"/>
              </a:rPr>
              <a:t>在这个新社区</a:t>
            </a:r>
            <a:r>
              <a:rPr lang="en-US" altLang="zh-CN" sz="3200" b="1">
                <a:solidFill>
                  <a:schemeClr val="tx1"/>
                </a:solidFill>
                <a:uFillTx/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(neighborhood)</a:t>
            </a:r>
            <a:r>
              <a:rPr lang="zh-CN" altLang="en-US" sz="3200" b="1">
                <a:solidFill>
                  <a:schemeClr val="tx1"/>
                </a:solidFill>
                <a:uFillTx/>
                <a:latin typeface="Times New Roman Regular" panose="02020503050405090304" charset="0"/>
                <a:ea typeface="+mn-ea"/>
                <a:cs typeface="Times New Roman Regular" panose="02020503050405090304" charset="0"/>
                <a:sym typeface="+mn-ea"/>
              </a:rPr>
              <a:t>里，公园没有我过去在旧城镇里习惯的那么多。</a:t>
            </a:r>
          </a:p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There _____________________________________</a:t>
            </a:r>
          </a:p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_________________________________________.</a:t>
            </a:r>
          </a:p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3200" b="1">
                <a:solidFill>
                  <a:schemeClr val="tx1"/>
                </a:solidFill>
                <a:uFillTx/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这家餐厅没有像我过去习惯的那样提供那么多选择。</a:t>
            </a:r>
          </a:p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The restaurant ______________________________</a:t>
            </a:r>
          </a:p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________________.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79070" y="2708910"/>
            <a:ext cx="861568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          were not as many parks in this neighborhood as I was used to in the old town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5560" y="4509135"/>
            <a:ext cx="875919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                            doesn’t provide as many options as I was used to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36195" y="-170815"/>
            <a:ext cx="9205595" cy="678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 spc="-4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6. </a:t>
            </a:r>
            <a:r>
              <a:rPr lang="en-US" altLang="zh-CN" sz="3200" b="1" spc="-4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Fortunately</a:t>
            </a:r>
            <a:r>
              <a:rPr lang="en-US" altLang="zh-CN" sz="3200" b="1" spc="-4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, my teachers and classmates ...</a:t>
            </a:r>
            <a:endParaRPr lang="en-US" altLang="zh-CN" sz="3200" b="1">
              <a:solidFill>
                <a:srgbClr val="FF0000"/>
              </a:solidFill>
              <a:uFillTx/>
              <a:latin typeface="Times New Roman Bold" panose="02020503050405090304" charset="0"/>
              <a:ea typeface="+mn-ea"/>
              <a:cs typeface="Times New Roman Bold" panose="02020503050405090304" charset="0"/>
              <a:sym typeface="+mn-ea"/>
            </a:endParaRPr>
          </a:p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 spc="-40">
                <a:solidFill>
                  <a:srgbClr val="FF0000"/>
                </a:solidFill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fortunately</a:t>
            </a:r>
            <a:r>
              <a:rPr lang="en-US" altLang="zh-CN" sz="32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adv. </a:t>
            </a:r>
            <a:r>
              <a:rPr lang="zh-CN" altLang="en-US" sz="3200" b="1">
                <a:solidFill>
                  <a:schemeClr val="tx1"/>
                </a:solidFill>
                <a:latin typeface="+mj-ea"/>
                <a:ea typeface="+mj-ea"/>
                <a:cs typeface="Times New Roman Bold" panose="02020503050405090304" charset="0"/>
                <a:sym typeface="+mn-ea"/>
              </a:rPr>
              <a:t>幸运地，幸亏</a:t>
            </a:r>
          </a:p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 spc="-40">
                <a:solidFill>
                  <a:srgbClr val="FF0000"/>
                </a:solidFill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unfortunately</a:t>
            </a:r>
            <a:r>
              <a:rPr lang="en-US" altLang="zh-CN" sz="32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adv. </a:t>
            </a:r>
            <a:r>
              <a:rPr lang="zh-CN" altLang="en-US" sz="3200" b="1">
                <a:solidFill>
                  <a:schemeClr val="tx1"/>
                </a:solidFill>
                <a:latin typeface="+mn-ea"/>
                <a:ea typeface="+mn-ea"/>
                <a:cs typeface="Times New Roman Bold" panose="02020503050405090304" charset="0"/>
                <a:sym typeface="+mn-ea"/>
              </a:rPr>
              <a:t>遗憾地，不幸地</a:t>
            </a:r>
            <a:endParaRPr lang="zh-CN" altLang="en-US" sz="3200" b="1">
              <a:solidFill>
                <a:srgbClr val="FF0000"/>
              </a:solidFill>
              <a:latin typeface="Times New Roman Bold" panose="02020503050405090304" charset="0"/>
              <a:ea typeface="楷体" panose="02010609060101010101" charset="-122"/>
              <a:cs typeface="Times New Roman Bold" panose="02020503050405090304" charset="0"/>
              <a:sym typeface="+mn-ea"/>
            </a:endParaRPr>
          </a:p>
          <a:p>
            <a:pPr marL="0" algn="l" defTabSz="457200" eaLnBrk="1" fontAlgn="auto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(to mark a transition)</a:t>
            </a:r>
          </a:p>
          <a:p>
            <a:pPr mar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3200" b="1" spc="-30">
                <a:solidFill>
                  <a:srgbClr val="FF0000"/>
                </a:solidFill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got stuck in the traffic jam, but ________________</a:t>
            </a:r>
          </a:p>
          <a:p>
            <a:pPr mar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楷体" panose="02010609060101010101" charset="-122"/>
                <a:cs typeface="Times New Roman Bold" panose="02020503050405090304" charset="0"/>
                <a:sym typeface="+mn-ea"/>
              </a:rPr>
              <a:t>___________________</a:t>
            </a:r>
            <a:endParaRPr lang="zh-CN" altLang="en-US" sz="3200" b="1">
              <a:solidFill>
                <a:schemeClr val="tx1"/>
              </a:solidFill>
              <a:latin typeface="+mn-ea"/>
              <a:ea typeface="+mn-ea"/>
              <a:cs typeface="Times New Roman Bold" panose="0202050305040509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89560" y="2280920"/>
            <a:ext cx="866902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3200" b="1" spc="-30">
                <a:solidFill>
                  <a:srgbClr val="FF0000"/>
                </a:solidFill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                                       fortunately I arrived on time. 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36195" y="-170815"/>
            <a:ext cx="9205595" cy="678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46405" indent="-446405" algn="l" defTabSz="914400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fame and fortune n.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名利</a:t>
            </a:r>
          </a:p>
          <a:p>
            <a:pPr marL="446405" indent="-446405" algn="l" defTabSz="914400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make a fortune</a:t>
            </a:r>
            <a:r>
              <a:rPr lang="en-US" altLang="zh-CN" sz="3200" b="1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发财</a:t>
            </a:r>
            <a:endParaRPr lang="zh-CN" altLang="en-US" sz="3200" b="1">
              <a:solidFill>
                <a:srgbClr val="FF0000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  <a:sym typeface="+mn-ea"/>
            </a:endParaRPr>
          </a:p>
          <a:p>
            <a:pPr marL="446405" indent="-446405" algn="l" defTabSz="914400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misfortune  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n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不幸</a:t>
            </a:r>
          </a:p>
          <a:p>
            <a:pPr marL="446405" indent="-446405" algn="l" defTabSz="914400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have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had the good fortune to work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with you.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  <a:p>
            <a:pPr marL="446405" indent="-446405" algn="l" defTabSz="914400">
              <a:lnSpc>
                <a:spcPct val="120000"/>
              </a:lnSpc>
            </a:pPr>
            <a:r>
              <a:rPr lang="zh-CN" altLang="en-US" sz="3200" b="1">
                <a:solidFill>
                  <a:schemeClr val="tx1"/>
                </a:solidFill>
                <a:latin typeface="+mn-ea"/>
                <a:ea typeface="+mn-ea"/>
                <a:cs typeface="Times New Roman Bold" panose="02020503050405090304" charset="0"/>
                <a:sym typeface="+mn-ea"/>
              </a:rPr>
              <a:t>我有幸与你共事。</a:t>
            </a:r>
          </a:p>
          <a:p>
            <a:pPr marL="446405" indent="-446405" algn="l" defTabSz="914400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Fortune smiled on me.</a:t>
            </a:r>
          </a:p>
          <a:p>
            <a:pPr marL="446405" indent="-446405" algn="l" defTabSz="914400">
              <a:lnSpc>
                <a:spcPct val="120000"/>
              </a:lnSpc>
            </a:pP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= I have good luck.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ea"/>
              </a:rPr>
              <a:t>我交了好运。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矩形 3"/>
          <p:cNvSpPr>
            <a:spLocks noChangeArrowheads="1"/>
          </p:cNvSpPr>
          <p:nvPr/>
        </p:nvSpPr>
        <p:spPr bwMode="auto">
          <a:xfrm>
            <a:off x="179705" y="188278"/>
            <a:ext cx="8280400" cy="54063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indent="-446405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fortunate  adj.</a:t>
            </a:r>
          </a:p>
          <a:p>
            <a:pPr marL="0" indent="-446405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have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been fortunate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enough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visit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many parts of the world as a speaker.</a:t>
            </a:r>
          </a:p>
          <a:p>
            <a:pPr marL="0" indent="-446405" eaLnBrk="1" latinLnBrk="0" hangingPunct="1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有幸去做某事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446405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fortunate in having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good teacher</a:t>
            </a:r>
          </a:p>
          <a:p>
            <a:pPr marL="0" indent="-446405" eaLnBrk="1" latinLnBrk="0" hangingPunct="1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方面很幸运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446405" eaLnBrk="1" latinLnBrk="0" hangingPunct="1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was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very fortunate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 him that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 arrived on time.</a:t>
            </a:r>
          </a:p>
          <a:p>
            <a:pPr marL="0" indent="-446405" eaLnBrk="1" latinLnBrk="0" hangingPunct="1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对某人来说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是幸运的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ChangeArrowheads="1"/>
          </p:cNvSpPr>
          <p:nvPr/>
        </p:nvSpPr>
        <p:spPr bwMode="auto">
          <a:xfrm>
            <a:off x="32385" y="-50165"/>
            <a:ext cx="9551035" cy="33381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446405" indent="-446405" eaLnBrk="0" hangingPunct="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This summer I ______________________________  to visit Shanghai.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(n.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有幸被邀请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 eaLnBrk="0" hangingPunct="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Think of those less __________ than yourselves, and you will feel happy. </a:t>
            </a:r>
          </a:p>
          <a:p>
            <a:pPr marL="446405" indent="-446405" eaLnBrk="0" hangingPunct="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He _______________ in real estate.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他在房地产上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发了财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203575" y="-69850"/>
            <a:ext cx="6680200" cy="632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had the good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fortune to be invited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138621" y="1052868"/>
            <a:ext cx="2181225" cy="632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fortunate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4684" y="3212529"/>
            <a:ext cx="8424863" cy="632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L="446405" indent="-446405" eaLnBrk="0" hangingPunct="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她很幸运有份好工作。（一句多译）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79029" y="3932709"/>
            <a:ext cx="9271883" cy="22561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is very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fortunate in having/to have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good job.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is very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fortunate that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she has a good job.</a:t>
            </a:r>
          </a:p>
          <a:p>
            <a:pPr>
              <a:lnSpc>
                <a:spcPct val="11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It’s very fortunate that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she has a good job.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043940" y="2060575"/>
            <a:ext cx="3171190" cy="632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made a fortunate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/>
          <p:nvPr/>
        </p:nvSpPr>
        <p:spPr>
          <a:xfrm>
            <a:off x="13808" y="-43042"/>
            <a:ext cx="7848601" cy="64516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445770" lvl="0" indent="-445770">
              <a:lnSpc>
                <a:spcPct val="120000"/>
              </a:lnSpc>
            </a:pPr>
            <a:r>
              <a:rPr lang="en-US" sz="30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7</a:t>
            </a:r>
            <a:r>
              <a:rPr sz="30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. </a:t>
            </a:r>
            <a:r>
              <a: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over time</a:t>
            </a:r>
            <a:r>
              <a:rPr sz="3000">
                <a:latin typeface="宋体"/>
                <a:ea typeface="宋体"/>
                <a:cs typeface="宋体"/>
                <a:sym typeface="宋体"/>
              </a:rPr>
              <a:t> </a:t>
            </a:r>
            <a:r>
              <a:rPr sz="3000" b="1">
                <a:latin typeface="宋体"/>
                <a:ea typeface="宋体"/>
                <a:cs typeface="宋体"/>
                <a:sym typeface="宋体"/>
              </a:rPr>
              <a:t>随着时间流逝；久而久之</a:t>
            </a:r>
          </a:p>
        </p:txBody>
      </p:sp>
      <p:sp>
        <p:nvSpPr>
          <p:cNvPr id="161" name="Shape 161"/>
          <p:cNvSpPr/>
          <p:nvPr/>
        </p:nvSpPr>
        <p:spPr>
          <a:xfrm>
            <a:off x="107792" y="405153"/>
            <a:ext cx="8916986" cy="56311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445770" lvl="0" indent="-445770">
              <a:lnSpc>
                <a:spcPct val="120000"/>
              </a:lnSpc>
            </a:pPr>
            <a:r>
              <a:rPr sz="30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These food safety scares happen __</a:t>
            </a:r>
            <a:r>
              <a:rPr lang="en-US" sz="30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_______</a:t>
            </a:r>
            <a:r>
              <a:rPr sz="30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_______</a:t>
            </a:r>
          </a:p>
          <a:p>
            <a:pPr marL="445770" lvl="0" indent="-445770">
              <a:lnSpc>
                <a:spcPct val="120000"/>
              </a:lnSpc>
            </a:pPr>
            <a:r>
              <a:rPr sz="30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______.</a:t>
            </a:r>
          </a:p>
          <a:p>
            <a:pPr marL="445770" lvl="0" indent="-445770">
              <a:lnSpc>
                <a:spcPct val="120000"/>
              </a:lnSpc>
            </a:pPr>
            <a:r>
              <a:rPr sz="30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这种食品安全恐慌事件时有发生。</a:t>
            </a:r>
          </a:p>
          <a:p>
            <a:pPr marL="445770" lvl="0" indent="-445770">
              <a:lnSpc>
                <a:spcPct val="120000"/>
              </a:lnSpc>
            </a:pPr>
            <a:r>
              <a:rPr sz="3000" b="1" u="sng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At one time</a:t>
            </a:r>
            <a:r>
              <a: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</a:t>
            </a:r>
            <a:r>
              <a:rPr sz="30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She wanted to be a nurse, but the thought of working at night put her off.</a:t>
            </a:r>
          </a:p>
          <a:p>
            <a:pPr marL="445770" lvl="0" indent="-445770">
              <a:lnSpc>
                <a:spcPct val="120000"/>
              </a:lnSpc>
            </a:pPr>
            <a:r>
              <a:rPr sz="30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We’ll be there</a:t>
            </a:r>
            <a:r>
              <a: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______________.</a:t>
            </a:r>
          </a:p>
          <a:p>
            <a:pPr marL="445770" lvl="0" indent="-445770">
              <a:lnSpc>
                <a:spcPct val="120000"/>
              </a:lnSpc>
            </a:pPr>
            <a:r>
              <a:rPr sz="30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我们马上就到。</a:t>
            </a:r>
          </a:p>
          <a:p>
            <a:pPr marL="445770" lvl="0" indent="-445770">
              <a:lnSpc>
                <a:spcPct val="120000"/>
              </a:lnSpc>
            </a:pPr>
            <a:r>
              <a:rPr sz="3000" b="1" u="sng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                   </a:t>
            </a:r>
            <a:r>
              <a:rPr sz="30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did anyone involved speak to the press.</a:t>
            </a:r>
          </a:p>
          <a:p>
            <a:pPr marL="445770" lvl="0" indent="-445770">
              <a:lnSpc>
                <a:spcPct val="120000"/>
              </a:lnSpc>
            </a:pPr>
            <a:r>
              <a:rPr sz="30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任何相关人员都没有向媒体发表过言论。</a:t>
            </a:r>
          </a:p>
          <a:p>
            <a:pPr marL="445770" lvl="0" indent="-445770">
              <a:lnSpc>
                <a:spcPct val="120000"/>
              </a:lnSpc>
            </a:pPr>
            <a:r>
              <a:rPr sz="30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I keep practicing and I’m improving </a:t>
            </a:r>
            <a:r>
              <a:rPr sz="3000" b="1" u="sng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all the time</a:t>
            </a:r>
            <a:r>
              <a: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.</a:t>
            </a:r>
          </a:p>
        </p:txBody>
      </p:sp>
      <p:sp>
        <p:nvSpPr>
          <p:cNvPr id="162" name="Shape 162"/>
          <p:cNvSpPr/>
          <p:nvPr/>
        </p:nvSpPr>
        <p:spPr>
          <a:xfrm>
            <a:off x="99695" y="333375"/>
            <a:ext cx="8827770" cy="119888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445770" indent="-445770">
              <a:lnSpc>
                <a:spcPct val="120000"/>
              </a:lnSpc>
              <a:def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</a:lstStyle>
          <a:p>
            <a:pPr marL="0" lvl="0" eaLnBrk="1" latinLnBrk="0" hangingPunct="1">
              <a:defRPr sz="1800" b="0">
                <a:solidFill>
                  <a:srgbClr val="000000"/>
                </a:solidFill>
              </a:defRPr>
            </a:pPr>
            <a:r>
              <a:rPr lang="en-US" sz="3000" b="1">
                <a:solidFill>
                  <a:srgbClr val="FF0000"/>
                </a:solidFill>
              </a:rPr>
              <a:t>                                                         </a:t>
            </a:r>
            <a:r>
              <a:rPr sz="3000" b="1">
                <a:solidFill>
                  <a:srgbClr val="FF0000"/>
                </a:solidFill>
              </a:rPr>
              <a:t>from time to time</a:t>
            </a:r>
            <a:r>
              <a:rPr lang="en-US" sz="3000" b="1">
                <a:solidFill>
                  <a:srgbClr val="FF0000"/>
                </a:solidFill>
              </a:rPr>
              <a:t> / at times</a:t>
            </a:r>
          </a:p>
        </p:txBody>
      </p:sp>
      <p:sp>
        <p:nvSpPr>
          <p:cNvPr id="163" name="Shape 163"/>
          <p:cNvSpPr/>
          <p:nvPr/>
        </p:nvSpPr>
        <p:spPr>
          <a:xfrm>
            <a:off x="2770930" y="3094612"/>
            <a:ext cx="1733995" cy="50705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marL="445770" indent="-445770">
              <a:lnSpc>
                <a:spcPct val="120000"/>
              </a:lnSpc>
              <a:def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b="1">
                <a:solidFill>
                  <a:srgbClr val="FF0000"/>
                </a:solidFill>
              </a:rPr>
              <a:t>in no time</a:t>
            </a:r>
          </a:p>
        </p:txBody>
      </p:sp>
      <p:sp>
        <p:nvSpPr>
          <p:cNvPr id="164" name="Shape 164"/>
          <p:cNvSpPr/>
          <p:nvPr/>
        </p:nvSpPr>
        <p:spPr>
          <a:xfrm>
            <a:off x="112030" y="4207419"/>
            <a:ext cx="1818269" cy="50705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marL="445770" indent="-445770">
              <a:lnSpc>
                <a:spcPct val="120000"/>
              </a:lnSpc>
              <a:def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b="1">
                <a:solidFill>
                  <a:srgbClr val="FF0000"/>
                </a:solidFill>
              </a:rPr>
              <a:t>At no time</a:t>
            </a:r>
          </a:p>
        </p:txBody>
      </p:sp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 animBg="1"/>
      <p:bldP spid="162" grpId="1"/>
      <p:bldP spid="163" grpId="4" animBg="1" advAuto="0"/>
      <p:bldP spid="164" grpId="5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/>
        </p:nvSpPr>
        <p:spPr>
          <a:xfrm>
            <a:off x="419735" y="525780"/>
            <a:ext cx="8496300" cy="364617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marL="445770" lvl="0" indent="-445770" algn="l">
              <a:lnSpc>
                <a:spcPct val="110000"/>
              </a:lnSpc>
            </a:pPr>
            <a:r>
              <a:rPr sz="3000" b="1" u="sng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ahead of</a:t>
            </a:r>
            <a:r>
              <a: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/ </a:t>
            </a:r>
            <a:r>
              <a:rPr sz="3000" b="1" u="sng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behind</a:t>
            </a:r>
            <a:r>
              <a: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time </a:t>
            </a:r>
            <a:r>
              <a:rPr sz="3000" b="1">
                <a:solidFill>
                  <a:schemeClr val="tx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提前；延后</a:t>
            </a:r>
            <a:endParaRPr sz="3000" b="1">
              <a:solidFill>
                <a:srgbClr val="FF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45770" lvl="0" indent="-445770" algn="l">
              <a:lnSpc>
                <a:spcPct val="11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at the </a:t>
            </a:r>
            <a:r>
              <a:rPr lang="en-US"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same </a:t>
            </a:r>
            <a:r>
              <a: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time</a:t>
            </a:r>
            <a:r>
              <a:rPr lang="en-US"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= meanwhile</a:t>
            </a:r>
            <a:endParaRPr sz="3000" b="1">
              <a:solidFill>
                <a:srgbClr val="FF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45770" lvl="0" indent="-445770" algn="l">
              <a:lnSpc>
                <a:spcPct val="11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for the time being </a:t>
            </a:r>
            <a:r>
              <a:rPr sz="3000" b="1">
                <a:solidFill>
                  <a:schemeClr val="tx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眼下，暂时</a:t>
            </a:r>
            <a:endParaRPr sz="3000" b="1">
              <a:solidFill>
                <a:srgbClr val="FF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45770" lvl="0" indent="0" algn="l">
              <a:lnSpc>
                <a:spcPct val="110000"/>
              </a:lnSpc>
            </a:pPr>
            <a:r>
              <a:rPr lang="en-US"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</a:t>
            </a:r>
            <a:r>
              <a: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hat's all my queries </a:t>
            </a:r>
            <a:r>
              <a:rPr sz="3000" b="1" u="sng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for the time being.</a:t>
            </a:r>
          </a:p>
          <a:p>
            <a:pPr marL="0" lvl="0" indent="0" algn="l" eaLnBrk="1" latinLnBrk="0" hangingPunct="1">
              <a:lnSpc>
                <a:spcPct val="110000"/>
              </a:lnSpc>
            </a:pPr>
            <a:r>
              <a:rPr lang="en-US"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of all time</a:t>
            </a:r>
            <a:r>
              <a:rPr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</a:t>
            </a:r>
            <a:r>
              <a:rPr lang="zh-CN" sz="3000" b="1">
                <a:solidFill>
                  <a:schemeClr val="tx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有史以来</a:t>
            </a:r>
            <a:endParaRPr sz="3000" b="1">
              <a:solidFill>
                <a:srgbClr val="FF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45770" lvl="0" indent="0" algn="l">
              <a:lnSpc>
                <a:spcPct val="110000"/>
              </a:lnSpc>
            </a:pPr>
            <a:r>
              <a:rPr lang="en-US" sz="3000" b="1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This is one of the most-loved Christmas movies </a:t>
            </a:r>
            <a:r>
              <a:rPr lang="en-US" sz="3000" b="1" u="sng">
                <a:solidFill>
                  <a:srgbClr val="FF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of all time.</a:t>
            </a:r>
            <a:endParaRPr lang="zh-CN" altLang="en-US" sz="3000" b="1" u="sng">
              <a:solidFill>
                <a:srgbClr val="FF0000"/>
              </a:solidFill>
              <a:latin typeface="Times New Roman" panose="02020503050405090304"/>
              <a:ea typeface="宋体" charset="0"/>
              <a:cs typeface="Times New Roman" panose="02020503050405090304"/>
              <a:sym typeface="Times New Roman" panose="02020503050405090304"/>
            </a:endParaRPr>
          </a:p>
        </p:txBody>
      </p:sp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ChangeArrowheads="1"/>
          </p:cNvSpPr>
          <p:nvPr/>
        </p:nvSpPr>
        <p:spPr bwMode="auto">
          <a:xfrm>
            <a:off x="-36195" y="-99377"/>
            <a:ext cx="9551035" cy="5502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0" indent="-446405" algn="l" eaLnBrk="0" latinLnBrk="0" hangingPunct="0">
              <a:lnSpc>
                <a:spcPct val="110000"/>
              </a:lnSpc>
            </a:pPr>
            <a:r>
              <a:rPr lang="en-US" altLang="zh-CN" sz="3200" b="1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8. There were lots of </a:t>
            </a: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options </a:t>
            </a:r>
            <a:r>
              <a:rPr lang="en-US" altLang="zh-CN" sz="3200" b="1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including...</a:t>
            </a:r>
          </a:p>
          <a:p>
            <a:pPr marL="0" indent="-446405" algn="l" eaLnBrk="0" latinLnBrk="0" hangingPunct="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option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= sth you can choose</a:t>
            </a:r>
          </a:p>
          <a:p>
            <a:pPr marL="0" indent="-446405" algn="l" eaLnBrk="0" latinLnBrk="0" hangingPunct="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Students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have the option of studying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abroad in their second year.</a:t>
            </a:r>
          </a:p>
          <a:p>
            <a:pPr marL="0" indent="-446405" algn="l" eaLnBrk="0" latinLnBrk="0" hangingPunct="0">
              <a:lnSpc>
                <a:spcPct val="11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= have the option to do sth</a:t>
            </a:r>
          </a:p>
          <a:p>
            <a:pPr marL="0" indent="-446405" algn="l" eaLnBrk="0" latinLnBrk="0" hangingPunct="0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可以做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的选择</a:t>
            </a:r>
          </a:p>
          <a:p>
            <a:pPr marL="0" indent="-446405" algn="l" eaLnBrk="0" latinLnBrk="0" hangingPunct="0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别无选择只好做某事</a:t>
            </a:r>
          </a:p>
          <a:p>
            <a:pPr marL="0" indent="-446405" algn="l" eaLnBrk="0" latinLnBrk="0" hangingPunct="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had no option but to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(= I had to)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ask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him to leave.</a:t>
            </a:r>
          </a:p>
          <a:p>
            <a:pPr marL="0" indent="-446405" algn="l" eaLnBrk="0" latinLnBrk="0" hangingPunct="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 have no choice but to do sth</a:t>
            </a:r>
          </a:p>
          <a:p>
            <a:pPr marL="0" indent="-446405" algn="l" eaLnBrk="0" latinLnBrk="0" hangingPunct="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 can do nothing but (to) do sth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有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do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无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to)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2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ChangeArrowheads="1"/>
          </p:cNvSpPr>
          <p:nvPr/>
        </p:nvSpPr>
        <p:spPr bwMode="auto">
          <a:xfrm>
            <a:off x="14605" y="116205"/>
            <a:ext cx="9006840" cy="33381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0" indent="-446405" algn="l" eaLnBrk="0" latinLnBrk="0" hangingPunct="0">
              <a:lnSpc>
                <a:spcPct val="110000"/>
              </a:lnSpc>
            </a:pP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optional adj. </a:t>
            </a:r>
            <a:r>
              <a:rPr lang="zh-CN" altLang="en-US" sz="3200" b="1">
                <a:solidFill>
                  <a:schemeClr val="tx1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可选择的；选修的</a:t>
            </a:r>
            <a:endParaRPr lang="zh-CN" altLang="en-US" sz="3200" b="1">
              <a:solidFill>
                <a:srgbClr val="FF0000"/>
              </a:solidFill>
              <a:uFillTx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-446405" algn="l" eaLnBrk="0" latinLnBrk="0" hangingPunct="0">
              <a:lnSpc>
                <a:spcPct val="110000"/>
              </a:lnSpc>
            </a:pP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There are many </a:t>
            </a:r>
            <a:r>
              <a:rPr lang="en-US" altLang="zh-CN" sz="3200" b="1" u="sng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optional courses</a:t>
            </a: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in my university.</a:t>
            </a:r>
          </a:p>
          <a:p>
            <a:pPr marL="0" indent="-446405" algn="l" eaLnBrk="0" latinLnBrk="0" hangingPunct="0">
              <a:lnSpc>
                <a:spcPct val="110000"/>
              </a:lnSpc>
            </a:pPr>
            <a:r>
              <a:rPr lang="en-US" altLang="zh-CN" sz="3200" b="1">
                <a:solidFill>
                  <a:schemeClr val="tx1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opp.</a:t>
            </a: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compulsory courses </a:t>
            </a:r>
            <a:r>
              <a:rPr lang="zh-CN" altLang="en-US" sz="3200" b="1">
                <a:solidFill>
                  <a:schemeClr val="tx1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必修课</a:t>
            </a:r>
            <a:endParaRPr lang="en-US" altLang="zh-CN" sz="3200" b="1">
              <a:solidFill>
                <a:srgbClr val="FF0000"/>
              </a:solidFill>
              <a:uFillTx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-446405" algn="l" eaLnBrk="0" latinLnBrk="0" hangingPunct="0">
              <a:lnSpc>
                <a:spcPct val="110000"/>
              </a:lnSpc>
            </a:pP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He decided to </a:t>
            </a:r>
            <a:r>
              <a:rPr lang="en-US" altLang="zh-CN" sz="3200" b="1" u="sng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take the easy/soft option</a:t>
            </a: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and give them what they wanted.</a:t>
            </a:r>
          </a:p>
          <a:p>
            <a:pPr marL="0" indent="-446405" algn="l" eaLnBrk="0" latinLnBrk="0" hangingPunct="0">
              <a:lnSpc>
                <a:spcPct val="110000"/>
              </a:lnSpc>
            </a:pPr>
            <a:r>
              <a:rPr lang="zh-CN" altLang="en-US" sz="3200" b="1">
                <a:solidFill>
                  <a:schemeClr val="tx1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捷径，轻松的选择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ChangeArrowheads="1"/>
          </p:cNvSpPr>
          <p:nvPr/>
        </p:nvSpPr>
        <p:spPr bwMode="auto">
          <a:xfrm>
            <a:off x="34925" y="292735"/>
            <a:ext cx="9109075" cy="60439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0" indent="-446405" eaLnBrk="0" latinLnBrk="0" hangingPunct="0">
              <a:lnSpc>
                <a:spcPct val="110000"/>
              </a:lnSpc>
            </a:pPr>
            <a:r>
              <a:rPr lang="en-US" altLang="zh-CN" sz="3200" b="1">
                <a:solidFill>
                  <a:schemeClr val="tx1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one that attracted me most was ...</a:t>
            </a:r>
          </a:p>
          <a:p>
            <a:pPr marL="0" indent="-446405" eaLnBrk="0" latinLnBrk="0" hangingPunct="0">
              <a:lnSpc>
                <a:spcPct val="110000"/>
              </a:lnSpc>
            </a:pPr>
            <a:r>
              <a:rPr lang="en-US" altLang="zh-CN" sz="3200" b="1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one which attracted me most was ...</a:t>
            </a:r>
            <a:endParaRPr lang="en-US" altLang="zh-CN" sz="3200" b="1">
              <a:solidFill>
                <a:schemeClr val="tx1"/>
              </a:solidFill>
              <a:uFillTx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-446405" eaLnBrk="0" latinLnBrk="0" hangingPunct="0">
              <a:lnSpc>
                <a:spcPct val="110000"/>
              </a:lnSpc>
            </a:pPr>
            <a:endParaRPr lang="en-US" altLang="zh-CN" sz="3200" b="1">
              <a:uFillTx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-446405" eaLnBrk="0" latinLnBrk="0" hangingPunct="0">
              <a:lnSpc>
                <a:spcPct val="110000"/>
              </a:lnSpc>
            </a:pPr>
            <a:r>
              <a:rPr lang="zh-CN" altLang="en-US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【一种</a:t>
            </a:r>
            <a:r>
              <a:rPr lang="zh-CN" altLang="en-US" sz="3200" b="1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非限定从</a:t>
            </a:r>
            <a:r>
              <a:rPr lang="zh-CN" altLang="en-US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中</a:t>
            </a:r>
            <a:r>
              <a:rPr lang="zh-CN" altLang="en-US" sz="3200" b="1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只</a:t>
            </a:r>
            <a:r>
              <a:rPr lang="zh-CN" altLang="en-US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可以使用</a:t>
            </a:r>
            <a:r>
              <a:rPr lang="en-US" altLang="zh-CN" sz="3200" b="1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that</a:t>
            </a:r>
            <a:r>
              <a:rPr lang="zh-CN" altLang="en-US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的情况】</a:t>
            </a:r>
          </a:p>
          <a:p>
            <a:pPr marL="0" indent="-446405" eaLnBrk="0" latinLnBrk="0" hangingPunct="0">
              <a:lnSpc>
                <a:spcPct val="110000"/>
              </a:lnSpc>
            </a:pPr>
            <a:r>
              <a:rPr lang="zh-CN" altLang="en-US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带有“</a:t>
            </a:r>
            <a:r>
              <a:rPr lang="zh-CN" altLang="en-US" sz="3200" b="1" u="sng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唯一</a:t>
            </a:r>
            <a:r>
              <a:rPr lang="zh-CN" altLang="en-US" sz="3200" b="1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、</a:t>
            </a:r>
            <a:r>
              <a:rPr lang="zh-CN" altLang="en-US" sz="3200" b="1" u="sng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全部</a:t>
            </a:r>
            <a:r>
              <a:rPr lang="zh-CN" altLang="en-US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”概念的先行词</a:t>
            </a:r>
            <a:r>
              <a:rPr lang="en-US" altLang="zh-CN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，</a:t>
            </a:r>
            <a:r>
              <a:rPr lang="zh-CN" altLang="en-US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指</a:t>
            </a:r>
            <a:r>
              <a:rPr lang="zh-CN" altLang="en-US" sz="3200" b="1" u="sng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物</a:t>
            </a:r>
            <a:r>
              <a:rPr lang="zh-CN" altLang="en-US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。无需选择或者无法选择，只能用</a:t>
            </a:r>
            <a:r>
              <a:rPr lang="en-US" altLang="zh-CN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that</a:t>
            </a:r>
            <a:r>
              <a:rPr lang="zh-CN" altLang="en-US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，而不用</a:t>
            </a:r>
            <a:r>
              <a:rPr lang="en-US" altLang="zh-CN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which</a:t>
            </a:r>
          </a:p>
          <a:p>
            <a:pPr marL="0" indent="-446405" eaLnBrk="0" latinLnBrk="0" hangingPunct="0">
              <a:lnSpc>
                <a:spcPct val="110000"/>
              </a:lnSpc>
            </a:pPr>
            <a:endParaRPr lang="zh-CN" altLang="en-US" sz="3200" b="1" dirty="0">
              <a:uFillTx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-446405" eaLnBrk="0" latinLnBrk="0" hangingPunct="0">
              <a:lnSpc>
                <a:spcPct val="110000"/>
              </a:lnSpc>
            </a:pPr>
            <a:r>
              <a:rPr lang="en-US" altLang="zh-CN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only, the very (</a:t>
            </a:r>
            <a:r>
              <a:rPr lang="zh-CN" altLang="en-US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正是的</a:t>
            </a:r>
            <a:r>
              <a:rPr lang="en-US" altLang="zh-CN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), the right (</a:t>
            </a:r>
            <a:r>
              <a:rPr lang="zh-CN" altLang="en-US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恰当的</a:t>
            </a:r>
            <a:r>
              <a:rPr lang="en-US" altLang="zh-CN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), the last, the + </a:t>
            </a:r>
            <a:r>
              <a:rPr lang="zh-CN" altLang="en-US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序数词</a:t>
            </a:r>
            <a:r>
              <a:rPr lang="en-US" altLang="zh-CN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, the + </a:t>
            </a:r>
            <a:r>
              <a:rPr lang="zh-CN" altLang="en-US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最高级</a:t>
            </a:r>
            <a:endParaRPr lang="en-US" altLang="zh-CN" sz="3200" b="1" dirty="0">
              <a:uFillTx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-446405" eaLnBrk="0" latinLnBrk="0" hangingPunct="0">
              <a:lnSpc>
                <a:spcPct val="110000"/>
              </a:lnSpc>
            </a:pPr>
            <a:r>
              <a:rPr lang="en-US" altLang="zh-CN" sz="3200" b="1" dirty="0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all, every(thing), any(thing), nothing, none, no, few, little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835785" y="1052195"/>
            <a:ext cx="466090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/>
              <a:t>❌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1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1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ChangeArrowheads="1"/>
          </p:cNvSpPr>
          <p:nvPr/>
        </p:nvSpPr>
        <p:spPr bwMode="auto">
          <a:xfrm>
            <a:off x="0" y="856298"/>
            <a:ext cx="9109075" cy="38792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0" indent="-446405" eaLnBrk="0" latinLnBrk="0" hangingPunct="0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 China, parents always do </a:t>
            </a:r>
            <a:r>
              <a:rPr lang="en-US" sz="3200" b="1" u="sng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everything that</a:t>
            </a:r>
            <a:r>
              <a:rPr lang="en-US" sz="3200" b="1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they can to support their children.</a:t>
            </a:r>
          </a:p>
          <a:p>
            <a:pPr marL="0" indent="-446405" eaLnBrk="0" latinLnBrk="0" hangingPunct="0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 did </a:t>
            </a:r>
            <a:r>
              <a:rPr lang="en-US" sz="3200" b="1" u="sng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nothing that</a:t>
            </a:r>
            <a:r>
              <a:rPr lang="en-US" sz="3200" b="1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might hurt you.</a:t>
            </a:r>
          </a:p>
          <a:p>
            <a:pPr marL="0" indent="-446405" eaLnBrk="0" latinLnBrk="0" hangingPunct="0">
              <a:lnSpc>
                <a:spcPct val="110000"/>
              </a:lnSpc>
            </a:pPr>
            <a:endParaRPr lang="en-US" sz="3200" b="1" dirty="0">
              <a:solidFill>
                <a:srgbClr val="FF0000"/>
              </a:solidFill>
              <a:uFillTx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-446405" eaLnBrk="0" latinLnBrk="0" hangingPunct="0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It was </a:t>
            </a:r>
            <a:r>
              <a:rPr lang="en-US" sz="3200" b="1" u="sng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largest map that</a:t>
            </a:r>
            <a:r>
              <a:rPr lang="en-US" sz="3200" b="1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I ever saw.</a:t>
            </a:r>
          </a:p>
          <a:p>
            <a:pPr marL="0" indent="-446405" eaLnBrk="0" latinLnBrk="0" hangingPunct="0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Alice is </a:t>
            </a:r>
            <a:r>
              <a:rPr lang="en-US" sz="3200" b="1" u="sng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only girl who/that</a:t>
            </a:r>
            <a:r>
              <a:rPr lang="en-US" sz="3200" b="1" dirty="0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was praised by the headmaster at yesterday’s meeting.</a:t>
            </a:r>
            <a:endParaRPr lang="en-US" altLang="en-US" sz="3200" b="1" dirty="0">
              <a:solidFill>
                <a:srgbClr val="FF0000"/>
              </a:solidFill>
              <a:uFillTx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ChangeArrowheads="1"/>
          </p:cNvSpPr>
          <p:nvPr/>
        </p:nvSpPr>
        <p:spPr bwMode="auto">
          <a:xfrm>
            <a:off x="35560" y="0"/>
            <a:ext cx="9097645" cy="45954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0" indent="-446405" eaLnBrk="0" latinLnBrk="0" hangingPunct="0">
              <a:lnSpc>
                <a:spcPct val="110000"/>
              </a:lnSpc>
            </a:pPr>
            <a:r>
              <a:rPr lang="en-US" altLang="zh-CN" sz="3200" b="1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9. The one that </a:t>
            </a:r>
            <a:r>
              <a:rPr lang="en-US" altLang="zh-CN" sz="3200" b="1">
                <a:solidFill>
                  <a:srgbClr val="FF0000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attracted </a:t>
            </a:r>
            <a:r>
              <a:rPr lang="en-US" altLang="zh-CN" sz="3200" b="1"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me most was ...</a:t>
            </a:r>
          </a:p>
          <a:p>
            <a:pPr algn="just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attract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vt.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吸引，使喜爱；招引；引起（反应）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 </a:t>
            </a:r>
            <a:endParaRPr lang="en-US" altLang="zh-CN" sz="3200" b="1">
              <a:solidFill>
                <a:srgbClr val="C34D07"/>
              </a:solidFill>
              <a:uFillTx/>
              <a:latin typeface="楷体" panose="02010609060101010101" charset="-122"/>
              <a:ea typeface="楷体" panose="02010609060101010101" charset="-122"/>
              <a:cs typeface="Times New Roman" panose="02020503050405090304" pitchFamily="18" charset="0"/>
            </a:endParaRPr>
          </a:p>
          <a:p>
            <a:pPr algn="just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attract sb to sb/sth</a:t>
            </a:r>
            <a:r>
              <a:rPr lang="en-US" altLang="zh-CN" sz="32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 </a:t>
            </a:r>
            <a:r>
              <a:rPr lang="zh-CN" altLang="en-US" sz="3200" b="1"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引起某人对……的好感</a:t>
            </a:r>
            <a:r>
              <a:rPr lang="en-US" altLang="zh-CN" sz="3200" b="1">
                <a:solidFill>
                  <a:srgbClr val="FF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endParaRPr lang="en-US" altLang="zh-CN" sz="3200" b="1">
              <a:solidFill>
                <a:srgbClr val="FF0000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just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be attracted by</a:t>
            </a:r>
            <a:r>
              <a:rPr lang="en-US" altLang="zh-CN" sz="32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    </a:t>
            </a:r>
            <a:r>
              <a:rPr lang="zh-CN" altLang="en-US" sz="3200" b="1">
                <a:latin typeface="+mn-ea"/>
                <a:ea typeface="+mn-ea"/>
                <a:cs typeface="Times New Roman" panose="02020503050405090304" pitchFamily="18" charset="0"/>
                <a:sym typeface="+mn-ea"/>
              </a:rPr>
              <a:t>被……吸引</a:t>
            </a:r>
            <a:r>
              <a:rPr lang="en-US" altLang="zh-CN" sz="3200" b="1">
                <a:solidFill>
                  <a:srgbClr val="FF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endParaRPr lang="zh-CN" altLang="en-US" sz="32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charset="-122"/>
              <a:ea typeface="楷体" panose="02010609060101010101" charset="-122"/>
              <a:cs typeface="Times New Roman" panose="02020503050405090304" pitchFamily="18" charset="0"/>
            </a:endParaRPr>
          </a:p>
          <a:p>
            <a:pPr marL="342900" indent="-342900" algn="just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3200" b="1" spc="-30">
                <a:uFillTx/>
                <a:latin typeface="Times New Roman Bold" panose="02020503050405090304" charset="0"/>
                <a:ea typeface="Songti TC Regular" panose="02010600040101010101" charset="-122"/>
                <a:cs typeface="Times New Roman Bold" panose="02020503050405090304" charset="0"/>
                <a:sym typeface="+mn-ea"/>
              </a:rPr>
              <a:t>What ________________ was her big eyes.</a:t>
            </a:r>
            <a:r>
              <a:rPr lang="en-US" altLang="zh-CN" sz="3200" b="1">
                <a:latin typeface="Times New Roman Regular" panose="02020503050405090304" charset="0"/>
                <a:ea typeface="Songti TC Regular" panose="02010600040101010101" charset="-122"/>
                <a:cs typeface="Times New Roman Regular" panose="02020503050405090304" charset="0"/>
                <a:sym typeface="+mn-ea"/>
              </a:rPr>
              <a:t>  </a:t>
            </a:r>
            <a:r>
              <a:rPr lang="en-US" altLang="zh-CN" sz="3200" b="1" spc="-30">
                <a:uFillTx/>
                <a:latin typeface="Times New Roman Regular" panose="02020503050405090304" charset="0"/>
                <a:ea typeface="Songti TC Regular" panose="02010600040101010101" charset="-122"/>
                <a:cs typeface="Times New Roman Regular" panose="02020503050405090304" charset="0"/>
                <a:sym typeface="+mn-ea"/>
              </a:rPr>
              <a:t>吸引我的是她的大眼睛。</a:t>
            </a:r>
            <a:endParaRPr lang="en-US" altLang="zh-CN" sz="3200" b="1" spc="-30">
              <a:solidFill>
                <a:schemeClr val="tx1"/>
              </a:solidFill>
              <a:uFillTx/>
              <a:latin typeface="Times New Roman Regular" panose="02020503050405090304" charset="0"/>
              <a:ea typeface="Songti TC Regular" panose="02010600040101010101" charset="-122"/>
              <a:cs typeface="Times New Roman Regular" panose="02020503050405090304" charset="0"/>
            </a:endParaRPr>
          </a:p>
          <a:p>
            <a:pPr marL="342900" indent="-342900" algn="just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3200" b="1" spc="-30">
                <a:uFillTx/>
                <a:latin typeface="Times New Roman Bold" panose="02020503050405090304" charset="0"/>
                <a:ea typeface="Songti TC Regular" panose="02010600040101010101" charset="-122"/>
                <a:cs typeface="Times New Roman Bold" panose="02020503050405090304" charset="0"/>
                <a:sym typeface="+mn-ea"/>
              </a:rPr>
              <a:t>I _______________ her big eyes.</a:t>
            </a:r>
            <a:r>
              <a:rPr lang="en-US" altLang="zh-CN" sz="3200" b="1">
                <a:latin typeface="Times New Roman Bold" panose="02020503050405090304" charset="0"/>
                <a:ea typeface="Songti TC Regular" panose="02010600040101010101" charset="-122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>
                <a:latin typeface="Times New Roman Regular" panose="02020503050405090304" charset="0"/>
                <a:ea typeface="Songti TC Regular" panose="02010600040101010101" charset="-122"/>
                <a:cs typeface="Times New Roman Regular" panose="02020503050405090304" charset="0"/>
                <a:sym typeface="+mn-ea"/>
              </a:rPr>
              <a:t> </a:t>
            </a:r>
            <a:r>
              <a:rPr lang="en-US" altLang="zh-CN" sz="3200" b="1" spc="-30">
                <a:uFillTx/>
                <a:latin typeface="Times New Roman Regular" panose="02020503050405090304" charset="0"/>
                <a:ea typeface="Songti TC Regular" panose="02010600040101010101" charset="-122"/>
                <a:cs typeface="Times New Roman Regular" panose="02020503050405090304" charset="0"/>
                <a:sym typeface="+mn-ea"/>
              </a:rPr>
              <a:t>我被她</a:t>
            </a:r>
            <a:r>
              <a:rPr lang="zh-CN" altLang="en-US" sz="3200" b="1" spc="-30">
                <a:uFillTx/>
                <a:latin typeface="Times New Roman Regular" panose="02020503050405090304" charset="0"/>
                <a:ea typeface="Songti TC Regular" panose="02010600040101010101" charset="-122"/>
                <a:cs typeface="Times New Roman Regular" panose="02020503050405090304" charset="0"/>
                <a:sym typeface="+mn-ea"/>
              </a:rPr>
              <a:t>的大眼睛</a:t>
            </a:r>
            <a:r>
              <a:rPr lang="en-US" altLang="zh-CN" sz="3200" b="1" spc="-30">
                <a:uFillTx/>
                <a:latin typeface="Times New Roman Regular" panose="02020503050405090304" charset="0"/>
                <a:ea typeface="Songti TC Regular" panose="02010600040101010101" charset="-122"/>
                <a:cs typeface="Times New Roman Regular" panose="02020503050405090304" charset="0"/>
                <a:sym typeface="+mn-ea"/>
              </a:rPr>
              <a:t>吸引。 </a:t>
            </a:r>
            <a:endParaRPr lang="en-US" altLang="en-US" sz="3200" b="1" dirty="0">
              <a:solidFill>
                <a:srgbClr val="FF0000"/>
              </a:solidFill>
              <a:uFillTx/>
              <a:latin typeface="Times New Roman Regular" panose="02020503050405090304" charset="0"/>
              <a:ea typeface="Songti TC Regular" panose="02010600040101010101" charset="-122"/>
              <a:cs typeface="Times New Roman Regular" panose="0202050305040509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548130" y="2276475"/>
            <a:ext cx="39992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attracted me to her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55015" y="3429000"/>
            <a:ext cx="39992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was attracted by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ChangeArrowheads="1"/>
          </p:cNvSpPr>
          <p:nvPr/>
        </p:nvSpPr>
        <p:spPr bwMode="auto">
          <a:xfrm>
            <a:off x="0" y="-10477"/>
            <a:ext cx="9404985" cy="45459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>
            <a:spAutoFit/>
          </a:bodyPr>
          <a:lstStyle/>
          <a:p>
            <a:pPr marL="0" indent="-446405" eaLnBrk="0" latinLnBrk="0" hangingPunct="0">
              <a:lnSpc>
                <a:spcPct val="110000"/>
              </a:lnSpc>
            </a:pPr>
            <a:r>
              <a:rPr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attractive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 </a:t>
            </a:r>
            <a:r>
              <a:rPr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adj.</a:t>
            </a:r>
            <a:r>
              <a:rPr lang="en-US" sz="3200">
                <a:solidFill>
                  <a:srgbClr val="0000FF"/>
                </a:solidFill>
                <a:uFillTx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 </a:t>
            </a:r>
            <a:r>
              <a:rPr sz="3200" b="1">
                <a:uFillTx/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  <a:sym typeface="+mn-ea"/>
              </a:rPr>
              <a:t>有吸引力的</a:t>
            </a:r>
          </a:p>
          <a:p>
            <a:pPr marL="0" indent="-446405" eaLnBrk="0" latinLnBrk="0" hangingPunct="0">
              <a:lnSpc>
                <a:spcPct val="110000"/>
              </a:lnSpc>
            </a:pPr>
            <a:r>
              <a:rPr lang="en-US"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be attractive to</a:t>
            </a:r>
            <a:r>
              <a:rPr lang="en-US" sz="3200" b="1"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</a:t>
            </a:r>
            <a:r>
              <a:rPr sz="3200" b="1">
                <a:uFillTx/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  <a:sym typeface="+mn-ea"/>
              </a:rPr>
              <a:t>对……有吸引力</a:t>
            </a:r>
          </a:p>
          <a:p>
            <a:pPr marL="0" indent="-446405" eaLnBrk="0" latinLnBrk="0" hangingPunct="0">
              <a:lnSpc>
                <a:spcPct val="110000"/>
              </a:lnSpc>
            </a:pPr>
            <a:endParaRPr lang="en-US" sz="3200" b="1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just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attraction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 </a:t>
            </a:r>
            <a:r>
              <a:rPr sz="3200" b="1">
                <a:solidFill>
                  <a:srgbClr val="FF0000"/>
                </a:solidFill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n.</a:t>
            </a:r>
            <a:r>
              <a:rPr lang="en-US" sz="3200" b="1">
                <a:uFillTx/>
                <a:latin typeface="Times New Roman" panose="02020503050405090304" pitchFamily="18" charset="0"/>
                <a:ea typeface="楷体" panose="02010609060101010101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sz="3200" b="1">
                <a:uFillTx/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  <a:sym typeface="+mn-ea"/>
              </a:rPr>
              <a:t>吸引；吸引力；具有吸引力的事物</a:t>
            </a:r>
            <a:r>
              <a:rPr sz="3200" b="1"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endParaRPr lang="zh-CN" altLang="en-US" sz="3200" b="1">
              <a:solidFill>
                <a:srgbClr val="C34D0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charset="-122"/>
              <a:ea typeface="楷体" panose="02010609060101010101" charset="-122"/>
              <a:cs typeface="Times New Roman" panose="02020503050405090304" pitchFamily="18" charset="0"/>
            </a:endParaRPr>
          </a:p>
          <a:p>
            <a:pPr marL="0" indent="0" algn="just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sz="3200" b="1">
                <a:solidFill>
                  <a:srgbClr val="FF2600"/>
                </a:solidFill>
                <a:latin typeface="Times New Roman Bold" panose="02020503050405090304" charset="0"/>
                <a:ea typeface="宋体"/>
                <a:cs typeface="Times New Roman Bold" panose="02020503050405090304" charset="0"/>
                <a:sym typeface="宋体"/>
              </a:rPr>
              <a:t>City life </a:t>
            </a:r>
            <a:r>
              <a:rPr sz="3200" b="1" u="sng">
                <a:solidFill>
                  <a:srgbClr val="FF2600"/>
                </a:solidFill>
                <a:latin typeface="Times New Roman Bold" panose="02020503050405090304" charset="0"/>
                <a:ea typeface="宋体"/>
                <a:cs typeface="Times New Roman Bold" panose="02020503050405090304" charset="0"/>
                <a:sym typeface="宋体"/>
              </a:rPr>
              <a:t>holds little attraction for</a:t>
            </a:r>
            <a:r>
              <a:rPr sz="3200" b="1">
                <a:solidFill>
                  <a:srgbClr val="FF2600"/>
                </a:solidFill>
                <a:latin typeface="Times New Roman Bold" panose="02020503050405090304" charset="0"/>
                <a:ea typeface="宋体"/>
                <a:cs typeface="Times New Roman Bold" panose="02020503050405090304" charset="0"/>
                <a:sym typeface="宋体"/>
              </a:rPr>
              <a:t> me.</a:t>
            </a:r>
          </a:p>
          <a:p>
            <a:pPr marL="0" indent="0" algn="just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 dirty="0">
                <a:solidFill>
                  <a:schemeClr val="tx1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城市</a:t>
            </a:r>
            <a:r>
              <a:rPr lang="en-US" altLang="zh-CN" sz="3200" b="1" dirty="0">
                <a:solidFill>
                  <a:schemeClr val="tx1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生活对我</a:t>
            </a:r>
            <a:r>
              <a:rPr lang="zh-CN" altLang="en-US" sz="3200" b="1" dirty="0">
                <a:solidFill>
                  <a:schemeClr val="tx1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没什么吸引力。</a:t>
            </a:r>
          </a:p>
          <a:p>
            <a:pPr marL="0" indent="0" algn="just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 dirty="0">
                <a:solidFill>
                  <a:schemeClr val="tx1"/>
                </a:solidFill>
                <a:uFillTx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旅游胜地</a:t>
            </a:r>
          </a:p>
          <a:p>
            <a:pPr marL="0" indent="0" algn="just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sz="3200" b="1">
                <a:solidFill>
                  <a:srgbClr val="FF26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tourist attractions</a:t>
            </a:r>
            <a:endParaRPr lang="zh-CN" altLang="en-US" sz="3200" b="1" dirty="0">
              <a:solidFill>
                <a:schemeClr val="tx1"/>
              </a:solidFill>
              <a:uFillTx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cxZWEzNmM4YTgxYjEzMjI1NzAwNmRhMmFmYTU1ZG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3240"/>
  <p:tag name="KSO_WM_SPECIAL_SOURCE" val="bdnul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3240"/>
  <p:tag name="KSO_WM_SPECIAL_SOURCE" val="bdnul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3240"/>
  <p:tag name="KSO_WM_SPECIAL_SOURCE" val="bdnul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3240"/>
  <p:tag name="KSO_WM_SPECIAL_SOURCE" val="bdnul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3240"/>
  <p:tag name="KSO_WM_SPECIAL_SOURCE" val="bdnul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3240"/>
  <p:tag name="KSO_WM_SPECIAL_SOURCE" val="bdnul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3240"/>
  <p:tag name="KSO_WM_SPECIAL_SOURCE" val="bdnul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3240"/>
  <p:tag name="KSO_WM_SPECIAL_SOURCE" val="bdnul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3240"/>
  <p:tag name="KSO_WM_SPECIAL_SOURCE" val="bdnul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4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5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6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7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8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9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2186</Words>
  <Application>Microsoft Macintosh PowerPoint</Application>
  <PresentationFormat>On-screen Show (4:3)</PresentationFormat>
  <Paragraphs>244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楷体</vt:lpstr>
      <vt:lpstr>宋体</vt:lpstr>
      <vt:lpstr>Songti TC Bold</vt:lpstr>
      <vt:lpstr>Songti TC Regular</vt:lpstr>
      <vt:lpstr>Times New Roman Bold</vt:lpstr>
      <vt:lpstr>Times New Roman Bold Italic</vt:lpstr>
      <vt:lpstr>Times New Roman Regular</vt:lpstr>
      <vt:lpstr>Arial</vt:lpstr>
      <vt:lpstr>Calibri</vt:lpstr>
      <vt:lpstr>Calibri Light</vt:lpstr>
      <vt:lpstr>Times New Roman</vt:lpstr>
      <vt:lpstr>默认设计模板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110</cp:revision>
  <dcterms:created xsi:type="dcterms:W3CDTF">2024-05-28T07:11:13Z</dcterms:created>
  <dcterms:modified xsi:type="dcterms:W3CDTF">2026-07-22T12:28:25Z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7F10CA625EDF4F4999E375A375719DBB</vt:lpwstr>
  </property>
  <property fmtid="{D5CDD505-2E9C-101B-9397-08002B2CF9AE}" pid="3" name="KSOProductBuildVer">
    <vt:lpwstr>1033-6.7.1.8828</vt:lpwstr>
  </property>
</Properties>
</file>