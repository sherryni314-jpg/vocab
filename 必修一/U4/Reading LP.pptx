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1.xml" ContentType="application/vnd.openxmlformats-officedocument.presentationml.notesSlide+xml"/>
  <Override PartName="/ppt/tags/tag227.xml" ContentType="application/vnd.openxmlformats-officedocument.presentationml.tags+xml"/>
  <Override PartName="/ppt/notesSlides/notesSlide2.xml" ContentType="application/vnd.openxmlformats-officedocument.presentationml.notesSlide+xml"/>
  <Override PartName="/ppt/tags/tag228.xml" ContentType="application/vnd.openxmlformats-officedocument.presentationml.tags+xml"/>
  <Override PartName="/ppt/notesSlides/notesSlide3.xml" ContentType="application/vnd.openxmlformats-officedocument.presentationml.notesSlide+xml"/>
  <Override PartName="/ppt/tags/tag229.xml" ContentType="application/vnd.openxmlformats-officedocument.presentationml.tags+xml"/>
  <Override PartName="/ppt/notesSlides/notesSlide4.xml" ContentType="application/vnd.openxmlformats-officedocument.presentationml.notesSlide+xml"/>
  <Override PartName="/ppt/tags/tag230.xml" ContentType="application/vnd.openxmlformats-officedocument.presentationml.tags+xml"/>
  <Override PartName="/ppt/notesSlides/notesSlide5.xml" ContentType="application/vnd.openxmlformats-officedocument.presentationml.notesSlide+xml"/>
  <Override PartName="/ppt/tags/tag231.xml" ContentType="application/vnd.openxmlformats-officedocument.presentationml.tags+xml"/>
  <Override PartName="/ppt/notesSlides/notesSlide6.xml" ContentType="application/vnd.openxmlformats-officedocument.presentationml.notesSlide+xml"/>
  <Override PartName="/ppt/tags/tag232.xml" ContentType="application/vnd.openxmlformats-officedocument.presentationml.tags+xml"/>
  <Override PartName="/ppt/notesSlides/notesSlide7.xml" ContentType="application/vnd.openxmlformats-officedocument.presentationml.notesSlide+xml"/>
  <Override PartName="/ppt/tags/tag233.xml" ContentType="application/vnd.openxmlformats-officedocument.presentationml.tags+xml"/>
  <Override PartName="/ppt/notesSlides/notesSlide8.xml" ContentType="application/vnd.openxmlformats-officedocument.presentationml.notesSlide+xml"/>
  <Override PartName="/ppt/tags/tag234.xml" ContentType="application/vnd.openxmlformats-officedocument.presentationml.tags+xml"/>
  <Override PartName="/ppt/notesSlides/notesSlide9.xml" ContentType="application/vnd.openxmlformats-officedocument.presentationml.notesSlide+xml"/>
  <Override PartName="/ppt/tags/tag235.xml" ContentType="application/vnd.openxmlformats-officedocument.presentationml.tags+xml"/>
  <Override PartName="/ppt/notesSlides/notesSlide10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11.xml" ContentType="application/vnd.openxmlformats-officedocument.presentationml.notesSlide+xml"/>
  <Override PartName="/ppt/tags/tag239.xml" ContentType="application/vnd.openxmlformats-officedocument.presentationml.tags+xml"/>
  <Override PartName="/ppt/notesSlides/notesSlide12.xml" ContentType="application/vnd.openxmlformats-officedocument.presentationml.notesSlide+xml"/>
  <Override PartName="/ppt/tags/tag240.xml" ContentType="application/vnd.openxmlformats-officedocument.presentationml.tags+xml"/>
  <Override PartName="/ppt/notesSlides/notesSlide13.xml" ContentType="application/vnd.openxmlformats-officedocument.presentationml.notesSlide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14.xml" ContentType="application/vnd.openxmlformats-officedocument.presentationml.notesSlide+xml"/>
  <Override PartName="/ppt/tags/tag243.xml" ContentType="application/vnd.openxmlformats-officedocument.presentationml.tags+xml"/>
  <Override PartName="/ppt/notesSlides/notesSlide15.xml" ContentType="application/vnd.openxmlformats-officedocument.presentationml.notesSlide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16.xml" ContentType="application/vnd.openxmlformats-officedocument.presentationml.notesSlide+xml"/>
  <Override PartName="/ppt/tags/tag246.xml" ContentType="application/vnd.openxmlformats-officedocument.presentationml.tags+xml"/>
  <Override PartName="/ppt/notesSlides/notesSlide17.xml" ContentType="application/vnd.openxmlformats-officedocument.presentationml.notesSlide+xml"/>
  <Override PartName="/ppt/tags/tag247.xml" ContentType="application/vnd.openxmlformats-officedocument.presentationml.tags+xml"/>
  <Override PartName="/ppt/notesSlides/notesSlide18.xml" ContentType="application/vnd.openxmlformats-officedocument.presentationml.notesSlide+xml"/>
  <Override PartName="/ppt/tags/tag248.xml" ContentType="application/vnd.openxmlformats-officedocument.presentationml.tags+xml"/>
  <Override PartName="/ppt/notesSlides/notesSlide19.xml" ContentType="application/vnd.openxmlformats-officedocument.presentationml.notesSlide+xml"/>
  <Override PartName="/ppt/tags/tag249.xml" ContentType="application/vnd.openxmlformats-officedocument.presentationml.tags+xml"/>
  <Override PartName="/ppt/notesSlides/notesSlide20.xml" ContentType="application/vnd.openxmlformats-officedocument.presentationml.notesSlide+xml"/>
  <Override PartName="/ppt/tags/tag250.xml" ContentType="application/vnd.openxmlformats-officedocument.presentationml.tags+xml"/>
  <Override PartName="/ppt/notesSlides/notesSlide21.xml" ContentType="application/vnd.openxmlformats-officedocument.presentationml.notesSlide+xml"/>
  <Override PartName="/ppt/tags/tag251.xml" ContentType="application/vnd.openxmlformats-officedocument.presentationml.tags+xml"/>
  <Override PartName="/ppt/notesSlides/notesSlide22.xml" ContentType="application/vnd.openxmlformats-officedocument.presentationml.notesSlide+xml"/>
  <Override PartName="/ppt/tags/tag252.xml" ContentType="application/vnd.openxmlformats-officedocument.presentationml.tags+xml"/>
  <Override PartName="/ppt/notesSlides/notesSlide23.xml" ContentType="application/vnd.openxmlformats-officedocument.presentationml.notesSlide+xml"/>
  <Override PartName="/ppt/tags/tag253.xml" ContentType="application/vnd.openxmlformats-officedocument.presentationml.tags+xml"/>
  <Override PartName="/ppt/notesSlides/notesSlide24.xml" ContentType="application/vnd.openxmlformats-officedocument.presentationml.notesSlide+xml"/>
  <Override PartName="/ppt/tags/tag254.xml" ContentType="application/vnd.openxmlformats-officedocument.presentationml.tags+xml"/>
  <Override PartName="/ppt/notesSlides/notesSlide25.xml" ContentType="application/vnd.openxmlformats-officedocument.presentationml.notesSlide+xml"/>
  <Override PartName="/ppt/theme/themeOverride1.xml" ContentType="application/vnd.openxmlformats-officedocument.themeOverride+xml"/>
  <Override PartName="/ppt/tags/tag255.xml" ContentType="application/vnd.openxmlformats-officedocument.presentationml.tags+xml"/>
  <Override PartName="/ppt/notesSlides/notesSlide26.xml" ContentType="application/vnd.openxmlformats-officedocument.presentationml.notesSlide+xml"/>
  <Override PartName="/ppt/theme/themeOverride2.xml" ContentType="application/vnd.openxmlformats-officedocument.themeOverride+xml"/>
  <Override PartName="/ppt/tags/tag256.xml" ContentType="application/vnd.openxmlformats-officedocument.presentationml.tags+xml"/>
  <Override PartName="/ppt/notesSlides/notesSlide27.xml" ContentType="application/vnd.openxmlformats-officedocument.presentationml.notesSlide+xml"/>
  <Override PartName="/ppt/theme/themeOverride3.xml" ContentType="application/vnd.openxmlformats-officedocument.themeOverride+xml"/>
  <Override PartName="/ppt/tags/tag257.xml" ContentType="application/vnd.openxmlformats-officedocument.presentationml.tags+xml"/>
  <Override PartName="/ppt/notesSlides/notesSlide28.xml" ContentType="application/vnd.openxmlformats-officedocument.presentationml.notesSlide+xml"/>
  <Override PartName="/ppt/theme/themeOverride4.xml" ContentType="application/vnd.openxmlformats-officedocument.themeOverride+xml"/>
  <Override PartName="/ppt/tags/tag258.xml" ContentType="application/vnd.openxmlformats-officedocument.presentationml.tags+xml"/>
  <Override PartName="/ppt/notesSlides/notesSlide29.xml" ContentType="application/vnd.openxmlformats-officedocument.presentationml.notesSlide+xml"/>
  <Override PartName="/ppt/theme/themeOverride5.xml" ContentType="application/vnd.openxmlformats-officedocument.themeOverride+xml"/>
  <Override PartName="/ppt/tags/tag259.xml" ContentType="application/vnd.openxmlformats-officedocument.presentationml.tags+xml"/>
  <Override PartName="/ppt/notesSlides/notesSlide30.xml" ContentType="application/vnd.openxmlformats-officedocument.presentationml.notesSlide+xml"/>
  <Override PartName="/ppt/theme/themeOverride6.xml" ContentType="application/vnd.openxmlformats-officedocument.themeOverride+xml"/>
  <Override PartName="/ppt/tags/tag260.xml" ContentType="application/vnd.openxmlformats-officedocument.presentationml.tags+xml"/>
  <Override PartName="/ppt/notesSlides/notesSlide31.xml" ContentType="application/vnd.openxmlformats-officedocument.presentationml.notesSlide+xml"/>
  <Override PartName="/ppt/theme/themeOverride7.xml" ContentType="application/vnd.openxmlformats-officedocument.themeOverride+xml"/>
  <Override PartName="/ppt/tags/tag261.xml" ContentType="application/vnd.openxmlformats-officedocument.presentationml.tags+xml"/>
  <Override PartName="/ppt/notesSlides/notesSlide32.xml" ContentType="application/vnd.openxmlformats-officedocument.presentationml.notesSlide+xml"/>
  <Override PartName="/ppt/theme/themeOverride8.xml" ContentType="application/vnd.openxmlformats-officedocument.themeOverride+xml"/>
  <Override PartName="/ppt/tags/tag262.xml" ContentType="application/vnd.openxmlformats-officedocument.presentationml.tags+xml"/>
  <Override PartName="/ppt/theme/themeOverride9.xml" ContentType="application/vnd.openxmlformats-officedocument.themeOverride+xml"/>
  <Override PartName="/ppt/tags/tag263.xml" ContentType="application/vnd.openxmlformats-officedocument.presentationml.tags+xml"/>
  <Override PartName="/ppt/notesSlides/notesSlide33.xml" ContentType="application/vnd.openxmlformats-officedocument.presentationml.notesSlide+xml"/>
  <Override PartName="/ppt/tags/tag264.xml" ContentType="application/vnd.openxmlformats-officedocument.presentationml.tags+xml"/>
  <Override PartName="/ppt/notesSlides/notesSlide34.xml" ContentType="application/vnd.openxmlformats-officedocument.presentationml.notesSlide+xml"/>
  <Override PartName="/ppt/tags/tag265.xml" ContentType="application/vnd.openxmlformats-officedocument.presentationml.tags+xml"/>
  <Override PartName="/ppt/notesSlides/notesSlide35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notesSlides/notesSlide36.xml" ContentType="application/vnd.openxmlformats-officedocument.presentationml.notesSlide+xml"/>
  <Override PartName="/ppt/tags/tag273.xml" ContentType="application/vnd.openxmlformats-officedocument.presentationml.tags+xml"/>
  <Override PartName="/ppt/notesSlides/notesSlide37.xml" ContentType="application/vnd.openxmlformats-officedocument.presentationml.notesSlide+xml"/>
  <Override PartName="/ppt/tags/tag274.xml" ContentType="application/vnd.openxmlformats-officedocument.presentationml.tags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5"/>
  </p:notesMasterIdLst>
  <p:handoutMasterIdLst>
    <p:handoutMasterId r:id="rId56"/>
  </p:handoutMasterIdLst>
  <p:sldIdLst>
    <p:sldId id="821" r:id="rId3"/>
    <p:sldId id="822" r:id="rId4"/>
    <p:sldId id="578" r:id="rId5"/>
    <p:sldId id="465" r:id="rId6"/>
    <p:sldId id="865" r:id="rId7"/>
    <p:sldId id="576" r:id="rId8"/>
    <p:sldId id="864" r:id="rId9"/>
    <p:sldId id="469" r:id="rId10"/>
    <p:sldId id="866" r:id="rId11"/>
    <p:sldId id="580" r:id="rId12"/>
    <p:sldId id="868" r:id="rId13"/>
    <p:sldId id="867" r:id="rId14"/>
    <p:sldId id="632" r:id="rId15"/>
    <p:sldId id="869" r:id="rId16"/>
    <p:sldId id="633" r:id="rId17"/>
    <p:sldId id="719" r:id="rId18"/>
    <p:sldId id="870" r:id="rId19"/>
    <p:sldId id="634" r:id="rId20"/>
    <p:sldId id="721" r:id="rId21"/>
    <p:sldId id="871" r:id="rId22"/>
    <p:sldId id="792" r:id="rId23"/>
    <p:sldId id="793" r:id="rId24"/>
    <p:sldId id="794" r:id="rId25"/>
    <p:sldId id="796" r:id="rId26"/>
    <p:sldId id="797" r:id="rId27"/>
    <p:sldId id="765" r:id="rId28"/>
    <p:sldId id="872" r:id="rId29"/>
    <p:sldId id="635" r:id="rId30"/>
    <p:sldId id="928" r:id="rId31"/>
    <p:sldId id="874" r:id="rId32"/>
    <p:sldId id="636" r:id="rId33"/>
    <p:sldId id="875" r:id="rId34"/>
    <p:sldId id="908" r:id="rId35"/>
    <p:sldId id="637" r:id="rId36"/>
    <p:sldId id="877" r:id="rId37"/>
    <p:sldId id="587" r:id="rId38"/>
    <p:sldId id="878" r:id="rId39"/>
    <p:sldId id="589" r:id="rId40"/>
    <p:sldId id="681" r:id="rId41"/>
    <p:sldId id="879" r:id="rId42"/>
    <p:sldId id="682" r:id="rId43"/>
    <p:sldId id="927" r:id="rId44"/>
    <p:sldId id="683" r:id="rId45"/>
    <p:sldId id="880" r:id="rId46"/>
    <p:sldId id="685" r:id="rId47"/>
    <p:sldId id="684" r:id="rId48"/>
    <p:sldId id="882" r:id="rId49"/>
    <p:sldId id="596" r:id="rId50"/>
    <p:sldId id="883" r:id="rId51"/>
    <p:sldId id="497" r:id="rId52"/>
    <p:sldId id="925" r:id="rId53"/>
    <p:sldId id="926" r:id="rId54"/>
  </p:sldIdLst>
  <p:sldSz cx="9144000" cy="6858000" type="screen4x3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1" userDrawn="1">
          <p15:clr>
            <a:srgbClr val="A4A3A4"/>
          </p15:clr>
        </p15:guide>
        <p15:guide id="2" pos="27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09B"/>
    <a:srgbClr val="0000F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736" y="184"/>
      </p:cViewPr>
      <p:guideLst>
        <p:guide orient="horz" pos="2271"/>
        <p:guide pos="27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faint chance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音效</a:t>
            </a:r>
            <a:r>
              <a:rPr lang="en-US" altLang="zh-CN"/>
              <a:t> sound effect(s) visual effects </a:t>
            </a:r>
            <a:r>
              <a:rPr lang="zh-CN" altLang="en-US"/>
              <a:t>视觉效果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音效</a:t>
            </a:r>
            <a:r>
              <a:rPr lang="en-US" altLang="zh-CN"/>
              <a:t> sound effect(s) visual effects </a:t>
            </a:r>
            <a:r>
              <a:rPr lang="zh-CN" altLang="en-US"/>
              <a:t>视觉效果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waterproof clothing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waterproof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nutritionist </a:t>
            </a:r>
            <a:r>
              <a:rPr lang="zh-CN" altLang="en-US" b="1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营养专家</a:t>
            </a:r>
            <a:endParaRPr lang="en-US" altLang="zh-CN" b="1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malnutrition</a:t>
            </a:r>
            <a:r>
              <a:rPr lang="en-US" altLang="zh-CN" b="1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b="1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营养不良</a:t>
            </a:r>
            <a:endParaRPr lang="en-US" altLang="zh-CN" b="1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r>
              <a:rPr lang="en-US" altLang="zh-CN"/>
              <a:t>nutrients </a:t>
            </a:r>
            <a:r>
              <a:rPr lang="zh-CN" altLang="en-US"/>
              <a:t>营养物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image" Target="../media/image1.jpe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18" Type="http://schemas.openxmlformats.org/officeDocument/2006/relationships/tags" Target="../tags/tag109.xml"/><Relationship Id="rId3" Type="http://schemas.openxmlformats.org/officeDocument/2006/relationships/tags" Target="../tags/tag94.xml"/><Relationship Id="rId21" Type="http://schemas.openxmlformats.org/officeDocument/2006/relationships/image" Target="../media/image1.jpeg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20" Type="http://schemas.openxmlformats.org/officeDocument/2006/relationships/slideMaster" Target="../slideMasters/slideMaster2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tags" Target="../tags/tag106.xml"/><Relationship Id="rId10" Type="http://schemas.openxmlformats.org/officeDocument/2006/relationships/tags" Target="../tags/tag101.xml"/><Relationship Id="rId19" Type="http://schemas.openxmlformats.org/officeDocument/2006/relationships/tags" Target="../tags/tag110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21.xml"/><Relationship Id="rId9" Type="http://schemas.openxmlformats.org/officeDocument/2006/relationships/tags" Target="../tags/tag126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9" Type="http://schemas.openxmlformats.org/officeDocument/2006/relationships/image" Target="../media/image1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2" Type="http://schemas.openxmlformats.org/officeDocument/2006/relationships/tags" Target="../tags/tag156.xml"/><Relationship Id="rId16" Type="http://schemas.openxmlformats.org/officeDocument/2006/relationships/image" Target="../media/image1.jpeg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7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05.xml"/><Relationship Id="rId10" Type="http://schemas.openxmlformats.org/officeDocument/2006/relationships/tags" Target="../tags/tag210.xml"/><Relationship Id="rId4" Type="http://schemas.openxmlformats.org/officeDocument/2006/relationships/tags" Target="../tags/tag204.xml"/><Relationship Id="rId9" Type="http://schemas.openxmlformats.org/officeDocument/2006/relationships/tags" Target="../tags/tag20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1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BE9E7"/>
          </a:solidFill>
        </p:spPr>
      </p:pic>
      <p:sp>
        <p:nvSpPr>
          <p:cNvPr id="8" name="弧形 7"/>
          <p:cNvSpPr/>
          <p:nvPr>
            <p:custDataLst>
              <p:tags r:id="rId2"/>
            </p:custDataLst>
          </p:nvPr>
        </p:nvSpPr>
        <p:spPr>
          <a:xfrm rot="4293626">
            <a:off x="6001313" y="1655160"/>
            <a:ext cx="2198913" cy="2931884"/>
          </a:xfrm>
          <a:prstGeom prst="arc">
            <a:avLst>
              <a:gd name="adj1" fmla="val 16200000"/>
              <a:gd name="adj2" fmla="val 9161869"/>
            </a:avLst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 flipV="1">
            <a:off x="5709999" y="4347881"/>
            <a:ext cx="345381" cy="493243"/>
          </a:xfrm>
          <a:prstGeom prst="line">
            <a:avLst/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055380" y="4180808"/>
            <a:ext cx="125305" cy="167073"/>
          </a:xfrm>
          <a:prstGeom prst="ellipse">
            <a:avLst/>
          </a:prstGeom>
          <a:noFill/>
          <a:ln w="28575">
            <a:solidFill>
              <a:srgbClr val="576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V="1">
            <a:off x="5728795" y="3234360"/>
            <a:ext cx="533339" cy="711118"/>
          </a:xfrm>
          <a:prstGeom prst="line">
            <a:avLst/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689707" y="1428968"/>
            <a:ext cx="198120" cy="12319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00" dirty="0">
                <a:solidFill>
                  <a:schemeClr val="accent1"/>
                </a:solidFill>
                <a:latin typeface="TypeLand 康熙字典體 Trial" panose="020B0502000000000001" pitchFamily="34" charset="-122"/>
                <a:ea typeface="TypeLand 康熙字典體 Trial" panose="020B0502000000000001" pitchFamily="34" charset="-122"/>
              </a:rPr>
              <a:t>HELLO</a:t>
            </a:r>
            <a:endParaRPr lang="zh-CN" altLang="en-US" sz="100" dirty="0">
              <a:solidFill>
                <a:schemeClr val="accent1"/>
              </a:solidFill>
              <a:latin typeface="TypeLand 康熙字典體 Trial" panose="020B0502000000000001" pitchFamily="34" charset="-122"/>
              <a:ea typeface="TypeLand 康熙字典體 Trial" panose="020B0502000000000001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322295" y="1919885"/>
            <a:ext cx="125305" cy="167073"/>
          </a:xfrm>
          <a:prstGeom prst="ellipse">
            <a:avLst/>
          </a:prstGeom>
          <a:noFill/>
          <a:ln w="28575">
            <a:solidFill>
              <a:srgbClr val="576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 flipV="1">
            <a:off x="7725603" y="1889793"/>
            <a:ext cx="533339" cy="711118"/>
          </a:xfrm>
          <a:prstGeom prst="line">
            <a:avLst/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8045171" y="2439346"/>
            <a:ext cx="125305" cy="167073"/>
          </a:xfrm>
          <a:prstGeom prst="ellipse">
            <a:avLst/>
          </a:prstGeom>
          <a:noFill/>
          <a:ln w="28575">
            <a:solidFill>
              <a:srgbClr val="576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580617" y="1356211"/>
            <a:ext cx="4256723" cy="1266190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4950" b="1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5457826" y="5193376"/>
            <a:ext cx="1603775" cy="588339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5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7183041" y="5179415"/>
            <a:ext cx="1603775" cy="60230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1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366227" y="1574383"/>
            <a:ext cx="1384994" cy="2510155"/>
          </a:xfrm>
          <a:prstGeom prst="rect">
            <a:avLst/>
          </a:prstGeom>
          <a:noFill/>
        </p:spPr>
        <p:txBody>
          <a:bodyPr vert="eaVert" wrap="square" rtlCol="0">
            <a:normAutofit lnSpcReduction="10000"/>
          </a:bodyPr>
          <a:lstStyle/>
          <a:p>
            <a:pPr algn="dist"/>
            <a:r>
              <a:rPr lang="zh-CN" altLang="en-US" sz="40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你好</a:t>
            </a:r>
          </a:p>
          <a:p>
            <a:pPr algn="dist"/>
            <a:r>
              <a:rPr lang="zh-CN" altLang="en-US" sz="4050" dirty="0">
                <a:solidFill>
                  <a:schemeClr val="accent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  </a:t>
            </a:r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岁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月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ïṣlïḋê"/>
          <p:cNvSpPr/>
          <p:nvPr>
            <p:custDataLst>
              <p:tags r:id="rId2"/>
            </p:custDataLst>
          </p:nvPr>
        </p:nvSpPr>
        <p:spPr>
          <a:xfrm>
            <a:off x="670766" y="798289"/>
            <a:ext cx="7802470" cy="535577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5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rmAutofit/>
          </a:bodyPr>
          <a:lstStyle/>
          <a:p>
            <a:pPr algn="ctr"/>
            <a:endParaRPr lang="zh-CN" altLang="en-US" sz="100" dirty="0">
              <a:latin typeface="字魂36号-孙新恒宋楷体" panose="02000000000000000000" pitchFamily="2" charset="-122"/>
              <a:ea typeface="字魂36号-孙新恒宋楷体" panose="02000000000000000000" pitchFamily="2" charset="-122"/>
              <a:sym typeface="字魂36号-孙新恒宋楷体" panose="02000000000000000000" pitchFamily="2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5983322" y="2916613"/>
            <a:ext cx="2345634" cy="3139996"/>
            <a:chOff x="7656030" y="829721"/>
            <a:chExt cx="3398590" cy="3412156"/>
          </a:xfrm>
        </p:grpSpPr>
        <p:sp>
          <p:nvSpPr>
            <p:cNvPr id="10" name="弧形 9"/>
            <p:cNvSpPr/>
            <p:nvPr>
              <p:custDataLst>
                <p:tags r:id="rId12"/>
              </p:custDataLst>
            </p:nvPr>
          </p:nvSpPr>
          <p:spPr>
            <a:xfrm rot="4293626">
              <a:off x="8044449" y="1055913"/>
              <a:ext cx="2931884" cy="2931884"/>
            </a:xfrm>
            <a:prstGeom prst="arc">
              <a:avLst>
                <a:gd name="adj1" fmla="val 16200000"/>
                <a:gd name="adj2" fmla="val 9161869"/>
              </a:avLst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1" name="直接连接符 10"/>
            <p:cNvCxnSpPr/>
            <p:nvPr>
              <p:custDataLst>
                <p:tags r:id="rId13"/>
              </p:custDataLst>
            </p:nvPr>
          </p:nvCxnSpPr>
          <p:spPr>
            <a:xfrm flipV="1">
              <a:off x="7656030" y="3748634"/>
              <a:ext cx="460508" cy="493243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>
              <p:custDataLst>
                <p:tags r:id="rId14"/>
              </p:custDataLst>
            </p:nvPr>
          </p:nvSpPr>
          <p:spPr>
            <a:xfrm>
              <a:off x="8116538" y="3581561"/>
              <a:ext cx="167073" cy="16707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3" name="直接连接符 12"/>
            <p:cNvCxnSpPr/>
            <p:nvPr>
              <p:custDataLst>
                <p:tags r:id="rId15"/>
              </p:custDataLst>
            </p:nvPr>
          </p:nvCxnSpPr>
          <p:spPr>
            <a:xfrm flipV="1">
              <a:off x="7681091" y="2635113"/>
              <a:ext cx="711118" cy="711118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>
              <p:custDataLst>
                <p:tags r:id="rId16"/>
              </p:custDataLst>
            </p:nvPr>
          </p:nvSpPr>
          <p:spPr>
            <a:xfrm>
              <a:off x="8939412" y="829721"/>
              <a:ext cx="287056" cy="14421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sz="100" baseline="0" dirty="0">
                  <a:solidFill>
                    <a:srgbClr val="C4C815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HELLO</a:t>
              </a:r>
              <a:endParaRPr lang="zh-CN" altLang="en-US" sz="100" baseline="0" dirty="0">
                <a:solidFill>
                  <a:srgbClr val="C4C815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17"/>
              </p:custDataLst>
            </p:nvPr>
          </p:nvSpPr>
          <p:spPr>
            <a:xfrm>
              <a:off x="8472425" y="1320638"/>
              <a:ext cx="167073" cy="16707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6" name="直接连接符 15"/>
            <p:cNvCxnSpPr/>
            <p:nvPr>
              <p:custDataLst>
                <p:tags r:id="rId18"/>
              </p:custDataLst>
            </p:nvPr>
          </p:nvCxnSpPr>
          <p:spPr>
            <a:xfrm flipV="1">
              <a:off x="10343502" y="1290546"/>
              <a:ext cx="711118" cy="711118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>
              <p:custDataLst>
                <p:tags r:id="rId19"/>
              </p:custDataLst>
            </p:nvPr>
          </p:nvSpPr>
          <p:spPr>
            <a:xfrm>
              <a:off x="10769593" y="1840099"/>
              <a:ext cx="167073" cy="16707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</p:grpSp>
      <p:sp>
        <p:nvSpPr>
          <p:cNvPr id="18" name="椭圆 17"/>
          <p:cNvSpPr/>
          <p:nvPr>
            <p:custDataLst>
              <p:tags r:id="rId4"/>
            </p:custDataLst>
          </p:nvPr>
        </p:nvSpPr>
        <p:spPr>
          <a:xfrm>
            <a:off x="1018871" y="1320309"/>
            <a:ext cx="846941" cy="11292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693364" y="1553695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874045" y="2806700"/>
            <a:ext cx="3438513" cy="671648"/>
          </a:xfrm>
        </p:spPr>
        <p:txBody>
          <a:bodyPr lIns="101600" tIns="38100" rIns="63500" bIns="38100" anchor="ctr" anchorCtr="0">
            <a:normAutofit/>
          </a:bodyPr>
          <a:lstStyle>
            <a:lvl1pPr algn="l"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1874045" y="3543301"/>
            <a:ext cx="3441405" cy="1867258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5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6511007" y="3036379"/>
            <a:ext cx="1384994" cy="2510155"/>
          </a:xfrm>
          <a:prstGeom prst="rect">
            <a:avLst/>
          </a:prstGeom>
          <a:noFill/>
        </p:spPr>
        <p:txBody>
          <a:bodyPr vert="eaVert" wrap="square" rtlCol="0">
            <a:normAutofit lnSpcReduction="10000"/>
          </a:bodyPr>
          <a:lstStyle/>
          <a:p>
            <a:pPr algn="dist"/>
            <a:r>
              <a:rPr lang="zh-CN" altLang="en-US" sz="40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你好</a:t>
            </a:r>
          </a:p>
          <a:p>
            <a:pPr algn="dist"/>
            <a:r>
              <a:rPr lang="zh-CN" altLang="en-US" sz="4050" dirty="0">
                <a:solidFill>
                  <a:schemeClr val="accent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  </a:t>
            </a:r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</a:t>
            </a:r>
            <a:r>
              <a:rPr lang="zh-CN" altLang="en-US" sz="40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岁</a:t>
            </a:r>
            <a:r>
              <a:rPr lang="zh-CN" altLang="en-US" sz="30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月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899886"/>
            <a:ext cx="293915" cy="319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559201" y="1601246"/>
            <a:ext cx="387857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1"/>
            </p:custDataLst>
          </p:nvPr>
        </p:nvSpPr>
        <p:spPr>
          <a:xfrm>
            <a:off x="216535" y="273050"/>
            <a:ext cx="8712200" cy="63119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1"/>
            </p:custDataLst>
          </p:nvPr>
        </p:nvSpPr>
        <p:spPr>
          <a:xfrm>
            <a:off x="94615" y="108585"/>
            <a:ext cx="8947150" cy="663257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BE9E7"/>
          </a:solidFill>
        </p:spPr>
      </p:pic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5043791" y="973455"/>
            <a:ext cx="3238567" cy="4334186"/>
            <a:chOff x="11989" y="1497"/>
            <a:chExt cx="5353" cy="5373"/>
          </a:xfrm>
        </p:grpSpPr>
        <p:sp>
          <p:nvSpPr>
            <p:cNvPr id="7" name="弧形 6"/>
            <p:cNvSpPr/>
            <p:nvPr userDrawn="1">
              <p:custDataLst>
                <p:tags r:id="rId7"/>
              </p:custDataLst>
            </p:nvPr>
          </p:nvSpPr>
          <p:spPr>
            <a:xfrm rot="4293626">
              <a:off x="12601" y="1853"/>
              <a:ext cx="4617" cy="4617"/>
            </a:xfrm>
            <a:prstGeom prst="arc">
              <a:avLst>
                <a:gd name="adj1" fmla="val 16200000"/>
                <a:gd name="adj2" fmla="val 9161869"/>
              </a:avLst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cxnSp>
          <p:nvCxnSpPr>
            <p:cNvPr id="8" name="直接连接符 7"/>
            <p:cNvCxnSpPr/>
            <p:nvPr userDrawn="1">
              <p:custDataLst>
                <p:tags r:id="rId8"/>
              </p:custDataLst>
            </p:nvPr>
          </p:nvCxnSpPr>
          <p:spPr>
            <a:xfrm flipV="1">
              <a:off x="11989" y="6093"/>
              <a:ext cx="725" cy="777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 userDrawn="1">
              <p:custDataLst>
                <p:tags r:id="rId9"/>
              </p:custDataLst>
            </p:nvPr>
          </p:nvSpPr>
          <p:spPr>
            <a:xfrm>
              <a:off x="12715" y="5830"/>
              <a:ext cx="263" cy="26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0" name="直接连接符 9"/>
            <p:cNvCxnSpPr/>
            <p:nvPr userDrawn="1">
              <p:custDataLst>
                <p:tags r:id="rId10"/>
              </p:custDataLst>
            </p:nvPr>
          </p:nvCxnSpPr>
          <p:spPr>
            <a:xfrm flipV="1">
              <a:off x="12029" y="4340"/>
              <a:ext cx="1120" cy="1120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 userDrawn="1">
              <p:custDataLst>
                <p:tags r:id="rId11"/>
              </p:custDataLst>
            </p:nvPr>
          </p:nvSpPr>
          <p:spPr>
            <a:xfrm>
              <a:off x="13891" y="1497"/>
              <a:ext cx="572" cy="1435"/>
            </a:xfrm>
            <a:prstGeom prst="rect">
              <a:avLst/>
            </a:prstGeom>
            <a:noFill/>
          </p:spPr>
          <p:txBody>
            <a:bodyPr vert="eaVert" wrap="square" rtlCol="0">
              <a:normAutofit/>
            </a:bodyPr>
            <a:lstStyle/>
            <a:p>
              <a:r>
                <a:rPr lang="en-US" altLang="zh-CN" sz="100" baseline="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HELLO</a:t>
              </a:r>
              <a:endParaRPr lang="zh-CN" altLang="en-US" sz="100" baseline="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 userDrawn="1">
              <p:custDataLst>
                <p:tags r:id="rId12"/>
              </p:custDataLst>
            </p:nvPr>
          </p:nvSpPr>
          <p:spPr>
            <a:xfrm>
              <a:off x="13275" y="2270"/>
              <a:ext cx="263" cy="26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3" name="直接连接符 12"/>
            <p:cNvCxnSpPr/>
            <p:nvPr userDrawn="1">
              <p:custDataLst>
                <p:tags r:id="rId13"/>
              </p:custDataLst>
            </p:nvPr>
          </p:nvCxnSpPr>
          <p:spPr>
            <a:xfrm flipV="1">
              <a:off x="16222" y="2222"/>
              <a:ext cx="1120" cy="1120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/>
            <p:cNvSpPr/>
            <p:nvPr userDrawn="1">
              <p:custDataLst>
                <p:tags r:id="rId14"/>
              </p:custDataLst>
            </p:nvPr>
          </p:nvSpPr>
          <p:spPr>
            <a:xfrm>
              <a:off x="16893" y="3088"/>
              <a:ext cx="263" cy="26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25453" y="1953260"/>
            <a:ext cx="2523173" cy="2829560"/>
          </a:xfrm>
        </p:spPr>
        <p:txBody>
          <a:bodyPr vert="horz" lIns="101600" tIns="38100" rIns="254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</a:t>
            </a:r>
            <a:br>
              <a:rPr dirty="0">
                <a:sym typeface="+mn-ea"/>
              </a:rPr>
            </a:b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16218" y="273050"/>
            <a:ext cx="8712041" cy="63119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>
            <a:normAutofit/>
          </a:bodyPr>
          <a:lstStyle>
            <a:lvl1pPr>
              <a:defRPr sz="240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960835" y="2163600"/>
            <a:ext cx="7219950" cy="3445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26670" y="-4445"/>
            <a:ext cx="3780949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>
            <a:normAutofit/>
          </a:bodyPr>
          <a:lstStyle>
            <a:lvl1pPr>
              <a:defRPr sz="270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1764000"/>
            <a:ext cx="2967300" cy="4093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81914" y="770255"/>
            <a:ext cx="4803934" cy="508762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>
            <a:normAutofit/>
          </a:bodyPr>
          <a:lstStyle>
            <a:lvl1pPr algn="ctr">
              <a:defRPr sz="270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659600"/>
            <a:ext cx="8231981" cy="828000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2808000"/>
            <a:ext cx="8224200" cy="34308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858" y="5039996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>
            <a:normAutofit/>
          </a:bodyPr>
          <a:lstStyle>
            <a:lvl1pPr algn="ctr">
              <a:defRPr sz="240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453628" y="1681200"/>
            <a:ext cx="8243100" cy="3211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445500" y="5180400"/>
            <a:ext cx="8251200" cy="1011600"/>
          </a:xfrm>
        </p:spPr>
        <p:txBody>
          <a:bodyPr>
            <a:normAutofit/>
          </a:bodyPr>
          <a:lstStyle>
            <a:lvl1pPr marL="0" indent="0">
              <a:buNone/>
              <a:defRPr sz="13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127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43283" y="132814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37600"/>
            <a:ext cx="8278200" cy="441964"/>
          </a:xfrm>
        </p:spPr>
        <p:txBody>
          <a:bodyPr>
            <a:normAutofit/>
          </a:bodyPr>
          <a:lstStyle>
            <a:lvl1pPr>
              <a:defRPr sz="210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1663200"/>
            <a:ext cx="4006800" cy="28944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663200"/>
            <a:ext cx="4025700" cy="28944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816800"/>
            <a:ext cx="4006800" cy="781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813200"/>
            <a:ext cx="4025700" cy="781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8589"/>
            <a:ext cx="9144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>
            <a:normAutofit/>
          </a:bodyPr>
          <a:lstStyle>
            <a:lvl1pPr algn="ctr">
              <a:defRPr sz="4500"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41810" y="3862800"/>
            <a:ext cx="6858000" cy="1656000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6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64.xml"/><Relationship Id="rId28" Type="http://schemas.openxmlformats.org/officeDocument/2006/relationships/tags" Target="../tags/tag6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Relationship Id="rId27" Type="http://schemas.openxmlformats.org/officeDocument/2006/relationships/tags" Target="../tags/tag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608400"/>
            <a:ext cx="82269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515600"/>
            <a:ext cx="82269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502412" y="952508"/>
            <a:ext cx="8139178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5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5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5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6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7.xml"/><Relationship Id="rId1" Type="http://schemas.openxmlformats.org/officeDocument/2006/relationships/themeOverride" Target="../theme/themeOverride3.xml"/><Relationship Id="rId4" Type="http://schemas.openxmlformats.org/officeDocument/2006/relationships/notesSlide" Target="../notesSlides/notesSlide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8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9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0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3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1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3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2.xml"/><Relationship Id="rId1" Type="http://schemas.openxmlformats.org/officeDocument/2006/relationships/themeOverride" Target="../theme/themeOverride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3.xml"/><Relationship Id="rId1" Type="http://schemas.openxmlformats.org/officeDocument/2006/relationships/themeOverride" Target="../theme/themeOverride9.xml"/><Relationship Id="rId4" Type="http://schemas.openxmlformats.org/officeDocument/2006/relationships/notesSlide" Target="../notesSlides/notesSlide3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5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9" Type="http://schemas.openxmlformats.org/officeDocument/2006/relationships/notesSlide" Target="../notesSlides/notesSlide3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9375" y="121920"/>
            <a:ext cx="906399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1. often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breakfast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不吃早饭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latin typeface="Times New Roman" panose="02020503050405090304" charset="0"/>
                <a:cs typeface="Times New Roman" panose="02020503050405090304" charset="0"/>
              </a:rPr>
              <a:t>to not do something that you usually do or should do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不做(应做的事情等)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leave out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跳过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正常的步骤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You can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 (over) the next chapter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if you have covered the topic in class.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下一章你要是在课堂上已经讲到了，就可以跳过。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跳到最后一章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skip to the last chapter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He's in trouble for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skipping classes/the exams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他因为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逃课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/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逃避考试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有麻烦了。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9375" y="121920"/>
            <a:ext cx="906399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quickly make a little jump with each step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蹦蹦跳跳地走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skipped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home merrily.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她连蹦带跳，开心地回家了。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e came along the road,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skipping and jumping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他一路连蹦带跳地走来。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skip/skip rope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跳绳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She likes to skip rope as a warm-up.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她喜欢以跳绳来热身。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39" y="692401"/>
            <a:ext cx="1076784" cy="60299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0239" y="1461425"/>
            <a:ext cx="801176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 it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不用提，别谈。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   When Jack tried to reward him for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   returning his lost dog, the man said to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 it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跳，蹦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   The child went along with little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skips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of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   happiness.</a:t>
            </a:r>
            <a:endParaRPr lang="en-US" altLang="zh-CN" sz="3200" b="1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9730" y="1036955"/>
            <a:ext cx="8487410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</a:t>
            </a:r>
            <a:r>
              <a:rPr sz="3200" b="1" dirty="0" err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我一页不漏地读完了全书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 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 ______________________________________</a:t>
            </a:r>
            <a:endParaRPr 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</a:t>
            </a:r>
            <a:r>
              <a:rPr sz="3200" b="1" dirty="0" err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跳过第一章</a:t>
            </a:r>
            <a:r>
              <a:rPr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, 从第25页开始看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 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我建议我们不讨论细节，而是回到基本原则上来。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I suggest we ___________________ and get back to first principles.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9730" y="371983"/>
            <a:ext cx="640651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翻译句子。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7100" y="1618995"/>
            <a:ext cx="7772400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 read the whole book without skipping a page.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3437" y="3356229"/>
            <a:ext cx="812927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 the first chapter and start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from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page 25.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23565" y="5139690"/>
            <a:ext cx="435673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 over the details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9730" y="1036955"/>
            <a:ext cx="848741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4) </a:t>
            </a:r>
            <a:r>
              <a: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他们看见那个男人身后还跟着一个蹦蹦跳跳的小姑娘。</a:t>
            </a:r>
          </a:p>
          <a:p>
            <a:pPr>
              <a:lnSpc>
                <a:spcPct val="120000"/>
              </a:lnSpc>
            </a:pPr>
            <a:r>
              <a:rPr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They saw the man with a little girl </a:t>
            </a:r>
            <a:r>
              <a:rPr 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_________</a:t>
            </a:r>
          </a:p>
          <a:p>
            <a:pPr>
              <a:lnSpc>
                <a:spcPct val="120000"/>
              </a:lnSpc>
            </a:pPr>
            <a:r>
              <a:rPr 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______________.</a:t>
            </a:r>
            <a:endParaRPr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endParaRPr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5) </a:t>
            </a:r>
            <a:r>
              <a:rPr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我们挽着胳膊，蹦蹦跳跳地</a:t>
            </a:r>
            <a:r>
              <a:rPr 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沿着</a:t>
            </a:r>
            <a:r>
              <a:rPr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大街</a:t>
            </a:r>
            <a:r>
              <a:rPr 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走</a:t>
            </a:r>
            <a:r>
              <a:rPr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。</a:t>
            </a:r>
            <a:endParaRPr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We 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skipped</a:t>
            </a:r>
            <a:r>
              <a: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down the street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,</a:t>
            </a:r>
            <a:r>
              <a: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arm in arm.</a:t>
            </a:r>
          </a:p>
          <a:p>
            <a:pPr>
              <a:lnSpc>
                <a:spcPct val="120000"/>
              </a:lnSpc>
            </a:pPr>
            <a:endParaRPr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9730" y="371983"/>
            <a:ext cx="640651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翻译句子。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矩形 2"/>
          <p:cNvSpPr/>
          <p:nvPr/>
        </p:nvSpPr>
        <p:spPr>
          <a:xfrm>
            <a:off x="419735" y="2169795"/>
            <a:ext cx="8319770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                                                 skipping along behind him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5095" y="141605"/>
            <a:ext cx="889317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2. Teen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faints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after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skipping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meals</a:t>
            </a:r>
          </a:p>
          <a:p>
            <a:pPr>
              <a:lnSpc>
                <a:spcPct val="12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vi. 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become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unconscious, pass out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昏厥</a:t>
            </a:r>
            <a:endParaRPr lang="en-US" altLang="zh-CN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faint from hunger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饿昏过去</a:t>
            </a:r>
          </a:p>
          <a:p>
            <a:pPr>
              <a:lnSpc>
                <a:spcPct val="120000"/>
              </a:lnSpc>
            </a:pP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adj.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1)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昏眩的</a:t>
            </a:r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feeling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weak</a:t>
            </a:r>
            <a:endParaRPr lang="en-US" altLang="zh-CN" sz="3200" b="1" i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She suddenly felt faint.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5095" y="61595"/>
            <a:ext cx="889317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2) </a:t>
            </a:r>
            <a:r>
              <a:rPr lang="zh-CN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微弱的；不清楚的</a:t>
            </a:r>
            <a:endParaRPr lang="zh-CN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faint light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微弱的光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		</a:t>
            </a:r>
            <a:endParaRPr lang="zh-CN" altLang="en-US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faint smile </a:t>
            </a: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微微一笑</a:t>
            </a:r>
            <a:endParaRPr lang="zh-CN" altLang="en-US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We could hear their voices </a:t>
            </a:r>
            <a:r>
              <a:rPr lang="zh-CN" altLang="en-US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growing fainter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as they walked down the road.</a:t>
            </a:r>
          </a:p>
          <a:p>
            <a:pPr>
              <a:lnSpc>
                <a:spcPct val="120000"/>
              </a:lnSpc>
            </a:pP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他们沿路走远时我们听见他们的说话声逐渐模糊。</a:t>
            </a:r>
            <a:endParaRPr 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可能性不大的；微小的</a:t>
            </a:r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slight</a:t>
            </a: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There is still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faint hope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that she may be cured.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她的病还有一点点希望可以治愈。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They don't have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faintest chance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of winning.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他们毫无获胜的可能。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" y="591820"/>
            <a:ext cx="1057275" cy="5918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3215" y="1167765"/>
            <a:ext cx="893064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pass away = pass on 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pass by (sb/sth)         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pass sth down   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pass…on to sb  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56050" y="1167765"/>
            <a:ext cx="540448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去世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从旁边经过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把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世代相传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流传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把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传给某人；转交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135" y="520065"/>
            <a:ext cx="876173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ea"/>
            </a:pP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1. She _________ a flea market on her way to work.</a:t>
            </a:r>
          </a:p>
          <a:p>
            <a:pPr>
              <a:buFont typeface="+mj-ea"/>
            </a:pP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她上班路上经过一个跳蚤市场。</a:t>
            </a: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  <a:p>
            <a:pPr>
              <a:buFont typeface="+mj-ea"/>
            </a:pPr>
            <a:endParaRPr lang="en-US" altLang="zh-CN" sz="3200" b="1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buFont typeface="+mj-ea"/>
            </a:pP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2.______________________ after you have brushed the door.</a:t>
            </a:r>
          </a:p>
          <a:p>
            <a:pPr>
              <a:buFont typeface="+mj-ea"/>
            </a:pP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你在刷好门后请把刷子交给我。</a:t>
            </a:r>
          </a:p>
          <a:p>
            <a:pPr>
              <a:buFont typeface="+mj-ea"/>
            </a:pPr>
            <a:endParaRPr lang="zh-CN" altLang="en-US" sz="3200" b="1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buFont typeface="+mj-ea"/>
            </a:pP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3. The tradition of this festival has  </a:t>
            </a:r>
          </a:p>
          <a:p>
            <a:pPr>
              <a:buFont typeface="+mj-ea"/>
            </a:pP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_____________________ ancient times. </a:t>
            </a:r>
          </a:p>
          <a:p>
            <a:pPr>
              <a:buFont typeface="+mj-ea"/>
            </a:pP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这个节日的传统是从古代一直传下来的。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1940" y="460375"/>
            <a:ext cx="304800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passed by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2371090"/>
            <a:ext cx="469455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Pass the brush on to me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9275" y="4845685"/>
            <a:ext cx="469392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been passed down from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1935" y="120015"/>
            <a:ext cx="865632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3. Jennifer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was found to have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dangerously low 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blood sugar levels and was treated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immediately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   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珍妮弗</a:t>
            </a:r>
            <a:r>
              <a:rPr lang="zh-CN" altLang="en-US" sz="3200" b="1" u="sng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被发现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血糖水平低得很危险，并</a:t>
            </a:r>
            <a:r>
              <a:rPr lang="zh-CN" altLang="en-US" sz="3200" b="1" u="sng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立即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接受了治疗。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find sb/sth doing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表主动或进行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         done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表被动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         to do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表示检验或调查的结果</a:t>
            </a:r>
            <a:endParaRPr lang="zh-CN" altLang="en-US" sz="3200" b="1" i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marL="914400" lvl="2" indent="45720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adj.   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表示状态</a:t>
            </a:r>
            <a:endParaRPr lang="en-US" altLang="zh-CN" sz="3200" b="1" i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1935" y="120015"/>
            <a:ext cx="865632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found myself cheated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我发现自己被骗了。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suddenly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found myself running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down the street.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我不知不觉突然在街上跑了起来。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Her blood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was found to contain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poison.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她的血液中发现有毒素。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We came home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found him asleep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on the sofa.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我们回到家发现他在沙发上睡着了。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1935" y="120015"/>
            <a:ext cx="89027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immediately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adv.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立即，马上</a:t>
            </a:r>
            <a:r>
              <a:rPr lang="en-US" altLang="zh-CN" sz="2800" b="1" dirty="0"/>
              <a:t> 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without delay</a:t>
            </a:r>
            <a:endParaRPr lang="en-US" altLang="zh-CN" sz="2800" b="1" dirty="0">
              <a:solidFill>
                <a:srgbClr val="0000FF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 told him immediately he came.</a:t>
            </a:r>
            <a:r>
              <a:rPr lang="en-US" altLang="zh-CN" sz="320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  <a:p>
            <a:pPr indent="0" fontAlgn="auto">
              <a:lnSpc>
                <a:spcPct val="120000"/>
              </a:lnSpc>
            </a:pPr>
            <a:r>
              <a:rPr lang="zh-CN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他一来我就告诉他了。</a:t>
            </a:r>
          </a:p>
          <a:p>
            <a:pPr indent="0" fontAlgn="auto">
              <a:lnSpc>
                <a:spcPct val="120000"/>
              </a:lnSpc>
            </a:pPr>
            <a:endParaRPr lang="zh-CN" altLang="zh-CN" sz="3200" b="1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conj.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一……就</a:t>
            </a:r>
          </a:p>
          <a:p>
            <a:pPr indent="0" fontAlgn="auto">
              <a:lnSpc>
                <a:spcPct val="120000"/>
              </a:lnSpc>
            </a:pP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①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as soon as; </a:t>
            </a:r>
          </a:p>
          <a:p>
            <a:pPr indent="0" fontAlgn="auto">
              <a:lnSpc>
                <a:spcPct val="120000"/>
              </a:lnSpc>
            </a:pP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②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no sooner...than..., hardly... when...; scarcely...when...; </a:t>
            </a:r>
          </a:p>
          <a:p>
            <a:pPr indent="0" fontAlgn="auto">
              <a:lnSpc>
                <a:spcPct val="120000"/>
              </a:lnSpc>
            </a:pP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③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immediately/directly/instantly; </a:t>
            </a:r>
          </a:p>
          <a:p>
            <a:pPr indent="0" fontAlgn="auto">
              <a:lnSpc>
                <a:spcPct val="120000"/>
              </a:lnSpc>
            </a:pP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④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the moment/instant/minute/second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431800" y="223520"/>
            <a:ext cx="8610600" cy="6318885"/>
          </a:xfrm>
          <a:prstGeom prst="rect">
            <a:avLst/>
          </a:prstGeom>
          <a:noFill/>
          <a:ln w="28575" cmpd="thickThin">
            <a:noFill/>
            <a:prstDash val="lgDashDot"/>
          </a:ln>
        </p:spPr>
        <p:txBody>
          <a:bodyPr wrap="square">
            <a:no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她一读到那封信就哭了起来。</a:t>
            </a:r>
            <a:endParaRPr lang="zh-CN" altLang="en-US" sz="3200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She began to cry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__________________________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she read the letter.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小偷一出大楼就被警方抓住了。</a:t>
            </a: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 _______ ____ ____ _____ ____ ____ __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building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than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he was caught by the police.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No sooner had the thief got out of ...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危机一爆发，政府就采取行动加以应对。</a:t>
            </a: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 ________ the crisis broke out, the government took action to cope with it.</a:t>
            </a:r>
          </a:p>
          <a:p>
            <a:pPr algn="l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8199" name="TextBox 10"/>
          <p:cNvSpPr txBox="1"/>
          <p:nvPr/>
        </p:nvSpPr>
        <p:spPr>
          <a:xfrm>
            <a:off x="560388" y="4873308"/>
            <a:ext cx="26885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   moment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200" name="TextBox 11"/>
          <p:cNvSpPr txBox="1"/>
          <p:nvPr/>
        </p:nvSpPr>
        <p:spPr>
          <a:xfrm>
            <a:off x="3644265" y="791210"/>
            <a:ext cx="53981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immediately/instantly/directly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Box 11"/>
          <p:cNvSpPr txBox="1"/>
          <p:nvPr/>
        </p:nvSpPr>
        <p:spPr>
          <a:xfrm>
            <a:off x="440055" y="2534285"/>
            <a:ext cx="84626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    thief    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had   no   sooner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got   out   of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0" y="223520"/>
            <a:ext cx="9036050" cy="6318885"/>
          </a:xfrm>
          <a:prstGeom prst="rect">
            <a:avLst/>
          </a:prstGeom>
          <a:noFill/>
          <a:ln w="28575" cmpd="thickThin">
            <a:noFill/>
            <a:prstDash val="lgDashDot"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比赛一开始天就开始下雨了，因此这两个队商定把比赛推迟至下周末。</a:t>
            </a:r>
          </a:p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______ ______ _______ _______ _______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when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it began to rain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, and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the two teams agreed to put it off till the next weekend.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Hardly had the match begun when ...</a:t>
            </a:r>
          </a:p>
          <a:p>
            <a:pPr algn="l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一听到这个消息，女孩高兴地蹦蹦跳跳地走了。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Upon/On hearing the news, the girl skipped away merrily.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0030" y="1359535"/>
            <a:ext cx="75050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     match     had     hardly     begun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>
          <a:xfrm>
            <a:off x="0" y="264160"/>
            <a:ext cx="8928735" cy="557530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algn="l">
              <a:lnSpc>
                <a:spcPct val="120000"/>
              </a:lnSpc>
              <a:buClrTx/>
              <a:buSzTx/>
              <a:buFontTx/>
              <a:buNone/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4. </a:t>
            </a:r>
            <a:r>
              <a:rPr lang="en-US" altLang="zh-CN" sz="3200" b="1" spc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struggled with</a:t>
            </a: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eating problems 和吃饭问题较劲/</a:t>
            </a:r>
            <a:r>
              <a:rPr lang="zh-CN" altLang="en-US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努力应对吃饭问题</a:t>
            </a:r>
            <a:endParaRPr lang="en-US" altLang="zh-CN" sz="3200" b="1" spc="0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  <a:buNone/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spc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reach her target weight</a:t>
            </a: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达到她的目标体重</a:t>
            </a:r>
          </a:p>
          <a:p>
            <a:pPr marL="0" algn="l">
              <a:lnSpc>
                <a:spcPct val="120000"/>
              </a:lnSpc>
              <a:buClrTx/>
              <a:buSzTx/>
              <a:buFontTx/>
              <a:buNone/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had trouble </a:t>
            </a:r>
            <a:r>
              <a:rPr lang="en-US" altLang="zh-CN" sz="3200" b="1" spc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concentrating</a:t>
            </a: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in class 上课很难集中注意力</a:t>
            </a:r>
          </a:p>
          <a:p>
            <a:pPr marL="0" algn="l">
              <a:lnSpc>
                <a:spcPct val="120000"/>
              </a:lnSpc>
              <a:buClrTx/>
              <a:buSzTx/>
              <a:buFontTx/>
              <a:buNone/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spc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concentrate</a:t>
            </a: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en-US" altLang="zh-CN" sz="3200" b="1" i="1" spc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vi.&amp; vt.</a:t>
            </a: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集中(注意力、思想等)；全神贯注 </a:t>
            </a:r>
            <a:r>
              <a:rPr lang="en-US" altLang="zh-CN" sz="3200" b="1" i="1" spc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focus</a:t>
            </a:r>
            <a:endParaRPr lang="en-US" altLang="zh-CN" sz="3200" b="1" spc="0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  <a:buNone/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spc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concentrate ... on</a:t>
            </a:r>
            <a:r>
              <a:rPr lang="en-US" altLang="zh-CN" sz="3200" b="1" spc="0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集中精力于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940" y="533590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85750" y="188595"/>
            <a:ext cx="8573135" cy="65874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Educators must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concentrate all their efforts on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improving education.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教育工作者必须</a:t>
            </a:r>
            <a:r>
              <a:rPr lang="zh-CN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全力以赴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改进教育工作。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= make a concentrated effort to do sth</a:t>
            </a:r>
            <a:endParaRPr lang="zh-CN" altLang="zh-CN" sz="3200" b="1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If you don’t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concentrate (your attention) on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your study, you will achieve nothing. 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如果你不</a:t>
            </a:r>
            <a:r>
              <a:rPr lang="en-US" altLang="zh-CN" sz="3200" b="1" u="sng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把注意力集中在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你的学习上，你将一事无成。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我们需要把资源集中用于最衰败的地区。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We need to _______________________ the most run-down areas.</a:t>
            </a: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67940" y="5520055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concentrate resources 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940" y="533590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895" y="6985"/>
            <a:ext cx="9145270" cy="65874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concentration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un.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专心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;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专注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book requires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great deal of concentration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这本书需要</a:t>
            </a:r>
            <a:r>
              <a:rPr lang="zh-CN" altLang="en-US" sz="3200" b="1" u="sng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全神贯注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才能读懂。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need for </a:t>
            </a:r>
            <a:r>
              <a:rPr lang="zh-CN" altLang="en-US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greater concentration on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environmental issues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更加关注环境问题的必要性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concentration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cn.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浓度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glucose 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concentrations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in the blood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血液中的葡萄糖含量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concentrated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orange juice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浓缩橙汁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940" y="533590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/>
          </a:p>
        </p:txBody>
      </p:sp>
      <p:sp>
        <p:nvSpPr>
          <p:cNvPr id="4" name="文本框 9"/>
          <p:cNvSpPr txBox="1"/>
          <p:nvPr/>
        </p:nvSpPr>
        <p:spPr>
          <a:xfrm>
            <a:off x="48895" y="156845"/>
            <a:ext cx="9145270" cy="18630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reminder of sth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提醒</a:t>
            </a:r>
            <a:endParaRPr lang="zh-CN" altLang="en-US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unhealthy weight-loss habits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不健康的减重习惯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teenagers of both sexes (genders)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青少年男女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270" y="176530"/>
            <a:ext cx="8740775" cy="42252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reminder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</a:t>
            </a:r>
            <a:r>
              <a:rPr lang="en-US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n.</a:t>
            </a:r>
            <a:r>
              <a:rPr lang="en-US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引起回忆的事物；提醒人的事物</a:t>
            </a:r>
            <a:endParaRPr lang="zh-CN" altLang="en-US" sz="3200" b="1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This accident served as _ ________ __ just how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dangerous extreme sports can be. 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这个事故提醒人们极限运动可能会有多危险。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It should serve as _______________ (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提示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 some of the best things in life are free. </a:t>
            </a: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48175" y="830580"/>
            <a:ext cx="3667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 reminder of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66950" y="1414145"/>
            <a:ext cx="6360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lang="en-US" altLang="zh-CN" sz="32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timely</a:t>
            </a:r>
            <a:r>
              <a:rPr lang="en-US" altLang="zh-CN" sz="32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reminder of</a:t>
            </a:r>
            <a:r>
              <a:rPr lang="en-US" altLang="zh-CN" sz="32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charset="0"/>
                <a:cs typeface="Times New Roman" panose="02020503050405090304" charset="0"/>
              </a:rPr>
              <a:t>   </a:t>
            </a:r>
            <a:r>
              <a:rPr lang="zh-CN" altLang="en-US" sz="32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及时</a:t>
            </a:r>
            <a:r>
              <a:rPr lang="zh-CN" altLang="en-US" sz="3200" b="1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提醒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736975" y="3199130"/>
            <a:ext cx="33210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 reminder that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11" grpId="0"/>
      <p:bldP spid="11" grpId="1"/>
      <p:bldP spid="3" grpId="0"/>
      <p:bldP spid="3" grpId="1"/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270" y="328295"/>
            <a:ext cx="8740775" cy="481584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remind 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v.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使想起；提醒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remind sb of sth;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remind sb to do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Please remind me __________ Alan before I go out. (phone)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You _________________________ when you say that.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你说这样的话，使我想起了你的父亲。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46195" y="2117090"/>
            <a:ext cx="2324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to phone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55725" y="3346450"/>
            <a:ext cx="5631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reminde me of your father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6" grpId="0"/>
      <p:bldP spid="6" grpId="1"/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3657" y="1141731"/>
            <a:ext cx="8294914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5. In a society ______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being thin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is often seen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as being beautiful, teenagers sometimes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turn to extreme methods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slim down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quickly.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在一个以瘦为美的社会里，青少年有时会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借助极端的方法来快速减肥。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where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定语从句修饰抽象名词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97835" y="1151255"/>
            <a:ext cx="126809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where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585" y="140335"/>
            <a:ext cx="8116570" cy="6094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teacher is trying to create an easy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atmosphere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_________ his students enjoy their study.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 bought a nice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book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________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there are some illustrations.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 often think of an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occasion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______ I gathered with my family some years ago at Covent Garden.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Gone are the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days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______ physical strength was all you needed to make a living.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20365" y="666750"/>
            <a:ext cx="126809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where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91660" y="1786255"/>
            <a:ext cx="126809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where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3"/>
          <p:cNvSpPr txBox="1"/>
          <p:nvPr/>
        </p:nvSpPr>
        <p:spPr>
          <a:xfrm>
            <a:off x="5384800" y="3029585"/>
            <a:ext cx="126809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when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3811905" y="4773295"/>
            <a:ext cx="126809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when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6405" y="595630"/>
            <a:ext cx="850392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6. ...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one fifth of teenagers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regularly skip meals,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one in ten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over-exercise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four per cent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even take weight-loss medicine.</a:t>
            </a:r>
            <a:endParaRPr lang="zh-CN" altLang="en-US" sz="3200" b="1" dirty="0">
              <a:latin typeface="宋体" pitchFamily="2" charset="-122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主谓一致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“分数或百分数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+of+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名词”结构，谓语的数与名词一致。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Three-fourths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surface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of the earth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is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sea.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About 20 percent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students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are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from the city.</a:t>
            </a:r>
            <a:endParaRPr lang="zh-CN" altLang="en-US" sz="3200" b="1" dirty="0">
              <a:latin typeface="宋体" pitchFamily="2" charset="-122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7665" y="704215"/>
            <a:ext cx="845502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one 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数词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复数名词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”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或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one out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数词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复数名词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”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结构后的谓语动词通常用单数。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Only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one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in ten students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has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passed the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exam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One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out of twelve bottles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was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broken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Apparently one in ten people/one person in ten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has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problems with reading.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995" y="342174"/>
            <a:ext cx="877697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【语境应用】翻译下列句子。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1)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地球表面四分之三为水所覆盖。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Three fourths of the surface of the earth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is covered with water.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我们学校百分之五十的学生是女生。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Fifty percent of the students in our school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are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girls.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只有十分之一的学生通过了考试。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Only one in ten students has passed the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examination. 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8905" y="15875"/>
            <a:ext cx="9014460" cy="65874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extreme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</a:t>
            </a:r>
            <a:r>
              <a:rPr lang="en-US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adj.</a:t>
            </a:r>
            <a:r>
              <a:rPr lang="en-US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极端的，严重的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This method is proper only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in extreme circumstances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  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只有</a:t>
            </a:r>
            <a:r>
              <a:rPr lang="zh-CN" altLang="en-US" sz="3200" b="1" u="sng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在极端情况下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这个办法才是合适的。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极端恶劣的天气状况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__________________________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使某人陷入极度焦虑的状态中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_________________________________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For the most part, people often ______________________  (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转向极端的方法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 of severe calorie restriction.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6065" y="2987040"/>
            <a:ext cx="5961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extreme weather conditions </a:t>
            </a: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6065" y="4140835"/>
            <a:ext cx="772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leave sb in a state of extreme anxiety</a:t>
            </a: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3375" y="5294630"/>
            <a:ext cx="4979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turn to extreme methods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3" grpId="0"/>
      <p:bldP spid="3" grpId="1"/>
      <p:bldP spid="5" grpId="0"/>
      <p:bldP spid="5" grpId="1"/>
      <p:bldP spid="9" grpId="0"/>
      <p:bldP spid="9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8600" y="221615"/>
            <a:ext cx="8562340" cy="599694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People under great pressure are likely to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go to extremes / take things to extremes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处于巨大压力下的人容易</a:t>
            </a:r>
            <a:r>
              <a:rPr lang="zh-CN" altLang="en-US" sz="3200" b="1" u="sng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走极端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go to the opposite extreme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走向另一个极端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extremes of cold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严寒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extremely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= </a:t>
            </a: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in the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extreme </a:t>
            </a: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adv.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极度，极其</a:t>
            </a: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She found it ________________ to land a satisfying job.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她发觉找到一份令人满意的工作极其难。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536190" y="4384675"/>
            <a:ext cx="36614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extremely difficult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8" grpId="0"/>
      <p:bldP spid="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0"/>
            <a:ext cx="9144635" cy="636270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和你的体重较劲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struggle with your weight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0"/>
            <a:ext cx="9144635" cy="636270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slim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</a:t>
            </a:r>
            <a:r>
              <a:rPr lang="en-US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vi.</a:t>
            </a:r>
            <a:r>
              <a:rPr lang="en-US" sz="3200" b="1" i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变苗条，减肥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</a:t>
            </a:r>
            <a:r>
              <a:rPr lang="zh-CN" altLang="en-US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adj.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苗条的；微薄的，小的</a:t>
            </a:r>
            <a:endParaRPr lang="zh-CN" altLang="en-US" sz="3200" b="1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slim down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变苗条，减肥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How can I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slim down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my legs?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我怎样才能让腿部变瘦呢？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These factories are </a:t>
            </a:r>
            <a:r>
              <a:rPr lang="zh-CN" altLang="en-US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slimming down their workforce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  <a:endParaRPr lang="en-US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这些工厂正在裁员。</a:t>
            </a:r>
            <a:endParaRPr lang="zh-CN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0"/>
            <a:ext cx="9144635" cy="636270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She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has a slim figure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because she takes regular exercise.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苗条的身材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There is only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slim chance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that he can come in time. 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他及时来到的</a:t>
            </a:r>
            <a:r>
              <a:rPr lang="zh-CN" altLang="en-US" sz="3200" b="1" u="sng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可能性很小</a:t>
            </a: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。</a:t>
            </a: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endParaRPr lang="zh-CN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6360" y="175260"/>
            <a:ext cx="8960485" cy="42252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concerned  </a:t>
            </a:r>
            <a:r>
              <a:rPr lang="en-US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adj.</a:t>
            </a:r>
            <a:r>
              <a:rPr lang="en-US" sz="3200" b="1" i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担心的，忧虑的；关注的，关切的</a:t>
            </a:r>
            <a:endParaRPr lang="zh-CN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 concerned about... 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对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……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担忧；关注</a:t>
            </a:r>
            <a:endParaRPr lang="zh-CN" altLang="en-US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 concerned with ...   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与……有关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(be about)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遗憾的是，与陪伴家人相比，吉姆更关心赚钱。</a:t>
            </a:r>
          </a:p>
          <a:p>
            <a:pPr algn="l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Sadly, Jim is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more concerned about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making money than being with his family.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360" y="168910"/>
            <a:ext cx="8960485" cy="481584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side effect(s)  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副作用</a:t>
            </a:r>
            <a:r>
              <a:rPr lang="zh-CN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endParaRPr lang="en-US" altLang="zh-CN" sz="3200" b="1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effect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n.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效果，作用；影响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(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result</a:t>
            </a:r>
            <a:r>
              <a:rPr lang="en-US" altLang="zh-CN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</a:t>
            </a:r>
            <a:endParaRPr lang="zh-CN" altLang="en-US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indent="457200"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effect(s) of medicine</a:t>
            </a:r>
            <a:endParaRPr lang="zh-CN" altLang="en-US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indent="457200"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special effects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  <a:p>
            <a:pPr indent="457200"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bring/put sth into effect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使生效，实施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come into/take effect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生效  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in effect    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            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实际上，事实上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572000" y="1450975"/>
            <a:ext cx="14433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药效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218815" y="2034540"/>
            <a:ext cx="13531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特效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3" grpId="0"/>
      <p:bldP spid="3" grpId="1"/>
      <p:bldP spid="4" grpId="0"/>
      <p:bldP spid="4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360" y="168910"/>
            <a:ext cx="8960485" cy="42252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have/produce/exert an effect on sb/sth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对……有影响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affect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vt.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影响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effective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adj.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有效的</a:t>
            </a:r>
            <a:endParaRPr lang="zh-CN" altLang="en-US" sz="3200" b="1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in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effective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adj.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无效的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effectively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adv.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有效地；事实上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endParaRPr lang="zh-CN" altLang="en-US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113665" y="145415"/>
            <a:ext cx="8918575" cy="4570730"/>
          </a:xfrm>
          <a:prstGeom prst="rect">
            <a:avLst/>
          </a:prstGeom>
          <a:noFill/>
          <a:ln w="28575" cmpd="thickThin">
            <a:noFill/>
            <a:prstDash val="lgDashDot"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There is no __________ (effect) way to get rid of plastic in the oceans.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2. Climate and weather ______ (effect) every aspect of our lives.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新法律九月份开始生效。</a:t>
            </a:r>
          </a:p>
          <a:p>
            <a:pPr algn="l"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new law will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 _____ ____  /____ ______ in September.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77210" y="3436620"/>
            <a:ext cx="5954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come   into    effect  take   effect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68930" y="259715"/>
            <a:ext cx="19577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effective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22445" y="1492885"/>
            <a:ext cx="1449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affect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6" grpId="0"/>
      <p:bldP spid="6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113665" y="145415"/>
            <a:ext cx="8918575" cy="5210810"/>
          </a:xfrm>
          <a:prstGeom prst="rect">
            <a:avLst/>
          </a:prstGeom>
          <a:noFill/>
          <a:ln w="28575" cmpd="thickThin">
            <a:noFill/>
            <a:prstDash val="lgDashDot"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新校规即将付诸实践。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New school regulations will soon be ______ _______ _______.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实际上，他是主持会议的最合适人选。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______ ________, he is the most suitable person to chair the meeting.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6. Only in this way can we keep fit safely and __________.(effect)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0200" y="880110"/>
            <a:ext cx="83172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                                                            put       into       effect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0200" y="2713990"/>
            <a:ext cx="2607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         effect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9700" y="4618355"/>
            <a:ext cx="4011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effectively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3" grpId="0"/>
      <p:bldP spid="3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3355" y="-65405"/>
            <a:ext cx="885380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7. These so-called ‘quick-fix methods’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prove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to be harmful to teenagers.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这些所谓的“速效法”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后来被发现是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对青少年有害。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linking v.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(turn out)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事实证明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design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proved (to be) a success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Songti SC Regular" panose="02010800040101010101" charset="-122"/>
                <a:ea typeface="Songti SC Regular" panose="02010800040101010101" charset="-122"/>
                <a:cs typeface="Times New Roman" panose="02020503050405090304" charset="0"/>
              </a:rPr>
              <a:t>这个设计</a:t>
            </a:r>
            <a:r>
              <a:rPr lang="zh-CN" altLang="en-US" sz="3200" b="1" u="sng" dirty="0">
                <a:solidFill>
                  <a:schemeClr val="tx1"/>
                </a:solidFill>
                <a:latin typeface="Songti SC Regular" panose="02010800040101010101" charset="-122"/>
                <a:ea typeface="Songti SC Regular" panose="02010800040101010101" charset="-122"/>
                <a:cs typeface="Times New Roman" panose="02020503050405090304" charset="0"/>
              </a:rPr>
              <a:t>最后被发现是</a:t>
            </a:r>
            <a:r>
              <a:rPr lang="zh-CN" altLang="en-US" sz="3200" b="1" dirty="0">
                <a:solidFill>
                  <a:schemeClr val="tx1"/>
                </a:solidFill>
                <a:latin typeface="Songti SC Regular" panose="02010800040101010101" charset="-122"/>
                <a:ea typeface="Songti SC Regular" panose="02010800040101010101" charset="-122"/>
                <a:cs typeface="Times New Roman" panose="02020503050405090304" charset="0"/>
              </a:rPr>
              <a:t>成功的。</a:t>
            </a:r>
            <a:endParaRPr lang="en-US" altLang="zh-CN" sz="3200" b="1" dirty="0">
              <a:solidFill>
                <a:schemeClr val="tx1"/>
              </a:solidFill>
              <a:latin typeface="Songti SC Regular" panose="02010800040101010101" charset="-122"/>
              <a:ea typeface="Songti SC Regular" panose="02010800040101010101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promotion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proved to be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a turning point in his career.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这次</a:t>
            </a:r>
            <a:r>
              <a:rPr lang="zh-CN" altLang="en-US" sz="3200" b="1" dirty="0"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晋升</a:t>
            </a:r>
            <a:r>
              <a:rPr lang="en-US" altLang="zh-CN" sz="3200" b="1" u="sng" dirty="0"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最后证明是</a:t>
            </a:r>
            <a:r>
              <a:rPr lang="en-US" altLang="zh-CN" sz="3200" b="1" dirty="0"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他职业生涯的一个转折点。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3355" y="-65405"/>
            <a:ext cx="8730615" cy="6118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prove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证明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He managed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prove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his innocence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to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the police.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他得以向警察证明自己是无辜的。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这个理论已经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被证明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是正确的。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It __________________________ the theory is correct.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= The theory has proved (to be) correct.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prove sb wrong </a:t>
            </a:r>
            <a:r>
              <a:rPr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  <a:sym typeface="+mn-ea"/>
              </a:rPr>
              <a:t>证明某人是错的</a:t>
            </a:r>
          </a:p>
          <a:p>
            <a:pPr>
              <a:lnSpc>
                <a:spcPct val="120000"/>
              </a:lnSpc>
            </a:pPr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proved himself determined</a:t>
            </a:r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to succeed.</a:t>
            </a:r>
          </a:p>
          <a:p>
            <a:pPr>
              <a:lnSpc>
                <a:spcPct val="120000"/>
              </a:lnSpc>
            </a:pPr>
            <a:r>
              <a:rPr lang="zh-CN" altLang="en-US" sz="3200" b="1">
                <a:solidFill>
                  <a:schemeClr val="tx1"/>
                </a:solidFill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他</a:t>
            </a:r>
            <a:r>
              <a:rPr lang="zh-CN" altLang="en-US" sz="3200" b="1" u="sng">
                <a:solidFill>
                  <a:schemeClr val="tx1"/>
                </a:solidFill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向人证明了自己</a:t>
            </a:r>
            <a:r>
              <a:rPr lang="zh-CN" altLang="en-US" sz="3200" b="1">
                <a:solidFill>
                  <a:schemeClr val="tx1"/>
                </a:solidFill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不达目的不罢休。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49630" y="2294255"/>
            <a:ext cx="525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has been proved/proven that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Box 2"/>
          <p:cNvSpPr txBox="1">
            <a:spLocks noChangeArrowheads="1"/>
          </p:cNvSpPr>
          <p:nvPr/>
        </p:nvSpPr>
        <p:spPr bwMode="auto">
          <a:xfrm>
            <a:off x="282190" y="507359"/>
            <a:ext cx="1987597" cy="63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9750" indent="-539750"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1089025" indent="-285750"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497330" indent="-228600"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905000" indent="-228600"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313305" indent="-228600"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7705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32277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6849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41421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</a:p>
        </p:txBody>
      </p:sp>
      <p:sp>
        <p:nvSpPr>
          <p:cNvPr id="3" name="AutoShape 83"/>
          <p:cNvSpPr/>
          <p:nvPr/>
        </p:nvSpPr>
        <p:spPr bwMode="auto">
          <a:xfrm>
            <a:off x="1401997" y="2519552"/>
            <a:ext cx="96017" cy="2863939"/>
          </a:xfrm>
          <a:prstGeom prst="leftBracket">
            <a:avLst>
              <a:gd name="adj" fmla="val 9343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AutoShape 47"/>
          <p:cNvSpPr>
            <a:spLocks noChangeArrowheads="1"/>
          </p:cNvSpPr>
          <p:nvPr/>
        </p:nvSpPr>
        <p:spPr bwMode="auto">
          <a:xfrm>
            <a:off x="1501551" y="2320228"/>
            <a:ext cx="719138" cy="576262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用法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5" name="AutoShape 53"/>
          <p:cNvSpPr>
            <a:spLocks noChangeArrowheads="1"/>
          </p:cNvSpPr>
          <p:nvPr/>
        </p:nvSpPr>
        <p:spPr bwMode="auto">
          <a:xfrm>
            <a:off x="2722797" y="1605933"/>
            <a:ext cx="5356783" cy="596558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prove oneself (to be)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证明自己是</a:t>
            </a:r>
          </a:p>
        </p:txBody>
      </p:sp>
      <p:sp>
        <p:nvSpPr>
          <p:cNvPr id="6" name="AutoShape 53"/>
          <p:cNvSpPr>
            <a:spLocks noChangeArrowheads="1"/>
          </p:cNvSpPr>
          <p:nvPr/>
        </p:nvSpPr>
        <p:spPr bwMode="auto">
          <a:xfrm>
            <a:off x="2730417" y="645834"/>
            <a:ext cx="5118183" cy="637964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prove </a:t>
            </a:r>
            <a:r>
              <a:rPr lang="en-US" altLang="zh-CN" sz="2800" dirty="0" err="1">
                <a:solidFill>
                  <a:srgbClr val="FF0000"/>
                </a:solidFill>
              </a:rPr>
              <a:t>sth</a:t>
            </a:r>
            <a:r>
              <a:rPr lang="en-US" altLang="zh-CN" sz="2800" dirty="0">
                <a:solidFill>
                  <a:srgbClr val="FF0000"/>
                </a:solidFill>
              </a:rPr>
              <a:t>. </a:t>
            </a:r>
            <a:r>
              <a:rPr lang="en-US" altLang="zh-CN" sz="2800">
                <a:solidFill>
                  <a:srgbClr val="FF0000"/>
                </a:solidFill>
              </a:rPr>
              <a:t>to sb.</a:t>
            </a:r>
            <a:r>
              <a:rPr lang="en-US" altLang="zh-CN" sz="280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向某人证明某事</a:t>
            </a:r>
          </a:p>
        </p:txBody>
      </p:sp>
      <p:sp>
        <p:nvSpPr>
          <p:cNvPr id="7" name="AutoShape 48"/>
          <p:cNvSpPr>
            <a:spLocks noChangeArrowheads="1"/>
          </p:cNvSpPr>
          <p:nvPr/>
        </p:nvSpPr>
        <p:spPr bwMode="auto">
          <a:xfrm>
            <a:off x="1549430" y="5237664"/>
            <a:ext cx="755650" cy="57626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拓展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8" name="AutoShape 45"/>
          <p:cNvSpPr>
            <a:spLocks noChangeArrowheads="1"/>
          </p:cNvSpPr>
          <p:nvPr/>
        </p:nvSpPr>
        <p:spPr bwMode="auto">
          <a:xfrm>
            <a:off x="498352" y="3519894"/>
            <a:ext cx="1428903" cy="5762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0">
            <a:solidFill>
              <a:srgbClr val="0000FF"/>
            </a:solidFill>
            <a:round/>
          </a:ln>
          <a:effectLst/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prove</a:t>
            </a:r>
            <a:endParaRPr lang="en-US" altLang="zh-CN" sz="2800" dirty="0"/>
          </a:p>
        </p:txBody>
      </p:sp>
      <p:sp>
        <p:nvSpPr>
          <p:cNvPr id="9" name="AutoShape 53"/>
          <p:cNvSpPr>
            <a:spLocks noChangeArrowheads="1"/>
          </p:cNvSpPr>
          <p:nvPr/>
        </p:nvSpPr>
        <p:spPr bwMode="auto">
          <a:xfrm>
            <a:off x="2770403" y="3460364"/>
            <a:ext cx="4279983" cy="98231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 It is proved/proven that…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据证明</a:t>
            </a:r>
            <a:r>
              <a:rPr lang="en-US" altLang="zh-CN" sz="2800" dirty="0">
                <a:solidFill>
                  <a:srgbClr val="000000"/>
                </a:solidFill>
              </a:rPr>
              <a:t>……</a:t>
            </a:r>
            <a:r>
              <a:rPr lang="zh-CN" altLang="en-US" sz="2800" dirty="0">
                <a:solidFill>
                  <a:srgbClr val="000000"/>
                </a:solidFill>
              </a:rPr>
              <a:t>，据证实</a:t>
            </a:r>
            <a:r>
              <a:rPr lang="en-US" altLang="zh-CN" sz="2800" dirty="0">
                <a:solidFill>
                  <a:srgbClr val="000000"/>
                </a:solidFill>
              </a:rPr>
              <a:t>……</a:t>
            </a:r>
          </a:p>
        </p:txBody>
      </p:sp>
      <p:sp>
        <p:nvSpPr>
          <p:cNvPr id="10" name="AutoShape 53"/>
          <p:cNvSpPr>
            <a:spLocks noChangeArrowheads="1"/>
          </p:cNvSpPr>
          <p:nvPr/>
        </p:nvSpPr>
        <p:spPr bwMode="auto">
          <a:xfrm>
            <a:off x="2730500" y="2467610"/>
            <a:ext cx="6249035" cy="71628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prove (to be)</a:t>
            </a:r>
            <a:r>
              <a:rPr lang="zh-CN" altLang="en-US" sz="2800" dirty="0">
                <a:solidFill>
                  <a:srgbClr val="FF0000"/>
                </a:solidFill>
              </a:rPr>
              <a:t>＋</a:t>
            </a:r>
            <a:r>
              <a:rPr lang="en-US" altLang="zh-CN" sz="2800" i="1" dirty="0">
                <a:solidFill>
                  <a:srgbClr val="FF0000"/>
                </a:solidFill>
              </a:rPr>
              <a:t>n</a:t>
            </a:r>
            <a:r>
              <a:rPr lang="en-US" altLang="zh-CN" sz="2800" dirty="0">
                <a:solidFill>
                  <a:srgbClr val="FF0000"/>
                </a:solidFill>
              </a:rPr>
              <a:t>./ </a:t>
            </a:r>
            <a:r>
              <a:rPr lang="en-US" altLang="zh-CN" sz="2800" i="1" dirty="0">
                <a:solidFill>
                  <a:srgbClr val="FF0000"/>
                </a:solidFill>
              </a:rPr>
              <a:t>adj</a:t>
            </a:r>
            <a:r>
              <a:rPr lang="en-US" altLang="zh-CN" sz="2800" dirty="0">
                <a:solidFill>
                  <a:srgbClr val="FF0000"/>
                </a:solidFill>
              </a:rPr>
              <a:t>.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最后</a:t>
            </a:r>
            <a:r>
              <a:rPr lang="en-US" altLang="zh-CN" sz="2800" dirty="0">
                <a:solidFill>
                  <a:srgbClr val="000000"/>
                </a:solidFill>
              </a:rPr>
              <a:t>/</a:t>
            </a:r>
            <a:r>
              <a:rPr lang="zh-CN" altLang="en-US" sz="2800" dirty="0">
                <a:solidFill>
                  <a:srgbClr val="000000"/>
                </a:solidFill>
              </a:rPr>
              <a:t>事实证明是</a:t>
            </a:r>
          </a:p>
        </p:txBody>
      </p:sp>
      <p:sp>
        <p:nvSpPr>
          <p:cNvPr id="11" name="AutoShape 52"/>
          <p:cNvSpPr/>
          <p:nvPr/>
        </p:nvSpPr>
        <p:spPr bwMode="auto">
          <a:xfrm>
            <a:off x="2269787" y="985750"/>
            <a:ext cx="509728" cy="3110407"/>
          </a:xfrm>
          <a:prstGeom prst="leftBrace">
            <a:avLst>
              <a:gd name="adj1" fmla="val 34966"/>
              <a:gd name="adj2" fmla="val 50000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800"/>
          </a:p>
        </p:txBody>
      </p:sp>
      <p:sp>
        <p:nvSpPr>
          <p:cNvPr id="12" name="AutoShape 52"/>
          <p:cNvSpPr/>
          <p:nvPr/>
        </p:nvSpPr>
        <p:spPr bwMode="auto">
          <a:xfrm>
            <a:off x="2351458" y="4960853"/>
            <a:ext cx="358073" cy="982748"/>
          </a:xfrm>
          <a:prstGeom prst="leftBrace">
            <a:avLst>
              <a:gd name="adj1" fmla="val 34966"/>
              <a:gd name="adj2" fmla="val 50000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800"/>
          </a:p>
        </p:txBody>
      </p:sp>
      <p:sp>
        <p:nvSpPr>
          <p:cNvPr id="13" name="AutoShape 53"/>
          <p:cNvSpPr>
            <a:spLocks noChangeArrowheads="1"/>
          </p:cNvSpPr>
          <p:nvPr/>
        </p:nvSpPr>
        <p:spPr bwMode="auto">
          <a:xfrm>
            <a:off x="2709531" y="5601280"/>
            <a:ext cx="4148469" cy="95192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There’s (no) proof that…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zh-CN" altLang="en-US" sz="2800" dirty="0">
                <a:solidFill>
                  <a:srgbClr val="000000"/>
                </a:solidFill>
              </a:rPr>
              <a:t>没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有证据证明</a:t>
            </a:r>
            <a:r>
              <a:rPr lang="en-US" altLang="zh-CN" sz="2800" dirty="0">
                <a:solidFill>
                  <a:srgbClr val="000000"/>
                </a:solidFill>
              </a:rPr>
              <a:t>……</a:t>
            </a:r>
          </a:p>
        </p:txBody>
      </p:sp>
      <p:sp>
        <p:nvSpPr>
          <p:cNvPr id="14" name="AutoShape 53"/>
          <p:cNvSpPr>
            <a:spLocks noChangeArrowheads="1"/>
          </p:cNvSpPr>
          <p:nvPr/>
        </p:nvSpPr>
        <p:spPr bwMode="auto">
          <a:xfrm>
            <a:off x="2762783" y="4876800"/>
            <a:ext cx="3638017" cy="60099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 proof </a:t>
            </a:r>
            <a:r>
              <a:rPr lang="en-US" altLang="zh-CN" sz="2800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</a:t>
            </a:r>
            <a:r>
              <a:rPr lang="en-US" altLang="zh-CN" sz="2800" i="1" dirty="0">
                <a:solidFill>
                  <a:srgbClr val="FF0000"/>
                </a:solidFill>
              </a:rPr>
              <a:t>n</a:t>
            </a:r>
            <a:r>
              <a:rPr lang="en-US" altLang="zh-CN" sz="2800" dirty="0">
                <a:solidFill>
                  <a:srgbClr val="FF0000"/>
                </a:solidFill>
              </a:rPr>
              <a:t>. </a:t>
            </a:r>
            <a:r>
              <a:rPr lang="zh-CN" altLang="en-US" sz="2800" dirty="0">
                <a:solidFill>
                  <a:srgbClr val="000000"/>
                </a:solidFill>
              </a:rPr>
              <a:t>证据；证明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bldLvl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365125" y="198120"/>
            <a:ext cx="8412480" cy="5850890"/>
          </a:xfrm>
          <a:prstGeom prst="rect">
            <a:avLst/>
          </a:prstGeom>
          <a:noFill/>
          <a:ln w="28575" cmpd="thickThin">
            <a:noFill/>
            <a:prstDash val="lgDashDot"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 The ________ (prove) that the two kinds of elephants are different species lies in the analysis of the DNA. 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2. Going on a fitness journey with others _________ (prove) more effective than going to the gym alone, experts say.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这后来被证明是他生命中的一个转折点。</a:t>
            </a:r>
          </a:p>
          <a:p>
            <a:pPr algn="l"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is later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________ _____ _____ a turning point in his life.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06905" y="274320"/>
            <a:ext cx="11849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proof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72465" y="2865120"/>
            <a:ext cx="1368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proves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55875" y="4763135"/>
            <a:ext cx="3444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proved    to      be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365125" y="198120"/>
            <a:ext cx="8412480" cy="3930650"/>
          </a:xfrm>
          <a:prstGeom prst="rect">
            <a:avLst/>
          </a:prstGeom>
          <a:noFill/>
          <a:ln w="28575" cmpd="thickThin">
            <a:noFill/>
            <a:prstDash val="lgDashDot"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我不相信你说的话，除非你能证明它。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don’t believe what you said, unless you can ______ _______.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事实证明，铅中毒更加难以对付。</a:t>
            </a:r>
          </a:p>
          <a:p>
            <a:pPr algn="l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Lead poisoning has ________ ______ _________ to deal with.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3410" y="1518920"/>
            <a:ext cx="2167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prove      it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4490" y="2886075"/>
            <a:ext cx="81343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                                     proved   more   difficult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77165" y="180975"/>
            <a:ext cx="8789670" cy="65874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have a healthy (well-)balanced diet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有健康平衡的饮食</a:t>
            </a: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diet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n.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日常饮食；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节食</a:t>
            </a:r>
          </a:p>
          <a:p>
            <a:pPr marL="457200" lvl="1" indent="457200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vi. 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节食，进行规定饮食</a:t>
            </a:r>
            <a:endParaRPr lang="zh-CN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Diet and exercise are obviously important.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饮食和运动是重要的。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He's always dieting but she never seems to lose any weight.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总是在节食，但体重好像并未减少。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 on/go on/follow a (strict) diet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节食</a:t>
            </a: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坚持节食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</a:t>
            </a:r>
            <a:endParaRPr lang="zh-CN" altLang="zh-CN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115820" y="6015355"/>
            <a:ext cx="4572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stick to a diet</a:t>
            </a:r>
            <a:r>
              <a:rPr lang="zh-CN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endParaRPr lang="zh-CN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  <p:bldP spid="7" grpId="0"/>
      <p:bldP spid="7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77165" y="180975"/>
            <a:ext cx="8967470" cy="54063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nutrition 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un.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营养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有关饮食和营养的建议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advice on diet and nutrition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得到合适的营养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receive proper nutrition</a:t>
            </a:r>
            <a:endParaRPr lang="en-US" altLang="zh-CN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tasty and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nutri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tious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meals 既可口又有营养的饭菜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(food) </a:t>
            </a:r>
            <a:r>
              <a:rPr lang="zh-CN" altLang="en-US" sz="3200" b="1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有营养的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有营养的饮食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nutritious diet </a:t>
            </a:r>
            <a:endParaRPr lang="en-US" altLang="zh-CN" sz="3200" b="1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8440" y="247015"/>
            <a:ext cx="8925560" cy="599694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function</a:t>
            </a:r>
            <a:r>
              <a:rPr 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en-US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vi.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起作用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work in the correct way</a:t>
            </a:r>
            <a:r>
              <a:rPr lang="zh-CN" altLang="en-US" sz="3200" b="1" i="1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i="1">
                <a:solidFill>
                  <a:srgbClr val="00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   </a:t>
            </a:r>
            <a:endParaRPr lang="zh-CN" altLang="en-US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Flights in and out of that city wouldn’t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function normally/properly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any time soon.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进出那个城市的航班在短期内无法恢复正常。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stadium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functioning as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a temporary hospital to deal with less serious case. 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起……作用；具有……功能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(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serve/act/work as...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A war injury has made his left hand stop ___________ (function).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39420" y="5506720"/>
            <a:ext cx="23018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functioning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2" grpId="0"/>
      <p:bldP spid="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2590" y="247015"/>
            <a:ext cx="8449310" cy="481584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function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n.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作用，功能，职能</a:t>
            </a:r>
            <a:endParaRPr lang="zh-CN" altLang="en-US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You will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perform more functions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in your new position.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你将在新职位上</a:t>
            </a:r>
            <a:r>
              <a:rPr lang="zh-CN" altLang="en-US" sz="3200" b="1" u="sng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履行更多的职能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。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身体机能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adj. ___________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实用的；作用的；运转的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en-US" sz="3200" b="1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60600" y="3178810"/>
            <a:ext cx="525907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bodily functions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50975" y="3693795"/>
            <a:ext cx="359346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functional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7" grpId="0"/>
      <p:bldP spid="7" grpId="1"/>
      <p:bldP spid="8" grpId="0"/>
      <p:bldP spid="8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9560" y="105410"/>
            <a:ext cx="8562340" cy="6216015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noAutofit/>
          </a:bodyPr>
          <a:lstStyle/>
          <a:p>
            <a:pPr indent="0" algn="just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take in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摄入</a:t>
            </a:r>
          </a:p>
          <a:p>
            <a:pPr indent="0" algn="just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Fish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take in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oxygen through their gills. </a:t>
            </a:r>
          </a:p>
          <a:p>
            <a:pPr indent="0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Don’t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 taken in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by his charm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—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he’s ruthless (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冷酷无情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). </a:t>
            </a:r>
            <a:r>
              <a:rPr lang="en-US" altLang="zh-CN" sz="3200">
                <a:solidFill>
                  <a:srgbClr val="000000"/>
                </a:solidFill>
                <a:latin typeface="NEU-BZ-S92" panose="02010600010101010101"/>
                <a:ea typeface="方正书宋_GBK" panose="02000000000000000000" pitchFamily="65" charset="-122"/>
                <a:cs typeface="Times New Roman" panose="02020503050405090304" charset="0"/>
              </a:rPr>
              <a:t> </a:t>
            </a:r>
          </a:p>
          <a:p>
            <a:pPr indent="0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 Regular" panose="02020503050405090304" charset="0"/>
                <a:ea typeface="方正书宋_GBK" panose="02000000000000000000" pitchFamily="65" charset="-122"/>
                <a:cs typeface="Times New Roman" panose="02020503050405090304" charset="0"/>
              </a:rPr>
              <a:t>蒙骗，欺骗</a:t>
            </a:r>
          </a:p>
          <a:p>
            <a:pPr indent="0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 Bold" panose="02020503050405090304" charset="0"/>
                <a:ea typeface="方正书宋_GBK" panose="02000000000000000000" pitchFamily="65" charset="-122"/>
                <a:cs typeface="Times New Roman Bold" panose="02020503050405090304" charset="0"/>
              </a:rPr>
              <a:t>Halfway through the chapter I realized I hadn't </a:t>
            </a:r>
            <a:r>
              <a:rPr lang="zh-CN" altLang="zh-CN" sz="3200" b="1">
                <a:solidFill>
                  <a:srgbClr val="FF0000"/>
                </a:solidFill>
                <a:latin typeface="Times New Roman Bold" panose="02020503050405090304" charset="0"/>
                <a:ea typeface="方正书宋_GBK" panose="02000000000000000000" pitchFamily="65" charset="-122"/>
                <a:cs typeface="Times New Roman Bold" panose="02020503050405090304" charset="0"/>
              </a:rPr>
              <a:t>taken anything in</a:t>
            </a:r>
            <a:r>
              <a:rPr lang="zh-CN" altLang="zh-CN" sz="3200" b="1">
                <a:solidFill>
                  <a:srgbClr val="000000"/>
                </a:solidFill>
                <a:latin typeface="Times New Roman Bold" panose="02020503050405090304" charset="0"/>
                <a:ea typeface="方正书宋_GBK" panose="02000000000000000000" pitchFamily="65" charset="-122"/>
                <a:cs typeface="Times New Roman Bold" panose="02020503050405090304" charset="0"/>
              </a:rPr>
              <a:t>.</a:t>
            </a:r>
          </a:p>
          <a:p>
            <a:pPr indent="0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 Regular" panose="02020503050405090304" charset="0"/>
                <a:ea typeface="方正书宋_GBK" panose="02000000000000000000" pitchFamily="65" charset="-122"/>
                <a:cs typeface="Times New Roman" panose="02020503050405090304" charset="0"/>
              </a:rPr>
              <a:t>理解</a:t>
            </a:r>
          </a:p>
          <a:p>
            <a:pPr indent="0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 Bold" panose="02020503050405090304" charset="0"/>
                <a:ea typeface="方正书宋_GBK" panose="02000000000000000000" pitchFamily="65" charset="-122"/>
                <a:cs typeface="Times New Roman Bold" panose="02020503050405090304" charset="0"/>
              </a:rPr>
              <a:t>He </a:t>
            </a:r>
            <a:r>
              <a:rPr lang="zh-CN" altLang="zh-CN" sz="3200" b="1">
                <a:solidFill>
                  <a:srgbClr val="FF0000"/>
                </a:solidFill>
                <a:latin typeface="Times New Roman Bold" panose="02020503050405090304" charset="0"/>
                <a:ea typeface="方正书宋_GBK" panose="02000000000000000000" pitchFamily="65" charset="-122"/>
                <a:cs typeface="Times New Roman Bold" panose="02020503050405090304" charset="0"/>
              </a:rPr>
              <a:t>took in</a:t>
            </a:r>
            <a:r>
              <a:rPr lang="zh-CN" altLang="zh-CN" sz="3200" b="1">
                <a:solidFill>
                  <a:srgbClr val="000000"/>
                </a:solidFill>
                <a:latin typeface="Times New Roman Bold" panose="02020503050405090304" charset="0"/>
                <a:ea typeface="方正书宋_GBK" panose="02000000000000000000" pitchFamily="65" charset="-122"/>
                <a:cs typeface="Times New Roman Bold" panose="02020503050405090304" charset="0"/>
              </a:rPr>
              <a:t> every detail of her appearance.</a:t>
            </a:r>
          </a:p>
          <a:p>
            <a:pPr indent="0" defTabSz="914400" fontAlgn="auto"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NEU-BZ-S92" panose="02010600010101010101"/>
                <a:ea typeface="方正书宋_GBK" panose="02000000000000000000" pitchFamily="65" charset="-122"/>
                <a:cs typeface="Times New Roman" panose="02020503050405090304" charset="0"/>
              </a:rPr>
              <a:t>注意到，看到</a:t>
            </a:r>
            <a:endParaRPr lang="zh-CN" altLang="en-US" sz="32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Box 7"/>
          <p:cNvSpPr txBox="1"/>
          <p:nvPr/>
        </p:nvSpPr>
        <p:spPr>
          <a:xfrm>
            <a:off x="248285" y="76835"/>
            <a:ext cx="8645525" cy="5996940"/>
          </a:xfrm>
          <a:prstGeom prst="rect">
            <a:avLst/>
          </a:prstGeom>
          <a:noFill/>
          <a:ln w="28575" cmpd="thickThin">
            <a:solidFill>
              <a:schemeClr val="accent6">
                <a:lumMod val="75000"/>
              </a:schemeClr>
            </a:solidFill>
            <a:prstDash val="lgDashDot"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1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 He took ______ his coat and sat down. 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2. I don’t feel ready to take _______  new responsibilities.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3.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When did he take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________ football?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4. I’m going to take ______ the company one day.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5. His sister took ______ knitting in her space time.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6. In her gentle nature, Mary takes _______ her mother.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59660" y="193675"/>
            <a:ext cx="808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off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68595" y="734060"/>
            <a:ext cx="926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20540" y="1899920"/>
            <a:ext cx="726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up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56050" y="2520315"/>
            <a:ext cx="981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over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38855" y="3662045"/>
            <a:ext cx="809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04000" y="4881880"/>
            <a:ext cx="11480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after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20955"/>
            <a:ext cx="8983345" cy="6587490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keep regular hours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作息规律</a:t>
            </a:r>
            <a:endParaRPr lang="en-US" altLang="zh-CN" sz="3200" b="1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get into shape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强身健体</a:t>
            </a:r>
            <a:endParaRPr lang="zh-CN" altLang="zh-CN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经常锻炼帮助那位电影明星强身健体并保持苗条身材。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Regular exercise helps the film star get into shape and keep a slim figure.</a:t>
            </a:r>
            <a:r>
              <a:rPr lang="zh-CN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China’s economy is generally in good shape.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中国的经济从总体上来说是良好的。</a:t>
            </a: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out of shape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身体不佳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；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变形的</a:t>
            </a:r>
            <a:endParaRPr lang="zh-CN" altLang="zh-CN" sz="3200" b="1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take shape </a:t>
            </a:r>
            <a:r>
              <a:rPr lang="zh-CN" altLang="zh-CN"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成形</a:t>
            </a:r>
            <a:endParaRPr lang="zh-CN" altLang="zh-CN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sz="3200" b="1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7170" y="0"/>
            <a:ext cx="8768715" cy="6303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8. I was very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frightened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when I woke up in hospital last Thursday.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周四我在医院醒来的时候非常害怕。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frighten 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vt.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使惊吓；使惊恐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frightened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害怕的，惊吓的，受惊的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feeling fear or worry 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be frightened of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(doing) sth /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to do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sth /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that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害怕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...,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不敢做某事</a:t>
            </a:r>
            <a:endParaRPr lang="en-US" altLang="zh-CN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little girl 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in the house.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害怕一个人被留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= was frightened of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being left alone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4705985"/>
            <a:ext cx="5237480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7010" y="4693920"/>
            <a:ext cx="5874385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was frightened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to be left alone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7170" y="0"/>
            <a:ext cx="8768715" cy="6303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He had tried to coax (</a:t>
            </a:r>
            <a:r>
              <a:rPr lang="zh-CN" altLang="en-US" sz="3200" b="1" dirty="0">
                <a:latin typeface="Songti SC Bold" panose="02010800040101010101" charset="-122"/>
                <a:ea typeface="Songti SC Bold" panose="02010800040101010101" charset="-122"/>
                <a:cs typeface="Times New Roman" panose="02020503050405090304" charset="0"/>
              </a:rPr>
              <a:t>哄骗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) the dog to him but, __________, it ran off.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Walking through the forest alone was a __________ experience for the child.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be frightened to death   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吓得要死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She was trembling with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n.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害怕，惊吓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6225" y="1790065"/>
            <a:ext cx="2775585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frightening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6225" y="596900"/>
            <a:ext cx="2888615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frightened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0468" y="687882"/>
            <a:ext cx="7619274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】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的适当形式填空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。</a:t>
            </a:r>
            <a:endParaRPr lang="zh-CN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38183" y="1277801"/>
            <a:ext cx="840168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1) 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Don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'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 stand so near the edge! You're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_____________ 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me.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2) _____________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children were calling for their mothers. 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3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 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It is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_____________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to think what might happen if she left him.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4) 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You gave me quite a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________</a:t>
            </a:r>
            <a:r>
              <a:rPr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suddenly coming in here like that. 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851808" y="1824565"/>
            <a:ext cx="262382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frightening</a:t>
            </a: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004752" y="2500048"/>
            <a:ext cx="262382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Frightened</a:t>
            </a: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1702979" y="3618794"/>
            <a:ext cx="262382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frightening</a:t>
            </a: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4539025" y="4803866"/>
            <a:ext cx="1256937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fright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7325" y="0"/>
            <a:ext cx="8768715" cy="6303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adv.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相当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to some degree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patient has responded to the treatment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</a:t>
            </a: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better than expected.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病人对治疗的反应比预想的好得多。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It was a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</a:t>
            </a: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difficult question.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7325" y="0"/>
            <a:ext cx="8768715" cy="6303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than</a:t>
            </a:r>
            <a:r>
              <a:rPr 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而不是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(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instead of sth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引出并列结构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think I'll have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 cold drink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than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coffee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I’d call her hair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chestnut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than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brown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I’d prefer to go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in August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than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in July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decided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to write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rather than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phone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  <a:endParaRPr lang="en-US" altLang="zh-CN" sz="3200" b="1" u="sng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Finding out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if there’s something wrong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ather than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criticizing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your husband is more helpful.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eac4e98-437d-408a-95af-59cf7e925a87"/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1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16"/>
  <p:tag name="KSO_WM_TEMPLATE_THUMBS_INDEX" val="1、4、6、1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BK_DARK_LIGHT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9*i*1"/>
  <p:tag name="KSO_WM_UNIT_BK_DARK_LIGHT" val="2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BK_DARK_LIGHT" val="2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BK_DARK_LIGHT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16"/>
  <p:tag name="KSO_WM_SPECIAL_SOURCE" val="bdnul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16"/>
  <p:tag name="KSO_WM_SPECIAL_SOURCE" val="bdnul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en-US" altLang="zh-CN" sz="3200">
            <a:latin typeface="Times New Roman" panose="02020503050405090304" charset="0"/>
            <a:cs typeface="Times New Roman" panose="0202050305040509030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charset="0"/>
            <a:ea typeface="宋体" pitchFamily="2" charset="-122"/>
            <a:cs typeface="Times New Roman" panose="0202050305040509030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9">
      <a:dk1>
        <a:srgbClr val="000000"/>
      </a:dk1>
      <a:lt1>
        <a:srgbClr val="FFFFFF"/>
      </a:lt1>
      <a:dk2>
        <a:srgbClr val="FCEAEA"/>
      </a:dk2>
      <a:lt2>
        <a:srgbClr val="FFFFFF"/>
      </a:lt2>
      <a:accent1>
        <a:srgbClr val="C4C40F"/>
      </a:accent1>
      <a:accent2>
        <a:srgbClr val="A2C246"/>
      </a:accent2>
      <a:accent3>
        <a:srgbClr val="83C061"/>
      </a:accent3>
      <a:accent4>
        <a:srgbClr val="69C783"/>
      </a:accent4>
      <a:accent5>
        <a:srgbClr val="50C6A2"/>
      </a:accent5>
      <a:accent6>
        <a:srgbClr val="41C9C5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9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3339</Words>
  <Application>Microsoft Macintosh PowerPoint</Application>
  <PresentationFormat>On-screen Show (4:3)</PresentationFormat>
  <Paragraphs>420</Paragraphs>
  <Slides>52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微软雅黑</vt:lpstr>
      <vt:lpstr>NEU-BZ-S92</vt:lpstr>
      <vt:lpstr>宋体</vt:lpstr>
      <vt:lpstr>Songti SC Bold</vt:lpstr>
      <vt:lpstr>Songti SC Regular</vt:lpstr>
      <vt:lpstr>Times New Roman Bold</vt:lpstr>
      <vt:lpstr>Times New Roman Bold Italic</vt:lpstr>
      <vt:lpstr>Times New Roman Regular</vt:lpstr>
      <vt:lpstr>TypeLand 康熙字典體 Trial</vt:lpstr>
      <vt:lpstr>字魂36号-孙新恒宋楷体</vt:lpstr>
      <vt:lpstr>汉仪旗黑-85S</vt:lpstr>
      <vt:lpstr>Arial</vt:lpstr>
      <vt:lpstr>Times New Roman</vt:lpstr>
      <vt:lpstr>Wingdings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578</cp:revision>
  <dcterms:created xsi:type="dcterms:W3CDTF">2023-11-13T09:07:05Z</dcterms:created>
  <dcterms:modified xsi:type="dcterms:W3CDTF">2026-07-22T12:43:15Z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1033-6.2.2.8394</vt:lpwstr>
  </property>
  <property fmtid="{D5CDD505-2E9C-101B-9397-08002B2CF9AE}" pid="3" name="ICV">
    <vt:lpwstr>D9090E3C71DD47E5BDAD6CFED22F4F5C</vt:lpwstr>
  </property>
</Properties>
</file>