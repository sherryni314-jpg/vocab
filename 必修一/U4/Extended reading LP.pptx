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ppt/tags/tag18.xml" ContentType="application/vnd.openxmlformats-officedocument.presentationml.tags+xml"/>
  <Override PartName="/ppt/notesSlides/notesSlide3.xml" ContentType="application/vnd.openxmlformats-officedocument.presentationml.notesSlide+xml"/>
  <Override PartName="/ppt/tags/tag19.xml" ContentType="application/vnd.openxmlformats-officedocument.presentationml.tags+xml"/>
  <Override PartName="/ppt/notesSlides/notesSlide4.xml" ContentType="application/vnd.openxmlformats-officedocument.presentationml.notesSlide+xml"/>
  <Override PartName="/ppt/tags/tag20.xml" ContentType="application/vnd.openxmlformats-officedocument.presentationml.tags+xml"/>
  <Override PartName="/ppt/notesSlides/notesSlide5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6.xml" ContentType="application/vnd.openxmlformats-officedocument.presentationml.notesSlide+xml"/>
  <Override PartName="/ppt/tags/tag24.xml" ContentType="application/vnd.openxmlformats-officedocument.presentationml.tags+xml"/>
  <Override PartName="/ppt/notesSlides/notesSlide7.xml" ContentType="application/vnd.openxmlformats-officedocument.presentationml.notesSlide+xml"/>
  <Override PartName="/ppt/tags/tag25.xml" ContentType="application/vnd.openxmlformats-officedocument.presentationml.tags+xml"/>
  <Override PartName="/ppt/notesSlides/notesSlide8.xml" ContentType="application/vnd.openxmlformats-officedocument.presentationml.notesSlide+xml"/>
  <Override PartName="/ppt/tags/tag26.xml" ContentType="application/vnd.openxmlformats-officedocument.presentationml.tags+xml"/>
  <Override PartName="/ppt/notesSlides/notesSlide9.xml" ContentType="application/vnd.openxmlformats-officedocument.presentationml.notesSlide+xml"/>
  <Override PartName="/ppt/theme/themeOverride1.xml" ContentType="application/vnd.openxmlformats-officedocument.themeOverride+xml"/>
  <Override PartName="/ppt/tags/tag27.xml" ContentType="application/vnd.openxmlformats-officedocument.presentationml.tags+xml"/>
  <Override PartName="/ppt/notesSlides/notesSlide10.xml" ContentType="application/vnd.openxmlformats-officedocument.presentationml.notesSlide+xml"/>
  <Override PartName="/ppt/theme/themeOverride2.xml" ContentType="application/vnd.openxmlformats-officedocument.themeOverride+xml"/>
  <Override PartName="/ppt/tags/tag28.xml" ContentType="application/vnd.openxmlformats-officedocument.presentationml.tags+xml"/>
  <Override PartName="/ppt/notesSlides/notesSlide11.xml" ContentType="application/vnd.openxmlformats-officedocument.presentationml.notesSlide+xml"/>
  <Override PartName="/ppt/theme/themeOverride3.xml" ContentType="application/vnd.openxmlformats-officedocument.themeOverride+xml"/>
  <Override PartName="/ppt/tags/tag29.xml" ContentType="application/vnd.openxmlformats-officedocument.presentationml.tags+xml"/>
  <Override PartName="/ppt/notesSlides/notesSlide12.xml" ContentType="application/vnd.openxmlformats-officedocument.presentationml.notesSlide+xml"/>
  <Override PartName="/ppt/theme/themeOverride4.xml" ContentType="application/vnd.openxmlformats-officedocument.themeOverride+xml"/>
  <Override PartName="/ppt/tags/tag30.xml" ContentType="application/vnd.openxmlformats-officedocument.presentationml.tags+xml"/>
  <Override PartName="/ppt/notesSlides/notesSlide13.xml" ContentType="application/vnd.openxmlformats-officedocument.presentationml.notesSlide+xml"/>
  <Override PartName="/ppt/tags/tag31.xml" ContentType="application/vnd.openxmlformats-officedocument.presentationml.tags+xml"/>
  <Override PartName="/ppt/notesSlides/notesSlide14.xml" ContentType="application/vnd.openxmlformats-officedocument.presentationml.notesSlide+xml"/>
  <Override PartName="/ppt/tags/tag32.xml" ContentType="application/vnd.openxmlformats-officedocument.presentationml.tags+xml"/>
  <Override PartName="/ppt/notesSlides/notesSlide15.xml" ContentType="application/vnd.openxmlformats-officedocument.presentationml.notesSlide+xml"/>
  <Override PartName="/ppt/tags/tag33.xml" ContentType="application/vnd.openxmlformats-officedocument.presentationml.tags+xml"/>
  <Override PartName="/ppt/notesSlides/notesSlide16.xml" ContentType="application/vnd.openxmlformats-officedocument.presentationml.notesSlide+xml"/>
  <Override PartName="/ppt/tags/tag34.xml" ContentType="application/vnd.openxmlformats-officedocument.presentationml.tags+xml"/>
  <Override PartName="/ppt/notesSlides/notesSlide17.xml" ContentType="application/vnd.openxmlformats-officedocument.presentationml.notesSlide+xml"/>
  <Override PartName="/ppt/tags/tag35.xml" ContentType="application/vnd.openxmlformats-officedocument.presentationml.tags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602" r:id="rId2"/>
    <p:sldId id="615" r:id="rId3"/>
    <p:sldId id="616" r:id="rId4"/>
    <p:sldId id="671" r:id="rId5"/>
    <p:sldId id="617" r:id="rId6"/>
    <p:sldId id="623" r:id="rId7"/>
    <p:sldId id="621" r:id="rId8"/>
    <p:sldId id="672" r:id="rId9"/>
    <p:sldId id="673" r:id="rId10"/>
    <p:sldId id="674" r:id="rId11"/>
    <p:sldId id="625" r:id="rId12"/>
    <p:sldId id="644" r:id="rId13"/>
    <p:sldId id="645" r:id="rId14"/>
    <p:sldId id="646" r:id="rId15"/>
    <p:sldId id="647" r:id="rId16"/>
    <p:sldId id="627" r:id="rId17"/>
    <p:sldId id="676" r:id="rId18"/>
    <p:sldId id="677" r:id="rId19"/>
    <p:sldId id="675" r:id="rId20"/>
    <p:sldId id="630" r:id="rId2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14" userDrawn="1">
          <p15:clr>
            <a:srgbClr val="A4A3A4"/>
          </p15:clr>
        </p15:guide>
        <p15:guide id="2" pos="28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0000FF"/>
    <a:srgbClr val="006600"/>
    <a:srgbClr val="669900"/>
    <a:srgbClr val="DCDCDC"/>
    <a:srgbClr val="F0F0F0"/>
    <a:srgbClr val="E6E6E6"/>
    <a:srgbClr val="C8C8C8"/>
    <a:srgbClr val="FFFFFF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1736" y="184"/>
      </p:cViewPr>
      <p:guideLst>
        <p:guide orient="horz" pos="2014"/>
        <p:guide pos="286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2026/7/22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456300" y="1555200"/>
            <a:ext cx="38448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  <p:custDataLst>
              <p:tags r:id="rId2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单击此处编辑文本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9100" y="2484000"/>
            <a:ext cx="7349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899100" y="3560400"/>
            <a:ext cx="73494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7.xml"/><Relationship Id="rId1" Type="http://schemas.openxmlformats.org/officeDocument/2006/relationships/themeOverride" Target="../theme/themeOverride1.xml"/><Relationship Id="rId4" Type="http://schemas.openxmlformats.org/officeDocument/2006/relationships/notesSlide" Target="../notesSlides/notesSlid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8.xml"/><Relationship Id="rId1" Type="http://schemas.openxmlformats.org/officeDocument/2006/relationships/themeOverride" Target="../theme/themeOverride2.xml"/><Relationship Id="rId4" Type="http://schemas.openxmlformats.org/officeDocument/2006/relationships/notesSlide" Target="../notesSlides/notesSlid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9.xml"/><Relationship Id="rId1" Type="http://schemas.openxmlformats.org/officeDocument/2006/relationships/themeOverride" Target="../theme/themeOverride3.xml"/><Relationship Id="rId4" Type="http://schemas.openxmlformats.org/officeDocument/2006/relationships/notesSlide" Target="../notesSlides/notesSlid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0.xml"/><Relationship Id="rId1" Type="http://schemas.openxmlformats.org/officeDocument/2006/relationships/themeOverride" Target="../theme/themeOverride4.xml"/><Relationship Id="rId4" Type="http://schemas.openxmlformats.org/officeDocument/2006/relationships/notesSlide" Target="../notesSlides/notesSlid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35" y="146050"/>
            <a:ext cx="9025890" cy="2323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1.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Dark thoughts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about ...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的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负面想法</a:t>
            </a:r>
            <a:endParaRPr lang="en-US" altLang="zh-CN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hang over 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you  </a:t>
            </a:r>
          </a:p>
          <a:p>
            <a:pPr marL="358775" indent="-358775">
              <a:lnSpc>
                <a:spcPct val="120000"/>
              </a:lnSpc>
            </a:pPr>
            <a:endParaRPr lang="en-US" altLang="zh-CN" sz="32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0040" y="1711960"/>
            <a:ext cx="8706485" cy="195199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no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hang over sb: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sb worry about sth because it is happening or might happen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使忧心忡忡，担心可能发生</a:t>
            </a:r>
          </a:p>
        </p:txBody>
      </p:sp>
      <p:sp>
        <p:nvSpPr>
          <p:cNvPr id="6" name="矩形 5"/>
          <p:cNvSpPr/>
          <p:nvPr/>
        </p:nvSpPr>
        <p:spPr>
          <a:xfrm>
            <a:off x="320040" y="3816985"/>
            <a:ext cx="8706485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533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The possibility of losing her job is still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hanging over her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02565" y="635"/>
            <a:ext cx="8800465" cy="6630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cs typeface="Times New Roman" panose="02020503050405090304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cs typeface="Times New Roman" panose="02020503050405090304" charset="0"/>
              </a:rPr>
              <a:t>即学即练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cs typeface="Times New Roman" panose="02020503050405090304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cs typeface="Times New Roman" panose="02020503050405090304" charset="0"/>
              </a:rPr>
              <a:t>用适当的副词填空。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1) The local kids always hang ______ at the mall.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2) Don’t hang ________; we have a train to catch.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3) After I hung ________  I remembered what I’d wanted to say.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4) The dog lay in the shade with his tongue hanging ________; it was so hot.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4) Please hang ________ a second; I’ll look for the manager and tell him you’re on the phone for him.</a:t>
            </a:r>
          </a:p>
        </p:txBody>
      </p:sp>
      <p:sp>
        <p:nvSpPr>
          <p:cNvPr id="3" name="矩形 2"/>
          <p:cNvSpPr/>
          <p:nvPr/>
        </p:nvSpPr>
        <p:spPr>
          <a:xfrm>
            <a:off x="2840220" y="1176776"/>
            <a:ext cx="147613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about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84081" y="592964"/>
            <a:ext cx="84899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out 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28598" y="1760461"/>
            <a:ext cx="147613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up 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316484" y="3609928"/>
            <a:ext cx="147613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out 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084014" y="4138315"/>
            <a:ext cx="147613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on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-635"/>
            <a:ext cx="9143365" cy="15563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2. …and it is important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guard against 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the causes behind them.   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因此防范其背后的原因非常重要。</a:t>
            </a:r>
            <a:endParaRPr lang="en-US" altLang="zh-CN" sz="32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72415" y="3136900"/>
            <a:ext cx="8715375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3400" indent="-533400">
              <a:lnSpc>
                <a:spcPct val="120000"/>
              </a:lnSpc>
            </a:pPr>
            <a:r>
              <a:rPr lang="en-US" altLang="zh-CN" sz="3200" b="1" dirty="0" err="1">
                <a:latin typeface="Times New Roman" panose="02020503050405090304" charset="0"/>
                <a:cs typeface="Times New Roman" panose="02020503050405090304" charset="0"/>
                <a:sym typeface="+mn-ea"/>
              </a:rPr>
              <a:t>运动可预防许多疾病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。</a:t>
            </a:r>
            <a:endParaRPr lang="en-US" altLang="zh-CN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533400" indent="-5334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Exercise can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guard against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a number of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illnesses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. </a:t>
            </a:r>
          </a:p>
          <a:p>
            <a:pPr indent="-533400" fontAlgn="auto">
              <a:lnSpc>
                <a:spcPct val="120000"/>
              </a:lnSpc>
            </a:pPr>
            <a:r>
              <a:rPr lang="en-US" altLang="zh-CN" sz="3200" b="1" dirty="0" err="1">
                <a:latin typeface="Times New Roman" panose="02020503050405090304" charset="0"/>
                <a:cs typeface="Times New Roman" panose="02020503050405090304" charset="0"/>
              </a:rPr>
              <a:t>当你运动的时候</a:t>
            </a:r>
            <a:r>
              <a:rPr lang="zh-CN" altLang="en-US" sz="3200" b="1" dirty="0" err="1">
                <a:latin typeface="Times New Roman" panose="02020503050405090304" charset="0"/>
                <a:cs typeface="Times New Roman" panose="02020503050405090304" charset="0"/>
              </a:rPr>
              <a:t>，</a:t>
            </a:r>
            <a:r>
              <a:rPr lang="en-US" altLang="zh-CN" sz="3200" b="1" dirty="0" err="1">
                <a:latin typeface="Times New Roman" panose="02020503050405090304" charset="0"/>
                <a:cs typeface="Times New Roman" panose="02020503050405090304" charset="0"/>
              </a:rPr>
              <a:t>你需要防止事故的发生</a:t>
            </a:r>
            <a:r>
              <a:rPr lang="zh-CN" sz="3200" b="1" dirty="0">
                <a:latin typeface="Times New Roman" panose="02020503050405090304" charset="0"/>
                <a:cs typeface="Times New Roman" panose="02020503050405090304" charset="0"/>
              </a:rPr>
              <a:t>。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When you play sport, you need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guard against accidents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71780" y="1438910"/>
            <a:ext cx="8716010" cy="136461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guard against: 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to take care to prevent from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防范，防止，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提防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90830" y="0"/>
            <a:ext cx="871537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533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standards of beauty in the media</a:t>
            </a:r>
          </a:p>
          <a:p>
            <a:pPr indent="-53340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媒体的审美标准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indent="-533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fight a losing battle</a:t>
            </a:r>
          </a:p>
          <a:p>
            <a:pPr indent="-533400" fontAlgn="auto">
              <a:lnSpc>
                <a:spcPct val="120000"/>
              </a:lnSpc>
            </a:pPr>
            <a:r>
              <a:rPr lang="zh-CN" altLang="en-US" sz="3200" b="1" dirty="0" err="1">
                <a:latin typeface="Times New Roman" panose="02020503050405090304" charset="0"/>
                <a:cs typeface="Times New Roman" panose="02020503050405090304" charset="0"/>
                <a:sym typeface="+mn-ea"/>
              </a:rPr>
              <a:t>打一场无望取胜的仗</a:t>
            </a:r>
          </a:p>
          <a:p>
            <a:pPr indent="-533400" fontAlgn="auto">
              <a:lnSpc>
                <a:spcPct val="120000"/>
              </a:lnSpc>
            </a:pP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live up to sth 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= do well as good as people expect you to </a:t>
            </a:r>
            <a:r>
              <a:rPr lang="zh-CN" altLang="en-US" sz="3200" b="1" dirty="0" err="1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达到，不辜负（他人的期望）</a:t>
            </a:r>
          </a:p>
          <a:p>
            <a:pPr indent="-533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He failed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live up to his parents' expectations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.</a:t>
            </a:r>
          </a:p>
          <a:p>
            <a:pPr indent="-53340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达到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父母的期望</a:t>
            </a:r>
          </a:p>
          <a:p>
            <a:pPr indent="-533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The team called 'The No-Hopers' certainly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lived up to its name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.</a:t>
            </a:r>
          </a:p>
          <a:p>
            <a:pPr indent="-533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名副其实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25400"/>
            <a:ext cx="9144635" cy="1640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3. They will only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end up 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feeling worse about themselves. 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他们到头来只会觉得自己更糟。</a:t>
            </a:r>
            <a:endParaRPr lang="en-US" altLang="zh-CN" sz="32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3510" y="1404620"/>
            <a:ext cx="8697595" cy="190119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noAutofit/>
          </a:bodyPr>
          <a:lstStyle/>
          <a:p>
            <a:pPr marL="1438275" indent="-14382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end up: 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find yourself in a place or a situation that you did not intend to be in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最终成为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最终处于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328295" y="3742690"/>
            <a:ext cx="8512810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ended up doing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all the work myself.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If you go on like this you'll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end up in prison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If he carries on driving like that, he'll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end up dead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029730" y="948282"/>
            <a:ext cx="6498771" cy="4961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+mj-ea"/>
                <a:cs typeface="Times New Roman" panose="02020503050405090304" charset="0"/>
              </a:rPr>
              <a:t>end (up) with    </a:t>
            </a:r>
            <a:r>
              <a:rPr lang="zh-CN" altLang="en-US" sz="3200" b="1" dirty="0">
                <a:latin typeface="Times New Roman" panose="02020503050405090304" charset="0"/>
                <a:ea typeface="+mj-ea"/>
                <a:cs typeface="Times New Roman" panose="02020503050405090304" charset="0"/>
              </a:rPr>
              <a:t>以</a:t>
            </a:r>
            <a:r>
              <a:rPr lang="en-US" altLang="zh-CN" sz="3200" b="1" dirty="0">
                <a:latin typeface="Times New Roman" panose="02020503050405090304" charset="0"/>
                <a:ea typeface="+mj-ea"/>
                <a:cs typeface="Times New Roman" panose="02020503050405090304" charset="0"/>
              </a:rPr>
              <a:t>……</a:t>
            </a:r>
            <a:r>
              <a:rPr lang="zh-CN" altLang="en-US" sz="3200" b="1" dirty="0">
                <a:latin typeface="Times New Roman" panose="02020503050405090304" charset="0"/>
                <a:ea typeface="+mj-ea"/>
                <a:cs typeface="Times New Roman" panose="02020503050405090304" charset="0"/>
              </a:rPr>
              <a:t>结束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+mj-ea"/>
                <a:cs typeface="Times New Roman" panose="02020503050405090304" charset="0"/>
              </a:rPr>
              <a:t>end (up) as        </a:t>
            </a:r>
            <a:r>
              <a:rPr lang="zh-CN" altLang="en-US" sz="3200" b="1" dirty="0">
                <a:latin typeface="Times New Roman" panose="02020503050405090304" charset="0"/>
                <a:ea typeface="+mj-ea"/>
                <a:cs typeface="Times New Roman" panose="02020503050405090304" charset="0"/>
              </a:rPr>
              <a:t>最后成为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+mj-ea"/>
                <a:cs typeface="Times New Roman" panose="02020503050405090304" charset="0"/>
              </a:rPr>
              <a:t>put an end to</a:t>
            </a:r>
            <a:r>
              <a:rPr lang="en-US" altLang="zh-CN" sz="3200" b="1" dirty="0">
                <a:latin typeface="Times New Roman" panose="02020503050405090304" charset="0"/>
                <a:ea typeface="+mj-ea"/>
                <a:cs typeface="Times New Roman" panose="02020503050405090304" charset="0"/>
              </a:rPr>
              <a:t>     </a:t>
            </a:r>
            <a:r>
              <a:rPr lang="zh-CN" altLang="en-US" sz="3200" b="1" dirty="0">
                <a:latin typeface="Times New Roman" panose="02020503050405090304" charset="0"/>
                <a:ea typeface="+mj-ea"/>
                <a:cs typeface="Times New Roman" panose="02020503050405090304" charset="0"/>
              </a:rPr>
              <a:t>使</a:t>
            </a:r>
            <a:r>
              <a:rPr lang="en-US" altLang="zh-CN" sz="3200" b="1" dirty="0">
                <a:latin typeface="Times New Roman" panose="02020503050405090304" charset="0"/>
                <a:ea typeface="+mj-ea"/>
                <a:cs typeface="Times New Roman" panose="02020503050405090304" charset="0"/>
              </a:rPr>
              <a:t>……</a:t>
            </a:r>
            <a:r>
              <a:rPr lang="zh-CN" altLang="en-US" sz="3200" b="1" dirty="0">
                <a:latin typeface="Times New Roman" panose="02020503050405090304" charset="0"/>
                <a:ea typeface="+mj-ea"/>
                <a:cs typeface="Times New Roman" panose="02020503050405090304" charset="0"/>
              </a:rPr>
              <a:t>终止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+mj-ea"/>
                <a:cs typeface="Times New Roman" panose="02020503050405090304" charset="0"/>
              </a:rPr>
              <a:t>come to an end</a:t>
            </a:r>
            <a:r>
              <a:rPr lang="en-US" altLang="zh-CN" sz="3200" b="1" dirty="0">
                <a:latin typeface="Times New Roman" panose="02020503050405090304" charset="0"/>
                <a:ea typeface="+mj-ea"/>
                <a:cs typeface="Times New Roman" panose="02020503050405090304" charset="0"/>
              </a:rPr>
              <a:t>  </a:t>
            </a:r>
            <a:r>
              <a:rPr lang="zh-CN" altLang="en-US" sz="3200" b="1" dirty="0">
                <a:latin typeface="Times New Roman" panose="02020503050405090304" charset="0"/>
                <a:ea typeface="+mj-ea"/>
                <a:cs typeface="Times New Roman" panose="02020503050405090304" charset="0"/>
              </a:rPr>
              <a:t>到头了，结束了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+mj-ea"/>
                <a:cs typeface="Times New Roman" panose="02020503050405090304" charset="0"/>
              </a:rPr>
              <a:t>by the end of</a:t>
            </a:r>
            <a:r>
              <a:rPr lang="en-US" altLang="zh-CN" sz="3200" b="1" dirty="0">
                <a:latin typeface="Times New Roman" panose="02020503050405090304" charset="0"/>
                <a:ea typeface="+mj-ea"/>
                <a:cs typeface="Times New Roman" panose="02020503050405090304" charset="0"/>
              </a:rPr>
              <a:t>      </a:t>
            </a:r>
            <a:r>
              <a:rPr lang="zh-CN" altLang="en-US" sz="3200" b="1" dirty="0">
                <a:latin typeface="Times New Roman" panose="02020503050405090304" charset="0"/>
                <a:ea typeface="+mj-ea"/>
                <a:cs typeface="Times New Roman" panose="02020503050405090304" charset="0"/>
              </a:rPr>
              <a:t>到</a:t>
            </a:r>
            <a:r>
              <a:rPr lang="en-US" altLang="zh-CN" sz="3200" b="1" dirty="0">
                <a:latin typeface="Times New Roman" panose="02020503050405090304" charset="0"/>
                <a:ea typeface="+mj-ea"/>
                <a:cs typeface="Times New Roman" panose="02020503050405090304" charset="0"/>
              </a:rPr>
              <a:t>……</a:t>
            </a:r>
            <a:r>
              <a:rPr lang="zh-CN" altLang="en-US" sz="3200" b="1" dirty="0">
                <a:latin typeface="Times New Roman" panose="02020503050405090304" charset="0"/>
                <a:ea typeface="+mj-ea"/>
                <a:cs typeface="Times New Roman" panose="02020503050405090304" charset="0"/>
              </a:rPr>
              <a:t>结束时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+mj-ea"/>
                <a:cs typeface="Times New Roman" panose="02020503050405090304" charset="0"/>
              </a:rPr>
              <a:t>bring… to an end</a:t>
            </a:r>
            <a:r>
              <a:rPr lang="en-US" altLang="zh-CN" sz="3200" b="1" dirty="0">
                <a:latin typeface="Times New Roman" panose="02020503050405090304" charset="0"/>
                <a:ea typeface="+mj-ea"/>
                <a:cs typeface="Times New Roman" panose="02020503050405090304" charset="0"/>
              </a:rPr>
              <a:t>  </a:t>
            </a:r>
            <a:r>
              <a:rPr lang="zh-CN" altLang="en-US" sz="3200" b="1" dirty="0">
                <a:latin typeface="Times New Roman" panose="02020503050405090304" charset="0"/>
                <a:ea typeface="+mj-ea"/>
                <a:cs typeface="Times New Roman" panose="02020503050405090304" charset="0"/>
              </a:rPr>
              <a:t>使终止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+mj-ea"/>
                <a:cs typeface="Times New Roman" panose="02020503050405090304" charset="0"/>
              </a:rPr>
              <a:t>on end</a:t>
            </a:r>
            <a:r>
              <a:rPr lang="en-US" altLang="zh-CN" sz="3200" b="1" dirty="0">
                <a:latin typeface="Times New Roman" panose="02020503050405090304" charset="0"/>
                <a:ea typeface="+mj-ea"/>
                <a:cs typeface="Times New Roman" panose="02020503050405090304" charset="0"/>
              </a:rPr>
              <a:t>                 </a:t>
            </a:r>
            <a:r>
              <a:rPr lang="zh-CN" altLang="en-US" sz="3200" b="1" dirty="0">
                <a:latin typeface="Times New Roman" panose="02020503050405090304" charset="0"/>
                <a:ea typeface="+mj-ea"/>
                <a:cs typeface="Times New Roman" panose="02020503050405090304" charset="0"/>
              </a:rPr>
              <a:t>连续地</a:t>
            </a:r>
            <a:endParaRPr lang="en-US" altLang="zh-CN" sz="3200" b="1" dirty="0">
              <a:latin typeface="Times New Roman" panose="02020503050405090304" charset="0"/>
              <a:ea typeface="+mj-ea"/>
              <a:cs typeface="Times New Roman" panose="02020503050405090304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+mj-ea"/>
                <a:cs typeface="Times New Roman" panose="02020503050405090304" charset="0"/>
              </a:rPr>
              <a:t>end in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charset="0"/>
                <a:ea typeface="+mj-ea"/>
                <a:cs typeface="Times New Roman" panose="02020503050405090304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+mj-ea"/>
                <a:cs typeface="Times New Roman" panose="02020503050405090304" charset="0"/>
              </a:rPr>
              <a:t>.           </a:t>
            </a:r>
            <a:r>
              <a:rPr lang="zh-CN" altLang="en-US" sz="3200" b="1" dirty="0">
                <a:latin typeface="Times New Roman" panose="02020503050405090304" charset="0"/>
                <a:ea typeface="+mj-ea"/>
                <a:cs typeface="Times New Roman" panose="02020503050405090304" charset="0"/>
              </a:rPr>
              <a:t>以</a:t>
            </a:r>
            <a:r>
              <a:rPr lang="en-US" altLang="zh-CN" sz="3200" b="1" dirty="0">
                <a:latin typeface="Times New Roman" panose="02020503050405090304" charset="0"/>
                <a:ea typeface="+mj-ea"/>
                <a:cs typeface="Times New Roman" panose="02020503050405090304" charset="0"/>
              </a:rPr>
              <a:t>……</a:t>
            </a:r>
            <a:r>
              <a:rPr lang="zh-CN" altLang="en-US" sz="3200" b="1" dirty="0">
                <a:latin typeface="Times New Roman" panose="02020503050405090304" charset="0"/>
                <a:ea typeface="+mj-ea"/>
                <a:cs typeface="Times New Roman" panose="02020503050405090304" charset="0"/>
              </a:rPr>
              <a:t>结尾</a:t>
            </a:r>
            <a:endParaRPr lang="en-US" altLang="zh-CN" sz="3200" b="1" dirty="0">
              <a:latin typeface="Times New Roman" panose="02020503050405090304" charset="0"/>
              <a:ea typeface="+mj-ea"/>
              <a:cs typeface="Times New Roman" panose="02020503050405090304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+mj-ea"/>
                <a:cs typeface="Times New Roman" panose="02020503050405090304" charset="0"/>
              </a:rPr>
              <a:t>at the end of        </a:t>
            </a:r>
            <a:r>
              <a:rPr lang="zh-CN" altLang="en-US" sz="3200" b="1" dirty="0">
                <a:latin typeface="Times New Roman" panose="02020503050405090304" charset="0"/>
                <a:ea typeface="+mj-ea"/>
                <a:cs typeface="Times New Roman" panose="02020503050405090304" charset="0"/>
              </a:rPr>
              <a:t>到</a:t>
            </a:r>
            <a:r>
              <a:rPr lang="en-US" altLang="zh-CN" sz="3200" b="1" dirty="0">
                <a:latin typeface="Times New Roman" panose="02020503050405090304" charset="0"/>
                <a:ea typeface="+mj-ea"/>
                <a:cs typeface="Times New Roman" panose="02020503050405090304" charset="0"/>
              </a:rPr>
              <a:t>……</a:t>
            </a:r>
            <a:r>
              <a:rPr lang="zh-CN" altLang="en-US" sz="3200" b="1" dirty="0">
                <a:latin typeface="Times New Roman" panose="02020503050405090304" charset="0"/>
                <a:ea typeface="+mj-ea"/>
                <a:cs typeface="Times New Roman" panose="02020503050405090304" charset="0"/>
              </a:rPr>
              <a:t>的尽头</a:t>
            </a: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217714"/>
            <a:ext cx="1319212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AutoShape 59"/>
          <p:cNvSpPr>
            <a:spLocks noChangeArrowheads="1"/>
          </p:cNvSpPr>
          <p:nvPr/>
        </p:nvSpPr>
        <p:spPr bwMode="auto">
          <a:xfrm>
            <a:off x="92075" y="3403601"/>
            <a:ext cx="1511300" cy="57626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1750">
            <a:solidFill>
              <a:srgbClr val="0000FF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CN" dirty="0">
                <a:ea typeface="+mj-ea"/>
                <a:cs typeface="Times New Roman" panose="02020503050405090304" charset="0"/>
              </a:rPr>
              <a:t>end</a:t>
            </a:r>
            <a:r>
              <a:rPr lang="zh-CN" altLang="en-US" dirty="0">
                <a:ea typeface="+mj-ea"/>
                <a:cs typeface="Times New Roman" panose="02020503050405090304" charset="0"/>
              </a:rPr>
              <a:t>短语</a:t>
            </a:r>
          </a:p>
        </p:txBody>
      </p:sp>
      <p:sp>
        <p:nvSpPr>
          <p:cNvPr id="5" name="AutoShape 51"/>
          <p:cNvSpPr/>
          <p:nvPr/>
        </p:nvSpPr>
        <p:spPr bwMode="auto">
          <a:xfrm>
            <a:off x="1673677" y="1132114"/>
            <a:ext cx="285750" cy="4986338"/>
          </a:xfrm>
          <a:prstGeom prst="leftBrace">
            <a:avLst>
              <a:gd name="adj1" fmla="val 54944"/>
              <a:gd name="adj2" fmla="val 50000"/>
            </a:avLst>
          </a:prstGeom>
          <a:noFill/>
          <a:ln w="317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endParaRPr lang="zh-CN" altLang="en-US">
              <a:ea typeface="+mj-ea"/>
              <a:cs typeface="Times New Roman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8"/>
          <p:cNvSpPr>
            <a:spLocks noChangeArrowheads="1"/>
          </p:cNvSpPr>
          <p:nvPr/>
        </p:nvSpPr>
        <p:spPr bwMode="auto">
          <a:xfrm>
            <a:off x="220345" y="120015"/>
            <a:ext cx="8776335" cy="5681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9pPr>
          </a:lstStyle>
          <a:p>
            <a:pPr indent="-446405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</a:rPr>
              <a:t>1) Some people tried many ways to lose weight, ending up __________ (gain) weight soon again.</a:t>
            </a:r>
          </a:p>
          <a:p>
            <a:pPr indent="-446405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</a:rPr>
              <a:t>2) If we neglect our future, we’ll end up ________ failure as what happens to the man in the picture.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</a:rPr>
              <a:t>3) </a:t>
            </a:r>
            <a:r>
              <a:rPr lang="en-US" altLang="zh-CN" dirty="0">
                <a:cs typeface="Times New Roman" panose="02020503050405090304" charset="0"/>
                <a:sym typeface="+mn-ea"/>
              </a:rPr>
              <a:t>The medicine conference ended up______ the Chairman’s speech.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</a:rPr>
              <a:t>I was worried she would walk out or </a:t>
            </a:r>
            <a:r>
              <a:rPr lang="en-US" altLang="zh-CN" u="sng" dirty="0">
                <a:solidFill>
                  <a:srgbClr val="FF0000"/>
                </a:solidFill>
              </a:rPr>
              <a:t>bring the interview to an end</a:t>
            </a:r>
            <a:r>
              <a:rPr lang="en-US" altLang="zh-CN" dirty="0">
                <a:solidFill>
                  <a:srgbClr val="000000"/>
                </a:solidFill>
              </a:rPr>
              <a:t>. </a:t>
            </a:r>
            <a:r>
              <a:rPr lang="zh-CN" altLang="en-US" dirty="0">
                <a:solidFill>
                  <a:srgbClr val="000000"/>
                </a:solidFill>
                <a:sym typeface="+mn-ea"/>
              </a:rPr>
              <a:t>使</a:t>
            </a:r>
            <a:r>
              <a:rPr lang="en-US" altLang="zh-CN" dirty="0">
                <a:solidFill>
                  <a:srgbClr val="000000"/>
                </a:solidFill>
                <a:sym typeface="+mn-ea"/>
              </a:rPr>
              <a:t>...</a:t>
            </a:r>
            <a:r>
              <a:rPr lang="zh-CN" altLang="en-US" dirty="0">
                <a:solidFill>
                  <a:srgbClr val="000000"/>
                </a:solidFill>
                <a:sym typeface="+mn-ea"/>
              </a:rPr>
              <a:t>终止</a:t>
            </a:r>
            <a:endParaRPr lang="zh-CN" altLang="en-US" dirty="0">
              <a:solidFill>
                <a:srgbClr val="000000"/>
              </a:solidFill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</a:rPr>
              <a:t>The French government today </a:t>
            </a:r>
            <a:r>
              <a:rPr lang="en-US" altLang="zh-CN" u="sng" dirty="0">
                <a:solidFill>
                  <a:srgbClr val="FF0000"/>
                </a:solidFill>
              </a:rPr>
              <a:t>called for an end to</a:t>
            </a:r>
            <a:r>
              <a:rPr lang="en-US" altLang="zh-CN" dirty="0">
                <a:solidFill>
                  <a:srgbClr val="000000"/>
                </a:solidFill>
              </a:rPr>
              <a:t> the violence. 呼吁结束...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154633" name="Rectangle 9"/>
          <p:cNvSpPr>
            <a:spLocks noChangeArrowheads="1"/>
          </p:cNvSpPr>
          <p:nvPr/>
        </p:nvSpPr>
        <p:spPr bwMode="auto">
          <a:xfrm>
            <a:off x="2281060" y="677443"/>
            <a:ext cx="1572260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2743200" algn="l"/>
              </a:tabLs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1pPr>
            <a:lvl2pPr marL="742950" indent="-285750">
              <a:tabLst>
                <a:tab pos="2743200" algn="l"/>
              </a:tabLs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2pPr>
            <a:lvl3pPr marL="1143000" indent="-228600">
              <a:tabLst>
                <a:tab pos="2743200" algn="l"/>
              </a:tabLs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3pPr>
            <a:lvl4pPr marL="1600200" indent="-228600">
              <a:tabLst>
                <a:tab pos="2743200" algn="l"/>
              </a:tabLs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4pPr>
            <a:lvl5pPr marL="2057400" indent="-228600">
              <a:tabLst>
                <a:tab pos="2743200" algn="l"/>
              </a:tabLs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l"/>
              </a:tabLs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l"/>
              </a:tabLs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l"/>
              </a:tabLs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743200" algn="l"/>
              </a:tabLs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gaining 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7523102" y="1232435"/>
            <a:ext cx="623570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in 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727570" y="2389256"/>
            <a:ext cx="95059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with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5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0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0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0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33" grpId="0" bldLvl="0" animBg="1"/>
      <p:bldP spid="4" grpId="0" bldLvl="0" animBg="1"/>
      <p:bldP spid="7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90830" y="0"/>
            <a:ext cx="8715375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533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(live) in one’s shadow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被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某人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)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的光彩所掩盖</a:t>
            </a:r>
          </a:p>
          <a:p>
            <a:pPr indent="-533400" fontAlgn="auto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indent="-533400" fontAlgn="auto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For years, his second daughter has been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living in the shadow of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his elder daughter.</a:t>
            </a:r>
          </a:p>
          <a:p>
            <a:pPr indent="-533400" fontAlgn="auto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The new market is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in the shadow of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the City Hall.</a:t>
            </a:r>
          </a:p>
          <a:p>
            <a:pPr indent="-533400" fontAlgn="auto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新建的市场紧挨着市政厅。(=be very close to)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90830" y="0"/>
            <a:ext cx="8715375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53340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The ship's sail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cast a shadow on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the water.</a:t>
            </a:r>
          </a:p>
          <a:p>
            <a:pPr indent="-533400" fontAlgn="auto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船帆在水面上</a:t>
            </a:r>
            <a:r>
              <a:rPr lang="en-US" sz="3200" b="1" u="sng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投下一片影子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。</a:t>
            </a:r>
          </a:p>
          <a:p>
            <a:pPr indent="-53340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He didn't want to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cast a shadow on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their happiness.</a:t>
            </a:r>
          </a:p>
          <a:p>
            <a:pPr indent="-533400" fontAlgn="auto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他不想给他们的幸福</a:t>
            </a:r>
            <a:r>
              <a:rPr lang="en-US" sz="3200" b="1" u="sng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蒙上阴影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。</a:t>
            </a:r>
          </a:p>
          <a:p>
            <a:pPr indent="-533400" fontAlgn="auto">
              <a:lnSpc>
                <a:spcPct val="120000"/>
              </a:lnSpc>
            </a:pPr>
            <a:endParaRPr lang="en-US" sz="3200" b="1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indent="-533400" fontAlgn="auto">
              <a:lnSpc>
                <a:spcPct val="120000"/>
              </a:lnSpc>
            </a:pPr>
            <a:r>
              <a:rPr lang="en-US" sz="3200" b="1" u="sng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 shadow of a smile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touched his mouth.</a:t>
            </a:r>
          </a:p>
          <a:p>
            <a:pPr indent="-533400" fontAlgn="auto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他嘴角透出一丝笑意。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90830" y="0"/>
            <a:ext cx="8715375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53340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He was shadowed for a week by the secret police.</a:t>
            </a:r>
          </a:p>
          <a:p>
            <a:pPr indent="-533400" fontAlgn="auto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他被秘密警察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跟踪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了一个星期。</a:t>
            </a:r>
          </a:p>
          <a:p>
            <a:pPr indent="-53340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It is often helpful for teachers to shadow managers in industry.</a:t>
            </a:r>
          </a:p>
          <a:p>
            <a:pPr indent="-533400" fontAlgn="auto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教师</a:t>
            </a:r>
            <a:r>
              <a:rPr lang="en-US" sz="3200" b="1" u="sng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跟随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业界的管理人员</a:t>
            </a:r>
            <a:r>
              <a:rPr lang="en-US" sz="3200" b="1" u="sng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实地学习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，常常会很有收获。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59715" y="482600"/>
            <a:ext cx="8588375" cy="472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no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cs typeface="Times New Roman" panose="02020503050405090304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cs typeface="Times New Roman" panose="02020503050405090304" charset="0"/>
              </a:rPr>
              <a:t>即学即练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cs typeface="Times New Roman" panose="02020503050405090304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cs typeface="Times New Roman" panose="02020503050405090304" charset="0"/>
              </a:rPr>
              <a:t>用适当的介词或副词填空。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1) She always shows ________ her knowledge of literature, if she thinks she can impress anyone.</a:t>
            </a:r>
            <a:endParaRPr lang="en-US" altLang="zh-CN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2) Before you start work, I’ll show you _________ the office so that you can meet everyone.</a:t>
            </a:r>
            <a:endParaRPr lang="en-US" altLang="zh-CN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3) You never know when she’s coming: she just shows ________ when she feels like it.</a:t>
            </a:r>
            <a:endParaRPr lang="en-US" altLang="zh-CN" sz="32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296554" y="843961"/>
            <a:ext cx="859790" cy="6324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off  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94925" y="3055784"/>
            <a:ext cx="1549400" cy="6324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around 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321577" y="4839354"/>
            <a:ext cx="635000" cy="6324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up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914400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4. Everyone has their own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talents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…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0" y="902970"/>
            <a:ext cx="9143365" cy="252539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noAutofit/>
          </a:bodyPr>
          <a:lstStyle/>
          <a:p>
            <a:pPr indent="-24257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talent c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n.&amp; un. </a:t>
            </a:r>
          </a:p>
          <a:p>
            <a:pPr indent="-24257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1) a natural ability to do something well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天赋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才能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indent="-242570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2) a person or people with a natural ability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有才能的人，天才，人才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86055" y="3875405"/>
            <a:ext cx="8770620" cy="2453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622300" eaLnBrk="1" fontAlgn="auto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You should be confident and focus on your own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talents and strengths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. 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才能和优势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indent="-622300" eaLnBrk="1" fontAlgn="auto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a man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of many talents</a:t>
            </a:r>
            <a:endParaRPr lang="en-US" altLang="zh-CN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 indent="-622300" eaLnBrk="1" fontAlgn="auto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多才多艺的男子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90500" y="0"/>
            <a:ext cx="8708390" cy="6230620"/>
          </a:xfrm>
          <a:prstGeom prst="rect">
            <a:avLst/>
          </a:prstGeom>
        </p:spPr>
        <p:txBody>
          <a:bodyPr wrap="square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998855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406525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81483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2225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6797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1369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5941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40513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indent="-622300" eaLnBrk="1" fontAlgn="auto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Both her children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have a talent for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music.</a:t>
            </a:r>
          </a:p>
          <a:p>
            <a:pPr indent="-622300" eaLnBrk="1" fontAlgn="auto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她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的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两个孩子都</a:t>
            </a:r>
            <a:r>
              <a:rPr lang="en-US" altLang="zh-CN" sz="3200" b="1" u="sng" dirty="0">
                <a:latin typeface="Times New Roman" panose="02020503050405090304" charset="0"/>
                <a:cs typeface="Times New Roman" panose="02020503050405090304" charset="0"/>
              </a:rPr>
              <a:t>有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音乐</a:t>
            </a:r>
            <a:r>
              <a:rPr lang="en-US" altLang="zh-CN" sz="3200" b="1" u="sng" dirty="0">
                <a:latin typeface="Times New Roman" panose="02020503050405090304" charset="0"/>
                <a:cs typeface="Times New Roman" panose="02020503050405090304" charset="0"/>
              </a:rPr>
              <a:t>天赋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。</a:t>
            </a:r>
          </a:p>
          <a:p>
            <a:pPr indent="-622300" eaLnBrk="1" fontAlgn="auto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She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displayed considerable talent for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getting what she wanted.</a:t>
            </a:r>
          </a:p>
          <a:p>
            <a:pPr indent="-622300" eaLnBrk="1" fontAlgn="auto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她很有天资，能够达成自己的目标。</a:t>
            </a:r>
          </a:p>
          <a:p>
            <a:pPr indent="-622300" eaLnBrk="1" fontAlgn="auto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have great artistic talent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indent="-622300" eaLnBrk="1" fontAlgn="auto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很有艺术天赋</a:t>
            </a:r>
            <a:endParaRPr lang="en-US" altLang="zh-CN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 indent="-622300" eaLnBrk="1" fontAlgn="auto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showed more talent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than any other player.</a:t>
            </a:r>
          </a:p>
          <a:p>
            <a:pPr indent="-622300" eaLnBrk="1" fontAlgn="auto" hangingPunct="1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indent="-622300" eaLnBrk="1" fontAlgn="auto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young talent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青年才俊</a:t>
            </a:r>
          </a:p>
          <a:p>
            <a:pPr indent="-622300" eaLnBrk="1" fontAlgn="auto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talented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. 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有才能的，天才的</a:t>
            </a:r>
            <a:endParaRPr lang="en-US" altLang="zh-CN" sz="32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1935" y="387985"/>
            <a:ext cx="8725535" cy="492379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444500" indent="-4445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1087755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495425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90373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311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768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225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683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4140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cs typeface="Times New Roman" panose="02020503050405090304" charset="0"/>
              </a:rPr>
              <a:t>根据汉语意思补全下面句子（每空一词）。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1) 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这个女孩有语言天赋，她现在已能说三门外语了。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    This girl ______ _______ _______ _______ language. Now she can speak three foreign languages.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2) 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像他这么有才华的人不应满足于现状。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    Such a most ________ person as he shouldn’t be satisfied with what he is now.</a:t>
            </a:r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2639632" y="2164779"/>
            <a:ext cx="553339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 has        a           talent        for  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2887791" y="4531043"/>
            <a:ext cx="168402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talented 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bldLvl="0" animBg="1"/>
      <p:bldP spid="82949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74955" y="3630930"/>
            <a:ext cx="8744585" cy="1863090"/>
          </a:xfrm>
          <a:prstGeom prst="rect">
            <a:avLst/>
          </a:prstGeom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909955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317625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72593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1336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90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048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505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9624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3200" b="1" dirty="0" err="1">
                <a:latin typeface="Times New Roman" panose="02020503050405090304" charset="0"/>
              </a:rPr>
              <a:t>得知女儿获得金牌时，母亲充满自豪。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 err="1">
                <a:latin typeface="Times New Roman" panose="02020503050405090304" charset="0"/>
              </a:rPr>
              <a:t>The news of her daughter winning a gold medal _______ the mother _______ a sense of ______.</a:t>
            </a:r>
          </a:p>
        </p:txBody>
      </p:sp>
      <p:sp>
        <p:nvSpPr>
          <p:cNvPr id="3" name="矩形 2"/>
          <p:cNvSpPr/>
          <p:nvPr/>
        </p:nvSpPr>
        <p:spPr>
          <a:xfrm>
            <a:off x="161925" y="78740"/>
            <a:ext cx="8856980" cy="718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5. …so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take pride in 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thins you do well…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1925" y="998220"/>
            <a:ext cx="8856980" cy="247840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noAutofit/>
          </a:bodyPr>
          <a:lstStyle/>
          <a:p>
            <a:pPr marL="2511425" indent="-25114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</a:rPr>
              <a:t>take pride in: </a:t>
            </a:r>
            <a:r>
              <a:rPr lang="en-US" altLang="zh-CN" sz="3200" dirty="0"/>
              <a:t> 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to feel very pleased about something or someone you are closely connected with</a:t>
            </a:r>
            <a:r>
              <a:rPr lang="en-US" altLang="zh-CN" sz="3200" dirty="0"/>
              <a:t> </a:t>
            </a:r>
            <a:r>
              <a:rPr lang="zh-CN" altLang="en-US" sz="3200" b="1" dirty="0">
                <a:solidFill>
                  <a:schemeClr val="tx1"/>
                </a:solidFill>
                <a:latin typeface="+mj-ea"/>
                <a:ea typeface="+mj-ea"/>
              </a:rPr>
              <a:t>为</a:t>
            </a:r>
            <a:r>
              <a:rPr lang="en-US" altLang="zh-CN" sz="3200" b="1" dirty="0">
                <a:solidFill>
                  <a:schemeClr val="tx1"/>
                </a:solidFill>
                <a:latin typeface="+mj-ea"/>
                <a:ea typeface="+mj-ea"/>
              </a:rPr>
              <a:t>……</a:t>
            </a:r>
            <a:r>
              <a:rPr lang="zh-CN" altLang="en-US" sz="3200" b="1" dirty="0">
                <a:solidFill>
                  <a:schemeClr val="tx1"/>
                </a:solidFill>
                <a:latin typeface="+mj-ea"/>
                <a:ea typeface="+mj-ea"/>
              </a:rPr>
              <a:t>自豪，为</a:t>
            </a:r>
            <a:r>
              <a:rPr lang="en-US" altLang="zh-CN" sz="3200" b="1" dirty="0">
                <a:solidFill>
                  <a:schemeClr val="tx1"/>
                </a:solidFill>
                <a:latin typeface="+mj-ea"/>
                <a:ea typeface="+mj-ea"/>
              </a:rPr>
              <a:t>……</a:t>
            </a:r>
            <a:r>
              <a:rPr lang="zh-CN" altLang="en-US" sz="3200" b="1" dirty="0">
                <a:solidFill>
                  <a:schemeClr val="tx1"/>
                </a:solidFill>
                <a:latin typeface="+mj-ea"/>
                <a:ea typeface="+mj-ea"/>
              </a:rPr>
              <a:t>骄傲</a:t>
            </a:r>
            <a:r>
              <a:rPr lang="en-US" altLang="zh-CN" sz="3200" b="1" dirty="0">
                <a:solidFill>
                  <a:srgbClr val="FF0000"/>
                </a:solidFill>
                <a:latin typeface="+mj-ea"/>
                <a:ea typeface="+mj-ea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</a:rPr>
              <a:t>= be proud of 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481965" y="4910455"/>
            <a:ext cx="81984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sym typeface="+mn-ea"/>
              </a:rPr>
              <a:t>filled                          with                        pride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2" grpId="0"/>
      <p:bldP spid="2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ChangeArrowheads="1"/>
          </p:cNvSpPr>
          <p:nvPr/>
        </p:nvSpPr>
        <p:spPr bwMode="auto">
          <a:xfrm>
            <a:off x="201295" y="114300"/>
            <a:ext cx="8795385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1310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</a:rPr>
              <a:t>6. ...your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</a:rPr>
              <a:t>contents</a:t>
            </a:r>
            <a:r>
              <a:rPr lang="en-US" altLang="zh-CN" sz="3200" b="1" dirty="0">
                <a:latin typeface="Times New Roman" panose="02020503050405090304" charset="0"/>
              </a:rPr>
              <a:t> are much more important...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8900" y="1136015"/>
            <a:ext cx="8997315" cy="81343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noAutofit/>
          </a:bodyPr>
          <a:lstStyle/>
          <a:p>
            <a:pPr marL="2865755" indent="-28657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</a:rPr>
              <a:t>contents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</a:rPr>
              <a:t> 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</a:rPr>
              <a:t>. 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</a:rPr>
              <a:t>the things that are contained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</a:rPr>
              <a:t>所含之物</a:t>
            </a:r>
          </a:p>
        </p:txBody>
      </p:sp>
      <p:sp>
        <p:nvSpPr>
          <p:cNvPr id="6" name="矩形 5"/>
          <p:cNvSpPr/>
          <p:nvPr/>
        </p:nvSpPr>
        <p:spPr>
          <a:xfrm>
            <a:off x="201295" y="2127250"/>
            <a:ext cx="8795385" cy="2453640"/>
          </a:xfrm>
          <a:prstGeom prst="rect">
            <a:avLst/>
          </a:prstGeom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909955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317625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72593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1336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90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048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505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9624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indent="-622300" eaLnBrk="1" fontAlgn="auto" hangingPunct="1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charset="0"/>
              </a:rPr>
              <a:t>She hadn’t read the letter and so was unaware of its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charset="0"/>
              </a:rPr>
              <a:t>contents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charset="0"/>
              </a:rPr>
              <a:t>.</a:t>
            </a:r>
          </a:p>
          <a:p>
            <a:pPr indent="-622300" eaLnBrk="1" fontAlgn="auto" hangingPunct="1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</a:rPr>
              <a:t>她没看过那封信，所以对其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 charset="0"/>
              </a:rPr>
              <a:t>内容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</a:rPr>
              <a:t>一无所知。</a:t>
            </a:r>
          </a:p>
          <a:p>
            <a:pPr indent="-622300" eaLnBrk="1" fontAlgn="auto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</a:rPr>
              <a:t>a table of contents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</a:rPr>
              <a:t>目录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1"/>
          <p:nvPr/>
        </p:nvSpPr>
        <p:spPr>
          <a:xfrm>
            <a:off x="255270" y="303530"/>
            <a:ext cx="8522970" cy="123698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noAutofit/>
          </a:bodyPr>
          <a:lstStyle/>
          <a:p>
            <a:pPr indent="-286575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</a:rPr>
              <a:t>content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</a:rPr>
              <a:t> 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</a:rPr>
              <a:t>. 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</a:rPr>
              <a:t>the subject matter of a book, etc.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</a:rPr>
              <a:t>主要内容</a:t>
            </a:r>
          </a:p>
        </p:txBody>
      </p:sp>
      <p:sp>
        <p:nvSpPr>
          <p:cNvPr id="3" name="矩形 5"/>
          <p:cNvSpPr/>
          <p:nvPr/>
        </p:nvSpPr>
        <p:spPr>
          <a:xfrm>
            <a:off x="201295" y="1798955"/>
            <a:ext cx="8795385" cy="3634740"/>
          </a:xfrm>
          <a:prstGeom prst="rect">
            <a:avLst/>
          </a:prstGeom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909955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317625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72593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1336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90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048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505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9624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indent="-622300" eaLnBrk="1" fontAlgn="auto" hangingPunct="1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charset="0"/>
              </a:rPr>
              <a:t>Your tone of voice is as important as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charset="0"/>
              </a:rPr>
              <a:t>the content of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charset="0"/>
              </a:rPr>
              <a:t> what you have to say.</a:t>
            </a:r>
          </a:p>
          <a:p>
            <a:pPr indent="-622300" eaLnBrk="1" fontAlgn="auto" hangingPunct="1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charset="0"/>
              </a:rPr>
              <a:t>你的讲话声调和你要讲的内容同样重要。</a:t>
            </a:r>
          </a:p>
          <a:p>
            <a:pPr indent="-622300" eaLnBrk="1" fontAlgn="auto" hangingPunct="1">
              <a:lnSpc>
                <a:spcPct val="120000"/>
              </a:lnSpc>
            </a:pPr>
            <a:r>
              <a:rPr lang="en-US" sz="3200" b="1" u="sng" dirty="0">
                <a:solidFill>
                  <a:srgbClr val="FF0000"/>
                </a:solidFill>
                <a:latin typeface="Times New Roman" panose="02020503050405090304" charset="0"/>
              </a:rPr>
              <a:t>The content of the course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charset="0"/>
              </a:rPr>
              <a:t> depends on what the students would like to study.</a:t>
            </a:r>
          </a:p>
          <a:p>
            <a:pPr indent="-622300" eaLnBrk="1" fontAlgn="auto" hangingPunct="1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charset="0"/>
              </a:rPr>
              <a:t>课程的内容取决于学生愿意学什么。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1"/>
          <p:nvPr/>
        </p:nvSpPr>
        <p:spPr>
          <a:xfrm>
            <a:off x="255270" y="303530"/>
            <a:ext cx="8522970" cy="123698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noAutofit/>
          </a:bodyPr>
          <a:lstStyle/>
          <a:p>
            <a:pPr indent="-286575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</a:rPr>
              <a:t>content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</a:rPr>
              <a:t> 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</a:rPr>
              <a:t>. /kənˈtent/ 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</a:rPr>
              <a:t>happy and satisfied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</a:rPr>
              <a:t>满足的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</a:rPr>
              <a:t> (not before noun)</a:t>
            </a:r>
          </a:p>
        </p:txBody>
      </p:sp>
      <p:sp>
        <p:nvSpPr>
          <p:cNvPr id="3" name="矩形 5"/>
          <p:cNvSpPr/>
          <p:nvPr/>
        </p:nvSpPr>
        <p:spPr>
          <a:xfrm>
            <a:off x="201295" y="1798955"/>
            <a:ext cx="8795385" cy="4225290"/>
          </a:xfrm>
          <a:prstGeom prst="rect">
            <a:avLst/>
          </a:prstGeom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909955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317625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72593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1336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90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048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505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9624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indent="-622300" eaLnBrk="1" fontAlgn="auto" hangingPunct="1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charset="0"/>
              </a:rPr>
              <a:t>He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charset="0"/>
              </a:rPr>
              <a:t>had to be content with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charset="0"/>
              </a:rPr>
              <a:t> third place.</a:t>
            </a:r>
          </a:p>
          <a:p>
            <a:pPr indent="-622300" eaLnBrk="1" fontAlgn="auto" hangingPunct="1">
              <a:lnSpc>
                <a:spcPct val="120000"/>
              </a:lnSpc>
            </a:pPr>
            <a:r>
              <a:rPr lang="en-US" sz="3200" b="1" u="sng" dirty="0">
                <a:solidFill>
                  <a:schemeClr val="tx1"/>
                </a:solidFill>
                <a:latin typeface="Times New Roman" panose="02020503050405090304" charset="0"/>
              </a:rPr>
              <a:t>只好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 charset="0"/>
              </a:rPr>
              <a:t>知足</a:t>
            </a:r>
          </a:p>
          <a:p>
            <a:pPr indent="-622300" eaLnBrk="1" fontAlgn="auto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</a:rPr>
              <a:t>learn to be content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</a:rPr>
              <a:t>学会知足</a:t>
            </a:r>
            <a:endParaRPr lang="en-US" sz="3200" b="1" dirty="0">
              <a:solidFill>
                <a:schemeClr val="tx1"/>
              </a:solidFill>
              <a:latin typeface="Times New Roman" panose="02020503050405090304" charset="0"/>
            </a:endParaRPr>
          </a:p>
          <a:p>
            <a:pPr indent="-622300" eaLnBrk="1" fontAlgn="auto" hangingPunct="1">
              <a:lnSpc>
                <a:spcPct val="120000"/>
              </a:lnSpc>
            </a:pPr>
            <a:endParaRPr lang="en-US" sz="3200" b="1" dirty="0">
              <a:solidFill>
                <a:schemeClr val="tx1"/>
              </a:solidFill>
              <a:latin typeface="Times New Roman" panose="02020503050405090304" charset="0"/>
            </a:endParaRPr>
          </a:p>
          <a:p>
            <a:pPr indent="-622300" eaLnBrk="1" fontAlgn="auto" hangingPunct="1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charset="0"/>
              </a:rPr>
              <a:t>contented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</a:rPr>
              <a:t>生活舒适而惬意</a:t>
            </a:r>
            <a:endParaRPr lang="en-US" sz="3200" b="1" dirty="0">
              <a:solidFill>
                <a:schemeClr val="tx1"/>
              </a:solidFill>
              <a:latin typeface="Times New Roman" panose="02020503050405090304" charset="0"/>
            </a:endParaRPr>
          </a:p>
          <a:p>
            <a:pPr indent="-622300" eaLnBrk="1" fontAlgn="auto" hangingPunct="1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charset="0"/>
              </a:rPr>
              <a:t>a long contented sigh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</a:rPr>
              <a:t>惬意的长叹</a:t>
            </a:r>
          </a:p>
          <a:p>
            <a:pPr indent="-622300" eaLnBrk="1" fontAlgn="auto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</a:rPr>
              <a:t>a contented baby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</a:rPr>
              <a:t>心满意足的小宝贝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ChangeArrowheads="1"/>
          </p:cNvSpPr>
          <p:nvPr/>
        </p:nvSpPr>
        <p:spPr bwMode="auto">
          <a:xfrm>
            <a:off x="201295" y="114300"/>
            <a:ext cx="8795385" cy="1671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1310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</a:rPr>
              <a:t>7. …your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</a:rPr>
              <a:t>individuality</a:t>
            </a:r>
            <a:r>
              <a:rPr lang="en-US" altLang="zh-CN" sz="3200" b="1" dirty="0">
                <a:latin typeface="Times New Roman" panose="02020503050405090304" charset="0"/>
              </a:rPr>
              <a:t>, our value to others, your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</a:rPr>
              <a:t>achievements</a:t>
            </a:r>
            <a:r>
              <a:rPr lang="en-US" altLang="zh-CN" sz="3200" b="1" dirty="0">
                <a:latin typeface="Times New Roman" panose="02020503050405090304" charset="0"/>
              </a:rPr>
              <a:t>… 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</a:rPr>
              <a:t>   </a:t>
            </a:r>
            <a:r>
              <a:rPr lang="zh-CN" altLang="en-US" sz="3200" b="1" dirty="0">
                <a:latin typeface="Times New Roman" panose="02020503050405090304" charset="0"/>
              </a:rPr>
              <a:t>你的个性、你对别人的价值、你的成就</a:t>
            </a:r>
            <a:r>
              <a:rPr lang="en-US" altLang="zh-CN" sz="3200" b="1" dirty="0">
                <a:latin typeface="Times New Roman" panose="02020503050405090304" charset="0"/>
              </a:rPr>
              <a:t>……</a:t>
            </a:r>
          </a:p>
        </p:txBody>
      </p:sp>
      <p:sp>
        <p:nvSpPr>
          <p:cNvPr id="103427" name="Rectangle 3"/>
          <p:cNvSpPr>
            <a:spLocks noChangeArrowheads="1"/>
          </p:cNvSpPr>
          <p:nvPr/>
        </p:nvSpPr>
        <p:spPr bwMode="auto">
          <a:xfrm>
            <a:off x="533400" y="3287237"/>
            <a:ext cx="8153400" cy="666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1310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</a:pPr>
            <a:endParaRPr lang="en-US" sz="3400">
              <a:latin typeface="Times New Roman" panose="0202050305040509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1295" y="2038350"/>
            <a:ext cx="8485505" cy="186309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865755" indent="-28657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</a:rPr>
              <a:t>achievement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</a:rPr>
              <a:t> 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</a:rPr>
              <a:t>.  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</a:rPr>
              <a:t>something important that you succeed in doing by your own efforts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</a:rPr>
              <a:t>成就；功业；伟绩</a:t>
            </a:r>
          </a:p>
        </p:txBody>
      </p:sp>
      <p:sp>
        <p:nvSpPr>
          <p:cNvPr id="6" name="矩形 5"/>
          <p:cNvSpPr/>
          <p:nvPr/>
        </p:nvSpPr>
        <p:spPr>
          <a:xfrm>
            <a:off x="330835" y="4330700"/>
            <a:ext cx="8552180" cy="1863090"/>
          </a:xfrm>
          <a:prstGeom prst="rect">
            <a:avLst/>
          </a:prstGeom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909955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317625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72593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1336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90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048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505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9624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indent="-622300" eaLnBrk="1" fontAlgn="auto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make an achievement in   </a:t>
            </a:r>
            <a:r>
              <a:rPr lang="zh-CN" altLang="en-US" sz="3200" b="1" dirty="0">
                <a:latin typeface="+mn-ea"/>
                <a:cs typeface="Times New Roman" panose="02020503050405090304" charset="0"/>
              </a:rPr>
              <a:t>在</a:t>
            </a:r>
            <a:r>
              <a:rPr lang="en-US" altLang="zh-CN" sz="3200" b="1" dirty="0">
                <a:latin typeface="+mn-ea"/>
                <a:cs typeface="Times New Roman" panose="02020503050405090304" charset="0"/>
              </a:rPr>
              <a:t>……</a:t>
            </a:r>
            <a:r>
              <a:rPr lang="zh-CN" altLang="en-US" sz="3200" b="1" dirty="0">
                <a:latin typeface="+mn-ea"/>
                <a:cs typeface="Times New Roman" panose="02020503050405090304" charset="0"/>
              </a:rPr>
              <a:t>方面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取得成就</a:t>
            </a:r>
          </a:p>
          <a:p>
            <a:pPr indent="-622300" eaLnBrk="1" fontAlgn="auto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</a:rPr>
              <a:t>In the last few years, China has made great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</a:rPr>
              <a:t>achievements</a:t>
            </a:r>
            <a:r>
              <a:rPr lang="en-US" altLang="zh-CN" sz="3200" b="1" dirty="0">
                <a:latin typeface="Times New Roman" panose="02020503050405090304" charset="0"/>
              </a:rPr>
              <a:t> in environmental protection.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04470" y="316230"/>
            <a:ext cx="8663305" cy="22332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cs typeface="Times New Roman" panose="02020503050405090304" charset="0"/>
                <a:sym typeface="Arial" panose="020B0604020202090204" pitchFamily="34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cs typeface="Times New Roman" panose="02020503050405090304" charset="0"/>
                <a:sym typeface="Arial" panose="020B0604020202090204" pitchFamily="34" charset="0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cs typeface="Times New Roman" panose="02020503050405090304" charset="0"/>
                <a:sym typeface="Arial" panose="020B0604020202090204" pitchFamily="34" charset="0"/>
              </a:rPr>
              <a:t>】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 achieve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达到，获得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通常指通过努力技巧、勇气等获得或做成某事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)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achieve success/one’s ambition/aim/balance</a:t>
            </a:r>
            <a:r>
              <a:rPr lang="en-US" altLang="zh-CN" sz="3200" b="1" dirty="0">
                <a:solidFill>
                  <a:srgbClr val="CC00FF"/>
                </a:solidFill>
                <a:latin typeface="Times New Roman" panose="02020503050405090304" charset="0"/>
                <a:cs typeface="Times New Roman" panose="02020503050405090304" charset="0"/>
              </a:rPr>
              <a:t>   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获得成功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(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实现抱负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)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，达成目的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/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取得平衡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6245" y="3429000"/>
            <a:ext cx="8430895" cy="2232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cs typeface="Times New Roman" panose="02020503050405090304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cs typeface="Times New Roman" panose="02020503050405090304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cs typeface="Times New Roman" panose="02020503050405090304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cs typeface="Times New Roman" panose="02020503050405090304" charset="0"/>
              </a:rPr>
              <a:t>语法填空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charset="0"/>
                <a:cs typeface="Times New Roman" panose="02020503050405090304" charset="0"/>
              </a:rPr>
              <a:t>First, you need to evaluate yourself, your values, your strengths, your weaknesses, your ______________ (achieve), your desires, etc.  (2019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全国卷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II</a:t>
            </a:r>
            <a:r>
              <a:rPr lang="en-US" sz="3200" b="1" dirty="0">
                <a:latin typeface="Times New Roman" panose="02020503050405090304" charset="0"/>
                <a:cs typeface="Times New Roman" panose="02020503050405090304" charset="0"/>
              </a:rPr>
              <a:t>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41582" y="5140997"/>
            <a:ext cx="3057792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achievements</a:t>
            </a:r>
            <a:endParaRPr lang="en-US" sz="3200" b="1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heme/theme1.xml><?xml version="1.0" encoding="utf-8"?>
<a:theme xmlns:a="http://schemas.openxmlformats.org/drawingml/2006/main" name="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1313</Words>
  <Application>Microsoft Macintosh PowerPoint</Application>
  <PresentationFormat>On-screen Show (4:3)</PresentationFormat>
  <Paragraphs>133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微软雅黑</vt:lpstr>
      <vt:lpstr>宋体</vt:lpstr>
      <vt:lpstr>Times New Roman Bold Italic</vt:lpstr>
      <vt:lpstr>Arial</vt:lpstr>
      <vt:lpstr>Calibri</vt:lpstr>
      <vt:lpstr>Calibri Light</vt:lpstr>
      <vt:lpstr>Times New Roman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367</cp:revision>
  <dcterms:created xsi:type="dcterms:W3CDTF">2023-11-23T23:31:35Z</dcterms:created>
  <dcterms:modified xsi:type="dcterms:W3CDTF">2026-07-22T12:45:08Z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1033-6.3.0.8471</vt:lpwstr>
  </property>
  <property fmtid="{D5CDD505-2E9C-101B-9397-08002B2CF9AE}" pid="3" name="ICV">
    <vt:lpwstr>0D7E5AB36C49F698A2C74865AD3C465A_42</vt:lpwstr>
  </property>
</Properties>
</file>