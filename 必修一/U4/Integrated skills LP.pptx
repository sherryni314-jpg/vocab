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17.xml" ContentType="application/vnd.openxmlformats-officedocument.presentationml.tags+xml"/>
  <Override PartName="/ppt/notesSlides/notesSlide1.xml" ContentType="application/vnd.openxmlformats-officedocument.presentationml.notesSlide+xml"/>
  <Override PartName="/ppt/tags/tag218.xml" ContentType="application/vnd.openxmlformats-officedocument.presentationml.tags+xml"/>
  <Override PartName="/ppt/notesSlides/notesSlide2.xml" ContentType="application/vnd.openxmlformats-officedocument.presentationml.notesSlide+xml"/>
  <Override PartName="/ppt/tags/tag219.xml" ContentType="application/vnd.openxmlformats-officedocument.presentationml.tags+xml"/>
  <Override PartName="/ppt/theme/themeOverride1.xml" ContentType="application/vnd.openxmlformats-officedocument.themeOverride+xml"/>
  <Override PartName="/ppt/tags/tag220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tags/tag221.xml" ContentType="application/vnd.openxmlformats-officedocument.presentationml.tags+xml"/>
  <Override PartName="/ppt/theme/themeOverride3.xml" ContentType="application/vnd.openxmlformats-officedocument.themeOverride+xml"/>
  <Override PartName="/ppt/tags/tag222.xml" ContentType="application/vnd.openxmlformats-officedocument.presentationml.tags+xml"/>
  <Override PartName="/ppt/theme/themeOverride4.xml" ContentType="application/vnd.openxmlformats-officedocument.themeOverride+xml"/>
  <Override PartName="/ppt/tags/tag223.xml" ContentType="application/vnd.openxmlformats-officedocument.presentationml.tags+xml"/>
  <Override PartName="/ppt/theme/themeOverride5.xml" ContentType="application/vnd.openxmlformats-officedocument.themeOverride+xml"/>
  <Override PartName="/ppt/tags/tag224.xml" ContentType="application/vnd.openxmlformats-officedocument.presentationml.tags+xml"/>
  <Override PartName="/ppt/theme/themeOverride6.xml" ContentType="application/vnd.openxmlformats-officedocument.themeOverride+xml"/>
  <Override PartName="/ppt/tags/tag225.xml" ContentType="application/vnd.openxmlformats-officedocument.presentationml.tags+xml"/>
  <Override PartName="/ppt/theme/themeOverride7.xml" ContentType="application/vnd.openxmlformats-officedocument.themeOverride+xml"/>
  <Override PartName="/ppt/tags/tag226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8.xml" ContentType="application/vnd.openxmlformats-officedocument.themeOverride+xml"/>
  <Override PartName="/ppt/tags/tag227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9.xml" ContentType="application/vnd.openxmlformats-officedocument.themeOverride+xml"/>
  <Override PartName="/ppt/tags/tag228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10.xml" ContentType="application/vnd.openxmlformats-officedocument.themeOverride+xml"/>
  <Override PartName="/ppt/tags/tag229.xml" ContentType="application/vnd.openxmlformats-officedocument.presentationml.tags+xml"/>
  <Override PartName="/ppt/theme/themeOverride11.xml" ContentType="application/vnd.openxmlformats-officedocument.themeOverride+xml"/>
  <Override PartName="/ppt/tags/tag230.xml" ContentType="application/vnd.openxmlformats-officedocument.presentationml.tags+xml"/>
  <Override PartName="/ppt/notesSlides/notesSlide7.xml" ContentType="application/vnd.openxmlformats-officedocument.presentationml.notesSlide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6" r:id="rId2"/>
  </p:sldMasterIdLst>
  <p:notesMasterIdLst>
    <p:notesMasterId r:id="rId20"/>
  </p:notesMasterIdLst>
  <p:handoutMasterIdLst>
    <p:handoutMasterId r:id="rId21"/>
  </p:handoutMasterIdLst>
  <p:sldIdLst>
    <p:sldId id="646" r:id="rId3"/>
    <p:sldId id="647" r:id="rId4"/>
    <p:sldId id="614" r:id="rId5"/>
    <p:sldId id="612" r:id="rId6"/>
    <p:sldId id="613" r:id="rId7"/>
    <p:sldId id="615" r:id="rId8"/>
    <p:sldId id="648" r:id="rId9"/>
    <p:sldId id="649" r:id="rId10"/>
    <p:sldId id="650" r:id="rId11"/>
    <p:sldId id="651" r:id="rId12"/>
    <p:sldId id="652" r:id="rId13"/>
    <p:sldId id="653" r:id="rId14"/>
    <p:sldId id="616" r:id="rId15"/>
    <p:sldId id="617" r:id="rId16"/>
    <p:sldId id="679" r:id="rId17"/>
    <p:sldId id="680" r:id="rId18"/>
    <p:sldId id="571" r:id="rId19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30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7BE"/>
    <a:srgbClr val="1D5FF3"/>
    <a:srgbClr val="DDE2E6"/>
    <a:srgbClr val="6289ED"/>
    <a:srgbClr val="B7C6EC"/>
    <a:srgbClr val="8876D4"/>
    <a:srgbClr val="D1DCF3"/>
    <a:srgbClr val="1D4B1C"/>
    <a:srgbClr val="FFE5D1"/>
    <a:srgbClr val="EFE4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1"/>
  </p:normalViewPr>
  <p:slideViewPr>
    <p:cSldViewPr showGuides="1">
      <p:cViewPr varScale="1">
        <p:scale>
          <a:sx n="103" d="100"/>
          <a:sy n="103" d="100"/>
        </p:scale>
        <p:origin x="1784" y="168"/>
      </p:cViewPr>
      <p:guideLst>
        <p:guide orient="horz" pos="2114"/>
        <p:guide pos="30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90204" pitchFamily="34" charset="0"/>
                <a:ea typeface="宋体" pitchFamily="2" charset="-122"/>
                <a:cs typeface="+mn-cs"/>
              </a:rPr>
              <a:t>2026/7/22</a:t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/>
              <a:t>cosmetic </a:t>
            </a:r>
            <a:r>
              <a:rPr lang="zh-CN" altLang="en-US"/>
              <a:t>表面的</a:t>
            </a:r>
          </a:p>
          <a:p>
            <a:r>
              <a:rPr lang="en-US" altLang="zh-CN"/>
              <a:t>toxic friend = frenemy</a:t>
            </a:r>
          </a:p>
          <a:p>
            <a:r>
              <a:rPr lang="en-US" altLang="zh-CN"/>
              <a:t>fair-weather friend </a:t>
            </a:r>
            <a:r>
              <a:rPr lang="zh-CN" altLang="en-US"/>
              <a:t>酒肉朋友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/>
              <a:t>cosmetic </a:t>
            </a:r>
            <a:r>
              <a:rPr lang="zh-CN" altLang="en-US"/>
              <a:t>表面的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/>
              <a:t>eye-catching </a:t>
            </a:r>
            <a:r>
              <a:rPr lang="zh-CN" altLang="en-US"/>
              <a:t>惹人注目的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/>
              <a:t>trick or treat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需要手术治疗</a:t>
            </a:r>
            <a:r>
              <a:rPr lang="en-US" altLang="zh-CN"/>
              <a:t> require surgical treatment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需要手术治疗</a:t>
            </a:r>
            <a:r>
              <a:rPr lang="en-US" altLang="zh-CN"/>
              <a:t> require surgical treatment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/>
              <a:t>food additives </a:t>
            </a:r>
            <a:r>
              <a:rPr lang="zh-CN" altLang="en-US"/>
              <a:t>食品添加剂</a:t>
            </a:r>
            <a:r>
              <a:rPr lang="en-US" altLang="zh-CN"/>
              <a:t>/ additive-free baby food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image" Target="../media/image1.jpe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3" Type="http://schemas.openxmlformats.org/officeDocument/2006/relationships/tags" Target="../tags/tag32.xml"/><Relationship Id="rId21" Type="http://schemas.openxmlformats.org/officeDocument/2006/relationships/image" Target="../media/image1.jpeg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9.xml"/><Relationship Id="rId9" Type="http://schemas.openxmlformats.org/officeDocument/2006/relationships/tags" Target="../tags/tag64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image" Target="../media/image1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2" Type="http://schemas.openxmlformats.org/officeDocument/2006/relationships/tags" Target="../tags/tag94.xml"/><Relationship Id="rId16" Type="http://schemas.openxmlformats.org/officeDocument/2006/relationships/image" Target="../media/image1.jpeg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43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15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5.xml"/><Relationship Id="rId4" Type="http://schemas.openxmlformats.org/officeDocument/2006/relationships/tags" Target="../tags/tag16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70.xml"/><Relationship Id="rId4" Type="http://schemas.openxmlformats.org/officeDocument/2006/relationships/tags" Target="../tags/tag16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75.xml"/><Relationship Id="rId4" Type="http://schemas.openxmlformats.org/officeDocument/2006/relationships/tags" Target="../tags/tag17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9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9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4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9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1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6.xml"/><Relationship Id="rId4" Type="http://schemas.openxmlformats.org/officeDocument/2006/relationships/tags" Target="../tags/tag2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BE9E7"/>
          </a:solidFill>
        </p:spPr>
      </p:pic>
      <p:sp>
        <p:nvSpPr>
          <p:cNvPr id="8" name="弧形 7"/>
          <p:cNvSpPr/>
          <p:nvPr>
            <p:custDataLst>
              <p:tags r:id="rId2"/>
            </p:custDataLst>
          </p:nvPr>
        </p:nvSpPr>
        <p:spPr>
          <a:xfrm rot="4293626">
            <a:off x="6001313" y="1655160"/>
            <a:ext cx="2198913" cy="2931884"/>
          </a:xfrm>
          <a:prstGeom prst="arc">
            <a:avLst>
              <a:gd name="adj1" fmla="val 16200000"/>
              <a:gd name="adj2" fmla="val 9161869"/>
            </a:avLst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 flipV="1">
            <a:off x="5709999" y="4347881"/>
            <a:ext cx="345381" cy="493243"/>
          </a:xfrm>
          <a:prstGeom prst="line">
            <a:avLst/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055380" y="4180808"/>
            <a:ext cx="125305" cy="167073"/>
          </a:xfrm>
          <a:prstGeom prst="ellipse">
            <a:avLst/>
          </a:prstGeom>
          <a:noFill/>
          <a:ln w="28575">
            <a:solidFill>
              <a:srgbClr val="576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V="1">
            <a:off x="5728795" y="3234360"/>
            <a:ext cx="533339" cy="711118"/>
          </a:xfrm>
          <a:prstGeom prst="line">
            <a:avLst/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689707" y="1428968"/>
            <a:ext cx="198120" cy="12319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00" dirty="0">
                <a:solidFill>
                  <a:schemeClr val="accent1"/>
                </a:solidFill>
                <a:latin typeface="TypeLand 康熙字典體 Trial" panose="020B0502000000000001" pitchFamily="34" charset="-122"/>
                <a:ea typeface="TypeLand 康熙字典體 Trial" panose="020B0502000000000001" pitchFamily="34" charset="-122"/>
              </a:rPr>
              <a:t>HELLO</a:t>
            </a:r>
            <a:endParaRPr lang="zh-CN" altLang="en-US" sz="100" dirty="0">
              <a:solidFill>
                <a:schemeClr val="accent1"/>
              </a:solidFill>
              <a:latin typeface="TypeLand 康熙字典體 Trial" panose="020B0502000000000001" pitchFamily="34" charset="-122"/>
              <a:ea typeface="TypeLand 康熙字典體 Trial" panose="020B0502000000000001" pitchFamily="34" charset="-122"/>
            </a:endParaRPr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322295" y="1919885"/>
            <a:ext cx="125305" cy="167073"/>
          </a:xfrm>
          <a:prstGeom prst="ellipse">
            <a:avLst/>
          </a:prstGeom>
          <a:noFill/>
          <a:ln w="28575">
            <a:solidFill>
              <a:srgbClr val="576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 flipV="1">
            <a:off x="7725603" y="1889793"/>
            <a:ext cx="533339" cy="711118"/>
          </a:xfrm>
          <a:prstGeom prst="line">
            <a:avLst/>
          </a:prstGeom>
          <a:ln w="19050">
            <a:solidFill>
              <a:srgbClr val="5765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8045171" y="2439346"/>
            <a:ext cx="125305" cy="167073"/>
          </a:xfrm>
          <a:prstGeom prst="ellipse">
            <a:avLst/>
          </a:prstGeom>
          <a:noFill/>
          <a:ln w="28575">
            <a:solidFill>
              <a:srgbClr val="5765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1580617" y="1356211"/>
            <a:ext cx="4256723" cy="1266190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4950" b="1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5457826" y="5193376"/>
            <a:ext cx="1603775" cy="588339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5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7183041" y="5179415"/>
            <a:ext cx="1603775" cy="60230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buNone/>
              <a:defRPr sz="1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6366227" y="1574383"/>
            <a:ext cx="1384994" cy="2510155"/>
          </a:xfrm>
          <a:prstGeom prst="rect">
            <a:avLst/>
          </a:prstGeom>
          <a:noFill/>
        </p:spPr>
        <p:txBody>
          <a:bodyPr vert="eaVert" wrap="square" rtlCol="0">
            <a:normAutofit lnSpcReduction="10000"/>
          </a:bodyPr>
          <a:lstStyle/>
          <a:p>
            <a:pPr algn="dist"/>
            <a:r>
              <a:rPr lang="zh-CN" altLang="en-US" sz="40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你好</a:t>
            </a:r>
          </a:p>
          <a:p>
            <a:pPr algn="dist"/>
            <a:r>
              <a:rPr lang="zh-CN" altLang="en-US" sz="4050" dirty="0">
                <a:solidFill>
                  <a:schemeClr val="accent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  </a:t>
            </a:r>
            <a:r>
              <a:rPr lang="zh-CN" altLang="en-US" sz="405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岁</a:t>
            </a:r>
            <a:r>
              <a:rPr lang="zh-CN" altLang="en-US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月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ïṣlïḋê"/>
          <p:cNvSpPr/>
          <p:nvPr>
            <p:custDataLst>
              <p:tags r:id="rId2"/>
            </p:custDataLst>
          </p:nvPr>
        </p:nvSpPr>
        <p:spPr>
          <a:xfrm>
            <a:off x="670766" y="798289"/>
            <a:ext cx="7802470" cy="535577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5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rmAutofit/>
          </a:bodyPr>
          <a:lstStyle/>
          <a:p>
            <a:pPr algn="ctr"/>
            <a:endParaRPr lang="zh-CN" altLang="en-US" sz="100" dirty="0">
              <a:latin typeface="字魂36号-孙新恒宋楷体" panose="02000000000000000000" pitchFamily="2" charset="-122"/>
              <a:ea typeface="字魂36号-孙新恒宋楷体" panose="02000000000000000000" pitchFamily="2" charset="-122"/>
              <a:sym typeface="字魂36号-孙新恒宋楷体" panose="02000000000000000000" pitchFamily="2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5983322" y="2916613"/>
            <a:ext cx="2345634" cy="3139996"/>
            <a:chOff x="7656030" y="829721"/>
            <a:chExt cx="3398590" cy="3412156"/>
          </a:xfrm>
        </p:grpSpPr>
        <p:sp>
          <p:nvSpPr>
            <p:cNvPr id="10" name="弧形 9"/>
            <p:cNvSpPr/>
            <p:nvPr>
              <p:custDataLst>
                <p:tags r:id="rId12"/>
              </p:custDataLst>
            </p:nvPr>
          </p:nvSpPr>
          <p:spPr>
            <a:xfrm rot="4293626">
              <a:off x="8044449" y="1055913"/>
              <a:ext cx="2931884" cy="2931884"/>
            </a:xfrm>
            <a:prstGeom prst="arc">
              <a:avLst>
                <a:gd name="adj1" fmla="val 16200000"/>
                <a:gd name="adj2" fmla="val 9161869"/>
              </a:avLst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1" name="直接连接符 10"/>
            <p:cNvCxnSpPr/>
            <p:nvPr>
              <p:custDataLst>
                <p:tags r:id="rId13"/>
              </p:custDataLst>
            </p:nvPr>
          </p:nvCxnSpPr>
          <p:spPr>
            <a:xfrm flipV="1">
              <a:off x="7656030" y="3748634"/>
              <a:ext cx="460508" cy="493243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>
              <p:custDataLst>
                <p:tags r:id="rId14"/>
              </p:custDataLst>
            </p:nvPr>
          </p:nvSpPr>
          <p:spPr>
            <a:xfrm>
              <a:off x="8116538" y="3581561"/>
              <a:ext cx="167073" cy="16707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3" name="直接连接符 12"/>
            <p:cNvCxnSpPr/>
            <p:nvPr>
              <p:custDataLst>
                <p:tags r:id="rId15"/>
              </p:custDataLst>
            </p:nvPr>
          </p:nvCxnSpPr>
          <p:spPr>
            <a:xfrm flipV="1">
              <a:off x="7681091" y="2635113"/>
              <a:ext cx="711118" cy="711118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>
              <p:custDataLst>
                <p:tags r:id="rId16"/>
              </p:custDataLst>
            </p:nvPr>
          </p:nvSpPr>
          <p:spPr>
            <a:xfrm>
              <a:off x="8939412" y="829721"/>
              <a:ext cx="287056" cy="14421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sz="100" baseline="0" dirty="0">
                  <a:solidFill>
                    <a:srgbClr val="C4C815"/>
                  </a:solidFill>
                  <a:latin typeface="Arial" panose="020B0604020202090204" pitchFamily="34" charset="0"/>
                  <a:ea typeface="微软雅黑" panose="020B0503020204020204" charset="-122"/>
                </a:rPr>
                <a:t>HELLO</a:t>
              </a:r>
              <a:endParaRPr lang="zh-CN" altLang="en-US" sz="100" baseline="0" dirty="0">
                <a:solidFill>
                  <a:srgbClr val="C4C815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17"/>
              </p:custDataLst>
            </p:nvPr>
          </p:nvSpPr>
          <p:spPr>
            <a:xfrm>
              <a:off x="8472425" y="1320638"/>
              <a:ext cx="167073" cy="16707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6" name="直接连接符 15"/>
            <p:cNvCxnSpPr/>
            <p:nvPr>
              <p:custDataLst>
                <p:tags r:id="rId18"/>
              </p:custDataLst>
            </p:nvPr>
          </p:nvCxnSpPr>
          <p:spPr>
            <a:xfrm flipV="1">
              <a:off x="10343502" y="1290546"/>
              <a:ext cx="711118" cy="711118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>
              <p:custDataLst>
                <p:tags r:id="rId19"/>
              </p:custDataLst>
            </p:nvPr>
          </p:nvSpPr>
          <p:spPr>
            <a:xfrm>
              <a:off x="10769593" y="1840099"/>
              <a:ext cx="167073" cy="16707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</p:grpSp>
      <p:sp>
        <p:nvSpPr>
          <p:cNvPr id="18" name="椭圆 17"/>
          <p:cNvSpPr/>
          <p:nvPr>
            <p:custDataLst>
              <p:tags r:id="rId4"/>
            </p:custDataLst>
          </p:nvPr>
        </p:nvSpPr>
        <p:spPr>
          <a:xfrm>
            <a:off x="1018871" y="1320309"/>
            <a:ext cx="846941" cy="11292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693364" y="1553695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874045" y="2806700"/>
            <a:ext cx="3438513" cy="671648"/>
          </a:xfrm>
        </p:spPr>
        <p:txBody>
          <a:bodyPr lIns="101600" tIns="38100" rIns="63500" bIns="38100" anchor="ctr" anchorCtr="0">
            <a:normAutofit/>
          </a:bodyPr>
          <a:lstStyle>
            <a:lvl1pPr algn="l">
              <a:defRPr sz="27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1874045" y="3543301"/>
            <a:ext cx="3441405" cy="1867258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500" b="0" i="0" u="none" strike="noStrike" kern="1200" cap="none" spc="15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6511007" y="3036379"/>
            <a:ext cx="1384994" cy="2510155"/>
          </a:xfrm>
          <a:prstGeom prst="rect">
            <a:avLst/>
          </a:prstGeom>
          <a:noFill/>
        </p:spPr>
        <p:txBody>
          <a:bodyPr vert="eaVert" wrap="square" rtlCol="0">
            <a:normAutofit lnSpcReduction="10000"/>
          </a:bodyPr>
          <a:lstStyle/>
          <a:p>
            <a:pPr algn="dist"/>
            <a:r>
              <a:rPr lang="zh-CN" altLang="en-US" sz="40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你好</a:t>
            </a:r>
          </a:p>
          <a:p>
            <a:pPr algn="dist"/>
            <a:r>
              <a:rPr lang="zh-CN" altLang="en-US" sz="4050" dirty="0">
                <a:solidFill>
                  <a:schemeClr val="accent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  </a:t>
            </a:r>
            <a:r>
              <a:rPr lang="zh-CN" altLang="en-US" sz="405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</a:rPr>
              <a:t> </a:t>
            </a:r>
            <a:r>
              <a:rPr lang="zh-CN" altLang="en-US" sz="40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岁</a:t>
            </a:r>
            <a:r>
              <a:rPr lang="zh-CN" altLang="en-US" sz="30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  <a:cs typeface="汉仪旗黑-85S" panose="00020600040101010101" pitchFamily="18" charset="-122"/>
              </a:rPr>
              <a:t>月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899886"/>
            <a:ext cx="293915" cy="319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559201" y="1601246"/>
            <a:ext cx="387857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1"/>
            </p:custDataLst>
          </p:nvPr>
        </p:nvSpPr>
        <p:spPr>
          <a:xfrm>
            <a:off x="216535" y="273050"/>
            <a:ext cx="8712200" cy="63119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1"/>
            </p:custDataLst>
          </p:nvPr>
        </p:nvSpPr>
        <p:spPr>
          <a:xfrm>
            <a:off x="216535" y="273050"/>
            <a:ext cx="8712200" cy="63119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FBE9E7"/>
          </a:solidFill>
        </p:spPr>
      </p:pic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5043791" y="973455"/>
            <a:ext cx="3238567" cy="4334186"/>
            <a:chOff x="11989" y="1497"/>
            <a:chExt cx="5353" cy="5373"/>
          </a:xfrm>
        </p:grpSpPr>
        <p:sp>
          <p:nvSpPr>
            <p:cNvPr id="7" name="弧形 6"/>
            <p:cNvSpPr/>
            <p:nvPr userDrawn="1">
              <p:custDataLst>
                <p:tags r:id="rId7"/>
              </p:custDataLst>
            </p:nvPr>
          </p:nvSpPr>
          <p:spPr>
            <a:xfrm rot="4293626">
              <a:off x="12601" y="1853"/>
              <a:ext cx="4617" cy="4617"/>
            </a:xfrm>
            <a:prstGeom prst="arc">
              <a:avLst>
                <a:gd name="adj1" fmla="val 16200000"/>
                <a:gd name="adj2" fmla="val 9161869"/>
              </a:avLst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cxnSp>
          <p:nvCxnSpPr>
            <p:cNvPr id="8" name="直接连接符 7"/>
            <p:cNvCxnSpPr/>
            <p:nvPr userDrawn="1">
              <p:custDataLst>
                <p:tags r:id="rId8"/>
              </p:custDataLst>
            </p:nvPr>
          </p:nvCxnSpPr>
          <p:spPr>
            <a:xfrm flipV="1">
              <a:off x="11989" y="6093"/>
              <a:ext cx="725" cy="777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 userDrawn="1">
              <p:custDataLst>
                <p:tags r:id="rId9"/>
              </p:custDataLst>
            </p:nvPr>
          </p:nvSpPr>
          <p:spPr>
            <a:xfrm>
              <a:off x="12715" y="5830"/>
              <a:ext cx="263" cy="26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0" name="直接连接符 9"/>
            <p:cNvCxnSpPr/>
            <p:nvPr userDrawn="1">
              <p:custDataLst>
                <p:tags r:id="rId10"/>
              </p:custDataLst>
            </p:nvPr>
          </p:nvCxnSpPr>
          <p:spPr>
            <a:xfrm flipV="1">
              <a:off x="12029" y="4340"/>
              <a:ext cx="1120" cy="1120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 userDrawn="1">
              <p:custDataLst>
                <p:tags r:id="rId11"/>
              </p:custDataLst>
            </p:nvPr>
          </p:nvSpPr>
          <p:spPr>
            <a:xfrm>
              <a:off x="13891" y="1497"/>
              <a:ext cx="572" cy="1435"/>
            </a:xfrm>
            <a:prstGeom prst="rect">
              <a:avLst/>
            </a:prstGeom>
            <a:noFill/>
          </p:spPr>
          <p:txBody>
            <a:bodyPr vert="eaVert" wrap="square" rtlCol="0">
              <a:normAutofit/>
            </a:bodyPr>
            <a:lstStyle/>
            <a:p>
              <a:r>
                <a:rPr lang="en-US" altLang="zh-CN" sz="100" baseline="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3020204020204" charset="-122"/>
                </a:rPr>
                <a:t>HELLO</a:t>
              </a:r>
              <a:endParaRPr lang="zh-CN" altLang="en-US" sz="100" baseline="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sp>
          <p:nvSpPr>
            <p:cNvPr id="12" name="椭圆 11"/>
            <p:cNvSpPr/>
            <p:nvPr userDrawn="1">
              <p:custDataLst>
                <p:tags r:id="rId12"/>
              </p:custDataLst>
            </p:nvPr>
          </p:nvSpPr>
          <p:spPr>
            <a:xfrm>
              <a:off x="13275" y="2270"/>
              <a:ext cx="263" cy="26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cxnSp>
          <p:nvCxnSpPr>
            <p:cNvPr id="13" name="直接连接符 12"/>
            <p:cNvCxnSpPr/>
            <p:nvPr userDrawn="1">
              <p:custDataLst>
                <p:tags r:id="rId13"/>
              </p:custDataLst>
            </p:nvPr>
          </p:nvCxnSpPr>
          <p:spPr>
            <a:xfrm flipV="1">
              <a:off x="16222" y="2222"/>
              <a:ext cx="1120" cy="1120"/>
            </a:xfrm>
            <a:prstGeom prst="line">
              <a:avLst/>
            </a:prstGeom>
            <a:ln w="19050">
              <a:solidFill>
                <a:srgbClr val="576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/>
            <p:cNvSpPr/>
            <p:nvPr userDrawn="1">
              <p:custDataLst>
                <p:tags r:id="rId14"/>
              </p:custDataLst>
            </p:nvPr>
          </p:nvSpPr>
          <p:spPr>
            <a:xfrm>
              <a:off x="16893" y="3088"/>
              <a:ext cx="263" cy="263"/>
            </a:xfrm>
            <a:prstGeom prst="ellipse">
              <a:avLst/>
            </a:prstGeom>
            <a:noFill/>
            <a:ln w="28575">
              <a:solidFill>
                <a:srgbClr val="5765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25453" y="1953260"/>
            <a:ext cx="2523173" cy="2829560"/>
          </a:xfrm>
        </p:spPr>
        <p:txBody>
          <a:bodyPr vert="horz" lIns="101600" tIns="38100" rIns="254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</a:t>
            </a:r>
            <a:br>
              <a:rPr dirty="0">
                <a:sym typeface="+mn-ea"/>
              </a:rPr>
            </a:b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16218" y="273050"/>
            <a:ext cx="8712041" cy="63119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>
            <a:normAutofit/>
          </a:bodyPr>
          <a:lstStyle>
            <a:lvl1pPr>
              <a:defRPr sz="240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960835" y="2163600"/>
            <a:ext cx="7219950" cy="3445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-26670" y="-4445"/>
            <a:ext cx="3780949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 dirty="0"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43283" y="350527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>
            <a:normAutofit/>
          </a:bodyPr>
          <a:lstStyle>
            <a:lvl1pPr>
              <a:defRPr sz="270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1764000"/>
            <a:ext cx="2967300" cy="4093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81914" y="770255"/>
            <a:ext cx="4803934" cy="508762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>
            <a:normAutofit/>
          </a:bodyPr>
          <a:lstStyle>
            <a:lvl1pPr algn="ctr">
              <a:defRPr sz="270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59000" y="1659600"/>
            <a:ext cx="8231981" cy="828000"/>
          </a:xfrm>
        </p:spPr>
        <p:txBody>
          <a:bodyPr>
            <a:normAutofit/>
          </a:bodyPr>
          <a:lstStyle>
            <a:lvl1pPr algn="ctr">
              <a:defRPr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459581" y="2808000"/>
            <a:ext cx="8224200" cy="34308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858" y="5039996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>
            <a:normAutofit/>
          </a:bodyPr>
          <a:lstStyle>
            <a:lvl1pPr algn="ctr">
              <a:defRPr sz="240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453628" y="1681200"/>
            <a:ext cx="8243100" cy="3211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445500" y="5180400"/>
            <a:ext cx="8251200" cy="1011600"/>
          </a:xfrm>
        </p:spPr>
        <p:txBody>
          <a:bodyPr>
            <a:normAutofit/>
          </a:bodyPr>
          <a:lstStyle>
            <a:lvl1pPr marL="0" indent="0">
              <a:buNone/>
              <a:defRPr sz="135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127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43283" y="132814"/>
            <a:ext cx="87215" cy="62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37600"/>
            <a:ext cx="8278200" cy="441964"/>
          </a:xfrm>
        </p:spPr>
        <p:txBody>
          <a:bodyPr>
            <a:normAutofit/>
          </a:bodyPr>
          <a:lstStyle>
            <a:lvl1pPr>
              <a:defRPr sz="210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1663200"/>
            <a:ext cx="4006800" cy="28944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1663200"/>
            <a:ext cx="4025700" cy="28944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816800"/>
            <a:ext cx="4006800" cy="781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813200"/>
            <a:ext cx="4025700" cy="781200"/>
          </a:xfrm>
        </p:spPr>
        <p:txBody>
          <a:bodyPr>
            <a:normAutofit/>
          </a:bodyPr>
          <a:lstStyle>
            <a:lvl1pPr>
              <a:defRPr sz="105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8589"/>
            <a:ext cx="9144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>
            <a:normAutofit/>
          </a:bodyPr>
          <a:lstStyle>
            <a:lvl1pPr algn="ctr">
              <a:defRPr sz="4500"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59807" y="6349833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6349833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49833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41810" y="3862800"/>
            <a:ext cx="6858000" cy="1656000"/>
          </a:xfrm>
        </p:spPr>
        <p:txBody>
          <a:bodyPr>
            <a:normAutofit/>
          </a:bodyPr>
          <a:lstStyle>
            <a:lvl1pPr algn="ctr">
              <a:defRPr baseline="0"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ags" Target="../tags/tag155.xml"/><Relationship Id="rId18" Type="http://schemas.openxmlformats.org/officeDocument/2006/relationships/tags" Target="../tags/tag160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17" Type="http://schemas.openxmlformats.org/officeDocument/2006/relationships/tags" Target="../tags/tag159.xml"/><Relationship Id="rId2" Type="http://schemas.openxmlformats.org/officeDocument/2006/relationships/slideLayout" Target="../slideLayouts/slideLayout20.xml"/><Relationship Id="rId16" Type="http://schemas.openxmlformats.org/officeDocument/2006/relationships/tags" Target="../tags/tag15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ags" Target="../tags/tag157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ags" Target="../tags/tag1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952508"/>
            <a:ext cx="8139178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6300" y="608400"/>
            <a:ext cx="82269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6300" y="1515600"/>
            <a:ext cx="82269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0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1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3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4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5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6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7.xml"/><Relationship Id="rId1" Type="http://schemas.openxmlformats.org/officeDocument/2006/relationships/themeOverride" Target="../theme/themeOverride8.xml"/><Relationship Id="rId4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8.xml"/><Relationship Id="rId1" Type="http://schemas.openxmlformats.org/officeDocument/2006/relationships/themeOverride" Target="../theme/themeOverride9.xml"/><Relationship Id="rId4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29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30.xml"/><Relationship Id="rId1" Type="http://schemas.openxmlformats.org/officeDocument/2006/relationships/themeOverride" Target="../theme/themeOverride11.xml"/><Relationship Id="rId4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343" y="188867"/>
            <a:ext cx="8632371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plastic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u</a:t>
            </a:r>
            <a:r>
              <a:rPr lang="en-US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塑料，塑胶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塑料的；可塑的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plastic surgery/cosmetic surgery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the medical practice of changing the appearance of people’s faces or bodies, either to </a:t>
            </a:r>
            <a:r>
              <a:rPr lang="en-US" sz="3200" b="1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improve their appearance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or to </a:t>
            </a:r>
            <a:r>
              <a:rPr lang="en-US" sz="3200" b="1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repair injuries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整形外科，整容手术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由塑料制的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made of plastic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plastic bags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塑料袋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plastic smile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做作的笑容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733" y="333012"/>
            <a:ext cx="8632371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surgery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u</a:t>
            </a:r>
            <a:r>
              <a:rPr lang="en-US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外科手术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have/get/undergo/receive surgery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接受手术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surgeon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外科医生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perform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surgical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procedures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进行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外科手术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705" y="188595"/>
            <a:ext cx="8869680" cy="233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...Mr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Wilson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caught in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horrible campus fire, and his skin was badly burnt. </a:t>
            </a:r>
          </a:p>
          <a:p>
            <a:pPr indent="-446405">
              <a:lnSpc>
                <a:spcPct val="114000"/>
              </a:lnSpc>
            </a:pP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去年一月，威尔逊先生</a:t>
            </a:r>
            <a:r>
              <a:rPr lang="zh-CN" altLang="en-US" sz="3200" b="1" u="sng" dirty="0">
                <a:solidFill>
                  <a:srgbClr val="1D5FF3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遭遇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了一场可怕的校园大火，皮肤严重烧伤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3215" y="2708910"/>
            <a:ext cx="8361045" cy="233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be/get caught in </a:t>
            </a:r>
            <a:r>
              <a:rPr lang="zh-CN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处于某困境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(find sb in a situation)</a:t>
            </a:r>
            <a:endParaRPr lang="zh-CN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zh-CN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来的路上我们遭遇了洪水。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got caught in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flood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on the way here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8440" y="1060195"/>
            <a:ext cx="5137331" cy="413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①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catch sb doing sth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② catch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by surprise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③ catch one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’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 eye/attention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④ catch sight of  </a:t>
            </a:r>
            <a:endParaRPr lang="zh-CN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⑤ catch one’s breath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⑥ 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catch up (with sb)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81113" y="1577472"/>
            <a:ext cx="435328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撞见某人在做某事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91999" y="2150042"/>
            <a:ext cx="280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使某人吃惊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90782" y="2736106"/>
            <a:ext cx="3654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引起某人的注意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48455" y="3319671"/>
            <a:ext cx="2948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忽然看见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148455" y="3912805"/>
            <a:ext cx="44583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歇口气，缓口气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48455" y="4551341"/>
            <a:ext cx="44583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赶上某人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；</a:t>
            </a:r>
            <a:r>
              <a:rPr lang="zh-CN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</a:p>
          <a:p>
            <a:r>
              <a:rPr lang="zh-CN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达到与某人相同的境界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18440" y="870856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en-US" sz="3200" b="1" dirty="0">
              <a:solidFill>
                <a:srgbClr val="0000FF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1700" y="306796"/>
            <a:ext cx="8649335" cy="5422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14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For the past year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he had to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live with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terrible burn marks on his face and body. </a:t>
            </a:r>
          </a:p>
          <a:p>
            <a:pPr marL="446405" indent="-446405">
              <a:lnSpc>
                <a:spcPct val="114000"/>
              </a:lnSpc>
            </a:pPr>
            <a:r>
              <a:rPr 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sz="28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在过去的一年里，他不得不</a:t>
            </a:r>
            <a:r>
              <a:rPr sz="2800" b="1" u="sng" dirty="0" err="1">
                <a:solidFill>
                  <a:srgbClr val="1D5FF3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忍受</a:t>
            </a:r>
            <a:r>
              <a:rPr sz="28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着脸上和身上可怕的烧伤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生活</a:t>
            </a:r>
            <a:r>
              <a:rPr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live with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接受或容忍某现象</a:t>
            </a:r>
            <a:endParaRPr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①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你得学会承受压力。</a:t>
            </a:r>
            <a:endParaRPr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②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他大半辈子都在忍受病痛。</a:t>
            </a:r>
            <a:endParaRPr 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has lived with his illness for most of his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life.</a:t>
            </a:r>
          </a:p>
        </p:txBody>
      </p:sp>
      <p:sp>
        <p:nvSpPr>
          <p:cNvPr id="3" name="矩形 2"/>
          <p:cNvSpPr/>
          <p:nvPr/>
        </p:nvSpPr>
        <p:spPr>
          <a:xfrm>
            <a:off x="729341" y="3349329"/>
            <a:ext cx="7772401" cy="653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have to learn to live with stress.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548640"/>
            <a:ext cx="843851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【拓展】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died ten years ago but her memory </a:t>
            </a:r>
            <a:r>
              <a:rPr sz="3200" b="1" u="sng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lives on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她十年前就去世了，但她还</a:t>
            </a:r>
            <a:r>
              <a:rPr lang="zh-CN" sz="3200" b="1" u="sng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继续存在</a:t>
            </a:r>
            <a:r>
              <a: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人们的记忆中。</a:t>
            </a:r>
          </a:p>
          <a:p>
            <a:pPr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You can't </a:t>
            </a:r>
            <a:r>
              <a:rPr sz="3200" b="1" u="sng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live on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forty pounds a week.</a:t>
            </a:r>
          </a:p>
          <a:p>
            <a:pPr>
              <a:lnSpc>
                <a:spcPct val="120000"/>
              </a:lnSpc>
            </a:pPr>
            <a:r>
              <a: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你</a:t>
            </a:r>
            <a:r>
              <a:rPr sz="3200" b="1" u="sng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靠</a:t>
            </a:r>
            <a:r>
              <a: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每周四十英镑没法</a:t>
            </a:r>
            <a:r>
              <a:rPr sz="3200" b="1" u="sng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过活</a:t>
            </a:r>
            <a:r>
              <a: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548640"/>
            <a:ext cx="843851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 burn marks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治疗烧伤疤痕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治疗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was treated for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sunstroke.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她因中暑而接受治疗。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condition is usually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treated with drugs and a strict diet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这种病通常用药物和严格控制饮食进行治疗。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700020" y="1779905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treat sb for sth with sth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548640"/>
            <a:ext cx="843851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 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对待</a:t>
            </a:r>
          </a:p>
          <a:p>
            <a:pPr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 people with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respect/consideration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/care...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对人尊敬、体谅、关爱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was treated as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 hero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他被当成英雄看待。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看待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decided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his remark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 joke.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我决定把他的话当作戏言。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87675" y="620395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treat sb with sth/as sth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548640"/>
            <a:ext cx="843851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4)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款待</a:t>
            </a: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treated him to lunch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她请他吃午饭。</a:t>
            </a:r>
          </a:p>
          <a:p>
            <a:pPr>
              <a:lnSpc>
                <a:spcPct val="120000"/>
              </a:lnSpc>
            </a:pPr>
            <a:endParaRPr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Don't worry about the cost—I'll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 you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别担心费用，我来替你付。</a:t>
            </a:r>
          </a:p>
          <a:p>
            <a:pPr>
              <a:lnSpc>
                <a:spcPct val="120000"/>
              </a:lnSpc>
            </a:pPr>
            <a:endParaRPr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I'm going to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 myself to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 new pair of shoes.</a:t>
            </a: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我打算给自己买双新鞋。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548640"/>
            <a:ext cx="843851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n. 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sth very pleasant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乐趣；款待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Let's go out for lunch—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my treat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(= I will pay).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咱们到外面去吃午餐，我请客。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took the kids to the zoo as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special treat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我们特地带孩子们到动物园去，让他们开心一下。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When I was young, chocolate was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treat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我年轻的时候，吃巧克力是一种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享受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430530"/>
            <a:ext cx="843851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treatment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1) n. 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sth done to cure an illness or injury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治疗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is responding well to treatment.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她经过治疗大有起色。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需要住院／药物治疗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require hospital/medical treatment</a:t>
            </a: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There are various treatment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available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this condition.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对这种病情有各种疗法。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430530"/>
            <a:ext cx="843851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treatment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2) n. 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 process by which sth is cleaned or protected against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处理，防治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There should be greater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treatment of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sewage before it is discharged.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污水排放之前应该进行更充分的处理。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treatment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3) n. 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 way of behaving towards or dealing with a person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对待，待遇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 don't want any special treatment.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我们不想要任何特殊待遇。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8858" y="168184"/>
            <a:ext cx="8773886" cy="261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>
              <a:lnSpc>
                <a:spcPct val="114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addition</a:t>
            </a: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Miss Edwards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says the surgery makes her look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unnatural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that she is unable to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certain facial expressions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446405">
              <a:lnSpc>
                <a:spcPct val="114000"/>
              </a:lnSpc>
            </a:pPr>
            <a:r>
              <a:rPr lang="zh-CN" altLang="en-US" sz="2800" b="1" u="sng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此外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，爱德华兹小姐说，手术使她看起来</a:t>
            </a:r>
            <a:r>
              <a:rPr lang="zh-CN" altLang="en-US" sz="2800" b="1" u="sng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不自然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，而且她无法</a:t>
            </a:r>
            <a:r>
              <a:rPr lang="zh-CN" altLang="en-US" sz="2800" b="1" u="sng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做出某些面部表情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7723" y="2780770"/>
            <a:ext cx="8044542" cy="121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addition = also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此外，另外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addition to 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除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外（还）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613" y="4004854"/>
            <a:ext cx="8773886" cy="261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14000"/>
              </a:lnSpc>
            </a:pP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Our school library provides a large variety of books. </a:t>
            </a:r>
          </a:p>
          <a:p>
            <a:pPr marL="446405" indent="-446405">
              <a:lnSpc>
                <a:spcPct val="114000"/>
              </a:lnSpc>
            </a:pP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此外，它的环境舒适。</a:t>
            </a: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marL="446405" indent="-446405">
              <a:lnSpc>
                <a:spcPct val="114000"/>
              </a:lnSpc>
            </a:pP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addition</a:t>
            </a: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it has a comfortable environment.</a:t>
            </a:r>
          </a:p>
          <a:p>
            <a:pPr marL="446405" indent="-44640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 his donation, Jack did lots of volunteer work for the community.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除了捐款，杰克还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 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4500" y="57130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2115" y="554482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addition to</a:t>
            </a:r>
            <a:endParaRPr lang="zh-CN" altLang="en-US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5" y="388637"/>
            <a:ext cx="8730343" cy="549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____________ </a:t>
            </a:r>
            <a:r>
              <a:rPr 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some picture books, we still need some storybooks.</a:t>
            </a:r>
          </a:p>
          <a:p>
            <a:pPr marL="358775" indent="-358775">
              <a:lnSpc>
                <a:spcPct val="114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My grandma gave us sandwiches for our picnic and a bag of cookies _____________.</a:t>
            </a:r>
          </a:p>
          <a:p>
            <a:pPr marL="446405" indent="-446405">
              <a:lnSpc>
                <a:spcPct val="114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He had no time to prepare this lecture</a:t>
            </a:r>
            <a:r>
              <a:rPr lang="en-US" sz="28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；</a:t>
            </a:r>
            <a:r>
              <a:rPr 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_____________, he was unwell.</a:t>
            </a:r>
          </a:p>
          <a:p>
            <a:pPr>
              <a:lnSpc>
                <a:spcPct val="114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4. He speaks French _____________ English.</a:t>
            </a:r>
          </a:p>
          <a:p>
            <a:pPr>
              <a:lnSpc>
                <a:spcPct val="114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 The latest ____________ reference books will be of great help to the students.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新</a:t>
            </a:r>
            <a:r>
              <a:rPr lang="zh-CN" altLang="en-US" sz="2800" b="1" u="sng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增加的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参考书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addition of sth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......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的增加</a:t>
            </a: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7142" y="463852"/>
            <a:ext cx="267893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addition to </a:t>
            </a:r>
          </a:p>
        </p:txBody>
      </p:sp>
      <p:sp>
        <p:nvSpPr>
          <p:cNvPr id="4" name="矩形 3"/>
          <p:cNvSpPr/>
          <p:nvPr/>
        </p:nvSpPr>
        <p:spPr>
          <a:xfrm>
            <a:off x="2983047" y="1864116"/>
            <a:ext cx="2085827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addition</a:t>
            </a:r>
          </a:p>
        </p:txBody>
      </p:sp>
      <p:sp>
        <p:nvSpPr>
          <p:cNvPr id="5" name="矩形 4"/>
          <p:cNvSpPr/>
          <p:nvPr/>
        </p:nvSpPr>
        <p:spPr>
          <a:xfrm>
            <a:off x="953060" y="2901568"/>
            <a:ext cx="218842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addition </a:t>
            </a:r>
          </a:p>
        </p:txBody>
      </p:sp>
      <p:sp>
        <p:nvSpPr>
          <p:cNvPr id="6" name="矩形 5"/>
          <p:cNvSpPr/>
          <p:nvPr/>
        </p:nvSpPr>
        <p:spPr>
          <a:xfrm>
            <a:off x="3500725" y="3371044"/>
            <a:ext cx="267788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addition to</a:t>
            </a:r>
          </a:p>
        </p:txBody>
      </p:sp>
      <p:sp>
        <p:nvSpPr>
          <p:cNvPr id="8" name="矩形 7"/>
          <p:cNvSpPr/>
          <p:nvPr/>
        </p:nvSpPr>
        <p:spPr>
          <a:xfrm>
            <a:off x="2267510" y="3861053"/>
            <a:ext cx="218842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addition of 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51460" y="260350"/>
            <a:ext cx="8892540" cy="4511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addition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增添物</a:t>
            </a:r>
          </a:p>
          <a:p>
            <a:pPr algn="l">
              <a:lnSpc>
                <a:spcPct val="114000"/>
              </a:lnSpc>
              <a:buClrTx/>
              <a:buSz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This is a fine book; </a:t>
            </a:r>
            <a:r>
              <a:rPr lang="en-US" altLang="zh-CN" sz="28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worthy </a:t>
            </a:r>
            <a:r>
              <a:rPr lang="en-US" altLang="zh-CN" sz="28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addition to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Cambridge Encyclopedia series.</a:t>
            </a:r>
          </a:p>
          <a:p>
            <a:pPr algn="l">
              <a:lnSpc>
                <a:spcPct val="114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这是一本好书，对剑桥百科全书系列是一个很好的补充。</a:t>
            </a:r>
          </a:p>
          <a:p>
            <a:pPr algn="l">
              <a:lnSpc>
                <a:spcPct val="114000"/>
              </a:lnSpc>
              <a:buClrTx/>
              <a:buSzTx/>
              <a:buFontTx/>
            </a:pPr>
            <a:endParaRPr lang="zh-CN" altLang="en-US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dd_____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</a:t>
            </a:r>
            <a:r>
              <a:rPr lang="en-US" altLang="zh-CN" sz="2800" b="1" i="1" dirty="0">
                <a:solidFill>
                  <a:srgbClr val="2747BE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添加剂</a:t>
            </a: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additional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2800" b="1" i="1" dirty="0">
                <a:solidFill>
                  <a:srgbClr val="2747BE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 </a:t>
            </a:r>
            <a:r>
              <a:rPr lang="en-US" altLang="zh-CN" sz="28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costs </a:t>
            </a:r>
            <a:r>
              <a:rPr lang="zh-CN" altLang="en-US" sz="28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额外的费用</a:t>
            </a:r>
            <a:endParaRPr lang="zh-CN" altLang="en-US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addition = ____________ </a:t>
            </a:r>
            <a:r>
              <a:rPr lang="en-US" altLang="zh-CN" sz="2800" b="1" i="1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adv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此外</a:t>
            </a:r>
            <a:endParaRPr lang="en-US" altLang="zh-CN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endParaRPr lang="zh-CN" altLang="en-US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7965" y="2709163"/>
            <a:ext cx="218842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itive(s) </a:t>
            </a:r>
          </a:p>
        </p:txBody>
      </p:sp>
      <p:sp>
        <p:nvSpPr>
          <p:cNvPr id="10" name="矩形 9"/>
          <p:cNvSpPr/>
          <p:nvPr/>
        </p:nvSpPr>
        <p:spPr>
          <a:xfrm>
            <a:off x="2412290" y="3716908"/>
            <a:ext cx="218842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additionally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51460" y="260350"/>
            <a:ext cx="8892540" cy="549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2800" b="1" i="1" dirty="0">
                <a:solidFill>
                  <a:srgbClr val="1D5FF3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vi. &amp; vt.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增加；加；补充说</a:t>
            </a:r>
            <a:endParaRPr lang="en-US" altLang="zh-CN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huge sports complex will </a:t>
            </a:r>
            <a:r>
              <a:rPr lang="en-US" altLang="zh-CN" sz="28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added to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city.</a:t>
            </a: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一个巨大的体育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综合体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将</a:t>
            </a:r>
            <a:r>
              <a:rPr lang="zh-CN" altLang="en-US" sz="2800" b="1" u="sng" dirty="0">
                <a:solidFill>
                  <a:srgbClr val="2747BE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新添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到城市中。</a:t>
            </a:r>
          </a:p>
          <a:p>
            <a:pPr>
              <a:lnSpc>
                <a:spcPct val="114000"/>
              </a:lnSpc>
            </a:pPr>
            <a:endParaRPr lang="en-US" altLang="zh-CN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 to sth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increase the size, number, amount, etc. </a:t>
            </a:r>
            <a:r>
              <a:rPr lang="zh-CN" altLang="en-US" sz="2800" b="1" dirty="0">
                <a:solidFill>
                  <a:srgbClr val="00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增加</a:t>
            </a:r>
            <a:endParaRPr lang="en-US" altLang="zh-CN" sz="28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This latest incident will </a:t>
            </a:r>
            <a:r>
              <a:rPr lang="en-US" altLang="zh-CN" sz="28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 to the pressure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on the government.</a:t>
            </a: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最近的这次事件将会给政府</a:t>
            </a:r>
            <a:r>
              <a:rPr lang="en-US" altLang="zh-CN" sz="2800" b="1" u="sng" dirty="0">
                <a:solidFill>
                  <a:srgbClr val="2747BE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增加压力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恶劣的天气增加了我们的困难。</a:t>
            </a:r>
          </a:p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bad weather added to our difficulties.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265" y="188595"/>
            <a:ext cx="894207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1. What is the structure of the news report?</a:t>
            </a:r>
          </a:p>
          <a:p>
            <a:endParaRPr 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endParaRPr 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2. </a:t>
            </a:r>
            <a:r>
              <a:rPr lang="en-US" sz="3200" b="1" spc="-60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Why do the doctors strongly advise against plastic surgery for teenagers?</a:t>
            </a:r>
          </a:p>
          <a:p>
            <a:endParaRPr lang="en-US" sz="3200" b="1" spc="-60">
              <a:solidFill>
                <a:schemeClr val="tx1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endParaRPr lang="en-US" sz="3200" b="1" spc="-40">
              <a:solidFill>
                <a:schemeClr val="tx1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endParaRPr 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3. As a news reporter, what is Alice’s attitude towards plastic surgery?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264795" y="620395"/>
            <a:ext cx="819721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Phenomenon→Advantages→Disadvantages→Advice</a:t>
            </a:r>
            <a:endParaRPr lang="en-US" altLang="zh-CN" sz="3200" b="1" i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1930" y="2708275"/>
            <a:ext cx="880046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Because their body are still growing, the results might not be what people expect.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8940" y="5156835"/>
            <a:ext cx="826071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spc="-5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</a:rPr>
              <a:t>It is important to weigh up all of the advantages and disadvantages. Think before you act.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4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f46a14a-5bed-49e3-8ae7-a823844b10fb"/>
  <p:tag name="COMMONDATA" val="eyJoZGlkIjoiNDcxZWEzNmM4YTgxYjEzMjI1NzAwNmRhMmFmYTU1Z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16"/>
  <p:tag name="KSO_WM_TEMPLATE_THUMBS_INDEX" val="1、4、6、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BK_DARK_LIGHT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9*i*1"/>
  <p:tag name="KSO_WM_UNIT_BK_DARK_LIGHT" val="2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0*i*1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6"/>
  <p:tag name="KSO_WM_SPECIAL_SOURCE" val="bdnull"/>
</p:tagLst>
</file>

<file path=ppt/theme/theme1.xml><?xml version="1.0" encoding="utf-8"?>
<a:theme xmlns:a="http://schemas.openxmlformats.org/drawingml/2006/main" name="12_Office 主题​​">
  <a:themeElements>
    <a:clrScheme name="自定义 49">
      <a:dk1>
        <a:srgbClr val="000000"/>
      </a:dk1>
      <a:lt1>
        <a:srgbClr val="FFFFFF"/>
      </a:lt1>
      <a:dk2>
        <a:srgbClr val="FCEAEA"/>
      </a:dk2>
      <a:lt2>
        <a:srgbClr val="FFFFFF"/>
      </a:lt2>
      <a:accent1>
        <a:srgbClr val="C4C40F"/>
      </a:accent1>
      <a:accent2>
        <a:srgbClr val="A2C246"/>
      </a:accent2>
      <a:accent3>
        <a:srgbClr val="83C061"/>
      </a:accent3>
      <a:accent4>
        <a:srgbClr val="69C783"/>
      </a:accent4>
      <a:accent5>
        <a:srgbClr val="50C6A2"/>
      </a:accent5>
      <a:accent6>
        <a:srgbClr val="41C9C5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8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9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0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1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</Words>
  <Application>Microsoft Macintosh PowerPoint</Application>
  <PresentationFormat>On-screen Show (4:3)</PresentationFormat>
  <Paragraphs>152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微软雅黑</vt:lpstr>
      <vt:lpstr>宋体</vt:lpstr>
      <vt:lpstr>Times New Roman Bold</vt:lpstr>
      <vt:lpstr>Times New Roman Bold Italic</vt:lpstr>
      <vt:lpstr>TypeLand 康熙字典體 Trial</vt:lpstr>
      <vt:lpstr>字魂36号-孙新恒宋楷体</vt:lpstr>
      <vt:lpstr>汉仪旗黑-85S</vt:lpstr>
      <vt:lpstr>Arial</vt:lpstr>
      <vt:lpstr>Calibri</vt:lpstr>
      <vt:lpstr>Times New Roman</vt:lpstr>
      <vt:lpstr>Wingdings</vt:lpstr>
      <vt:lpstr>12_Office 主题​​</vt:lpstr>
      <vt:lpstr>2_Office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zmp</dc:creator>
  <cp:lastModifiedBy>Qing NI</cp:lastModifiedBy>
  <cp:revision>184</cp:revision>
  <dcterms:created xsi:type="dcterms:W3CDTF">2023-11-17T00:43:38Z</dcterms:created>
  <dcterms:modified xsi:type="dcterms:W3CDTF">2026-07-22T12:44:17Z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1033-6.3.0.8471</vt:lpwstr>
  </property>
  <property fmtid="{D5CDD505-2E9C-101B-9397-08002B2CF9AE}" pid="3" name="ICV">
    <vt:lpwstr>B4DD9A6F586C428D886598CDC7207BB5</vt:lpwstr>
  </property>
</Properties>
</file>