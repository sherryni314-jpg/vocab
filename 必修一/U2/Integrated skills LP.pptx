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6.xml" ContentType="application/vnd.openxmlformats-officedocument.presentationml.tags+xml"/>
  <Override PartName="/ppt/notesSlides/notesSlide1.xml" ContentType="application/vnd.openxmlformats-officedocument.presentationml.notesSlide+xml"/>
  <Override PartName="/ppt/tags/tag17.xml" ContentType="application/vnd.openxmlformats-officedocument.presentationml.tags+xml"/>
  <Override PartName="/ppt/notesSlides/notesSlide2.xml" ContentType="application/vnd.openxmlformats-officedocument.presentationml.notesSlide+xml"/>
  <Override PartName="/ppt/tags/tag18.xml" ContentType="application/vnd.openxmlformats-officedocument.presentationml.tags+xml"/>
  <Override PartName="/ppt/notesSlides/notesSlide3.xml" ContentType="application/vnd.openxmlformats-officedocument.presentationml.notesSlide+xml"/>
  <Override PartName="/ppt/tags/tag19.xml" ContentType="application/vnd.openxmlformats-officedocument.presentationml.tags+xml"/>
  <Override PartName="/ppt/notesSlides/notesSlide4.xml" ContentType="application/vnd.openxmlformats-officedocument.presentationml.notesSlide+xml"/>
  <Override PartName="/ppt/tags/tag20.xml" ContentType="application/vnd.openxmlformats-officedocument.presentationml.tags+xml"/>
  <Override PartName="/ppt/notesSlides/notesSlide5.xml" ContentType="application/vnd.openxmlformats-officedocument.presentationml.notesSlide+xml"/>
  <Override PartName="/ppt/tags/tag21.xml" ContentType="application/vnd.openxmlformats-officedocument.presentationml.tags+xml"/>
  <Override PartName="/ppt/notesSlides/notesSlide6.xml" ContentType="application/vnd.openxmlformats-officedocument.presentationml.notesSlide+xml"/>
  <Override PartName="/ppt/tags/tag22.xml" ContentType="application/vnd.openxmlformats-officedocument.presentationml.tags+xml"/>
  <Override PartName="/ppt/notesSlides/notesSlide7.xml" ContentType="application/vnd.openxmlformats-officedocument.presentationml.notesSlide+xml"/>
  <Override PartName="/ppt/tags/tag23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522" r:id="rId2"/>
    <p:sldId id="523" r:id="rId3"/>
    <p:sldId id="529" r:id="rId4"/>
    <p:sldId id="524" r:id="rId5"/>
    <p:sldId id="531" r:id="rId6"/>
    <p:sldId id="555" r:id="rId7"/>
    <p:sldId id="532" r:id="rId8"/>
    <p:sldId id="533" r:id="rId9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93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1736" y="184"/>
      </p:cViewPr>
      <p:guideLst>
        <p:guide orient="horz" pos="2156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6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6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2026/7/22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6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6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AC49D05-6128-4D0D-A32A-06A5E73B386C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849F42C-2DAE-424C-A4B8-3140182C3E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push=press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push=press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push=press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push=press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2026/7/22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456300" y="1555200"/>
            <a:ext cx="38448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  <p:custDataLst>
              <p:tags r:id="rId2"/>
            </p:custDataLst>
          </p:nvPr>
        </p:nvSpPr>
        <p:spPr>
          <a:xfrm>
            <a:off x="4762800" y="1555200"/>
            <a:ext cx="39204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单击此处编辑文本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2026/7/22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456300" y="774000"/>
            <a:ext cx="8229600" cy="5482800"/>
          </a:xfrm>
        </p:spPr>
        <p:txBody>
          <a:bodyPr/>
          <a:lstStyle>
            <a:lvl1pPr marL="2286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11430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6002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20574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899100" y="2484000"/>
            <a:ext cx="73494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899100" y="3560400"/>
            <a:ext cx="73494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16840" y="-635"/>
            <a:ext cx="9027795" cy="6739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1. ... she keeps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pressing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me to study all the time.</a:t>
            </a:r>
            <a:endParaRPr lang="zh-CN" altLang="en-US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v.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强迫某人做某事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We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are pressed to make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a decision at once.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We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are pressed for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a decision at once.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Don't let yourself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be pressed into doing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something you don't like.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不要勉强自己做不喜欢的事情。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99060" y="76835"/>
            <a:ext cx="9045575" cy="5406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organization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pressed for international efforts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to protect wildlife habitats.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这个组织</a:t>
            </a:r>
            <a:r>
              <a:rPr lang="zh-CN" altLang="en-US" sz="3200" b="1" u="sng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不断要求通过国际协作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保护野生动物的栖息地。</a:t>
            </a:r>
          </a:p>
          <a:p>
            <a:pPr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press v.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to push sth closely and firmly against sth 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She pressed her face against the window.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她把脸贴在窗子上。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She pressed her lips together.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99060" y="76835"/>
            <a:ext cx="10436225" cy="5406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story was reported in </a:t>
            </a:r>
            <a:r>
              <a:rPr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press</a:t>
            </a:r>
            <a:r>
              <a:rPr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and on television.</a:t>
            </a:r>
          </a:p>
          <a:p>
            <a:pPr>
              <a:lnSpc>
                <a:spcPct val="120000"/>
              </a:lnSpc>
            </a:pPr>
            <a:r>
              <a:rPr sz="3200" b="1" dirty="0">
                <a:latin typeface="Times New Roman Bold" panose="02020503050405090304" charset="0"/>
                <a:cs typeface="Times New Roman Bold" panose="02020503050405090304" charset="0"/>
              </a:rPr>
              <a:t>这件事已在报刊和电视上报道了。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Press</a:t>
            </a:r>
            <a:r>
              <a:rPr 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 was/were not allowed to attend the trial.</a:t>
            </a:r>
          </a:p>
          <a:p>
            <a:pPr>
              <a:lnSpc>
                <a:spcPct val="120000"/>
              </a:lnSpc>
            </a:pPr>
            <a:r>
              <a:rPr 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庭审谢绝新闻采访。</a:t>
            </a:r>
            <a:endParaRPr sz="3200" b="1" dirty="0"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20000"/>
              </a:lnSpc>
            </a:pPr>
            <a:endParaRPr sz="3200" b="1" dirty="0"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新闻发布会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the press conference</a:t>
            </a:r>
          </a:p>
          <a:p>
            <a:pPr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pressure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n. stress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压力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0" y="0"/>
            <a:ext cx="9143365" cy="8242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2. I want to take a break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once in a while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我想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偶尔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休息一会儿。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while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n.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 a period of time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一段时间</a:t>
            </a:r>
          </a:p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synonyms: occasionally / sometimes / from time to time / at times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Everybody makes a mistake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once in a while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569710"/>
          </a:xfrm>
        </p:spPr>
        <p:txBody>
          <a:bodyPr/>
          <a:lstStyle/>
          <a:p>
            <a:pPr marL="0" indent="0">
              <a:buNone/>
            </a:pP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3. I wish they could be more </a:t>
            </a: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flexible </a:t>
            </a: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so that ...</a:t>
            </a:r>
          </a:p>
          <a:p>
            <a:pPr marL="0" indent="0">
              <a:buNone/>
            </a:pPr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</a:rPr>
              <a:t>能适应新情况</a:t>
            </a:r>
          </a:p>
          <a:p>
            <a:pPr marL="0" indent="0">
              <a:buNone/>
            </a:pPr>
            <a:r>
              <a:rPr lang="en-US" altLang="zh-CN" sz="3200" b="1" i="1">
                <a:latin typeface="Times New Roman Bold Italic" panose="02020503050405090304" charset="0"/>
                <a:cs typeface="Times New Roman Bold Italic" panose="02020503050405090304" charset="0"/>
              </a:rPr>
              <a:t>be able to change to suit new situations</a:t>
            </a:r>
          </a:p>
          <a:p>
            <a:pPr marL="0" indent="0">
              <a:buNone/>
            </a:pP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Our plans need to be </a:t>
            </a:r>
            <a:r>
              <a:rPr lang="en-US" altLang="zh-CN" sz="3200" b="1" u="sng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flexible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enough to cater for the needs of everyone.</a:t>
            </a:r>
          </a:p>
          <a:p>
            <a:pPr marL="0" indent="0">
              <a:buNone/>
            </a:pPr>
            <a:r>
              <a:rPr lang="en-US" altLang="zh-CN" sz="3200" b="1">
                <a:latin typeface="Times New Roman Bold Italic" panose="02020503050405090304" charset="0"/>
                <a:cs typeface="Times New Roman Bold Italic" panose="02020503050405090304" charset="0"/>
              </a:rPr>
              <a:t>我们的计划必须足够</a:t>
            </a:r>
            <a:r>
              <a:rPr lang="en-US" altLang="zh-CN" sz="3200" b="1" u="sng">
                <a:latin typeface="Times New Roman Bold Italic" panose="02020503050405090304" charset="0"/>
                <a:cs typeface="Times New Roman Bold Italic" panose="02020503050405090304" charset="0"/>
              </a:rPr>
              <a:t>变通</a:t>
            </a:r>
            <a:r>
              <a:rPr lang="en-US" altLang="zh-CN" sz="3200" b="1">
                <a:latin typeface="Times New Roman Bold Italic" panose="02020503050405090304" charset="0"/>
                <a:cs typeface="Times New Roman Bold Italic" panose="02020503050405090304" charset="0"/>
              </a:rPr>
              <a:t>，以满足每个人的需要</a:t>
            </a:r>
            <a:r>
              <a:rPr lang="en-US" altLang="zh-CN" sz="3200" b="1" i="1">
                <a:latin typeface="Times New Roman Bold Italic" panose="02020503050405090304" charset="0"/>
                <a:cs typeface="Times New Roman Bold Italic" panose="02020503050405090304" charset="0"/>
              </a:rPr>
              <a:t>。</a:t>
            </a:r>
          </a:p>
          <a:p>
            <a:pPr marL="0" indent="0">
              <a:buNone/>
            </a:pP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 more flexible approach</a:t>
            </a:r>
          </a:p>
          <a:p>
            <a:pPr marL="0" indent="0">
              <a:buNone/>
            </a:pPr>
            <a:r>
              <a:rPr lang="en-US" altLang="zh-CN" sz="3200" b="1">
                <a:latin typeface="Times New Roman Bold Italic" panose="02020503050405090304" charset="0"/>
                <a:cs typeface="Times New Roman Bold Italic" panose="02020503050405090304" charset="0"/>
              </a:rPr>
              <a:t>更灵活的方法</a:t>
            </a:r>
          </a:p>
          <a:p>
            <a:pPr marL="0" indent="0">
              <a:buNone/>
            </a:pP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flexible working hours</a:t>
            </a:r>
          </a:p>
          <a:p>
            <a:pPr marL="0" indent="0">
              <a:buNone/>
            </a:pPr>
            <a:r>
              <a:rPr lang="en-US" altLang="zh-CN" sz="3200" b="1">
                <a:latin typeface="Times New Roman Bold Italic" panose="02020503050405090304" charset="0"/>
                <a:cs typeface="Times New Roman Bold Italic" panose="02020503050405090304" charset="0"/>
              </a:rPr>
              <a:t>弹性工作时间</a:t>
            </a:r>
            <a:endParaRPr lang="en-US" altLang="zh-CN" sz="3200" b="1"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56971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You can save money if </a:t>
            </a:r>
            <a:r>
              <a:rPr lang="en-US" altLang="zh-CN" sz="3200" b="1" u="sng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you're flexible about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where your room is located.</a:t>
            </a:r>
          </a:p>
          <a:p>
            <a:pPr marL="0" indent="0">
              <a:buNone/>
            </a:pPr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如果</a:t>
            </a: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你可以适应不同的房间位置则</a:t>
            </a:r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可以省钱</a:t>
            </a: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。</a:t>
            </a:r>
          </a:p>
          <a:p>
            <a:pPr marL="0" indent="0">
              <a:buNone/>
            </a:pPr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= sb be ready to adapt to different situations</a:t>
            </a:r>
            <a:endParaRPr lang="zh-CN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0" indent="0">
              <a:buNone/>
            </a:pPr>
            <a:endParaRPr lang="zh-CN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425" y="-8890"/>
            <a:ext cx="9144000" cy="6569710"/>
          </a:xfrm>
        </p:spPr>
        <p:txBody>
          <a:bodyPr>
            <a:normAutofit lnSpcReduction="20000"/>
          </a:bodyPr>
          <a:lstStyle/>
          <a:p>
            <a:pPr marL="0" indent="0" fontAlgn="auto">
              <a:lnSpc>
                <a:spcPct val="120000"/>
              </a:lnSpc>
              <a:buNone/>
            </a:pP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4. ...because her mother does not </a:t>
            </a:r>
            <a:r>
              <a:rPr lang="en-US" sz="3200" b="1" u="sng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value her effort</a:t>
            </a:r>
            <a:r>
              <a:rPr 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  <a:endParaRPr lang="en-US" sz="32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0" indent="0" fontAlgn="auto">
              <a:lnSpc>
                <a:spcPct val="120000"/>
              </a:lnSpc>
              <a:buNone/>
            </a:pPr>
            <a:r>
              <a:rPr lang="en-US" altLang="zh-CN" sz="3200" b="1" i="1">
                <a:latin typeface="Times New Roman Bold Italic" panose="02020503050405090304" charset="0"/>
                <a:cs typeface="Times New Roman Bold Italic" panose="02020503050405090304" charset="0"/>
              </a:rPr>
              <a:t>think sth is important </a:t>
            </a:r>
            <a:r>
              <a:rPr lang="zh-CN" altLang="en-US" sz="3200" b="1">
                <a:latin typeface="Times New Roman Bold Italic" panose="02020503050405090304" charset="0"/>
                <a:cs typeface="Times New Roman Bold Italic" panose="02020503050405090304" charset="0"/>
              </a:rPr>
              <a:t>珍视，重视</a:t>
            </a:r>
            <a:endParaRPr lang="en-US" altLang="zh-CN" sz="3200" b="1" i="1"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 marL="0" indent="0" fontAlgn="auto">
              <a:lnSpc>
                <a:spcPct val="120000"/>
              </a:lnSpc>
              <a:buNone/>
            </a:pP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 really </a:t>
            </a:r>
            <a:r>
              <a:rPr lang="en-US" altLang="zh-CN" sz="3200" b="1" u="sng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value him as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a friend.</a:t>
            </a:r>
          </a:p>
          <a:p>
            <a:pPr marL="0" indent="0" fontAlgn="auto">
              <a:lnSpc>
                <a:spcPct val="120000"/>
              </a:lnSpc>
              <a:buNone/>
            </a:pPr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我真的把他</a:t>
            </a: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珍</a:t>
            </a:r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视为好朋友。</a:t>
            </a:r>
          </a:p>
          <a:p>
            <a:pPr marL="0" indent="0" fontAlgn="auto">
              <a:lnSpc>
                <a:spcPct val="120000"/>
              </a:lnSpc>
              <a:buNone/>
            </a:pP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area </a:t>
            </a:r>
            <a:r>
              <a:rPr lang="en-US" altLang="zh-CN" sz="3200" b="1" u="sng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is valued for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its natural resources.</a:t>
            </a:r>
          </a:p>
          <a:p>
            <a:pPr marL="0" indent="0" fontAlgn="auto">
              <a:lnSpc>
                <a:spcPct val="120000"/>
              </a:lnSpc>
              <a:buNone/>
            </a:pPr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这个地区因它的</a:t>
            </a: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自然资源</a:t>
            </a:r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而受到重视。</a:t>
            </a:r>
          </a:p>
          <a:p>
            <a:pPr marL="0" indent="0" fontAlgn="auto">
              <a:lnSpc>
                <a:spcPct val="120000"/>
              </a:lnSpc>
              <a:buNone/>
            </a:pPr>
            <a:endParaRPr lang="en-US" altLang="zh-CN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0" indent="0" fontAlgn="auto">
              <a:lnSpc>
                <a:spcPct val="120000"/>
              </a:lnSpc>
              <a:buNone/>
            </a:pPr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property (</a:t>
            </a: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地产</a:t>
            </a:r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) has been 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valued at</a:t>
            </a:r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over $2 million.</a:t>
            </a:r>
          </a:p>
          <a:p>
            <a:pPr marL="0" indent="0" fontAlgn="auto">
              <a:lnSpc>
                <a:spcPct val="120000"/>
              </a:lnSpc>
              <a:buNone/>
            </a:pPr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这处房地产估价为 200 多万美元。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425" y="-8890"/>
            <a:ext cx="9144000" cy="6569710"/>
          </a:xfrm>
        </p:spPr>
        <p:txBody>
          <a:bodyPr>
            <a:normAutofit lnSpcReduction="20000"/>
          </a:bodyPr>
          <a:lstStyle/>
          <a:p>
            <a:pPr marL="0" indent="0" fontAlgn="auto">
              <a:lnSpc>
                <a:spcPct val="120000"/>
              </a:lnSpc>
              <a:buNone/>
            </a:pP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have high hopes for sb</a:t>
            </a: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</a:rPr>
              <a:t>对某人有很高的期待</a:t>
            </a:r>
          </a:p>
          <a:p>
            <a:pPr marL="0" indent="0" fontAlgn="auto">
              <a:lnSpc>
                <a:spcPct val="120000"/>
              </a:lnSpc>
              <a:buNone/>
            </a:pP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=</a:t>
            </a:r>
            <a:r>
              <a:rPr lang="zh-CN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have great expectations of sb/sth</a:t>
            </a:r>
          </a:p>
          <a:p>
            <a:pPr marL="0" indent="0" fontAlgn="auto">
              <a:lnSpc>
                <a:spcPct val="120000"/>
              </a:lnSpc>
              <a:buNone/>
            </a:pPr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</a:rPr>
              <a:t>对某人有很高的要求</a:t>
            </a:r>
          </a:p>
          <a:p>
            <a:pPr marL="0" indent="0" fontAlgn="auto">
              <a:lnSpc>
                <a:spcPct val="120000"/>
              </a:lnSpc>
              <a:buNone/>
            </a:pP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hold sb to higher standards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Office 主题​​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none">
        <a:spAutoFit/>
      </a:bodyPr>
      <a:lstStyle>
        <a:defPPr>
          <a:lnSpc>
            <a:spcPct val="120000"/>
          </a:lnSpc>
          <a:defRPr sz="3200" b="1" dirty="0">
            <a:latin typeface="Times New Roman" panose="02020503050405090304" pitchFamily="18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400</Words>
  <Application>Microsoft Macintosh PowerPoint</Application>
  <PresentationFormat>On-screen Show (4:3)</PresentationFormat>
  <Paragraphs>56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微软雅黑</vt:lpstr>
      <vt:lpstr>Times New Roman Bold</vt:lpstr>
      <vt:lpstr>Times New Roman Bold Italic</vt:lpstr>
      <vt:lpstr>Arial</vt:lpstr>
      <vt:lpstr>Calibri</vt:lpstr>
      <vt:lpstr>Calibri Light</vt:lpstr>
      <vt:lpstr>Wingdings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284</cp:revision>
  <dcterms:created xsi:type="dcterms:W3CDTF">2023-10-09T05:58:12Z</dcterms:created>
  <dcterms:modified xsi:type="dcterms:W3CDTF">2026-07-22T12:34:43Z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1033-6.2.0.8299</vt:lpwstr>
  </property>
  <property fmtid="{D5CDD505-2E9C-101B-9397-08002B2CF9AE}" pid="3" name="ICV">
    <vt:lpwstr>9E8B4C9AB6EE496C7FFC33635C2B8362</vt:lpwstr>
  </property>
</Properties>
</file>