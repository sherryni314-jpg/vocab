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415" r:id="rId2"/>
    <p:sldId id="689" r:id="rId3"/>
    <p:sldId id="519" r:id="rId4"/>
    <p:sldId id="688" r:id="rId5"/>
    <p:sldId id="505" r:id="rId6"/>
    <p:sldId id="569" r:id="rId7"/>
    <p:sldId id="520" r:id="rId8"/>
    <p:sldId id="506" r:id="rId9"/>
    <p:sldId id="571" r:id="rId10"/>
    <p:sldId id="723" r:id="rId11"/>
    <p:sldId id="572" r:id="rId12"/>
    <p:sldId id="507" r:id="rId13"/>
    <p:sldId id="522" r:id="rId14"/>
    <p:sldId id="725" r:id="rId15"/>
    <p:sldId id="573" r:id="rId16"/>
    <p:sldId id="724" r:id="rId17"/>
    <p:sldId id="726" r:id="rId18"/>
    <p:sldId id="727" r:id="rId19"/>
    <p:sldId id="575" r:id="rId20"/>
    <p:sldId id="576" r:id="rId21"/>
    <p:sldId id="577" r:id="rId22"/>
    <p:sldId id="509" r:id="rId23"/>
    <p:sldId id="728" r:id="rId24"/>
    <p:sldId id="579" r:id="rId25"/>
    <p:sldId id="729" r:id="rId26"/>
    <p:sldId id="453" r:id="rId27"/>
    <p:sldId id="781" r:id="rId28"/>
    <p:sldId id="785" r:id="rId29"/>
    <p:sldId id="786" r:id="rId30"/>
    <p:sldId id="787" r:id="rId31"/>
    <p:sldId id="788" r:id="rId32"/>
    <p:sldId id="581" r:id="rId33"/>
    <p:sldId id="583" r:id="rId34"/>
    <p:sldId id="782" r:id="rId35"/>
    <p:sldId id="783" r:id="rId36"/>
    <p:sldId id="584" r:id="rId37"/>
    <p:sldId id="586" r:id="rId38"/>
    <p:sldId id="784" r:id="rId3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496" y="168"/>
      </p:cViewPr>
      <p:guideLst>
        <p:guide orient="horz" pos="2142"/>
        <p:guide pos="2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responsible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“Security” often has to do with a group’s efforts to protect its members from harm. “Safety” most often relates to a personal feeling of being free from harm or danger. Security seems to define efforts and measures that are outside of an individual, while safety is closer to an inner feeling.</a:t>
            </a:r>
          </a:p>
          <a:p>
            <a:endParaRPr lang="en-US"/>
          </a:p>
          <a:p>
            <a:r>
              <a:rPr lang="en-US"/>
              <a:t>feel secure: you have confidence that sth is likely to continue, while be safe means you are pretected from danger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get the breath back</a:t>
            </a:r>
            <a:endParaRPr lang="zh-CN" altLang="en-US"/>
          </a:p>
          <a:p>
            <a:r>
              <a:rPr lang="zh-CN" altLang="en-US"/>
              <a:t>造句</a:t>
            </a:r>
            <a:r>
              <a:rPr lang="en-US" altLang="zh-CN"/>
              <a:t> Do the long jump, he gathered all his strength for a tremendous leap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get the breath back</a:t>
            </a:r>
            <a:endParaRPr lang="zh-CN" altLang="en-US"/>
          </a:p>
          <a:p>
            <a:r>
              <a:rPr lang="zh-CN" altLang="en-US"/>
              <a:t>造句</a:t>
            </a:r>
            <a:r>
              <a:rPr lang="en-US" altLang="zh-CN"/>
              <a:t> Do the long jump, he gathered all his strength for a tremendous leap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get the breath back</a:t>
            </a:r>
            <a:endParaRPr lang="zh-CN" altLang="en-US"/>
          </a:p>
          <a:p>
            <a:r>
              <a:rPr lang="zh-CN" altLang="en-US"/>
              <a:t>造句</a:t>
            </a:r>
            <a:r>
              <a:rPr lang="en-US" altLang="zh-CN"/>
              <a:t> Do the long jump, he gathered all his strength for a tremendous leap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get the breath back</a:t>
            </a:r>
            <a:endParaRPr lang="zh-CN" altLang="en-US"/>
          </a:p>
          <a:p>
            <a:r>
              <a:rPr lang="zh-CN" altLang="en-US"/>
              <a:t>造句</a:t>
            </a:r>
            <a:r>
              <a:rPr lang="en-US" altLang="zh-CN"/>
              <a:t> Do the long jump, he gathered all his strength for a tremendous leap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get the breath back</a:t>
            </a:r>
            <a:endParaRPr lang="zh-CN" altLang="en-US"/>
          </a:p>
          <a:p>
            <a:r>
              <a:rPr lang="zh-CN" altLang="en-US"/>
              <a:t>造句</a:t>
            </a:r>
            <a:r>
              <a:rPr lang="en-US" altLang="zh-CN"/>
              <a:t> Do the long jump, he gathered all his strength for a tremendous leap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lie flat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respond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016365" cy="6689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Mama and Her Bank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账户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355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I've opened 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 Barclay's Bank.</a:t>
            </a:r>
          </a:p>
          <a:p>
            <a:pPr indent="-355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my social media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3556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written or spoken </a:t>
            </a:r>
            <a:r>
              <a:rPr lang="en-US" altLang="zh-CN" sz="3200" b="1" i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description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that says what happens in an event or process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叙述，描写</a:t>
            </a:r>
            <a:r>
              <a:rPr lang="zh-CN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355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gave the police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full/vivid/detailed account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incident.</a:t>
            </a:r>
          </a:p>
          <a:p>
            <a:pPr indent="-3556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 explanation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解释，说明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3556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demanded that I (should)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give an account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my failure.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635" cy="6233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Idomatic phrases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on account of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because of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Many obese children are bullied at school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account of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their weight.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许多肥胖儿童因为其体重问题在学校受到欺负。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Don’t change your plans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on my account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别因为我而改变你的计划。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Weather conditions were poor, but he did not delay his departure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on that account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天气不好，但他并没有因此延期启程。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635" cy="6233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Idomatic phrases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on no account / not on any account</a:t>
            </a:r>
            <a:r>
              <a:rPr 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 =not for any reason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绝不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用于强调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no account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should the house be left unlocked.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离开住宅时千万要锁门。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 will never forgive him,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not on any account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我不会原谅他，绝不。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4300" y="107315"/>
            <a:ext cx="8928100" cy="62331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Idomatic phrases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take ... into account/consideration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把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考虑进去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4. I've never been there, but it's a lovely place,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by all accounts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我从未去过那里，但据说是个美丽的地方。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-191770"/>
            <a:ext cx="9144000" cy="67830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24161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</a:t>
            </a:r>
            <a:r>
              <a:rPr lang="en-US" altLang="zh-CN" sz="3200" b="1" i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explain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解释，说明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poor weather may have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accounted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small crowd.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天气不好可能是人来得少的原因。</a:t>
            </a:r>
          </a:p>
          <a:p>
            <a:pPr indent="-4508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have the opinion that </a:t>
            </a:r>
            <a:r>
              <a:rPr lang="en-US" altLang="zh-CN" sz="3200" b="1" i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sb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en-US" altLang="zh-CN" sz="3200" b="1" i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is a particular thing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认为是；视为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English law a man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is accounted innocent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until he is proved guilty.</a:t>
            </a: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event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accounted a success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53340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这次活动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被认为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是成功的。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1130" y="109855"/>
            <a:ext cx="8691880" cy="4351655"/>
          </a:xfrm>
        </p:spPr>
        <p:txBody>
          <a:bodyPr>
            <a:normAutofit lnSpcReduction="20000"/>
          </a:bodyPr>
          <a:lstStyle/>
          <a:p>
            <a:pPr marL="0" indent="-450850" algn="l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accountable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responsible for your decisions</a:t>
            </a:r>
          </a:p>
          <a:p>
            <a:pPr marL="0" indent="-450850" algn="l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Someone must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held accountable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for the traffic accident.</a:t>
            </a:r>
          </a:p>
          <a:p>
            <a:pPr marL="0" indent="-450850" algn="l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必须有人对这起交通事故负责。</a:t>
            </a:r>
          </a:p>
          <a:p>
            <a:pPr marL="0" indent="-450850" algn="l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accountant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会计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-450850" algn="l">
              <a:lnSpc>
                <a:spcPct val="120000"/>
              </a:lnSpc>
              <a:buClrTx/>
              <a:buSzTx/>
              <a:buFontTx/>
              <a:buNone/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8425" y="0"/>
            <a:ext cx="8913495" cy="57670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用</a:t>
            </a:r>
            <a:r>
              <a:rPr 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account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的相关短语完成句子。</a:t>
            </a:r>
          </a:p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_______ _______ 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描述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what she saw in China.</a:t>
            </a:r>
          </a:p>
          <a:p>
            <a:pPr marL="358775" indent="-35877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The plane didn’t take off on time _______ _______ 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因为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bad weather.</a:t>
            </a:r>
          </a:p>
          <a:p>
            <a:pPr marL="358775" indent="-35877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_______ _______ 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决不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will you miss the chance.</a:t>
            </a:r>
          </a:p>
          <a:p>
            <a:pPr marL="358775" indent="-35877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The nurse was unable to _______ 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解释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disappearance of the patients that were under her care.</a:t>
            </a:r>
          </a:p>
        </p:txBody>
      </p:sp>
      <p:sp>
        <p:nvSpPr>
          <p:cNvPr id="2" name="矩形 1"/>
          <p:cNvSpPr/>
          <p:nvPr/>
        </p:nvSpPr>
        <p:spPr>
          <a:xfrm>
            <a:off x="1610516" y="581789"/>
            <a:ext cx="417893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gave       an      account</a:t>
            </a:r>
          </a:p>
        </p:txBody>
      </p:sp>
      <p:sp>
        <p:nvSpPr>
          <p:cNvPr id="3" name="矩形 2"/>
          <p:cNvSpPr/>
          <p:nvPr/>
        </p:nvSpPr>
        <p:spPr>
          <a:xfrm>
            <a:off x="457835" y="1731010"/>
            <a:ext cx="7939405" cy="1118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on       account      of</a:t>
            </a:r>
          </a:p>
        </p:txBody>
      </p:sp>
      <p:sp>
        <p:nvSpPr>
          <p:cNvPr id="6" name="矩形 5"/>
          <p:cNvSpPr/>
          <p:nvPr/>
        </p:nvSpPr>
        <p:spPr>
          <a:xfrm>
            <a:off x="824637" y="2849616"/>
            <a:ext cx="42360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         no      account </a:t>
            </a:r>
          </a:p>
        </p:txBody>
      </p:sp>
      <p:sp>
        <p:nvSpPr>
          <p:cNvPr id="7" name="矩形 6"/>
          <p:cNvSpPr/>
          <p:nvPr/>
        </p:nvSpPr>
        <p:spPr>
          <a:xfrm>
            <a:off x="5077607" y="3920506"/>
            <a:ext cx="246253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account    for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9031605" cy="5523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“For the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rent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”. Mama would count out the big silver pieces.</a:t>
            </a:r>
          </a:p>
          <a:p>
            <a:pPr indent="-1611630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rent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v./n.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租房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租用，租借 (hire/let)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7200" lvl="1" indent="0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rent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from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sb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从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租赁</a:t>
            </a:r>
          </a:p>
          <a:p>
            <a:pPr marL="457200" lvl="1" indent="0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rent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(out) to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sb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把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出租给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rents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out two rooms to students.</a:t>
            </a:r>
          </a:p>
          <a:p>
            <a:pPr marL="0" lvl="1" indent="-446405" fontAlgn="auto">
              <a:lnSpc>
                <a:spcPct val="11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do have a room</a:t>
            </a: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for rent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租售中</a:t>
            </a:r>
            <a:endParaRPr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endParaRPr lang="en-US" sz="3200" b="1" i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n.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租金；租用费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(rental)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cannot even afford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pay the rent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on this flat</a:t>
            </a:r>
          </a:p>
          <a:p>
            <a:pPr marL="0" lvl="1" indent="-446405" fontAlgn="auto">
              <a:lnSpc>
                <a:spcPct val="110000"/>
              </a:lnSpc>
            </a:pPr>
            <a:endParaRPr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7233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It gave us such a warm,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secure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feeling.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adj.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安心的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安全的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People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feel secure about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future of their country.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finished the match,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secure in the knowledge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she was through to the next round.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她打完比赛，知道自己已进入下一轮，心里踏实了。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2)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certian/safe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可靠的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secure job / income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稳定的工作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收入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future of the company looks 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不稳定的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50560" y="5257165"/>
            <a:ext cx="4572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insecure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7233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3)</a:t>
            </a:r>
            <a:r>
              <a:rPr lang="en-US" altLang="zh-CN" sz="3200" b="1" i="1" dirty="0">
                <a:solidFill>
                  <a:schemeClr val="tx1"/>
                </a:solidFill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effectLst/>
                <a:latin typeface="Times New Roman Bold Italic" panose="02020503050405090304" charset="0"/>
                <a:cs typeface="Times New Roman Bold Italic" panose="02020503050405090304" charset="0"/>
              </a:rPr>
              <a:t>not likely to move or fall down</a:t>
            </a:r>
            <a:r>
              <a:rPr lang="en-US" altLang="zh-CN" sz="3200" b="1" i="0" dirty="0">
                <a:solidFill>
                  <a:schemeClr val="tx1"/>
                </a:solidFill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i="0" dirty="0">
                <a:solidFill>
                  <a:schemeClr val="tx1"/>
                </a:solidFill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牢固的</a:t>
            </a:r>
            <a:endParaRPr lang="en-US" altLang="zh-CN" sz="3200" b="0" i="0" dirty="0">
              <a:solidFill>
                <a:schemeClr val="tx1"/>
              </a:solidFill>
              <a:effectLst/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i="0" dirty="0">
                <a:solidFill>
                  <a:srgbClr val="FF0000"/>
                </a:solidFill>
                <a:effectLst/>
                <a:latin typeface="Times New Roman Bold" panose="02020503050405090304" charset="0"/>
                <a:cs typeface="Times New Roman Bold" panose="02020503050405090304" charset="0"/>
              </a:rPr>
              <a:t>Make sure the ropes is </a:t>
            </a:r>
            <a:r>
              <a:rPr lang="en-US" sz="3200" b="1" i="0" u="sng" dirty="0">
                <a:solidFill>
                  <a:srgbClr val="FF0000"/>
                </a:solidFill>
                <a:effectLst/>
                <a:latin typeface="Times New Roman Bold" panose="02020503050405090304" charset="0"/>
                <a:cs typeface="Times New Roman Bold" panose="02020503050405090304" charset="0"/>
              </a:rPr>
              <a:t>securely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Times New Roman Bold" panose="02020503050405090304" charset="0"/>
                <a:cs typeface="Times New Roman Bold" panose="02020503050405090304" charset="0"/>
              </a:rPr>
              <a:t> fastened.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务必把绳子拴牢。</a:t>
            </a:r>
          </a:p>
          <a:p>
            <a:pPr indent="0"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After a few minutes of contact, it begins to</a:t>
            </a:r>
            <a:r>
              <a:rPr lang="en-US" altLang="zh-CN" sz="3200" b="1" dirty="0">
                <a:solidFill>
                  <a:srgbClr val="0000FF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</a:p>
          <a:p>
            <a:pPr indent="0"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_______________(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它开始感觉到更加踏实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).</a:t>
            </a:r>
            <a:endParaRPr lang="zh-CN" altLang="en-US" sz="3200" b="1" dirty="0">
              <a:solidFill>
                <a:srgbClr val="0000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secure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acquire sth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经过努力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)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获得</a:t>
            </a:r>
            <a:r>
              <a:rPr lang="en-US" altLang="zh-CN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secured a place for himself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at law school.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secured himself a place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at law school.</a:t>
            </a:r>
          </a:p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他被法学院录取了。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secure a contract / deal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达成协议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2108200"/>
            <a:ext cx="4572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feel more secure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/>
      <p:bldP spid="3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/>
          <p:nvPr/>
        </p:nvSpPr>
        <p:spPr>
          <a:xfrm>
            <a:off x="635" y="0"/>
            <a:ext cx="9144000" cy="5516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security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 = the state of feeling safe and happy</a:t>
            </a:r>
            <a:endParaRPr lang="en-US" altLang="zh-CN" sz="3200" b="1" dirty="0">
              <a:solidFill>
                <a:srgbClr val="0000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Parents are encouraged to give their children love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sense of security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Bold" panose="02020503050405090304" charset="0"/>
              </a:rPr>
              <a:t>安全感</a:t>
            </a:r>
          </a:p>
          <a:p>
            <a:pPr marL="0" indent="0">
              <a:buNone/>
            </a:pPr>
            <a:endParaRPr lang="zh-CN" altLang="en-US" sz="3200" b="1" dirty="0">
              <a:solidFill>
                <a:srgbClr val="0000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2)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activities involved to protect a country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安全工作</a:t>
            </a:r>
          </a:p>
          <a:p>
            <a:pPr marL="0" indent="0"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national security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国家安全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They carried out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security checks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at the airport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他们在机场实行了安全检查。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0810" y="0"/>
            <a:ext cx="8879205" cy="5694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When </a:t>
            </a:r>
            <a:r>
              <a:rPr lang="en-US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Nels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graduated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from grammar school,…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graduate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v.</a:t>
            </a:r>
            <a:r>
              <a:rPr lang="en-US" altLang="zh-CN" sz="3200" dirty="0"/>
              <a:t>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毕业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graduate from 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学校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从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毕业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graduate in 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专业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以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专业毕业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graduate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毕业生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undergraduate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在读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大学本科生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postgraduate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硕士或博士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研究生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graduation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n.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毕业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1290" y="349885"/>
            <a:ext cx="8692515" cy="3808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根据括号内的提示，用</a:t>
            </a:r>
            <a:r>
              <a:rPr 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graduate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的适当形式完成下列句子。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All three were 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同一所大学的毕业生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Upon __________ (graduate), she was offered the position of treasurer of the school.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After ________________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从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...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毕业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Peking University, the young man volunteered to work in Tibet.</a:t>
            </a:r>
          </a:p>
        </p:txBody>
      </p:sp>
      <p:sp>
        <p:nvSpPr>
          <p:cNvPr id="3" name="矩形 2"/>
          <p:cNvSpPr/>
          <p:nvPr/>
        </p:nvSpPr>
        <p:spPr>
          <a:xfrm>
            <a:off x="3340365" y="1571710"/>
            <a:ext cx="580390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graduates of the same university</a:t>
            </a:r>
          </a:p>
        </p:txBody>
      </p:sp>
      <p:sp>
        <p:nvSpPr>
          <p:cNvPr id="4" name="矩形 3"/>
          <p:cNvSpPr/>
          <p:nvPr/>
        </p:nvSpPr>
        <p:spPr>
          <a:xfrm>
            <a:off x="1668349" y="2737148"/>
            <a:ext cx="210248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graduation</a:t>
            </a:r>
          </a:p>
        </p:txBody>
      </p:sp>
      <p:sp>
        <p:nvSpPr>
          <p:cNvPr id="5" name="矩形 3"/>
          <p:cNvSpPr/>
          <p:nvPr/>
        </p:nvSpPr>
        <p:spPr>
          <a:xfrm>
            <a:off x="1795349" y="3902373"/>
            <a:ext cx="306133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graduating from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630" y="0"/>
            <a:ext cx="9055735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5.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Eagerly, 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gathered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around the table.</a:t>
            </a:r>
          </a:p>
          <a:p>
            <a:pPr indent="-251460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vi.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聚集，集合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92175" fontAlgn="auto">
              <a:lnSpc>
                <a:spcPct val="11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Gather (a)round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everyone, so that you can see the screen.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whole family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gathered (together)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at his home. 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= come together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聚集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89217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gathered up/together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the paper and went to the door.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= 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bring sth together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=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collect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整理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630" y="0"/>
            <a:ext cx="9055735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他积攒了全部的力量纵身一跃。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________________________ for a tremendous leap.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was still trying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gather her thoughts (together)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when the door opened.</a:t>
            </a:r>
          </a:p>
          <a:p>
            <a:pPr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门打开时她还努力让自己集中精神。</a:t>
            </a:r>
          </a:p>
          <a:p>
            <a:pPr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paused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gather her breath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and leaned against the wall, puffing.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她停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下歇息，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靠在墙上喘着气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Fortunately the short delay gave him time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gather himself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=prepare oneself to do sth</a:t>
            </a:r>
          </a:p>
          <a:p>
            <a:pPr fontAlgn="auto">
              <a:lnSpc>
                <a:spcPct val="11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幸运的是，这短暂的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拖延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给了他喘息的时间。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38430" y="443230"/>
            <a:ext cx="51415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He gathered all his strength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630" y="0"/>
            <a:ext cx="905573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en-US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vt.</a:t>
            </a:r>
            <a:r>
              <a:rPr lang="en-US" sz="3200" b="1" i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搜集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收集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8921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Detectives have spent months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gathering evidence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8921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搜集证据</a:t>
            </a:r>
          </a:p>
          <a:p>
            <a:pPr indent="-892175" algn="l" fontAlgn="auto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lived in the forest,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gathering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mushrooms and berries to eat.</a:t>
            </a:r>
          </a:p>
          <a:p>
            <a:pPr indent="-892175" algn="l" fontAlgn="auto">
              <a:lnSpc>
                <a:spcPct val="120000"/>
              </a:lnSpc>
              <a:buClrTx/>
              <a:buSzTx/>
              <a:buFontTx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lvl="0" algn="l" fontAlgn="auto">
              <a:lnSpc>
                <a:spcPct val="120000"/>
              </a:lnSpc>
              <a:buClrTx/>
              <a:buSzTx/>
              <a:buFontTx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3) </a:t>
            </a:r>
            <a:r>
              <a:rPr lang="en-US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vt.</a:t>
            </a:r>
            <a:r>
              <a:rPr lang="en-US" sz="3200" b="1" i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come together, increase </a:t>
            </a:r>
            <a:r>
              <a:rPr lang="zh-CN" altLang="en-US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积聚；增加</a:t>
            </a:r>
            <a:endParaRPr lang="zh-CN" altLang="en-US" sz="3200" b="1" dirty="0" err="1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lvl="0" algn="l" fontAlgn="auto">
              <a:lnSpc>
                <a:spcPct val="120000"/>
              </a:lnSpc>
              <a:buClrTx/>
              <a:buSzTx/>
              <a:buFontTx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Tears gathered in her eyes.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algn="l" fontAlgn="auto">
              <a:lnSpc>
                <a:spcPct val="120000"/>
              </a:lnSpc>
              <a:buClrTx/>
              <a:buSzTx/>
              <a:buFontTx/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她眼泪盈眶。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algn="l" fontAlgn="auto">
              <a:lnSpc>
                <a:spcPct val="120000"/>
              </a:lnSpc>
              <a:buClrTx/>
              <a:buSzTx/>
              <a:buFontTx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Darkness was gathering.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algn="l" fontAlgn="auto">
              <a:lnSpc>
                <a:spcPct val="120000"/>
              </a:lnSpc>
              <a:buClrTx/>
              <a:buSzTx/>
              <a:buFontTx/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天色渐暗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630" y="0"/>
            <a:ext cx="9055735" cy="5800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storm clouds were gathering.</a:t>
            </a: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暴风雨乌云正在聚集。</a:t>
            </a: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truck gathered speed.</a:t>
            </a: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卡车加快了速度。</a:t>
            </a:r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Thousands of these machines are gathering dust in stockrooms.</a:t>
            </a: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数千件机器在储藏室里尘封许久。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(=not being used)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892175" algn="l" fontAlgn="auto">
              <a:lnSpc>
                <a:spcPct val="100000"/>
              </a:lnSpc>
              <a:buClrTx/>
              <a:buSzTx/>
              <a:buFontTx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-892175" algn="l" fontAlgn="auto">
              <a:lnSpc>
                <a:spcPct val="100000"/>
              </a:lnSpc>
              <a:buClrTx/>
              <a:buSzTx/>
              <a:buFontTx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630" y="0"/>
            <a:ext cx="9055735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4)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vt.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pull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收紧，拢住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gathered his cloak around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him.</a:t>
            </a: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他用披风把身子裹紧。</a:t>
            </a: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gathered the child in her arms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and held him close.</a:t>
            </a: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她把那男孩拢过来紧紧抱在怀里。</a:t>
            </a: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algn="l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family gathering (n.)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家庭聚会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750" y="0"/>
            <a:ext cx="8828405" cy="6858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翻译下列句子。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这位教授正在为他的下一本书收集资料。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姐妹三人决定轮流做东，在各自的家里主办家庭聚会。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3885" y="1217295"/>
            <a:ext cx="7998460" cy="10185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professor is gathering materials for his next book.</a:t>
            </a:r>
          </a:p>
        </p:txBody>
      </p:sp>
      <p:sp>
        <p:nvSpPr>
          <p:cNvPr id="5" name="矩形 4"/>
          <p:cNvSpPr/>
          <p:nvPr/>
        </p:nvSpPr>
        <p:spPr>
          <a:xfrm>
            <a:off x="603885" y="3646805"/>
            <a:ext cx="7546340" cy="1181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three sisters decided to take turns to host family gatherings in their own home.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604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6.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was used for sudden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emergencies,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...</a:t>
            </a:r>
          </a:p>
          <a:p>
            <a:pPr marL="2514600" indent="-2514600">
              <a:lnSpc>
                <a:spcPct val="11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cn.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突发事件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紧急情况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old man is used to gathering old things, as he believes they can be used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for emergencies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以备急需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hammer on the bus can only be used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an emergency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在紧急情况下</a:t>
            </a:r>
          </a:p>
          <a:p>
            <a:pPr indent="0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government declared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state of emergency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after the hurricane hit the city hard.</a:t>
            </a:r>
          </a:p>
          <a:p>
            <a:pPr indent="0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紧急状态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86505" y="2633980"/>
            <a:ext cx="6835140" cy="1714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emergency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exit</a:t>
            </a:r>
          </a:p>
          <a:p>
            <a:pPr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take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emergency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action		</a:t>
            </a:r>
            <a:endParaRPr 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emergency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supplies</a:t>
            </a:r>
            <a:endParaRPr lang="en-US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74955" y="2633980"/>
            <a:ext cx="2625090" cy="17145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紧急出口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采取紧急措施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救援物资</a:t>
            </a:r>
          </a:p>
        </p:txBody>
      </p:sp>
      <p:sp>
        <p:nvSpPr>
          <p:cNvPr id="100" name="Text Box 99"/>
          <p:cNvSpPr txBox="1"/>
          <p:nvPr/>
        </p:nvSpPr>
        <p:spPr>
          <a:xfrm>
            <a:off x="274955" y="407670"/>
            <a:ext cx="847534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It would be safer to take more money with you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case of </a:t>
            </a:r>
            <a:r>
              <a:rPr lang="en-US" sz="3200" b="1" u="sng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 Bold" panose="02020503050405090304" charset="0"/>
                <a:cs typeface="Times New Roman Bold" panose="02020503050405090304" charset="0"/>
              </a:rPr>
              <a:t>e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________</a:t>
            </a:r>
            <a:r>
              <a:rPr lang="en-US" sz="3200" b="1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marL="0" indent="0" algn="l"/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如遇紧急情况</a:t>
            </a:r>
            <a:endParaRPr lang="en-US" sz="32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75510" y="804545"/>
            <a:ext cx="4572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mergency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00" grpId="1"/>
      <p:bldP spid="4" grpId="0"/>
      <p:bldP spid="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-55245"/>
            <a:ext cx="8943340" cy="691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7. ...</a:t>
            </a:r>
            <a:r>
              <a:rPr lang="en-US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Nels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volunteered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2514600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volunteer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v. </a:t>
            </a:r>
            <a:r>
              <a:rPr lang="en-US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offer to do something without expecting any reward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自愿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做某事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自告奋勇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</a:p>
          <a:p>
            <a:pPr indent="-892175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Aunt Mary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volunteered to clean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up the kitchen. </a:t>
            </a:r>
          </a:p>
          <a:p>
            <a:pPr indent="-892175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Several staff members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volunteered for early retirement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892175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几位职员自愿提前退休。  </a:t>
            </a:r>
          </a:p>
          <a:p>
            <a:pPr indent="-892175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volunteered his services as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driver.</a:t>
            </a:r>
          </a:p>
          <a:p>
            <a:pPr indent="-892175" fontAlgn="auto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他自愿服务充当司机。</a:t>
            </a:r>
          </a:p>
          <a:p>
            <a:pPr indent="-446405" fontAlgn="auto">
              <a:lnSpc>
                <a:spcPct val="11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volunteer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</a:t>
            </a:r>
            <a:r>
              <a:rPr lang="en-US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志愿者；主动提供帮助者；义工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do volunteer work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做志愿活动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5" y="-55245"/>
            <a:ext cx="9022715" cy="6912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volunteer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= a voluntary worker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adj. 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自愿的，义务性的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)</a:t>
            </a:r>
          </a:p>
          <a:p>
            <a:pPr indent="-446405" fontAlgn="auto"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do voluntary work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做义务工作</a:t>
            </a: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voluntary services/organizations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义务服务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组织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1270"/>
            <a:ext cx="9143365" cy="6857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8. Then she wrote down another </a:t>
            </a:r>
            <a:r>
              <a:rPr 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figure</a:t>
            </a: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0">
              <a:lnSpc>
                <a:spcPct val="110000"/>
              </a:lnSpc>
              <a:buNone/>
            </a:pPr>
            <a:r>
              <a:rPr lang="en-US" altLang="zh-CN" sz="36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number 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数字</a:t>
            </a:r>
            <a:endParaRPr lang="en-US" altLang="zh-CN" sz="36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sales / </a:t>
            </a:r>
            <a:r>
              <a:rPr 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official </a:t>
            </a:r>
            <a:r>
              <a:rPr 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figures</a:t>
            </a: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销售</a:t>
            </a: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官方数字</a:t>
            </a:r>
            <a:endParaRPr lang="en-US" sz="36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</a:t>
            </a:r>
            <a:r>
              <a:rPr lang="en-US" sz="36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person 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人物</a:t>
            </a:r>
            <a:endParaRPr lang="en-US" altLang="zh-CN" sz="36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leading/public figure</a:t>
            </a: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主要</a:t>
            </a: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公众人物</a:t>
            </a:r>
            <a:endParaRPr lang="en-US" altLang="zh-CN" sz="36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shape of body 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体型，身材</a:t>
            </a:r>
            <a:endParaRPr lang="en-US" altLang="zh-CN" sz="36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	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keep one’s figure</a:t>
            </a: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保持身材</a:t>
            </a:r>
            <a:endParaRPr lang="en-US" altLang="zh-CN" sz="36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	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middle-sized figure</a:t>
            </a: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中等身材</a:t>
            </a: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3.1) </a:t>
            </a:r>
            <a:r>
              <a:rPr lang="zh-CN" alt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身影</a:t>
            </a:r>
          </a:p>
          <a:p>
            <a:pPr>
              <a:lnSpc>
                <a:spcPct val="110000"/>
              </a:lnSpc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tall figure approached me.</a:t>
            </a:r>
            <a:r>
              <a:rPr lang="en-US" altLang="zh-CN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1270"/>
            <a:ext cx="9143365" cy="6857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figure </a:t>
            </a:r>
            <a:r>
              <a:rPr lang="en-US" sz="36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v.</a:t>
            </a: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sz="36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to think or decide that sth will happen/is true </a:t>
            </a:r>
            <a:r>
              <a:rPr lang="zh-CN" altLang="en-US" sz="36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认为，认定</a:t>
            </a:r>
            <a:endParaRPr lang="en-US" sz="36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</a:t>
            </a:r>
            <a:r>
              <a:rPr lang="en-US" sz="36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figured</a:t>
            </a:r>
            <a:r>
              <a:rPr 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right thing to do was to wait.</a:t>
            </a:r>
          </a:p>
          <a:p>
            <a:pPr>
              <a:lnSpc>
                <a:spcPct val="110000"/>
              </a:lnSpc>
            </a:pP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我们认为...</a:t>
            </a:r>
          </a:p>
          <a:p>
            <a:pPr>
              <a:lnSpc>
                <a:spcPct val="110000"/>
              </a:lnSpc>
            </a:pP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can’t </a:t>
            </a:r>
            <a:r>
              <a:rPr lang="en-US" sz="36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figure out</a:t>
            </a:r>
            <a:r>
              <a:rPr lang="en-US" sz="36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how to do this.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-137160"/>
            <a:ext cx="9144000" cy="1233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5600" indent="-355600">
              <a:lnSpc>
                <a:spcPct val="11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9. ... we did not have 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downtown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and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draw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money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out of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Mama’s Bank Account.</a:t>
            </a:r>
            <a:endParaRPr lang="zh-CN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0" y="882015"/>
            <a:ext cx="9037955" cy="5469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 downtown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去市中心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draw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money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from/out 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: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take money from a bank account </a:t>
            </a:r>
            <a:r>
              <a:rPr lang="zh-CN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提取，支取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= withdraw</a:t>
            </a:r>
          </a:p>
          <a:p>
            <a:pPr fontAlgn="auto">
              <a:lnSpc>
                <a:spcPct val="11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opp: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pay it into account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=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deposit money into... 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存钱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进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帐户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draw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: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pull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拖，拉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drew my chair up closer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fire.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我把椅子向火旁拉近了点。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My eyes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were drawn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man in the corner.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角落里的那个男人引起了我的注意。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/>
        </p:nvSpPr>
        <p:spPr>
          <a:xfrm>
            <a:off x="0" y="107315"/>
            <a:ext cx="6918960" cy="6249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Ali reached into his pocket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drew out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piece of paper.</a:t>
            </a: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course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draw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 students from all over the country.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plan has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draw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n a lot of criticism.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What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conclusions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did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draw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from the report?</a:t>
            </a: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had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draw lots/straws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decide who would go.</a:t>
            </a: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Where do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draw the line between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genius and madness?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635" y="234315"/>
            <a:ext cx="2197735" cy="62490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take out</a:t>
            </a: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attract</a:t>
            </a: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arouse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引起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得出结论</a:t>
            </a: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抽签</a:t>
            </a: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7200" indent="-457200" fontAlgn="auto">
              <a:lnSpc>
                <a:spcPct val="110000"/>
              </a:lnSpc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区分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0"/>
            <a:ext cx="9143365" cy="5819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10.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Whatever happened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we always knew we still had the Bank to depend upon.</a:t>
            </a:r>
          </a:p>
          <a:p>
            <a:pPr marL="446405" indent="-44640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从句对另外一句（主句）而言，与其形成让步关系，故称为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让步状语从句</a:t>
            </a:r>
          </a:p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whatever在引导的句子中作成分，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体现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代词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特征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0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whatever happened 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 matter what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happened</a:t>
            </a:r>
          </a:p>
          <a:p>
            <a:pPr marL="446405" indent="0">
              <a:lnSpc>
                <a:spcPct val="114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90600" indent="-990600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to depend upon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为动词不定式短语作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后置定语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，修饰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Bank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5" y="0"/>
            <a:ext cx="9142730" cy="64700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“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疑问词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ever”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可引导让步状语从句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Whatever 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(No matter what) </a:t>
            </a:r>
            <a:r>
              <a:rPr 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difficulties he may meet with, he will not be discouraged.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Whichever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(= No matter which) </a:t>
            </a:r>
            <a:r>
              <a:rPr 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may take, I will have no objection to it.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Whoever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(No matter who)</a:t>
            </a:r>
            <a:r>
              <a:rPr 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says so, it is wrong.</a:t>
            </a:r>
          </a:p>
          <a:p>
            <a:pPr marL="457200" indent="-4572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Wherever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(No matter where) you go, </a:t>
            </a:r>
            <a:r>
              <a:rPr 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will follow you.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635"/>
            <a:ext cx="9144000" cy="40906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“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疑问词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+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ever”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还可引导名词性从句（宾语、主语从句）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，这时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不能用“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 matter +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疑问词”结构来替代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而是相当于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anyone who, anything that。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如：</a:t>
            </a:r>
          </a:p>
          <a:p>
            <a:pPr indent="-446405" fontAlgn="auto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Whoever 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(=Anyone who) </a:t>
            </a:r>
            <a:r>
              <a:rPr 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gets the job</a:t>
            </a:r>
            <a:r>
              <a:rPr 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will have lots of work to do.</a:t>
            </a:r>
          </a:p>
          <a:p>
            <a:pPr indent="0" fontAlgn="auto">
              <a:lnSpc>
                <a:spcPct val="120000"/>
              </a:lnSpc>
              <a:buNone/>
            </a:pPr>
            <a:r>
              <a:rPr 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I’ll do 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whatever </a:t>
            </a: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(=anything that)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you ask me</a:t>
            </a:r>
            <a:r>
              <a:rPr lang="en-US" sz="32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 do.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3035" y="0"/>
            <a:ext cx="8793480" cy="4721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1. </a:t>
            </a:r>
            <a:r>
              <a:rPr lang="zh-CN" altLang="zh-CN" sz="3200" b="1" dirty="0"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无论何时我跌倒，我总是知道我还有站起来的勇气。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2. </a:t>
            </a:r>
            <a:r>
              <a:rPr lang="zh-CN" altLang="en-US" sz="3200" b="1" dirty="0"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不管你是谁，我们都欢迎你加入派对。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3. </a:t>
            </a:r>
            <a:r>
              <a:rPr lang="zh-CN" altLang="en-US" sz="3200" b="1" dirty="0"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我想和任何一位负责你们公司的人谈谈。</a:t>
            </a:r>
          </a:p>
        </p:txBody>
      </p:sp>
      <p:sp>
        <p:nvSpPr>
          <p:cNvPr id="4" name="矩形 3"/>
          <p:cNvSpPr/>
          <p:nvPr/>
        </p:nvSpPr>
        <p:spPr>
          <a:xfrm>
            <a:off x="318770" y="1159510"/>
            <a:ext cx="862774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Whenever (No matter when) I fell down, I always knew I still had the courage to stand up.</a:t>
            </a:r>
            <a:endParaRPr lang="zh-CN" altLang="zh-CN" sz="3200" b="1" kern="1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3"/>
          <p:cNvSpPr/>
          <p:nvPr/>
        </p:nvSpPr>
        <p:spPr>
          <a:xfrm>
            <a:off x="445770" y="2974975"/>
            <a:ext cx="862774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Whoever (No matter who) you are, you are welcome to join our party.</a:t>
            </a:r>
            <a:endParaRPr lang="zh-CN" altLang="en-US" sz="3200" b="1" kern="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3"/>
          <p:cNvSpPr/>
          <p:nvPr/>
        </p:nvSpPr>
        <p:spPr>
          <a:xfrm>
            <a:off x="318770" y="4721860"/>
            <a:ext cx="862774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would like to have a talk with </a:t>
            </a:r>
            <a:r>
              <a:rPr lang="en-US" altLang="zh-CN" sz="3200" b="1" u="sng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whoever is in charge of</a:t>
            </a:r>
            <a:r>
              <a:rPr lang="en-US" altLang="zh-CN" sz="3200" b="1" kern="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company.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2145"/>
          </a:xfrm>
        </p:spPr>
        <p:txBody>
          <a:bodyPr>
            <a:normAutofit/>
          </a:bodyPr>
          <a:lstStyle/>
          <a:p>
            <a:pPr marL="355600" indent="-355600" algn="l">
              <a:lnSpc>
                <a:spcPct val="110000"/>
              </a:lnSpc>
              <a:buClrTx/>
              <a:buSzTx/>
              <a:buFontTx/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11. ...my little sister’s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operation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6705" y="962025"/>
            <a:ext cx="3746500" cy="5594350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手术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perform an operation</a:t>
            </a: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做手术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have an operation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接受手术</a:t>
            </a:r>
            <a:endParaRPr lang="en-US" altLang="zh-CN" sz="3200" b="1" dirty="0">
              <a:solidFill>
                <a:srgbClr val="0000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 operation on the back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背部手术</a:t>
            </a:r>
            <a:endParaRPr lang="en-US" altLang="zh-CN" sz="3200" b="1" dirty="0">
              <a:solidFill>
                <a:srgbClr val="0000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endParaRPr lang="en-US" altLang="zh-CN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4571365" y="962025"/>
            <a:ext cx="4415790" cy="5593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2)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运转， 操作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operation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 运转中，使用中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come into operation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 开始工作，开始生效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put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 into operation</a:t>
            </a:r>
          </a:p>
          <a:p>
            <a:pPr marL="0" indent="0"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实施，使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运转</a:t>
            </a:r>
            <a:endParaRPr lang="en-US" altLang="zh-CN" sz="3200" b="1" dirty="0">
              <a:solidFill>
                <a:srgbClr val="0000FF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zh-CN" altLang="en-US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635" cy="6024245"/>
          </a:xfrm>
        </p:spPr>
        <p:txBody>
          <a:bodyPr>
            <a:normAutofit/>
          </a:bodyPr>
          <a:lstStyle/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12. put it in/on her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lap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放在她的腿上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lap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跑道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一圈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He was overtaken on the final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lap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lapped all of her rivals in the 3,000 metres.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领先一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几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圈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lap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to touch sth gently and regularly, to make a soft sound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轻柔而有规律地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拍打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lake lapped gently on the shore.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湖水轻拍着湖岸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。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828929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13. Act 1,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Scene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1. </a:t>
            </a:r>
            <a:r>
              <a:rPr lang="en-US" altLang="zh-CN" sz="3200" b="1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第</a:t>
            </a:r>
            <a:r>
              <a:rPr lang="en-US" altLang="zh-CN" sz="3200" b="1" dirty="0">
                <a:latin typeface="Times New Roman Regular" panose="02020503050405090304" charset="0"/>
                <a:cs typeface="Times New Roman Regular" panose="02020503050405090304" charset="0"/>
              </a:rPr>
              <a:t>1</a:t>
            </a: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幕第</a:t>
            </a:r>
            <a:r>
              <a:rPr lang="en-US" altLang="zh-CN" sz="3200" b="1" dirty="0">
                <a:latin typeface="Times New Roman Regular" panose="02020503050405090304" charset="0"/>
                <a:cs typeface="Times New Roman Regular" panose="02020503050405090304" charset="0"/>
              </a:rPr>
              <a:t>1</a:t>
            </a: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场</a:t>
            </a:r>
            <a:endParaRPr lang="en-US" altLang="zh-CN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戏剧等的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场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opening scene</a:t>
            </a:r>
            <a:r>
              <a:rPr lang="en-US" altLang="zh-CN" sz="3200" b="1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开场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behind the scenes</a:t>
            </a:r>
            <a:r>
              <a:rPr lang="en-US" altLang="zh-CN" sz="3200" b="1" dirty="0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在幕后</a:t>
            </a:r>
            <a:endParaRPr lang="en-US" altLang="zh-CN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2)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场面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team's victory produced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scenes of joy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all over the country.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球队的胜利使举国上下出现一派欢乐的场面。</a:t>
            </a:r>
            <a:endParaRPr lang="en-US" altLang="zh-CN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401320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现场，地点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scene of the crime</a:t>
            </a:r>
            <a:r>
              <a:rPr lang="en-US" altLang="zh-CN" sz="3200" b="1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犯罪现场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Firefighters were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on the scene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immediately.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/>
              <a:t>消防队立刻赶到现场。</a:t>
            </a: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4)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cn.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景象，风光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r>
              <a:rPr lang="en-US" altLang="zh-CN" sz="3200" b="1" i="0" dirty="0">
                <a:solidFill>
                  <a:srgbClr val="FF0000"/>
                </a:solidFill>
                <a:effectLst/>
                <a:latin typeface="Times New Roman Bold" panose="02020503050405090304" charset="0"/>
                <a:cs typeface="Times New Roman Bold" panose="02020503050405090304" charset="0"/>
              </a:rPr>
              <a:t>It is a delightful rural scene </a:t>
            </a:r>
            <a:r>
              <a:rPr lang="zh-CN" altLang="en-US" sz="3200" b="1" i="0" dirty="0">
                <a:effectLst/>
                <a:latin typeface="Times New Roman Regular" panose="02020503050405090304" charset="0"/>
                <a:cs typeface="Times New Roman Regular" panose="02020503050405090304" charset="0"/>
              </a:rPr>
              <a:t>赏心悦目的乡村风光</a:t>
            </a:r>
            <a:endParaRPr lang="en-US" altLang="zh-CN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 fontAlgn="auto">
              <a:lnSpc>
                <a:spcPct val="110000"/>
              </a:lnSpc>
              <a:buNone/>
            </a:pPr>
            <a:endParaRPr lang="en-US" altLang="zh-CN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154940"/>
            <a:ext cx="8999855" cy="5785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14. The living room of a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flat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 n.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公寓 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apartment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</a:t>
            </a:r>
          </a:p>
          <a:p>
            <a:pPr marL="0" indent="0">
              <a:buNone/>
            </a:pP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租住公寓</a:t>
            </a:r>
            <a:r>
              <a:rPr lang="en-US" altLang="zh-CN" sz="3200" b="1" dirty="0">
                <a:latin typeface="Times New Roman Regular" panose="02020503050405090304" charset="0"/>
                <a:cs typeface="Times New Roman Regular" panose="02020503050405090304" charset="0"/>
              </a:rPr>
              <a:t>               </a:t>
            </a:r>
            <a:r>
              <a:rPr lang="zh-CN" altLang="en-US" sz="3200" b="1" dirty="0">
                <a:latin typeface="Times New Roman Regular" panose="02020503050405090304" charset="0"/>
                <a:cs typeface="Times New Roman Regular" panose="02020503050405090304" charset="0"/>
              </a:rPr>
              <a:t>一幢公寓楼</a:t>
            </a:r>
            <a:endParaRPr lang="en-US" altLang="zh-CN" sz="3200" b="1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rent a flat                  a block of flats</a:t>
            </a:r>
          </a:p>
          <a:p>
            <a:pPr marL="0" indent="0"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2)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平坦的</a:t>
            </a:r>
            <a:endParaRPr lang="en-US" altLang="zh-CN" sz="3200" b="1" dirty="0">
              <a:solidFill>
                <a:srgbClr val="FF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[idom]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as flat as a pancake</a:t>
            </a:r>
            <a:r>
              <a:rPr lang="en-US" altLang="zh-CN" sz="32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(=completely flat)</a:t>
            </a:r>
            <a:endParaRPr lang="en-US" sz="3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3)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瘪了的</a:t>
            </a:r>
            <a:endParaRPr lang="en-US" altLang="zh-CN" sz="3200" b="1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buNone/>
            </a:pPr>
            <a:r>
              <a:rPr lang="en-US" altLang="zh-CN" sz="32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flat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tyre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06235"/>
          </a:xfrm>
        </p:spPr>
        <p:txBody>
          <a:bodyPr>
            <a:noAutofit/>
          </a:bodyPr>
          <a:lstStyle/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15. He waits for a </a:t>
            </a: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response </a:t>
            </a:r>
            <a:r>
              <a:rPr lang="en-US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but he doesn’t get one.</a:t>
            </a: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a spoken or written answer </a:t>
            </a:r>
            <a:r>
              <a:rPr lang="zh-CN" alt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答复</a:t>
            </a:r>
            <a:endParaRPr lang="en-US" sz="31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</a:t>
            </a:r>
            <a:r>
              <a:rPr lang="en-US" sz="31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made no response to</a:t>
            </a: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your enquiry.</a:t>
            </a: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她没回复你的询问。</a:t>
            </a:r>
            <a:endParaRPr lang="en-US" sz="31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 a reaction 反应，响应</a:t>
            </a: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product was developed </a:t>
            </a:r>
            <a:r>
              <a:rPr lang="en-US" sz="31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response to</a:t>
            </a: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customer demand.</a:t>
            </a: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这种产品是为了满足顾客的需要而开发的。</a:t>
            </a:r>
            <a:endParaRPr lang="en-US" sz="31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9144000" cy="6706235"/>
          </a:xfrm>
        </p:spPr>
        <p:txBody>
          <a:bodyPr>
            <a:noAutofit/>
          </a:bodyPr>
          <a:lstStyle/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sent out over 1 000 questionnaires but the </a:t>
            </a:r>
            <a:r>
              <a:rPr lang="en-US" sz="31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response rate</a:t>
            </a: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has been low. </a:t>
            </a:r>
            <a:r>
              <a:rPr 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(= few people replied).</a:t>
            </a: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</a:t>
            </a:r>
            <a:r>
              <a:rPr lang="zh-CN" alt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发了</a:t>
            </a:r>
            <a:r>
              <a:rPr lang="en-US" altLang="zh-CN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1000</a:t>
            </a:r>
            <a:r>
              <a:rPr lang="zh-CN" alt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多份问卷</a:t>
            </a:r>
            <a:r>
              <a:rPr 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，但</a:t>
            </a:r>
            <a:r>
              <a:rPr lang="zh-CN" alt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回收得很少</a:t>
            </a:r>
            <a:r>
              <a:rPr lang="en-US" sz="31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出现紧急情况时，他的第一反应是保证自身安全。</a:t>
            </a:r>
          </a:p>
          <a:p>
            <a:pPr marL="0" algn="l" fontAlgn="auto">
              <a:lnSpc>
                <a:spcPct val="100000"/>
              </a:lnSpc>
              <a:buClrTx/>
              <a:buSzTx/>
              <a:buFontTx/>
              <a:buNone/>
            </a:pP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When emergencies occur, his </a:t>
            </a:r>
            <a:r>
              <a:rPr lang="en-US" sz="31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immediate response</a:t>
            </a:r>
            <a:r>
              <a:rPr lang="en-US" sz="31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is to keep himself safe.</a:t>
            </a:r>
          </a:p>
          <a:p>
            <a:pPr marL="0" algn="l">
              <a:lnSpc>
                <a:spcPct val="110000"/>
              </a:lnSpc>
              <a:buClrTx/>
              <a:buSzTx/>
              <a:buFontTx/>
              <a:buNone/>
            </a:pPr>
            <a:r>
              <a:rPr lang="zh-CN" altLang="en-US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应观众的强烈要求，这部戏将会在这个剧院每周上演两次。</a:t>
            </a:r>
            <a:endParaRPr lang="zh-CN" altLang="en-US" sz="31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algn="l">
              <a:lnSpc>
                <a:spcPct val="110000"/>
              </a:lnSpc>
              <a:buClrTx/>
              <a:buSzTx/>
              <a:buFontTx/>
              <a:buNone/>
            </a:pPr>
            <a:r>
              <a:rPr lang="en-US" altLang="zh-CN" sz="31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____ _________ ____ the audience’s great demand, the play will be ____ _____ in this theatre twice a week.</a:t>
            </a:r>
            <a:endParaRPr lang="en-US" sz="31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725" y="4490720"/>
            <a:ext cx="397954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    response      to</a:t>
            </a:r>
          </a:p>
        </p:txBody>
      </p:sp>
      <p:sp>
        <p:nvSpPr>
          <p:cNvPr id="2" name="文本框 4"/>
          <p:cNvSpPr txBox="1"/>
          <p:nvPr/>
        </p:nvSpPr>
        <p:spPr>
          <a:xfrm>
            <a:off x="2754630" y="5074285"/>
            <a:ext cx="181800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put  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ea typeface="微软雅黑" panose="020B0503020204020204" pitchFamily="34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2671</Words>
  <Application>Microsoft Macintosh PowerPoint</Application>
  <PresentationFormat>On-screen Show (4:3)</PresentationFormat>
  <Paragraphs>319</Paragraphs>
  <Slides>38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微软雅黑</vt:lpstr>
      <vt:lpstr>Songti SC Regular</vt:lpstr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11. ...my little sister’s operation.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452</cp:revision>
  <dcterms:created xsi:type="dcterms:W3CDTF">2023-10-16T00:12:50Z</dcterms:created>
  <dcterms:modified xsi:type="dcterms:W3CDTF">2026-07-22T12:35:08Z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1033-6.2.1.8344</vt:lpwstr>
  </property>
  <property fmtid="{D5CDD505-2E9C-101B-9397-08002B2CF9AE}" pid="3" name="ICV">
    <vt:lpwstr>8E3548DFD813CBB1FF803E638C2CB31F</vt:lpwstr>
  </property>
</Properties>
</file>