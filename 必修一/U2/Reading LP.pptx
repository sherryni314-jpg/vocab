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2"/>
  </p:notesMasterIdLst>
  <p:sldIdLst>
    <p:sldId id="335" r:id="rId2"/>
    <p:sldId id="336" r:id="rId3"/>
    <p:sldId id="457" r:id="rId4"/>
    <p:sldId id="337" r:id="rId5"/>
    <p:sldId id="269" r:id="rId6"/>
    <p:sldId id="519" r:id="rId7"/>
    <p:sldId id="520" r:id="rId8"/>
    <p:sldId id="521" r:id="rId9"/>
    <p:sldId id="338" r:id="rId10"/>
    <p:sldId id="270" r:id="rId11"/>
    <p:sldId id="271" r:id="rId12"/>
    <p:sldId id="340" r:id="rId13"/>
    <p:sldId id="522" r:id="rId14"/>
    <p:sldId id="339" r:id="rId15"/>
    <p:sldId id="332" r:id="rId16"/>
    <p:sldId id="523" r:id="rId17"/>
    <p:sldId id="272" r:id="rId18"/>
    <p:sldId id="274" r:id="rId19"/>
    <p:sldId id="275" r:id="rId20"/>
    <p:sldId id="402" r:id="rId21"/>
    <p:sldId id="342" r:id="rId22"/>
    <p:sldId id="524" r:id="rId23"/>
    <p:sldId id="277" r:id="rId24"/>
    <p:sldId id="278" r:id="rId25"/>
    <p:sldId id="526" r:id="rId26"/>
    <p:sldId id="403" r:id="rId27"/>
    <p:sldId id="527" r:id="rId28"/>
    <p:sldId id="281" r:id="rId29"/>
    <p:sldId id="284" r:id="rId30"/>
    <p:sldId id="528" r:id="rId31"/>
    <p:sldId id="283" r:id="rId32"/>
    <p:sldId id="343" r:id="rId33"/>
    <p:sldId id="529" r:id="rId34"/>
    <p:sldId id="584" r:id="rId35"/>
    <p:sldId id="344" r:id="rId36"/>
    <p:sldId id="286" r:id="rId37"/>
    <p:sldId id="345" r:id="rId38"/>
    <p:sldId id="346" r:id="rId39"/>
    <p:sldId id="585" r:id="rId40"/>
    <p:sldId id="288" r:id="rId41"/>
    <p:sldId id="321" r:id="rId42"/>
    <p:sldId id="586" r:id="rId43"/>
    <p:sldId id="291" r:id="rId44"/>
    <p:sldId id="294" r:id="rId45"/>
    <p:sldId id="296" r:id="rId46"/>
    <p:sldId id="316" r:id="rId47"/>
    <p:sldId id="587" r:id="rId48"/>
    <p:sldId id="588" r:id="rId49"/>
    <p:sldId id="318" r:id="rId50"/>
    <p:sldId id="319" r:id="rId51"/>
    <p:sldId id="347" r:id="rId52"/>
    <p:sldId id="348" r:id="rId53"/>
    <p:sldId id="300" r:id="rId54"/>
    <p:sldId id="302" r:id="rId55"/>
    <p:sldId id="308" r:id="rId56"/>
    <p:sldId id="352" r:id="rId57"/>
    <p:sldId id="590" r:id="rId58"/>
    <p:sldId id="626" r:id="rId59"/>
    <p:sldId id="350" r:id="rId60"/>
    <p:sldId id="351" r:id="rId61"/>
    <p:sldId id="313" r:id="rId62"/>
    <p:sldId id="305" r:id="rId63"/>
    <p:sldId id="311" r:id="rId64"/>
    <p:sldId id="264" r:id="rId65"/>
    <p:sldId id="629" r:id="rId66"/>
    <p:sldId id="630" r:id="rId67"/>
    <p:sldId id="628" r:id="rId68"/>
    <p:sldId id="631" r:id="rId69"/>
    <p:sldId id="353" r:id="rId70"/>
    <p:sldId id="355" r:id="rId71"/>
    <p:sldId id="356" r:id="rId72"/>
    <p:sldId id="357" r:id="rId73"/>
    <p:sldId id="298" r:id="rId74"/>
    <p:sldId id="359" r:id="rId75"/>
    <p:sldId id="646" r:id="rId76"/>
    <p:sldId id="647" r:id="rId77"/>
    <p:sldId id="360" r:id="rId78"/>
    <p:sldId id="299" r:id="rId79"/>
    <p:sldId id="648" r:id="rId80"/>
    <p:sldId id="649" r:id="rId8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6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494" autoAdjust="0"/>
  </p:normalViewPr>
  <p:slideViewPr>
    <p:cSldViewPr showGuides="1">
      <p:cViewPr varScale="1">
        <p:scale>
          <a:sx n="109" d="100"/>
          <a:sy n="109" d="100"/>
        </p:scale>
        <p:origin x="1624" y="184"/>
      </p:cViewPr>
      <p:guideLst>
        <p:guide orient="horz" pos="2236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一篇有理有据的文章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a situation in which people do not trust each other, or feel unfriendly towards each other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an anxious look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be anxious for sth </a:t>
            </a:r>
            <a:r>
              <a:rPr lang="zh-CN" altLang="en-US"/>
              <a:t>渴望得到</a:t>
            </a:r>
            <a:r>
              <a:rPr lang="en-US"/>
              <a:t>/ for sb to do sth / to do sth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turn me down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飞机划过天空。</a:t>
            </a:r>
          </a:p>
          <a:p>
            <a:r>
              <a:rPr lang="zh-CN" altLang="en-US"/>
              <a:t>沃德的手伸了出来，抓住了他的胳膊。</a:t>
            </a:r>
          </a:p>
          <a:p>
            <a:r>
              <a:rPr lang="zh-CN" altLang="en-US"/>
              <a:t>一阵疼痛</a:t>
            </a:r>
          </a:p>
          <a:p>
            <a:r>
              <a:rPr lang="zh-CN" altLang="en-US"/>
              <a:t>闯红灯</a:t>
            </a: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turn me down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turn me down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set/aim for/achieve/meet/reach your targets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set/aim for/achieve/meet/reach your targets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have a longing for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这栋房子有很多吸引人的特点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1）他认为整件事是一个笑话。</a:t>
            </a:r>
          </a:p>
          <a:p>
            <a:r>
              <a:rPr lang="en-US"/>
              <a:t>2）我们会在买房子之前去看房子。</a:t>
            </a:r>
          </a:p>
          <a:p>
            <a:r>
              <a:rPr lang="en-US"/>
              <a:t>3）如果刘易斯能给我们他的观点，可能会对我们有所帮助。</a:t>
            </a:r>
          </a:p>
          <a:p>
            <a:r>
              <a:rPr lang="en-US"/>
              <a:t>4）在我们的旅程中，一个美丽的山景跟着另一个。</a:t>
            </a:r>
          </a:p>
          <a:p>
            <a:r>
              <a:rPr lang="en-US"/>
              <a:t>5）你今晚在看什么？一起看足球比赛怎么样？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1299E-C2A9-4EB3-B506-94320703991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43D12B-F4B0-4A7D-814A-3CD5ED7C291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BC165B-173A-4391-B916-FE63A4D9B4B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BBC48B-E544-4D71-8775-43F7E83327B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3B183-1097-4591-B518-EFA379FDEAF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39E84A-45B2-4EF3-8589-B23CD7E01C6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5C2002-6A1E-430D-942B-92F55933EBD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1F54B0-0F00-4041-BEFB-5801E818FBA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1AEEA1-03E7-4CD5-9138-74EEFA1ED77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583BCE-F165-4458-A021-93C03C78FA8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EB3A9B-542E-4680-90D2-9796F45139C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06C60351-F846-4551-8253-AC22819A4829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5270" cy="6791325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1. Does every dinner with your parents seem to 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turn into a battle</a:t>
            </a: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?</a:t>
            </a:r>
          </a:p>
          <a:p>
            <a:pPr marL="0" indent="0">
              <a:buNone/>
            </a:pPr>
            <a:r>
              <a:rPr lang="en-US" altLang="zh-CN" b="1" dirty="0">
                <a:latin typeface="Times New Roman Regular" panose="02020603050405020304" charset="0"/>
                <a:cs typeface="Times New Roman Regular" panose="02020603050405020304" charset="0"/>
              </a:rPr>
              <a:t>1) </a:t>
            </a:r>
            <a:r>
              <a:rPr lang="en-US" altLang="zh-CN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an argument or a competition between people</a:t>
            </a: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zh-CN" altLang="en-US" b="1" dirty="0">
                <a:latin typeface="Times New Roman Bold" panose="02020603050405020304" charset="0"/>
                <a:cs typeface="Times New Roman Bold" panose="02020603050405020304" charset="0"/>
              </a:rPr>
              <a:t>较量，争论</a:t>
            </a:r>
            <a:endParaRPr lang="en-US" altLang="zh-CN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battle </a:t>
            </a:r>
            <a:r>
              <a:rPr lang="en-US" altLang="zh-CN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with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an insurance company</a:t>
            </a:r>
            <a:r>
              <a:rPr lang="en-US" altLang="zh-CN" b="1" dirty="0">
                <a:latin typeface="Times New Roman Regular" panose="02020603050405020304" charset="0"/>
                <a:cs typeface="Times New Roman Regular" panose="02020603050405020304" charset="0"/>
              </a:rPr>
              <a:t> (</a:t>
            </a:r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</a:rPr>
              <a:t>与一家保险公司的争执</a:t>
            </a:r>
            <a:r>
              <a:rPr lang="en-US" altLang="zh-CN" b="1" dirty="0">
                <a:latin typeface="Times New Roman Regular" panose="02020603050405020304" charset="0"/>
                <a:cs typeface="Times New Roman Regular" panose="02020603050405020304" charset="0"/>
              </a:rPr>
              <a:t>)</a:t>
            </a:r>
          </a:p>
          <a:p>
            <a:pPr marL="0" indent="0">
              <a:buNone/>
            </a:pPr>
            <a:r>
              <a:rPr lang="en-US" altLang="zh-CN" b="1" dirty="0">
                <a:latin typeface="Times New Roman Regular" panose="02020603050405020304" charset="0"/>
                <a:cs typeface="Times New Roman Regular" panose="02020603050405020304" charset="0"/>
              </a:rPr>
              <a:t>2)</a:t>
            </a:r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altLang="zh-CN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a fight especially during a war</a:t>
            </a:r>
            <a:r>
              <a:rPr lang="en-US" altLang="zh-CN" b="1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</a:rPr>
              <a:t>战役</a:t>
            </a:r>
            <a:endParaRPr lang="en-US" altLang="zh-CN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be killed in the battle of Waterloo </a:t>
            </a:r>
          </a:p>
          <a:p>
            <a:pPr marL="0" indent="0">
              <a:buNone/>
            </a:pPr>
            <a:r>
              <a:rPr lang="en-US" altLang="zh-CN" b="1" dirty="0">
                <a:latin typeface="Times New Roman Regular" panose="02020603050405020304" charset="0"/>
                <a:cs typeface="Times New Roman Regular" panose="02020603050405020304" charset="0"/>
              </a:rPr>
              <a:t>3) </a:t>
            </a:r>
            <a:r>
              <a:rPr lang="en-US" altLang="zh-CN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(singular) a determined effort that sb makes to solve a difficult problem </a:t>
            </a:r>
            <a:r>
              <a:rPr lang="zh-CN" altLang="en-US" b="1" dirty="0">
                <a:latin typeface="Times New Roman Bold Italic" panose="02020603050405020304" charset="0"/>
                <a:cs typeface="Times New Roman Bold Italic" panose="02020603050405020304" charset="0"/>
              </a:rPr>
              <a:t>奋斗</a:t>
            </a:r>
            <a:endParaRPr lang="en-US" altLang="zh-CN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the</a:t>
            </a:r>
            <a:r>
              <a:rPr lang="zh-CN" altLang="en-US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long</a:t>
            </a:r>
            <a:r>
              <a:rPr lang="zh-CN" altLang="en-US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battle </a:t>
            </a:r>
            <a:r>
              <a:rPr lang="en-US" altLang="zh-CN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against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cancer/racism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 battle </a:t>
            </a:r>
            <a:r>
              <a:rPr lang="en-US" altLang="zh-CN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for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survival</a:t>
            </a:r>
          </a:p>
          <a:p>
            <a:endParaRPr lang="en-US" altLang="zh-CN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76200" y="-76200"/>
            <a:ext cx="8929370" cy="452628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v. + n.</a:t>
            </a:r>
            <a:endParaRPr lang="zh-CN" altLang="en-US" b="1" i="1" dirty="0">
              <a:solidFill>
                <a:srgbClr val="FF0000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</a:rPr>
              <a:t>打仗</a:t>
            </a:r>
            <a:r>
              <a:rPr lang="en-US" altLang="zh-CN" b="1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fight a battle</a:t>
            </a:r>
            <a:endParaRPr lang="zh-CN" altLang="en-US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</a:rPr>
              <a:t>战胜</a:t>
            </a:r>
            <a:r>
              <a:rPr lang="en-US" altLang="zh-CN" b="1" dirty="0">
                <a:latin typeface="Times New Roman Regular" panose="02020603050405020304" charset="0"/>
                <a:cs typeface="Times New Roman Regular" panose="02020603050405020304" charset="0"/>
              </a:rPr>
              <a:t>/</a:t>
            </a:r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</a:rPr>
              <a:t>战败</a:t>
            </a:r>
            <a:r>
              <a:rPr lang="en-US" altLang="zh-CN" b="1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win/lose a battle</a:t>
            </a:r>
          </a:p>
          <a:p>
            <a:r>
              <a:rPr lang="en-US" altLang="zh-CN" b="1" dirty="0">
                <a:latin typeface="Times New Roman Regular" panose="02020603050405020304" charset="0"/>
                <a:cs typeface="Times New Roman Regular" panose="02020603050405020304" charset="0"/>
              </a:rPr>
              <a:t>与某人/某事物进行斗争 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do battle against or with sb/sth </a:t>
            </a:r>
          </a:p>
          <a:p>
            <a:pPr marL="0" indent="0">
              <a:buNone/>
            </a:pPr>
            <a:r>
              <a:rPr lang="en-US" altLang="zh-CN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adj. + n.</a:t>
            </a:r>
          </a:p>
          <a:p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</a:rPr>
              <a:t>无望取胜的</a:t>
            </a:r>
            <a:r>
              <a:rPr lang="en-US" altLang="zh-CN" b="1" dirty="0">
                <a:latin typeface="Times New Roman Regular" panose="02020603050405020304" charset="0"/>
                <a:cs typeface="Times New Roman Regular" panose="02020603050405020304" charset="0"/>
              </a:rPr>
              <a:t>/</a:t>
            </a:r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</a:rPr>
              <a:t>激烈的</a:t>
            </a:r>
            <a:r>
              <a:rPr lang="en-US" altLang="zh-CN" b="1" dirty="0">
                <a:latin typeface="Times New Roman Regular" panose="02020603050405020304" charset="0"/>
                <a:cs typeface="Times New Roman Regular" panose="02020603050405020304" charset="0"/>
              </a:rPr>
              <a:t>/</a:t>
            </a:r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</a:rPr>
              <a:t>艰难的仗</a:t>
            </a:r>
            <a:r>
              <a:rPr lang="en-US" altLang="zh-CN" b="1" dirty="0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a(n) losing/fierce/uphill battle</a:t>
            </a:r>
            <a:endParaRPr lang="zh-CN" altLang="en-US" b="1" kern="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zh-CN" altLang="en-US" b="1" kern="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zh-CN" altLang="en-US" b="1" kern="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zh-CN" altLang="en-US" b="1" kern="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 bwMode="auto">
          <a:xfrm>
            <a:off x="76200" y="152400"/>
            <a:ext cx="8943975" cy="33553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b="1" kern="0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</a:t>
            </a:r>
            <a:r>
              <a:rPr lang="zh-CN" altLang="en-US" b="1" kern="0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 never gives in, and that's </a:t>
            </a:r>
            <a:r>
              <a:rPr lang="zh-CN" altLang="en-US" b="1" u="sng" kern="0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half the battle</a:t>
            </a:r>
            <a:r>
              <a:rPr lang="zh-CN" altLang="en-US" b="1" kern="0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.</a:t>
            </a:r>
            <a:endParaRPr lang="zh-CN" altLang="en-US" b="1" kern="0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0" indent="0">
              <a:buNone/>
            </a:pPr>
            <a:r>
              <a:rPr lang="zh-CN" altLang="en-US" b="1" kern="0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他从不屈服，这是成功的关键。</a:t>
            </a:r>
            <a:endParaRPr lang="zh-CN" altLang="en-US" b="1" kern="0" dirty="0">
              <a:solidFill>
                <a:schemeClr val="tx1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algn="l">
              <a:buClrTx/>
              <a:buSzTx/>
              <a:buFontTx/>
              <a:buNone/>
            </a:pPr>
            <a:r>
              <a:rPr lang="zh-CN" altLang="en-US" b="1" kern="0" dirty="0">
                <a:latin typeface="Times New Roman Regular" panose="02020603050405020304" charset="0"/>
                <a:cs typeface="Times New Roman Regular" panose="02020603050405020304" charset="0"/>
              </a:rPr>
              <a:t>他们这场为了争夺版权</a:t>
            </a:r>
            <a:r>
              <a:rPr lang="en-US" altLang="zh-CN" b="1" kern="0" dirty="0">
                <a:latin typeface="Times New Roman Bold" panose="02020603050405020304" charset="0"/>
                <a:cs typeface="Times New Roman Bold" panose="02020603050405020304" charset="0"/>
              </a:rPr>
              <a:t>(copyright)</a:t>
            </a:r>
            <a:r>
              <a:rPr lang="zh-CN" altLang="en-US" b="1" kern="0" dirty="0">
                <a:latin typeface="Times New Roman Regular" panose="02020603050405020304" charset="0"/>
                <a:cs typeface="Times New Roman Regular" panose="02020603050405020304" charset="0"/>
              </a:rPr>
              <a:t>的法律斗争已经持续了三年。</a:t>
            </a:r>
          </a:p>
          <a:p>
            <a:pPr marL="0" indent="0">
              <a:buNone/>
            </a:pPr>
            <a:r>
              <a:rPr lang="en-US" altLang="zh-CN" b="1" kern="0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It has been 3 years since they started the legal battle for the copyright.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76200"/>
            <a:ext cx="8992235" cy="478663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v.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battle with/against…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battle for…</a:t>
            </a:r>
          </a:p>
          <a:p>
            <a:pPr marL="0" indent="0">
              <a:buNone/>
            </a:pPr>
            <a:endParaRPr lang="en-US" altLang="zh-CN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</a:rPr>
              <a:t>她凭借着惊人的意志力和病魔斗争。</a:t>
            </a:r>
            <a:endParaRPr lang="en-US" altLang="zh-CN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She ________ ________ the disease with an unbelievable willpower.</a:t>
            </a:r>
          </a:p>
          <a:p>
            <a:pPr marL="0" indent="0">
              <a:buNone/>
            </a:pPr>
            <a:endParaRPr lang="en-US" altLang="zh-CN" b="1" dirty="0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4" name="矩形 2"/>
          <p:cNvSpPr/>
          <p:nvPr/>
        </p:nvSpPr>
        <p:spPr>
          <a:xfrm>
            <a:off x="1295400" y="2895600"/>
            <a:ext cx="3373755" cy="632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charset="-122"/>
              </a:rPr>
              <a:t>battled  against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52400"/>
            <a:ext cx="8992235" cy="4526280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warm and open conversations</a:t>
            </a:r>
          </a:p>
          <a:p>
            <a:pPr marL="0" indent="0">
              <a:buNone/>
            </a:pPr>
            <a:r>
              <a:rPr lang="zh-CN" altLang="en-US" b="1">
                <a:latin typeface="Times New Roman Bold" panose="02020603050405020304" charset="0"/>
                <a:cs typeface="Times New Roman Bold" panose="02020603050405020304" charset="0"/>
              </a:rPr>
              <a:t>暖心和坦诚的对话</a:t>
            </a:r>
          </a:p>
          <a:p>
            <a:pPr marL="0" indent="0">
              <a:buNone/>
            </a:pPr>
            <a:r>
              <a:rPr lang="en-US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cold and guarded (cautious &amp; reserved)</a:t>
            </a:r>
          </a:p>
          <a:p>
            <a:pPr marL="0" indent="0">
              <a:buNone/>
            </a:pPr>
            <a:r>
              <a:rPr lang="zh-CN" altLang="en-US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冷漠和谨慎的</a:t>
            </a:r>
          </a:p>
          <a:p>
            <a:pPr marL="0" indent="0">
              <a:buNone/>
            </a:pPr>
            <a:r>
              <a:rPr lang="en-US" altLang="zh-CN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see eye to eye with sb on sth = be in full agreement</a:t>
            </a:r>
          </a:p>
          <a:p>
            <a:pPr marL="0" indent="0">
              <a:buNone/>
            </a:pPr>
            <a:r>
              <a:rPr lang="zh-CN" altLang="en-US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和某人在某事上观点一致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文本占位符 7170"/>
          <p:cNvSpPr>
            <a:spLocks noGrp="1"/>
          </p:cNvSpPr>
          <p:nvPr>
            <p:ph type="body" idx="1"/>
          </p:nvPr>
        </p:nvSpPr>
        <p:spPr>
          <a:xfrm>
            <a:off x="76200" y="76200"/>
            <a:ext cx="9074150" cy="6108065"/>
          </a:xfrm>
        </p:spPr>
        <p:txBody>
          <a:bodyPr/>
          <a:lstStyle/>
          <a:p>
            <a:pPr marL="0" indent="-446405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2. </a:t>
            </a:r>
            <a:r>
              <a:rPr lang="en-US" altLang="zh-CN" b="1" u="sng" dirty="0">
                <a:latin typeface="Times New Roman" panose="02020603050405020304" pitchFamily="18" charset="0"/>
              </a:rPr>
              <a:t>Heated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arguments</a:t>
            </a:r>
            <a:r>
              <a:rPr lang="en-US" altLang="zh-CN" b="1" dirty="0">
                <a:latin typeface="Times New Roman" panose="02020603050405020304" pitchFamily="18" charset="0"/>
              </a:rPr>
              <a:t> and cold silences are common between teenagers and their parents.</a:t>
            </a:r>
          </a:p>
          <a:p>
            <a:pPr marL="0" indent="-446405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1)</a:t>
            </a:r>
            <a:r>
              <a:rPr lang="en-US" altLang="zh-CN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争吵；辩论</a:t>
            </a:r>
            <a:endParaRPr lang="en-US" altLang="zh-CN" b="1" i="1" dirty="0">
              <a:solidFill>
                <a:srgbClr val="FF0000"/>
              </a:solidFill>
              <a:latin typeface="Times New Roman Bold Italic" panose="02020603050405020304" charset="0"/>
              <a:cs typeface="Times New Roman Bold Italic" panose="02020603050405020304" charset="0"/>
              <a:sym typeface="+mn-ea"/>
            </a:endParaRPr>
          </a:p>
          <a:p>
            <a:pPr marL="0" indent="-446405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We </a:t>
            </a:r>
            <a:r>
              <a:rPr lang="en-US" altLang="zh-CN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had an argument with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the waiter </a:t>
            </a:r>
            <a:r>
              <a:rPr lang="en-US" altLang="zh-CN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about/over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the bill.</a:t>
            </a:r>
          </a:p>
          <a:p>
            <a:pPr marL="0" indent="-446405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我们和服务员就账单发生了争吵。</a:t>
            </a:r>
          </a:p>
          <a:p>
            <a:pPr marL="0" indent="-446405" algn="l" eaLnBrk="1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He often </a:t>
            </a:r>
            <a:r>
              <a:rPr lang="en-US" altLang="zh-CN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gets into an argument with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his neighbors, and now they do not even bother to talk with him.</a:t>
            </a:r>
          </a:p>
          <a:p>
            <a:pPr marL="0" indent="-446405" algn="l" eaLnBrk="1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他经常</a:t>
            </a:r>
            <a:r>
              <a:rPr lang="en-US" altLang="zh-CN" b="1" u="sng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和</a:t>
            </a:r>
            <a:r>
              <a:rPr lang="en-US" altLang="zh-CN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邻居</a:t>
            </a:r>
            <a:r>
              <a:rPr lang="en-US" altLang="zh-CN" b="1" u="sng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吵架</a:t>
            </a:r>
            <a:r>
              <a:rPr lang="en-US" altLang="zh-CN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，现在他们甚至懒得和他说话。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文本占位符 7170"/>
          <p:cNvSpPr>
            <a:spLocks noGrp="1"/>
          </p:cNvSpPr>
          <p:nvPr>
            <p:ph type="body" idx="1"/>
          </p:nvPr>
        </p:nvSpPr>
        <p:spPr>
          <a:xfrm>
            <a:off x="76200" y="76200"/>
            <a:ext cx="9074150" cy="6108065"/>
          </a:xfrm>
        </p:spPr>
        <p:txBody>
          <a:bodyPr/>
          <a:lstStyle/>
          <a:p>
            <a:pPr marL="0" indent="-446405" algn="l" eaLnBrk="1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win/lose an argument </a:t>
            </a:r>
            <a:r>
              <a:rPr lang="zh-CN" altLang="en-US" b="1" dirty="0">
                <a:sym typeface="+mn-ea"/>
              </a:rPr>
              <a:t>赢得</a:t>
            </a:r>
            <a:r>
              <a:rPr lang="en-US" altLang="zh-CN" b="1" dirty="0">
                <a:sym typeface="+mn-ea"/>
              </a:rPr>
              <a:t>/</a:t>
            </a:r>
            <a:r>
              <a:rPr lang="zh-CN" altLang="en-US" b="1" dirty="0">
                <a:sym typeface="+mn-ea"/>
              </a:rPr>
              <a:t>输掉争论</a:t>
            </a:r>
            <a:endParaRPr lang="en-US" altLang="zh-CN" dirty="0"/>
          </a:p>
          <a:p>
            <a:pPr marL="0" indent="-446405" algn="l" eaLnBrk="1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cause/start an argument </a:t>
            </a:r>
            <a:r>
              <a:rPr lang="zh-CN" altLang="en-US" b="1" dirty="0">
                <a:sym typeface="+mn-ea"/>
              </a:rPr>
              <a:t>引起争论</a:t>
            </a:r>
            <a:endParaRPr lang="en-US" altLang="zh-CN" b="1" dirty="0">
              <a:sym typeface="+mn-ea"/>
            </a:endParaRPr>
          </a:p>
          <a:p>
            <a:pPr marL="0" indent="-446405" algn="l" eaLnBrk="1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双方爆发了一场激烈的争吵。</a:t>
            </a:r>
          </a:p>
          <a:p>
            <a:pPr marL="0" indent="-446405" algn="l" eaLnBrk="1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 heated argument </a:t>
            </a:r>
          </a:p>
          <a:p>
            <a:pPr marL="0" indent="-446405" algn="l" eaLnBrk="1" latinLnBrk="0" hangingPunct="1">
              <a:lnSpc>
                <a:spcPct val="100000"/>
              </a:lnSpc>
              <a:buClrTx/>
              <a:buSzTx/>
              <a:buFontTx/>
              <a:buNone/>
            </a:pPr>
            <a:endParaRPr lang="en-US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  <a:p>
            <a:pPr marL="0" indent="-446405" algn="l" eaLnBrk="1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[adj.+n.]</a:t>
            </a:r>
          </a:p>
          <a:p>
            <a:pPr marL="0" indent="-446405" algn="l" eaLnBrk="1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 huge/heated/fierce/violent argument</a:t>
            </a:r>
          </a:p>
          <a:p>
            <a:pPr marL="0" indent="-446405" algn="l" eaLnBrk="1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b="1" dirty="0">
                <a:sym typeface="+mn-ea"/>
              </a:rPr>
              <a:t>一场大的</a:t>
            </a:r>
            <a:r>
              <a:rPr lang="en-US" altLang="zh-CN" b="1" dirty="0">
                <a:sym typeface="+mn-ea"/>
              </a:rPr>
              <a:t>/</a:t>
            </a:r>
            <a:r>
              <a:rPr lang="zh-CN" altLang="en-US" b="1" dirty="0">
                <a:sym typeface="+mn-ea"/>
              </a:rPr>
              <a:t>激烈的</a:t>
            </a:r>
            <a:r>
              <a:rPr lang="en-US" altLang="zh-CN" b="1" dirty="0">
                <a:sym typeface="+mn-ea"/>
              </a:rPr>
              <a:t>/</a:t>
            </a:r>
            <a:r>
              <a:rPr lang="zh-CN" altLang="en-US" b="1" dirty="0">
                <a:sym typeface="+mn-ea"/>
              </a:rPr>
              <a:t>暴力的争论</a:t>
            </a:r>
            <a:endParaRPr lang="en-US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0" indent="-446405" algn="l" eaLnBrk="1" latinLnBrk="0" hangingPunct="1">
              <a:lnSpc>
                <a:spcPct val="100000"/>
              </a:lnSpc>
              <a:buClrTx/>
              <a:buSzTx/>
              <a:buFontTx/>
              <a:buNone/>
            </a:pPr>
            <a:endParaRPr lang="en-US" altLang="en-US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06045" y="1828800"/>
            <a:ext cx="860107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-446405" algn="l" eaLnBrk="1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                               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breaks out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between the two parties.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文本占位符 7170"/>
          <p:cNvSpPr>
            <a:spLocks noGrp="1"/>
          </p:cNvSpPr>
          <p:nvPr>
            <p:ph type="body" idx="1"/>
          </p:nvPr>
        </p:nvSpPr>
        <p:spPr>
          <a:xfrm>
            <a:off x="76200" y="76200"/>
            <a:ext cx="9074150" cy="6108065"/>
          </a:xfrm>
        </p:spPr>
        <p:txBody>
          <a:bodyPr/>
          <a:lstStyle/>
          <a:p>
            <a:pPr marL="0" indent="-446405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2)</a:t>
            </a:r>
            <a:r>
              <a:rPr lang="en-US" altLang="zh-CN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a reason that sb uses to prove sth is true </a:t>
            </a:r>
            <a:r>
              <a:rPr lang="zh-CN" altLang="en-US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论据，理由</a:t>
            </a:r>
            <a:endParaRPr lang="en-US" altLang="zh-CN" b="1" i="1" dirty="0">
              <a:solidFill>
                <a:srgbClr val="FF0000"/>
              </a:solidFill>
              <a:latin typeface="Times New Roman Bold Italic" panose="02020603050405020304" charset="0"/>
              <a:cs typeface="Times New Roman Bold Italic" panose="02020603050405020304" charset="0"/>
              <a:sym typeface="+mn-ea"/>
            </a:endParaRPr>
          </a:p>
          <a:p>
            <a:pPr marL="0" indent="-446405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We have </a:t>
            </a:r>
            <a:r>
              <a:rPr lang="en-US" altLang="zh-CN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strong/powerful arguments for/in favor of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banning high school students from using mobile phones on campus.</a:t>
            </a:r>
          </a:p>
          <a:p>
            <a:pPr marL="0" indent="-446405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我们</a:t>
            </a:r>
            <a:r>
              <a:rPr lang="en-US" altLang="zh-CN" b="1" u="sng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有</a:t>
            </a:r>
            <a:r>
              <a:rPr lang="en-US" altLang="zh-CN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强有力的</a:t>
            </a:r>
            <a:r>
              <a:rPr lang="en-US" altLang="zh-CN" b="1" u="sng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理由支持</a:t>
            </a:r>
            <a:r>
              <a:rPr lang="en-US" altLang="zh-CN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禁止高中生在校园内使用手机</a:t>
            </a:r>
            <a:r>
              <a:rPr lang="zh-CN" altLang="en-US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的论点</a:t>
            </a:r>
            <a:r>
              <a:rPr lang="en-US" altLang="zh-CN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。</a:t>
            </a:r>
          </a:p>
          <a:p>
            <a:pPr marL="0" indent="-446405" algn="l" eaLnBrk="1" latinLnBrk="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opp. 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an argument against sth </a:t>
            </a:r>
            <a:r>
              <a:rPr lang="zh-CN" altLang="en-US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反对……的论据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7475" y="106680"/>
            <a:ext cx="8917940" cy="621474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____ _________ _______ </a:t>
            </a: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television is that it replaces reading as a form of entertainment</a:t>
            </a:r>
            <a:r>
              <a:rPr lang="en-US" altLang="zh-CN" dirty="0"/>
              <a:t>.(</a:t>
            </a:r>
            <a:r>
              <a:rPr lang="zh-CN" altLang="en-US" b="1" dirty="0"/>
              <a:t>一个反对</a:t>
            </a:r>
            <a:r>
              <a:rPr lang="en-US" altLang="zh-CN" b="1" dirty="0"/>
              <a:t>……</a:t>
            </a:r>
            <a:r>
              <a:rPr lang="zh-CN" altLang="en-US" b="1" dirty="0"/>
              <a:t>的论点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A chimpanzee can’t ______ ___ _________ _____ a modern man, but it can tear the man apart like a rag doll.</a:t>
            </a:r>
          </a:p>
          <a:p>
            <a:pPr marL="0" indent="0">
              <a:buNone/>
            </a:pPr>
            <a:r>
              <a:rPr lang="zh-CN" altLang="en-US" b="1" dirty="0"/>
              <a:t>一只黑猩猩和一个现代人辩论会输，但是它可以把人像破布娃娃一样撕碎。</a:t>
            </a: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381000" y="106680"/>
            <a:ext cx="469392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     argument   against</a:t>
            </a: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3657600" y="1676400"/>
            <a:ext cx="545338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win       an     argument  with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 bldLvl="0" animBg="1"/>
      <p:bldP spid="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/>
          </p:cNvSpPr>
          <p:nvPr>
            <p:ph type="body" idx="4294967295"/>
          </p:nvPr>
        </p:nvSpPr>
        <p:spPr>
          <a:xfrm>
            <a:off x="0" y="-228600"/>
            <a:ext cx="9184640" cy="6506845"/>
          </a:xfrm>
        </p:spPr>
        <p:txBody>
          <a:bodyPr vert="horz" wrap="square" lIns="91440" tIns="45720" rIns="91440" bIns="45720" numCol="1" anchor="t" anchorCtr="0" compatLnSpc="1"/>
          <a:lstStyle/>
          <a:p>
            <a:pPr marL="631825" indent="-63182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argue</a:t>
            </a:r>
          </a:p>
          <a:p>
            <a:pPr marL="631825" indent="-63182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vi.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争吵，争论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argue with sb about/over sth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1825" indent="-63182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2)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说理，论证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argue for/against sth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1825" indent="-63182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vt.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主张</a:t>
            </a:r>
            <a:r>
              <a:rPr lang="en-US" altLang="zh-CN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</a:t>
            </a:r>
            <a:r>
              <a:rPr lang="en-US" altLang="zh-CN" b="1" i="1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to give reasons why you think that something is right/wrong, true/not true, etc.</a:t>
            </a:r>
            <a:endParaRPr lang="en-US" altLang="zh-CN" b="1" i="1" dirty="0">
              <a:solidFill>
                <a:srgbClr val="0000FF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 </a:t>
            </a:r>
            <a:r>
              <a:rPr lang="en-US" altLang="zh-CN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well-argued</a:t>
            </a:r>
            <a:r>
              <a:rPr lang="en-US" altLang="zh-CN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article</a:t>
            </a:r>
          </a:p>
          <a:p>
            <a:pPr marL="0" indent="0" algn="l">
              <a:buClrTx/>
              <a:buSzTx/>
              <a:buNone/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一篇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论证充分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的文章</a:t>
            </a:r>
          </a:p>
          <a:p>
            <a:pPr marL="0" indent="0" algn="l">
              <a:buClrTx/>
              <a:buSzTx/>
              <a:buNone/>
            </a:pPr>
            <a:r>
              <a:rPr lang="en-US" altLang="zh-CN" b="1" u="sng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He </a:t>
            </a:r>
            <a:r>
              <a:rPr lang="en-US" altLang="zh-CN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argued </a:t>
            </a:r>
            <a:r>
              <a:rPr lang="en-US" altLang="zh-CN" b="1" u="sng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that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they needed more time to finish the project. 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提出理由说明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(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他认为</a:t>
            </a:r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)</a:t>
            </a:r>
          </a:p>
          <a:p>
            <a:pPr marL="0" indent="0" algn="l">
              <a:buClrTx/>
              <a:buSzTx/>
              <a:buNone/>
            </a:pPr>
            <a:r>
              <a:rPr lang="en-US" altLang="zh-CN" b="1" u="sng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It is </a:t>
            </a:r>
            <a:r>
              <a:rPr lang="en-US" altLang="zh-CN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argued </a:t>
            </a:r>
            <a:r>
              <a:rPr lang="en-US" altLang="zh-CN" b="1" u="sng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that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laws are made by and for men.</a:t>
            </a:r>
          </a:p>
          <a:p>
            <a:pPr marL="0" indent="0" algn="l">
              <a:buClrTx/>
              <a:buSzTx/>
              <a:buNone/>
            </a:pP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有人认为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572000" y="5612765"/>
            <a:ext cx="39643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>
                <a:solidFill>
                  <a:srgbClr val="0000FF"/>
                </a:solidFill>
                <a:latin typeface="Arial Bold Italic" panose="020B0604020202020204" charset="0"/>
                <a:cs typeface="Arial Bold Italic" panose="020B0604020202020204" charset="0"/>
              </a:rPr>
              <a:t>for stating an opinion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304800"/>
            <a:ext cx="8229600" cy="4876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58775" indent="-35877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【语境应用】翻译句子。</a:t>
            </a:r>
          </a:p>
          <a:p>
            <a:pPr marL="358775" indent="-35877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你们两个在争辩什么呢？</a:t>
            </a:r>
          </a:p>
          <a:p>
            <a:pPr marL="358775" indent="-358775"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他的行为表明他是一个友好的人。</a:t>
            </a:r>
          </a:p>
          <a:p>
            <a:pPr marL="358775" indent="-358775"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-35877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这是反对吸烟的有力论据。</a:t>
            </a:r>
            <a:endParaRPr lang="zh-CN" alt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460" name="Rectangle 4"/>
          <p:cNvSpPr/>
          <p:nvPr/>
        </p:nvSpPr>
        <p:spPr>
          <a:xfrm>
            <a:off x="837884" y="1520667"/>
            <a:ext cx="604202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you two arguing about?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461" name="Rectangle 5"/>
          <p:cNvSpPr/>
          <p:nvPr/>
        </p:nvSpPr>
        <p:spPr>
          <a:xfrm>
            <a:off x="838200" y="2688590"/>
            <a:ext cx="7774305" cy="122364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behavior /What he does argues that he is a friendly man.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462" name="Rectangle 6"/>
          <p:cNvSpPr/>
          <p:nvPr/>
        </p:nvSpPr>
        <p:spPr>
          <a:xfrm>
            <a:off x="761684" y="4470053"/>
            <a:ext cx="754316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a powerful argument against smoking.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61" grpId="0"/>
      <p:bldP spid="194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0" y="-152400"/>
            <a:ext cx="9050655" cy="6447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-72072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latin typeface="Times New Roman" panose="02020603050405020304" pitchFamily="18" charset="0"/>
              </a:rPr>
              <a:t>3. Teenagers’ physical changes may result in such family </a:t>
            </a:r>
            <a:r>
              <a:rPr lang="en-US" altLang="zh-CN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tensions</a:t>
            </a:r>
            <a:r>
              <a:rPr lang="en-US" altLang="zh-CN" b="1" kern="0" dirty="0">
                <a:latin typeface="Times New Roman" panose="02020603050405020304" pitchFamily="18" charset="0"/>
              </a:rPr>
              <a:t>.</a:t>
            </a:r>
          </a:p>
          <a:p>
            <a:pPr marL="0" indent="-72072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kern="0" dirty="0">
                <a:latin typeface="Times New Roman" panose="02020603050405020304" pitchFamily="18" charset="0"/>
              </a:rPr>
              <a:t>青少年的生理变化可能会导致这样</a:t>
            </a:r>
            <a:r>
              <a:rPr lang="zh-CN" altLang="en-US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紧张的</a:t>
            </a:r>
            <a:r>
              <a:rPr lang="zh-CN" altLang="en-US" b="1" kern="0" dirty="0">
                <a:latin typeface="Times New Roman" panose="02020603050405020304" pitchFamily="18" charset="0"/>
              </a:rPr>
              <a:t>家庭</a:t>
            </a:r>
            <a:r>
              <a:rPr lang="zh-CN" altLang="en-US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关系</a:t>
            </a:r>
            <a:r>
              <a:rPr lang="zh-CN" altLang="en-US" b="1" kern="0" dirty="0">
                <a:latin typeface="Times New Roman" panose="02020603050405020304" pitchFamily="18" charset="0"/>
              </a:rPr>
              <a:t>。</a:t>
            </a:r>
            <a:endParaRPr lang="en-US" altLang="zh-CN" b="1" kern="0" dirty="0">
              <a:latin typeface="Times New Roman" panose="02020603050405020304" pitchFamily="18" charset="0"/>
            </a:endParaRPr>
          </a:p>
          <a:p>
            <a:pPr marL="0" indent="-72072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latin typeface="Times New Roman" panose="02020603050405020304" pitchFamily="18" charset="0"/>
              </a:rPr>
              <a:t> 1)</a:t>
            </a:r>
            <a:r>
              <a:rPr lang="zh-CN" altLang="en-US" b="1" kern="0" dirty="0">
                <a:latin typeface="Times New Roman" panose="02020603050405020304" pitchFamily="18" charset="0"/>
              </a:rPr>
              <a:t> </a:t>
            </a:r>
            <a:r>
              <a:rPr lang="en-US" altLang="zh-CN" b="1" i="1" kern="0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usually pl.</a:t>
            </a:r>
            <a:r>
              <a:rPr lang="en-US" altLang="zh-CN" b="1" kern="0" dirty="0">
                <a:latin typeface="Times New Roman" panose="02020603050405020304" pitchFamily="18" charset="0"/>
              </a:rPr>
              <a:t> situation </a:t>
            </a:r>
            <a:r>
              <a:rPr lang="zh-CN" altLang="en-US" b="1" kern="0" dirty="0">
                <a:latin typeface="Times New Roman" panose="02020603050405020304" pitchFamily="18" charset="0"/>
              </a:rPr>
              <a:t>紧张关系</a:t>
            </a:r>
            <a:r>
              <a:rPr lang="en-US" altLang="zh-CN" b="1" kern="0" dirty="0">
                <a:latin typeface="Times New Roman" panose="02020603050405020304" pitchFamily="18" charset="0"/>
              </a:rPr>
              <a:t>/</a:t>
            </a:r>
            <a:r>
              <a:rPr lang="zh-CN" altLang="en-US" b="1" kern="0" dirty="0">
                <a:latin typeface="Times New Roman" panose="02020603050405020304" pitchFamily="18" charset="0"/>
              </a:rPr>
              <a:t>局势</a:t>
            </a:r>
            <a:endParaRPr lang="en-US" altLang="zh-CN" b="1" kern="0" dirty="0">
              <a:latin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kern="0" dirty="0">
                <a:latin typeface="Times New Roman" panose="02020603050405020304" pitchFamily="18" charset="0"/>
              </a:rPr>
              <a:t>国际紧张局势</a:t>
            </a:r>
            <a:endParaRPr lang="en-US" altLang="zh-CN" sz="3200" b="1" kern="0" dirty="0">
              <a:latin typeface="Times New Roman" panose="02020603050405020304" pitchFamily="18" charset="0"/>
            </a:endParaRPr>
          </a:p>
          <a:p>
            <a:pPr marL="0" indent="-72072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latin typeface="Times New Roman" panose="02020603050405020304" pitchFamily="18" charset="0"/>
              </a:rPr>
              <a:t>     </a:t>
            </a:r>
            <a:r>
              <a:rPr lang="zh-CN" altLang="en-US" b="1" kern="0" dirty="0">
                <a:latin typeface="Times New Roman" panose="02020603050405020304" pitchFamily="18" charset="0"/>
              </a:rPr>
              <a:t>政治上的紧张状况</a:t>
            </a:r>
            <a:endParaRPr lang="en-US" altLang="zh-CN" b="1" kern="0" dirty="0">
              <a:latin typeface="Times New Roman" panose="02020603050405020304" pitchFamily="18" charset="0"/>
            </a:endParaRPr>
          </a:p>
          <a:p>
            <a:pPr marL="0" indent="-72072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latin typeface="Times New Roman" panose="02020603050405020304" pitchFamily="18" charset="0"/>
              </a:rPr>
              <a:t> 2) </a:t>
            </a:r>
            <a:r>
              <a:rPr lang="en-US" altLang="zh-CN" b="1" i="1" kern="0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un. </a:t>
            </a:r>
            <a:r>
              <a:rPr lang="en-US" altLang="zh-CN" b="1" kern="0" dirty="0">
                <a:latin typeface="Times New Roman" panose="02020603050405020304" pitchFamily="18" charset="0"/>
              </a:rPr>
              <a:t>a feeling of anxiety and stress</a:t>
            </a:r>
          </a:p>
          <a:p>
            <a:pPr marL="457200" lvl="1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kern="0" dirty="0">
                <a:latin typeface="Times New Roman" panose="02020603050405020304" pitchFamily="18" charset="0"/>
              </a:rPr>
              <a:t>精神紧张</a:t>
            </a:r>
          </a:p>
          <a:p>
            <a:pPr marL="457200" lvl="1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200" b="1" kern="0" dirty="0">
                <a:latin typeface="Times New Roman" panose="02020603050405020304" pitchFamily="18" charset="0"/>
              </a:rPr>
              <a:t>缓和紧张情绪</a:t>
            </a:r>
            <a:endParaRPr lang="en-US" altLang="zh-CN" sz="3200" b="1" kern="0" dirty="0">
              <a:latin typeface="Times New Roman" panose="02020603050405020304" pitchFamily="18" charset="0"/>
            </a:endParaRPr>
          </a:p>
          <a:p>
            <a:pPr marL="0" indent="-72072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3200" b="1" kern="0" dirty="0">
              <a:latin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114800" y="2667000"/>
            <a:ext cx="4457700" cy="1371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720725" indent="-72072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international tension</a:t>
            </a:r>
            <a:r>
              <a:rPr lang="en-US" altLang="zh-CN" b="1" u="sng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endParaRPr lang="en-US" altLang="zh-CN" b="1" kern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720725" indent="-72072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political tension</a:t>
            </a:r>
            <a:r>
              <a:rPr lang="en-US" altLang="zh-CN" b="1" u="sng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962400" y="4495800"/>
            <a:ext cx="4457700" cy="18815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720725" indent="-72072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nervous</a:t>
            </a:r>
            <a:r>
              <a:rPr lang="zh-CN" altLang="en-US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tension</a:t>
            </a:r>
          </a:p>
          <a:p>
            <a:pPr marL="720725" indent="-72072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ease the tension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381000" y="304800"/>
            <a:ext cx="8638540" cy="34474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-72072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kern="0" dirty="0">
                <a:solidFill>
                  <a:schemeClr val="tx1"/>
                </a:solidFill>
                <a:latin typeface="Times New Roman" panose="02020603050405020304" pitchFamily="18" charset="0"/>
              </a:rPr>
              <a:t>他转换了话题，以缓和谈话的紧张气氛。</a:t>
            </a:r>
            <a:endParaRPr lang="en-US" altLang="zh-CN" b="1" kern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-72072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latin typeface="Times New Roman" panose="02020603050405020304" pitchFamily="18" charset="0"/>
              </a:rPr>
              <a:t>He changed the topic in order to _____________ in the conversation.</a:t>
            </a:r>
          </a:p>
          <a:p>
            <a:pPr marL="0" indent="-72072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latin typeface="Times New Roman" panose="02020603050405020304" pitchFamily="18" charset="0"/>
              </a:rPr>
              <a:t>We can</a:t>
            </a:r>
            <a:r>
              <a:rPr lang="en-US" altLang="zh-CN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feel the tension</a:t>
            </a:r>
            <a:r>
              <a:rPr lang="en-US" altLang="zh-CN" b="1" kern="0" dirty="0">
                <a:latin typeface="Times New Roman" panose="02020603050405020304" pitchFamily="18" charset="0"/>
              </a:rPr>
              <a:t> in the hall as the final result is to be announced.</a:t>
            </a:r>
          </a:p>
          <a:p>
            <a:pPr marL="0" indent="-72072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kern="0" dirty="0">
                <a:latin typeface="Times New Roman" panose="02020603050405020304" pitchFamily="18" charset="0"/>
                <a:sym typeface="+mn-ea"/>
              </a:rPr>
              <a:t>最终结果即将揭晓，我们能感受到大厅里的紧张气氛。</a:t>
            </a:r>
            <a:endParaRPr lang="en-US" altLang="zh-CN" b="1" kern="0" dirty="0">
              <a:latin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096000" y="914400"/>
            <a:ext cx="29235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ease the tension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79070" y="228600"/>
            <a:ext cx="8721725" cy="1371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-72072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latin typeface="Times New Roman" panose="02020603050405020304" pitchFamily="18" charset="0"/>
              </a:rPr>
              <a:t> </a:t>
            </a:r>
            <a:r>
              <a:rPr lang="en-US" altLang="zh-CN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tense (adj.)    </a:t>
            </a:r>
            <a:r>
              <a:rPr lang="zh-CN" altLang="en-US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紧张的；绷紧的</a:t>
            </a:r>
            <a:endParaRPr lang="en-US" altLang="zh-CN" b="1" kern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-72072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 tensely (adv.)</a:t>
            </a:r>
          </a:p>
          <a:p>
            <a:pPr marL="0" indent="-72072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latin typeface="Times New Roman" panose="02020603050405020304" pitchFamily="18" charset="0"/>
              </a:rPr>
              <a:t>The atmosphere of the discussion is becoming much ________ than before.</a:t>
            </a:r>
          </a:p>
          <a:p>
            <a:pPr marL="0" indent="-72072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latin typeface="Times New Roman" panose="02020603050405020304" pitchFamily="18" charset="0"/>
              </a:rPr>
              <a:t>Faced with ________ (tense) between family members, we should try to ease them rather than ignore them.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447800" y="1981200"/>
            <a:ext cx="1255395" cy="430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tenser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362200" y="2590800"/>
            <a:ext cx="1872615" cy="4305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3200" b="1" kern="0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tensions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415" y="-152400"/>
            <a:ext cx="8950960" cy="6843395"/>
          </a:xfrm>
        </p:spPr>
        <p:txBody>
          <a:bodyPr/>
          <a:lstStyle/>
          <a:p>
            <a:pPr marL="446405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600" b="1" dirty="0">
                <a:latin typeface="Times New Roman" panose="02020603050405020304" pitchFamily="18" charset="0"/>
              </a:rPr>
              <a:t>4. </a:t>
            </a:r>
            <a:r>
              <a:rPr lang="en-US" altLang="zh-CN" b="1" dirty="0">
                <a:latin typeface="Times New Roman" panose="02020603050405020304" pitchFamily="18" charset="0"/>
              </a:rPr>
              <a:t>You may feel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anxious</a:t>
            </a:r>
            <a:r>
              <a:rPr lang="en-US" altLang="zh-CN" b="1" dirty="0">
                <a:latin typeface="Times New Roman" panose="02020603050405020304" pitchFamily="18" charset="0"/>
              </a:rPr>
              <a:t> that ...</a:t>
            </a:r>
          </a:p>
          <a:p>
            <a:pPr marL="446405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anxious </a:t>
            </a:r>
            <a:r>
              <a:rPr lang="en-US" altLang="zh-CN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1) feeling or showing </a:t>
            </a:r>
            <a:r>
              <a:rPr lang="en-US" altLang="zh-CN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worry</a:t>
            </a:r>
            <a:r>
              <a:rPr lang="en-US" altLang="zh-CN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, </a:t>
            </a:r>
            <a:r>
              <a:rPr lang="en-US" altLang="zh-CN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nervousness</a:t>
            </a:r>
            <a:r>
              <a:rPr lang="en-US" altLang="zh-CN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, or </a:t>
            </a:r>
            <a:r>
              <a:rPr lang="en-US" altLang="zh-CN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unease</a:t>
            </a:r>
            <a:r>
              <a:rPr lang="en-US" altLang="zh-CN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about something with </a:t>
            </a:r>
            <a:r>
              <a:rPr lang="en-US" altLang="zh-CN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an uncertain outcome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担心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，焦虑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She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seemed anxious about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the exam.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Parents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are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naturally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anxious for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their children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There were a few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anxious moments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in the baseball game.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那场棒球赛中有些时刻</a:t>
            </a:r>
            <a:r>
              <a:rPr lang="zh-CN" altLang="en-US" b="1" u="sng" dirty="0">
                <a:solidFill>
                  <a:schemeClr val="tx1"/>
                </a:solidFill>
                <a:latin typeface="Times New Roman" panose="02020603050405020304" pitchFamily="18" charset="0"/>
              </a:rPr>
              <a:t>令人焦虑不安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-635" y="0"/>
            <a:ext cx="9145270" cy="6843395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anxious </a:t>
            </a:r>
            <a:r>
              <a:rPr lang="en-US" altLang="zh-CN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2) be very eager for something to happen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热切，渴望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She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was anxious for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her parents’ understanding.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'm anxious for her to do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as little as possible.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我盼她尽量少干。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She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was anxious to finish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school and get a job.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=She was anxious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that she ______  ______ </a:t>
            </a:r>
            <a:r>
              <a:rPr lang="en-US" altLang="zh-CN" b="1" dirty="0">
                <a:latin typeface="Times New Roman" panose="02020603050405020304" pitchFamily="18" charset="0"/>
              </a:rPr>
              <a:t>and _____ a job.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My parents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were anxious that I (should) get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an education.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spcBef>
                <a:spcPct val="0"/>
              </a:spcBef>
              <a:buAutoNum type="arabicParenR"/>
            </a:pP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48200" y="3555365"/>
            <a:ext cx="30930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(should) finish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52400" y="4088765"/>
            <a:ext cx="8439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get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828800" y="685800"/>
            <a:ext cx="4572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= long (v.) for sth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05460" y="304800"/>
            <a:ext cx="8479790" cy="2514600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anxious 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adj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 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担心的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忧虑的， </a:t>
            </a:r>
            <a:r>
              <a:rPr lang="en-US" altLang="zh-CN" b="1" dirty="0">
                <a:latin typeface="Times New Roman" panose="02020603050405020304" pitchFamily="18" charset="0"/>
              </a:rPr>
              <a:t>(be anxious about sth/for sb);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令人焦虑的；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热切的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渴望的 </a:t>
            </a:r>
            <a:r>
              <a:rPr lang="en-US" altLang="zh-CN" b="1" dirty="0">
                <a:latin typeface="Times New Roman" panose="02020603050405020304" pitchFamily="18" charset="0"/>
              </a:rPr>
              <a:t>(+for/+to do </a:t>
            </a:r>
            <a:r>
              <a:rPr lang="en-US" altLang="zh-CN" b="1" dirty="0" err="1">
                <a:latin typeface="Times New Roman" panose="02020603050405020304" pitchFamily="18" charset="0"/>
              </a:rPr>
              <a:t>sth</a:t>
            </a:r>
            <a:r>
              <a:rPr lang="en-US" altLang="zh-CN" b="1" dirty="0">
                <a:latin typeface="Times New Roman" panose="02020603050405020304" pitchFamily="18" charset="0"/>
              </a:rPr>
              <a:t>/+that, </a:t>
            </a:r>
            <a:r>
              <a:rPr lang="zh-CN" altLang="en-US" b="1" dirty="0">
                <a:latin typeface="Times New Roman" panose="02020603050405020304" pitchFamily="18" charset="0"/>
              </a:rPr>
              <a:t>从句中常用虚拟语气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" name="左大括号 1"/>
          <p:cNvSpPr/>
          <p:nvPr/>
        </p:nvSpPr>
        <p:spPr>
          <a:xfrm>
            <a:off x="152401" y="914205"/>
            <a:ext cx="304799" cy="177585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33151" y="3404432"/>
            <a:ext cx="6858000" cy="24536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anxiously   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adv.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焦急地</a:t>
            </a:r>
            <a:r>
              <a:rPr lang="en-US" altLang="zh-CN" sz="3200" b="1" dirty="0">
                <a:latin typeface="Times New Roman" panose="02020603050405020304" pitchFamily="18" charset="0"/>
              </a:rPr>
              <a:t>; </a:t>
            </a:r>
            <a:r>
              <a:rPr lang="zh-CN" altLang="en-US" sz="3200" b="1" dirty="0">
                <a:latin typeface="Times New Roman" panose="02020603050405020304" pitchFamily="18" charset="0"/>
              </a:rPr>
              <a:t>急切地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anxiety     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u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n.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焦虑</a:t>
            </a:r>
            <a:r>
              <a:rPr lang="en-US" altLang="zh-CN" sz="3200" b="1" dirty="0">
                <a:latin typeface="Times New Roman" panose="02020603050405020304" pitchFamily="18" charset="0"/>
              </a:rPr>
              <a:t>; </a:t>
            </a:r>
            <a:r>
              <a:rPr lang="zh-CN" altLang="en-US" sz="3200" b="1" dirty="0">
                <a:latin typeface="Times New Roman" panose="02020603050405020304" pitchFamily="18" charset="0"/>
              </a:rPr>
              <a:t>担心</a:t>
            </a:r>
            <a:r>
              <a:rPr lang="en-US" altLang="zh-CN" sz="3200" b="1" dirty="0">
                <a:latin typeface="Times New Roman" panose="02020603050405020304" pitchFamily="18" charset="0"/>
              </a:rPr>
              <a:t>; </a:t>
            </a:r>
            <a:r>
              <a:rPr lang="zh-CN" altLang="en-US" sz="3200" b="1" dirty="0">
                <a:latin typeface="Times New Roman" panose="02020603050405020304" pitchFamily="18" charset="0"/>
              </a:rPr>
              <a:t>渴望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with anxiety</a:t>
            </a:r>
            <a:r>
              <a:rPr lang="en-US" altLang="zh-CN" sz="3200" b="1" dirty="0">
                <a:latin typeface="Times New Roman" panose="02020603050405020304" pitchFamily="18" charset="0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</a:rPr>
              <a:t>焦急地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5" name="左大括号 4"/>
          <p:cNvSpPr/>
          <p:nvPr/>
        </p:nvSpPr>
        <p:spPr>
          <a:xfrm>
            <a:off x="251543" y="3790063"/>
            <a:ext cx="228600" cy="12954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uiExpand="1" build="p"/>
      <p:bldP spid="4" grpId="0" bldLvl="0" animBg="1"/>
      <p:bldP spid="5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87985" y="963295"/>
            <a:ext cx="8354695" cy="483489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/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我们为你担心。 </a:t>
            </a: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______ _______ _______ you.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他非常希望不会出现延误。</a:t>
            </a: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_______ _______ _______ _______ there should be no delay.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我们都在焦急地等待消息。 </a:t>
            </a:r>
          </a:p>
          <a:p>
            <a:pPr marL="533400" indent="-533400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_______ _______ _______ _______ _______  _______.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228600" y="152400"/>
            <a:ext cx="7620000" cy="6819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翻译句子。</a:t>
            </a: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1980884" y="1599884"/>
            <a:ext cx="378333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were    anxious     for</a:t>
            </a: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1626871" y="2773046"/>
            <a:ext cx="542163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           is        anxious     that</a:t>
            </a: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066800" y="4495800"/>
            <a:ext cx="10099675" cy="10763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        were        all       anxious      for       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7" grpId="0" bldLvl="0" animBg="1"/>
      <p:bldP spid="10248" grpId="0" bldLvl="0" animBg="1"/>
      <p:bldP spid="10249" grpId="0" animBg="1"/>
      <p:bldP spid="10249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39370" y="0"/>
            <a:ext cx="9006205" cy="658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4. ...you are developing at a different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rate</a:t>
            </a:r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to</a:t>
            </a:r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 your friends...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rate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速度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a rate of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速度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以惊人的速度                             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的平均速度                       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以惊人的速度完成了该项目。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 finished the project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an alarming rate.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这辆车的平均速度为每小时 80 公里。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car is going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an average rate of 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 km an hour.</a:t>
            </a:r>
            <a:endParaRPr lang="zh-CN" altLang="en-US" sz="3200" b="1" i="1" dirty="0">
              <a:latin typeface="Times New Roman Bold Italic" panose="02020603050405020304" charset="0"/>
              <a:cs typeface="Times New Roman Bold Italic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33800" y="2286000"/>
            <a:ext cx="4618355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 an alarming rate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 an average rate of…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200" y="-76200"/>
            <a:ext cx="8913495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[idom]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any rate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whatever happens or may have happened: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I may be away on business next week but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at any rate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I'll be back by Friday.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to clarify or emphasize a statement: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he story, or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at any rate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, a public version of it, was known and remembered.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953000" y="1676400"/>
            <a:ext cx="206057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无论如何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707890" y="3505200"/>
            <a:ext cx="206057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至少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175" y="-38100"/>
            <a:ext cx="9069705" cy="6843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rate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high/low/rising birth rate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success/failure rate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exchange/interest rate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= a fixed amount of money </a:t>
            </a:r>
            <a:r>
              <a:rPr lang="zh-CN" altLang="en-US" sz="3200" b="1" dirty="0">
                <a:latin typeface="Times New Roman Bold Italic" panose="02020603050405020304" charset="0"/>
                <a:cs typeface="Times New Roman Bold Italic" panose="02020603050405020304" charset="0"/>
              </a:rPr>
              <a:t>价格，费用</a:t>
            </a:r>
            <a:endParaRPr lang="zh-CN" altLang="en-US" sz="3200" b="1" i="1" dirty="0"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We offer special reduced rates for students.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我们对学生有特惠价格。</a:t>
            </a:r>
          </a:p>
        </p:txBody>
      </p:sp>
      <p:sp>
        <p:nvSpPr>
          <p:cNvPr id="5" name="矩形 4"/>
          <p:cNvSpPr/>
          <p:nvPr/>
        </p:nvSpPr>
        <p:spPr>
          <a:xfrm>
            <a:off x="4876800" y="533641"/>
            <a:ext cx="5049644" cy="1863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高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低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不断增长的出生率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成功率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失败率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汇率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利率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175" y="-38100"/>
            <a:ext cx="9142095" cy="6843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vi.&amp;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think that sb/sth has a particular quality/value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评价，评估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 Chris highly 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her sense of responsibility.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这所大学因其研究工作而受到高度评价。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university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highly rated 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its research.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sb/sth (as) sth / ~ as sth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show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rated (as) a success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audiences.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novel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rates as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masterpiece of simplicity.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这部小说可以说是朴实的典范。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最受欢迎的，热门的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top-rated (adj.)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080" y="0"/>
            <a:ext cx="9065895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小册子里列出了这座城市里十个最受欢迎的旅游景点。</a:t>
            </a:r>
          </a:p>
          <a:p>
            <a:pPr marL="446405" indent="-446405"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这家被评为四星的酒店，不提供热水。</a:t>
            </a:r>
          </a:p>
          <a:p>
            <a:pPr marL="446405" indent="-446405">
              <a:lnSpc>
                <a:spcPct val="120000"/>
              </a:lnSpc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人们认为他是他那个时代最伟大的诗人之一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446405" indent="-446405">
              <a:lnSpc>
                <a:spcPct val="120000"/>
              </a:lnSpc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04800" y="1219200"/>
            <a:ext cx="8680450" cy="51238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booklet lists 10 top-rated tourist attractions in this city.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hotel, rated four star, does not offer hot water.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631825" eaLnBrk="1" latinLnBrk="0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People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rate him (as)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one of the greatest poets of his time.</a:t>
            </a:r>
          </a:p>
          <a:p>
            <a:pPr marL="0" indent="-631825" eaLnBrk="1" latinLnBrk="0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 is rated (as) ... / He rates as ...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52400"/>
            <a:ext cx="9144000" cy="68637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shoot up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Alan has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shot up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since I saw him last year.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快速长高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Prices of vegetables in this area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shot up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last year.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猛涨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 rapidly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Flames were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shooting up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the sky.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火焰腾空而起。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52400"/>
            <a:ext cx="9144000" cy="68637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shoot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vi. &amp; vt.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to move suddenly or quickly in one direction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plane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shot 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across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sky.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Ward's hand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shot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grabbing his arm.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Claudia felt a pain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shoot 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 chest. (a shooting pain)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 could lose their licences for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shooting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many red lights.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54610" y="20320"/>
            <a:ext cx="9227820" cy="68370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shoot (shot, shot)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vi.&amp;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射杀；射击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shoot at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射击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shoot sb./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in the back 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射中某人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某物背部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shoot sb. dead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击毙某人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shoot down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击落；批驳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I finally had the courage to speak to her she just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shot me down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他的新经济理论被否决了。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new economic theory has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been shot down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54610" y="20320"/>
            <a:ext cx="9227820" cy="68370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shoot (shot, shot)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vt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拍摄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movie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shot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mountain.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shot 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镜头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long/close-up shot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远景/特写照片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635" y="-152400"/>
            <a:ext cx="9113520" cy="6812280"/>
          </a:xfrm>
        </p:spPr>
        <p:txBody>
          <a:bodyPr/>
          <a:lstStyle/>
          <a:p>
            <a:pPr marL="0" indent="-44958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5. You might worry about your changing voice, weight problems or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spots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marL="449580" indent="-44958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spot 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n.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粉刺；斑点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污渍；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地点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场所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marL="0" indent="-44958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The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dog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with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spots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on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the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back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behaved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quite well in front of the audience.</a:t>
            </a:r>
          </a:p>
          <a:p>
            <a:pPr marL="0" indent="-44958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rPr>
              <a:t>背上有斑点的狗在观众面前表现得相当不错。</a:t>
            </a:r>
          </a:p>
          <a:p>
            <a:pPr marL="449580" indent="-44958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His jacket was covered with </a:t>
            </a:r>
            <a:r>
              <a:rPr lang="zh-CN" altLang="en-US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spots of mud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</a:p>
          <a:p>
            <a:pPr marL="449580" indent="-44958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他的上衣满是泥点。</a:t>
            </a:r>
          </a:p>
          <a:p>
            <a:pPr marL="449580" indent="-44958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 tourist spot 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旅游景点</a:t>
            </a:r>
          </a:p>
          <a:p>
            <a:pPr marL="449580" indent="-44958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on the spot     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在现场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0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0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0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0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0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0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89085" cy="56311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8445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+mn-ea"/>
                <a:sym typeface="+mn-ea"/>
              </a:rPr>
              <a:t>The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sym typeface="+mn-ea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sym typeface="+mn-ea"/>
              </a:rPr>
              <a:t>man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sym typeface="+mn-ea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sym typeface="+mn-ea"/>
              </a:rPr>
              <a:t>who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sym typeface="+mn-ea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sym typeface="+mn-ea"/>
              </a:rPr>
              <a:t>tried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sym typeface="+mn-ea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sym typeface="+mn-ea"/>
              </a:rPr>
              <a:t>to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sym typeface="+mn-ea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sym typeface="+mn-ea"/>
              </a:rPr>
              <a:t>steal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sym typeface="+mn-ea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sym typeface="+mn-ea"/>
              </a:rPr>
              <a:t>the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sym typeface="+mn-ea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sym typeface="+mn-ea"/>
              </a:rPr>
              <a:t>lady’s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sym typeface="+mn-ea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sym typeface="+mn-ea"/>
              </a:rPr>
              <a:t>purse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sym typeface="+mn-ea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sym typeface="+mn-ea"/>
              </a:rPr>
              <a:t>was caught ____ ____ _____.</a:t>
            </a:r>
            <a:endParaRPr lang="en-US" altLang="zh-CN" sz="3200" b="1" dirty="0">
              <a:latin typeface="Times New Roman" panose="02020603050405020304" pitchFamily="18" charset="0"/>
              <a:ea typeface="+mn-ea"/>
            </a:endParaRPr>
          </a:p>
          <a:p>
            <a:pPr marL="844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An ambulance was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on the spot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 within minutes.</a:t>
            </a:r>
          </a:p>
          <a:p>
            <a:pPr marL="8445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rPr>
              <a:t>几分钟之内，一辆救护车便赶到现场。</a:t>
            </a:r>
          </a:p>
          <a:p>
            <a:pPr marL="844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an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on-the-spot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 report</a:t>
            </a:r>
          </a:p>
          <a:p>
            <a:pPr marL="8445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rPr>
              <a:t>现场报道</a:t>
            </a:r>
          </a:p>
          <a:p>
            <a:pPr marL="844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He's in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a spot 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 trouble.</a:t>
            </a:r>
          </a:p>
          <a:p>
            <a:pPr marL="8445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+mn-ea"/>
              </a:rPr>
              <a:t>他遇到一点麻烦。</a:t>
            </a:r>
          </a:p>
          <a:p>
            <a:pPr marL="844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I felt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a few spots of rain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.</a:t>
            </a:r>
          </a:p>
          <a:p>
            <a:pPr marL="8445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+mn-ea"/>
              </a:rPr>
              <a:t>我感觉掉雨点了。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524000" y="609600"/>
            <a:ext cx="301434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sym typeface="+mn-ea"/>
              </a:rPr>
              <a:t>on     the   spot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  <p:bldP spid="3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056370" cy="659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spo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tt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ed  adj.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3200" b="1" dirty="0">
                <a:sym typeface="+mn-ea"/>
              </a:rPr>
              <a:t>有斑点的</a:t>
            </a:r>
            <a:r>
              <a:rPr lang="en-US" altLang="zh-CN" sz="3200" b="1" dirty="0">
                <a:sym typeface="+mn-ea"/>
              </a:rPr>
              <a:t>, </a:t>
            </a:r>
            <a:r>
              <a:rPr lang="zh-CN" altLang="en-US" sz="3200" b="1" dirty="0">
                <a:sym typeface="+mn-ea"/>
              </a:rPr>
              <a:t>弄污了的</a:t>
            </a:r>
            <a:endParaRPr lang="zh-CN" altLang="en-US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spotless adj. </a:t>
            </a:r>
            <a:r>
              <a:rPr lang="zh-CN" altLang="en-US" sz="3200" b="1" dirty="0">
                <a:sym typeface="+mn-ea"/>
              </a:rPr>
              <a:t>无脏污的</a:t>
            </a:r>
            <a:r>
              <a:rPr lang="en-US" altLang="zh-CN" sz="3200" b="1" dirty="0">
                <a:sym typeface="+mn-ea"/>
              </a:rPr>
              <a:t>, </a:t>
            </a:r>
            <a:r>
              <a:rPr lang="zh-CN" altLang="en-US" sz="3200" b="1" dirty="0">
                <a:sym typeface="+mn-ea"/>
              </a:rPr>
              <a:t>无可挑剔的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His shirt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was spotted with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 oil.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rPr>
              <a:t>满是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rPr>
              <a:t>斑点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+mn-ea"/>
              </a:rPr>
              <a:t>We lay on the grass, staring at the sky ______ (spot) with twinkling stars.</a:t>
            </a:r>
          </a:p>
          <a:p>
            <a:pPr marL="844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spot v.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ea typeface="+mn-ea"/>
                <a:cs typeface="Times New Roman Bold Italic" panose="02020603050405020304" charset="0"/>
              </a:rPr>
              <a:t>see or notice sth/sb especially suddenly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rPr>
              <a:t> 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+mn-ea"/>
            </a:endParaRPr>
          </a:p>
          <a:p>
            <a:pPr marL="8445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rPr>
              <a:t>发现某人正在做某事                     发现一处错误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+mn-ea"/>
            </a:endParaRPr>
          </a:p>
          <a:p>
            <a:pPr marL="844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spot sb. doing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</a:rPr>
              <a:t>.                       spot a mistake</a:t>
            </a:r>
          </a:p>
          <a:p>
            <a:pPr marL="8445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+mn-ea"/>
              </a:rPr>
              <a:t>After several hours, he finally _______ his team leader in the crowd.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781800" y="2286000"/>
            <a:ext cx="15932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sym typeface="+mn-ea"/>
              </a:rPr>
              <a:t>spotted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410200" y="5334000"/>
            <a:ext cx="15932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sym typeface="+mn-ea"/>
              </a:rPr>
              <a:t>spotted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-76200" y="3505200"/>
            <a:ext cx="9317355" cy="190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She said she ________ (</a:t>
            </a:r>
            <a:r>
              <a:rPr lang="zh-CN" altLang="en-US" sz="3200" b="1" dirty="0">
                <a:latin typeface="Times New Roman" panose="02020603050405020304" pitchFamily="18" charset="0"/>
              </a:rPr>
              <a:t>发现</a:t>
            </a:r>
            <a:r>
              <a:rPr lang="en-US" altLang="zh-CN" sz="3200" b="1" dirty="0">
                <a:latin typeface="Times New Roman" panose="02020603050405020304" pitchFamily="18" charset="0"/>
              </a:rPr>
              <a:t>) my wallet on a bus seat.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</a:rPr>
              <a:t>我打算找一个更好的地点露营。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I’m going to ______ _____ ______ _____ for us to camp.  </a:t>
            </a:r>
          </a:p>
        </p:txBody>
      </p:sp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-635" y="40640"/>
            <a:ext cx="9076690" cy="3634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写出画线单词词性及中文。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1) On the way, we </a:t>
            </a:r>
            <a:r>
              <a:rPr lang="en-US" altLang="zh-CN" sz="3200" b="1" u="sng" dirty="0">
                <a:latin typeface="Times New Roman" panose="02020603050405020304" pitchFamily="18" charset="0"/>
              </a:rPr>
              <a:t>spotted</a:t>
            </a:r>
            <a:r>
              <a:rPr lang="en-US" altLang="zh-CN" sz="3200" b="1" dirty="0">
                <a:latin typeface="Times New Roman" panose="02020603050405020304" pitchFamily="18" charset="0"/>
              </a:rPr>
              <a:t> a man holding a piece of paper that said, “Lost my job. Family to Feed.” _____ __________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2) Jack showed me the exact </a:t>
            </a:r>
            <a:r>
              <a:rPr lang="en-US" altLang="zh-CN" sz="3200" b="1" u="sng" dirty="0">
                <a:latin typeface="Times New Roman" panose="02020603050405020304" pitchFamily="18" charset="0"/>
              </a:rPr>
              <a:t>spot</a:t>
            </a:r>
            <a:r>
              <a:rPr lang="en-US" altLang="zh-CN" sz="3200" b="1" dirty="0">
                <a:latin typeface="Times New Roman" panose="02020603050405020304" pitchFamily="18" charset="0"/>
              </a:rPr>
              <a:t> where he had asked Rose to marry him. _____ _______</a:t>
            </a:r>
          </a:p>
        </p:txBody>
      </p:sp>
      <p:sp>
        <p:nvSpPr>
          <p:cNvPr id="196613" name="Rectangle 5"/>
          <p:cNvSpPr>
            <a:spLocks noChangeArrowheads="1"/>
          </p:cNvSpPr>
          <p:nvPr/>
        </p:nvSpPr>
        <p:spPr bwMode="auto">
          <a:xfrm>
            <a:off x="685893" y="1829095"/>
            <a:ext cx="300799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v.</a:t>
            </a:r>
            <a:r>
              <a:rPr lang="zh-CN" altLang="en-US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看见，发现 </a:t>
            </a:r>
          </a:p>
        </p:txBody>
      </p:sp>
      <p:sp>
        <p:nvSpPr>
          <p:cNvPr id="196614" name="Rectangle 6"/>
          <p:cNvSpPr>
            <a:spLocks noChangeArrowheads="1"/>
          </p:cNvSpPr>
          <p:nvPr/>
        </p:nvSpPr>
        <p:spPr bwMode="auto">
          <a:xfrm>
            <a:off x="5257893" y="2971913"/>
            <a:ext cx="213741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n.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地点 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438400" y="3581280"/>
            <a:ext cx="144716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spotted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2514693" y="4724694"/>
            <a:ext cx="447230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find        a      better  spot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6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3" grpId="0" bldLvl="0" animBg="1"/>
      <p:bldP spid="196614" grpId="0" bldLvl="0" animBg="1"/>
      <p:bldP spid="7" grpId="0" bldLvl="0" animBg="1"/>
      <p:bldP spid="2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04140" y="40640"/>
            <a:ext cx="9019540" cy="4225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5. When it all gets too much, your parents are often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the first targets of your anger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当一切让你不堪重负，父母通常会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603050405020304" pitchFamily="18" charset="0"/>
              </a:rPr>
              <a:t>首当其冲成为你发火的对象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target of/for…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……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的对象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Due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to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his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improper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comments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on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the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Internet, Tom has become ___________________(</a:t>
            </a:r>
            <a:r>
              <a:rPr lang="zh-CN" altLang="en-US" sz="3200" b="1" dirty="0">
                <a:latin typeface="Times New Roman" panose="02020603050405020304" pitchFamily="18" charset="0"/>
              </a:rPr>
              <a:t>众矢之的</a:t>
            </a:r>
            <a:r>
              <a:rPr lang="en-US" altLang="zh-CN" sz="3200" b="1" dirty="0">
                <a:latin typeface="Times New Roman" panose="02020603050405020304" pitchFamily="18" charset="0"/>
              </a:rPr>
              <a:t>).</a:t>
            </a: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3200400" y="3581400"/>
            <a:ext cx="388366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  target  of  criticism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04140" y="40640"/>
            <a:ext cx="9019540" cy="4225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2)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hit /miss the target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set/aim for/achieve/reach a target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 target audience/group/area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目标观众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群体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范围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The new stadium is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on target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to open in June.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如期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按目标</a:t>
            </a: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3276600" y="76200"/>
            <a:ext cx="5269230" cy="5835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n. objective/goal/object/aim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685800" y="76200"/>
            <a:ext cx="221805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靶子；目标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6" grpId="0" animBg="1"/>
      <p:bldP spid="6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04140" y="40640"/>
            <a:ext cx="9019540" cy="481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3)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[usually passive]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target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 on/at…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把……作为攻击目标，面向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The advertisement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is mainly targeted at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teenagers.</a:t>
            </a:r>
          </a:p>
          <a:p>
            <a:pPr>
              <a:lnSpc>
                <a:spcPct val="120000"/>
              </a:lnSpc>
            </a:pPr>
            <a:r>
              <a:rPr sz="3200" b="1" dirty="0">
                <a:latin typeface="Times New Roman" panose="02020603050405020304" pitchFamily="18" charset="0"/>
              </a:rPr>
              <a:t>该广告主要</a:t>
            </a:r>
            <a:r>
              <a:rPr sz="3200" b="1" u="sng" dirty="0">
                <a:latin typeface="Times New Roman" panose="02020603050405020304" pitchFamily="18" charset="0"/>
              </a:rPr>
              <a:t>针对</a:t>
            </a:r>
            <a:r>
              <a:rPr sz="3200" b="1" dirty="0">
                <a:latin typeface="Times New Roman" panose="02020603050405020304" pitchFamily="18" charset="0"/>
              </a:rPr>
              <a:t>青少年。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(sb targets the advertisement at teenagers.)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The company has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targeted adults as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its primary customers.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该公司将成年人作为其主要客户。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170815" y="228600"/>
            <a:ext cx="8690610" cy="4523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1) </a:t>
            </a:r>
            <a:r>
              <a:rPr lang="zh-CN" altLang="en-US" sz="3200" b="1" dirty="0">
                <a:latin typeface="Times New Roman" panose="02020603050405020304" pitchFamily="18" charset="0"/>
              </a:rPr>
              <a:t>知名演员通常是报纸、杂志报道的对象。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Well-known performers are usually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targets of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newspapers and magazines.</a:t>
            </a:r>
          </a:p>
          <a:p>
            <a:endParaRPr lang="en-US" altLang="zh-CN" sz="3200" b="1" dirty="0">
              <a:latin typeface="Times New Roman" panose="02020603050405020304" pitchFamily="18" charset="0"/>
            </a:endParaRPr>
          </a:p>
          <a:p>
            <a:r>
              <a:rPr lang="en-US" altLang="zh-CN" sz="3200" b="1" dirty="0">
                <a:latin typeface="Times New Roman" panose="02020603050405020304" pitchFamily="18" charset="0"/>
              </a:rPr>
              <a:t>2) </a:t>
            </a:r>
            <a:r>
              <a:rPr lang="zh-CN" altLang="en-US" sz="3200" b="1" dirty="0">
                <a:latin typeface="Times New Roman" panose="02020603050405020304" pitchFamily="18" charset="0"/>
              </a:rPr>
              <a:t>我们希望在战争中孩子们不要成为被攻击的目标。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We hope that children will not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be targeted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during the war.</a:t>
            </a:r>
          </a:p>
          <a:p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= become targets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" y="-114300"/>
            <a:ext cx="9014460" cy="5562600"/>
          </a:xfrm>
        </p:spPr>
        <p:txBody>
          <a:bodyPr/>
          <a:lstStyle/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You have both a new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desire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independence and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continued need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...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desire 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strong hope/wish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渴望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渴求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52400" y="1752600"/>
            <a:ext cx="8957310" cy="481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805180" indent="-80518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have a strong/no desire to do sth/for sth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sym typeface="+mn-ea"/>
              </a:rPr>
              <a:t>表达做某事的欲望</a:t>
            </a:r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express a desire to do ...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3200" b="1" dirty="0">
                <a:latin typeface="Times New Roman" panose="02020603050405020304" pitchFamily="18" charset="0"/>
                <a:sym typeface="+mn-ea"/>
              </a:rPr>
              <a:t>因为空气污染，城市居民对于清洁能源的渴望日益增强。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Due to the air pollution, there is ___ ___________ _________ ____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clean energy among city dwellers.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满足你的欲望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satisfy your desire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71475" y="4191000"/>
            <a:ext cx="827913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                                                 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     growing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desire       for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142707" y="-152400"/>
            <a:ext cx="10972800" cy="1143000"/>
          </a:xfrm>
        </p:spPr>
        <p:txBody>
          <a:bodyPr/>
          <a:lstStyle/>
          <a:p>
            <a:r>
              <a:rPr lang="en-US" altLang="zh-CN" sz="36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vt.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want something very much </a:t>
            </a:r>
            <a:r>
              <a:rPr lang="zh-CN" alt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希望</a:t>
            </a:r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；渴望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838200"/>
            <a:ext cx="8799830" cy="452628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We all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desire happiness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and health.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The girl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desired to go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back to her motherland.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这个女孩渴望回国。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desire sb.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希望某人做某事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desire that… (should) do… </a:t>
            </a:r>
            <a:r>
              <a:rPr lang="zh-CN" altLang="en-US" sz="3200" b="1" dirty="0">
                <a:latin typeface="Times New Roman" panose="02020603050405020304" pitchFamily="18" charset="0"/>
              </a:rPr>
              <a:t>渴望</a:t>
            </a:r>
            <a:r>
              <a:rPr lang="en-US" altLang="zh-CN" sz="3200" b="1" dirty="0">
                <a:latin typeface="Times New Roman" panose="02020603050405020304" pitchFamily="18" charset="0"/>
              </a:rPr>
              <a:t>……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The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girl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desired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that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she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__________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(go)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back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to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her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motherland.</a:t>
            </a:r>
            <a:endParaRPr lang="zh-CN" alt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4572000" y="4267200"/>
            <a:ext cx="4572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(should) go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8987790" cy="7099935"/>
          </a:xfrm>
        </p:spPr>
        <p:txBody>
          <a:bodyPr/>
          <a:lstStyle/>
          <a:p>
            <a:pPr marL="0" indent="0" eaLnBrk="1" latinLnBrk="0" hangingPunct="1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It failed to create the ________ (desire) effect.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0" eaLnBrk="1" latinLnBrk="0" hangingPunct="1">
              <a:lnSpc>
                <a:spcPct val="100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没有达到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预期的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效果。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0" eaLnBrk="1" latinLnBrk="0" hangingPunct="1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desirous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adj.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渴望的</a:t>
            </a:r>
          </a:p>
          <a:p>
            <a:pPr marL="0" indent="0" eaLnBrk="1" latinLnBrk="0" hangingPunct="1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It has been 3 months since he left home, and now he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is desirous of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finding a job to support himself.</a:t>
            </a:r>
          </a:p>
          <a:p>
            <a:pPr marL="0" indent="0" eaLnBrk="1" latinLnBrk="0" hangingPunct="1">
              <a:lnSpc>
                <a:spcPct val="100000"/>
              </a:lnSpc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离家已经3个月了，现在他渴望找到一份工作来养活自己。</a:t>
            </a:r>
          </a:p>
          <a:p>
            <a:pPr marL="0" indent="0" eaLnBrk="1" latinLnBrk="0" hangingPunct="1">
              <a:lnSpc>
                <a:spcPct val="10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= he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is longing for</a:t>
            </a:r>
            <a:r>
              <a:rPr lang="en-US" altLang="zh-CN" b="1" dirty="0">
                <a:latin typeface="Times New Roman" panose="02020603050405020304" pitchFamily="18" charset="0"/>
              </a:rPr>
              <a:t> a job...</a:t>
            </a:r>
          </a:p>
          <a:p>
            <a:pPr marL="0" indent="0" eaLnBrk="1" latinLnBrk="0" hangingPunct="1">
              <a:lnSpc>
                <a:spcPct val="10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= he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desires</a:t>
            </a:r>
            <a:r>
              <a:rPr lang="en-US" altLang="zh-CN" b="1" dirty="0">
                <a:latin typeface="Times New Roman" panose="02020603050405020304" pitchFamily="18" charset="0"/>
              </a:rPr>
              <a:t> a job...</a:t>
            </a:r>
          </a:p>
          <a:p>
            <a:pPr marL="0" indent="0" eaLnBrk="1" latinLnBrk="0" hangingPunct="1">
              <a:lnSpc>
                <a:spcPct val="10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= he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has a strong desire to find</a:t>
            </a:r>
            <a:r>
              <a:rPr lang="en-US" altLang="zh-CN" b="1" dirty="0">
                <a:latin typeface="Times New Roman" panose="02020603050405020304" pitchFamily="18" charset="0"/>
              </a:rPr>
              <a:t> a job...</a:t>
            </a:r>
          </a:p>
          <a:p>
            <a:pPr marL="0" indent="0" eaLnBrk="1" latinLnBrk="0" hangingPunct="1">
              <a:lnSpc>
                <a:spcPct val="10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= he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has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 strong desire for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 a job...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886200" y="0"/>
            <a:ext cx="18948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desired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8987790" cy="7099935"/>
          </a:xfrm>
        </p:spPr>
        <p:txBody>
          <a:bodyPr/>
          <a:lstStyle/>
          <a:p>
            <a:pPr marL="0" indent="0" eaLnBrk="1" latinLnBrk="0" hangingPunct="1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desirable adj. </a:t>
            </a:r>
            <a:r>
              <a:rPr lang="en-US" altLang="zh-CN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that you would like to have or do, worth having or doing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可取的，明智的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，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值得拥有的</a:t>
            </a:r>
          </a:p>
          <a:p>
            <a:pPr marL="0" indent="0" eaLnBrk="1" latinLnBrk="0" hangingPunct="1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= advisable, attractive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0" eaLnBrk="1" latinLnBrk="0" hangingPunct="1">
              <a:lnSpc>
                <a:spcPct val="100000"/>
              </a:lnSpc>
              <a:buNone/>
            </a:pP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 eaLnBrk="1" latinLnBrk="0" hangingPunct="1">
              <a:lnSpc>
                <a:spcPct val="100000"/>
              </a:lnSpc>
              <a:buNone/>
            </a:pP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It is desirable that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several tests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should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be carried out before the product is launched.</a:t>
            </a:r>
          </a:p>
          <a:p>
            <a:pPr marL="0" indent="0" eaLnBrk="1" latinLnBrk="0" hangingPunct="1">
              <a:lnSpc>
                <a:spcPct val="100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在产品上市前进行几次试验是可取的做法</a:t>
            </a:r>
            <a:r>
              <a:rPr lang="en-US" altLang="zh-CN" b="1" dirty="0">
                <a:latin typeface="Times New Roman" panose="02020603050405020304" pitchFamily="18" charset="0"/>
              </a:rPr>
              <a:t>。</a:t>
            </a:r>
          </a:p>
          <a:p>
            <a:pPr marL="0" indent="0" eaLnBrk="1" latinLnBrk="0" hangingPunct="1">
              <a:lnSpc>
                <a:spcPct val="10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She chatted for a few minutes about the qualities she considered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desirable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in a secretary.</a:t>
            </a:r>
          </a:p>
          <a:p>
            <a:pPr marL="0" indent="0" eaLnBrk="1" latinLnBrk="0" hangingPunct="1">
              <a:lnSpc>
                <a:spcPct val="10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她用了几分钟谈了谈她认为一个秘书应有的品质。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-748030"/>
            <a:ext cx="8816975" cy="4885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完成句子。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1) As far as I know, he _____________________  (</a:t>
            </a:r>
            <a:r>
              <a:rPr lang="zh-CN" altLang="en-US" sz="3200" b="1" dirty="0">
                <a:latin typeface="Times New Roman" panose="02020603050405020304" pitchFamily="18" charset="0"/>
              </a:rPr>
              <a:t>对财富没有欲望</a:t>
            </a:r>
            <a:r>
              <a:rPr lang="en-US" altLang="zh-CN" sz="3200" b="1" dirty="0">
                <a:latin typeface="Times New Roman" panose="02020603050405020304" pitchFamily="18" charset="0"/>
              </a:rPr>
              <a:t>). </a:t>
            </a:r>
          </a:p>
          <a:p>
            <a:pPr marL="357505" indent="-357505"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</a:rPr>
              <a:t>2) Tom told me that they ______________________ (</a:t>
            </a:r>
            <a:r>
              <a:rPr lang="zh-CN" altLang="en-US" sz="3200" b="1" dirty="0">
                <a:latin typeface="Times New Roman" panose="02020603050405020304" pitchFamily="18" charset="0"/>
              </a:rPr>
              <a:t>要我快点回来</a:t>
            </a:r>
            <a:r>
              <a:rPr lang="en-US" altLang="zh-CN" sz="3200" b="1" dirty="0">
                <a:latin typeface="Times New Roman" panose="02020603050405020304" pitchFamily="18" charset="0"/>
              </a:rPr>
              <a:t>)</a:t>
            </a:r>
          </a:p>
          <a:p>
            <a:pPr marL="357505" indent="-357505" eaLnBrk="1" hangingPunct="1">
              <a:lnSpc>
                <a:spcPct val="120000"/>
              </a:lnSpc>
            </a:pP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4038461" y="457219"/>
            <a:ext cx="431419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has no desire for wealth</a:t>
            </a: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457005" y="2205356"/>
            <a:ext cx="467042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desired me to return soon</a:t>
            </a:r>
          </a:p>
        </p:txBody>
      </p:sp>
      <p:sp>
        <p:nvSpPr>
          <p:cNvPr id="2" name="内容占位符 2"/>
          <p:cNvSpPr txBox="1"/>
          <p:nvPr/>
        </p:nvSpPr>
        <p:spPr>
          <a:xfrm>
            <a:off x="76200" y="2819400"/>
            <a:ext cx="9220200" cy="452628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b="1" kern="0" dirty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b="1" kern="0" dirty="0">
                <a:latin typeface="Times New Roman" panose="02020603050405020304" pitchFamily="18" charset="0"/>
              </a:rPr>
              <a:t>) It doesn’t  always bring the ________ result.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kern="0" dirty="0">
                <a:latin typeface="Times New Roman" panose="02020603050405020304" pitchFamily="18" charset="0"/>
              </a:rPr>
              <a:t>4) Far away from downtown as it is, the apartment has many 	_________ features.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1" kern="0" dirty="0">
                <a:latin typeface="Times New Roman" panose="02020603050405020304" pitchFamily="18" charset="0"/>
              </a:rPr>
              <a:t>5) He became increasingly impatient and _________ of changes in his life.</a:t>
            </a:r>
          </a:p>
          <a:p>
            <a:pPr>
              <a:lnSpc>
                <a:spcPct val="120000"/>
              </a:lnSpc>
            </a:pPr>
            <a:endParaRPr lang="en-US" altLang="zh-CN" b="1" kern="0" dirty="0">
              <a:latin typeface="Times New Roman" panose="02020603050405020304" pitchFamily="18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5562600" y="2819667"/>
            <a:ext cx="165036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desired  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133844" y="4038366"/>
            <a:ext cx="196659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desirable  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314889" y="4724687"/>
            <a:ext cx="172974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desirous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 bldLvl="0" animBg="1"/>
      <p:bldP spid="24582" grpId="0" bldLvl="0" animBg="1"/>
      <p:bldP spid="3" grpId="0" bldLvl="0" animBg="1"/>
      <p:bldP spid="4" grpId="0" bldLvl="0" animBg="1"/>
      <p:bldP spid="5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7625" y="17145"/>
            <a:ext cx="8976995" cy="603631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continued need</a:t>
            </a:r>
            <a:r>
              <a:rPr lang="en-US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持续的需求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(the need exists and will continue to exist) </a:t>
            </a:r>
            <a:r>
              <a:rPr lang="en-US" altLang="zh-CN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b="1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one hand, ...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other hand, ...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 signify </a:t>
            </a:r>
            <a:r>
              <a:rPr lang="en-US" altLang="zh-CN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contrast </a:t>
            </a:r>
            <a:r>
              <a:rPr lang="en-US" altLang="zh-CN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the two)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b="1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one thing, ...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another, ...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 signify </a:t>
            </a:r>
            <a:r>
              <a:rPr lang="en-US" altLang="zh-CN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further explanation</a:t>
            </a:r>
            <a:r>
              <a:rPr lang="en-US" altLang="zh-CN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besides the first reason)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7940" y="635"/>
            <a:ext cx="9116060" cy="61722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On the other hand, when you are </a:t>
            </a:r>
            <a:r>
              <a:rPr lang="en-US" altLang="zh-CN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struggling</a:t>
            </a: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control your feelings, you </a:t>
            </a:r>
            <a:r>
              <a:rPr lang="en-US" altLang="zh-CN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wish</a:t>
            </a: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</a:t>
            </a:r>
            <a:r>
              <a:rPr lang="en-US" altLang="zh-CN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en-US" altLang="zh-CN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more caring and patient...</a:t>
            </a:r>
          </a:p>
          <a:p>
            <a:pPr marL="0" indent="0" eaLnBrk="0" hangingPunct="0">
              <a:lnSpc>
                <a:spcPct val="12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struggle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1)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try very hard to do sth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奋斗；</a:t>
            </a:r>
            <a:endParaRPr lang="en-US" altLang="zh-CN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2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They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struggled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just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pay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their bills.</a:t>
            </a:r>
          </a:p>
          <a:p>
            <a:pPr marL="0" indent="0" eaLnBrk="0" hangingPunct="0">
              <a:lnSpc>
                <a:spcPct val="12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Chris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struggled for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breath.</a:t>
            </a:r>
          </a:p>
          <a:p>
            <a:pPr marL="0" indent="0" eaLnBrk="0" hangingPunct="0">
              <a:lnSpc>
                <a:spcPct val="12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Lance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努力平衡工作和家庭的关系。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hangingPunct="0">
              <a:lnSpc>
                <a:spcPct val="12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Lance struggled to strike a balance between work and family.</a:t>
            </a:r>
            <a:endParaRPr lang="en-US" altLang="zh-CN" b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Box 4"/>
          <p:cNvSpPr txBox="1">
            <a:spLocks noChangeArrowheads="1"/>
          </p:cNvSpPr>
          <p:nvPr/>
        </p:nvSpPr>
        <p:spPr bwMode="auto">
          <a:xfrm>
            <a:off x="238125" y="228600"/>
            <a:ext cx="8806180" cy="42252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fight agsinst sth...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斗争，抗争</a:t>
            </a:r>
            <a:endParaRPr lang="en-US" altLang="zh-CN" sz="32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他和癌症抗争了两年。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struggled against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cancer for two years.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Rachel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struggled with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her conscience 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良心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decided to tell the truth.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莉萨经过一番良心上的斗争，终于对警方说了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真相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2400" y="154644"/>
            <a:ext cx="7503160" cy="24536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struggle for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的奋斗      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struggle with/against 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的斗争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a struggle for sb.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对某人而言）是难事</a:t>
            </a:r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228600" y="2608580"/>
            <a:ext cx="8592185" cy="36347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631825" indent="-631825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will _______ their _________ _____ their ideal university in the next few years.(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继续奋斗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631825" indent="-631825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never ______ ______ her ________ ________ shyness.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（放弃过克服羞怯）</a:t>
            </a:r>
            <a:endParaRPr lang="zh-CN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1"/>
          <p:cNvSpPr/>
          <p:nvPr/>
        </p:nvSpPr>
        <p:spPr>
          <a:xfrm>
            <a:off x="3187700" y="2576830"/>
            <a:ext cx="5991225" cy="6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           struggle      for</a:t>
            </a:r>
          </a:p>
        </p:txBody>
      </p:sp>
      <p:sp>
        <p:nvSpPr>
          <p:cNvPr id="4" name="矩形 1"/>
          <p:cNvSpPr/>
          <p:nvPr/>
        </p:nvSpPr>
        <p:spPr>
          <a:xfrm>
            <a:off x="865505" y="4438015"/>
            <a:ext cx="7303135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gives    up              struggle    against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矩形 3"/>
          <p:cNvSpPr>
            <a:spLocks noChangeArrowheads="1"/>
          </p:cNvSpPr>
          <p:nvPr/>
        </p:nvSpPr>
        <p:spPr bwMode="auto">
          <a:xfrm>
            <a:off x="124460" y="31750"/>
            <a:ext cx="8924925" cy="65919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536575" indent="-5365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We should be brave and______________________________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(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同困难作斗争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_________________________ (</a:t>
            </a:r>
            <a:r>
              <a:rPr lang="zh-CN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她与疾病的斗争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lasted ten years.</a:t>
            </a: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Because a college community differs from the family, many students will ________________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努力找到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sense of belonging.</a:t>
            </a:r>
          </a:p>
          <a:p>
            <a:pPr marL="536575" indent="-536575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Your proposal seems rushed, so it will be ___________ to make them accept it. (…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是件难事。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4"/>
          <p:cNvSpPr txBox="1">
            <a:spLocks noChangeArrowheads="1"/>
          </p:cNvSpPr>
          <p:nvPr/>
        </p:nvSpPr>
        <p:spPr bwMode="auto">
          <a:xfrm>
            <a:off x="1600200" y="609505"/>
            <a:ext cx="624840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struggle against/with the difficulty</a:t>
            </a:r>
          </a:p>
        </p:txBody>
      </p:sp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685800" y="1828680"/>
            <a:ext cx="525780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 struggle with the disease</a:t>
            </a:r>
          </a:p>
        </p:txBody>
      </p:sp>
      <p:sp>
        <p:nvSpPr>
          <p:cNvPr id="2" name="TextBox 4"/>
          <p:cNvSpPr txBox="1">
            <a:spLocks noChangeArrowheads="1"/>
          </p:cNvSpPr>
          <p:nvPr/>
        </p:nvSpPr>
        <p:spPr bwMode="auto">
          <a:xfrm>
            <a:off x="5419725" y="3581283"/>
            <a:ext cx="358140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struggle to find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838200" y="5257800"/>
            <a:ext cx="220980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struggle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1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1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925" y="0"/>
            <a:ext cx="8966835" cy="6250940"/>
          </a:xfrm>
        </p:spPr>
        <p:txBody>
          <a:bodyPr/>
          <a:lstStyle/>
          <a:p>
            <a:pPr marL="0" indent="-446405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...growing up is a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rough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ride.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difficult, hard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were about 20 people there, at a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rough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guess.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skin on her hands was hard and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446405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He's had a really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 recently.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We'll get someone in to do the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 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257800" y="1752600"/>
            <a:ext cx="17538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not exact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858000" y="2971800"/>
            <a:ext cx="22701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not smooth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6934200" y="3555365"/>
            <a:ext cx="22701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tough, hard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848735" y="4876800"/>
            <a:ext cx="4572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hard physical 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925" y="0"/>
            <a:ext cx="8831580" cy="6250940"/>
          </a:xfrm>
        </p:spPr>
        <p:txBody>
          <a:bodyPr/>
          <a:lstStyle/>
          <a:p>
            <a:pPr marL="0" indent="-446405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All of this can lead to a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breakdown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your relationship.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导致亲子关系的破裂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446405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breakdown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崩溃；故障；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进程、关系）失败；分类；分解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107823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Always carry a phone with you in case you have a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breakdown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on the freeway.</a:t>
            </a:r>
          </a:p>
          <a:p>
            <a:pPr marL="0" indent="-107823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machine stops working)</a:t>
            </a:r>
          </a:p>
          <a:p>
            <a:pPr marL="0" indent="-107823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There has been a serious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breakdown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 relations between the two countries.</a:t>
            </a:r>
          </a:p>
          <a:p>
            <a:pPr marL="0" indent="-107823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(a failure of a relationship)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925" y="0"/>
            <a:ext cx="8958580" cy="6250940"/>
          </a:xfrm>
        </p:spPr>
        <p:txBody>
          <a:bodyPr/>
          <a:lstStyle/>
          <a:p>
            <a:pPr marL="0" indent="-446405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breakdown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n.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崩溃；故障；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进程、关系）失败；分类；分解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446405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breakdown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proteins (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蛋白质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in the digestive system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substance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物质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breaking into parts)</a:t>
            </a:r>
          </a:p>
          <a:p>
            <a:pPr marL="0" indent="-107823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She's still recovering from her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breakdown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</a:p>
          <a:p>
            <a:pPr marL="0" indent="-107823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(a period of mental illness)</a:t>
            </a:r>
          </a:p>
          <a:p>
            <a:pPr marL="0" indent="-107823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First, let’s look at a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breakdown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of the costs.</a:t>
            </a:r>
          </a:p>
          <a:p>
            <a:pPr marL="0" indent="-107823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(detailed information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数字明细，分类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</a:p>
          <a:p>
            <a:pPr marL="0" indent="-107823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把大的目标分解成小的</a:t>
            </a:r>
          </a:p>
          <a:p>
            <a:pPr marL="0" indent="-1078230" eaLnBrk="1" latinLnBrk="0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break big goals down into small ones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340" y="358775"/>
            <a:ext cx="8642350" cy="4068445"/>
          </a:xfrm>
        </p:spPr>
        <p:txBody>
          <a:bodyPr/>
          <a:lstStyle/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完成句子。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The thieves _________________ and stole some money. 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小偷闯入办公室，偷了一些钱。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Negotiations between the two sides ________________.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双方谈判失败了。</a:t>
            </a:r>
          </a:p>
        </p:txBody>
      </p:sp>
      <p:sp>
        <p:nvSpPr>
          <p:cNvPr id="507908" name="Rectangle 4"/>
          <p:cNvSpPr>
            <a:spLocks noChangeArrowheads="1"/>
          </p:cNvSpPr>
          <p:nvPr/>
        </p:nvSpPr>
        <p:spPr bwMode="auto">
          <a:xfrm>
            <a:off x="2743200" y="990600"/>
            <a:ext cx="4572000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broke into the office</a:t>
            </a:r>
          </a:p>
        </p:txBody>
      </p:sp>
      <p:sp>
        <p:nvSpPr>
          <p:cNvPr id="507910" name="Rectangle 6"/>
          <p:cNvSpPr>
            <a:spLocks noChangeArrowheads="1"/>
          </p:cNvSpPr>
          <p:nvPr/>
        </p:nvSpPr>
        <p:spPr bwMode="auto">
          <a:xfrm>
            <a:off x="609600" y="3200400"/>
            <a:ext cx="3657600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broken down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4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4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0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50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908" grpId="0"/>
      <p:bldP spid="50791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0810" y="74930"/>
            <a:ext cx="8806180" cy="5929630"/>
          </a:xfrm>
        </p:spPr>
        <p:txBody>
          <a:bodyPr/>
          <a:lstStyle/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Scientists think they are beginning to _____________ in the fight against cancer. 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科学家认为他们在对抗癌症的研究中开始有所突破。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altLang="zh-CN" b="1" dirty="0">
                <a:latin typeface="Times New Roman" panose="02020603050405020304" pitchFamily="18" charset="0"/>
              </a:rPr>
              <a:t>I was still living in London when the war ____________.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</a:t>
            </a:r>
            <a:r>
              <a:rPr lang="zh-CN" altLang="en-US" b="1" dirty="0">
                <a:latin typeface="Times New Roman" panose="02020603050405020304" pitchFamily="18" charset="0"/>
              </a:rPr>
              <a:t>战争爆发的时候我还住在伦敦。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5) Both sides blamed each other for the ____________ of talks.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</a:t>
            </a:r>
            <a:r>
              <a:rPr lang="zh-CN" altLang="en-US" b="1" dirty="0">
                <a:latin typeface="Times New Roman" panose="02020603050405020304" pitchFamily="18" charset="0"/>
              </a:rPr>
              <a:t>双方都指责对方导致了谈判的破裂。</a:t>
            </a:r>
          </a:p>
        </p:txBody>
      </p:sp>
      <p:sp>
        <p:nvSpPr>
          <p:cNvPr id="508932" name="Rectangle 4"/>
          <p:cNvSpPr>
            <a:spLocks noChangeArrowheads="1"/>
          </p:cNvSpPr>
          <p:nvPr/>
        </p:nvSpPr>
        <p:spPr bwMode="auto">
          <a:xfrm>
            <a:off x="609600" y="609600"/>
            <a:ext cx="3048000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 through</a:t>
            </a:r>
          </a:p>
        </p:txBody>
      </p:sp>
      <p:sp>
        <p:nvSpPr>
          <p:cNvPr id="508934" name="Rectangle 6"/>
          <p:cNvSpPr>
            <a:spLocks noChangeArrowheads="1"/>
          </p:cNvSpPr>
          <p:nvPr/>
        </p:nvSpPr>
        <p:spPr bwMode="auto">
          <a:xfrm>
            <a:off x="838200" y="2895600"/>
            <a:ext cx="1973262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broke out</a:t>
            </a:r>
          </a:p>
        </p:txBody>
      </p:sp>
      <p:sp>
        <p:nvSpPr>
          <p:cNvPr id="2" name="矩形 1"/>
          <p:cNvSpPr/>
          <p:nvPr/>
        </p:nvSpPr>
        <p:spPr>
          <a:xfrm>
            <a:off x="762000" y="4876685"/>
            <a:ext cx="224917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breakdown 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57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0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57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57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0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57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57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8932" grpId="0"/>
      <p:bldP spid="508934" grpId="0"/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1140" y="170815"/>
            <a:ext cx="8912225" cy="6335395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10. The key to keeping the peace is 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regular</a:t>
            </a: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 and honest communication.</a:t>
            </a:r>
            <a:endParaRPr lang="en-US" altLang="zh-CN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最好</a:t>
            </a:r>
            <a:r>
              <a:rPr lang="zh-CN" altLang="en-US" b="1" u="sng" dirty="0">
                <a:solidFill>
                  <a:srgbClr val="FF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定期</a:t>
            </a:r>
            <a:r>
              <a:rPr lang="zh-CN" altLang="en-US" b="1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锻炼以减轻体重。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It is desirable to </a:t>
            </a:r>
            <a:r>
              <a:rPr lang="en-US" altLang="zh-CN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take regular exercise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to keep your weight down.</a:t>
            </a:r>
          </a:p>
          <a:p>
            <a:pPr marL="0" indent="0">
              <a:buNone/>
            </a:pPr>
            <a:endParaRPr lang="zh-CN" altLang="en-US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regular meetings</a:t>
            </a:r>
            <a:endParaRPr lang="en-US" altLang="zh-CN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regular customer</a:t>
            </a:r>
            <a:endParaRPr lang="zh-CN" altLang="en-US" b="1" dirty="0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427095" y="3505200"/>
            <a:ext cx="1149985" cy="5918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例会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810000" y="4114800"/>
            <a:ext cx="1149985" cy="5918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常客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3825" y="75565"/>
            <a:ext cx="8907780" cy="5086350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We have  __________________ to the downtown area.</a:t>
            </a:r>
          </a:p>
          <a:p>
            <a:pPr marL="0" indent="0">
              <a:buNone/>
            </a:pPr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</a:rPr>
              <a:t>我们有班车定时开往市区。</a:t>
            </a:r>
            <a:endParaRPr lang="en-US" altLang="zh-CN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Children are advised to go to the dentist ________________. (</a:t>
            </a:r>
            <a:r>
              <a:rPr lang="zh-CN" altLang="en-US" b="1" dirty="0">
                <a:latin typeface="Times New Roman Bold" panose="02020603050405020304" charset="0"/>
                <a:cs typeface="Times New Roman Bold" panose="02020603050405020304" charset="0"/>
              </a:rPr>
              <a:t>定期地</a:t>
            </a: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)</a:t>
            </a:r>
          </a:p>
          <a:p>
            <a:pPr marL="0" indent="0">
              <a:buNone/>
            </a:pP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If you are planning to do exercise _________ (regular), or you are doing it now, then listen up!</a:t>
            </a:r>
            <a:endParaRPr lang="en-US" altLang="zh-CN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If there is something __________ (regular) on the production line, you will get a message on the screen.</a:t>
            </a:r>
            <a:endParaRPr lang="en-US" altLang="zh-CN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28800" y="111"/>
            <a:ext cx="4267200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regular bus service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28600" y="2057127"/>
            <a:ext cx="4267200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 regular basis</a:t>
            </a: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6096000" y="2698115"/>
            <a:ext cx="1870710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regularly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038600" y="3810000"/>
            <a:ext cx="1870710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irregular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2" grpId="0"/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-35560" y="-76200"/>
            <a:ext cx="9179560" cy="2382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446405" eaLnBrk="1" latinLnBrk="0" hangingPunct="1">
              <a:lnSpc>
                <a:spcPct val="114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11. …take a minute to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calm down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…and </a:t>
            </a:r>
            <a:r>
              <a:rPr lang="en-US" altLang="zh-CN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understand ...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from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their point of view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  <a:p>
            <a:pPr marL="0" indent="-446405" eaLnBrk="1" latinLnBrk="0" hangingPunct="1">
              <a:lnSpc>
                <a:spcPct val="114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calm </a:t>
            </a: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vt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使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平静</a:t>
            </a:r>
            <a:r>
              <a:rPr lang="en-US" altLang="zh-CN" b="1" dirty="0">
                <a:latin typeface="Times New Roman" panose="02020603050405020304" pitchFamily="18" charset="0"/>
              </a:rPr>
              <a:t>; (</a:t>
            </a:r>
            <a:r>
              <a:rPr lang="zh-CN" altLang="en-US" b="1" dirty="0">
                <a:latin typeface="Times New Roman" panose="02020603050405020304" pitchFamily="18" charset="0"/>
              </a:rPr>
              <a:t>使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镇定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indent="-446405" eaLnBrk="1" latinLnBrk="0" hangingPunct="1">
              <a:lnSpc>
                <a:spcPct val="114000"/>
              </a:lnSpc>
              <a:spcBef>
                <a:spcPct val="0"/>
              </a:spcBef>
              <a:buNone/>
            </a:pP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  adj </a:t>
            </a:r>
            <a:r>
              <a:rPr lang="zh-CN" altLang="en-US" b="1" dirty="0">
                <a:latin typeface="Times New Roman" panose="02020603050405020304" pitchFamily="18" charset="0"/>
              </a:rPr>
              <a:t>镇静的</a:t>
            </a:r>
            <a:r>
              <a:rPr lang="en-US" altLang="zh-CN" b="1" dirty="0">
                <a:latin typeface="Times New Roman" panose="02020603050405020304" pitchFamily="18" charset="0"/>
              </a:rPr>
              <a:t>; </a:t>
            </a:r>
            <a:r>
              <a:rPr lang="zh-CN" altLang="en-US" b="1" dirty="0">
                <a:latin typeface="Times New Roman" panose="02020603050405020304" pitchFamily="18" charset="0"/>
              </a:rPr>
              <a:t>沉着的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-5080" y="2176780"/>
            <a:ext cx="8692515" cy="3688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118618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59385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2002155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409825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8670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33242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7814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42386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calm oneself  </a:t>
            </a:r>
            <a:r>
              <a:rPr lang="zh-CN" altLang="en-US" sz="3200" b="1" dirty="0"/>
              <a:t>使自己平静下来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calm down    </a:t>
            </a:r>
            <a:r>
              <a:rPr lang="zh-CN" altLang="en-US" sz="3200" b="1" dirty="0"/>
              <a:t>平静，镇静，安静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stay/keep/remain calm  </a:t>
            </a:r>
            <a:r>
              <a:rPr lang="zh-CN" altLang="en-US" sz="3200" b="1" dirty="0"/>
              <a:t>保持镇静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speak in a calm voice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cool, calm and collected</a:t>
            </a:r>
            <a:r>
              <a:rPr lang="en-US" altLang="zh-CN" sz="3200" b="1" dirty="0">
                <a:solidFill>
                  <a:schemeClr val="tx1"/>
                </a:solidFill>
              </a:rPr>
              <a:t> 冷静镇定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410" y="0"/>
            <a:ext cx="8983345" cy="487680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 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请努力保持镇静，医生很快就到。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0">
              <a:lnSpc>
                <a:spcPct val="11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Please try to stay calm. The doctor will be here soon.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 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大海今天看起来更平静。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sea looks much calmer today.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 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她深吸了一口气，使自己平静下来。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She took a deep breath to calm herself (down).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4) We really appreciate her ________ in the face of danger.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4953000" y="4038600"/>
            <a:ext cx="1870710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calmness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4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4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7310" y="-152400"/>
            <a:ext cx="9076690" cy="7402830"/>
          </a:xfrm>
        </p:spPr>
        <p:txBody>
          <a:bodyPr/>
          <a:lstStyle/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11.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…and try to understand the situation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from their point of view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view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n.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  <a:r>
              <a:rPr lang="en-US" altLang="zh-CN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opinion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看法；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from one’s point of view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我认为</a:t>
            </a:r>
            <a:r>
              <a:rPr lang="zh-CN" altLang="en-US" b="1" dirty="0">
                <a:latin typeface="Times New Roman" panose="02020603050405020304" pitchFamily="18" charset="0"/>
              </a:rPr>
              <a:t>这个提议很实际。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From my point of view</a:t>
            </a:r>
            <a:r>
              <a:rPr lang="en-US" altLang="zh-CN" b="1" dirty="0">
                <a:latin typeface="Times New Roman" panose="02020603050405020304" pitchFamily="18" charset="0"/>
              </a:rPr>
              <a:t>, the proposal is practical.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=In my view/opinion</a:t>
            </a:r>
          </a:p>
          <a:p>
            <a:pPr marL="446405" indent="-446405" algn="l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=F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rom my perspective/viewpoint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446405" indent="-446405" algn="l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=As far as I am concerned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His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views on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the subject were well known.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他对这个问题的看法众所周知。              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4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4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47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47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47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47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47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47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47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6200" y="152400"/>
            <a:ext cx="8894445" cy="363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the view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it would be wrong to blame.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believe, think</a:t>
            </a:r>
          </a:p>
          <a:p>
            <a:pPr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view 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manager’s poor health, the meeting will be put off.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 Considering; because of or as a result of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鉴于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考虑到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经理身体欠佳，会议将被推迟。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7310" y="-152400"/>
            <a:ext cx="9076690" cy="7402830"/>
          </a:xfrm>
        </p:spPr>
        <p:txBody>
          <a:bodyPr/>
          <a:lstStyle/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We welcome ____ _______ ____ ____  </a:t>
            </a:r>
            <a:r>
              <a:rPr lang="zh-CN" altLang="en-US" b="1" dirty="0">
                <a:latin typeface="Times New Roman" panose="02020603050405020304" pitchFamily="18" charset="0"/>
              </a:rPr>
              <a:t>（交流观点）</a:t>
            </a:r>
            <a:r>
              <a:rPr lang="en-US" altLang="zh-CN" b="1" dirty="0">
                <a:latin typeface="Times New Roman" panose="02020603050405020304" pitchFamily="18" charset="0"/>
              </a:rPr>
              <a:t>whenever doubts arise.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Students are encouraged to ________________</a:t>
            </a:r>
            <a:r>
              <a:rPr lang="zh-CN" altLang="en-US" b="1" dirty="0">
                <a:latin typeface="Times New Roman" panose="02020603050405020304" pitchFamily="18" charset="0"/>
              </a:rPr>
              <a:t>（表达观点）</a:t>
            </a:r>
            <a:r>
              <a:rPr lang="en-US" altLang="zh-CN" b="1" dirty="0">
                <a:latin typeface="Times New Roman" panose="02020603050405020304" pitchFamily="18" charset="0"/>
              </a:rPr>
              <a:t> in my </a:t>
            </a:r>
            <a:r>
              <a:rPr lang="en-US" altLang="zh-CN" b="1" dirty="0" err="1">
                <a:latin typeface="Times New Roman" panose="02020603050405020304" pitchFamily="18" charset="0"/>
              </a:rPr>
              <a:t>classs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Cloud tourism, __________________ (</a:t>
            </a:r>
            <a:r>
              <a:rPr lang="zh-CN" altLang="en-US" b="1" dirty="0">
                <a:latin typeface="Times New Roman" panose="02020603050405020304" pitchFamily="18" charset="0"/>
              </a:rPr>
              <a:t>在我看来</a:t>
            </a:r>
            <a:r>
              <a:rPr lang="en-US" altLang="zh-CN" b="1" dirty="0">
                <a:latin typeface="Times New Roman" panose="02020603050405020304" pitchFamily="18" charset="0"/>
              </a:rPr>
              <a:t>), is a great invention, as we can see the tourist attractions with more convenience and less expense.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        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438400" y="-76200"/>
            <a:ext cx="47548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the  exchange of     views	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029200" y="990600"/>
            <a:ext cx="345567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express their views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048000" y="2286000"/>
            <a:ext cx="205676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in my view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4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4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47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38" grpId="0" uiExpand="1" build="p"/>
      <p:bldP spid="2" grpId="0"/>
      <p:bldP spid="2" grpId="1"/>
      <p:bldP spid="4" grpId="0"/>
      <p:bldP spid="4" grpId="1"/>
      <p:bldP spid="5" grpId="0"/>
      <p:bldP spid="5" grpId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6200" y="152400"/>
            <a:ext cx="8894445" cy="363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way of understanding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理解方式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an optimistic view of life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他乐观看待人生。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view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that marriage was meant to last.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传统的观念是结成夫妻就要白头到老。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70" y="0"/>
            <a:ext cx="9143365" cy="4868545"/>
          </a:xfrm>
        </p:spPr>
        <p:txBody>
          <a:bodyPr/>
          <a:lstStyle/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）视线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un.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；景色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cn.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映入眼帘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看不见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  饱览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一头幼狮突然</a:t>
            </a:r>
            <a:r>
              <a:rPr lang="zh-CN" altLang="en-US" b="1" u="sng" dirty="0">
                <a:latin typeface="Times New Roman" panose="02020603050405020304" pitchFamily="18" charset="0"/>
              </a:rPr>
              <a:t>映入眼帘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 baby lion suddenly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came into view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.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您对那间海景房感兴趣吗？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Are you interested in the room with _____________?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我们在这里可以饱览外滩风光。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We can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have a good view of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the bund (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外滩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 from here.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590800" y="578485"/>
            <a:ext cx="4876800" cy="1272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 into view/ be in view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557670" y="1189806"/>
            <a:ext cx="4267200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disappear from view</a:t>
            </a: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590800" y="1752555"/>
            <a:ext cx="4267200" cy="6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 good view of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6781800" y="4140835"/>
            <a:ext cx="192087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 sea 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2" grpId="0"/>
      <p:bldP spid="6" grpId="0"/>
      <p:bldP spid="6" grpId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1270" y="-152400"/>
            <a:ext cx="9170035" cy="5685155"/>
          </a:xfrm>
        </p:spPr>
        <p:txBody>
          <a:bodyPr/>
          <a:lstStyle/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view</a:t>
            </a:r>
            <a:r>
              <a:rPr lang="en-US" altLang="zh-CN" dirty="0"/>
              <a:t> </a:t>
            </a: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vt. 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把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……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视为；观看；看待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=regard</a:t>
            </a:r>
            <a:endParaRPr lang="en-US" altLang="zh-CN" b="1" i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Sanitary workers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are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often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viewed as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the angels on the road.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清洁工人常被视为马路上的天使。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How do you </a:t>
            </a:r>
            <a:r>
              <a:rPr lang="zh-CN" altLang="en-US" b="1" u="sng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view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your position within the company?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（看待）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People from all over the country come to Beijing to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view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the raising of the national flag.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viewer 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电视观众；观看者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41275" y="68580"/>
            <a:ext cx="9032875" cy="566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631825" indent="-631825"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Translation</a:t>
            </a:r>
          </a:p>
          <a:p>
            <a:pPr marL="631825" indent="-631825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whole thing as a joke.</a:t>
            </a:r>
          </a:p>
          <a:p>
            <a:pPr marL="631825" indent="-631825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We’ll go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house before we buy it.</a:t>
            </a:r>
          </a:p>
          <a:p>
            <a:pPr marL="631825" indent="-631825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It might help us if Lewis would give us his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31825" indent="-631825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One excellent mountain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followed another during our journey.</a:t>
            </a:r>
          </a:p>
          <a:p>
            <a:pPr marL="631825" indent="-631825" eaLnBrk="0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5)What are you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viewing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tonight? How about watching the football game together?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37160" y="0"/>
            <a:ext cx="8917940" cy="5999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  【</a:t>
            </a:r>
            <a:r>
              <a:rPr lang="zh-CN" altLang="en-US" sz="3200" b="1" dirty="0">
                <a:solidFill>
                  <a:srgbClr val="0000FF"/>
                </a:solidFill>
              </a:rPr>
              <a:t>归纳</a:t>
            </a:r>
            <a:r>
              <a:rPr lang="en-US" altLang="zh-CN" sz="3200" b="1" dirty="0">
                <a:solidFill>
                  <a:srgbClr val="0000FF"/>
                </a:solidFill>
              </a:rPr>
              <a:t>】view</a:t>
            </a:r>
            <a:r>
              <a:rPr lang="zh-CN" altLang="en-US" sz="3200" b="1" dirty="0">
                <a:solidFill>
                  <a:srgbClr val="0000FF"/>
                </a:solidFill>
              </a:rPr>
              <a:t>短语</a:t>
            </a:r>
            <a:endParaRPr lang="en-US" altLang="zh-CN" sz="3200" b="1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</a:rPr>
              <a:t>从某人的观点</a:t>
            </a:r>
            <a:r>
              <a:rPr lang="en-US" altLang="zh-CN" sz="3200" b="1" dirty="0">
                <a:solidFill>
                  <a:srgbClr val="000000"/>
                </a:solidFill>
              </a:rPr>
              <a:t>/</a:t>
            </a:r>
            <a:r>
              <a:rPr lang="zh-CN" altLang="en-US" sz="3200" b="1" dirty="0">
                <a:solidFill>
                  <a:srgbClr val="000000"/>
                </a:solidFill>
              </a:rPr>
              <a:t>角度来看</a:t>
            </a:r>
            <a:endParaRPr lang="en-US" altLang="zh-CN" sz="3200" b="1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</a:rPr>
              <a:t>进入视野</a:t>
            </a:r>
            <a:endParaRPr lang="en-US" altLang="zh-CN" sz="3200" b="1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</a:rPr>
              <a:t>在视野范围内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</a:rPr>
              <a:t>清楚地看到，饱览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</a:rPr>
              <a:t>在某人看来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</a:rPr>
              <a:t>鉴于；考虑到。。。</a:t>
            </a:r>
            <a:endParaRPr lang="en-US" altLang="zh-CN" sz="3200" b="1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</a:rPr>
              <a:t>把</a:t>
            </a:r>
            <a:r>
              <a:rPr lang="en-US" altLang="zh-CN" sz="3200" b="1" dirty="0">
                <a:solidFill>
                  <a:srgbClr val="000000"/>
                </a:solidFill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solidFill>
                  <a:srgbClr val="000000"/>
                </a:solidFill>
              </a:rPr>
              <a:t>看作</a:t>
            </a:r>
            <a:r>
              <a:rPr lang="en-US" altLang="zh-CN" sz="3200" b="1" dirty="0">
                <a:solidFill>
                  <a:srgbClr val="000000"/>
                </a:solidFill>
              </a:rPr>
              <a:t>……</a:t>
            </a:r>
            <a:endParaRPr lang="zh-CN" altLang="en-US" sz="3200" b="1" dirty="0">
              <a:solidFill>
                <a:srgbClr val="00000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724400" y="609600"/>
            <a:ext cx="5337810" cy="4225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eaLnBrk="1" latinLnBrk="0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from one’s point of view</a:t>
            </a:r>
          </a:p>
          <a:p>
            <a:pPr marL="0" indent="0" eaLnBrk="1" latinLnBrk="0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come into view </a:t>
            </a:r>
          </a:p>
          <a:p>
            <a:pPr marL="0" indent="0" eaLnBrk="1" latinLnBrk="0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in view</a:t>
            </a:r>
          </a:p>
          <a:p>
            <a:pPr marL="0" indent="0" eaLnBrk="1" latinLnBrk="0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have a good view of</a:t>
            </a:r>
          </a:p>
          <a:p>
            <a:pPr marL="0" indent="0" eaLnBrk="1" latinLnBrk="0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in one’s view</a:t>
            </a:r>
          </a:p>
          <a:p>
            <a:pPr marL="0" indent="0" eaLnBrk="1" latinLnBrk="0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in view of</a:t>
            </a:r>
          </a:p>
          <a:p>
            <a:pPr marL="0" indent="0" eaLnBrk="1" latinLnBrk="0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view sth as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Text Box 2"/>
          <p:cNvSpPr txBox="1">
            <a:spLocks noChangeArrowheads="1"/>
          </p:cNvSpPr>
          <p:nvPr/>
        </p:nvSpPr>
        <p:spPr bwMode="auto">
          <a:xfrm>
            <a:off x="154940" y="41275"/>
            <a:ext cx="8891270" cy="6066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marL="446405" indent="-4464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完成句子。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thought the kind man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__________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homeless boy _____ his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 son.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_____________________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there is no way they can win.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我认为，他们不可能赢。 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__________, school holidays are not only too long but also boring.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在我看来，学校的假期不仅长而且无聊。 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135" name="Rectangle 7"/>
          <p:cNvSpPr>
            <a:spLocks noChangeArrowheads="1"/>
          </p:cNvSpPr>
          <p:nvPr/>
        </p:nvSpPr>
        <p:spPr bwMode="auto">
          <a:xfrm>
            <a:off x="4800599" y="685581"/>
            <a:ext cx="213614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 viewed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136" name="Rectangle 8"/>
          <p:cNvSpPr>
            <a:spLocks noChangeArrowheads="1"/>
          </p:cNvSpPr>
          <p:nvPr/>
        </p:nvSpPr>
        <p:spPr bwMode="auto">
          <a:xfrm>
            <a:off x="3276600" y="1326515"/>
            <a:ext cx="2101850" cy="57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137" name="Rectangle 9"/>
          <p:cNvSpPr>
            <a:spLocks noChangeArrowheads="1"/>
          </p:cNvSpPr>
          <p:nvPr/>
        </p:nvSpPr>
        <p:spPr bwMode="auto">
          <a:xfrm>
            <a:off x="609397" y="1828794"/>
            <a:ext cx="413321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my point of view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139" name="Rectangle 11"/>
          <p:cNvSpPr>
            <a:spLocks noChangeArrowheads="1"/>
          </p:cNvSpPr>
          <p:nvPr/>
        </p:nvSpPr>
        <p:spPr bwMode="auto">
          <a:xfrm>
            <a:off x="607060" y="3657697"/>
            <a:ext cx="210185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my view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4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4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0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0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4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4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0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4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4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0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5" grpId="0" bldLvl="0" animBg="1"/>
      <p:bldP spid="304136" grpId="0" bldLvl="0" animBg="1"/>
      <p:bldP spid="304137" grpId="0" bldLvl="0" animBg="1"/>
      <p:bldP spid="304139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-152400"/>
            <a:ext cx="9079230" cy="6728460"/>
          </a:xfrm>
        </p:spPr>
        <p:txBody>
          <a:bodyPr/>
          <a:lstStyle/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After you have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thought it through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...and...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 </a:t>
            </a:r>
            <a:r>
              <a:rPr lang="en-US" altLang="zh-CN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to consider a problem fully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充分考虑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 their concerns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zh-CN" altLang="en-US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think about and begin to deal with</a:t>
            </a:r>
            <a:r>
              <a:rPr lang="en-US" altLang="zh-CN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 their worries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打消顾虑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-152400"/>
            <a:ext cx="9079230" cy="6728460"/>
          </a:xfrm>
        </p:spPr>
        <p:txBody>
          <a:bodyPr/>
          <a:lstStyle/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cn.&amp;un.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feeling of worry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担心，忧虑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There is growing concern about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violence on television.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人们对电视上充斥暴力内容的忧虑日益加重。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widespread concern that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new houses will be built on protected land.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meeting, voters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raised concerns about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health care.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提出对某事的担忧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at work is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matter of concern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staff and management.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一件让人关切的事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-152400"/>
            <a:ext cx="9079230" cy="6728460"/>
          </a:xfrm>
        </p:spPr>
        <p:txBody>
          <a:bodyPr/>
          <a:lstStyle/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sth important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重要的事，关注的事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your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main/major concerns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 writer?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关注的问题，头等大事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be admitted to that club is Peter’s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concern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ym typeface="+mn-ea"/>
              </a:rPr>
              <a:t>加入那个俱乐部对</a:t>
            </a: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Peter</a:t>
            </a:r>
            <a:r>
              <a:rPr lang="zh-CN" altLang="en-US" b="1" dirty="0">
                <a:sym typeface="+mn-ea"/>
              </a:rPr>
              <a:t>来说是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头等大事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。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un.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desire to protect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关心，关爱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We are supposed to </a:t>
            </a:r>
            <a:r>
              <a:rPr lang="en-US" altLang="zh-CN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show concern for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people who love us.</a:t>
            </a:r>
            <a:endParaRPr lang="en-US" altLang="zh-CN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ym typeface="+mn-ea"/>
              </a:rPr>
              <a:t>我们应该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关心</a:t>
            </a:r>
            <a:r>
              <a:rPr lang="zh-CN" altLang="en-US" b="1" dirty="0">
                <a:sym typeface="+mn-ea"/>
              </a:rPr>
              <a:t>那些爱着我们的人。</a:t>
            </a:r>
            <a:endParaRPr lang="en-US" altLang="zh-CN" b="1" dirty="0"/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-152400"/>
            <a:ext cx="9079230" cy="6728460"/>
          </a:xfrm>
        </p:spPr>
        <p:txBody>
          <a:bodyPr/>
          <a:lstStyle/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concern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vt.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sth worries sb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使某人担心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concerns me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most is our lack of preparation for the change.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让我担心的是我们对事态的变化缺乏准备。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concerns me that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you no longer seem to care.</a:t>
            </a:r>
          </a:p>
          <a:p>
            <a:pPr marL="0" indent="0" eaLnBrk="1" latinLnBrk="0" hangingPunct="1">
              <a:lnSpc>
                <a:spcPct val="12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男孩的健康状况不佳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，让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他的父母很担心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latinLnBrk="0" hangingPunct="1">
              <a:lnSpc>
                <a:spcPct val="12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boy’s poor health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concern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ed his parents.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-152400"/>
            <a:ext cx="9079230" cy="6728460"/>
          </a:xfrm>
        </p:spPr>
        <p:txBody>
          <a:bodyPr/>
          <a:lstStyle/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concern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vt.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2) be about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关于，与……有关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2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Anything that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concerns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Gordon interests me.</a:t>
            </a:r>
          </a:p>
          <a:p>
            <a:pPr marL="0" indent="0" eaLnBrk="1" latinLnBrk="0" hangingPunct="1">
              <a:lnSpc>
                <a:spcPct val="12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任何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与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戈登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有关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的事情都让我感兴趣。</a:t>
            </a:r>
          </a:p>
          <a:p>
            <a:pPr marL="0" indent="0" eaLnBrk="1" latinLnBrk="0" hangingPunct="1">
              <a:lnSpc>
                <a:spcPct val="12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= Anything that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 concerned with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Gordon interests me. 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book </a:t>
            </a:r>
            <a:r>
              <a:rPr lang="zh-CN" alt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 primarily concerned with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American Civil War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As far as I am concerned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...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就我而言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" y="76200"/>
            <a:ext cx="8907145" cy="6431280"/>
          </a:xfrm>
        </p:spPr>
        <p:txBody>
          <a:bodyPr/>
          <a:lstStyle/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concerned 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担忧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与……相关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他担心非洲缺水的状况。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was concerned about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water shortage in Africa.</a:t>
            </a: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workers concerned/involved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are to remain here for further investigation.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-446405" eaLnBrk="1" latinLnBrk="0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相关的工人要留在此地接受进一步调查。</a:t>
            </a:r>
            <a:endParaRPr lang="zh-CN" altLang="en-US" dirty="0"/>
          </a:p>
        </p:txBody>
      </p:sp>
      <p:sp>
        <p:nvSpPr>
          <p:cNvPr id="2" name="Text Box 1"/>
          <p:cNvSpPr txBox="1"/>
          <p:nvPr/>
        </p:nvSpPr>
        <p:spPr>
          <a:xfrm>
            <a:off x="1447800" y="609600"/>
            <a:ext cx="785685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sth concerns sb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sb be concerned about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...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2286000" y="1219200"/>
            <a:ext cx="678434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concerns sth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 concerned with sth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/>
      <p:bldP spid="6" grpId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835" y="121285"/>
            <a:ext cx="8688070" cy="545274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concerning</a:t>
            </a: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  </a:t>
            </a:r>
            <a:r>
              <a:rPr lang="en-US" altLang="zh-CN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prep. </a:t>
            </a:r>
            <a:r>
              <a:rPr lang="zh-CN" altLang="en-US" b="1" dirty="0">
                <a:latin typeface="Times New Roman Bold Italic" panose="02020603050405020304" charset="0"/>
                <a:cs typeface="Times New Roman Bold Italic" panose="02020603050405020304" charset="0"/>
              </a:rPr>
              <a:t>关于，涉及</a:t>
            </a:r>
            <a:endParaRPr lang="en-US" altLang="zh-CN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May I ask you a few questions 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concerning</a:t>
            </a: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 your career planning?</a:t>
            </a:r>
            <a:endParaRPr lang="en-US" altLang="zh-CN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endParaRPr lang="zh-CN" altLang="en-US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52400" y="609600"/>
            <a:ext cx="8279130" cy="11017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                                        [</a:t>
            </a:r>
          </a:p>
          <a:p>
            <a:r>
              <a:rPr lang="en-US" altLang="zh-CN" sz="40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                     ]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/>
        </p:nvSpPr>
        <p:spPr>
          <a:xfrm>
            <a:off x="228600" y="1905000"/>
            <a:ext cx="8755380" cy="46875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3400" indent="-53340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完成句子。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I’m a bit ______________ your health.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It _________ me that you no longer seem to care about your study. 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Everyone who was directly __________ in the incident has now resigned (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辞职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   </a:t>
            </a: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1263650" y="3120390"/>
            <a:ext cx="1390015" cy="759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no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concerns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2339975" y="2545080"/>
            <a:ext cx="2477135" cy="759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no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concerned about</a:t>
            </a: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5562600" y="4295140"/>
            <a:ext cx="1590675" cy="759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concerned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  <p:bldP spid="2" grpId="1"/>
      <p:bldP spid="13315" grpId="0" bldLvl="0" animBg="1"/>
      <p:bldP spid="13316" grpId="0" bldLvl="0" animBg="1"/>
      <p:bldP spid="13317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8745" y="63500"/>
            <a:ext cx="8921115" cy="5183505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13. ...you will learn when to 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back down </a:t>
            </a: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</a:rPr>
              <a:t>...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back down (on/from </a:t>
            </a:r>
            <a:r>
              <a:rPr lang="en-US" altLang="zh-CN" b="1" dirty="0" err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sth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.) </a:t>
            </a:r>
            <a:r>
              <a:rPr lang="zh-CN" altLang="en-US" b="1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承认错误；认输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=compromise</a:t>
            </a:r>
            <a:endParaRPr lang="en-US" altLang="zh-CN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0" indent="0">
              <a:buNone/>
            </a:pPr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</a:rPr>
              <a:t>在激烈的争论后，</a:t>
            </a:r>
            <a:r>
              <a:rPr lang="en-US" altLang="zh-CN" b="1" dirty="0">
                <a:latin typeface="Times New Roman Regular" panose="02020603050405020304" charset="0"/>
                <a:cs typeface="Times New Roman Regular" panose="02020603050405020304" charset="0"/>
              </a:rPr>
              <a:t>Bob</a:t>
            </a:r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</a:rPr>
              <a:t>作出让步。</a:t>
            </a:r>
            <a:endParaRPr lang="en-US" altLang="zh-CN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After a heated argument, Bob </a:t>
            </a:r>
            <a:r>
              <a:rPr lang="en-US" altLang="zh-CN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backed down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Finally, they </a:t>
            </a:r>
            <a:r>
              <a:rPr lang="en-US" altLang="zh-CN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backed down from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trying to expand their house illegally.</a:t>
            </a:r>
          </a:p>
          <a:p>
            <a:pPr marL="0" indent="0">
              <a:buNone/>
            </a:pPr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</a:rPr>
              <a:t>最终，他们放弃了非法扩建房子的尝试。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76200"/>
            <a:ext cx="8930005" cy="56927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We need more evidence to </a:t>
            </a:r>
            <a:r>
              <a:rPr lang="en-US" altLang="zh-CN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back up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this argument.</a:t>
            </a:r>
          </a:p>
          <a:p>
            <a:pPr marL="0" indent="0">
              <a:buNone/>
            </a:pPr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我们需要更多的的证据来</a:t>
            </a:r>
            <a:r>
              <a:rPr lang="zh-CN" altLang="en-US" b="1" u="sng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支持</a:t>
            </a:r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这个论点。</a:t>
            </a:r>
            <a:endParaRPr lang="en-US" altLang="zh-CN" b="1" dirty="0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Tom’s apartment </a:t>
            </a:r>
            <a:r>
              <a:rPr lang="en-US" altLang="zh-CN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backs onto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a busy street, which drives him crazy.</a:t>
            </a:r>
          </a:p>
          <a:p>
            <a:pPr marL="0" indent="0">
              <a:buNone/>
            </a:pPr>
            <a:r>
              <a:rPr lang="en-US" altLang="zh-CN" b="1" dirty="0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Tom</a:t>
            </a:r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的公寓</a:t>
            </a:r>
            <a:r>
              <a:rPr lang="zh-CN" altLang="en-US" b="1" u="sng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背靠</a:t>
            </a:r>
            <a:r>
              <a:rPr lang="zh-CN" altLang="en-US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着一条蛮忙的街道，这让他十分抓狂。</a:t>
            </a:r>
            <a:endParaRPr lang="en-US" altLang="zh-CN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0" indent="0">
              <a:buNone/>
            </a:pPr>
            <a:endParaRPr lang="en-US" altLang="zh-CN" b="1" dirty="0">
              <a:latin typeface="Times New Roman Bold" panose="02020603050405020304" charset="0"/>
              <a:cs typeface="Times New Roman Bold" panose="02020603050405020304" charset="0"/>
            </a:endParaRPr>
          </a:p>
          <a:p>
            <a:pPr marL="0" indent="0">
              <a:buNone/>
            </a:pPr>
            <a:endParaRPr lang="en-US" altLang="zh-CN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zh-CN" altLang="en-US" b="1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9" name="Rectangle 5"/>
          <p:cNvSpPr>
            <a:spLocks noChangeArrowheads="1"/>
          </p:cNvSpPr>
          <p:nvPr/>
        </p:nvSpPr>
        <p:spPr bwMode="auto">
          <a:xfrm>
            <a:off x="0" y="76200"/>
            <a:ext cx="9097010" cy="272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Just remember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completely </a:t>
            </a:r>
            <a:r>
              <a:rPr lang="en-US" altLang="zh-CN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struggle with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that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and parents can ….</a:t>
            </a: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1)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精神压力，紧张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533400" y="2286000"/>
            <a:ext cx="11929110" cy="331216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 b="1" kern="0" dirty="0">
                <a:solidFill>
                  <a:schemeClr val="tx1"/>
                </a:solidFill>
              </a:rPr>
              <a:t>在压力之下</a:t>
            </a:r>
            <a:endParaRPr lang="en-US" altLang="zh-CN" b="1" kern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b="1" kern="0" dirty="0">
                <a:solidFill>
                  <a:schemeClr val="tx1"/>
                </a:solidFill>
              </a:rPr>
              <a:t>有精神压力</a:t>
            </a:r>
            <a:endParaRPr lang="en-US" altLang="zh-CN" b="1" kern="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b="1" kern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b="1" kern="0" dirty="0">
                <a:solidFill>
                  <a:schemeClr val="tx1"/>
                </a:solidFill>
              </a:rPr>
              <a:t>应对压力</a:t>
            </a:r>
            <a:endParaRPr lang="en-US" altLang="zh-CN" b="1" kern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b="1" kern="0" dirty="0">
                <a:solidFill>
                  <a:schemeClr val="tx1"/>
                </a:solidFill>
              </a:rPr>
              <a:t>减轻压力</a:t>
            </a:r>
            <a:endParaRPr lang="zh-CN" altLang="en-US" kern="0" dirty="0"/>
          </a:p>
        </p:txBody>
      </p:sp>
      <p:sp>
        <p:nvSpPr>
          <p:cNvPr id="3" name="Rectangle 9"/>
          <p:cNvSpPr>
            <a:spLocks noChangeArrowheads="1"/>
          </p:cNvSpPr>
          <p:nvPr/>
        </p:nvSpPr>
        <p:spPr bwMode="auto">
          <a:xfrm>
            <a:off x="3032760" y="2209800"/>
            <a:ext cx="6035675" cy="284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3200" b="1" kern="0" dirty="0">
                <a:solidFill>
                  <a:srgbClr val="FF0000"/>
                </a:solidFill>
                <a:latin typeface="Times New Roman Bold" panose="02020603050405020304" charset="0"/>
                <a:ea typeface="+mn-ea"/>
                <a:cs typeface="Times New Roman Bold" panose="02020603050405020304" charset="0"/>
              </a:rPr>
              <a:t>under stress</a:t>
            </a: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zh-CN" altLang="en-US" sz="3200" b="1" kern="0" dirty="0">
                <a:solidFill>
                  <a:srgbClr val="FF0000"/>
                </a:solidFill>
                <a:latin typeface="Times New Roman Bold" panose="02020603050405020304" charset="0"/>
                <a:ea typeface="+mn-ea"/>
                <a:cs typeface="Times New Roman Bold" panose="02020603050405020304" charset="0"/>
              </a:rPr>
              <a:t>suffer from stress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 Bold" panose="02020603050405020304" charset="0"/>
                <a:ea typeface="+mn-ea"/>
                <a:cs typeface="Times New Roman Bold" panose="02020603050405020304" charset="0"/>
              </a:rPr>
              <a:t> = be influenced by stresss</a:t>
            </a:r>
            <a:endParaRPr lang="zh-CN" altLang="en-US" sz="3200" b="1" kern="0" dirty="0">
              <a:solidFill>
                <a:srgbClr val="FF0000"/>
              </a:solidFill>
              <a:latin typeface="Times New Roman Bold" panose="02020603050405020304" charset="0"/>
              <a:ea typeface="+mn-ea"/>
              <a:cs typeface="Times New Roman Bold" panose="02020603050405020304" charset="0"/>
            </a:endParaRP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 Bold" panose="02020603050405020304" charset="0"/>
                <a:ea typeface="+mn-ea"/>
                <a:cs typeface="Times New Roman Bold" panose="02020603050405020304" charset="0"/>
              </a:rPr>
              <a:t>handle the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 Bold" panose="02020603050405020304" charset="0"/>
                <a:ea typeface="+mn-ea"/>
                <a:cs typeface="Times New Roman Bold" panose="02020603050405020304" charset="0"/>
              </a:rPr>
              <a:t> stress</a:t>
            </a:r>
          </a:p>
          <a:p>
            <a:pPr algn="l">
              <a:spcBef>
                <a:spcPct val="20000"/>
              </a:spcBef>
              <a:buClrTx/>
              <a:buSzTx/>
              <a:buFontTx/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 Bold" panose="02020603050405020304" charset="0"/>
                <a:ea typeface="+mn-ea"/>
                <a:cs typeface="Times New Roman Bold" panose="02020603050405020304" charset="0"/>
              </a:rPr>
              <a:t>ease/lessen the</a:t>
            </a:r>
            <a:r>
              <a:rPr lang="zh-CN" altLang="en-US" sz="3200" b="1" kern="0" dirty="0">
                <a:solidFill>
                  <a:srgbClr val="FF0000"/>
                </a:solidFill>
                <a:latin typeface="Times New Roman Bold" panose="02020603050405020304" charset="0"/>
                <a:ea typeface="+mn-ea"/>
                <a:cs typeface="Times New Roman Bold" panose="02020603050405020304" charset="0"/>
              </a:rPr>
              <a:t> stress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0320" y="-76200"/>
            <a:ext cx="9181465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 </a:t>
            </a:r>
            <a:r>
              <a:rPr lang="en-US" altLang="zh-CN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2)</a:t>
            </a:r>
            <a:r>
              <a:rPr lang="en-US" altLang="zh-CN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强调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new company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lays great stress on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punctuality.</a:t>
            </a:r>
          </a:p>
          <a:p>
            <a:r>
              <a: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这家新公司非常重视守时。</a:t>
            </a:r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0320" y="-76200"/>
            <a:ext cx="9181465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</a:t>
            </a:r>
            <a:r>
              <a:rPr lang="en-US" altLang="zh-CN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vt. </a:t>
            </a:r>
            <a:r>
              <a:rPr lang="en-US" altLang="zh-CN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emphasize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manager repeatedly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stressed the importance of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keeping an open mind.</a:t>
            </a:r>
          </a:p>
          <a:p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经理一再强调保持开放心态的重要性。</a:t>
            </a:r>
          </a:p>
          <a:p>
            <a:r>
              <a:rPr lang="en-US" altLang="zh-CN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stressed that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people’s welfare should be our priority. </a:t>
            </a:r>
          </a:p>
          <a:p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强调人民福祉应该是我们的首要任务。</a:t>
            </a:r>
            <a:endParaRPr lang="en-US" altLang="zh-CN" sz="3600" b="1" i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0320" y="-76200"/>
            <a:ext cx="9181465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out</a:t>
            </a:r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= to become or make sb become anxious </a:t>
            </a:r>
            <a:r>
              <a:rPr lang="zh-CN" altLang="en-US" sz="36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使焦虑不安，疲惫不堪</a:t>
            </a:r>
            <a:endParaRPr lang="en-US" altLang="zh-CN" sz="3600" b="1" i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I try not to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stress out</a:t>
            </a:r>
            <a:r>
              <a:rPr lang="en-US" altLang="zh-CN" sz="36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when things go wrong.</a:t>
            </a:r>
          </a:p>
          <a:p>
            <a:r>
              <a:rPr lang="en-US" altLang="zh-CN" sz="36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出问题时，我尽量不紧张。</a:t>
            </a:r>
          </a:p>
          <a:p>
            <a:r>
              <a:rPr lang="en-US" altLang="zh-CN" sz="36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Driving in cities really </a:t>
            </a:r>
            <a:r>
              <a:rPr lang="en-US" altLang="zh-CN" sz="3600" b="1" u="sng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stresses me (out)</a:t>
            </a:r>
            <a:r>
              <a:rPr lang="en-US" altLang="zh-CN" sz="36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</a:p>
          <a:p>
            <a:r>
              <a:rPr lang="en-US" altLang="zh-CN" sz="36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在城市里开车让我真的很紧张。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229870" y="-635"/>
            <a:ext cx="8778875" cy="5039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stressed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焦虑不安的；受压的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重读的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stressful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事物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产生压力的；紧张的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10000"/>
              </a:lnSpc>
              <a:buAutoNum type="arabicParenR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Jane will listen to classical music when he feels ________.</a:t>
            </a:r>
          </a:p>
          <a:p>
            <a:pPr marL="514350" indent="-514350">
              <a:lnSpc>
                <a:spcPct val="110000"/>
              </a:lnSpc>
              <a:buAutoNum type="arabicParenR"/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10000"/>
              </a:lnSpc>
              <a:buAutoNum type="arabicParenR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year was a truly __________ period for every one of us.</a:t>
            </a:r>
          </a:p>
          <a:p>
            <a:pPr marL="514350" indent="-514350">
              <a:lnSpc>
                <a:spcPct val="110000"/>
              </a:lnSpc>
              <a:buAutoNum type="arabicParenR"/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10000"/>
              </a:lnSpc>
              <a:buAutoNum type="arabicParenR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 attention to the __________ syllable.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38200" y="2133600"/>
            <a:ext cx="1711325" cy="657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stressed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648200" y="3100070"/>
            <a:ext cx="2053590" cy="657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stresseful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495800" y="4756150"/>
            <a:ext cx="1711325" cy="657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stressed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7" name="Text Box 5"/>
          <p:cNvSpPr txBox="1">
            <a:spLocks noChangeArrowheads="1"/>
          </p:cNvSpPr>
          <p:nvPr/>
        </p:nvSpPr>
        <p:spPr bwMode="auto">
          <a:xfrm>
            <a:off x="22225" y="-281940"/>
            <a:ext cx="9048115" cy="336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2945" tIns="41473" rIns="82945" bIns="41473" anchor="ctr">
            <a:noAutofit/>
          </a:bodyPr>
          <a:lstStyle>
            <a:lvl1pPr marL="441325" indent="-441325" defTabSz="828675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963930" indent="-342900" defTabSz="828675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71575" indent="-342900" defTabSz="828675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587500" indent="-342900" defTabSz="828675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02155" indent="-342900" defTabSz="828675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459355" indent="-342900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16555" indent="-342900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373755" indent="-342900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30955" indent="-342900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完成句子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翻译句子。</a:t>
            </a:r>
          </a:p>
          <a:p>
            <a:pPr>
              <a:lnSpc>
                <a:spcPct val="110000"/>
              </a:lnSpc>
              <a:buFontTx/>
              <a:buAutoNum type="arabicParenR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 put so much __________ (stress) the kids. They are still very young.</a:t>
            </a:r>
          </a:p>
          <a:p>
            <a:pPr>
              <a:lnSpc>
                <a:spcPct val="110000"/>
              </a:lnSpc>
              <a:buFontTx/>
              <a:buAutoNum type="arabicParenR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Though he feels _________ (stress), he has never thought of giving up the job.</a:t>
            </a:r>
          </a:p>
        </p:txBody>
      </p:sp>
      <p:sp>
        <p:nvSpPr>
          <p:cNvPr id="212998" name="Rectangle 6"/>
          <p:cNvSpPr>
            <a:spLocks noChangeArrowheads="1"/>
          </p:cNvSpPr>
          <p:nvPr/>
        </p:nvSpPr>
        <p:spPr bwMode="auto">
          <a:xfrm>
            <a:off x="4038917" y="533174"/>
            <a:ext cx="1684020" cy="632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on</a:t>
            </a:r>
          </a:p>
        </p:txBody>
      </p:sp>
      <p:sp>
        <p:nvSpPr>
          <p:cNvPr id="212999" name="Rectangle 7"/>
          <p:cNvSpPr>
            <a:spLocks noChangeArrowheads="1"/>
          </p:cNvSpPr>
          <p:nvPr/>
        </p:nvSpPr>
        <p:spPr bwMode="auto">
          <a:xfrm>
            <a:off x="3428964" y="1600475"/>
            <a:ext cx="1559560" cy="632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stressed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7780" y="3023235"/>
            <a:ext cx="8973820" cy="305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2945" tIns="41473" rIns="82945" bIns="41473" anchor="ctr">
            <a:noAutofit/>
          </a:bodyPr>
          <a:lstStyle>
            <a:lvl1pPr marL="441325" indent="-441325" defTabSz="828675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621030" defTabSz="828675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828675" defTabSz="828675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244600" defTabSz="828675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1659255" defTabSz="828675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1164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5736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0308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4880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在他的报告中，他强调了良好公共关系的重要性。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his talk, he stressed the importance of good public relations.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Things can easily go wrong when people are under stress.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人在压力之下，办事就容易出差错。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29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2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0320" y="-76200"/>
            <a:ext cx="9181465" cy="649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 will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 out all right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to end in a particular way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结果……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adj.</a:t>
            </a:r>
          </a:p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day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turns out wet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we may have to change our plans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如果那天下雨的话，我们可能得改变计划。</a:t>
            </a:r>
          </a:p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never know how your children will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 out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很难说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你孩子们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将来的发展怎样。</a:t>
            </a:r>
          </a:p>
          <a:p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to prove to be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原来是，证明是</a:t>
            </a:r>
          </a:p>
          <a:p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turned out that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she was a friend of my sister.</a:t>
            </a: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她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原来是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我姐姐的朋友。</a:t>
            </a:r>
          </a:p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job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turned out to be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harder than we thought.</a:t>
            </a: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这工作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比我们想象的要难。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0320" y="-76200"/>
            <a:ext cx="9181465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他们向我们提供的房子原来是很小的公寓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house they had offered us turned out to be a tiny apartment.</a:t>
            </a: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我母亲原来同他一起上过学。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mother turns out to have gone to school with him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5511</Words>
  <Application>Microsoft Macintosh PowerPoint</Application>
  <PresentationFormat>On-screen Show (4:3)</PresentationFormat>
  <Paragraphs>656</Paragraphs>
  <Slides>80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8" baseType="lpstr">
      <vt:lpstr>Arial Bold Italic</vt:lpstr>
      <vt:lpstr>Times New Roman Bold</vt:lpstr>
      <vt:lpstr>Times New Roman Bold Italic</vt:lpstr>
      <vt:lpstr>Times New Roman Regular</vt:lpstr>
      <vt:lpstr>Arial</vt:lpstr>
      <vt:lpstr>Calibri</vt:lpstr>
      <vt:lpstr>Times New Roman</vt:lpstr>
      <vt:lpstr>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vt. to want something very much 希望；渴望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157</cp:revision>
  <cp:lastPrinted>2023-09-29T01:04:52Z</cp:lastPrinted>
  <dcterms:created xsi:type="dcterms:W3CDTF">2023-09-29T01:04:52Z</dcterms:created>
  <dcterms:modified xsi:type="dcterms:W3CDTF">2026-07-22T12:32:57Z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007F412C7311387D1D40246351915BDD</vt:lpwstr>
  </property>
  <property fmtid="{D5CDD505-2E9C-101B-9397-08002B2CF9AE}" pid="4" name="KSOProductBuildVer">
    <vt:lpwstr>1033-6.0.2.8225</vt:lpwstr>
  </property>
</Properties>
</file>