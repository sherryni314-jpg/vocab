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6.xml" ContentType="application/vnd.openxmlformats-officedocument.presentationml.tags+xml"/>
  <Override PartName="/ppt/notesSlides/notesSlide1.xml" ContentType="application/vnd.openxmlformats-officedocument.presentationml.notesSlide+xml"/>
  <Override PartName="/ppt/tags/tag17.xml" ContentType="application/vnd.openxmlformats-officedocument.presentationml.tags+xml"/>
  <Override PartName="/ppt/notesSlides/notesSlide2.xml" ContentType="application/vnd.openxmlformats-officedocument.presentationml.notesSlide+xml"/>
  <Override PartName="/ppt/tags/tag18.xml" ContentType="application/vnd.openxmlformats-officedocument.presentationml.tags+xml"/>
  <Override PartName="/ppt/notesSlides/notesSlide3.xml" ContentType="application/vnd.openxmlformats-officedocument.presentationml.notesSlide+xml"/>
  <Override PartName="/ppt/tags/tag19.xml" ContentType="application/vnd.openxmlformats-officedocument.presentationml.tags+xml"/>
  <Override PartName="/ppt/notesSlides/notesSlide4.xml" ContentType="application/vnd.openxmlformats-officedocument.presentationml.notesSlide+xml"/>
  <Override PartName="/ppt/tags/tag20.xml" ContentType="application/vnd.openxmlformats-officedocument.presentationml.tags+xml"/>
  <Override PartName="/ppt/notesSlides/notesSlide5.xml" ContentType="application/vnd.openxmlformats-officedocument.presentationml.notesSlide+xml"/>
  <Override PartName="/ppt/tags/tag21.xml" ContentType="application/vnd.openxmlformats-officedocument.presentationml.tags+xml"/>
  <Override PartName="/ppt/notesSlides/notesSlide6.xml" ContentType="application/vnd.openxmlformats-officedocument.presentationml.notesSlide+xml"/>
  <Override PartName="/ppt/tags/tag22.xml" ContentType="application/vnd.openxmlformats-officedocument.presentationml.tags+xml"/>
  <Override PartName="/ppt/notesSlides/notesSlide7.xml" ContentType="application/vnd.openxmlformats-officedocument.presentationml.notesSlide+xml"/>
  <Override PartName="/ppt/tags/tag23.xml" ContentType="application/vnd.openxmlformats-officedocument.presentationml.tags+xml"/>
  <Override PartName="/ppt/notesSlides/notesSlide8.xml" ContentType="application/vnd.openxmlformats-officedocument.presentationml.notesSlide+xml"/>
  <Override PartName="/ppt/tags/tag24.xml" ContentType="application/vnd.openxmlformats-officedocument.presentationml.tags+xml"/>
  <Override PartName="/ppt/notesSlides/notesSlide9.xml" ContentType="application/vnd.openxmlformats-officedocument.presentationml.notesSlide+xml"/>
  <Override PartName="/ppt/tags/tag25.xml" ContentType="application/vnd.openxmlformats-officedocument.presentationml.tags+xml"/>
  <Override PartName="/ppt/notesSlides/notesSlide10.xml" ContentType="application/vnd.openxmlformats-officedocument.presentationml.notesSlide+xml"/>
  <Override PartName="/ppt/tags/tag26.xml" ContentType="application/vnd.openxmlformats-officedocument.presentationml.tags+xml"/>
  <Override PartName="/ppt/notesSlides/notesSlide11.xml" ContentType="application/vnd.openxmlformats-officedocument.presentationml.notesSlide+xml"/>
  <Override PartName="/ppt/tags/tag27.xml" ContentType="application/vnd.openxmlformats-officedocument.presentationml.tags+xml"/>
  <Override PartName="/ppt/notesSlides/notesSlide12.xml" ContentType="application/vnd.openxmlformats-officedocument.presentationml.notesSlide+xml"/>
  <Override PartName="/ppt/tags/tag28.xml" ContentType="application/vnd.openxmlformats-officedocument.presentationml.tags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647" r:id="rId2"/>
    <p:sldId id="703" r:id="rId3"/>
    <p:sldId id="700" r:id="rId4"/>
    <p:sldId id="648" r:id="rId5"/>
    <p:sldId id="704" r:id="rId6"/>
    <p:sldId id="649" r:id="rId7"/>
    <p:sldId id="705" r:id="rId8"/>
    <p:sldId id="706" r:id="rId9"/>
    <p:sldId id="650" r:id="rId10"/>
    <p:sldId id="651" r:id="rId11"/>
    <p:sldId id="707" r:id="rId12"/>
    <p:sldId id="708" r:id="rId13"/>
    <p:sldId id="652" r:id="rId1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3" userDrawn="1">
          <p15:clr>
            <a:srgbClr val="A4A3A4"/>
          </p15:clr>
        </p15:guide>
        <p15:guide id="2" pos="28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00FF"/>
    <a:srgbClr val="006600"/>
    <a:srgbClr val="FF9900"/>
    <a:srgbClr val="FFFFCC"/>
    <a:srgbClr val="009900"/>
    <a:srgbClr val="00CC00"/>
    <a:srgbClr val="008000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1648" y="184"/>
      </p:cViewPr>
      <p:guideLst>
        <p:guide orient="horz" pos="2143"/>
        <p:guide pos="28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2026/7/22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AC49D05-6128-4D0D-A32A-06A5E73B386C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849F42C-2DAE-424C-A4B8-3140182C3E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performer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2026/7/22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456300" y="1555200"/>
            <a:ext cx="38448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  <p:custDataLst>
              <p:tags r:id="rId2"/>
            </p:custDataLst>
          </p:nvPr>
        </p:nvSpPr>
        <p:spPr>
          <a:xfrm>
            <a:off x="4762800" y="1555200"/>
            <a:ext cx="39204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单击此处编辑文本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2026/7/22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456300" y="774000"/>
            <a:ext cx="8229600" cy="5482800"/>
          </a:xfrm>
        </p:spPr>
        <p:txBody>
          <a:bodyPr/>
          <a:lstStyle>
            <a:lvl1pPr marL="2286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11430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6002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20574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899100" y="2484000"/>
            <a:ext cx="73494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899100" y="3560400"/>
            <a:ext cx="73494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0" y="-132080"/>
            <a:ext cx="9143365" cy="6360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1. So, we have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designed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TeenHealth Web to help you along the journey to adulthood.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design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vt.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</a:rPr>
              <a:t>为</a:t>
            </a:r>
            <a:r>
              <a:rPr lang="en-US" altLang="zh-CN" sz="3200" b="1" dirty="0">
                <a:latin typeface="Times New Roman" panose="02020503050405090304" pitchFamily="18" charset="0"/>
              </a:rPr>
              <a:t>...</a:t>
            </a:r>
            <a:r>
              <a:rPr lang="zh-CN" altLang="en-US" sz="3200" b="1" dirty="0">
                <a:latin typeface="Times New Roman" panose="02020503050405090304" pitchFamily="18" charset="0"/>
              </a:rPr>
              <a:t>设计某物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design sb sth = design sth for sb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</a:rPr>
              <a:t>这座花园是由一名西班牙建筑师为自己的妻子设计的。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</a:rPr>
              <a:t>This garden was __________ ____ a Spanish architect ____  his wife.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设计很糟糕的厨房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 badly designed kitchen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40335" y="3411220"/>
            <a:ext cx="7724140" cy="1272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                                designed     by                    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                for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0" y="149860"/>
            <a:ext cx="9143365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This course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is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primarily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designed as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an introduction to the subject. 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这门课程开设的主要目的是作为这门学科的导论。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这项计划的目的是为无家可归者提供帮助。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project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is designed for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the homeless.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project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is designed to help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the homeless.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0" y="-43180"/>
            <a:ext cx="9143365" cy="6360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</a:rPr>
              <a:t>design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n. =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the general arrangement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设计；布局</a:t>
            </a:r>
            <a:endParaRPr lang="en-US" altLang="zh-CN" sz="3200" b="1" i="1" dirty="0">
              <a:solidFill>
                <a:srgbClr val="FF0000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>
              <a:lnSpc>
                <a:spcPct val="120000"/>
              </a:lnSpc>
            </a:pPr>
            <a:r>
              <a:rPr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basic </a:t>
            </a:r>
            <a:r>
              <a:rPr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design of the car</a:t>
            </a:r>
            <a:r>
              <a:rPr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is very similar to that of earlier models.</a:t>
            </a:r>
          </a:p>
          <a:p>
            <a:pPr>
              <a:lnSpc>
                <a:spcPct val="120000"/>
              </a:lnSpc>
            </a:pPr>
            <a:r>
              <a:rPr sz="3200" b="1" dirty="0">
                <a:solidFill>
                  <a:schemeClr val="tx1"/>
                </a:solidFill>
              </a:rPr>
              <a:t>这种汽车的基本设计与早期的型号非常相似。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designer n. 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设计师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/ adj. 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名牌的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一个大师品牌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a designer label</a:t>
            </a:r>
            <a:endParaRPr lang="zh-CN" altLang="en-US" sz="3200" b="1" dirty="0">
              <a:solidFill>
                <a:schemeClr val="tx1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名牌服装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designer clothes</a:t>
            </a:r>
            <a:endParaRPr lang="en-US" altLang="zh-CN" sz="3200" b="1" dirty="0">
              <a:solidFill>
                <a:schemeClr val="tx1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-635" y="0"/>
            <a:ext cx="9144000" cy="6716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2. ... get advice from our health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experts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and other forum users.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expert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cn.</a:t>
            </a:r>
          </a:p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=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professional, specialist</a:t>
            </a:r>
            <a:endParaRPr lang="en-US" altLang="zh-CN" sz="3200" b="1" i="1" dirty="0">
              <a:solidFill>
                <a:schemeClr val="tx1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...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方面的专家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   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an expert at/on/in (doing) sth</a:t>
            </a:r>
            <a:endParaRPr lang="en-US" altLang="zh-CN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expert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 adj.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skilled</a:t>
            </a:r>
            <a:endParaRPr lang="en-US" altLang="zh-CN" sz="3200" b="1" i="1" dirty="0">
              <a:solidFill>
                <a:schemeClr val="tx1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擅长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                      be expert at/on/in (doing) sth</a:t>
            </a:r>
            <a:endParaRPr lang="en-US" altLang="zh-CN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寻求专业建议</a:t>
            </a:r>
            <a:r>
              <a:rPr lang="en-US" altLang="zh-CN" sz="3200" b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   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seek expert advice</a:t>
            </a:r>
            <a:endParaRPr lang="en-US" altLang="zh-CN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-635" y="0"/>
            <a:ext cx="9144000" cy="6716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In view of the situation, ________ _______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（内行的帮助）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is </a:t>
            </a:r>
            <a:r>
              <a:rPr lang="en-US" altLang="zh-CN" sz="3200" b="1" u="sng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badly needed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基于形势，我们很需要内行的帮助。</a:t>
            </a:r>
            <a:endParaRPr lang="en-US" altLang="zh-CN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他很擅长制作玩具，因此他很受孩子们的喜欢。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He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is expert in/at/on making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toys. That’s why he is quite popular with children.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4848225" y="0"/>
            <a:ext cx="2643505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expert      help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0" y="-635"/>
            <a:ext cx="9144000" cy="659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3.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It is likely that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the matter has already been discussed on our forum.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likely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adj.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possible</a:t>
            </a:r>
          </a:p>
          <a:p>
            <a:pPr>
              <a:lnSpc>
                <a:spcPct val="120000"/>
              </a:lnSpc>
            </a:pP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It is likely (that)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tickets of his concert are expensive. 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有可能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....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Tickets of his concert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are likely to be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expensive.</a:t>
            </a:r>
            <a:endParaRPr lang="en-US" altLang="zh-CN" sz="3200" b="1" i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[adv. + adj.]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hardly likely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几乎不可能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highly likely  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极有可能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be more (less) likely to do sth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更有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不太有可能做某事</a:t>
            </a:r>
            <a:endParaRPr lang="zh-CN" altLang="en-US" sz="3200" b="1" dirty="0"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0" y="-635"/>
            <a:ext cx="9144000" cy="659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最可能的结果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most likely result</a:t>
            </a:r>
            <a:endParaRPr lang="zh-CN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马修不太可能通过考试，因为他从不专注在学习上。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Matthew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is less/hardly likely to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pass the exam as he has never focused on his study.</a:t>
            </a:r>
            <a:endParaRPr lang="zh-CN" sz="3200" b="1" dirty="0"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The illness was caused, </a:t>
            </a:r>
            <a:r>
              <a:rPr 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most likely</a:t>
            </a:r>
            <a:r>
              <a:rPr 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, by a virus.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这种疾病很可能是由病毒引起的</a:t>
            </a:r>
            <a:r>
              <a:rPr lang="zh-CN" alt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She seems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most likely candidate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for the job.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这项工作，她似乎是</a:t>
            </a:r>
            <a:r>
              <a:rPr lang="zh-CN" altLang="en-US" sz="3200" b="1" u="sng" dirty="0">
                <a:latin typeface="Times New Roman Bold" panose="02020503050405090304" charset="0"/>
                <a:cs typeface="Times New Roman Bold" panose="02020503050405090304" charset="0"/>
              </a:rPr>
              <a:t>最适宜的人选</a:t>
            </a:r>
            <a:r>
              <a:rPr lang="zh-CN" alt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了。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Antonym: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unlikely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0" y="-635"/>
            <a:ext cx="9144000" cy="659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4.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There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’s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no point in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comparing you with others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all the time. 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做某事没有意义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 Bold" panose="02020503050405090304" charset="0"/>
                <a:cs typeface="Times New Roman Bold" panose="02020503050405090304" charset="0"/>
              </a:rPr>
              <a:t>[</a:t>
            </a:r>
            <a:r>
              <a:rPr lang="zh-CN" altLang="en-US" sz="3200" b="1" dirty="0">
                <a:solidFill>
                  <a:srgbClr val="0000FF"/>
                </a:solidFill>
                <a:latin typeface="Times New Roman Bold" panose="02020503050405090304" charset="0"/>
                <a:cs typeface="Times New Roman Bold" panose="02020503050405090304" charset="0"/>
              </a:rPr>
              <a:t>相似结构</a:t>
            </a:r>
            <a:r>
              <a:rPr lang="en-US" altLang="zh-CN" sz="3200" b="1" dirty="0">
                <a:solidFill>
                  <a:srgbClr val="0000FF"/>
                </a:solidFill>
                <a:latin typeface="Times New Roman Bold" panose="02020503050405090304" charset="0"/>
                <a:cs typeface="Times New Roman Bold" panose="02020503050405090304" charset="0"/>
              </a:rPr>
              <a:t>]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There’s no sense in doing sth </a:t>
            </a:r>
            <a:endParaRPr lang="en-US" altLang="zh-CN" sz="3200" b="1" dirty="0"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She may refuse (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拒绝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) to come, but there is no harm in asking.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做……没有坏处</a:t>
            </a:r>
          </a:p>
          <a:p>
            <a:pPr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compare you with others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把你和其他人比较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-635" y="0"/>
            <a:ext cx="9144000" cy="7107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5. Everyone is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unique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  <a:endParaRPr lang="zh-CN" altLang="en-US" sz="3200" b="1" dirty="0"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be unique to ...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 ...</a:t>
            </a:r>
            <a:r>
              <a:rPr lang="zh-CN" alt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特有的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二十四节气作为一种传统地记录时间流逝的方式，是中国特有的。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The Twenty-Four Solar Terms, a traditional way to mark the passage of time, ____ _________ ____ China.</a:t>
            </a:r>
            <a:endParaRPr lang="zh-CN" altLang="en-US" sz="3200" b="1" dirty="0"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20000"/>
              </a:lnSpc>
            </a:pPr>
            <a:endParaRPr lang="zh-CN" altLang="en-US" sz="3200" b="1" dirty="0"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uniquely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adv. </a:t>
            </a:r>
            <a:r>
              <a:rPr lang="zh-CN" alt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独特地；特有地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uniqueness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n.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zh-CN" alt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独特性</a:t>
            </a:r>
          </a:p>
          <a:p>
            <a:pPr>
              <a:lnSpc>
                <a:spcPct val="120000"/>
              </a:lnSpc>
            </a:pPr>
            <a:endParaRPr lang="zh-CN" altLang="en-US" sz="3200" b="1" dirty="0"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20000"/>
              </a:lnSpc>
            </a:pPr>
            <a:endParaRPr lang="zh-CN" altLang="en-US" sz="3200" b="1" dirty="0"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824730" y="2821305"/>
            <a:ext cx="3603625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 are     unique       to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-635" y="0"/>
            <a:ext cx="9145270" cy="60566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 think your parents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are too strict with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you.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=be tough on sb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Don’t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take a passive role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in the relationship.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处于被动地位</a:t>
            </a:r>
          </a:p>
          <a:p>
            <a:pPr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0" y="0"/>
            <a:ext cx="9145270" cy="554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6. ... having a bad influence on your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performance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  <a:endParaRPr lang="en-US" altLang="zh-CN" sz="3200" b="1" i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performance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n.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the action or process of performing a task or function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表现；性能；业绩</a:t>
            </a:r>
          </a:p>
          <a:p>
            <a:pPr>
              <a:lnSpc>
                <a:spcPct val="120000"/>
              </a:lnSpc>
            </a:pPr>
            <a:endParaRPr lang="zh-CN" altLang="en-US" sz="3200" b="1" i="1" dirty="0">
              <a:solidFill>
                <a:schemeClr val="tx1"/>
              </a:solidFill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good/poor performance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很好的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糟糕的表现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All showed that inconsistent (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反复无常的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) sleeping schedules has something to do with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poor academic performance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所有研究都表明，反复无常睡眠安排和糟糕的学业表现是密切相关的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。</a:t>
            </a:r>
            <a:endParaRPr lang="zh-CN" altLang="en-US" sz="3200" b="1" dirty="0"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0" y="0"/>
            <a:ext cx="9145270" cy="60566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 new management system has been introduced to the factory in order to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improve performance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工厂引进了新的管理体系以提高生产效率。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cn.</a:t>
            </a:r>
            <a:r>
              <a:rPr lang="en-US" altLang="zh-CN" sz="3200" b="1" i="1" dirty="0"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an act of presenting a play, concert, or other form of entertainment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 表演</a:t>
            </a:r>
            <a:endParaRPr lang="zh-CN" altLang="en-US" sz="3200" b="1" i="1" dirty="0"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She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gave the greatest performance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of her career.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她做了演艺生涯中最精彩的表演。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go to/attend a performance </a:t>
            </a:r>
            <a:r>
              <a:rPr lang="zh-CN" alt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观看演出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-635" y="635"/>
            <a:ext cx="9145270" cy="5306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乐队的</a:t>
            </a:r>
            <a:r>
              <a:rPr lang="zh-CN" alt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现场演出给他留下了深刻的印象。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He was greatly impressed by the ____ ___________ of the band.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Beth has shown great passion in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performance of her duties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履行职责</a:t>
            </a:r>
            <a:endParaRPr lang="en-US" altLang="zh-CN" sz="3200" b="1" dirty="0"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perform v.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表演、执行、运转</a:t>
            </a:r>
            <a:endParaRPr lang="en-US" altLang="zh-CN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动手术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执行任务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                             </a:t>
            </a:r>
            <a:endParaRPr lang="zh-CN" altLang="en-US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963285" y="654685"/>
            <a:ext cx="2938780" cy="60769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live   performance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2122170" y="5308600"/>
            <a:ext cx="2433955" cy="60769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perform a task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1608455" y="4699635"/>
            <a:ext cx="3461385" cy="60769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503050405090304" pitchFamily="18" charset="0"/>
                <a:sym typeface="+mn-ea"/>
              </a:rPr>
              <a:t>perform an operation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4" grpId="0"/>
      <p:bldP spid="4" grpId="1"/>
      <p:bldP spid="5" grpId="0"/>
      <p:bldP spid="5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heme/theme1.xml><?xml version="1.0" encoding="utf-8"?>
<a:theme xmlns:a="http://schemas.openxmlformats.org/drawingml/2006/main" name="Office 主题​​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3200" b="1" dirty="0" smtClean="0">
            <a:latin typeface="Times New Roman" panose="02020503050405090304" pitchFamily="18" charset="0"/>
            <a:cs typeface="Times New Roman" panose="0202050305040509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806</Words>
  <Application>Microsoft Macintosh PowerPoint</Application>
  <PresentationFormat>On-screen Show (4:3)</PresentationFormat>
  <Paragraphs>97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微软雅黑</vt:lpstr>
      <vt:lpstr>Times New Roman Bold</vt:lpstr>
      <vt:lpstr>Times New Roman Bold Italic</vt:lpstr>
      <vt:lpstr>Arial</vt:lpstr>
      <vt:lpstr>Calibri</vt:lpstr>
      <vt:lpstr>Calibri Light</vt:lpstr>
      <vt:lpstr>Times New Roman</vt:lpstr>
      <vt:lpstr>Wingdings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287</cp:revision>
  <dcterms:created xsi:type="dcterms:W3CDTF">2023-10-08T08:09:39Z</dcterms:created>
  <dcterms:modified xsi:type="dcterms:W3CDTF">2026-07-22T12:33:46Z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1033-6.2.0.8299</vt:lpwstr>
  </property>
  <property fmtid="{D5CDD505-2E9C-101B-9397-08002B2CF9AE}" pid="3" name="ICV">
    <vt:lpwstr>6D99E26C866BE1F875683163EFB033A1</vt:lpwstr>
  </property>
</Properties>
</file>