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711" r:id="rId2"/>
    <p:sldId id="602" r:id="rId3"/>
    <p:sldId id="611" r:id="rId4"/>
    <p:sldId id="628" r:id="rId5"/>
    <p:sldId id="649" r:id="rId6"/>
    <p:sldId id="713" r:id="rId7"/>
    <p:sldId id="652" r:id="rId8"/>
    <p:sldId id="653" r:id="rId9"/>
    <p:sldId id="651" r:id="rId10"/>
    <p:sldId id="714" r:id="rId11"/>
    <p:sldId id="715" r:id="rId12"/>
    <p:sldId id="716" r:id="rId13"/>
    <p:sldId id="614" r:id="rId14"/>
    <p:sldId id="607" r:id="rId15"/>
    <p:sldId id="620" r:id="rId16"/>
    <p:sldId id="678" r:id="rId17"/>
    <p:sldId id="619" r:id="rId18"/>
    <p:sldId id="657" r:id="rId19"/>
    <p:sldId id="658" r:id="rId20"/>
    <p:sldId id="606" r:id="rId21"/>
    <p:sldId id="605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9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CC00FF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31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736" y="184"/>
      </p:cViewPr>
      <p:guideLst>
        <p:guide orient="horz" pos="2239"/>
        <p:guide pos="28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2026/7/22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due consideration</a:t>
            </a:r>
            <a:r>
              <a:rPr lang="zh-CN" altLang="en-US"/>
              <a:t>充分考虑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8448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-635"/>
            <a:ext cx="9143365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also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left me thinking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about what it really means to be a “good friend”.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这让我思考“好朋友”究竟意味着什么。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 + V. + O. + OC.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leave sb doing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使得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做某事（表主动）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      done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使得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被做（表被动）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-635"/>
            <a:ext cx="9143365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洗手的时候不要让水一直留着。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Don’t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leave the water running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while you are washing your hands.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项目没完成他就去希腊度假了。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went on holiday in Greece,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leaving the project unfinished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4"/>
          <p:cNvSpPr txBox="1"/>
          <p:nvPr/>
        </p:nvSpPr>
        <p:spPr>
          <a:xfrm>
            <a:off x="635" y="-635"/>
            <a:ext cx="9143365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在某人看来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one’s opinion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某人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的看法</a:t>
            </a:r>
            <a:endParaRPr lang="zh-CN" altLang="en-US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one’s opinion about/on/of sth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发表观点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give/express an opinion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voice/state one’s opinion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(formal)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have/hold a good/bad/high/low opinion of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评价好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差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高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低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6401" y="641531"/>
            <a:ext cx="1035231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舆论、民意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专家观点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科学观点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意见分歧</a:t>
            </a: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660015" y="659448"/>
            <a:ext cx="267970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public opinion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341245" y="1262063"/>
            <a:ext cx="323151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expert opinion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2341245" y="1851978"/>
            <a:ext cx="312991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scientific opinion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341245" y="2424748"/>
            <a:ext cx="407733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difference of opinion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0975"/>
            <a:ext cx="8985250" cy="6677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quality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(usually plural)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品德，素质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个人品质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领导品质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quality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 </a:t>
            </a: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质量，品质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of good/high quality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高质量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improve the quality of sth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改善……的质量</a:t>
            </a:r>
            <a:endParaRPr lang="en-US" altLang="zh-CN" sz="3200" b="1" dirty="0"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6918" name="Rectangle 6"/>
          <p:cNvSpPr>
            <a:spLocks noChangeArrowheads="1"/>
          </p:cNvSpPr>
          <p:nvPr/>
        </p:nvSpPr>
        <p:spPr bwMode="auto">
          <a:xfrm>
            <a:off x="2056765" y="772478"/>
            <a:ext cx="324294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personal qualities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2056765" y="1390333"/>
            <a:ext cx="355917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leadership qualities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8" grpId="0" bldLvl="0" animBg="1"/>
      <p:bldP spid="2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0975"/>
            <a:ext cx="8985250" cy="6677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quality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.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优质的，高质量的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优质服务</a:t>
            </a: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/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产品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quality service/products</a:t>
            </a:r>
          </a:p>
          <a:p>
            <a:pPr>
              <a:lnSpc>
                <a:spcPct val="120000"/>
              </a:lnSpc>
            </a:pP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</a:t>
            </a: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most important thing is to spend </a:t>
            </a:r>
            <a:r>
              <a:rPr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quality time</a:t>
            </a: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talking to their children.</a:t>
            </a:r>
          </a:p>
          <a:p>
            <a:pPr>
              <a:lnSpc>
                <a:spcPct val="120000"/>
              </a:lnSpc>
            </a:pPr>
            <a:r>
              <a:rPr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优质时间，宝贵时光（指放松自我、享受乐趣的时间</a:t>
            </a:r>
          </a:p>
          <a:p>
            <a:pPr>
              <a:lnSpc>
                <a:spcPct val="120000"/>
              </a:lnSpc>
            </a:pP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0"/>
            <a:ext cx="9143365" cy="6399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basis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（</a:t>
            </a: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1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）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基础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foundation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form the basis of sth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形成</a:t>
            </a: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...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的基础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basis of friendship is mutual trust.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友谊的基础是相互信任。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basis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（</a:t>
            </a: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2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）根据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argument</a:t>
            </a:r>
            <a:endParaRPr lang="en-US" altLang="zh-CN" sz="3200" b="1" i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on the basis of sth / on the basis that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基于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...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 was promoted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基于她出色的表现。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47955" y="5237798"/>
            <a:ext cx="739457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the basis of her excellent performance.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149860"/>
            <a:ext cx="8975090" cy="5499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basis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（</a:t>
            </a: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3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）基准</a:t>
            </a: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condition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on a regular basis 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每月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天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周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base  vt.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以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为根据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base sth on/upon sth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	 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根基；根据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basic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 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basically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adv.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基本上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endParaRPr lang="zh-CN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129155" y="1384935"/>
            <a:ext cx="611124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on a monthly / daily / weekly basis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9545" y="0"/>
            <a:ext cx="8817610" cy="5167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respect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尊重，尊敬，敬意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had always been honest with me, and 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respect her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that.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她一直对我很诚实。我非常敬重她这一点。</a:t>
            </a: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备受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爱戴和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尊敬的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老师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much loved 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highly respected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teacher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respectful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elders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尊重长辈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9545" y="0"/>
            <a:ext cx="8817610" cy="5167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respect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尊重，尊敬，敬意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have the greatest respect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your brother.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对……尊敬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每个人都应该受尊重。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Everyone should be treated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 respect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respectfully (adv.)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]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 all due respect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I think you’ve misunderstood what he said.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恕我直言，我觉得你误会了他说的。</a:t>
            </a:r>
            <a:endParaRPr lang="zh-CN" altLang="en-US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9545" y="0"/>
            <a:ext cx="8817610" cy="6514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respect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方面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(aspect)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this respect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we are very fortunate.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在这方面，我们是很幸运的。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这两组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收入和地位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方面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是相似的。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two groups were similar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respect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income and status.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concerning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9545" y="0"/>
            <a:ext cx="8817610" cy="6514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respective adj.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各自的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/ respectively adv.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They are each recognized specialists in their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respective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fields.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他们在各自的领域都被视为专家。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Julie and Mark, aged 17 and 19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respectively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朱莉和马克，年龄分别为 17 岁和 19 岁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6" name="Rectangle 4"/>
          <p:cNvSpPr>
            <a:spLocks noChangeArrowheads="1"/>
          </p:cNvSpPr>
          <p:nvPr/>
        </p:nvSpPr>
        <p:spPr bwMode="auto">
          <a:xfrm>
            <a:off x="203201" y="624523"/>
            <a:ext cx="8559800" cy="422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翻译句子。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我非常尊敬你的哥哥。</a:t>
            </a:r>
          </a:p>
          <a:p>
            <a:pPr>
              <a:lnSpc>
                <a:spcPct val="120000"/>
              </a:lnSpc>
            </a:pP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_______________________________________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露西一直对我很诚实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我非常敬重她这一点。</a:t>
            </a:r>
          </a:p>
          <a:p>
            <a:pPr>
              <a:lnSpc>
                <a:spcPct val="120000"/>
              </a:lnSpc>
            </a:pP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_______________________________________</a:t>
            </a:r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574676" y="1788478"/>
            <a:ext cx="8054975" cy="1272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have the greatest respect for your brother. / I respect your brother very much. </a:t>
            </a:r>
          </a:p>
        </p:txBody>
      </p:sp>
      <p:sp>
        <p:nvSpPr>
          <p:cNvPr id="166919" name="Rectangle 7"/>
          <p:cNvSpPr>
            <a:spLocks noChangeArrowheads="1"/>
          </p:cNvSpPr>
          <p:nvPr/>
        </p:nvSpPr>
        <p:spPr bwMode="auto">
          <a:xfrm>
            <a:off x="552450" y="3538222"/>
            <a:ext cx="8077200" cy="1272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Lucy had always been honest with me, and I respect her for that.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6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6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6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6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6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7" grpId="0" bldLvl="0" animBg="1"/>
      <p:bldP spid="16691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40640"/>
            <a:ext cx="9144000" cy="6459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more efficient learner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一名更高效的学习者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efficient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物）效率高的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productive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efficient at doing 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做某事效率很高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highly efficient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效率极高的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antonym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inefficient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efficiently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efficiency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我们的目的是提升效率，而不是延长工作时间。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are aimed at improving efficiency, instead of extending working hours.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1268095" y="86360"/>
            <a:ext cx="11680190" cy="599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Carl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took up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his pen and began to write at once.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When did you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up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job as a doctor, sir?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sold the old books that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 taking up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space in the office at a low price.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I’ll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up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story where you left off.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took up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tennis at the age of 11.</a:t>
            </a:r>
          </a:p>
        </p:txBody>
      </p:sp>
      <p:sp>
        <p:nvSpPr>
          <p:cNvPr id="166919" name="Rectangle 7"/>
          <p:cNvSpPr>
            <a:spLocks noChangeArrowheads="1"/>
          </p:cNvSpPr>
          <p:nvPr/>
        </p:nvSpPr>
        <p:spPr bwMode="auto">
          <a:xfrm>
            <a:off x="8156575" y="227330"/>
            <a:ext cx="1141095" cy="681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拿起</a:t>
            </a: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2315210" y="1630045"/>
            <a:ext cx="8096885" cy="681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accept an offer or challenge, invitation 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接受</a:t>
            </a: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3492500" y="3482340"/>
            <a:ext cx="6516370" cy="681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occupy time, space or attention 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占据</a:t>
            </a: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101725" y="4800600"/>
            <a:ext cx="7953375" cy="681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resume, return to 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继续，（说话）回到某处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809750" y="6007735"/>
            <a:ext cx="8458835" cy="681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become interested or engaged 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感兴趣，开始学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9" grpId="0" bldLvl="0" animBg="1"/>
      <p:bldP spid="3" grpId="0" bldLvl="0" animBg="1"/>
      <p:bldP spid="4" grpId="0" bldLvl="0" animBg="1"/>
      <p:bldP spid="5" grpId="0" bldLvl="0" animBg="1"/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605" y="0"/>
            <a:ext cx="8755380" cy="5012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measure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衡量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这个测试是衡量阅读理解能力的好方法吗？</a:t>
            </a:r>
            <a:endParaRPr lang="en-US" altLang="zh-CN" sz="3200" b="1" dirty="0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Is this test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good measure of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reading comprehension?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 is a man who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measures 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his words.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他是一个字斟句酌的人。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3"/>
          <p:cNvSpPr txBox="1">
            <a:spLocks noChangeArrowheads="1"/>
          </p:cNvSpPr>
          <p:nvPr/>
        </p:nvSpPr>
        <p:spPr bwMode="auto">
          <a:xfrm>
            <a:off x="-108859" y="947057"/>
            <a:ext cx="9122229" cy="507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6405" indent="-4464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0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用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take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短语的适当形式填空。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000" b="1" dirty="0">
                <a:latin typeface="Times New Roman" panose="02020503050405090304" pitchFamily="18" charset="0"/>
              </a:rPr>
              <a:t>1) Don’t ___________ too much work – the extra cash isn’t worth it.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000" b="1" dirty="0">
                <a:latin typeface="Times New Roman" panose="02020503050405090304" pitchFamily="18" charset="0"/>
              </a:rPr>
              <a:t>2) She doesn’t usually ___________ any of the class activities.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000" b="1" dirty="0">
                <a:latin typeface="Times New Roman" panose="02020503050405090304" pitchFamily="18" charset="0"/>
              </a:rPr>
              <a:t>3) He ___________ my address and phone number and said he’d phone back.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000" b="1" dirty="0">
                <a:latin typeface="Times New Roman" panose="02020503050405090304" pitchFamily="18" charset="0"/>
              </a:rPr>
              <a:t>4) The little time I had outside of school ____________ with work. </a:t>
            </a:r>
          </a:p>
        </p:txBody>
      </p:sp>
      <p:sp>
        <p:nvSpPr>
          <p:cNvPr id="191498" name="Rectangle 10"/>
          <p:cNvSpPr>
            <a:spLocks noChangeArrowheads="1"/>
          </p:cNvSpPr>
          <p:nvPr/>
        </p:nvSpPr>
        <p:spPr bwMode="auto">
          <a:xfrm>
            <a:off x="1641476" y="1470479"/>
            <a:ext cx="1927225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take on</a:t>
            </a:r>
          </a:p>
        </p:txBody>
      </p:sp>
      <p:sp>
        <p:nvSpPr>
          <p:cNvPr id="191499" name="Rectangle 11"/>
          <p:cNvSpPr>
            <a:spLocks noChangeArrowheads="1"/>
          </p:cNvSpPr>
          <p:nvPr/>
        </p:nvSpPr>
        <p:spPr bwMode="auto">
          <a:xfrm>
            <a:off x="3568701" y="2583316"/>
            <a:ext cx="2401888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take part in</a:t>
            </a:r>
          </a:p>
        </p:txBody>
      </p:sp>
      <p:sp>
        <p:nvSpPr>
          <p:cNvPr id="191500" name="Rectangle 12"/>
          <p:cNvSpPr>
            <a:spLocks noChangeArrowheads="1"/>
          </p:cNvSpPr>
          <p:nvPr/>
        </p:nvSpPr>
        <p:spPr bwMode="auto">
          <a:xfrm>
            <a:off x="1034143" y="3726543"/>
            <a:ext cx="2168525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took down</a:t>
            </a:r>
          </a:p>
        </p:txBody>
      </p:sp>
      <p:sp>
        <p:nvSpPr>
          <p:cNvPr id="191501" name="Rectangle 13"/>
          <p:cNvSpPr>
            <a:spLocks noChangeArrowheads="1"/>
          </p:cNvSpPr>
          <p:nvPr/>
        </p:nvSpPr>
        <p:spPr bwMode="auto">
          <a:xfrm>
            <a:off x="6562905" y="4845867"/>
            <a:ext cx="2667000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was taken up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8" grpId="0" bldLvl="0" animBg="1"/>
      <p:bldP spid="191499" grpId="0" bldLvl="0" animBg="1"/>
      <p:bldP spid="191500" grpId="0" bldLvl="0" animBg="1"/>
      <p:bldP spid="19150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402771" y="1371602"/>
            <a:ext cx="10384971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It’ll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up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some of my spare time, but this friendship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is worth my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extra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time and effort.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这会占用我一部分空闲时间，但是这段友谊值得我付出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额外的时间和努力。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extra 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额外的；多余的；附加的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额外的费用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我们需要多一张椅子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放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在桌旁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530475" y="4290060"/>
            <a:ext cx="254127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extra expense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5085" y="5395595"/>
            <a:ext cx="63677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need an extra chair at the table.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4940" y="190500"/>
            <a:ext cx="8824595" cy="6005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extra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adv.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额外；特别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额外收费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is trying to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extra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good.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他试图变得格外好。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extra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cn.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额外的事物；另外收费的事物；临时演员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price includes all major charges—there are no hidden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extras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film used an army of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extras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748280" y="766445"/>
            <a:ext cx="236029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charge extra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40335"/>
            <a:ext cx="9144000" cy="6390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brings out the best in a person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激发出一个人最好的一面。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bring out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make something easier to see, taste,   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   notice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使显现，使表现出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bring out 生产，出版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press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brought out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five books on German history so far.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34" y="930844"/>
            <a:ext cx="1484998" cy="831599"/>
          </a:xfrm>
          <a:prstGeom prst="rect">
            <a:avLst/>
          </a:prstGeom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881188" y="1764033"/>
            <a:ext cx="6968898" cy="363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bring up </a:t>
            </a:r>
            <a:r>
              <a:rPr lang="zh-CN" altLang="en-US" sz="3200" dirty="0"/>
              <a:t>抚养，养育；呕吐；提出 </a:t>
            </a:r>
            <a:endParaRPr lang="en-US" altLang="zh-CN" sz="32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bring in </a:t>
            </a:r>
            <a:r>
              <a:rPr lang="zh-CN" altLang="en-US" sz="3200" dirty="0"/>
              <a:t>引进；获利；赚钱</a:t>
            </a:r>
            <a:endParaRPr lang="en-US" altLang="zh-CN" sz="32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bring about </a:t>
            </a:r>
            <a:r>
              <a:rPr lang="zh-CN" altLang="en-US" sz="3200" dirty="0"/>
              <a:t>引起；导致</a:t>
            </a:r>
            <a:endParaRPr lang="en-US" altLang="zh-CN" sz="32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bring down</a:t>
            </a:r>
            <a:r>
              <a:rPr lang="zh-CN" altLang="en-US" sz="3200" dirty="0"/>
              <a:t>打垮；击败；减少；降低</a:t>
            </a:r>
            <a:endParaRPr lang="en-US" altLang="zh-CN" sz="32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3200" dirty="0"/>
              <a:t>                  </a:t>
            </a:r>
            <a:r>
              <a:rPr lang="zh-CN" altLang="en-US" sz="3200" dirty="0"/>
              <a:t>（价格、温度等）</a:t>
            </a:r>
            <a:endParaRPr lang="en-US" altLang="zh-CN" sz="32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bring an end to </a:t>
            </a:r>
            <a:r>
              <a:rPr lang="en-US" altLang="zh-CN" sz="3200" dirty="0" err="1">
                <a:solidFill>
                  <a:srgbClr val="FF0000"/>
                </a:solidFill>
              </a:rPr>
              <a:t>sth</a:t>
            </a:r>
            <a:r>
              <a:rPr lang="en-US" altLang="zh-CN" sz="3200" dirty="0">
                <a:solidFill>
                  <a:srgbClr val="FF0000"/>
                </a:solidFill>
              </a:rPr>
              <a:t>.</a:t>
            </a:r>
            <a:r>
              <a:rPr lang="zh-CN" altLang="en-US" sz="3200" dirty="0"/>
              <a:t>使某事结束</a:t>
            </a:r>
            <a:endParaRPr lang="en-US" altLang="zh-CN" sz="3200" dirty="0"/>
          </a:p>
        </p:txBody>
      </p:sp>
      <p:sp>
        <p:nvSpPr>
          <p:cNvPr id="4" name="AutoShape 55"/>
          <p:cNvSpPr>
            <a:spLocks noChangeArrowheads="1"/>
          </p:cNvSpPr>
          <p:nvPr/>
        </p:nvSpPr>
        <p:spPr bwMode="auto">
          <a:xfrm>
            <a:off x="228601" y="3052763"/>
            <a:ext cx="1223963" cy="1008062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dirty="0"/>
              <a:t>bring</a:t>
            </a:r>
          </a:p>
          <a:p>
            <a:pPr algn="ctr" eaLnBrk="1" hangingPunct="1"/>
            <a:r>
              <a:rPr lang="zh-CN" altLang="en-US" dirty="0"/>
              <a:t>短语</a:t>
            </a:r>
          </a:p>
        </p:txBody>
      </p:sp>
      <p:sp>
        <p:nvSpPr>
          <p:cNvPr id="5" name="AutoShape 58"/>
          <p:cNvSpPr/>
          <p:nvPr/>
        </p:nvSpPr>
        <p:spPr bwMode="auto">
          <a:xfrm>
            <a:off x="1613296" y="2155373"/>
            <a:ext cx="267891" cy="2971798"/>
          </a:xfrm>
          <a:prstGeom prst="leftBrace">
            <a:avLst>
              <a:gd name="adj1" fmla="val 55022"/>
              <a:gd name="adj2" fmla="val 50000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1194</Words>
  <Application>Microsoft Macintosh PowerPoint</Application>
  <PresentationFormat>On-screen Show (4:3)</PresentationFormat>
  <Paragraphs>173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微软雅黑</vt:lpstr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594</cp:revision>
  <dcterms:created xsi:type="dcterms:W3CDTF">2023-11-01T02:00:18Z</dcterms:created>
  <dcterms:modified xsi:type="dcterms:W3CDTF">2026-07-22T12:36:52Z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1033-6.2.2.8394</vt:lpwstr>
  </property>
  <property fmtid="{D5CDD505-2E9C-101B-9397-08002B2CF9AE}" pid="3" name="ICV">
    <vt:lpwstr>2FFB4F0290F4D63AFADA4B633907D3BD</vt:lpwstr>
  </property>
</Properties>
</file>