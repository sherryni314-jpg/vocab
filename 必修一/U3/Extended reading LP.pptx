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notesSlides/notesSlide13.xml" ContentType="application/vnd.openxmlformats-officedocument.presentationml.notesSlide+xml"/>
  <Override PartName="/ppt/tags/tag35.xml" ContentType="application/vnd.openxmlformats-officedocument.presentationml.tags+xml"/>
  <Override PartName="/ppt/notesSlides/notesSlide14.xml" ContentType="application/vnd.openxmlformats-officedocument.presentationml.notesSlide+xml"/>
  <Override PartName="/ppt/tags/tag36.xml" ContentType="application/vnd.openxmlformats-officedocument.presentationml.tags+xml"/>
  <Override PartName="/ppt/notesSlides/notesSlide15.xml" ContentType="application/vnd.openxmlformats-officedocument.presentationml.notesSlide+xml"/>
  <Override PartName="/ppt/tags/tag37.xml" ContentType="application/vnd.openxmlformats-officedocument.presentationml.tags+xml"/>
  <Override PartName="/ppt/notesSlides/notesSlide16.xml" ContentType="application/vnd.openxmlformats-officedocument.presentationml.notesSlide+xml"/>
  <Override PartName="/ppt/tags/tag38.xml" ContentType="application/vnd.openxmlformats-officedocument.presentationml.tags+xml"/>
  <Override PartName="/ppt/notesSlides/notesSlide17.xml" ContentType="application/vnd.openxmlformats-officedocument.presentationml.notesSlide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tags/tag40.xml" ContentType="application/vnd.openxmlformats-officedocument.presentationml.tags+xml"/>
  <Override PartName="/ppt/notesSlides/notesSlide19.xml" ContentType="application/vnd.openxmlformats-officedocument.presentationml.notesSlide+xml"/>
  <Override PartName="/ppt/tags/tag41.xml" ContentType="application/vnd.openxmlformats-officedocument.presentationml.tags+xml"/>
  <Override PartName="/ppt/notesSlides/notesSlide20.xml" ContentType="application/vnd.openxmlformats-officedocument.presentationml.notesSlide+xml"/>
  <Override PartName="/ppt/tags/tag42.xml" ContentType="application/vnd.openxmlformats-officedocument.presentationml.tags+xml"/>
  <Override PartName="/ppt/notesSlides/notesSlide21.xml" ContentType="application/vnd.openxmlformats-officedocument.presentationml.notesSlide+xml"/>
  <Override PartName="/ppt/tags/tag43.xml" ContentType="application/vnd.openxmlformats-officedocument.presentationml.tags+xml"/>
  <Override PartName="/ppt/notesSlides/notesSlide22.xml" ContentType="application/vnd.openxmlformats-officedocument.presentationml.notesSlide+xml"/>
  <Override PartName="/ppt/tags/tag44.xml" ContentType="application/vnd.openxmlformats-officedocument.presentationml.tags+xml"/>
  <Override PartName="/ppt/notesSlides/notesSlide23.xml" ContentType="application/vnd.openxmlformats-officedocument.presentationml.notesSlide+xml"/>
  <Override PartName="/ppt/tags/tag45.xml" ContentType="application/vnd.openxmlformats-officedocument.presentationml.tags+xml"/>
  <Override PartName="/ppt/notesSlides/notesSlide24.xml" ContentType="application/vnd.openxmlformats-officedocument.presentationml.notesSlide+xml"/>
  <Override PartName="/ppt/tags/tag46.xml" ContentType="application/vnd.openxmlformats-officedocument.presentationml.tags+xml"/>
  <Override PartName="/ppt/notesSlides/notesSlide25.xml" ContentType="application/vnd.openxmlformats-officedocument.presentationml.notesSlide+xml"/>
  <Override PartName="/ppt/tags/tag47.xml" ContentType="application/vnd.openxmlformats-officedocument.presentationml.tags+xml"/>
  <Override PartName="/ppt/notesSlides/notesSlide26.xml" ContentType="application/vnd.openxmlformats-officedocument.presentationml.notesSlide+xml"/>
  <Override PartName="/ppt/tags/tag48.xml" ContentType="application/vnd.openxmlformats-officedocument.presentationml.tags+xml"/>
  <Override PartName="/ppt/notesSlides/notesSlide27.xml" ContentType="application/vnd.openxmlformats-officedocument.presentationml.notesSlide+xml"/>
  <Override PartName="/ppt/tags/tag49.xml" ContentType="application/vnd.openxmlformats-officedocument.presentationml.tags+xml"/>
  <Override PartName="/ppt/notesSlides/notesSlide28.xml" ContentType="application/vnd.openxmlformats-officedocument.presentationml.notesSlide+xml"/>
  <Override PartName="/ppt/tags/tag50.xml" ContentType="application/vnd.openxmlformats-officedocument.presentationml.tags+xml"/>
  <Override PartName="/ppt/notesSlides/notesSlide29.xml" ContentType="application/vnd.openxmlformats-officedocument.presentationml.notesSlide+xml"/>
  <Override PartName="/ppt/tags/tag51.xml" ContentType="application/vnd.openxmlformats-officedocument.presentationml.tags+xml"/>
  <Override PartName="/ppt/notesSlides/notesSlide30.xml" ContentType="application/vnd.openxmlformats-officedocument.presentationml.notesSlide+xml"/>
  <Override PartName="/ppt/tags/tag52.xml" ContentType="application/vnd.openxmlformats-officedocument.presentationml.tags+xml"/>
  <Override PartName="/ppt/notesSlides/notesSlide31.xml" ContentType="application/vnd.openxmlformats-officedocument.presentationml.notesSlide+xml"/>
  <Override PartName="/ppt/tags/tag53.xml" ContentType="application/vnd.openxmlformats-officedocument.presentationml.tags+xml"/>
  <Override PartName="/ppt/notesSlides/notesSlide32.xml" ContentType="application/vnd.openxmlformats-officedocument.presentationml.notesSlide+xml"/>
  <Override PartName="/ppt/tags/tag54.xml" ContentType="application/vnd.openxmlformats-officedocument.presentationml.tags+xml"/>
  <Override PartName="/ppt/notesSlides/notesSlide33.xml" ContentType="application/vnd.openxmlformats-officedocument.presentationml.notesSlide+xml"/>
  <Override PartName="/ppt/tags/tag55.xml" ContentType="application/vnd.openxmlformats-officedocument.presentationml.tags+xml"/>
  <Override PartName="/ppt/notesSlides/notesSlide34.xml" ContentType="application/vnd.openxmlformats-officedocument.presentationml.notesSlide+xml"/>
  <Override PartName="/ppt/tags/tag56.xml" ContentType="application/vnd.openxmlformats-officedocument.presentationml.tags+xml"/>
  <Override PartName="/ppt/notesSlides/notesSlide35.xml" ContentType="application/vnd.openxmlformats-officedocument.presentationml.notesSlide+xml"/>
  <Override PartName="/ppt/tags/tag57.xml" ContentType="application/vnd.openxmlformats-officedocument.presentationml.tags+xml"/>
  <Override PartName="/ppt/notesSlides/notesSlide36.xml" ContentType="application/vnd.openxmlformats-officedocument.presentationml.notesSlide+xml"/>
  <Override PartName="/ppt/tags/tag58.xml" ContentType="application/vnd.openxmlformats-officedocument.presentationml.tags+xml"/>
  <Override PartName="/ppt/notesSlides/notesSlide37.xml" ContentType="application/vnd.openxmlformats-officedocument.presentationml.notesSlide+xml"/>
  <Override PartName="/ppt/tags/tag59.xml" ContentType="application/vnd.openxmlformats-officedocument.presentationml.tags+xml"/>
  <Override PartName="/ppt/notesSlides/notesSlide38.xml" ContentType="application/vnd.openxmlformats-officedocument.presentationml.notesSlide+xml"/>
  <Override PartName="/ppt/tags/tag60.xml" ContentType="application/vnd.openxmlformats-officedocument.presentationml.tags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5" r:id="rId3"/>
  </p:sldMasterIdLst>
  <p:notesMasterIdLst>
    <p:notesMasterId r:id="rId49"/>
  </p:notesMasterIdLst>
  <p:handoutMasterIdLst>
    <p:handoutMasterId r:id="rId50"/>
  </p:handoutMasterIdLst>
  <p:sldIdLst>
    <p:sldId id="525" r:id="rId4"/>
    <p:sldId id="690" r:id="rId5"/>
    <p:sldId id="692" r:id="rId6"/>
    <p:sldId id="586" r:id="rId7"/>
    <p:sldId id="693" r:id="rId8"/>
    <p:sldId id="584" r:id="rId9"/>
    <p:sldId id="583" r:id="rId10"/>
    <p:sldId id="694" r:id="rId11"/>
    <p:sldId id="734" r:id="rId12"/>
    <p:sldId id="528" r:id="rId13"/>
    <p:sldId id="529" r:id="rId14"/>
    <p:sldId id="530" r:id="rId15"/>
    <p:sldId id="533" r:id="rId16"/>
    <p:sldId id="588" r:id="rId17"/>
    <p:sldId id="590" r:id="rId18"/>
    <p:sldId id="591" r:id="rId19"/>
    <p:sldId id="696" r:id="rId20"/>
    <p:sldId id="587" r:id="rId21"/>
    <p:sldId id="534" r:id="rId22"/>
    <p:sldId id="536" r:id="rId23"/>
    <p:sldId id="537" r:id="rId24"/>
    <p:sldId id="698" r:id="rId25"/>
    <p:sldId id="699" r:id="rId26"/>
    <p:sldId id="700" r:id="rId27"/>
    <p:sldId id="701" r:id="rId28"/>
    <p:sldId id="702" r:id="rId29"/>
    <p:sldId id="539" r:id="rId30"/>
    <p:sldId id="552" r:id="rId31"/>
    <p:sldId id="619" r:id="rId32"/>
    <p:sldId id="617" r:id="rId33"/>
    <p:sldId id="616" r:id="rId34"/>
    <p:sldId id="704" r:id="rId35"/>
    <p:sldId id="703" r:id="rId36"/>
    <p:sldId id="553" r:id="rId37"/>
    <p:sldId id="540" r:id="rId38"/>
    <p:sldId id="705" r:id="rId39"/>
    <p:sldId id="706" r:id="rId40"/>
    <p:sldId id="543" r:id="rId41"/>
    <p:sldId id="620" r:id="rId42"/>
    <p:sldId id="623" r:id="rId43"/>
    <p:sldId id="622" r:id="rId44"/>
    <p:sldId id="625" r:id="rId45"/>
    <p:sldId id="627" r:id="rId46"/>
    <p:sldId id="628" r:id="rId47"/>
    <p:sldId id="707" r:id="rId4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29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0000FF"/>
    <a:srgbClr val="FFFFCC"/>
    <a:srgbClr val="CC66FF"/>
    <a:srgbClr val="DCDCDC"/>
    <a:srgbClr val="F0F0F0"/>
    <a:srgbClr val="E6E6E6"/>
    <a:srgbClr val="C8C8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2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808" y="184"/>
      </p:cViewPr>
      <p:guideLst>
        <p:guide orient="horz" pos="2090"/>
        <p:guide pos="29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开始从事，喜欢上</a:t>
            </a:r>
            <a:r>
              <a:rPr lang="en-US" altLang="zh-CN"/>
              <a:t> be interested in sth and spend time doing it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37B290-6447-4C5E-A2D5-BBC7763DC2C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CCF16-2483-49F5-AEE2-49CA211ED9D7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19B315-33F4-47C7-967A-A96C7D4904F2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7B0E2-73ED-43E3-B3BB-FADEAEC69AFB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07351C-C6ED-4D1C-8B18-5F5D0BB84A8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601CAD-DD19-4924-A2FB-DB0511411A38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6218DD-34F0-4E8F-A8AE-ED896BCB93F7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5AD8D8-8CB1-4518-8F46-4D01AA9E168F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3AD33-DD96-4440-BBA2-0A0EEF86EA01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2C00CF-02DF-4187-B4A0-74FC812EA7F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A7523-7897-40B4-900E-6DB8B8BECAFD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E3116-8B2B-4561-AD76-2EDA3C669F24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A150C-AF0F-4631-998B-8C4B4A0DF2DA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BAAD9-CAF5-4DE7-AF7B-EE0B5005B821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43D5-77E8-4F6A-8FE6-5318C663117A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77E5B-C3F9-4864-B781-91C35C0902FF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EEA85-7835-468C-B413-54D151536853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BCD2A-06D7-490A-B39E-16788EF759A3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B306E-3D62-4691-9888-3B6B82B44870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52EBB-CCA7-4966-90F9-639C747AF282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5595-F2B8-4DAC-9AF6-7E3B04926DC5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58B2-B250-49D6-B78B-E3AE4BD36224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fld id="{5E810E67-0969-4018-BB2F-2712948297C2}" type="slidenum">
              <a:rPr lang="zh-CN" altLang="zh-CN">
                <a:solidFill>
                  <a:srgbClr val="000000"/>
                </a:solidFill>
              </a:r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247CFB-6249-4A93-9F2C-32A2289A795E}" type="slidenum">
              <a:rPr lang="en-US" altLang="zh-CN" smtClean="0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4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9144000" cy="6471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alone with our own thoughts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(ideas)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独自思考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quiet periods of reflection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静思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personal improvement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自我完善</a:t>
            </a:r>
          </a:p>
          <a:p>
            <a:pPr>
              <a:lnSpc>
                <a:spcPct val="114000"/>
              </a:lnSpc>
            </a:pP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reflection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careful thought about sth (after a long time)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沉思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decided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reflection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accept his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advice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经过深思熟虑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，她决定接受他的提议。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陷入沉思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lost in reflection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50800" y="0"/>
            <a:ext cx="9335135" cy="6471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2)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cn.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image seen in a mirror or shiny surface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镜像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 one's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reflection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a window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在窗户上看到自己的影子</a:t>
            </a:r>
          </a:p>
          <a:p>
            <a:pPr>
              <a:lnSpc>
                <a:spcPct val="114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 sign that shows the state or nature of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反映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Your clothes are often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reflection of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your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personality.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穿着常常反映出一个人的个性。</a:t>
            </a:r>
          </a:p>
          <a:p>
            <a:pPr>
              <a:lnSpc>
                <a:spcPct val="114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50800" y="0"/>
            <a:ext cx="9335135" cy="6471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4)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written or spoken thoughts about 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关于某事的想法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写下来或表达的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一本关于她</a:t>
            </a: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童年的</a:t>
            </a:r>
            <a:r>
              <a:rPr 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回忆录</a:t>
            </a:r>
            <a:endParaRPr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book of her reflection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childhood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article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accurate reflection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events that day.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这篇文章准确地记录了那天发生的事。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account, description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-635"/>
            <a:ext cx="9144000" cy="5908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reflect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映出，反射；反映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could see her face ________(reflect)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car’s rear-view mirror.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windows reflected the bright afternoon sunlight.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窗户反射着午后明媚的阳光。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本报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力求反映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当地人民的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想法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Our newspaper aims to reflect the views of the local community.</a:t>
            </a:r>
          </a:p>
          <a:p>
            <a:pPr>
              <a:lnSpc>
                <a:spcPct val="114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77640" y="599440"/>
            <a:ext cx="16941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reflected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-635"/>
            <a:ext cx="9319895" cy="6654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reflect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vi.&amp;vt.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沉思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reflected 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child’s future.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认真考虑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了孩子的未来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。(think deeply about sth)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reflected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interview had gone well.</a:t>
            </a:r>
          </a:p>
          <a:p>
            <a:pPr>
              <a:lnSpc>
                <a:spcPct val="114000"/>
              </a:lnSpc>
            </a:pP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琢磨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着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reflected how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different it could have been.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她琢磨着那件事本可以有多大的不同。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0" name="Text Box 4"/>
          <p:cNvSpPr txBox="1">
            <a:spLocks noChangeArrowheads="1"/>
          </p:cNvSpPr>
          <p:nvPr/>
        </p:nvSpPr>
        <p:spPr bwMode="auto">
          <a:xfrm>
            <a:off x="-635" y="0"/>
            <a:ext cx="9419590" cy="6496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marL="443230" indent="-4432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223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想了几天之后，她决定参加比赛。</a:t>
            </a:r>
          </a:p>
          <a:p>
            <a:pPr mar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After days of reflection, she decided to take part in the competition.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语言是人们生活方式的一种反映。</a:t>
            </a:r>
          </a:p>
          <a:p>
            <a:pPr mar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Languages are ______ _________ ___ people’s lifestyles.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People’s lifestyles are _________ ____ languages.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如果你养成反思自己学习方式的习惯，作为学生你的表现会很好。</a:t>
            </a:r>
          </a:p>
          <a:p>
            <a:pPr marL="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Your performance as a student will be excellent if you develop a habit of reflecting on how you learn.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911475" y="2452370"/>
            <a:ext cx="37020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       reflection    of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860800" y="3582035"/>
            <a:ext cx="26200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reflected     in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19050" y="0"/>
            <a:ext cx="9163050" cy="6823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...when wee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be alone,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寻求独处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seek (sought - sought)</a:t>
            </a: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vi.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seek to do sth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试图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设法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(try to do)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4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那个小男孩正在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试图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和他的姐姐和好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The little boy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seeking to make up with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his elder sister.</a:t>
            </a:r>
          </a:p>
          <a:p>
            <a:pPr fontAlgn="auto">
              <a:lnSpc>
                <a:spcPct val="114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2)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vt. &amp; vi.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seek sth / seek for sth 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寻找；谋求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(look for sth; try to obtain sth)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She managed to calm him down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seek help from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a neighbour.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她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设法成功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使他平静下来，然后向一位邻居求助。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19050" y="0"/>
            <a:ext cx="9163050" cy="570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寻求专业建议</a:t>
            </a: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seek expert advice</a:t>
            </a: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seek help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寻求帮助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seek a job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找工作</a:t>
            </a:r>
          </a:p>
          <a:p>
            <a:pPr fontAlgn="auto">
              <a:lnSpc>
                <a:spcPct val="114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[-seeking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构成形容词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名词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]</a:t>
            </a:r>
            <a:endParaRPr lang="en-US" altLang="zh-CN" sz="3200" b="1" dirty="0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引起他人注意而做出的行为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attention-seeking behaviour</a:t>
            </a:r>
          </a:p>
          <a:p>
            <a:pPr fontAlgn="auto"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求职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job-seeking</a:t>
            </a:r>
          </a:p>
          <a:p>
            <a:pPr fontAlgn="auto"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求职者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job-seeker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19050" y="0"/>
            <a:ext cx="9163050" cy="177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Olympic gold medal is the most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sought-after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prize in world sport.</a:t>
            </a:r>
          </a:p>
          <a:p>
            <a:pPr fontAlgn="auto"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广受欢迎的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9144000" cy="76098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escape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into our own world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逃避到我们自己的世界去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escape (doing) sth.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避免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……,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逃脱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escape from </a:t>
            </a:r>
            <a:r>
              <a:rPr lang="zh-CN" altLang="en-US" sz="3200" b="1" u="sng" dirty="0">
                <a:latin typeface="+mn-ea"/>
                <a:cs typeface="Times New Roman" panose="02020503050405090304" pitchFamily="18" charset="0"/>
              </a:rPr>
              <a:t>从</a:t>
            </a:r>
            <a:r>
              <a:rPr lang="en-US" altLang="zh-CN" sz="3200" b="1" u="sng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u="sng" dirty="0">
                <a:latin typeface="+mn-ea"/>
                <a:cs typeface="Times New Roman" panose="02020503050405090304" pitchFamily="18" charset="0"/>
              </a:rPr>
              <a:t>中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逃脱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跑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escape to/into sth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逃到……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你很幸运地逃脱了惩罚。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 were lucky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escape punishment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(=escape being punished)</a:t>
            </a:r>
            <a:endParaRPr lang="en-US" altLang="zh-CN" sz="3200" b="1" dirty="0">
              <a:solidFill>
                <a:srgbClr val="FF0000"/>
              </a:solidFill>
              <a:latin typeface="+mn-ea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managed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escape from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burning car.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她设法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成功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从燃烧的汽车里逃了出来。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5" y="125730"/>
            <a:ext cx="9142730" cy="5586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hotel guests tried their best to escape unhurt from the burning building.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酒店的客人尽力从燃烧的建筑物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逃脱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，安然无恙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 cannot expect that something may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escape the teacher’s attention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未被某人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There’s gas escaping somewhere — can you smell it?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泄露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I’m afraid your name 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escapes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 me.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未被记住（我恐怕忘了你的名字）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3" y="-271"/>
            <a:ext cx="9268366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escape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逃脱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逃离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thief jumped into a car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made his escape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对她来说，旅行是为了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从乏味的日常生活中暂时解脱出来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her, travel was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escape from the boredom of her everyday life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had a narrow escape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侥幸逃生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3. ...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smooth out the sometimes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rocky road that we are all meant to travel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踏平时而坎坷却又注定要经过的道路。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Smoothing out the paper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, Frank began to write.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Nancy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smoothes out the wrinkles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in her son’s shirt and waved him goodbye.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/>
                <a:sym typeface="+mn-ea"/>
              </a:rPr>
              <a:t>弄平，使平整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 fontAlgn="auto">
              <a:lnSpc>
                <a:spcPct val="110000"/>
              </a:lnSpc>
            </a:pPr>
            <a:endParaRPr lang="en-US" altLang="zh-CN" sz="3200" b="1" i="1" dirty="0">
              <a:solidFill>
                <a:schemeClr val="tx1"/>
              </a:solidFill>
              <a:latin typeface="Times New Roman" panose="02020503050405090304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消除差异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(make sth disappear)</a:t>
            </a:r>
          </a:p>
          <a:p>
            <a:pPr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smooth out differences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消除某事物的影响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smooth out the impact of sth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20650"/>
            <a:ext cx="9012555" cy="5717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]</a:t>
            </a:r>
            <a:endParaRPr lang="en-US" altLang="zh-CN" sz="3200" b="1" dirty="0">
              <a:solidFill>
                <a:srgbClr val="0000FF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smooth the path/way for sth </a:t>
            </a:r>
            <a:r>
              <a:rPr lang="zh-CN" altLang="en-US" sz="3200" b="1" dirty="0">
                <a:latin typeface="Times New Roman" panose="02020503050405090304"/>
                <a:sym typeface="+mn-ea"/>
              </a:rPr>
              <a:t>为</a:t>
            </a:r>
            <a:r>
              <a:rPr lang="en-US" altLang="zh-CN" sz="3200" b="1" dirty="0">
                <a:latin typeface="Times New Roman" panose="02020503050405090304"/>
                <a:sym typeface="+mn-ea"/>
              </a:rPr>
              <a:t>...</a:t>
            </a:r>
            <a:r>
              <a:rPr lang="zh-CN" altLang="en-US" sz="3200" b="1" dirty="0">
                <a:latin typeface="Times New Roman" panose="02020503050405090304"/>
                <a:sym typeface="+mn-ea"/>
              </a:rPr>
              <a:t>铺平道路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smooth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平滑的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a smooth voice / smooth fabric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		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平静的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smooth sea/river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		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顺利的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a smooth journey/ride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smoothness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平滑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smoothly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平滑地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1. Her journey to becoming the fastest woman on Earth has been nothing but 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</a:rPr>
              <a:t>一帆风顺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).</a:t>
            </a:r>
          </a:p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2.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</a:rPr>
              <a:t>朱莉留下了一些关于日常工作的笔记，以帮助后来者顺利接手她的工作。</a:t>
            </a:r>
          </a:p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 Julie left some notes about her work routine to _______ ____ ______ _____ whoever would replace her.</a:t>
            </a:r>
          </a:p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3. 从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</a:rPr>
              <a:t>某种意义上来说，阅读可以帮我们克服困难。</a:t>
            </a:r>
          </a:p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Reading, in a sense, helps to ________ _____ the difficulties.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683250" y="589915"/>
            <a:ext cx="14471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smooth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23850" y="3371850"/>
            <a:ext cx="53168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smooth    the     way       for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173345" y="5019675"/>
            <a:ext cx="26955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smooth  out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0"/>
            <a:ext cx="914273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(1)</a:t>
            </a:r>
            <a:r>
              <a:rPr lang="en-US" altLang="zh-CN" sz="3200" b="1" i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be meant to do sth </a:t>
            </a:r>
            <a:r>
              <a:rPr lang="zh-CN" altLang="en-US" sz="3200" b="1" i="1" u="sng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注定要做某事，应做某事</a:t>
            </a:r>
            <a:r>
              <a:rPr lang="en-US" altLang="zh-CN" sz="3200" b="1" i="1" u="sng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 (be supposed to)</a:t>
            </a:r>
          </a:p>
          <a:p>
            <a:pPr>
              <a:lnSpc>
                <a:spcPct val="110000"/>
              </a:lnSpc>
            </a:pPr>
            <a:endParaRPr lang="zh-CN" altLang="en-US" sz="3200" b="1" i="1" u="sng" dirty="0">
              <a:solidFill>
                <a:srgbClr val="FF0000"/>
              </a:solidFill>
              <a:latin typeface="Times New Roman" panose="02020503050405090304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能力强又有责任心，他应该当班长。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Capable and responsible, 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is meant to be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a monitor.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你进门前应该先脱鞋子。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You are meant to take off your shoes before entering the house.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0"/>
            <a:ext cx="914273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(2)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</a:t>
            </a:r>
            <a:r>
              <a:rPr lang="en-US" altLang="zh-CN" sz="3200" b="1" i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mean to do sth </a:t>
            </a:r>
            <a:r>
              <a:rPr lang="zh-CN" altLang="en-US" sz="3200" b="1" i="1" u="sng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打算做某事</a:t>
            </a:r>
            <a:r>
              <a:rPr lang="en-US" altLang="zh-CN" sz="3200" b="1" i="1" u="sng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 (intend)</a:t>
            </a:r>
            <a:endParaRPr lang="zh-CN" altLang="en-US" sz="3200" b="1" i="1" u="sng" dirty="0">
              <a:solidFill>
                <a:srgbClr val="FF0000"/>
              </a:solidFill>
              <a:latin typeface="Times New Roman" panose="02020503050405090304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meant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mow the lawn in the yard yesterday, but I forgot.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I’m sorry I hurt you. 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didn’t mean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我不是故意的。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Don’t laugh!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 mean it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Arial Bold" panose="020B0604020202090204" charset="0"/>
                <a:sym typeface="+mn-ea"/>
              </a:rPr>
              <a:t>我认真的。</a:t>
            </a:r>
            <a:endParaRPr lang="en-US" altLang="zh-CN" sz="3200" b="1" dirty="0">
              <a:solidFill>
                <a:schemeClr val="tx1"/>
              </a:solidFill>
              <a:latin typeface="Arial Bold" panose="020B0604020202090204" charset="0"/>
              <a:sym typeface="+mn-ea"/>
            </a:endParaRPr>
          </a:p>
          <a:p>
            <a:pPr>
              <a:lnSpc>
                <a:spcPct val="110000"/>
              </a:lnSpc>
            </a:pPr>
            <a:endParaRPr lang="en-US" altLang="zh-CN" sz="3200" b="1" i="1" u="sng" dirty="0">
              <a:solidFill>
                <a:srgbClr val="FF0000"/>
              </a:solidFill>
              <a:latin typeface="Times New Roman" panose="02020503050405090304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(3)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</a:t>
            </a:r>
            <a:r>
              <a:rPr lang="en-US" altLang="zh-CN" sz="3200" b="1" i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mean (doing) sth </a:t>
            </a:r>
            <a:r>
              <a:rPr lang="zh-CN" altLang="en-US" sz="3200" b="1" i="1" u="sng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意味着</a:t>
            </a:r>
            <a:r>
              <a:rPr lang="en-US" altLang="zh-CN" sz="3200" b="1" i="1" u="sng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...</a:t>
            </a:r>
            <a:endParaRPr lang="en-US" altLang="zh-CN" sz="3200" b="1" i="1" u="sng" dirty="0">
              <a:solidFill>
                <a:srgbClr val="FF0000"/>
              </a:solidFill>
              <a:latin typeface="Times New Roman" panose="02020503050405090304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考试完成得快不一定意味着成绩好。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Finishing the exam quickly does not necessarily mean achieving high grades.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6282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4. As we live ...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benefits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of friendship ...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benefit: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/>
              </a:rPr>
              <a:t>n.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anose="02020503050405090304"/>
              </a:rPr>
              <a:t>an advantage, improvement, or help that you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优势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益处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成效</a:t>
            </a:r>
            <a:endParaRPr lang="en-US" altLang="zh-CN" sz="3200" b="1" i="1" dirty="0">
              <a:solidFill>
                <a:srgbClr val="000000"/>
              </a:solidFill>
              <a:latin typeface="Times New Roman" panose="02020503050405090304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new regulations will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of benefit to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everyone concerned.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  <a:sym typeface="+mn-ea"/>
              </a:rPr>
              <a:t>新规章将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/>
                <a:sym typeface="+mn-ea"/>
              </a:rPr>
              <a:t>对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  <a:sym typeface="+mn-ea"/>
              </a:rPr>
              <a:t>所有有关人员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/>
                <a:sym typeface="+mn-ea"/>
              </a:rPr>
              <a:t>有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/>
                <a:sym typeface="+mn-ea"/>
              </a:rPr>
              <a:t>益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  <a:sym typeface="+mn-ea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It will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be to your benefit to arrive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early.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  <a:sym typeface="+mn-ea"/>
              </a:rPr>
              <a:t>对……有益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 was good to see her finally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reap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ing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benefits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of all her hard work.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看到她终于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收获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辛勤劳动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的成果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令人欣慰。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" y="278"/>
            <a:ext cx="9247786" cy="6488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有益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of benefit to sb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sb’s benefit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 benefit(s) sb / 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物受益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 benefit(s) from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受益于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+mn-ea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benefi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cial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有益的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有好处的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有用的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beneficial to sb/sth</a:t>
            </a:r>
            <a:endParaRPr lang="zh-CN" altLang="en-US" sz="3200" b="1" dirty="0">
              <a:latin typeface="+mn-ea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6370" y="0"/>
            <a:ext cx="8976995" cy="6478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1)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</a:rPr>
              <a:t>这些压力真对她有好处吗？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Would the stress be ________ ________ ________ to her?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2)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</a:rPr>
              <a:t>到目前为止，双方都受益于这些会谈。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Both of them ________ _________ _______ the talks so far.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3)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</a:rPr>
              <a:t>这条新路会使这座城市和周边的城镇受益。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The new road will ________ ________ ________ and the nearby towns.</a:t>
            </a:r>
          </a:p>
        </p:txBody>
      </p:sp>
      <p:sp>
        <p:nvSpPr>
          <p:cNvPr id="4" name="矩形 3"/>
          <p:cNvSpPr/>
          <p:nvPr/>
        </p:nvSpPr>
        <p:spPr>
          <a:xfrm>
            <a:off x="3802778" y="4191958"/>
            <a:ext cx="494793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benefit         the         city    </a:t>
            </a:r>
          </a:p>
        </p:txBody>
      </p:sp>
      <p:sp>
        <p:nvSpPr>
          <p:cNvPr id="5" name="矩形 4"/>
          <p:cNvSpPr/>
          <p:nvPr/>
        </p:nvSpPr>
        <p:spPr>
          <a:xfrm>
            <a:off x="3786847" y="656135"/>
            <a:ext cx="5105484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of               real      benefit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51906" y="2362522"/>
            <a:ext cx="477647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      benefited     from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0"/>
            <a:ext cx="9144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5. … they may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comfort the heart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advise the head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 and help us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achieve the goals we set for ourselves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.</a:t>
            </a: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</a:rPr>
              <a:t>抚慰心灵，启迪思维，实现为自己设定的目标。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/>
            </a:endParaRPr>
          </a:p>
          <a:p>
            <a:pPr fontAlgn="auto"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comfort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/>
              </a:rPr>
              <a:t>vt.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安慰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抚慰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comforted herself with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the thought that it would soon be spring.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/>
              </a:rPr>
              <a:t>她想到春天很快就要来临，以此来宽慰自己。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/>
              </a:rPr>
              <a:t>= </a:t>
            </a:r>
            <a:r>
              <a:rPr lang="en-US" altLang="zh-CN" sz="3200" b="1" u="sng" dirty="0">
                <a:latin typeface="Times New Roman" panose="02020503050405090304"/>
              </a:rPr>
              <a:t>be comforted by the thought</a:t>
            </a:r>
            <a:r>
              <a:rPr lang="en-US" altLang="zh-CN" sz="3200" b="1" dirty="0">
                <a:latin typeface="Times New Roman" panose="02020503050405090304"/>
              </a:rPr>
              <a:t> that …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        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0"/>
            <a:ext cx="9144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]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/>
              </a:rPr>
              <a:t>actions or expression to comfort sb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手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reach out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one’s hands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touch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one’s arm/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hold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one’s hands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rest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one’s hands on one’s shoulders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stroke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one’s hair/back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抚摸某人的头发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/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背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gather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sb in one’s arms</a:t>
            </a:r>
          </a:p>
          <a:p>
            <a:pPr fontAlgn="auto">
              <a:lnSpc>
                <a:spcPct val="110000"/>
              </a:lnSpc>
            </a:pP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眼睛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stare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gently at sb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with a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reassuring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smile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        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0"/>
            <a:ext cx="9144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un.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安慰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comfort food</a:t>
            </a:r>
            <a:r>
              <a:rPr lang="zh-CN" altLang="en-US" sz="3200" b="1" dirty="0"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 (= food that makes you feel better)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安慰性食品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take/draw comfort from sb's words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从某人的话中得到安慰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I tried to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offer a few words of comfort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我试着说上几句安慰的话。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His words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were of little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/great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 comfort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to me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in 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is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situation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对某人有没什么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cs typeface="Times New Roman" panose="02020503050405090304" pitchFamily="18" charset="0"/>
                <a:sym typeface="+mn-ea"/>
              </a:rPr>
              <a:t>很大的安慰作用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    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0"/>
            <a:ext cx="9144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singular 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安慰的人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事</a:t>
            </a:r>
          </a:p>
          <a:p>
            <a:pPr fontAlgn="auto">
              <a:lnSpc>
                <a:spcPct val="11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The children have been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a great comfort to me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through all of this.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在我经历这一切的日子里，孩子们一直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是我的莫大安慰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= be of great comfort to sb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It's a comfort to know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that she is safe.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知道她安然无恙是令人宽慰的事。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-81280"/>
            <a:ext cx="9144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舒服；安逸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舒适区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comfort zone</a:t>
            </a:r>
          </a:p>
          <a:p>
            <a:pPr fontAlgn="auto">
              <a:lnSpc>
                <a:spcPct val="11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You can now watch the latest movies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in the comfort of your own home</a:t>
            </a:r>
            <a:r>
              <a:rPr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.</a:t>
            </a:r>
          </a:p>
          <a:p>
            <a:pPr fontAlgn="auto">
              <a:lnSpc>
                <a:spcPct val="110000"/>
              </a:lnSpc>
            </a:pPr>
            <a:r>
              <a:rPr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你现在可以</a:t>
            </a:r>
            <a:r>
              <a:rPr sz="3200" b="1" u="sng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在自己家舒舒服服地</a:t>
            </a:r>
            <a:r>
              <a:rPr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看最新电影。</a:t>
            </a:r>
          </a:p>
          <a:p>
            <a:pPr fontAlgn="auto">
              <a:lnSpc>
                <a:spcPct val="11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They had enough money to live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in comfort</a:t>
            </a:r>
            <a:r>
              <a:rPr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in their old age.</a:t>
            </a:r>
          </a:p>
          <a:p>
            <a:pPr fontAlgn="auto">
              <a:lnSpc>
                <a:spcPct val="110000"/>
              </a:lnSpc>
            </a:pPr>
            <a:r>
              <a:rPr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他们有足够的钱</a:t>
            </a:r>
            <a:r>
              <a:rPr sz="3200" b="1" u="sng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舒舒服服地</a:t>
            </a:r>
            <a:r>
              <a:rPr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安度晚年。</a:t>
            </a:r>
          </a:p>
          <a:p>
            <a:pPr fontAlgn="auto">
              <a:lnSpc>
                <a:spcPct val="110000"/>
              </a:lnSpc>
            </a:pPr>
            <a:endParaRPr sz="3200" b="1" dirty="0">
              <a:solidFill>
                <a:schemeClr val="tx1"/>
              </a:solidFill>
              <a:latin typeface="Times New Roman" panose="02020503050405090304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plural n.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 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舒适的设施</a:t>
            </a:r>
          </a:p>
          <a:p>
            <a:pPr fontAlgn="auto">
              <a:lnSpc>
                <a:spcPct val="110000"/>
              </a:lnSpc>
            </a:pPr>
            <a:r>
              <a:rPr 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The hotel has all </a:t>
            </a:r>
            <a:r>
              <a:rPr lang="zh-CN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modern comforts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.</a:t>
            </a:r>
            <a:endParaRPr lang="zh-CN" sz="3200" b="1" dirty="0">
              <a:solidFill>
                <a:srgbClr val="FF0000"/>
              </a:solidFill>
              <a:latin typeface="Times New Roman" panose="02020503050405090304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这家旅馆拥有各种现代化的舒适设施。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home comforts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家里舒适的条件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-81280"/>
            <a:ext cx="9144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plural n.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 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舒适的设施</a:t>
            </a:r>
          </a:p>
          <a:p>
            <a:pPr fontAlgn="auto">
              <a:lnSpc>
                <a:spcPct val="110000"/>
              </a:lnSpc>
            </a:pPr>
            <a:r>
              <a:rPr 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The hotel has all </a:t>
            </a:r>
            <a:r>
              <a:rPr lang="zh-CN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modern comforts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.</a:t>
            </a:r>
            <a:endParaRPr lang="zh-CN" sz="3200" b="1" dirty="0">
              <a:solidFill>
                <a:srgbClr val="FF0000"/>
              </a:solidFill>
              <a:latin typeface="Times New Roman" panose="02020503050405090304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这家旅馆拥有各种现代化的舒适设施。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home comforts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家里舒适的条件</a:t>
            </a:r>
          </a:p>
        </p:txBody>
      </p:sp>
      <p:sp>
        <p:nvSpPr>
          <p:cNvPr id="3" name="矩形 1"/>
          <p:cNvSpPr/>
          <p:nvPr/>
        </p:nvSpPr>
        <p:spPr>
          <a:xfrm>
            <a:off x="-635" y="2390140"/>
            <a:ext cx="8983345" cy="43865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discomfort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un.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不舒服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不自在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/>
              <a:sym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comfortable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uncomfortable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comfortably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adv.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</a:t>
            </a: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9850"/>
            <a:ext cx="9144000" cy="6594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这里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有足够的空间躺下，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舒适地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睡觉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There is plenty of room to lie down and sleep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 comfort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知道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没有房租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要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付，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真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是一件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安慰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的事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was a comfort to know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 there was no rent to pay.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(3)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青少年可以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舒舒服服地在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自己的卧室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里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用电脑程序创作音乐。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teenager can write and make music using a computer program ___ ____ ________ ____ their own bedroom.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539490" y="5133340"/>
            <a:ext cx="39973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   the     comfort    of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  <p:bldP spid="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0"/>
            <a:ext cx="9144000" cy="6699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6. ...happiness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takes on a greater meaning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 and a trouble shared becomes a trouble halved!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幸福有了更大的意义，而麻烦在分担之后减半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take 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后跟表示特点、面貌的抽象名词，意为“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呈现，具有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”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呈现出它自己的活力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take on life of its own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The small town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took on a new look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呈现出新的面貌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take on the responsibility/the job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承担责任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工作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take on staff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招募员工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ChangeArrowheads="1"/>
          </p:cNvSpPr>
          <p:nvPr/>
        </p:nvSpPr>
        <p:spPr bwMode="auto">
          <a:xfrm>
            <a:off x="0" y="-635"/>
            <a:ext cx="9144000" cy="6858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>
            <a:lvl1pPr marL="446405" indent="-446405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25475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He left a job in the city to _____ ____ farming.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他辞去城市的工作，开始务农。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Some insects ______ _____ the colour of their surroundings to protect themselves.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一些昆虫通过呈现出与周围环境相同的颜色来保护自己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Her career _____ _____ when she began to devote wholeheartedly to it.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她开始全身心投入工作后，她的事业有了起色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The aim was not to _______ ___ valuable time with the usual boring pictures. (目的在于不要用常见的无聊图片占用宝贵时间)</a:t>
            </a:r>
          </a:p>
        </p:txBody>
      </p:sp>
      <p:sp>
        <p:nvSpPr>
          <p:cNvPr id="251907" name="Rectangle 3"/>
          <p:cNvSpPr>
            <a:spLocks noChangeArrowheads="1"/>
          </p:cNvSpPr>
          <p:nvPr/>
        </p:nvSpPr>
        <p:spPr bwMode="auto">
          <a:xfrm>
            <a:off x="5063490" y="81280"/>
            <a:ext cx="181229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take   up</a:t>
            </a:r>
          </a:p>
        </p:txBody>
      </p:sp>
      <p:sp>
        <p:nvSpPr>
          <p:cNvPr id="251913" name="Rectangle 9"/>
          <p:cNvSpPr>
            <a:spLocks noChangeArrowheads="1"/>
          </p:cNvSpPr>
          <p:nvPr/>
        </p:nvSpPr>
        <p:spPr bwMode="auto">
          <a:xfrm>
            <a:off x="2784656" y="2989938"/>
            <a:ext cx="1525905" cy="657225"/>
          </a:xfrm>
          <a:prstGeom prst="rect">
            <a:avLst/>
          </a:prstGeom>
          <a:noFill/>
          <a:ln>
            <a:noFill/>
          </a:ln>
          <a:effectLst>
            <a:prstShdw prst="shdw11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took off</a:t>
            </a:r>
          </a:p>
        </p:txBody>
      </p:sp>
      <p:sp>
        <p:nvSpPr>
          <p:cNvPr id="2" name="矩形 1"/>
          <p:cNvSpPr/>
          <p:nvPr/>
        </p:nvSpPr>
        <p:spPr>
          <a:xfrm>
            <a:off x="3005455" y="1383665"/>
            <a:ext cx="209486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     on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227830" y="4816475"/>
            <a:ext cx="181229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take   up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1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1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1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7" grpId="0" bldLvl="0" animBg="1"/>
      <p:bldP spid="251913" grpId="0" bldLvl="0" animBg="1"/>
      <p:bldP spid="2" grpId="0"/>
      <p:bldP spid="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4620" y="0"/>
            <a:ext cx="9009380" cy="4961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5) 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British newspaper says British Airways plan to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 _____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Trans World Airways.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(一家英国报纸称，英国航空公司计划接管环球航空公司。)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6) Cars gradually _______ ______ from horses. (汽车逐渐替代了马匹。)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7) My voice was strange. On an ordinary afternoon, shyness _____ _____.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占上风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on't let negative thoughts take over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不要让消极的想法左右你。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870585" y="528320"/>
            <a:ext cx="220853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take   over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467735" y="1530985"/>
            <a:ext cx="275082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took      over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7.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in full measure: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the greatest degree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最大程度地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The horror returned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 in full measur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e, however, on the following morning.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然而，到了第二天早晨，这种恐慌又全都回来了。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measure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度量单位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a measure of length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长度单位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2) an official action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措施，方法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We must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</a:rPr>
              <a:t>take preventive measures to reduce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crime in the area.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我们必须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采取预防措施来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减少这个地区的犯罪。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measure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linking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</a:t>
            </a:r>
            <a:r>
              <a:rPr 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量度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为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/>
              </a:rPr>
              <a:t>The pond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/>
              </a:rPr>
              <a:t>measures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/>
              </a:rPr>
              <a:t> about 2 metres across.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/>
              </a:rPr>
              <a:t>这个池塘宽约 2 米。</a:t>
            </a: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测量；估量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a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n instrument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 that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measures the level of radiation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测量辐射强度的仪器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It is difficult to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</a:rPr>
              <a:t>measure the success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of the campaign at this stage.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在现阶段还难以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估量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这场运动的成败。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635" cy="4702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503050405090304"/>
              </a:rPr>
              <a:t>8.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/>
              </a:rPr>
              <a:t>treasure these moments of closeness</a:t>
            </a:r>
            <a:endParaRPr lang="en-US" sz="3200" b="1" dirty="0">
              <a:solidFill>
                <a:srgbClr val="000000"/>
              </a:solidFill>
              <a:latin typeface="Times New Roman" panose="02020503050405090304"/>
            </a:endParaRP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珍惜这些亲密的时刻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</a:p>
          <a:p>
            <a:pPr marL="446405" indent="-446405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moment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可用作连词，引导时间状语从句，“一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就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”，相当于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soon as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。类似的还有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minute, the second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moment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saw his mother, he burst into tears.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看到母亲的那一刻，他泪流满面。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35" y="0"/>
            <a:ext cx="9144635" cy="5940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1) I would like a job which pays more, but on the other hand, I enjoy the work I’m doing ________ the moment.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2) They are living with their parents for _________ moment because their own house is being built.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3) I was so tired from climbing the hill that I fell asleep ________ moment my head touched the pillow.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4) I’ll come back for dinner ________ a moment.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5) _________ that moment on, we have been best friends.  </a:t>
            </a:r>
          </a:p>
        </p:txBody>
      </p:sp>
      <p:sp>
        <p:nvSpPr>
          <p:cNvPr id="4" name="矩形 3"/>
          <p:cNvSpPr/>
          <p:nvPr/>
        </p:nvSpPr>
        <p:spPr>
          <a:xfrm>
            <a:off x="1820265" y="3602156"/>
            <a:ext cx="1566948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</a:p>
        </p:txBody>
      </p:sp>
      <p:sp>
        <p:nvSpPr>
          <p:cNvPr id="5" name="矩形 4"/>
          <p:cNvSpPr/>
          <p:nvPr/>
        </p:nvSpPr>
        <p:spPr>
          <a:xfrm>
            <a:off x="7644514" y="642335"/>
            <a:ext cx="63369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32041" y="1732253"/>
            <a:ext cx="72453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32734" y="4771131"/>
            <a:ext cx="1566948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</a:t>
            </a:r>
          </a:p>
        </p:txBody>
      </p:sp>
      <p:sp>
        <p:nvSpPr>
          <p:cNvPr id="8" name="矩形 7"/>
          <p:cNvSpPr/>
          <p:nvPr/>
        </p:nvSpPr>
        <p:spPr>
          <a:xfrm>
            <a:off x="638846" y="5355271"/>
            <a:ext cx="1566948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635" cy="333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9. ...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recognize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 other people’s weaknesses 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recognize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vt.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/>
                <a:sym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know sb/sth because you see/hear it before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认出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辨别出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I recognized him as soon as he came in the room.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recognized her by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her red hair.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我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通过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她的红头发认出了她。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                       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635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2)</a:t>
            </a:r>
            <a:r>
              <a:rPr lang="en-US" altLang="zh-CN" sz="3200" b="1" i="1" dirty="0">
                <a:latin typeface="Times New Roman" panose="02020503050405090304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vt. </a:t>
            </a:r>
            <a:r>
              <a:rPr lang="en-US" altLang="zh-CN" sz="3200" b="1" i="1" dirty="0">
                <a:latin typeface="Times New Roman" panose="02020503050405090304"/>
              </a:rPr>
              <a:t>to accept that something is true, or important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承认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意识到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Drugs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</a:rPr>
              <a:t>were not recognized as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a problem then.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那时候还没有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把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毒品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看成是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一个问题加以重视。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We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</a:rPr>
              <a:t>recognized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this solution could only be temporary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我们意识到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这</a:t>
            </a:r>
            <a:r>
              <a:rPr lang="zh-CN" altLang="en-US" sz="3200" b="1" dirty="0">
                <a:latin typeface="Times New Roman" panose="02020503050405090304"/>
                <a:sym typeface="+mn-ea"/>
              </a:rPr>
              <a:t>只是个临时的解决方案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=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</a:rPr>
              <a:t>It was recognized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this solution could only be temporary.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人们意识到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这只是个临时的解决方案。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It is (widely) recognized that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人们公认……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                    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635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recognition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n.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认出；承认；赏识，赞誉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face recognition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人脸识别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There is a growing recognition that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older people have potential too.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u="sng" dirty="0">
                <a:latin typeface="Times New Roman Bold" panose="02020503050405090304" charset="0"/>
                <a:cs typeface="Times New Roman Bold" panose="02020503050405090304" charset="0"/>
              </a:rPr>
              <a:t>越来越多的人认识到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老年人也是有潜力的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The young talent at the club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gained widespread recognition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.</a:t>
            </a:r>
          </a:p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俱乐部的天才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获得了广泛的赞誉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/>
              </a:rPr>
              <a:t>/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/>
              </a:rPr>
              <a:t>认可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He received the award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in recognition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his success over the past year.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他受到了奖励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以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/>
              </a:rPr>
              <a:t>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他过去一年的成绩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/>
              </a:rPr>
              <a:t>的肯定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ChangeArrowheads="1"/>
          </p:cNvSpPr>
          <p:nvPr/>
        </p:nvSpPr>
        <p:spPr bwMode="auto">
          <a:xfrm>
            <a:off x="79375" y="-213360"/>
            <a:ext cx="901065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>
            <a:lvl1pPr marL="446405" indent="-446405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25475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He is recognized _________ one of the greatest living painters.</a:t>
            </a:r>
          </a:p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The film star wears sunglasses. Therefore, he can go shopping without ________________ (recognize).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Her mum ______________________________</a:t>
            </a:r>
          </a:p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_____________.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她一转过身，妈妈就认出她了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The town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changed beyond recognition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since I was last here.</a:t>
            </a:r>
          </a:p>
          <a:p>
            <a:pPr mar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自从我上次离开这里以来，这座小镇已经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变得让人认不出来了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  <p:sp>
        <p:nvSpPr>
          <p:cNvPr id="251913" name="Rectangle 9"/>
          <p:cNvSpPr>
            <a:spLocks noChangeArrowheads="1"/>
          </p:cNvSpPr>
          <p:nvPr/>
        </p:nvSpPr>
        <p:spPr bwMode="auto">
          <a:xfrm>
            <a:off x="4518524" y="1616433"/>
            <a:ext cx="3106420" cy="657225"/>
          </a:xfrm>
          <a:prstGeom prst="rect">
            <a:avLst/>
          </a:prstGeom>
          <a:noFill/>
          <a:ln>
            <a:noFill/>
          </a:ln>
          <a:effectLst>
            <a:prstShdw prst="shdw11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being recognized</a:t>
            </a:r>
          </a:p>
        </p:txBody>
      </p:sp>
      <p:sp>
        <p:nvSpPr>
          <p:cNvPr id="2" name="矩形 1"/>
          <p:cNvSpPr/>
          <p:nvPr/>
        </p:nvSpPr>
        <p:spPr>
          <a:xfrm>
            <a:off x="3919862" y="-22765"/>
            <a:ext cx="1165227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58420" y="2888615"/>
            <a:ext cx="8865235" cy="1223645"/>
          </a:xfrm>
          <a:prstGeom prst="rect">
            <a:avLst/>
          </a:prstGeom>
          <a:noFill/>
          <a:ln>
            <a:noFill/>
          </a:ln>
          <a:effectLst>
            <a:prstShdw prst="shdw11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0" algn="l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recognized her the moment she turned around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13" grpId="0" bldLvl="0" animBg="1"/>
      <p:bldP spid="2" grpId="0"/>
      <p:bldP spid="4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10. ... enjoy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company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/>
              </a:rPr>
              <a:t>of a crowd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享受人群的陪伴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company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being with sb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陪伴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享受某人的陪伴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enjoy Jo's company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(= I enjoy being with her).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pleasant evening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the company of friends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与朋友一起度过的愉快夜晚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I'll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keep you company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while you're waiting.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陪伴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某人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keep good/bad company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与好人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/坏人交往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             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-71755"/>
            <a:ext cx="9145270" cy="6318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accompany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陪伴，陪同；伴随</a:t>
            </a:r>
          </a:p>
          <a:p>
            <a:pPr indent="-446405" fontAlgn="auto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/>
                <a:sym typeface="+mn-ea"/>
              </a:rPr>
              <a:t>T</a:t>
            </a:r>
            <a:r>
              <a:rPr lang="zh-CN" altLang="en-US" sz="3200" b="1" dirty="0">
                <a:latin typeface="Times New Roman" panose="02020503050405090304"/>
                <a:sym typeface="+mn-ea"/>
              </a:rPr>
              <a:t>he two sisters </a:t>
            </a:r>
            <a:r>
              <a:rPr lang="en-US" altLang="zh-CN" sz="3200" b="1" dirty="0">
                <a:latin typeface="Times New Roman" panose="02020503050405090304"/>
                <a:sym typeface="+mn-ea"/>
              </a:rPr>
              <a:t>are </a:t>
            </a:r>
            <a:r>
              <a:rPr lang="zh-CN" altLang="en-US" sz="3200" b="1" dirty="0">
                <a:latin typeface="Times New Roman" panose="02020503050405090304"/>
                <a:sym typeface="+mn-ea"/>
              </a:rPr>
              <a:t>to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accompany </a:t>
            </a:r>
            <a:r>
              <a:rPr lang="zh-CN" altLang="en-US" sz="3200" b="1" dirty="0">
                <a:latin typeface="Times New Roman" panose="02020503050405090304"/>
                <a:sym typeface="+mn-ea"/>
              </a:rPr>
              <a:t>us to London</a:t>
            </a:r>
            <a:r>
              <a:rPr lang="en-US" altLang="zh-CN" sz="3200" b="1" dirty="0">
                <a:latin typeface="Times New Roman" panose="02020503050405090304"/>
                <a:sym typeface="+mn-ea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两姐妹要陪我们去伦敦。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Po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verty and illness usually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</a:rPr>
              <a:t>accompany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one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another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.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Poverty comes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in company with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illness.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贫穷伴随着疾病。</a:t>
            </a:r>
          </a:p>
          <a:p>
            <a:pPr indent="-446405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companion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伴侣，伙伴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travelling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companions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旅伴</a:t>
            </a:r>
          </a:p>
          <a:p>
            <a:pPr indent="-446405" fontAlgn="auto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companionship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友谊，交谊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ChangeArrowheads="1"/>
          </p:cNvSpPr>
          <p:nvPr/>
        </p:nvSpPr>
        <p:spPr bwMode="auto">
          <a:xfrm>
            <a:off x="167005" y="328930"/>
            <a:ext cx="8749030" cy="5269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>
            <a:lvl1pPr marL="446405" indent="-446405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25475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简今天一个人在家，我准备去陪伴她。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Jane is at home alone today, and I’m going to ______ _____ _________.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贝丝养了一只猫与自己做伴。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Beth kept a cat _______ __________.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3)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Judging from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company he kept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, Mark must have been a wealthy man.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某人所交往的人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   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6001" y="1824963"/>
            <a:ext cx="387413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   her    company</a:t>
            </a:r>
          </a:p>
        </p:txBody>
      </p:sp>
      <p:sp>
        <p:nvSpPr>
          <p:cNvPr id="5" name="矩形 5"/>
          <p:cNvSpPr/>
          <p:nvPr/>
        </p:nvSpPr>
        <p:spPr>
          <a:xfrm>
            <a:off x="3143581" y="2990188"/>
            <a:ext cx="314071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         company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9065" y="635"/>
            <a:ext cx="9005570" cy="6856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company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公司</a:t>
            </a:r>
            <a:endParaRPr lang="zh-CN" alt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创立公司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经营公司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                  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</p:txBody>
      </p:sp>
      <p:sp>
        <p:nvSpPr>
          <p:cNvPr id="5" name="矩形 5"/>
          <p:cNvSpPr/>
          <p:nvPr/>
        </p:nvSpPr>
        <p:spPr>
          <a:xfrm>
            <a:off x="2165681" y="579728"/>
            <a:ext cx="4812665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found/establish a company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operate/run a company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149225"/>
            <a:ext cx="9008110" cy="4353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crowd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一伙人，一帮人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the crowd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</a:rPr>
              <a:t>A small crowd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 had gathered outside the church.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Lily introduced me to some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her usual crowd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/>
                <a:sym typeface="+mn-ea"/>
              </a:rPr>
              <a:t>莉莉把我介绍给她经常见面的一些朋友们。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crowd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人群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After the concert,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crowds of people poured into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 the tube station.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人们成群涌入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...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-635"/>
            <a:ext cx="9143365" cy="6810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crowd v.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挤满，塞满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Thousands of people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/>
              </a:rPr>
              <a:t>crowded the narrow streets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/>
              </a:rPr>
              <a:t>.</a:t>
            </a: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/>
              </a:rPr>
              <a:t>成千上万的人把狭窄的街道挤得水泄不通。</a:t>
            </a: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/>
                <a:sym typeface="+mn-ea"/>
              </a:rPr>
              <a:t>海滩上挤满了来自世界各地的游客。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Tourists from all over the world crowded the beaches.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be crowded with sb/sth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挤满</a:t>
            </a: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堆满书籍的房间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a room crowded with books</a:t>
            </a: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/>
              </a:rPr>
              <a:t>满满的日程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a crowded schedule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-635"/>
            <a:ext cx="9143365" cy="6810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Memories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</a:rPr>
              <a:t>crowded (into) his mind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</a:rPr>
              <a:t>.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/>
              </a:rPr>
              <a:t>往事涌上他的心头。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/>
                <a:sym typeface="+mn-ea"/>
              </a:rPr>
              <a:t>她心乱如麻。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/>
                <a:sym typeface="+mn-ea"/>
              </a:rPr>
              <a:t>Too many thoughts were crowding into her mind.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We all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crowded into her office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 to sing 'Happy Birthday'.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/>
                <a:sym typeface="+mn-ea"/>
              </a:rPr>
              <a:t>大批涌进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/>
                <a:sym typeface="+mn-ea"/>
              </a:rPr>
              <a:t>crowd sb out</a:t>
            </a:r>
            <a:r>
              <a:rPr lang="en-US" altLang="zh-CN" sz="3200" b="1" dirty="0">
                <a:latin typeface="Times New Roman" panose="02020503050405090304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/>
                <a:sym typeface="+mn-ea"/>
              </a:rPr>
              <a:t>把……排挤在外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  <a:p>
            <a:pPr indent="-446405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3114</Words>
  <Application>Microsoft Macintosh PowerPoint</Application>
  <PresentationFormat>On-screen Show (4:3)</PresentationFormat>
  <Paragraphs>372</Paragraphs>
  <Slides>45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9" baseType="lpstr">
      <vt:lpstr>Arial Bold</vt:lpstr>
      <vt:lpstr>微软雅黑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Wingdings</vt:lpstr>
      <vt:lpstr>2_默认设计模板</vt:lpstr>
      <vt:lpstr>Office 主题​​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436</cp:revision>
  <dcterms:created xsi:type="dcterms:W3CDTF">2023-10-29T00:26:45Z</dcterms:created>
  <dcterms:modified xsi:type="dcterms:W3CDTF">2026-07-22T12:41:51Z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1033-6.2.2.8394</vt:lpwstr>
  </property>
  <property fmtid="{D5CDD505-2E9C-101B-9397-08002B2CF9AE}" pid="3" name="ICV">
    <vt:lpwstr>0FCFBE09B9D94CB957DE4B6387DFC289</vt:lpwstr>
  </property>
</Properties>
</file>