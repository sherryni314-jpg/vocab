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886" r:id="rId2"/>
    <p:sldId id="888" r:id="rId3"/>
    <p:sldId id="917" r:id="rId4"/>
    <p:sldId id="918" r:id="rId5"/>
    <p:sldId id="920" r:id="rId6"/>
  </p:sldIdLst>
  <p:sldSz cx="9144000" cy="6858000" type="screen4x3"/>
  <p:notesSz cx="6858000" cy="9144000"/>
  <p:embeddedFontLst>
    <p:embeddedFont>
      <p:font typeface="微软雅黑" panose="020B0503020204020204" pitchFamily="34" charset="-122"/>
      <p:regular r:id="rId9"/>
      <p:bold r:id="rId10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6" userDrawn="1">
          <p15:clr>
            <a:srgbClr val="A4A3A4"/>
          </p15:clr>
        </p15:guide>
        <p15:guide id="2" pos="297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ia Vida Villanueva" initials="MVV" lastIdx="1" clrIdx="0"/>
  <p:cmAuthor id="7" name="1206988966@qq.com" initials="1" lastIdx="1" clrIdx="2"/>
  <p:cmAuthor id="1" name="Wangzhi gang" initials="Wg" lastIdx="1" clrIdx="0"/>
  <p:cmAuthor id="8" name="姜伟光" initials="姜" lastIdx="1" clrIdx="0"/>
  <p:cmAuthor id="2" name="作者" initials="A" lastIdx="1" clrIdx="1"/>
  <p:cmAuthor id="3" name="lenovo" initials="l" lastIdx="6" clrIdx="2"/>
  <p:cmAuthor id="4" name="Administrator" initials="A" lastIdx="4" clrIdx="3"/>
  <p:cmAuthor id="5" name="宋洁然" initials="宋" lastIdx="2" clrIdx="1"/>
  <p:cmAuthor id="6" name="ming qiu" initials="m" lastIdx="17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0FF"/>
    <a:srgbClr val="DCDCDC"/>
    <a:srgbClr val="F0F0F0"/>
    <a:srgbClr val="E6E6E6"/>
    <a:srgbClr val="C8C8C8"/>
    <a:srgbClr val="FFFFFF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3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1736" y="184"/>
      </p:cViewPr>
      <p:guideLst>
        <p:guide orient="horz" pos="1956"/>
        <p:guide pos="2971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2026/7/22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‹#›</a:t>
            </a:fld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1AC49D05-6128-4D0D-A32A-06A5E73B386C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5849F42C-2DAE-424C-A4B8-3140182C3E9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6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/>
              <a:t>count up the votes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5" Type="http://schemas.openxmlformats.org/officeDocument/2006/relationships/slideMaster" Target="../slideMasters/slideMaster1.xml"/><Relationship Id="rId4" Type="http://schemas.openxmlformats.org/officeDocument/2006/relationships/tags" Target="../tags/tag10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tags" Target="../tags/tag11.xml"/><Relationship Id="rId6" Type="http://schemas.openxmlformats.org/officeDocument/2006/relationships/slideMaster" Target="../slideMasters/slideMaster1.xml"/><Relationship Id="rId5" Type="http://schemas.openxmlformats.org/officeDocument/2006/relationships/tags" Target="../tags/tag15.xml"/><Relationship Id="rId4" Type="http://schemas.openxmlformats.org/officeDocument/2006/relationships/tags" Target="../tags/tag1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1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1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5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1"/>
            </p:custDataLst>
          </p:nvPr>
        </p:nvSpPr>
        <p:spPr>
          <a:xfrm>
            <a:off x="456300" y="1555200"/>
            <a:ext cx="38448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9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  <p:custDataLst>
              <p:tags r:id="rId2"/>
            </p:custDataLst>
          </p:nvPr>
        </p:nvSpPr>
        <p:spPr>
          <a:xfrm>
            <a:off x="4762800" y="1555200"/>
            <a:ext cx="39204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40000"/>
              </a:lnSpc>
              <a:spcBef>
                <a:spcPts val="0"/>
              </a:spcBef>
              <a:spcAft>
                <a:spcPts val="1000"/>
              </a:spcAft>
              <a:buFont typeface="Wingdings" panose="05000000000000000000" pitchFamily="2" charset="2"/>
              <a:buChar char="l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9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单击此处编辑文本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2026/7/22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4"/>
            </p:custDataLst>
          </p:nvPr>
        </p:nvSpPr>
        <p:spPr>
          <a:xfrm>
            <a:off x="456300" y="774000"/>
            <a:ext cx="8229600" cy="5482800"/>
          </a:xfrm>
        </p:spPr>
        <p:txBody>
          <a:bodyPr/>
          <a:lstStyle>
            <a:lvl1pPr marL="2286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6858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2pPr>
            <a:lvl3pPr marL="11430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3pPr>
            <a:lvl4pPr marL="16002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4pPr>
            <a:lvl5pPr marL="2057400" indent="-228600">
              <a:lnSpc>
                <a:spcPct val="130000"/>
              </a:lnSpc>
              <a:buFont typeface="Wingdings" panose="05000000000000000000" pitchFamily="2" charset="2"/>
              <a:buChar char="l"/>
              <a:defRPr spc="15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"/>
            </p:custDataLst>
          </p:nvPr>
        </p:nvSpPr>
        <p:spPr>
          <a:xfrm>
            <a:off x="899100" y="2484000"/>
            <a:ext cx="73494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9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5"/>
            </p:custDataLst>
          </p:nvPr>
        </p:nvSpPr>
        <p:spPr>
          <a:xfrm>
            <a:off x="899100" y="3560400"/>
            <a:ext cx="73494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2026/7/22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9144000" cy="6677660"/>
          </a:xfrm>
          <a:prstGeom prst="rect">
            <a:avLst/>
          </a:prstGeom>
        </p:spPr>
        <p:txBody>
          <a:bodyPr wrap="none" anchor="t" anchorCtr="0">
            <a:noAutofit/>
          </a:bodyPr>
          <a:lstStyle/>
          <a:p>
            <a:pPr indent="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1.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count on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依赖，依靠</a:t>
            </a:r>
          </a:p>
          <a:p>
            <a:pPr indent="0" algn="l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搭配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count on sb/sth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依赖、指望某人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count on sb to do sth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指望某人做某事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indent="0" algn="l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【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拓展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】</a:t>
            </a:r>
          </a:p>
          <a:p>
            <a:pPr indent="0" algn="l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count in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算在内</a:t>
            </a:r>
          </a:p>
          <a:p>
            <a:pPr lvl="0" indent="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There were fifty-two persons present,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counting in</a:t>
            </a: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  <a:p>
            <a:pPr lvl="0" indent="0" algn="l" fontAlgn="auto">
              <a:lnSpc>
                <a:spcPct val="12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the babies.</a:t>
            </a: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 indent="0" algn="l" fontAlgn="auto"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count out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不把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……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考虑或计算在内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/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逐一数出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635"/>
            <a:ext cx="9143365" cy="2886075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2. Yet these days, the modern tools that keep us connected are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eating away at</a:t>
            </a:r>
            <a:r>
              <a:rPr lang="en-US" altLang="zh-CN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the meaning of friendship.</a:t>
            </a:r>
          </a:p>
          <a:p>
            <a:pPr indent="0" fontAlgn="auto">
              <a:lnSpc>
                <a:spcPct val="110000"/>
              </a:lnSpc>
            </a:pPr>
            <a:r>
              <a:rPr lang="zh-CN" altLang="en-US" sz="3200" b="1" dirty="0">
                <a:solidFill>
                  <a:srgbClr val="00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然而如今，让我们保持联系的现代工具正在侵蚀友谊的意义。</a:t>
            </a:r>
            <a:endParaRPr lang="en-US" altLang="zh-CN" sz="3200" b="1" dirty="0">
              <a:solidFill>
                <a:srgbClr val="000000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2395" y="2885440"/>
            <a:ext cx="9030970" cy="3114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= reduce or destroy sth gradually </a:t>
            </a: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逐渐破坏</a:t>
            </a:r>
          </a:p>
          <a:p>
            <a:pPr>
              <a:lnSpc>
                <a:spcPct val="110000"/>
              </a:lnSpc>
            </a:pP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constant (</a:t>
            </a:r>
            <a:r>
              <a:rPr lang="zh-CN" altLang="en-US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不断的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) criticism </a:t>
            </a:r>
            <a:r>
              <a:rPr lang="en-US" altLang="zh-CN" sz="3200" b="1" u="sng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ate away at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her self-confidence.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他不断的批评使她逐渐丧失了自信心。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1125" y="123825"/>
            <a:ext cx="9032875" cy="636587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shallow </a:t>
            </a:r>
            <a:r>
              <a:rPr lang="en-US" altLang="zh-CN" sz="3200" b="1" i="1" dirty="0">
                <a:solidFill>
                  <a:srgbClr val="FF0000"/>
                </a:solidFill>
                <a:latin typeface="Times New Roman Bold Italic" panose="02020503050405090304" charset="0"/>
                <a:cs typeface="Times New Roman Bold Italic" panose="02020503050405090304" charset="0"/>
              </a:rPr>
              <a:t>adj.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(1)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superficial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浅薄的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他的新书因内容肤浅而受到批评。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His new book was critized for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________ _________.</a:t>
            </a:r>
            <a:endParaRPr lang="zh-CN" altLang="en-US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(2) </a:t>
            </a:r>
            <a:r>
              <a:rPr lang="en-US" altLang="zh-CN" sz="3200" b="1" i="1" dirty="0">
                <a:latin typeface="Times New Roman Bold Italic" panose="02020503050405090304" charset="0"/>
                <a:cs typeface="Times New Roman Bold Italic" panose="02020503050405090304" charset="0"/>
              </a:rPr>
              <a:t>not deep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</a:t>
            </a: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浅的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We found some strange fish in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shallow waters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around the coast.</a:t>
            </a:r>
            <a:endParaRPr lang="zh-CN" altLang="en-US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我们在海边浅水区发现了一些奇特的鱼。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742305" y="1763395"/>
            <a:ext cx="29495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being     shallow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1125" y="0"/>
            <a:ext cx="9032240" cy="66490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【拓展】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decorations were boxed up and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away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next year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She has a few thousand dollars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away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for her retirement.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They decided to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aside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their differences and agreed on it.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'I was actually wondering the same thing', 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in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sincerely.</a:t>
            </a:r>
          </a:p>
        </p:txBody>
      </p:sp>
      <p:sp>
        <p:nvSpPr>
          <p:cNvPr id="4" name="Text Box 3"/>
          <p:cNvSpPr txBox="1"/>
          <p:nvPr/>
        </p:nvSpPr>
        <p:spPr>
          <a:xfrm>
            <a:off x="2432685" y="1072515"/>
            <a:ext cx="610362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将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...</a:t>
            </a: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收起来，放回原处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(tidy away)</a:t>
            </a:r>
            <a:endParaRPr lang="zh-CN" altLang="en-US" sz="3200" b="1" dirty="0">
              <a:solidFill>
                <a:srgbClr val="0000FF"/>
              </a:solidFill>
              <a:latin typeface="Times New Roman" panose="02020503050405090304" pitchFamily="18" charset="0"/>
              <a:cs typeface="Times New Roman" panose="02020503050405090304" pitchFamily="18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2432685" y="2655570"/>
            <a:ext cx="58388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存钱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(save money to spend later)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3423920" y="4360545"/>
            <a:ext cx="4847590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放在一边，保留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(reservce)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3168650" y="6065520"/>
            <a:ext cx="463232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插话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(interrupt suddenly)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0"/>
      <p:bldP spid="7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0" y="160020"/>
            <a:ext cx="9007475" cy="63315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【拓展】</a:t>
            </a: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The authority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forward</a:t>
            </a:r>
            <a:r>
              <a:rPr lang="en-US" altLang="zh-CN" sz="3200" b="1" dirty="0">
                <a:latin typeface="Times New Roman" panose="02020503050405090304" pitchFamily="18" charset="0"/>
                <a:cs typeface="Times New Roman" panose="02020503050405090304" pitchFamily="18" charset="0"/>
              </a:rPr>
              <a:t> positive proposals.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The local drama club is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putting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‘Macbeth’.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Julie had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a cotton dress | She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put on</a:t>
            </a:r>
            <a:r>
              <a:rPr lang="en-US" altLang="zh-CN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 fresh make-up.</a:t>
            </a: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张贴通知</a:t>
            </a:r>
          </a:p>
          <a:p>
            <a:pPr>
              <a:lnSpc>
                <a:spcPct val="110000"/>
              </a:lnSpc>
            </a:pPr>
            <a:r>
              <a:rPr lang="zh-CN" altLang="en-US" sz="3200" b="1" dirty="0">
                <a:solidFill>
                  <a:schemeClr val="tx1"/>
                </a:solidFill>
                <a:latin typeface="Times New Roman" panose="02020503050405090304" pitchFamily="18" charset="0"/>
                <a:cs typeface="Times New Roman" panose="02020503050405090304" pitchFamily="18" charset="0"/>
              </a:rPr>
              <a:t>灭火</a:t>
            </a: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chemeClr val="tx1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  <a:p>
            <a:pPr>
              <a:lnSpc>
                <a:spcPct val="110000"/>
              </a:lnSpc>
            </a:pPr>
            <a:endParaRPr lang="en-US" altLang="zh-CN" sz="3200" b="1" dirty="0">
              <a:solidFill>
                <a:srgbClr val="FF0000"/>
              </a:solidFill>
              <a:latin typeface="Times New Roman" panose="02020503050405090304" pitchFamily="18" charset="0"/>
              <a:cs typeface="Times New Roman" panose="02020503050405090304" pitchFamily="18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4618990" y="1221105"/>
            <a:ext cx="274637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提议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(propose)</a:t>
            </a:r>
          </a:p>
        </p:txBody>
      </p:sp>
      <p:sp>
        <p:nvSpPr>
          <p:cNvPr id="5" name="Text Box 4"/>
          <p:cNvSpPr txBox="1"/>
          <p:nvPr/>
        </p:nvSpPr>
        <p:spPr>
          <a:xfrm>
            <a:off x="118745" y="2309495"/>
            <a:ext cx="749744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上演</a:t>
            </a:r>
            <a:r>
              <a:rPr lang="en-US" altLang="zh-CN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 (organize or present a play or event) </a:t>
            </a:r>
          </a:p>
        </p:txBody>
      </p:sp>
      <p:sp>
        <p:nvSpPr>
          <p:cNvPr id="6" name="Text Box 5"/>
          <p:cNvSpPr txBox="1"/>
          <p:nvPr/>
        </p:nvSpPr>
        <p:spPr>
          <a:xfrm>
            <a:off x="4525645" y="3429000"/>
            <a:ext cx="2218055" cy="58356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zh-CN" altLang="en-US" sz="3200" b="1" dirty="0">
                <a:solidFill>
                  <a:srgbClr val="0000FF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穿上；涂抹</a:t>
            </a:r>
          </a:p>
        </p:txBody>
      </p:sp>
      <p:sp>
        <p:nvSpPr>
          <p:cNvPr id="7" name="Text Box 6"/>
          <p:cNvSpPr txBox="1"/>
          <p:nvPr/>
        </p:nvSpPr>
        <p:spPr>
          <a:xfrm>
            <a:off x="1966595" y="4482465"/>
            <a:ext cx="2768600" cy="107632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put up a notice</a:t>
            </a:r>
          </a:p>
          <a:p>
            <a:pPr algn="l"/>
            <a:r>
              <a:rPr lang="en-US" altLang="zh-CN" sz="3200" b="1" dirty="0">
                <a:solidFill>
                  <a:srgbClr val="FF0000"/>
                </a:solidFill>
                <a:latin typeface="Times New Roman" panose="02020503050405090304" pitchFamily="18" charset="0"/>
                <a:cs typeface="Times New Roman" panose="02020503050405090304" pitchFamily="18" charset="0"/>
                <a:sym typeface="+mn-ea"/>
              </a:rPr>
              <a:t>put out fire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5" grpId="0"/>
      <p:bldP spid="5" grpId="1"/>
      <p:bldP spid="6" grpId="0"/>
      <p:bldP spid="6" grpId="1"/>
      <p:bldP spid="7" grpId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heme/theme1.xml><?xml version="1.0" encoding="utf-8"?>
<a:theme xmlns:a="http://schemas.openxmlformats.org/drawingml/2006/main" name="Office 主题​​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337</Words>
  <Application>Microsoft Macintosh PowerPoint</Application>
  <PresentationFormat>On-screen Show (4:3)</PresentationFormat>
  <Paragraphs>52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3" baseType="lpstr">
      <vt:lpstr>Times New Roman</vt:lpstr>
      <vt:lpstr>Calibri</vt:lpstr>
      <vt:lpstr>Wingdings</vt:lpstr>
      <vt:lpstr>Arial</vt:lpstr>
      <vt:lpstr>Calibri Light</vt:lpstr>
      <vt:lpstr>Times New Roman Bold Italic</vt:lpstr>
      <vt:lpstr>微软雅黑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Qing NI</cp:lastModifiedBy>
  <cp:revision>865</cp:revision>
  <dcterms:created xsi:type="dcterms:W3CDTF">2023-10-29T02:16:37Z</dcterms:created>
  <dcterms:modified xsi:type="dcterms:W3CDTF">2026-07-22T12:37:33Z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1033-6.2.2.8394</vt:lpwstr>
  </property>
  <property fmtid="{D5CDD505-2E9C-101B-9397-08002B2CF9AE}" pid="3" name="ICV">
    <vt:lpwstr>F7ADDC403FD5C680299B46633A06C71B</vt:lpwstr>
  </property>
</Properties>
</file>