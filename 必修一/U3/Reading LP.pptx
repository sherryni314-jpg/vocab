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63.xml" ContentType="application/vnd.openxmlformats-officedocument.presentationml.tags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tags/tag64.xml" ContentType="application/vnd.openxmlformats-officedocument.presentationml.tags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tags/tag65.xml" ContentType="application/vnd.openxmlformats-officedocument.presentationml.tags+xml"/>
  <Override PartName="/ppt/notesSlides/notesSlide3.xml" ContentType="application/vnd.openxmlformats-officedocument.presentationml.notesSlide+xml"/>
  <Override PartName="/ppt/theme/themeOverride3.xml" ContentType="application/vnd.openxmlformats-officedocument.themeOverride+xml"/>
  <Override PartName="/ppt/tags/tag66.xml" ContentType="application/vnd.openxmlformats-officedocument.presentationml.tags+xml"/>
  <Override PartName="/ppt/notesSlides/notesSlide4.xml" ContentType="application/vnd.openxmlformats-officedocument.presentationml.notesSlide+xml"/>
  <Override PartName="/ppt/theme/themeOverride4.xml" ContentType="application/vnd.openxmlformats-officedocument.themeOverride+xml"/>
  <Override PartName="/ppt/tags/tag67.xml" ContentType="application/vnd.openxmlformats-officedocument.presentationml.tags+xml"/>
  <Override PartName="/ppt/notesSlides/notesSlide5.xml" ContentType="application/vnd.openxmlformats-officedocument.presentationml.notesSlide+xml"/>
  <Override PartName="/ppt/theme/themeOverride5.xml" ContentType="application/vnd.openxmlformats-officedocument.themeOverride+xml"/>
  <Override PartName="/ppt/tags/tag68.xml" ContentType="application/vnd.openxmlformats-officedocument.presentationml.tags+xml"/>
  <Override PartName="/ppt/notesSlides/notesSlide6.xml" ContentType="application/vnd.openxmlformats-officedocument.presentationml.notesSlide+xml"/>
  <Override PartName="/ppt/theme/themeOverride6.xml" ContentType="application/vnd.openxmlformats-officedocument.themeOverride+xml"/>
  <Override PartName="/ppt/tags/tag69.xml" ContentType="application/vnd.openxmlformats-officedocument.presentationml.tags+xml"/>
  <Override PartName="/ppt/notesSlides/notesSlide7.xml" ContentType="application/vnd.openxmlformats-officedocument.presentationml.notesSlide+xml"/>
  <Override PartName="/ppt/theme/themeOverride7.xml" ContentType="application/vnd.openxmlformats-officedocument.themeOverride+xml"/>
  <Override PartName="/ppt/tags/tag70.xml" ContentType="application/vnd.openxmlformats-officedocument.presentationml.tags+xml"/>
  <Override PartName="/ppt/notesSlides/notesSlide8.xml" ContentType="application/vnd.openxmlformats-officedocument.presentationml.notesSlide+xml"/>
  <Override PartName="/ppt/theme/themeOverride8.xml" ContentType="application/vnd.openxmlformats-officedocument.themeOverride+xml"/>
  <Override PartName="/ppt/tags/tag71.xml" ContentType="application/vnd.openxmlformats-officedocument.presentationml.tags+xml"/>
  <Override PartName="/ppt/notesSlides/notesSlide9.xml" ContentType="application/vnd.openxmlformats-officedocument.presentationml.notesSlide+xml"/>
  <Override PartName="/ppt/theme/themeOverride9.xml" ContentType="application/vnd.openxmlformats-officedocument.themeOverride+xml"/>
  <Override PartName="/ppt/tags/tag72.xml" ContentType="application/vnd.openxmlformats-officedocument.presentationml.tags+xml"/>
  <Override PartName="/ppt/notesSlides/notesSlide10.xml" ContentType="application/vnd.openxmlformats-officedocument.presentationml.notesSlide+xml"/>
  <Override PartName="/ppt/theme/themeOverride10.xml" ContentType="application/vnd.openxmlformats-officedocument.themeOverride+xml"/>
  <Override PartName="/ppt/tags/tag73.xml" ContentType="application/vnd.openxmlformats-officedocument.presentationml.tags+xml"/>
  <Override PartName="/ppt/notesSlides/notesSlide11.xml" ContentType="application/vnd.openxmlformats-officedocument.presentationml.notesSlide+xml"/>
  <Override PartName="/ppt/theme/themeOverride11.xml" ContentType="application/vnd.openxmlformats-officedocument.themeOverride+xml"/>
  <Override PartName="/ppt/tags/tag74.xml" ContentType="application/vnd.openxmlformats-officedocument.presentationml.tags+xml"/>
  <Override PartName="/ppt/notesSlides/notesSlide12.xml" ContentType="application/vnd.openxmlformats-officedocument.presentationml.notesSlide+xml"/>
  <Override PartName="/ppt/theme/themeOverride12.xml" ContentType="application/vnd.openxmlformats-officedocument.themeOverride+xml"/>
  <Override PartName="/ppt/tags/tag75.xml" ContentType="application/vnd.openxmlformats-officedocument.presentationml.tags+xml"/>
  <Override PartName="/ppt/notesSlides/notesSlide13.xml" ContentType="application/vnd.openxmlformats-officedocument.presentationml.notesSlide+xml"/>
  <Override PartName="/ppt/theme/themeOverride13.xml" ContentType="application/vnd.openxmlformats-officedocument.themeOverride+xml"/>
  <Override PartName="/ppt/tags/tag76.xml" ContentType="application/vnd.openxmlformats-officedocument.presentationml.tags+xml"/>
  <Override PartName="/ppt/notesSlides/notesSlide14.xml" ContentType="application/vnd.openxmlformats-officedocument.presentationml.notesSlide+xml"/>
  <Override PartName="/ppt/theme/themeOverride14.xml" ContentType="application/vnd.openxmlformats-officedocument.themeOverride+xml"/>
  <Override PartName="/ppt/tags/tag77.xml" ContentType="application/vnd.openxmlformats-officedocument.presentationml.tags+xml"/>
  <Override PartName="/ppt/notesSlides/notesSlide15.xml" ContentType="application/vnd.openxmlformats-officedocument.presentationml.notesSlide+xml"/>
  <Override PartName="/ppt/theme/themeOverride15.xml" ContentType="application/vnd.openxmlformats-officedocument.themeOverride+xml"/>
  <Override PartName="/ppt/tags/tag78.xml" ContentType="application/vnd.openxmlformats-officedocument.presentationml.tags+xml"/>
  <Override PartName="/ppt/notesSlides/notesSlide16.xml" ContentType="application/vnd.openxmlformats-officedocument.presentationml.notesSlide+xml"/>
  <Override PartName="/ppt/theme/themeOverride16.xml" ContentType="application/vnd.openxmlformats-officedocument.themeOverride+xml"/>
  <Override PartName="/ppt/tags/tag79.xml" ContentType="application/vnd.openxmlformats-officedocument.presentationml.tags+xml"/>
  <Override PartName="/ppt/notesSlides/notesSlide17.xml" ContentType="application/vnd.openxmlformats-officedocument.presentationml.notesSlide+xml"/>
  <Override PartName="/ppt/theme/themeOverride17.xml" ContentType="application/vnd.openxmlformats-officedocument.themeOverride+xml"/>
  <Override PartName="/ppt/tags/tag80.xml" ContentType="application/vnd.openxmlformats-officedocument.presentationml.tags+xml"/>
  <Override PartName="/ppt/notesSlides/notesSlide18.xml" ContentType="application/vnd.openxmlformats-officedocument.presentationml.notesSlide+xml"/>
  <Override PartName="/ppt/theme/themeOverride18.xml" ContentType="application/vnd.openxmlformats-officedocument.themeOverride+xml"/>
  <Override PartName="/ppt/tags/tag81.xml" ContentType="application/vnd.openxmlformats-officedocument.presentationml.tags+xml"/>
  <Override PartName="/ppt/notesSlides/notesSlide19.xml" ContentType="application/vnd.openxmlformats-officedocument.presentationml.notesSlide+xml"/>
  <Override PartName="/ppt/theme/themeOverride19.xml" ContentType="application/vnd.openxmlformats-officedocument.themeOverride+xml"/>
  <Override PartName="/ppt/tags/tag82.xml" ContentType="application/vnd.openxmlformats-officedocument.presentationml.tags+xml"/>
  <Override PartName="/ppt/notesSlides/notesSlide20.xml" ContentType="application/vnd.openxmlformats-officedocument.presentationml.notesSlide+xml"/>
  <Override PartName="/ppt/theme/themeOverride20.xml" ContentType="application/vnd.openxmlformats-officedocument.themeOverride+xml"/>
  <Override PartName="/ppt/tags/tag83.xml" ContentType="application/vnd.openxmlformats-officedocument.presentationml.tags+xml"/>
  <Override PartName="/ppt/notesSlides/notesSlide21.xml" ContentType="application/vnd.openxmlformats-officedocument.presentationml.notesSlide+xml"/>
  <Override PartName="/ppt/theme/themeOverride21.xml" ContentType="application/vnd.openxmlformats-officedocument.themeOverride+xml"/>
  <Override PartName="/ppt/tags/tag84.xml" ContentType="application/vnd.openxmlformats-officedocument.presentationml.tags+xml"/>
  <Override PartName="/ppt/notesSlides/notesSlide22.xml" ContentType="application/vnd.openxmlformats-officedocument.presentationml.notesSlide+xml"/>
  <Override PartName="/ppt/theme/themeOverride22.xml" ContentType="application/vnd.openxmlformats-officedocument.themeOverride+xml"/>
  <Override PartName="/ppt/tags/tag85.xml" ContentType="application/vnd.openxmlformats-officedocument.presentationml.tags+xml"/>
  <Override PartName="/ppt/notesSlides/notesSlide23.xml" ContentType="application/vnd.openxmlformats-officedocument.presentationml.notesSlide+xml"/>
  <Override PartName="/ppt/theme/themeOverride23.xml" ContentType="application/vnd.openxmlformats-officedocument.themeOverride+xml"/>
  <Override PartName="/ppt/tags/tag86.xml" ContentType="application/vnd.openxmlformats-officedocument.presentationml.tags+xml"/>
  <Override PartName="/ppt/notesSlides/notesSlide24.xml" ContentType="application/vnd.openxmlformats-officedocument.presentationml.notesSlide+xml"/>
  <Override PartName="/ppt/tags/tag87.xml" ContentType="application/vnd.openxmlformats-officedocument.presentationml.tags+xml"/>
  <Override PartName="/ppt/notesSlides/notesSlide25.xml" ContentType="application/vnd.openxmlformats-officedocument.presentationml.notesSlide+xml"/>
  <Override PartName="/ppt/tags/tag88.xml" ContentType="application/vnd.openxmlformats-officedocument.presentationml.tags+xml"/>
  <Override PartName="/ppt/notesSlides/notesSlide26.xml" ContentType="application/vnd.openxmlformats-officedocument.presentationml.notesSlide+xml"/>
  <Override PartName="/ppt/theme/themeOverride24.xml" ContentType="application/vnd.openxmlformats-officedocument.themeOverride+xml"/>
  <Override PartName="/ppt/tags/tag89.xml" ContentType="application/vnd.openxmlformats-officedocument.presentationml.tags+xml"/>
  <Override PartName="/ppt/notesSlides/notesSlide27.xml" ContentType="application/vnd.openxmlformats-officedocument.presentationml.notesSlide+xml"/>
  <Override PartName="/ppt/theme/themeOverride25.xml" ContentType="application/vnd.openxmlformats-officedocument.themeOverride+xml"/>
  <Override PartName="/ppt/tags/tag90.xml" ContentType="application/vnd.openxmlformats-officedocument.presentationml.tags+xml"/>
  <Override PartName="/ppt/notesSlides/notesSlide28.xml" ContentType="application/vnd.openxmlformats-officedocument.presentationml.notesSlide+xml"/>
  <Override PartName="/ppt/tags/tag91.xml" ContentType="application/vnd.openxmlformats-officedocument.presentationml.tags+xml"/>
  <Override PartName="/ppt/notesSlides/notesSlide29.xml" ContentType="application/vnd.openxmlformats-officedocument.presentationml.notesSlide+xml"/>
  <Override PartName="/ppt/tags/tag92.xml" ContentType="application/vnd.openxmlformats-officedocument.presentationml.tags+xml"/>
  <Override PartName="/ppt/notesSlides/notesSlide30.xml" ContentType="application/vnd.openxmlformats-officedocument.presentationml.notesSlide+xml"/>
  <Override PartName="/ppt/tags/tag93.xml" ContentType="application/vnd.openxmlformats-officedocument.presentationml.tags+xml"/>
  <Override PartName="/ppt/notesSlides/notesSlide31.xml" ContentType="application/vnd.openxmlformats-officedocument.presentationml.notesSlide+xml"/>
  <Override PartName="/ppt/theme/themeOverride26.xml" ContentType="application/vnd.openxmlformats-officedocument.themeOverride+xml"/>
  <Override PartName="/ppt/tags/tag94.xml" ContentType="application/vnd.openxmlformats-officedocument.presentationml.tags+xml"/>
  <Override PartName="/ppt/notesSlides/notesSlide32.xml" ContentType="application/vnd.openxmlformats-officedocument.presentationml.notesSlide+xml"/>
  <Override PartName="/ppt/theme/themeOverride27.xml" ContentType="application/vnd.openxmlformats-officedocument.themeOverride+xml"/>
  <Override PartName="/ppt/tags/tag95.xml" ContentType="application/vnd.openxmlformats-officedocument.presentationml.tags+xml"/>
  <Override PartName="/ppt/notesSlides/notesSlide33.xml" ContentType="application/vnd.openxmlformats-officedocument.presentationml.notesSlide+xml"/>
  <Override PartName="/ppt/theme/themeOverride28.xml" ContentType="application/vnd.openxmlformats-officedocument.themeOverride+xml"/>
  <Override PartName="/ppt/tags/tag96.xml" ContentType="application/vnd.openxmlformats-officedocument.presentationml.tags+xml"/>
  <Override PartName="/ppt/notesSlides/notesSlide34.xml" ContentType="application/vnd.openxmlformats-officedocument.presentationml.notesSlide+xml"/>
  <Override PartName="/ppt/theme/themeOverride29.xml" ContentType="application/vnd.openxmlformats-officedocument.themeOverride+xml"/>
  <Override PartName="/ppt/tags/tag97.xml" ContentType="application/vnd.openxmlformats-officedocument.presentationml.tags+xml"/>
  <Override PartName="/ppt/notesSlides/notesSlide35.xml" ContentType="application/vnd.openxmlformats-officedocument.presentationml.notesSlide+xml"/>
  <Override PartName="/ppt/tags/tag98.xml" ContentType="application/vnd.openxmlformats-officedocument.presentationml.tags+xml"/>
  <Override PartName="/ppt/notesSlides/notesSlide36.xml" ContentType="application/vnd.openxmlformats-officedocument.presentationml.notesSlide+xml"/>
  <Override PartName="/ppt/theme/themeOverride30.xml" ContentType="application/vnd.openxmlformats-officedocument.themeOverride+xml"/>
  <Override PartName="/ppt/tags/tag99.xml" ContentType="application/vnd.openxmlformats-officedocument.presentationml.tags+xml"/>
  <Override PartName="/ppt/notesSlides/notesSlide37.xml" ContentType="application/vnd.openxmlformats-officedocument.presentationml.notesSlide+xml"/>
  <Override PartName="/ppt/theme/themeOverride31.xml" ContentType="application/vnd.openxmlformats-officedocument.themeOverride+xml"/>
  <Override PartName="/ppt/tags/tag100.xml" ContentType="application/vnd.openxmlformats-officedocument.presentationml.tags+xml"/>
  <Override PartName="/ppt/notesSlides/notesSlide38.xml" ContentType="application/vnd.openxmlformats-officedocument.presentationml.notesSlide+xml"/>
  <Override PartName="/ppt/theme/themeOverride32.xml" ContentType="application/vnd.openxmlformats-officedocument.themeOverride+xml"/>
  <Override PartName="/ppt/tags/tag101.xml" ContentType="application/vnd.openxmlformats-officedocument.presentationml.tags+xml"/>
  <Override PartName="/ppt/notesSlides/notesSlide39.xml" ContentType="application/vnd.openxmlformats-officedocument.presentationml.notesSlide+xml"/>
  <Override PartName="/ppt/theme/themeOverride33.xml" ContentType="application/vnd.openxmlformats-officedocument.themeOverride+xml"/>
  <Override PartName="/ppt/tags/tag102.xml" ContentType="application/vnd.openxmlformats-officedocument.presentationml.tags+xml"/>
  <Override PartName="/ppt/notesSlides/notesSlide40.xml" ContentType="application/vnd.openxmlformats-officedocument.presentationml.notesSlide+xml"/>
  <Override PartName="/ppt/theme/themeOverride34.xml" ContentType="application/vnd.openxmlformats-officedocument.themeOverride+xml"/>
  <Override PartName="/ppt/tags/tag103.xml" ContentType="application/vnd.openxmlformats-officedocument.presentationml.tags+xml"/>
  <Override PartName="/ppt/notesSlides/notesSlide41.xml" ContentType="application/vnd.openxmlformats-officedocument.presentationml.notesSlide+xml"/>
  <Override PartName="/ppt/theme/themeOverride35.xml" ContentType="application/vnd.openxmlformats-officedocument.themeOverride+xml"/>
  <Override PartName="/ppt/tags/tag104.xml" ContentType="application/vnd.openxmlformats-officedocument.presentationml.tags+xml"/>
  <Override PartName="/ppt/notesSlides/notesSlide42.xml" ContentType="application/vnd.openxmlformats-officedocument.presentationml.notesSlide+xml"/>
  <Override PartName="/ppt/theme/themeOverride36.xml" ContentType="application/vnd.openxmlformats-officedocument.themeOverride+xml"/>
  <Override PartName="/ppt/tags/tag105.xml" ContentType="application/vnd.openxmlformats-officedocument.presentationml.tags+xml"/>
  <Override PartName="/ppt/notesSlides/notesSlide43.xml" ContentType="application/vnd.openxmlformats-officedocument.presentationml.notesSlide+xml"/>
  <Override PartName="/ppt/theme/themeOverride37.xml" ContentType="application/vnd.openxmlformats-officedocument.themeOverride+xml"/>
  <Override PartName="/ppt/tags/tag106.xml" ContentType="application/vnd.openxmlformats-officedocument.presentationml.tags+xml"/>
  <Override PartName="/ppt/notesSlides/notesSlide44.xml" ContentType="application/vnd.openxmlformats-officedocument.presentationml.notesSlide+xml"/>
  <Override PartName="/ppt/theme/themeOverride38.xml" ContentType="application/vnd.openxmlformats-officedocument.themeOverride+xml"/>
  <Override PartName="/ppt/tags/tag107.xml" ContentType="application/vnd.openxmlformats-officedocument.presentationml.tags+xml"/>
  <Override PartName="/ppt/notesSlides/notesSlide45.xml" ContentType="application/vnd.openxmlformats-officedocument.presentationml.notesSlide+xml"/>
  <Override PartName="/ppt/theme/themeOverride39.xml" ContentType="application/vnd.openxmlformats-officedocument.themeOverride+xml"/>
  <Override PartName="/ppt/tags/tag108.xml" ContentType="application/vnd.openxmlformats-officedocument.presentationml.tags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8"/>
  </p:notesMasterIdLst>
  <p:handoutMasterIdLst>
    <p:handoutMasterId r:id="rId49"/>
  </p:handoutMasterIdLst>
  <p:sldIdLst>
    <p:sldId id="480" r:id="rId2"/>
    <p:sldId id="547" r:id="rId3"/>
    <p:sldId id="580" r:id="rId4"/>
    <p:sldId id="528" r:id="rId5"/>
    <p:sldId id="488" r:id="rId6"/>
    <p:sldId id="490" r:id="rId7"/>
    <p:sldId id="623" r:id="rId8"/>
    <p:sldId id="582" r:id="rId9"/>
    <p:sldId id="584" r:id="rId10"/>
    <p:sldId id="581" r:id="rId11"/>
    <p:sldId id="529" r:id="rId12"/>
    <p:sldId id="530" r:id="rId13"/>
    <p:sldId id="586" r:id="rId14"/>
    <p:sldId id="585" r:id="rId15"/>
    <p:sldId id="531" r:id="rId16"/>
    <p:sldId id="545" r:id="rId17"/>
    <p:sldId id="532" r:id="rId18"/>
    <p:sldId id="493" r:id="rId19"/>
    <p:sldId id="494" r:id="rId20"/>
    <p:sldId id="534" r:id="rId21"/>
    <p:sldId id="592" r:id="rId22"/>
    <p:sldId id="593" r:id="rId23"/>
    <p:sldId id="590" r:id="rId24"/>
    <p:sldId id="539" r:id="rId25"/>
    <p:sldId id="707" r:id="rId26"/>
    <p:sldId id="708" r:id="rId27"/>
    <p:sldId id="704" r:id="rId28"/>
    <p:sldId id="705" r:id="rId29"/>
    <p:sldId id="542" r:id="rId30"/>
    <p:sldId id="587" r:id="rId31"/>
    <p:sldId id="706" r:id="rId32"/>
    <p:sldId id="496" r:id="rId33"/>
    <p:sldId id="588" r:id="rId34"/>
    <p:sldId id="498" r:id="rId35"/>
    <p:sldId id="499" r:id="rId36"/>
    <p:sldId id="544" r:id="rId37"/>
    <p:sldId id="500" r:id="rId38"/>
    <p:sldId id="625" r:id="rId39"/>
    <p:sldId id="626" r:id="rId40"/>
    <p:sldId id="536" r:id="rId41"/>
    <p:sldId id="627" r:id="rId42"/>
    <p:sldId id="537" r:id="rId43"/>
    <p:sldId id="628" r:id="rId44"/>
    <p:sldId id="629" r:id="rId45"/>
    <p:sldId id="630" r:id="rId46"/>
    <p:sldId id="546" r:id="rId4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00"/>
    <a:srgbClr val="0000FF"/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93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1696" y="168"/>
      </p:cViewPr>
      <p:guideLst>
        <p:guide orient="horz" pos="2207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2026/7/22</a:t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AC49D05-6128-4D0D-A32A-06A5E73B386C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849F42C-2DAE-424C-A4B8-3140182C3E9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49F42C-2DAE-424C-A4B8-3140182C3E9F}" type="slidenum">
              <a:rPr lang="zh-CN" altLang="en-US" smtClean="0"/>
              <a:t>34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49F42C-2DAE-424C-A4B8-3140182C3E9F}" type="slidenum">
              <a:rPr lang="zh-CN" altLang="en-US" smtClean="0"/>
              <a:t>36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到了做某事的时候了，但实际某事还没有作，因此从句用虚拟语气形式表示和现在事实相反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899100" y="914400"/>
            <a:ext cx="73494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899100" y="3560400"/>
            <a:ext cx="73494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6300" y="1490400"/>
            <a:ext cx="8226900" cy="47592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914400" marR="0" lvl="2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371600" marR="0" lvl="3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828800" marR="0" lvl="4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493100" y="3848400"/>
            <a:ext cx="58266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493100" y="4615200"/>
            <a:ext cx="58266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456300" y="1501200"/>
            <a:ext cx="38826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4808700" y="1501200"/>
            <a:ext cx="3882600" cy="4748400"/>
          </a:xfrm>
        </p:spPr>
        <p:txBody>
          <a:bodyPr lIns="90000" tIns="46800" rIns="90000" bIns="46800">
            <a:normAutofit/>
          </a:bodyPr>
          <a:lstStyle>
            <a:lvl1pPr marL="228600" indent="-228600">
              <a:lnSpc>
                <a:spcPct val="130000"/>
              </a:lnSpc>
              <a:buFont typeface="Wingdings" panose="05000000000000000000" pitchFamily="2" charset="2"/>
              <a:buChar char="l"/>
              <a:defRPr sz="1600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685800" indent="-228600">
              <a:lnSpc>
                <a:spcPct val="130000"/>
              </a:lnSpc>
              <a:buFont typeface="Wingdings" panose="05000000000000000000" pitchFamily="2" charset="2"/>
              <a:buChar char="l"/>
              <a:defRPr sz="1600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30000"/>
              </a:lnSpc>
              <a:buFont typeface="Wingdings" panose="05000000000000000000" pitchFamily="2" charset="2"/>
              <a:buChar char="l"/>
              <a:defRPr sz="1600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30000"/>
              </a:lnSpc>
              <a:buFont typeface="Wingdings" panose="05000000000000000000" pitchFamily="2" charset="2"/>
              <a:buChar char="l"/>
              <a:defRPr sz="1600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456300" y="1429200"/>
            <a:ext cx="40068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456300" y="1854000"/>
            <a:ext cx="40068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4676813" y="1421729"/>
            <a:ext cx="40068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4676813" y="1854000"/>
            <a:ext cx="40068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456300" y="1555200"/>
            <a:ext cx="38448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  <p:custDataLst>
              <p:tags r:id="rId2"/>
            </p:custDataLst>
          </p:nvPr>
        </p:nvSpPr>
        <p:spPr>
          <a:xfrm>
            <a:off x="4762800" y="1555200"/>
            <a:ext cx="39204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单击此处编辑文本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2026/7/22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7676100" y="914400"/>
            <a:ext cx="783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  <p:custDataLst>
              <p:tags r:id="rId2"/>
            </p:custDataLst>
          </p:nvPr>
        </p:nvSpPr>
        <p:spPr>
          <a:xfrm>
            <a:off x="685800" y="914400"/>
            <a:ext cx="6876900" cy="5029200"/>
          </a:xfrm>
        </p:spPr>
        <p:txBody>
          <a:bodyPr vert="eaVert" lIns="46800" tIns="46800" rIns="46800" bIns="46800"/>
          <a:lstStyle>
            <a:lvl1pPr indent="0" eaLnBrk="1" fontAlgn="auto" latinLnBrk="0" hangingPunct="1">
              <a:lnSpc>
                <a:spcPct val="160000"/>
              </a:lnSpc>
              <a:spcAft>
                <a:spcPts val="1600"/>
              </a:spcAft>
              <a:buNone/>
              <a:defRPr spc="3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indent="0" eaLnBrk="1" fontAlgn="auto" latinLnBrk="0" hangingPunct="1">
              <a:lnSpc>
                <a:spcPct val="160000"/>
              </a:lnSpc>
              <a:spcAft>
                <a:spcPts val="1600"/>
              </a:spcAft>
              <a:buNone/>
              <a:defRPr spc="3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indent="0" eaLnBrk="1" fontAlgn="auto" latinLnBrk="0" hangingPunct="1">
              <a:lnSpc>
                <a:spcPct val="160000"/>
              </a:lnSpc>
              <a:spcAft>
                <a:spcPts val="1600"/>
              </a:spcAft>
              <a:buNone/>
              <a:defRPr spc="3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indent="0" eaLnBrk="1" fontAlgn="auto" latinLnBrk="0" hangingPunct="1">
              <a:lnSpc>
                <a:spcPct val="160000"/>
              </a:lnSpc>
              <a:spcAft>
                <a:spcPts val="1600"/>
              </a:spcAft>
              <a:buNone/>
              <a:defRPr spc="3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indent="0" eaLnBrk="1" fontAlgn="auto" latinLnBrk="0" hangingPunct="1">
              <a:lnSpc>
                <a:spcPct val="160000"/>
              </a:lnSpc>
              <a:spcAft>
                <a:spcPts val="1600"/>
              </a:spcAft>
              <a:buNone/>
              <a:defRPr spc="3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单击此处编辑文本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456300" y="774000"/>
            <a:ext cx="8229600" cy="5482800"/>
          </a:xfrm>
        </p:spPr>
        <p:txBody>
          <a:bodyPr/>
          <a:lstStyle>
            <a:lvl1pPr marL="2286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858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11430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6002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20574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899100" y="2484000"/>
            <a:ext cx="73494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899100" y="3560400"/>
            <a:ext cx="73494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456300" y="608400"/>
            <a:ext cx="8226900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456300" y="1515600"/>
            <a:ext cx="8226900" cy="473688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459000" y="6314400"/>
            <a:ext cx="2025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3087000" y="6314400"/>
            <a:ext cx="297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6658200" y="6314400"/>
            <a:ext cx="2025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tabLst>
          <a:tab pos="1609725" algn="l"/>
        </a:tabLst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4.xml"/><Relationship Id="rId1" Type="http://schemas.openxmlformats.org/officeDocument/2006/relationships/themeOverride" Target="../theme/themeOverride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5.xml"/><Relationship Id="rId1" Type="http://schemas.openxmlformats.org/officeDocument/2006/relationships/themeOverride" Target="../theme/themeOverride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themeOverride" Target="../theme/themeOverride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themeOverride" Target="../theme/themeOverride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themeOverride" Target="../theme/themeOverride5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themeOverride" Target="../theme/themeOverride6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0.xml"/><Relationship Id="rId1" Type="http://schemas.openxmlformats.org/officeDocument/2006/relationships/themeOverride" Target="../theme/themeOverride7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1.xml"/><Relationship Id="rId1" Type="http://schemas.openxmlformats.org/officeDocument/2006/relationships/themeOverride" Target="../theme/themeOverride8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2.xml"/><Relationship Id="rId1" Type="http://schemas.openxmlformats.org/officeDocument/2006/relationships/themeOverride" Target="../theme/themeOverride9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3.xml"/><Relationship Id="rId1" Type="http://schemas.openxmlformats.org/officeDocument/2006/relationships/themeOverride" Target="../theme/themeOverride10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4.xml"/><Relationship Id="rId1" Type="http://schemas.openxmlformats.org/officeDocument/2006/relationships/themeOverride" Target="../theme/themeOverride1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5.xml"/><Relationship Id="rId1" Type="http://schemas.openxmlformats.org/officeDocument/2006/relationships/themeOverride" Target="../theme/themeOverride1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6.xml"/><Relationship Id="rId1" Type="http://schemas.openxmlformats.org/officeDocument/2006/relationships/themeOverride" Target="../theme/themeOverride1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7.xml"/><Relationship Id="rId1" Type="http://schemas.openxmlformats.org/officeDocument/2006/relationships/themeOverride" Target="../theme/themeOverride14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8.xml"/><Relationship Id="rId1" Type="http://schemas.openxmlformats.org/officeDocument/2006/relationships/themeOverride" Target="../theme/themeOverride15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9.xml"/><Relationship Id="rId1" Type="http://schemas.openxmlformats.org/officeDocument/2006/relationships/themeOverride" Target="../theme/themeOverride16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0.xml"/><Relationship Id="rId1" Type="http://schemas.openxmlformats.org/officeDocument/2006/relationships/themeOverride" Target="../theme/themeOverride17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1.xml"/><Relationship Id="rId1" Type="http://schemas.openxmlformats.org/officeDocument/2006/relationships/themeOverride" Target="../theme/themeOverride18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2.xml"/><Relationship Id="rId1" Type="http://schemas.openxmlformats.org/officeDocument/2006/relationships/themeOverride" Target="../theme/themeOverride19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3.xml"/><Relationship Id="rId1" Type="http://schemas.openxmlformats.org/officeDocument/2006/relationships/themeOverride" Target="../theme/themeOverride20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4.xml"/><Relationship Id="rId1" Type="http://schemas.openxmlformats.org/officeDocument/2006/relationships/themeOverride" Target="../theme/themeOverride2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5.xml"/><Relationship Id="rId1" Type="http://schemas.openxmlformats.org/officeDocument/2006/relationships/themeOverride" Target="../theme/themeOverride22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6.xml"/><Relationship Id="rId1" Type="http://schemas.openxmlformats.org/officeDocument/2006/relationships/themeOverride" Target="../theme/themeOverride23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9.xml"/><Relationship Id="rId1" Type="http://schemas.openxmlformats.org/officeDocument/2006/relationships/themeOverride" Target="../theme/themeOverride24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0.xml"/><Relationship Id="rId1" Type="http://schemas.openxmlformats.org/officeDocument/2006/relationships/themeOverride" Target="../theme/themeOverride25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4.xml"/><Relationship Id="rId1" Type="http://schemas.openxmlformats.org/officeDocument/2006/relationships/themeOverride" Target="../theme/themeOverride26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5.xml"/><Relationship Id="rId1" Type="http://schemas.openxmlformats.org/officeDocument/2006/relationships/themeOverride" Target="../theme/themeOverride27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6.xml"/><Relationship Id="rId1" Type="http://schemas.openxmlformats.org/officeDocument/2006/relationships/themeOverride" Target="../theme/themeOverride28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7.xml"/><Relationship Id="rId1" Type="http://schemas.openxmlformats.org/officeDocument/2006/relationships/themeOverride" Target="../theme/themeOverride29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9.xml"/><Relationship Id="rId1" Type="http://schemas.openxmlformats.org/officeDocument/2006/relationships/themeOverride" Target="../theme/themeOverride30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00.xml"/><Relationship Id="rId1" Type="http://schemas.openxmlformats.org/officeDocument/2006/relationships/themeOverride" Target="../theme/themeOverride3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01.xml"/><Relationship Id="rId1" Type="http://schemas.openxmlformats.org/officeDocument/2006/relationships/themeOverride" Target="../theme/themeOverride32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02.xml"/><Relationship Id="rId1" Type="http://schemas.openxmlformats.org/officeDocument/2006/relationships/themeOverride" Target="../theme/themeOverride33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03.xml"/><Relationship Id="rId1" Type="http://schemas.openxmlformats.org/officeDocument/2006/relationships/themeOverride" Target="../theme/themeOverride34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04.xml"/><Relationship Id="rId1" Type="http://schemas.openxmlformats.org/officeDocument/2006/relationships/themeOverride" Target="../theme/themeOverride35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05.xml"/><Relationship Id="rId1" Type="http://schemas.openxmlformats.org/officeDocument/2006/relationships/themeOverride" Target="../theme/themeOverride36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06.xml"/><Relationship Id="rId1" Type="http://schemas.openxmlformats.org/officeDocument/2006/relationships/themeOverride" Target="../theme/themeOverride37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07.xml"/><Relationship Id="rId1" Type="http://schemas.openxmlformats.org/officeDocument/2006/relationships/themeOverride" Target="../theme/themeOverride38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08.xml"/><Relationship Id="rId1" Type="http://schemas.openxmlformats.org/officeDocument/2006/relationships/themeOverride" Target="../theme/themeOverride39.xml"/><Relationship Id="rId4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55394" y="299437"/>
            <a:ext cx="870458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76855" indent="-2776855"/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1.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on the rocks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: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having difficulties / likely to fail soon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684057" y="1294807"/>
            <a:ext cx="55035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（关系）陷于困境，濒临崩溃</a:t>
            </a:r>
          </a:p>
        </p:txBody>
      </p:sp>
      <p:sp>
        <p:nvSpPr>
          <p:cNvPr id="8" name="矩形 7"/>
          <p:cNvSpPr/>
          <p:nvPr/>
        </p:nvSpPr>
        <p:spPr>
          <a:xfrm>
            <a:off x="544195" y="2129155"/>
            <a:ext cx="8006080" cy="1076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Their marriage is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on the rocks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</a:p>
          <a:p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= Their marriage is in trouble.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-635"/>
            <a:ext cx="9144635" cy="11385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2. When I was an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awkward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primary school student</a:t>
            </a:r>
          </a:p>
          <a:p>
            <a:pPr marL="358775" indent="-358775"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当我还是一个拘谨的小学生时，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...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0" y="1115060"/>
            <a:ext cx="9144000" cy="50190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awkward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adj.</a:t>
            </a: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not moving in an easy way</a:t>
            </a:r>
            <a:r>
              <a:rPr lang="en-US" sz="3200" b="1" dirty="0">
                <a:latin typeface="Times New Roman Bold Italic" panose="02020503050405090304" charset="0"/>
                <a:cs typeface="Times New Roman Bold Italic" panose="02020503050405090304" charset="0"/>
              </a:rPr>
              <a:t> </a:t>
            </a:r>
            <a:r>
              <a:rPr 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(</a:t>
            </a:r>
            <a:r>
              <a:rPr lang="zh-CN" altLang="en-US" sz="3200" b="1" dirty="0">
                <a:latin typeface="Times New Roman Bold Italic" panose="02020503050405090304" charset="0"/>
                <a:cs typeface="Times New Roman Bold Italic" panose="02020503050405090304" charset="0"/>
              </a:rPr>
              <a:t>动作</a:t>
            </a: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</a:rPr>
              <a:t>)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笨拙的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;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不舒适的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268922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He tried to dance, but he was too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clumsy and awkward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indent="-268922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他试着跳舞，但是太笨拙，太别扭。</a:t>
            </a:r>
          </a:p>
          <a:p>
            <a:pPr indent="-3135630" fontAlgn="auto">
              <a:lnSpc>
                <a:spcPct val="120000"/>
              </a:lnSpc>
              <a:tabLst>
                <a:tab pos="3048000" algn="l"/>
              </a:tabLst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making you feel </a:t>
            </a:r>
            <a:r>
              <a:rPr lang="en-US" sz="3200" b="1" i="1" u="sng" dirty="0">
                <a:latin typeface="Times New Roman Bold Italic" panose="02020503050405090304" charset="0"/>
                <a:cs typeface="Times New Roman Bold Italic" panose="02020503050405090304" charset="0"/>
              </a:rPr>
              <a:t>embarrassed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令人尴尬的，使人难堪的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3135630" fontAlgn="auto">
              <a:lnSpc>
                <a:spcPct val="120000"/>
              </a:lnSpc>
              <a:tabLst>
                <a:tab pos="3048000" algn="l"/>
              </a:tabLst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3) </a:t>
            </a:r>
            <a:r>
              <a:rPr lang="en-US" sz="3200" b="1" i="1" u="sng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difficult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; hard to do or deal with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难处理的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/>
          <p:nvPr/>
        </p:nvSpPr>
        <p:spPr>
          <a:xfrm>
            <a:off x="113665" y="450215"/>
            <a:ext cx="8777605" cy="5403850"/>
          </a:xfrm>
          <a:prstGeom prst="rect">
            <a:avLst/>
          </a:prstGeom>
          <a:ln>
            <a:solidFill>
              <a:srgbClr val="EA6FFF"/>
            </a:solidFill>
          </a:ln>
        </p:spPr>
        <p:txBody>
          <a:bodyPr wrap="square">
            <a:noAutofit/>
          </a:bodyPr>
          <a:lstStyle/>
          <a:p>
            <a:pPr algn="l"/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At the press conference, </a:t>
            </a:r>
            <a:r>
              <a:rPr lang="en-US" altLang="zh-CN" sz="3200" b="1" dirty="0">
                <a:solidFill>
                  <a:srgbClr val="3D3D3D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there was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long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awkward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silence.</a:t>
            </a:r>
            <a:r>
              <a:rPr lang="en-US" altLang="zh-CN" sz="3200" b="1" dirty="0">
                <a:solidFill>
                  <a:srgbClr val="3D3D3D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</a:p>
          <a:p>
            <a:pPr algn="l"/>
            <a:endParaRPr lang="en-US" altLang="zh-CN" sz="3200" b="1" dirty="0">
              <a:solidFill>
                <a:srgbClr val="3D3D3D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l"/>
            <a:endParaRPr lang="en-US" altLang="zh-CN" sz="3200" b="1" dirty="0">
              <a:solidFill>
                <a:srgbClr val="3D3D3D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l"/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l"/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awkward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question</a:t>
            </a:r>
            <a:r>
              <a:rPr lang="en-US" altLang="zh-CN" sz="3200" b="1" dirty="0">
                <a:solidFill>
                  <a:srgbClr val="3D3D3D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put the president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a very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awkward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position</a:t>
            </a:r>
            <a:r>
              <a:rPr lang="en-US" altLang="zh-CN" sz="3200" b="1" dirty="0">
                <a:solidFill>
                  <a:srgbClr val="3D3D3D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algn="l"/>
            <a:endParaRPr lang="en-US" altLang="zh-CN" sz="3200" b="1" dirty="0">
              <a:solidFill>
                <a:srgbClr val="3D3D3D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l"/>
            <a:r>
              <a:rPr lang="en-US" altLang="zh-CN" sz="3200" b="1" dirty="0">
                <a:solidFill>
                  <a:srgbClr val="3D3D3D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He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felt awkward</a:t>
            </a:r>
            <a:r>
              <a:rPr lang="en-US" altLang="zh-CN" sz="3200" b="1" dirty="0">
                <a:solidFill>
                  <a:srgbClr val="3D3D3D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and uncomfortable.</a:t>
            </a:r>
          </a:p>
          <a:p>
            <a:pPr algn="l"/>
            <a:endParaRPr lang="en-US" altLang="zh-CN" sz="3200" b="1" dirty="0">
              <a:solidFill>
                <a:srgbClr val="3D3D3D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l"/>
            <a:endParaRPr lang="en-US" altLang="zh-CN" sz="3200" b="1" dirty="0">
              <a:solidFill>
                <a:srgbClr val="3D3D3D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l"/>
            <a:endParaRPr lang="en-US" altLang="zh-CN" sz="3200" b="1" dirty="0">
              <a:solidFill>
                <a:srgbClr val="3D3D3D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01930" y="2194560"/>
            <a:ext cx="6993890" cy="6870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kumimoji="1" lang="zh-CN" altLang="en-US" sz="3200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难对付的，不好回答的 </a:t>
            </a:r>
            <a:r>
              <a:rPr kumimoji="1" lang="en-US" altLang="zh-CN" sz="3200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(difficult)</a:t>
            </a:r>
          </a:p>
        </p:txBody>
      </p:sp>
      <p:sp>
        <p:nvSpPr>
          <p:cNvPr id="7" name="文本框 5"/>
          <p:cNvSpPr txBox="1"/>
          <p:nvPr/>
        </p:nvSpPr>
        <p:spPr>
          <a:xfrm>
            <a:off x="3079750" y="1303655"/>
            <a:ext cx="6064250" cy="6870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kumimoji="1" lang="zh-CN" altLang="en-US" sz="3200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令人尴尬的 </a:t>
            </a:r>
            <a:r>
              <a:rPr kumimoji="1" lang="en-US" altLang="zh-CN" sz="3200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(embarrassing)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805940" y="5001260"/>
            <a:ext cx="5389880" cy="6870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kumimoji="1" lang="zh-CN" altLang="en-US" sz="3200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感到局促的</a:t>
            </a:r>
            <a:r>
              <a:rPr kumimoji="1" lang="en-US" altLang="zh-CN" sz="3200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(embarrassed)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528695" y="3862705"/>
            <a:ext cx="6064250" cy="6870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kumimoji="1" lang="zh-CN" altLang="en-US" sz="3200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令人尴尬的 </a:t>
            </a:r>
            <a:r>
              <a:rPr kumimoji="1" lang="en-US" altLang="zh-CN" sz="3200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(embarrassing)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-635" y="20320"/>
            <a:ext cx="8968740" cy="23888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46405" indent="-358775">
              <a:lnSpc>
                <a:spcPct val="11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Whether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we’re walking to school, doing homework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or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just hanging out at the weekend, we’re hardly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out of each other’s sight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</a:p>
          <a:p>
            <a:pPr marL="446405" indent="-446405">
              <a:lnSpc>
                <a:spcPct val="110000"/>
              </a:lnSpc>
              <a:tabLst>
                <a:tab pos="445770" algn="l"/>
              </a:tabLst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无论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...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，还是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..., ...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都不离开彼此的视线。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92540" y="2255484"/>
            <a:ext cx="8166282" cy="1173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Whether…or…</a:t>
            </a:r>
            <a:r>
              <a:rPr lang="zh-CN" altLang="en-US" sz="3200" b="1" dirty="0">
                <a:solidFill>
                  <a:srgbClr val="FF0000"/>
                </a:solidFill>
                <a:latin typeface="+mn-ea"/>
                <a:cs typeface="Times New Roman" panose="02020503050405090304" pitchFamily="18" charset="0"/>
              </a:rPr>
              <a:t>不管</a:t>
            </a:r>
            <a:r>
              <a:rPr lang="en-US" altLang="zh-CN" sz="3200" b="1" dirty="0">
                <a:solidFill>
                  <a:srgbClr val="FF0000"/>
                </a:solidFill>
                <a:latin typeface="+mn-ea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solidFill>
                  <a:srgbClr val="FF0000"/>
                </a:solidFill>
                <a:latin typeface="+mn-ea"/>
                <a:cs typeface="Times New Roman" panose="02020503050405090304" pitchFamily="18" charset="0"/>
              </a:rPr>
              <a:t>还是</a:t>
            </a:r>
            <a:r>
              <a:rPr lang="en-US" altLang="zh-CN" sz="3200" b="1" dirty="0">
                <a:solidFill>
                  <a:srgbClr val="FF0000"/>
                </a:solidFill>
                <a:latin typeface="+mn-ea"/>
                <a:cs typeface="Times New Roman" panose="02020503050405090304" pitchFamily="18" charset="0"/>
              </a:rPr>
              <a:t>…… </a:t>
            </a: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引导让步状语从句</a:t>
            </a:r>
            <a:endParaRPr 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5" y="3573912"/>
            <a:ext cx="9462725" cy="27971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631825" fontAlgn="auto">
              <a:lnSpc>
                <a:spcPct val="11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自灾难发生以来，所有人，无论老少，贫富，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一直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都在尽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全力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帮助那些需要帮助的人。</a:t>
            </a:r>
          </a:p>
          <a:p>
            <a:pPr indent="-631825" fontAlgn="auto">
              <a:lnSpc>
                <a:spcPct val="11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All people,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whether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they are old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or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young, rich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or 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poor, have been making every effort to help those in need since the disaster.  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90319" y="1016907"/>
            <a:ext cx="8621395" cy="5015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There was no one </a:t>
            </a:r>
            <a:r>
              <a:rPr 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in sight</a:t>
            </a:r>
            <a:r>
              <a:rPr 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.</a:t>
            </a:r>
          </a:p>
          <a:p>
            <a:r>
              <a:rPr 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At first sight</a:t>
            </a:r>
            <a:r>
              <a:rPr 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, it may look like </a:t>
            </a:r>
            <a:r>
              <a:rPr lang="en-US" sz="3200" b="1" u="sng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a generous offer</a:t>
            </a:r>
            <a:r>
              <a:rPr 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.</a:t>
            </a:r>
          </a:p>
          <a:p>
            <a:endParaRPr lang="en-US" sz="3200" b="1" dirty="0"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r>
              <a:rPr 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I have been known to faint </a:t>
            </a:r>
            <a:r>
              <a:rPr 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at the sight of</a:t>
            </a:r>
            <a:r>
              <a:rPr 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blood.</a:t>
            </a:r>
          </a:p>
          <a:p>
            <a:endParaRPr lang="en-US" sz="3200" b="1" dirty="0"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r>
              <a:rPr 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She </a:t>
            </a:r>
            <a:r>
              <a:rPr 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caught sight of</a:t>
            </a:r>
            <a:r>
              <a:rPr 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a car in the distance.</a:t>
            </a:r>
          </a:p>
          <a:p>
            <a:endParaRPr lang="en-US" sz="3200" b="1" dirty="0"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r>
              <a:rPr 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We must not </a:t>
            </a:r>
            <a:r>
              <a:rPr 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lose sight of</a:t>
            </a:r>
            <a:r>
              <a:rPr 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our original aim.</a:t>
            </a:r>
          </a:p>
          <a:p>
            <a:endParaRPr lang="en-US" sz="3200" b="1" dirty="0"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r>
              <a:rPr 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A bicycle </a:t>
            </a:r>
            <a:r>
              <a:rPr 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came into sight</a:t>
            </a:r>
            <a:r>
              <a:rPr 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on the main road.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900930" y="1022350"/>
            <a:ext cx="42430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看得见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在视线范围内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)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101715" y="1988185"/>
            <a:ext cx="19113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乍看之下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101715" y="3929380"/>
            <a:ext cx="1998345" cy="5607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一眼瞥见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251538" y="4997544"/>
            <a:ext cx="37534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看不见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;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忽略，忘记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145493" y="6032590"/>
            <a:ext cx="37534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进入视线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6438900" y="3009900"/>
            <a:ext cx="16605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一看到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90319" y="349822"/>
            <a:ext cx="8495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out of one’s sight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看不见（表状态）</a:t>
            </a:r>
            <a:endParaRPr lang="en-US" altLang="zh-CN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4" grpId="0"/>
      <p:bldP spid="5" grpId="0"/>
      <p:bldP spid="10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2890" y="181610"/>
            <a:ext cx="8613775" cy="25019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Our final day, Friday, saw us visit central Paris and tour _____ ___________ ________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最后一天是星期五，我们游览巴黎市中心，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参观主要景点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。</a:t>
            </a: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= see the sights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day’s sightseeing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一日观光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072912" y="746491"/>
            <a:ext cx="448373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   main/major   sights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90319" y="279672"/>
            <a:ext cx="8621395" cy="2256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sight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n.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视力</a:t>
            </a: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have good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poor sight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(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eyesight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)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near-sighted/short-sighted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far-sighted/long-sighted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00873" y="838657"/>
            <a:ext cx="27101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视力好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/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差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050790" y="1431925"/>
            <a:ext cx="49409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近视的；目光短浅的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080635" y="1951990"/>
            <a:ext cx="43446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远视的；有远见的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35" y="-635"/>
            <a:ext cx="9143365" cy="68586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-358775" fontAlgn="auto"/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4. Our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original 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plan was to see a film at ... 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358775" fontAlgn="auto"/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original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adj.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1) first or earlist, initial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原先的</a:t>
            </a:r>
          </a:p>
          <a:p>
            <a:pPr indent="-358775" fontAlgn="auto"/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She got me back to the UK earlier than __________ scheduled.</a:t>
            </a:r>
          </a:p>
          <a:p>
            <a:pPr indent="-358775" fontAlgn="auto"/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(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adv.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起初，原来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 indent="-358775" fontAlgn="auto"/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358775" fontAlgn="auto"/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original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adj.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2) 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innovative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独创的</a:t>
            </a:r>
          </a:p>
          <a:p>
            <a:pPr indent="-358775" fontAlgn="auto"/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世界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向前发展是因为有那些愿意把自己独创的想法变为现实的人。</a:t>
            </a:r>
          </a:p>
          <a:p>
            <a:pPr indent="-358775" fontAlgn="auto"/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world moves on because of those who are ready to _____ ______ ________ _______ _____ reality.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7101840" y="931545"/>
            <a:ext cx="185420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originally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1803400" y="4883150"/>
            <a:ext cx="632460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turn 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their    original     ideas     into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15570" y="0"/>
            <a:ext cx="9027795" cy="6017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-358775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medium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adj.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中等的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，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中号</a:t>
            </a:r>
          </a:p>
          <a:p>
            <a:pPr indent="-358775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He is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of medium height/build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, neither too thin nor too fat. 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-358775" fontAlgn="auto">
              <a:lnSpc>
                <a:spcPct val="11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他中等身材，不胖也不瘦。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-358775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 medium-sized town</a:t>
            </a:r>
          </a:p>
          <a:p>
            <a:pPr indent="-358775" fontAlgn="auto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中等城镇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-358775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 the medium term</a:t>
            </a:r>
          </a:p>
          <a:p>
            <a:pPr indent="-358775" fontAlgn="auto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中期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8905" y="1760220"/>
            <a:ext cx="8750300" cy="38633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882775" indent="-1882775">
              <a:lnSpc>
                <a:spcPct val="11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make it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to succeed in reaching a place in time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能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够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出席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；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设法到达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marL="1524000" indent="-1524000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            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to be successful in your career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获得成功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</a:p>
          <a:p>
            <a:pPr marL="1882775" indent="-1882775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3) to survive after a serious illness or  accident 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渡过难关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-635" y="-635"/>
            <a:ext cx="9145270" cy="16357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-358775" fontAlgn="auto"/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6. When I called her, she said she might not be able to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make it 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to the cinema.</a:t>
            </a:r>
          </a:p>
          <a:p>
            <a:pPr indent="-358775" fontAlgn="auto"/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当我给她打电话时，她说她可能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去不了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电影院了。</a:t>
            </a:r>
            <a:endParaRPr 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35" y="132715"/>
            <a:ext cx="9143365" cy="59569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533400" indent="-533400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1) Frank was very ill, and the doctors didn’t think he’d </a:t>
            </a:r>
            <a:r>
              <a:rPr lang="en-US" altLang="zh-CN" sz="3200" b="1" u="sng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make it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</a:p>
          <a:p>
            <a:pPr marL="533400" indent="-533400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2) England looks less likely to </a:t>
            </a:r>
            <a:r>
              <a:rPr lang="en-US" altLang="zh-CN" sz="3200" b="1" u="sng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make it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to the finals.</a:t>
            </a:r>
          </a:p>
          <a:p>
            <a:pPr marL="533400" indent="-533400">
              <a:lnSpc>
                <a:spcPct val="110000"/>
              </a:lnSpc>
            </a:pP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marL="533400" indent="-533400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3) She </a:t>
            </a:r>
            <a:r>
              <a:rPr lang="en-US" altLang="zh-CN" sz="3200" b="1" u="sng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made it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to the airport just in time to catch her</a:t>
            </a:r>
          </a:p>
          <a:p>
            <a:pPr marL="533400" indent="-533400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  plane.</a:t>
            </a:r>
          </a:p>
          <a:p>
            <a:pPr marL="533400" indent="-533400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4) With blood pouring from his leg, he </a:t>
            </a:r>
            <a:r>
              <a:rPr lang="en-US" altLang="zh-CN" sz="3200" b="1" u="sng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made it</a:t>
            </a:r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to a </a:t>
            </a:r>
          </a:p>
          <a:p>
            <a:pPr marL="533400" indent="-533400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  nearby house.</a:t>
            </a:r>
          </a:p>
          <a:p>
            <a:pPr marL="533400" indent="-533400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5) </a:t>
            </a:r>
            <a:r>
              <a:rPr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 can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’</a:t>
            </a:r>
            <a:r>
              <a:rPr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 </a:t>
            </a:r>
            <a:r>
              <a:rPr sz="3200" b="1" u="sng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make it </a:t>
            </a:r>
            <a:r>
              <a:rPr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to the meeting tonight, but I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’</a:t>
            </a:r>
            <a:r>
              <a:rPr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ll be </a:t>
            </a:r>
            <a:endParaRPr lang="en-US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marL="533400" indent="-533400">
              <a:lnSpc>
                <a:spcPct val="11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  </a:t>
            </a:r>
            <a:r>
              <a:rPr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with you in spirit.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231197" y="684004"/>
            <a:ext cx="29635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渡过难关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30993" y="1755884"/>
            <a:ext cx="21177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获得成功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195002" y="2845550"/>
            <a:ext cx="21177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准时到达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231197" y="4426706"/>
            <a:ext cx="21177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设法到达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709035" y="5536057"/>
            <a:ext cx="49809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能够出席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；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设法到达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/>
      <p:bldP spid="7" grpId="0"/>
      <p:bldP spid="8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0"/>
            <a:ext cx="9144000" cy="8248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46405" indent="-446405">
              <a:lnSpc>
                <a:spcPct val="11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7. Today, however, I received a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horrible 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surprise.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63195" y="643890"/>
            <a:ext cx="8714740" cy="56210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-2057400" fontAlgn="auto"/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horrible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adj.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</a:p>
          <a:p>
            <a:pPr indent="-2057400" fontAlgn="auto"/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1)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3200" b="1" i="1">
                <a:latin typeface="Times New Roman Bold Italic" panose="02020503050405090304" charset="0"/>
                <a:cs typeface="Times New Roman Bold Italic" panose="02020503050405090304" charset="0"/>
              </a:rPr>
              <a:t>causing or likely to cause horror; shocking</a:t>
            </a:r>
            <a:r>
              <a:rPr lang="en-US" sz="3200" b="1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>
                <a:latin typeface="Times New Roman" panose="02020503050405090304" pitchFamily="18" charset="0"/>
                <a:cs typeface="Times New Roman" panose="02020503050405090304" pitchFamily="18" charset="0"/>
              </a:rPr>
              <a:t>骇人听闻的</a:t>
            </a:r>
            <a:r>
              <a:rPr lang="en-US" altLang="zh-CN" sz="3200" b="1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=</a:t>
            </a:r>
            <a:r>
              <a:rPr lang="en-US" altLang="zh-CN" sz="3200" b="1" i="1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 terrible, awful</a:t>
            </a:r>
            <a:endParaRPr lang="zh-CN" altLang="en-US" sz="3200" b="1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2057400" fontAlgn="auto"/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2)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very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unpleasant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可恶的，糟糕的</a:t>
            </a:r>
            <a:endParaRPr lang="zh-CN" altLang="en-US" sz="32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2057400" fontAlgn="auto"/>
            <a:endParaRPr 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2057400" fontAlgn="auto"/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这个噩梦太可怕，她不禁尖叫起来。</a:t>
            </a:r>
          </a:p>
          <a:p>
            <a:pPr indent="-533400" algn="l" fontAlgn="auto">
              <a:lnSpc>
                <a:spcPct val="11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nightmare was so horrible that she couldn’t help screaming.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0" y="0"/>
            <a:ext cx="8985885" cy="6000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057400" fontAlgn="auto"/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horror </a:t>
            </a:r>
            <a:r>
              <a:rPr lang="en-US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n.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惊恐，震惊；令人惊恐的事</a:t>
            </a:r>
            <a:endParaRPr lang="en-US" sz="3200" b="1" i="1" dirty="0">
              <a:solidFill>
                <a:srgbClr val="FF0000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 indent="-2057400" fontAlgn="auto"/>
            <a:r>
              <a:rPr 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 horror film</a:t>
            </a:r>
          </a:p>
          <a:p>
            <a:pPr indent="-2057400" fontAlgn="auto"/>
            <a:r>
              <a:rPr 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in horror</a:t>
            </a:r>
          </a:p>
          <a:p>
            <a:pPr indent="-2057400" fontAlgn="auto"/>
            <a:r>
              <a:rPr 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to sb’s horror</a:t>
            </a:r>
            <a:endParaRPr lang="en-US" sz="3200" b="1" dirty="0">
              <a:solidFill>
                <a:schemeClr val="tx1"/>
              </a:solidFill>
              <a:latin typeface="Arial Bold" panose="020B0604020202090204" charset="0"/>
              <a:cs typeface="Times New Roman Bold Italic" panose="02020503050405090304" charset="0"/>
            </a:endParaRPr>
          </a:p>
          <a:p>
            <a:pPr indent="-2057400" fontAlgn="auto"/>
            <a:endParaRPr lang="zh-CN" altLang="en-US" sz="3200" b="1" dirty="0">
              <a:solidFill>
                <a:schemeClr val="tx1"/>
              </a:solidFill>
              <a:latin typeface="Arial Bold" panose="020B0604020202090204" charset="0"/>
              <a:cs typeface="Times New Roman Bold Italic" panose="02020503050405090304" charset="0"/>
            </a:endParaRPr>
          </a:p>
          <a:p>
            <a:pPr indent="-2057400" fontAlgn="auto"/>
            <a:r>
              <a:rPr lang="zh-CN" altLang="en-US" sz="3200" b="1" dirty="0">
                <a:solidFill>
                  <a:schemeClr val="tx1"/>
                </a:solidFill>
                <a:latin typeface="Arial Bold" panose="020B0604020202090204" charset="0"/>
                <a:cs typeface="Times New Roman Bold Italic" panose="02020503050405090304" charset="0"/>
              </a:rPr>
              <a:t>让船长惊恐的是，他发现船正在下沉。</a:t>
            </a:r>
          </a:p>
          <a:p>
            <a:pPr indent="-2057400" fontAlgn="auto"/>
            <a:r>
              <a:rPr 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To the captain’s horror, he found that the ship was sinking.</a:t>
            </a:r>
          </a:p>
          <a:p>
            <a:pPr indent="-2057400" fontAlgn="auto"/>
            <a:endParaRPr lang="en-US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-2057400" fontAlgn="auto"/>
            <a:r>
              <a:rPr lang="en-US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The thought of </a:t>
            </a:r>
            <a:r>
              <a:rPr 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making a speech in front of so many people </a:t>
            </a:r>
            <a:r>
              <a:rPr lang="en-US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filled me with great horror</a:t>
            </a:r>
            <a:r>
              <a:rPr 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.</a:t>
            </a:r>
            <a:endParaRPr lang="en-US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-2057400" fontAlgn="auto"/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一想到要在那么多人面前演讲，我就一阵害怕。</a:t>
            </a:r>
            <a:r>
              <a:rPr lang="en-US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 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3219450" y="493395"/>
            <a:ext cx="3032125" cy="156845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一部恐怖片</a:t>
            </a:r>
          </a:p>
          <a:p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惊恐地</a:t>
            </a:r>
          </a:p>
          <a:p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令某人恐惧的是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35" y="85090"/>
            <a:ext cx="9066530" cy="6451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46405" indent="-446405">
              <a:lnSpc>
                <a:spcPct val="11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8. Instead of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recovering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at home, ...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95250" y="849630"/>
            <a:ext cx="8703310" cy="39909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-533400" fontAlgn="auto">
              <a:lnSpc>
                <a:spcPct val="11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After a few days of fever, she began to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recover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indent="-533400" fontAlgn="auto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1)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vi.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return to normal situation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恢复健康，常态</a:t>
            </a:r>
          </a:p>
          <a:p>
            <a:pPr indent="-533400" fontAlgn="auto">
              <a:lnSpc>
                <a:spcPct val="11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从心爱的人去世的痛苦中恢复过来可能要花很多年。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-533400" fontAlgn="auto">
              <a:lnSpc>
                <a:spcPct val="11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It can take many years to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recover from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the death of a loved one.</a:t>
            </a:r>
          </a:p>
          <a:p>
            <a:pPr indent="-1882775" fontAlgn="auto">
              <a:lnSpc>
                <a:spcPct val="11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2)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sz="3200" b="1" i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vt.</a:t>
            </a:r>
            <a:r>
              <a:rPr lang="en-US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sz="3200" b="1" i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to get back </a:t>
            </a:r>
            <a:r>
              <a:rPr lang="en-US" sz="3200" b="1" i="1" dirty="0" err="1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sth</a:t>
            </a:r>
            <a:r>
              <a:rPr lang="en-US" sz="3200" b="1" i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 that was taken from you, lost, or almost destroyed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重新获得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;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寻回</a:t>
            </a:r>
          </a:p>
          <a:p>
            <a:pPr indent="-1882775" fontAlgn="auto">
              <a:lnSpc>
                <a:spcPct val="11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Four paintings stolen from the gallery have been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recover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ed.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26571" y="415926"/>
            <a:ext cx="8414658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She seemed upset but quickly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recovered herself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她显得心烦意乱，但很快静下心来。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3)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to get back the use of your senses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恢复</a:t>
            </a: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recovery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恢复；复苏；康复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My father has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made a full recovery from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the operation.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我父亲手术后已完全康复了。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an economic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recovery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经济复苏</a:t>
            </a:r>
            <a:endParaRPr 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84150" y="202565"/>
            <a:ext cx="8703945" cy="27495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9. I was so angry that I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avoid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ed her during school all day.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avoid sb.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避开某人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avoid doing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sth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避免干某事</a:t>
            </a:r>
          </a:p>
          <a:p>
            <a:pPr>
              <a:lnSpc>
                <a:spcPct val="120000"/>
              </a:lnSpc>
            </a:pPr>
            <a:endParaRPr 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446405" fontAlgn="auto">
              <a:lnSpc>
                <a:spcPct val="11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...I still don’t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feel like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responding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to any of her online messages.</a:t>
            </a:r>
            <a:endParaRPr 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446405" fontAlgn="auto">
              <a:lnSpc>
                <a:spcPct val="11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想做某事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feel like doing sth</a:t>
            </a:r>
            <a:endParaRPr 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endParaRPr 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35" y="32385"/>
            <a:ext cx="9144000" cy="6585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46405" fontAlgn="auto">
              <a:lnSpc>
                <a:spcPct val="11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10. The stress of this situation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is killing me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 and I’m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at a loss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what to do next.</a:t>
            </a:r>
          </a:p>
          <a:p>
            <a:pPr indent="-446405" fontAlgn="auto">
              <a:lnSpc>
                <a:spcPct val="11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sth is killing sb 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= sth causes sb pain or suffering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使痛苦</a:t>
            </a:r>
          </a:p>
          <a:p>
            <a:pPr indent="-446405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My feet are killing me. </a:t>
            </a:r>
          </a:p>
          <a:p>
            <a:pPr indent="-446405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 am killing myself laughing. / Stop it! You’re killing me.</a:t>
            </a:r>
          </a:p>
          <a:p>
            <a:pPr indent="-446405" fontAlgn="auto">
              <a:lnSpc>
                <a:spcPct val="11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446405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at a loss what to do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不知所措</a:t>
            </a:r>
          </a:p>
          <a:p>
            <a:pPr indent="-446405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His comments left me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at a (complete) loss for words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  <a:endParaRPr lang="en-US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-446405" fontAlgn="auto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他的评论让我完全哑口无言。</a:t>
            </a:r>
          </a:p>
          <a:p>
            <a:pPr indent="-446405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was at a loss to understand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what had happened.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49860" y="259080"/>
            <a:ext cx="8717915" cy="57562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14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respond </a:t>
            </a:r>
            <a:r>
              <a:rPr lang="en-US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vt.&amp;vi.</a:t>
            </a:r>
            <a:r>
              <a:rPr lang="en-US" sz="32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to react to </a:t>
            </a:r>
            <a:r>
              <a:rPr lang="en-US" sz="3200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sth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反应，回复，回答</a:t>
            </a:r>
          </a:p>
          <a:p>
            <a:pPr>
              <a:lnSpc>
                <a:spcPct val="114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respond to sth. with/by… </a:t>
            </a:r>
            <a:r>
              <a:rPr lang="zh-CN" altLang="en-US" sz="3200" b="1" dirty="0">
                <a:latin typeface="+mn-ea"/>
                <a:cs typeface="Times New Roman" panose="02020503050405090304" pitchFamily="18" charset="0"/>
              </a:rPr>
              <a:t>（以</a:t>
            </a:r>
            <a:r>
              <a:rPr lang="en-US" altLang="zh-CN" sz="3200" b="1" dirty="0">
                <a:latin typeface="+mn-ea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latin typeface="+mn-ea"/>
                <a:cs typeface="Times New Roman" panose="02020503050405090304" pitchFamily="18" charset="0"/>
              </a:rPr>
              <a:t>）对</a:t>
            </a:r>
            <a:r>
              <a:rPr lang="en-US" altLang="zh-CN" sz="3200" b="1" dirty="0">
                <a:latin typeface="+mn-ea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latin typeface="+mn-ea"/>
                <a:cs typeface="Times New Roman" panose="02020503050405090304" pitchFamily="18" charset="0"/>
              </a:rPr>
              <a:t>作出回应</a:t>
            </a:r>
            <a:r>
              <a:rPr lang="en-US" altLang="zh-CN" sz="3200" b="1" dirty="0">
                <a:latin typeface="+mn-ea"/>
                <a:cs typeface="Times New Roman" panose="02020503050405090304" pitchFamily="18" charset="0"/>
              </a:rPr>
              <a:t>/ </a:t>
            </a:r>
            <a:r>
              <a:rPr lang="zh-CN" altLang="en-US" sz="3200" b="1" dirty="0">
                <a:latin typeface="+mn-ea"/>
                <a:cs typeface="Times New Roman" panose="02020503050405090304" pitchFamily="18" charset="0"/>
              </a:rPr>
              <a:t>反应</a:t>
            </a:r>
            <a:endParaRPr lang="en-US" sz="3200" b="1" dirty="0">
              <a:latin typeface="+mn-ea"/>
              <a:cs typeface="Times New Roman" panose="02020503050405090304" pitchFamily="18" charset="0"/>
            </a:endParaRPr>
          </a:p>
          <a:p>
            <a:pPr>
              <a:lnSpc>
                <a:spcPct val="114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respond+ that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从句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回答说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4000"/>
              </a:lnSpc>
            </a:pPr>
            <a:endParaRPr 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4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response </a:t>
            </a:r>
            <a:r>
              <a:rPr lang="en-US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回答；反应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4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response to </a:t>
            </a:r>
            <a:r>
              <a:rPr lang="zh-CN" altLang="en-US" sz="3200" b="1" dirty="0">
                <a:latin typeface="+mn-ea"/>
                <a:cs typeface="Times New Roman" panose="02020503050405090304" pitchFamily="18" charset="0"/>
              </a:rPr>
              <a:t>作为对</a:t>
            </a:r>
            <a:r>
              <a:rPr lang="en-US" altLang="zh-CN" sz="3200" b="1" dirty="0">
                <a:latin typeface="+mn-ea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latin typeface="+mn-ea"/>
                <a:cs typeface="Times New Roman" panose="02020503050405090304" pitchFamily="18" charset="0"/>
              </a:rPr>
              <a:t>的答复</a:t>
            </a:r>
            <a:r>
              <a:rPr lang="en-US" altLang="zh-CN" sz="3200" b="1" dirty="0">
                <a:latin typeface="+mn-ea"/>
                <a:cs typeface="Times New Roman" panose="02020503050405090304" pitchFamily="18" charset="0"/>
              </a:rPr>
              <a:t>/ </a:t>
            </a:r>
            <a:r>
              <a:rPr lang="zh-CN" altLang="en-US" sz="3200" b="1" dirty="0">
                <a:latin typeface="+mn-ea"/>
                <a:cs typeface="Times New Roman" panose="02020503050405090304" pitchFamily="18" charset="0"/>
              </a:rPr>
              <a:t>反应</a:t>
            </a:r>
            <a:endParaRPr lang="en-US" altLang="zh-CN" sz="3200" b="1" dirty="0">
              <a:latin typeface="+mn-ea"/>
              <a:cs typeface="Times New Roman" panose="02020503050405090304" pitchFamily="18" charset="0"/>
            </a:endParaRPr>
          </a:p>
          <a:p>
            <a:pPr>
              <a:lnSpc>
                <a:spcPct val="114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make a response to </a:t>
            </a:r>
            <a:r>
              <a:rPr lang="zh-CN" altLang="en-US" sz="3200" b="1" dirty="0">
                <a:latin typeface="+mj-ea"/>
                <a:ea typeface="+mj-ea"/>
                <a:cs typeface="Times New Roman" panose="02020503050405090304" pitchFamily="18" charset="0"/>
              </a:rPr>
              <a:t>对</a:t>
            </a:r>
            <a:r>
              <a:rPr lang="en-US" altLang="zh-CN" sz="3200" b="1" dirty="0">
                <a:latin typeface="+mj-ea"/>
                <a:ea typeface="+mj-ea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latin typeface="+mj-ea"/>
                <a:ea typeface="+mj-ea"/>
                <a:cs typeface="Times New Roman" panose="02020503050405090304" pitchFamily="18" charset="0"/>
              </a:rPr>
              <a:t>作出回应</a:t>
            </a:r>
            <a:r>
              <a:rPr lang="en-US" altLang="zh-CN" sz="3200" b="1" dirty="0">
                <a:latin typeface="+mj-ea"/>
                <a:ea typeface="+mj-ea"/>
                <a:cs typeface="Times New Roman" panose="02020503050405090304" pitchFamily="18" charset="0"/>
              </a:rPr>
              <a:t>/ </a:t>
            </a:r>
            <a:r>
              <a:rPr lang="zh-CN" altLang="en-US" sz="3200" b="1" dirty="0">
                <a:latin typeface="+mj-ea"/>
                <a:ea typeface="+mj-ea"/>
                <a:cs typeface="Times New Roman" panose="02020503050405090304" pitchFamily="18" charset="0"/>
              </a:rPr>
              <a:t>反应</a:t>
            </a:r>
            <a:endParaRPr 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3287" y="755027"/>
            <a:ext cx="9285513" cy="45796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用适当的介词填空。</a:t>
            </a:r>
          </a:p>
          <a:p>
            <a:pPr marL="446405" indent="-446405">
              <a:lnSpc>
                <a:spcPct val="114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On hearing the bad news, the man responded ______ hitting his hand hard against the wall.</a:t>
            </a:r>
          </a:p>
          <a:p>
            <a:pPr marL="358775" indent="-358775">
              <a:lnSpc>
                <a:spcPct val="114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When the teacher asked Tom to respond ______ the question, he only stood there saying nothing.</a:t>
            </a:r>
          </a:p>
          <a:p>
            <a:pPr marL="358775" indent="-358775">
              <a:lnSpc>
                <a:spcPct val="114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After she received my message, she responded ______ a phone call in order to discuss the problem as soon as possible.</a:t>
            </a:r>
          </a:p>
        </p:txBody>
      </p:sp>
      <p:sp>
        <p:nvSpPr>
          <p:cNvPr id="5" name="矩形 4"/>
          <p:cNvSpPr/>
          <p:nvPr/>
        </p:nvSpPr>
        <p:spPr>
          <a:xfrm>
            <a:off x="900897" y="1849437"/>
            <a:ext cx="67564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by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7" name="矩形 6"/>
          <p:cNvSpPr/>
          <p:nvPr/>
        </p:nvSpPr>
        <p:spPr>
          <a:xfrm>
            <a:off x="8242154" y="2461905"/>
            <a:ext cx="584835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</a:t>
            </a:r>
            <a:r>
              <a:rPr lang="en-US" dirty="0"/>
              <a:t> </a:t>
            </a:r>
          </a:p>
        </p:txBody>
      </p:sp>
      <p:sp>
        <p:nvSpPr>
          <p:cNvPr id="8" name="矩形 7"/>
          <p:cNvSpPr/>
          <p:nvPr/>
        </p:nvSpPr>
        <p:spPr>
          <a:xfrm>
            <a:off x="756626" y="4093422"/>
            <a:ext cx="950595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with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35" y="111760"/>
            <a:ext cx="8943340" cy="64496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-446405" fontAlgn="auto"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12. But this friendship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is worth saving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: eight years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is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 long time.</a:t>
            </a:r>
          </a:p>
          <a:p>
            <a:pPr indent="-446405" fontAlgn="auto">
              <a:lnSpc>
                <a:spcPct val="120000"/>
              </a:lnSpc>
            </a:pPr>
            <a:endParaRPr 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446405" fontAlgn="auto"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Speaking of jogging, three miles </a:t>
            </a:r>
            <a:r>
              <a:rPr lang="en-US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is 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 long distance for me.</a:t>
            </a:r>
          </a:p>
          <a:p>
            <a:pPr indent="-446405" fontAlgn="auto"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To me, ten dollars </a:t>
            </a:r>
            <a:r>
              <a:rPr lang="en-US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is 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 big sum of money.</a:t>
            </a:r>
          </a:p>
          <a:p>
            <a:pPr indent="-446405" fontAlgn="auto">
              <a:lnSpc>
                <a:spcPct val="120000"/>
              </a:lnSpc>
            </a:pPr>
            <a:endParaRPr 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153670"/>
            <a:ext cx="8982710" cy="36175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46405" indent="-446405">
              <a:lnSpc>
                <a:spcPct val="12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【拓展】</a:t>
            </a:r>
            <a:endParaRPr lang="en-US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6405" indent="-446405"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You may find you have </a:t>
            </a:r>
            <a:r>
              <a:rPr lang="en-US" sz="3200" b="1" u="sng" dirty="0">
                <a:latin typeface="Times New Roman" panose="02020503050405090304" pitchFamily="18" charset="0"/>
                <a:cs typeface="Times New Roman" panose="02020503050405090304" pitchFamily="18" charset="0"/>
              </a:rPr>
              <a:t>more than one strong learning style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which </a:t>
            </a:r>
            <a:r>
              <a:rPr lang="en-US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is 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 bonus.</a:t>
            </a:r>
          </a:p>
          <a:p>
            <a:pPr marL="446405" indent="-446405">
              <a:lnSpc>
                <a:spcPct val="120000"/>
              </a:lnSpc>
            </a:pPr>
            <a:r>
              <a:rPr lang="en-US" sz="3200" b="1" u="sng" dirty="0">
                <a:latin typeface="Times New Roman" panose="02020503050405090304" pitchFamily="18" charset="0"/>
                <a:cs typeface="Times New Roman" panose="02020503050405090304" pitchFamily="18" charset="0"/>
              </a:rPr>
              <a:t>Many a student and many a teacher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is 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watching an exciting basketball match.</a:t>
            </a:r>
          </a:p>
          <a:p>
            <a:pPr marL="446405" indent="-446405">
              <a:lnSpc>
                <a:spcPct val="120000"/>
              </a:lnSpc>
            </a:pPr>
            <a:r>
              <a:rPr lang="en-US" sz="3200" b="1" u="sng" dirty="0">
                <a:latin typeface="Times New Roman" panose="02020503050405090304" pitchFamily="18" charset="0"/>
                <a:cs typeface="Times New Roman" panose="02020503050405090304" pitchFamily="18" charset="0"/>
              </a:rPr>
              <a:t>More members than one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______  against your plan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696642" y="3179807"/>
            <a:ext cx="74676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+mn-ea"/>
              </a:rPr>
              <a:t>are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33045" y="226060"/>
            <a:ext cx="8749665" cy="55689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46405" indent="-446405">
              <a:lnSpc>
                <a:spcPct val="12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【拓展】</a:t>
            </a:r>
            <a:endParaRPr lang="en-US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6405" indent="-446405"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(1) a number of +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复数名词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表示“许多……”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	the number of +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复数名词，表示“……的数量”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(2) the rest, the remaining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修饰不可数名词，谓语单数；修饰可数名词复数，谓语复数。</a:t>
            </a:r>
          </a:p>
          <a:p>
            <a:pPr marL="446405" indent="-446405">
              <a:lnSpc>
                <a:spcPct val="120000"/>
              </a:lnSpc>
            </a:pP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rest of the money ____ hidden under the pillow.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Sixty per cent of the boys in my class _____ football fans.</a:t>
            </a:r>
          </a:p>
        </p:txBody>
      </p:sp>
      <p:sp>
        <p:nvSpPr>
          <p:cNvPr id="6" name="文本框 4"/>
          <p:cNvSpPr txBox="1"/>
          <p:nvPr/>
        </p:nvSpPr>
        <p:spPr>
          <a:xfrm>
            <a:off x="4344852" y="4302487"/>
            <a:ext cx="45402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+mn-ea"/>
              </a:rPr>
              <a:t>is</a:t>
            </a:r>
          </a:p>
        </p:txBody>
      </p:sp>
      <p:sp>
        <p:nvSpPr>
          <p:cNvPr id="2" name="文本框 4"/>
          <p:cNvSpPr txBox="1"/>
          <p:nvPr/>
        </p:nvSpPr>
        <p:spPr>
          <a:xfrm>
            <a:off x="6926127" y="5469617"/>
            <a:ext cx="74676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+mn-ea"/>
              </a:rPr>
              <a:t>are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35" y="144145"/>
            <a:ext cx="9144000" cy="58527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46405" indent="-446405"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1. A survey of the opinions of experts ______ (show) that three hours of outdoor exercise a week ____ (be) good for one’s health.</a:t>
            </a:r>
          </a:p>
          <a:p>
            <a:pPr marL="446405" indent="-446405"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2. Of the nineteen recognized polar bear subpopulations, three are decreasing, six ____ (be) stable, one is increasing, and nine lack enough data.</a:t>
            </a:r>
          </a:p>
          <a:p>
            <a:pPr marL="446405" indent="-446405"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3. The publication of Great Expectations, which ____ (be) both widely reviewed and highly praised, strengthened Dicken’s status as a leading novelist.</a:t>
            </a:r>
          </a:p>
          <a:p>
            <a:pPr marL="446405" indent="-446405">
              <a:lnSpc>
                <a:spcPct val="120000"/>
              </a:lnSpc>
            </a:pPr>
            <a:endParaRPr 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692447" y="256267"/>
            <a:ext cx="122174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+mn-ea"/>
              </a:rPr>
              <a:t>shows</a:t>
            </a:r>
          </a:p>
        </p:txBody>
      </p:sp>
      <p:sp>
        <p:nvSpPr>
          <p:cNvPr id="2" name="文本框 4"/>
          <p:cNvSpPr txBox="1"/>
          <p:nvPr/>
        </p:nvSpPr>
        <p:spPr>
          <a:xfrm>
            <a:off x="1776277" y="1418317"/>
            <a:ext cx="45402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+mn-ea"/>
              </a:rPr>
              <a:t>is</a:t>
            </a:r>
          </a:p>
        </p:txBody>
      </p:sp>
      <p:sp>
        <p:nvSpPr>
          <p:cNvPr id="3" name="文本框 4"/>
          <p:cNvSpPr txBox="1"/>
          <p:nvPr/>
        </p:nvSpPr>
        <p:spPr>
          <a:xfrm>
            <a:off x="7698922" y="2583542"/>
            <a:ext cx="74676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+mn-ea"/>
              </a:rPr>
              <a:t>are</a:t>
            </a:r>
          </a:p>
        </p:txBody>
      </p:sp>
      <p:sp>
        <p:nvSpPr>
          <p:cNvPr id="6" name="文本框 4"/>
          <p:cNvSpPr txBox="1"/>
          <p:nvPr/>
        </p:nvSpPr>
        <p:spPr>
          <a:xfrm>
            <a:off x="512627" y="4860652"/>
            <a:ext cx="83756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+mn-ea"/>
              </a:rPr>
              <a:t>was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  <p:bldP spid="3" grpId="0"/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73375" y="372913"/>
            <a:ext cx="8509000" cy="2061210"/>
          </a:xfrm>
          <a:prstGeom prst="rect">
            <a:avLst/>
          </a:prstGeom>
          <a:noFill/>
          <a:ln w="28575" cmpd="sng">
            <a:noFill/>
            <a:prstDash val="solid"/>
          </a:ln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+mn-ea"/>
              </a:rPr>
              <a:t>worth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+mj-ea"/>
                <a:cs typeface="Times New Roman Bold Italic" panose="02020503050405090304" charset="0"/>
                <a:sym typeface="+mn-ea"/>
              </a:rPr>
              <a:t>adj.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+mn-ea"/>
              </a:rPr>
              <a:t>用法同介词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+mj-ea"/>
              <a:cs typeface="Times New Roman" panose="02020503050405090304" pitchFamily="18" charset="0"/>
              <a:sym typeface="+mn-ea"/>
            </a:endParaRPr>
          </a:p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+mn-ea"/>
              </a:rPr>
              <a:t>be (well) worth doing: </a:t>
            </a:r>
            <a:r>
              <a:rPr lang="zh-CN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+mn-ea"/>
              </a:rPr>
              <a:t>某事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+mn-ea"/>
              </a:rPr>
              <a:t>(</a:t>
            </a:r>
            <a:r>
              <a:rPr lang="zh-CN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+mn-ea"/>
              </a:rPr>
              <a:t>很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+mn-ea"/>
              </a:rPr>
              <a:t>)</a:t>
            </a:r>
            <a:r>
              <a:rPr lang="zh-CN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+mn-ea"/>
              </a:rPr>
              <a:t>值得做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+mn-ea"/>
              </a:rPr>
              <a:t> </a:t>
            </a:r>
          </a:p>
          <a:p>
            <a:pPr marL="4038600" indent="-4038600"/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+mn-ea"/>
              </a:rPr>
              <a:t>                                       (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+mn-ea"/>
              </a:rPr>
              <a:t>主动表被动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+mn-ea"/>
              </a:rPr>
              <a:t>)</a:t>
            </a:r>
          </a:p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+mn-ea"/>
              </a:rPr>
              <a:t>be worth+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+mn-ea"/>
              </a:rPr>
              <a:t>n. </a:t>
            </a:r>
            <a:endParaRPr lang="zh-CN" altLang="en-US" sz="3200" b="1" i="1" dirty="0">
              <a:solidFill>
                <a:srgbClr val="FF0000"/>
              </a:solidFill>
              <a:latin typeface="Times New Roman" panose="02020503050405090304" pitchFamily="18" charset="0"/>
              <a:ea typeface="+mj-ea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73375" y="2464527"/>
            <a:ext cx="8467090" cy="4018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完成句子。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ea typeface="+mj-ea"/>
              <a:cs typeface="Times New Roman" panose="02020503050405090304" pitchFamily="18" charset="0"/>
            </a:endParaRPr>
          </a:p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1)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This book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__________________.</a:t>
            </a:r>
            <a:r>
              <a:rPr lang="zh-CN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 </a:t>
            </a:r>
            <a:endParaRPr lang="en-US" altLang="zh-CN" sz="3200" b="1" dirty="0">
              <a:solidFill>
                <a:srgbClr val="000000"/>
              </a:solidFill>
              <a:latin typeface="Times New Roman" panose="02020503050405090304" pitchFamily="18" charset="0"/>
              <a:ea typeface="+mj-ea"/>
              <a:cs typeface="Times New Roman" panose="02020503050405090304" pitchFamily="18" charset="0"/>
            </a:endParaRPr>
          </a:p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     </a:t>
            </a:r>
            <a:r>
              <a:rPr lang="zh-CN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这本书很值得一读。</a:t>
            </a:r>
          </a:p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2) </a:t>
            </a:r>
            <a:r>
              <a:rPr lang="zh-CN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The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plan</a:t>
            </a:r>
            <a:r>
              <a:rPr lang="zh-CN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____________</a:t>
            </a:r>
            <a:r>
              <a:rPr lang="zh-CN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.</a:t>
            </a:r>
            <a:endParaRPr lang="en-US" altLang="zh-CN" sz="3200" b="1" dirty="0">
              <a:solidFill>
                <a:srgbClr val="000000"/>
              </a:solidFill>
              <a:latin typeface="Times New Roman" panose="02020503050405090304" pitchFamily="18" charset="0"/>
              <a:ea typeface="+mj-ea"/>
              <a:cs typeface="Times New Roman" panose="02020503050405090304" pitchFamily="18" charset="0"/>
            </a:endParaRPr>
          </a:p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     </a:t>
            </a:r>
            <a:r>
              <a:rPr lang="zh-CN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这个计划值得一试。</a:t>
            </a:r>
          </a:p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3) 度假花了不少钱，但是很值。</a:t>
            </a:r>
          </a:p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T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he holiday cost a lot, but it was worth it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.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395620" y="3017058"/>
            <a:ext cx="403225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+mn-ea"/>
              </a:rPr>
              <a:t>is well worth reading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295707" y="4183107"/>
            <a:ext cx="262064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+mn-ea"/>
              </a:rPr>
              <a:t>is worth a try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+mj-ea"/>
              <a:cs typeface="Times New Roman" panose="02020503050405090304" pitchFamily="18" charset="0"/>
              <a:sym typeface="+mn-ea"/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0" y="66675"/>
            <a:ext cx="8972550" cy="5015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1. 评委、裁判 n.</a:t>
            </a:r>
          </a:p>
          <a:p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2. 从手术中恢复</a:t>
            </a:r>
          </a:p>
          <a:p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3. 一想某事就让我很惊恐</a:t>
            </a:r>
          </a:p>
          <a:p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4. 中等身材</a:t>
            </a:r>
          </a:p>
          <a:p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5. 哑口无言</a:t>
            </a:r>
          </a:p>
          <a:p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6. 对某人有高期望</a:t>
            </a:r>
          </a:p>
          <a:p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7. 重视他的努力</a:t>
            </a:r>
          </a:p>
          <a:p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8. 收拾心情，收拾残局</a:t>
            </a:r>
          </a:p>
          <a:p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9. 答复他的在线消息</a:t>
            </a:r>
          </a:p>
          <a:p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10. 为某事道歉</a:t>
            </a:r>
          </a:p>
        </p:txBody>
      </p:sp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0" y="17145"/>
            <a:ext cx="8972550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11.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视频是学习外语的一种好手段。</a:t>
            </a:r>
          </a:p>
          <a:p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12. 我希望他们可以更灵活一点，这样我就可以做出自己的选择。</a:t>
            </a:r>
          </a:p>
          <a:p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13. 上学和放松同等重要。</a:t>
            </a:r>
          </a:p>
          <a:p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14. No one knows for sure why adolescence is unique ______ humans.</a:t>
            </a:r>
          </a:p>
          <a:p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15. As is often the case, she burns the midnight oil to meet the deadline.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翻译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endParaRPr 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73375" y="372913"/>
            <a:ext cx="8509000" cy="6057265"/>
          </a:xfrm>
          <a:prstGeom prst="rect">
            <a:avLst/>
          </a:prstGeom>
          <a:noFill/>
          <a:ln w="28575" cmpd="sng">
            <a:noFill/>
            <a:prstDash val="solid"/>
          </a:ln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+mn-ea"/>
              </a:rPr>
              <a:t>这主意值得考虑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+mn-ea"/>
              </a:rPr>
              <a:t>。</a:t>
            </a:r>
          </a:p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+mn-ea"/>
              </a:rPr>
              <a:t>This idea is worth considering.</a:t>
            </a:r>
          </a:p>
          <a:p>
            <a:pPr>
              <a:lnSpc>
                <a:spcPct val="114000"/>
              </a:lnSpc>
            </a:pPr>
            <a:endParaRPr lang="en-US" altLang="zh-CN" sz="3200" b="1" dirty="0">
              <a:solidFill>
                <a:srgbClr val="000000"/>
              </a:solidFill>
              <a:latin typeface="Times New Roman" panose="02020503050405090304" pitchFamily="18" charset="0"/>
              <a:ea typeface="+mj-ea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+mn-ea"/>
              </a:rPr>
              <a:t>这不值得费时费力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+mn-ea"/>
              </a:rPr>
              <a:t>。</a:t>
            </a:r>
          </a:p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+mn-ea"/>
              </a:rPr>
              <a:t>It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+mn-ea"/>
              </a:rPr>
              <a:t>wasn't worth the time and effort.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+mj-ea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14000"/>
              </a:lnSpc>
            </a:pPr>
            <a:endParaRPr lang="en-US" altLang="zh-CN" sz="3200" b="1" dirty="0">
              <a:solidFill>
                <a:srgbClr val="000000"/>
              </a:solidFill>
              <a:latin typeface="Times New Roman" panose="02020503050405090304" pitchFamily="18" charset="0"/>
              <a:ea typeface="+mj-ea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+mn-ea"/>
              </a:rPr>
              <a:t>度假花了不少钱，但是很值。</a:t>
            </a:r>
            <a:endParaRPr lang="en-US" altLang="zh-CN" sz="3200" b="1" dirty="0">
              <a:solidFill>
                <a:srgbClr val="000000"/>
              </a:solidFill>
              <a:latin typeface="Times New Roman" panose="02020503050405090304" pitchFamily="18" charset="0"/>
              <a:ea typeface="+mj-ea"/>
              <a:cs typeface="Times New Roman" panose="02020503050405090304" pitchFamily="18" charset="0"/>
            </a:endParaRPr>
          </a:p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+mn-ea"/>
              </a:rPr>
              <a:t>T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+mn-ea"/>
              </a:rPr>
              <a:t>he holiday cost a lot, but it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+mn-ea"/>
              </a:rPr>
              <a:t>was worth it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+mn-ea"/>
              </a:rPr>
              <a:t>.</a:t>
            </a:r>
            <a:endParaRPr lang="en-US" sz="3200" b="1" dirty="0">
              <a:solidFill>
                <a:srgbClr val="FF0000"/>
              </a:solidFill>
              <a:latin typeface="Times New Roman Bold" panose="02020503050405090304" charset="0"/>
              <a:ea typeface="+mj-ea"/>
              <a:cs typeface="Times New Roman Bold" panose="02020503050405090304" charset="0"/>
              <a:sym typeface="+mn-ea"/>
            </a:endParaRPr>
          </a:p>
          <a:p>
            <a:endParaRPr lang="en-US" sz="3200" b="1" dirty="0">
              <a:solidFill>
                <a:srgbClr val="FF0000"/>
              </a:solidFill>
              <a:latin typeface="Times New Roman Bold" panose="02020503050405090304" charset="0"/>
              <a:ea typeface="+mj-ea"/>
              <a:cs typeface="Times New Roman Bold" panose="02020503050405090304" charset="0"/>
              <a:sym typeface="+mn-ea"/>
            </a:endParaRPr>
          </a:p>
          <a:p>
            <a:r>
              <a:rPr lang="en-US" sz="3200" b="1" dirty="0">
                <a:solidFill>
                  <a:srgbClr val="FF0000"/>
                </a:solidFill>
                <a:latin typeface="Times New Roman Bold" panose="02020503050405090304" charset="0"/>
                <a:ea typeface="+mj-ea"/>
                <a:cs typeface="Times New Roman Bold" panose="02020503050405090304" charset="0"/>
                <a:sym typeface="+mn-ea"/>
              </a:rPr>
              <a:t>T</a:t>
            </a:r>
            <a:r>
              <a:rPr sz="3200" b="1" dirty="0">
                <a:solidFill>
                  <a:srgbClr val="FF0000"/>
                </a:solidFill>
                <a:latin typeface="Times New Roman Bold" panose="02020503050405090304" charset="0"/>
                <a:ea typeface="+mj-ea"/>
                <a:cs typeface="Times New Roman Bold" panose="02020503050405090304" charset="0"/>
                <a:sym typeface="+mn-ea"/>
              </a:rPr>
              <a:t>he land </a:t>
            </a:r>
            <a:r>
              <a:rPr sz="3200" b="1" u="sng" dirty="0">
                <a:solidFill>
                  <a:srgbClr val="FF0000"/>
                </a:solidFill>
                <a:latin typeface="Times New Roman Bold" panose="02020503050405090304" charset="0"/>
                <a:ea typeface="+mj-ea"/>
                <a:cs typeface="Times New Roman Bold" panose="02020503050405090304" charset="0"/>
                <a:sym typeface="+mn-ea"/>
              </a:rPr>
              <a:t>is worth millions</a:t>
            </a:r>
            <a:r>
              <a:rPr lang="en-US" sz="3200" b="1" dirty="0">
                <a:solidFill>
                  <a:srgbClr val="FF0000"/>
                </a:solidFill>
                <a:latin typeface="Times New Roman Bold" panose="02020503050405090304" charset="0"/>
                <a:ea typeface="+mj-ea"/>
                <a:cs typeface="Times New Roman Bold" panose="02020503050405090304" charset="0"/>
                <a:sym typeface="+mn-ea"/>
              </a:rPr>
              <a:t>.</a:t>
            </a:r>
            <a:endParaRPr sz="3200" b="1" dirty="0">
              <a:solidFill>
                <a:srgbClr val="FF0000"/>
              </a:solidFill>
              <a:latin typeface="Times New Roman Bold" panose="02020503050405090304" charset="0"/>
              <a:ea typeface="+mj-ea"/>
              <a:cs typeface="Times New Roman Bold" panose="02020503050405090304" charset="0"/>
              <a:sym typeface="+mn-ea"/>
            </a:endParaRPr>
          </a:p>
          <a:p>
            <a:r>
              <a:rPr sz="3200" b="1" dirty="0">
                <a:latin typeface="Times New Roman Regular" panose="02020503050405090304" charset="0"/>
                <a:ea typeface="+mj-ea"/>
                <a:cs typeface="Times New Roman Regular" panose="02020503050405090304" charset="0"/>
                <a:sym typeface="+mn-ea"/>
              </a:rPr>
              <a:t>这块地价值数百万</a:t>
            </a:r>
            <a:r>
              <a:rPr lang="en-US" sz="3200" b="1" dirty="0">
                <a:latin typeface="Times New Roman Regular" panose="02020503050405090304" charset="0"/>
                <a:ea typeface="+mj-ea"/>
                <a:cs typeface="Times New Roman Regular" panose="02020503050405090304" charset="0"/>
                <a:sym typeface="+mn-ea"/>
              </a:rPr>
              <a:t>。</a:t>
            </a:r>
            <a:endParaRPr lang="zh-CN" altLang="en-US" sz="3200" b="1" i="1" dirty="0">
              <a:solidFill>
                <a:srgbClr val="FF0000"/>
              </a:solidFill>
              <a:latin typeface="Times New Roman Regular" panose="02020503050405090304" charset="0"/>
              <a:ea typeface="+mj-ea"/>
              <a:cs typeface="Times New Roman Regular" panose="02020503050405090304" charset="0"/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73375" y="66208"/>
            <a:ext cx="8509000" cy="6263005"/>
          </a:xfrm>
          <a:prstGeom prst="rect">
            <a:avLst/>
          </a:prstGeom>
          <a:noFill/>
          <a:ln w="28575" cmpd="sng">
            <a:noFill/>
            <a:prstDash val="solid"/>
          </a:ln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+mn-ea"/>
              </a:rPr>
              <a:t>worth n.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+mn-ea"/>
              </a:rPr>
              <a:t>价值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+mn-ea"/>
              </a:rPr>
              <a:t> (the value of sth)</a:t>
            </a:r>
            <a:endParaRPr lang="zh-CN" altLang="en-US" sz="3200" b="1" dirty="0">
              <a:solidFill>
                <a:srgbClr val="000000"/>
              </a:solidFill>
              <a:latin typeface="Times New Roman" panose="02020503050405090304" pitchFamily="18" charset="0"/>
              <a:ea typeface="+mj-ea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14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+mn-ea"/>
              </a:rPr>
              <a:t>Their contribution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+mn-ea"/>
              </a:rPr>
              <a:t>s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+mn-ea"/>
              </a:rPr>
              <a:t>w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+mn-ea"/>
              </a:rPr>
              <a:t>ere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+mn-ea"/>
              </a:rPr>
              <a:t> of great worth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+mn-ea"/>
              </a:rPr>
              <a:t>.</a:t>
            </a:r>
          </a:p>
          <a:p>
            <a:pPr>
              <a:lnSpc>
                <a:spcPct val="114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+mn-ea"/>
              </a:rPr>
              <a:t>他们的贡献具有伟大的意义。</a:t>
            </a:r>
          </a:p>
          <a:p>
            <a:pPr>
              <a:lnSpc>
                <a:spcPct val="114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+mn-ea"/>
              </a:rPr>
              <a:t>The activities help children to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+mn-ea"/>
              </a:rPr>
              <a:t>develop a sense of their own worth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+mn-ea"/>
              </a:rPr>
              <a:t>.</a:t>
            </a:r>
          </a:p>
          <a:p>
            <a:pPr>
              <a:lnSpc>
                <a:spcPct val="114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+mn-ea"/>
              </a:rPr>
              <a:t>这些活动有助于儿童培养自身的价值感。</a:t>
            </a:r>
          </a:p>
          <a:p>
            <a:pPr>
              <a:lnSpc>
                <a:spcPct val="114000"/>
              </a:lnSpc>
            </a:pPr>
            <a:endParaRPr lang="zh-CN" altLang="en-US" sz="3200" b="1" dirty="0">
              <a:solidFill>
                <a:srgbClr val="000000"/>
              </a:solidFill>
              <a:latin typeface="Times New Roman" panose="02020503050405090304" pitchFamily="18" charset="0"/>
              <a:ea typeface="+mj-ea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14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+mn-ea"/>
              </a:rPr>
              <a:t>A good interview enables candidates to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+mn-ea"/>
              </a:rPr>
              <a:t>prove their worth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+mn-ea"/>
              </a:rPr>
              <a:t>.</a:t>
            </a:r>
          </a:p>
          <a:p>
            <a:pPr>
              <a:lnSpc>
                <a:spcPct val="114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+mn-ea"/>
              </a:rPr>
              <a:t> (= show how good they are)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+mn-ea"/>
              </a:rPr>
              <a:t>好的面试可以让求职者证明他们的价值。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68275" y="86995"/>
            <a:ext cx="8976360" cy="3454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-358775" fontAlgn="auto"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13. Don’t be so quick to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judge 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your friend.    </a:t>
            </a:r>
          </a:p>
          <a:p>
            <a:pPr indent="-358775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不要急于评判你的朋友。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358775" fontAlgn="auto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judge </a:t>
            </a:r>
            <a:r>
              <a:rPr lang="en-US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v.  </a:t>
            </a:r>
            <a:r>
              <a:rPr lang="en-US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to form an opinion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认为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;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判断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;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断定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;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评价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68275" y="2230120"/>
            <a:ext cx="8975725" cy="40963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Judging from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her look, she seemed to be tired.</a:t>
            </a: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从……判断</a:t>
            </a: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judge them to be/as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the best plays I had ever met.</a:t>
            </a:r>
            <a:endParaRPr lang="en-US" altLang="zh-CN" sz="3200" b="1" dirty="0"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latin typeface="+mn-ea"/>
                <a:cs typeface="Times New Roman" panose="02020503050405090304" pitchFamily="18" charset="0"/>
              </a:rPr>
              <a:t>断定某人</a:t>
            </a:r>
            <a:r>
              <a:rPr lang="en-US" altLang="zh-CN" sz="3200" b="1" dirty="0">
                <a:latin typeface="+mn-ea"/>
                <a:cs typeface="Times New Roman" panose="02020503050405090304" pitchFamily="18" charset="0"/>
              </a:rPr>
              <a:t>/ </a:t>
            </a:r>
            <a:r>
              <a:rPr lang="zh-CN" altLang="en-US" sz="3200" b="1" dirty="0">
                <a:latin typeface="+mn-ea"/>
                <a:cs typeface="Times New Roman" panose="02020503050405090304" pitchFamily="18" charset="0"/>
              </a:rPr>
              <a:t>物是</a:t>
            </a:r>
            <a:r>
              <a:rPr lang="en-US" altLang="zh-CN" sz="3200" b="1" dirty="0">
                <a:latin typeface="+mn-ea"/>
                <a:cs typeface="Times New Roman" panose="02020503050405090304" pitchFamily="18" charset="0"/>
              </a:rPr>
              <a:t>……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as far as I can judge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据我判断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Don’t judge a book by its cover.</a:t>
            </a: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勿以貌取人。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-635" y="140335"/>
            <a:ext cx="9144635" cy="40119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-358775" fontAlgn="auto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judge </a:t>
            </a:r>
            <a:r>
              <a:rPr lang="en-US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n.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法官；裁判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358775" fontAlgn="auto">
              <a:lnSpc>
                <a:spcPct val="120000"/>
              </a:lnSpc>
            </a:pP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358775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毫无疑问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，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裁判的最终决定是公平的。</a:t>
            </a:r>
          </a:p>
          <a:p>
            <a:pPr indent="-35877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There is no doubt that _______________________________.</a:t>
            </a:r>
          </a:p>
          <a:p>
            <a:pPr indent="-358775" fontAlgn="auto">
              <a:lnSpc>
                <a:spcPct val="12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35877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judgement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n.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判断力；看法</a:t>
            </a:r>
          </a:p>
          <a:p>
            <a:pPr indent="-35877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make a judgement about/on/of sth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对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...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做出评价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42240" y="2469515"/>
            <a:ext cx="62103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the judge’s final decision is fair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-635" y="140335"/>
            <a:ext cx="9144635" cy="5298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-358775" fontAlgn="auto">
              <a:lnSpc>
                <a:spcPct val="120000"/>
              </a:lnSpc>
            </a:pPr>
            <a:r>
              <a:rPr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他达到目的主要是靠运气而不是靠判断力。</a:t>
            </a:r>
            <a:endParaRPr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pPr indent="-358775" fontAlgn="auto">
              <a:lnSpc>
                <a:spcPct val="120000"/>
              </a:lnSpc>
            </a:pPr>
            <a:r>
              <a:rPr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He achieved his aim more by luck than judgement.</a:t>
            </a:r>
            <a:endParaRPr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pPr indent="-358775" fontAlgn="auto">
              <a:lnSpc>
                <a:spcPct val="120000"/>
              </a:lnSpc>
            </a:pPr>
            <a:endParaRPr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pPr indent="-358775" fontAlgn="auto">
              <a:lnSpc>
                <a:spcPct val="120000"/>
              </a:lnSpc>
            </a:pPr>
            <a:r>
              <a:rPr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他拒绝对形势作出</a:t>
            </a:r>
            <a:r>
              <a:rPr 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判断</a:t>
            </a:r>
            <a:r>
              <a:rPr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。</a:t>
            </a:r>
            <a:endParaRPr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-358775" fontAlgn="auto">
              <a:lnSpc>
                <a:spcPct val="120000"/>
              </a:lnSpc>
            </a:pPr>
            <a:r>
              <a:rPr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He refused to </a:t>
            </a:r>
            <a:r>
              <a:rPr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make a judgement about</a:t>
            </a:r>
            <a:r>
              <a:rPr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the situation.</a:t>
            </a:r>
          </a:p>
          <a:p>
            <a:pPr indent="-358775" fontAlgn="auto">
              <a:lnSpc>
                <a:spcPct val="120000"/>
              </a:lnSpc>
            </a:pPr>
            <a:endParaRPr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-358775" fontAlgn="auto">
              <a:lnSpc>
                <a:spcPct val="120000"/>
              </a:lnSpc>
            </a:pPr>
            <a:r>
              <a:rPr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It was, </a:t>
            </a:r>
            <a:r>
              <a:rPr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in </a:t>
            </a:r>
            <a:r>
              <a:rPr lang="en-US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my</a:t>
            </a:r>
            <a:r>
              <a:rPr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judgement</a:t>
            </a:r>
            <a:r>
              <a:rPr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, the wrong thing to do.</a:t>
            </a:r>
          </a:p>
          <a:p>
            <a:pPr indent="-358775" fontAlgn="auto">
              <a:lnSpc>
                <a:spcPct val="120000"/>
              </a:lnSpc>
            </a:pPr>
            <a:r>
              <a:rPr sz="3200" b="1" dirty="0"/>
              <a:t>在</a:t>
            </a:r>
            <a:r>
              <a:rPr lang="zh-CN" sz="3200" b="1" dirty="0"/>
              <a:t>我</a:t>
            </a:r>
            <a:r>
              <a:rPr sz="3200" b="1" dirty="0"/>
              <a:t>看来，那样做是错误的。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97485" y="1355725"/>
            <a:ext cx="8672830" cy="652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be in the wrong (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有错，应承担责任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0" y="142240"/>
            <a:ext cx="8870950" cy="12134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-446405" fontAlgn="auto">
              <a:lnSpc>
                <a:spcPct val="114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14. Perhaps she knows she’s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the wrong 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and wants to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apologize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…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96467" y="2290101"/>
            <a:ext cx="8078198" cy="3457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宋体" pitchFamily="2" charset="-122"/>
                <a:ea typeface="宋体" pitchFamily="2" charset="-122"/>
              </a:rPr>
              <a:t>【拓展】</a:t>
            </a:r>
          </a:p>
          <a:p>
            <a:pPr>
              <a:lnSpc>
                <a:spcPct val="114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get sth wrong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adj.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答错；理解错</a:t>
            </a:r>
          </a:p>
          <a:p>
            <a:pPr>
              <a:lnSpc>
                <a:spcPct val="114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get sb wrong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误会或误解某人 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sth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go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es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wrong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出问题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；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弄错</a:t>
            </a:r>
          </a:p>
          <a:p>
            <a:pPr>
              <a:lnSpc>
                <a:spcPct val="114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sb does wrong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犯错，犯罪</a:t>
            </a:r>
          </a:p>
          <a:p>
            <a:pPr>
              <a:lnSpc>
                <a:spcPct val="114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do sb wrong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(n.)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冤枉某人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9143365" cy="6857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apologize to sb for sth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因某事向某人道歉</a:t>
            </a:r>
          </a:p>
          <a:p>
            <a:pPr>
              <a:lnSpc>
                <a:spcPct val="114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apology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n.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道歉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</a:p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make an apology for sth</a:t>
            </a:r>
          </a:p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demand / send / owe / accept an apology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要求道歉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致歉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欠一个道歉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接受一个道歉</a:t>
            </a:r>
          </a:p>
          <a:p>
            <a:pPr>
              <a:lnSpc>
                <a:spcPct val="114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4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如果在你生命中你需要对一个人说对不起，那就去向他道歉吧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(apology)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</a:p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If there is someone in your life to whom you need to say sorry, go ahead and make an apology.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15900" y="1129030"/>
            <a:ext cx="8684895" cy="52152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any case: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whatever happens or may have happened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无论如何，不管怎样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en-US" altLang="zh-CN" sz="3200" b="1" dirty="0" err="1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拓展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case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以防万一; 万一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this case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在这种情况下（引出结果）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 that case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既然那样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case of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若发生某事 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no case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在任何情形下决不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=on no account</a:t>
            </a:r>
            <a:r>
              <a:rPr lang="en-US" altLang="zh-CN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0" y="635"/>
            <a:ext cx="9030970" cy="11283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-631825" fontAlgn="auto"/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14.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any case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find an opportunity to have a full and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frank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talk with her.</a:t>
            </a:r>
            <a:endParaRPr 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04152" y="3217729"/>
            <a:ext cx="8735060" cy="2797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3400" indent="-533400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3)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I don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’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 see why I couldn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’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 do it.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__________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, I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’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m going to try.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33400" indent="-533400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4)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We should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___________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prevent the students from exploring new ideas. 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5)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_________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fire, ring the alarm bell. 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45542" y="3184875"/>
            <a:ext cx="26936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 any case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682535" y="4300655"/>
            <a:ext cx="26936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 no case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82987" y="5387405"/>
            <a:ext cx="26936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 case of 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04470" y="467995"/>
            <a:ext cx="8938895" cy="2797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【语境应用】用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case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短语填空。</a:t>
            </a:r>
          </a:p>
          <a:p>
            <a:pPr marL="533400" indent="-533400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You don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’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 like your job?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___________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why don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’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 you leave? </a:t>
            </a:r>
          </a:p>
          <a:p>
            <a:pPr marL="533400" indent="-533400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It may rain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Y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ou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’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 better take an umbrella (just)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__________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(it does)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027013" y="967673"/>
            <a:ext cx="29057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 that case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986325" y="2601868"/>
            <a:ext cx="18472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 case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/>
      <p:bldP spid="4" grpId="0"/>
      <p:bldP spid="7" grpId="0"/>
      <p:bldP spid="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154305"/>
            <a:ext cx="9144000" cy="63588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frank: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honest and truthful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坦白的，坦率的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 be frank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坦白地说（常用作插入语）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 be frank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with you,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 don’t think she’s the person for the job.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【拓展】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常用不定式作插入语的其他表达：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 tell the truth  = to be honest (honestly)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说实话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to be exact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确切地说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 conclude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总而言之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 be brief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简言之</a:t>
            </a: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en-US" altLang="zh-CN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to be specifi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具体来说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6840" y="658676"/>
            <a:ext cx="8749030" cy="5111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let go (of)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放弃，摒弃；松手，放开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说出下列句中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let go (of) </a:t>
            </a:r>
            <a:r>
              <a:rPr lang="zh-CN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的含义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Let go of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my hand, you’re hurting me! _____</a:t>
            </a:r>
          </a:p>
          <a:p>
            <a:pPr marL="533400" indent="-5334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She refused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let go of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her bag and kicked her attackers several times. _________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Hold on tight and don’t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let go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!  ________ </a:t>
            </a:r>
          </a:p>
          <a:p>
            <a:pPr marL="533400" indent="-5334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4) You need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let go of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the past and forgive those who have hurt you. ____________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312026" y="2180137"/>
            <a:ext cx="13252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放开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899660" y="3308840"/>
            <a:ext cx="13817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放开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183217" y="3881328"/>
            <a:ext cx="15303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松手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166587" y="5088424"/>
            <a:ext cx="26936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放弃，摒弃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5" grpId="0"/>
      <p:bldP spid="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635"/>
            <a:ext cx="9144635" cy="25628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631825" indent="-631825">
              <a:lnSpc>
                <a:spcPct val="11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16. When I found out that I was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tricked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by him, I was really hurt and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let go of 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our friendship.</a:t>
            </a:r>
          </a:p>
          <a:p>
            <a:pPr marL="631825" indent="-631825">
              <a:lnSpc>
                <a:spcPct val="11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当我发现他欺骗了我，我真的很伤心，并且放弃了我们的友谊。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2925" y="2293620"/>
            <a:ext cx="8516620" cy="2256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trick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v.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to deceive </a:t>
            </a:r>
            <a:r>
              <a:rPr lang="en-US" altLang="zh-CN" sz="3200" b="1" i="1" dirty="0" err="1">
                <a:latin typeface="Times New Roman Bold Italic" panose="02020503050405090304" charset="0"/>
                <a:cs typeface="Times New Roman Bold Italic" panose="02020503050405090304" charset="0"/>
              </a:rPr>
              <a:t>sb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 in order to get </a:t>
            </a:r>
            <a:r>
              <a:rPr lang="en-US" altLang="zh-CN" sz="3200" b="1" i="1" dirty="0" err="1">
                <a:latin typeface="Times New Roman Bold Italic" panose="02020503050405090304" charset="0"/>
                <a:cs typeface="Times New Roman Bold Italic" panose="02020503050405090304" charset="0"/>
              </a:rPr>
              <a:t>sth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欺骗，欺诈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以巧妙的方式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tricked me into lending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him £100.</a:t>
            </a:r>
          </a:p>
          <a:p>
            <a:pPr indent="0" fontAlgn="auto">
              <a:lnSpc>
                <a:spcPct val="110000"/>
              </a:lnSpc>
            </a:pPr>
            <a:r>
              <a:rPr lang="zh-CN" altLang="en-US" sz="3200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他骗我借给了他</a:t>
            </a:r>
            <a:r>
              <a:rPr lang="en-US" altLang="zh-CN" sz="3200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100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英镑。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0" y="0"/>
            <a:ext cx="9144635" cy="50152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lnSpc>
                <a:spcPct val="110000"/>
              </a:lnSpc>
            </a:pPr>
            <a:r>
              <a:rPr lang="en-US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n.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诡计，花招；戏法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10000"/>
              </a:lnSpc>
            </a:pPr>
            <a:r>
              <a:rPr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kids are always </a:t>
            </a:r>
            <a:r>
              <a:rPr sz="3200" b="1" u="sng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playing tricks on</a:t>
            </a:r>
            <a:r>
              <a:rPr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their teacher.</a:t>
            </a:r>
          </a:p>
          <a:p>
            <a:pPr indent="0" fontAlgn="auto">
              <a:lnSpc>
                <a:spcPct val="110000"/>
              </a:lnSpc>
            </a:pPr>
            <a:r>
              <a:rPr lang="zh-CN" altLang="en-US" sz="3200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耍花招</a:t>
            </a:r>
            <a:endParaRPr sz="3200" b="1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10000"/>
              </a:lnSpc>
            </a:pPr>
            <a:r>
              <a:rPr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One of the problems of old age is that your memory can start to </a:t>
            </a:r>
            <a:r>
              <a:rPr sz="3200" b="1" u="sng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play tricks on you</a:t>
            </a:r>
            <a:r>
              <a:rPr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indent="0" fontAlgn="auto">
              <a:lnSpc>
                <a:spcPct val="110000"/>
              </a:lnSpc>
            </a:pPr>
            <a:r>
              <a:rPr sz="3200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老年人的问题之一是记忆可能紊乱起来。</a:t>
            </a:r>
          </a:p>
          <a:p>
            <a:pPr indent="0" fontAlgn="auto">
              <a:lnSpc>
                <a:spcPct val="110000"/>
              </a:lnSpc>
            </a:pPr>
            <a:r>
              <a:rPr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</a:t>
            </a:r>
            <a:r>
              <a:rPr sz="3200" b="1" u="sng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trick</a:t>
            </a:r>
            <a:r>
              <a:rPr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is to pick the animal up by the back of its neck.</a:t>
            </a:r>
          </a:p>
          <a:p>
            <a:pPr indent="0" fontAlgn="auto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窍门，诀窍</a:t>
            </a:r>
          </a:p>
          <a:p>
            <a:pPr indent="0" fontAlgn="auto">
              <a:lnSpc>
                <a:spcPct val="11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 tricky sitution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微妙的局势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(difficult to deal with)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0"/>
            <a:ext cx="9144635" cy="3338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31825" indent="-631825">
              <a:lnSpc>
                <a:spcPct val="11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17. ...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ignores your feelings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or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makes you suffer</a:t>
            </a:r>
          </a:p>
          <a:p>
            <a:pPr marL="1089025" lvl="1" indent="457200">
              <a:lnSpc>
                <a:spcPct val="11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忽略你的感受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		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让你痛苦</a:t>
            </a:r>
          </a:p>
          <a:p>
            <a:pPr>
              <a:lnSpc>
                <a:spcPct val="11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ignore /ɪɡˈnɔː/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vt. 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to deliberately pay no attention to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忽视，</a:t>
            </a:r>
            <a:r>
              <a:rPr lang="zh-CN" altLang="en-US" sz="3200" b="1" dirty="0">
                <a:solidFill>
                  <a:schemeClr val="tx1"/>
                </a:solidFill>
                <a:latin typeface="+mn-ea"/>
                <a:cs typeface="Times New Roman" panose="02020503050405090304" pitchFamily="18" charset="0"/>
                <a:sym typeface="+mn-ea"/>
              </a:rPr>
              <a:t>对</a:t>
            </a:r>
            <a:r>
              <a:rPr lang="en-US" altLang="zh-CN" sz="3200" b="1" dirty="0">
                <a:solidFill>
                  <a:schemeClr val="tx1"/>
                </a:solidFill>
                <a:latin typeface="+mn-ea"/>
                <a:cs typeface="Times New Roman" panose="02020503050405090304" pitchFamily="18" charset="0"/>
                <a:sym typeface="+mn-ea"/>
              </a:rPr>
              <a:t>……</a:t>
            </a:r>
            <a:r>
              <a:rPr lang="zh-CN" altLang="en-US" sz="3200" b="1" dirty="0">
                <a:solidFill>
                  <a:schemeClr val="tx1"/>
                </a:solidFill>
                <a:latin typeface="+mn-ea"/>
                <a:cs typeface="Times New Roman" panose="02020503050405090304" pitchFamily="18" charset="0"/>
                <a:sym typeface="+mn-ea"/>
              </a:rPr>
              <a:t>不理会</a:t>
            </a:r>
            <a:endParaRPr lang="en-US" altLang="zh-CN" sz="3200" b="1" dirty="0">
              <a:solidFill>
                <a:srgbClr val="FF0000"/>
              </a:solidFill>
              <a:latin typeface="+mn-ea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She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ignored him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and carried on with her work.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0"/>
            <a:ext cx="9144635" cy="6043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ignorance /ˈɪɡnərəns/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n.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a lack of knowledge or information about sth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无知，愚昧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There is so much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ignorance of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mental illness.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人们对精神疾病很不了解。</a:t>
            </a:r>
          </a:p>
          <a:p>
            <a:pPr>
              <a:lnSpc>
                <a:spcPct val="11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ignorant / ˈɪɡnərənt/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adj.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At that time I </a:t>
            </a:r>
            <a:r>
              <a:rPr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was ignorant of</a:t>
            </a:r>
            <a:r>
              <a:rPr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events going on elsewhere.</a:t>
            </a: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那时我</a:t>
            </a:r>
            <a:r>
              <a:rPr lang="zh-CN" altLang="en-US" sz="3200" b="1" u="sng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并不了解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其他地方发生的事情。</a:t>
            </a: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an ignorant person/question</a:t>
            </a: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无知的人／问题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715" y="0"/>
            <a:ext cx="9138285" cy="62674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suffer </a:t>
            </a:r>
            <a:r>
              <a:rPr lang="en-US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v.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</a:t>
            </a:r>
            <a:r>
              <a:rPr lang="en-US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 vi.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be affected by (an illness, a lack of sth, etc.)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患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...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病，苦于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suffer from +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疾病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(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 cold / heart disease / stress)</a:t>
            </a:r>
            <a:endParaRPr 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患感冒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患心脏病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有精神压力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Many companies are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suffering from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a shortage of skilled staff.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许多公司苦于缺乏熟练员工。</a:t>
            </a:r>
            <a:endParaRPr lang="en-US" sz="3200" b="1" i="1" dirty="0">
              <a:solidFill>
                <a:srgbClr val="FF0000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715" y="0"/>
            <a:ext cx="9138285" cy="62674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2)</a:t>
            </a:r>
            <a:r>
              <a:rPr lang="en-US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vt. 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to </a:t>
            </a:r>
            <a:r>
              <a:rPr lang="en-US" sz="3200" b="1" i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experience 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sth unpleasant (injury, defeat, loss) </a:t>
            </a:r>
            <a:r>
              <a:rPr lang="en-US" sz="3200" b="1" dirty="0" err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遭受</a:t>
            </a:r>
            <a:endParaRPr lang="en-US" sz="3200" b="1" i="1" dirty="0">
              <a:solidFill>
                <a:srgbClr val="FF0000"/>
              </a:solidFill>
              <a:latin typeface="Times New Roman Bold Italic" panose="02020503050405090304" charset="0"/>
              <a:cs typeface="Times New Roman Bold Italic" panose="02020503050405090304" charset="0"/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He </a:t>
            </a:r>
            <a:r>
              <a:rPr lang="en-US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suffered a massive heart attack</a:t>
            </a:r>
            <a:r>
              <a:rPr 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sz="3200" b="1" dirty="0">
                <a:solidFill>
                  <a:schemeClr val="tx1"/>
                </a:solidFill>
                <a:latin typeface="Arial Bold" panose="020B0604020202090204" charset="0"/>
                <a:cs typeface="Times New Roman Bold Italic" panose="02020503050405090304" charset="0"/>
                <a:sym typeface="+mn-ea"/>
              </a:rPr>
              <a:t>他的</a:t>
            </a:r>
            <a:r>
              <a:rPr lang="en-US" sz="3200" b="1" u="sng" dirty="0">
                <a:solidFill>
                  <a:schemeClr val="tx1"/>
                </a:solidFill>
                <a:latin typeface="Arial Bold" panose="020B0604020202090204" charset="0"/>
                <a:cs typeface="Times New Roman Bold Italic" panose="02020503050405090304" charset="0"/>
                <a:sym typeface="+mn-ea"/>
              </a:rPr>
              <a:t>心脏病发作</a:t>
            </a:r>
            <a:r>
              <a:rPr lang="en-US" sz="3200" b="1" dirty="0">
                <a:solidFill>
                  <a:schemeClr val="tx1"/>
                </a:solidFill>
                <a:latin typeface="Arial Bold" panose="020B0604020202090204" charset="0"/>
                <a:cs typeface="Times New Roman Bold Italic" panose="02020503050405090304" charset="0"/>
                <a:sym typeface="+mn-ea"/>
              </a:rPr>
              <a:t>很严重。</a:t>
            </a:r>
          </a:p>
          <a:p>
            <a:pPr>
              <a:lnSpc>
                <a:spcPct val="11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The company </a:t>
            </a:r>
            <a:r>
              <a:rPr lang="en-US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suffered huge losses</a:t>
            </a:r>
            <a:r>
              <a:rPr 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in the last year.</a:t>
            </a:r>
          </a:p>
          <a:p>
            <a:pPr>
              <a:lnSpc>
                <a:spcPct val="11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公司在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去年</a:t>
            </a:r>
            <a:r>
              <a:rPr lang="zh-CN" altLang="en-US" sz="3200" b="1" u="sng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遭受</a:t>
            </a:r>
            <a:r>
              <a:rPr lang="en-US" sz="3200" b="1" u="sng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巨额亏损</a:t>
            </a:r>
            <a:r>
              <a:rPr 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。</a:t>
            </a:r>
          </a:p>
          <a:p>
            <a:pPr>
              <a:lnSpc>
                <a:spcPct val="11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She was seriously ill, </a:t>
            </a:r>
            <a:r>
              <a:rPr lang="en-US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suffering great pain</a:t>
            </a:r>
            <a:r>
              <a:rPr 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她病得很重，</a:t>
            </a:r>
            <a:r>
              <a:rPr lang="zh-CN" altLang="en-US" sz="3200" b="1" u="sng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遭受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着巨大的</a:t>
            </a:r>
            <a:r>
              <a:rPr lang="zh-CN" altLang="en-US" sz="3200" b="1" u="sng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痛苦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。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         </a:t>
            </a:r>
            <a:endParaRPr lang="en-US" sz="3200" b="1" i="1" dirty="0">
              <a:solidFill>
                <a:srgbClr val="FF0000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715" y="0"/>
            <a:ext cx="9138285" cy="62674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Death finally brought an end to her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suffering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死亡终于结束了她的</a:t>
            </a:r>
            <a:r>
              <a:rPr lang="en-US" sz="3200" b="1" u="sng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痛苦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。</a:t>
            </a:r>
          </a:p>
          <a:p>
            <a:pPr>
              <a:lnSpc>
                <a:spcPct val="11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</a:t>
            </a:r>
            <a:r>
              <a:rPr lang="en-US" sz="3200" b="1" i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n.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physical or mental pain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痛苦，疼痛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</a:t>
            </a:r>
          </a:p>
          <a:p>
            <a:pPr>
              <a:lnSpc>
                <a:spcPct val="110000"/>
              </a:lnSpc>
            </a:pPr>
            <a:endParaRPr lang="en-US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This war has caused widespread human suffering.</a:t>
            </a:r>
          </a:p>
          <a:p>
            <a:pPr>
              <a:lnSpc>
                <a:spcPct val="11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这场战争给许许多多的人带来了苦难。   </a:t>
            </a:r>
            <a:endParaRPr lang="en-US" sz="3200" b="1" i="1" dirty="0">
              <a:solidFill>
                <a:srgbClr val="FF0000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715" y="0"/>
            <a:ext cx="9138285" cy="62674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It’s time (for sb) to do sth.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是时候该做某事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It’s time for bed.</a:t>
            </a:r>
          </a:p>
          <a:p>
            <a:pPr>
              <a:lnSpc>
                <a:spcPct val="11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It’s time that sb did sth.</a:t>
            </a:r>
          </a:p>
          <a:p>
            <a:pPr>
              <a:lnSpc>
                <a:spcPct val="110000"/>
              </a:lnSpc>
            </a:pPr>
            <a:r>
              <a:rPr lang="en-US" sz="3200" b="1">
                <a:latin typeface="Arial Bold" panose="020B0604020202090204" charset="0"/>
                <a:sym typeface="+mn-ea"/>
              </a:rPr>
              <a:t>从句用</a:t>
            </a:r>
            <a:r>
              <a:rPr lang="en-US" sz="3200" b="1" u="sng">
                <a:latin typeface="Arial Bold" panose="020B0604020202090204" charset="0"/>
                <a:sym typeface="+mn-ea"/>
              </a:rPr>
              <a:t>虚拟语气形式</a:t>
            </a:r>
            <a:r>
              <a:rPr lang="en-US" sz="3200" b="1">
                <a:latin typeface="Arial Bold" panose="020B0604020202090204" charset="0"/>
                <a:sym typeface="+mn-ea"/>
              </a:rPr>
              <a:t>表示和现在事实相反</a:t>
            </a:r>
            <a:r>
              <a:rPr lang="zh-CN" altLang="en-US" sz="3200" b="1">
                <a:latin typeface="Arial Bold" panose="020B0604020202090204" charset="0"/>
                <a:sym typeface="+mn-ea"/>
              </a:rPr>
              <a:t>。</a:t>
            </a:r>
            <a:endParaRPr lang="en-US" sz="3200" b="1">
              <a:latin typeface="Arial Bold" panose="020B0604020202090204" charset="0"/>
            </a:endParaRPr>
          </a:p>
          <a:p>
            <a:pPr>
              <a:lnSpc>
                <a:spcPct val="11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It's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about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time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(that)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our team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won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是时候我们队该赢了。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It’s (high) time (that)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you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went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to bed.</a:t>
            </a: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是时候你该睡觉了。</a:t>
            </a:r>
            <a:endParaRPr lang="en-US" sz="3200" b="1" i="1" dirty="0">
              <a:solidFill>
                <a:srgbClr val="FF0000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-89535" y="-54610"/>
            <a:ext cx="9396730" cy="7766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631825" indent="-631825">
              <a:lnSpc>
                <a:spcPct val="110000"/>
              </a:lnSpc>
            </a:pPr>
            <a:r>
              <a:rPr lang="en-US" sz="3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18.  When Amy found out, she </a:t>
            </a:r>
            <a:r>
              <a:rPr lang="en-US" sz="30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exploded </a:t>
            </a:r>
            <a:r>
              <a:rPr lang="en-US" sz="3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with/into anger.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28270" y="522605"/>
            <a:ext cx="8905240" cy="6185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30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勃然大怒</a:t>
            </a:r>
            <a:endParaRPr lang="zh-CN" altLang="en-US" sz="30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0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explode into (wild) laughter </a:t>
            </a:r>
            <a:r>
              <a:rPr lang="zh-CN" altLang="en-US" sz="30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突然大笑</a:t>
            </a:r>
            <a:endParaRPr lang="en-US" altLang="zh-CN" sz="30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0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explode into applause </a:t>
            </a:r>
            <a:r>
              <a:rPr lang="en-US" altLang="zh-CN" sz="30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0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突然爆发出掌声</a:t>
            </a:r>
            <a:endParaRPr lang="zh-CN" altLang="en-US" sz="30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                   </a:t>
            </a:r>
            <a:endParaRPr lang="zh-CN" altLang="en-US" sz="30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0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explode </a:t>
            </a:r>
            <a:r>
              <a:rPr lang="en-US" altLang="zh-CN" sz="30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vt.</a:t>
            </a:r>
            <a:r>
              <a:rPr lang="en-US" altLang="zh-CN" sz="30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使爆炸</a:t>
            </a:r>
          </a:p>
          <a:p>
            <a:pPr>
              <a:lnSpc>
                <a:spcPct val="110000"/>
              </a:lnSpc>
            </a:pPr>
            <a:r>
              <a:rPr lang="en-US" altLang="zh-CN" sz="30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explode an atomic bomb</a:t>
            </a:r>
            <a:r>
              <a:rPr lang="en-US" altLang="zh-CN" sz="3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引爆了一枚原子弹</a:t>
            </a:r>
            <a:endParaRPr lang="en-US" altLang="zh-CN" sz="30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endParaRPr lang="zh-CN" altLang="en-US" sz="30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0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explosion </a:t>
            </a:r>
            <a:r>
              <a:rPr lang="en-US" altLang="zh-CN" sz="30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n. </a:t>
            </a:r>
            <a:r>
              <a:rPr lang="zh-CN" altLang="en-US" sz="30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爆炸；激增</a:t>
            </a:r>
          </a:p>
          <a:p>
            <a:pPr>
              <a:lnSpc>
                <a:spcPct val="110000"/>
              </a:lnSpc>
            </a:pPr>
            <a:r>
              <a:rPr sz="30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There is </a:t>
            </a:r>
            <a:r>
              <a:rPr sz="30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an explosion of</a:t>
            </a:r>
            <a:r>
              <a:rPr sz="30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new ideas and applications.</a:t>
            </a:r>
            <a:r>
              <a:rPr lang="zh-CN" altLang="en-US" sz="30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这是一场新想法和新应用的爆发。</a:t>
            </a:r>
          </a:p>
          <a:p>
            <a:pPr>
              <a:lnSpc>
                <a:spcPct val="110000"/>
              </a:lnSpc>
            </a:pPr>
            <a:endParaRPr lang="zh-CN" altLang="en-US" sz="30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0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explosive</a:t>
            </a:r>
            <a:r>
              <a:rPr lang="en-US" altLang="zh-CN" sz="3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0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adj.</a:t>
            </a:r>
            <a:r>
              <a:rPr lang="en-US" altLang="zh-CN" sz="3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易爆炸的，一触即发的</a:t>
            </a:r>
            <a:r>
              <a:rPr lang="en-US" altLang="zh-CN" sz="3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/ </a:t>
            </a:r>
            <a:r>
              <a:rPr lang="en-US" altLang="zh-CN" sz="30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n.</a:t>
            </a:r>
            <a:r>
              <a:rPr lang="en-US" altLang="zh-CN" sz="3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炸药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3200" b="1" dirty="0" smtClean="0">
            <a:latin typeface="Times New Roman" panose="02020503050405090304" pitchFamily="18" charset="0"/>
            <a:cs typeface="Times New Roman" panose="020205030504050903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2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3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4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5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6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7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8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9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10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11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12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13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14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15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16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17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18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19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20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21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22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23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24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25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26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27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28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29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30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31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32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33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34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35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36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37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38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39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3240</Words>
  <Application>Microsoft Macintosh PowerPoint</Application>
  <PresentationFormat>On-screen Show (4:3)</PresentationFormat>
  <Paragraphs>384</Paragraphs>
  <Slides>46</Slides>
  <Notes>46</Notes>
  <HiddenSlides>1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7" baseType="lpstr">
      <vt:lpstr>Arial Bold</vt:lpstr>
      <vt:lpstr>微软雅黑</vt:lpstr>
      <vt:lpstr>宋体</vt:lpstr>
      <vt:lpstr>Times New Roman Bold</vt:lpstr>
      <vt:lpstr>Times New Roman Bold Italic</vt:lpstr>
      <vt:lpstr>Times New Roman Regular</vt:lpstr>
      <vt:lpstr>Arial</vt:lpstr>
      <vt:lpstr>Calibri</vt:lpstr>
      <vt:lpstr>Times New Roman</vt:lpstr>
      <vt:lpstr>Wingdings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612</cp:revision>
  <dcterms:created xsi:type="dcterms:W3CDTF">2023-10-26T06:54:47Z</dcterms:created>
  <dcterms:modified xsi:type="dcterms:W3CDTF">2026-07-22T12:36:09Z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1033-6.2.2.8394</vt:lpwstr>
  </property>
  <property fmtid="{D5CDD505-2E9C-101B-9397-08002B2CF9AE}" pid="3" name="ICV">
    <vt:lpwstr>BFE7C637CCC7E4290A983E630DF9E595</vt:lpwstr>
  </property>
</Properties>
</file>