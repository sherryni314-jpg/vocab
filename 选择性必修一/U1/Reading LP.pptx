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5.xml" ContentType="application/vnd.openxmlformats-officedocument.themeOverride+xml"/>
  <Override PartName="/ppt/notesSlides/notesSlide10.xml" ContentType="application/vnd.openxmlformats-officedocument.presentationml.notesSlide+xml"/>
  <Override PartName="/ppt/theme/themeOverride6.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7.xml" ContentType="application/vnd.openxmlformats-officedocument.themeOverride+xml"/>
  <Override PartName="/ppt/notesSlides/notesSlide13.xml" ContentType="application/vnd.openxmlformats-officedocument.presentationml.notesSlide+xml"/>
  <Override PartName="/ppt/theme/themeOverride8.xml" ContentType="application/vnd.openxmlformats-officedocument.themeOverride+xml"/>
  <Override PartName="/ppt/notesSlides/notesSlide14.xml" ContentType="application/vnd.openxmlformats-officedocument.presentationml.notesSlide+xml"/>
  <Override PartName="/ppt/theme/themeOverride9.xml" ContentType="application/vnd.openxmlformats-officedocument.themeOverride+xml"/>
  <Override PartName="/ppt/notesSlides/notesSlide15.xml" ContentType="application/vnd.openxmlformats-officedocument.presentationml.notesSlide+xml"/>
  <Override PartName="/ppt/theme/themeOverride10.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11.xml" ContentType="application/vnd.openxmlformats-officedocument.themeOverride+xml"/>
  <Override PartName="/ppt/notesSlides/notesSlide18.xml" ContentType="application/vnd.openxmlformats-officedocument.presentationml.notesSlide+xml"/>
  <Override PartName="/ppt/theme/themeOverride12.xml" ContentType="application/vnd.openxmlformats-officedocument.themeOverride+xml"/>
  <Override PartName="/ppt/notesSlides/notesSlide19.xml" ContentType="application/vnd.openxmlformats-officedocument.presentationml.notesSlide+xml"/>
  <Override PartName="/ppt/theme/themeOverride13.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14.xml" ContentType="application/vnd.openxmlformats-officedocument.themeOverride+xml"/>
  <Override PartName="/ppt/notesSlides/notesSlide22.xml" ContentType="application/vnd.openxmlformats-officedocument.presentationml.notesSlide+xml"/>
  <Override PartName="/ppt/theme/themeOverride15.xml" ContentType="application/vnd.openxmlformats-officedocument.themeOverride+xml"/>
  <Override PartName="/ppt/notesSlides/notesSlide23.xml" ContentType="application/vnd.openxmlformats-officedocument.presentationml.notesSlide+xml"/>
  <Override PartName="/ppt/theme/themeOverride16.xml" ContentType="application/vnd.openxmlformats-officedocument.themeOverride+xml"/>
  <Override PartName="/ppt/notesSlides/notesSlide24.xml" ContentType="application/vnd.openxmlformats-officedocument.presentationml.notesSlide+xml"/>
  <Override PartName="/ppt/theme/themeOverride17.xml" ContentType="application/vnd.openxmlformats-officedocument.themeOverride+xml"/>
  <Override PartName="/ppt/notesSlides/notesSlide25.xml" ContentType="application/vnd.openxmlformats-officedocument.presentationml.notesSlide+xml"/>
  <Override PartName="/ppt/theme/themeOverride18.xml" ContentType="application/vnd.openxmlformats-officedocument.themeOverride+xml"/>
  <Override PartName="/ppt/notesSlides/notesSlide26.xml" ContentType="application/vnd.openxmlformats-officedocument.presentationml.notesSlide+xml"/>
  <Override PartName="/ppt/theme/themeOverride19.xml" ContentType="application/vnd.openxmlformats-officedocument.themeOverride+xml"/>
  <Override PartName="/ppt/notesSlides/notesSlide27.xml" ContentType="application/vnd.openxmlformats-officedocument.presentationml.notesSlide+xml"/>
  <Override PartName="/ppt/theme/themeOverride20.xml" ContentType="application/vnd.openxmlformats-officedocument.themeOverride+xml"/>
  <Override PartName="/ppt/notesSlides/notesSlide28.xml" ContentType="application/vnd.openxmlformats-officedocument.presentationml.notesSlide+xml"/>
  <Override PartName="/ppt/theme/themeOverride21.xml" ContentType="application/vnd.openxmlformats-officedocument.themeOverr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708" r:id="rId2"/>
    <p:sldId id="723" r:id="rId3"/>
    <p:sldId id="725" r:id="rId4"/>
    <p:sldId id="717" r:id="rId5"/>
    <p:sldId id="726" r:id="rId6"/>
    <p:sldId id="719" r:id="rId7"/>
    <p:sldId id="622" r:id="rId8"/>
    <p:sldId id="748" r:id="rId9"/>
    <p:sldId id="729" r:id="rId10"/>
    <p:sldId id="730" r:id="rId11"/>
    <p:sldId id="778" r:id="rId12"/>
    <p:sldId id="732" r:id="rId13"/>
    <p:sldId id="733" r:id="rId14"/>
    <p:sldId id="734" r:id="rId15"/>
    <p:sldId id="735" r:id="rId16"/>
    <p:sldId id="738" r:id="rId17"/>
    <p:sldId id="401" r:id="rId18"/>
    <p:sldId id="720" r:id="rId19"/>
    <p:sldId id="741" r:id="rId20"/>
    <p:sldId id="711" r:id="rId21"/>
    <p:sldId id="710" r:id="rId22"/>
    <p:sldId id="721" r:id="rId23"/>
    <p:sldId id="673" r:id="rId24"/>
    <p:sldId id="742" r:id="rId25"/>
    <p:sldId id="715" r:id="rId26"/>
    <p:sldId id="722" r:id="rId27"/>
    <p:sldId id="325" r:id="rId28"/>
    <p:sldId id="743" r:id="rId29"/>
    <p:sldId id="702" r:id="rId30"/>
    <p:sldId id="749" r:id="rId31"/>
    <p:sldId id="629" r:id="rId32"/>
    <p:sldId id="705" r:id="rId33"/>
    <p:sldId id="706" r:id="rId34"/>
    <p:sldId id="419" r:id="rId35"/>
    <p:sldId id="396" r:id="rId36"/>
    <p:sldId id="713"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9900FF"/>
    <a:srgbClr val="FFFFCC"/>
    <a:srgbClr val="CFD5EA"/>
    <a:srgbClr val="4472C4"/>
    <a:srgbClr val="0A74F9"/>
    <a:srgbClr val="C4D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48" autoAdjust="0"/>
    <p:restoredTop sz="94660"/>
  </p:normalViewPr>
  <p:slideViewPr>
    <p:cSldViewPr snapToGrid="0">
      <p:cViewPr varScale="1">
        <p:scale>
          <a:sx n="109" d="100"/>
          <a:sy n="109" d="100"/>
        </p:scale>
        <p:origin x="2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FF3376-9DB4-4461-9888-1396C77DDD80}" type="datetimeFigureOut">
              <a:rPr lang="zh-CN" altLang="en-US" smtClean="0"/>
              <a:t>2026/7/22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066566-37A5-4B76-8242-8ED462C8FD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zh-CN" altLang="en-US"/>
              <a:t>棘手的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subtle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call for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relieve (problem)hunger, poverty, traffic congestion</a:t>
            </a:r>
          </a:p>
          <a:p>
            <a:r>
              <a:rPr lang="en-US"/>
              <a:t>(emotion) boredom, anxiety</a:t>
            </a:r>
          </a:p>
          <a:p>
            <a:r>
              <a:rPr lang="en-US"/>
              <a:t>(physical suffering) pain, tension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82CF8D2-1FBB-4566-BAA4-CFEBD45A3143}" type="datetimeFigureOut">
              <a:rPr lang="zh-CN" altLang="en-US" smtClean="0"/>
              <a:t>2026/7/22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CF8D2-1FBB-4566-BAA4-CFEBD45A3143}" type="datetimeFigureOut">
              <a:rPr lang="zh-CN" altLang="en-US" smtClean="0"/>
              <a:t>2026/7/22</a:t>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3B083D-B8AC-4346-88EF-1027595E983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9.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11.xml"/><Relationship Id="rId5" Type="http://schemas.openxmlformats.org/officeDocument/2006/relationships/image" Target="../media/image4.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hemeOverride" Target="../theme/themeOverride1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hemeOverride" Target="../theme/themeOverride15.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16.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hemeOverride" Target="../theme/themeOverride17.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hemeOverride" Target="../theme/themeOverride18.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hemeOverride" Target="../theme/themeOverride19.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hemeOverride" Target="../theme/themeOverride2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40640" y="127635"/>
            <a:ext cx="12190730" cy="5996940"/>
          </a:xfrm>
          <a:prstGeom prst="rect">
            <a:avLst/>
          </a:prstGeom>
          <a:noFill/>
        </p:spPr>
        <p:txBody>
          <a:bodyPr wrap="square" rtlCol="0">
            <a:spAutoFit/>
          </a:bodyPr>
          <a:lstStyle/>
          <a:p>
            <a:pPr indent="-358775" fontAlgn="auto">
              <a:lnSpc>
                <a:spcPct val="120000"/>
              </a:lnSpc>
            </a:pPr>
            <a:r>
              <a:rPr lang="en-US" altLang="zh-CN" sz="3200" b="1" dirty="0">
                <a:latin typeface="+mj-lt"/>
              </a:rPr>
              <a:t>1</a:t>
            </a:r>
            <a:r>
              <a:rPr lang="en-US" altLang="zh-CN" sz="3200" b="1" dirty="0">
                <a:solidFill>
                  <a:schemeClr val="tx1"/>
                </a:solidFill>
                <a:latin typeface="+mj-lt"/>
              </a:rPr>
              <a:t>. </a:t>
            </a:r>
            <a:r>
              <a:rPr lang="en-US" altLang="zh-CN" sz="3200" b="1" dirty="0">
                <a:solidFill>
                  <a:srgbClr val="FF0000"/>
                </a:solidFill>
                <a:latin typeface="+mj-lt"/>
              </a:rPr>
              <a:t>No matter how </a:t>
            </a:r>
            <a:r>
              <a:rPr lang="en-US" altLang="zh-CN" sz="3200" b="1" dirty="0">
                <a:solidFill>
                  <a:schemeClr val="tx1"/>
                </a:solidFill>
                <a:latin typeface="+mj-lt"/>
              </a:rPr>
              <a:t>bad my </a:t>
            </a:r>
            <a:r>
              <a:rPr lang="en-US" altLang="zh-CN" sz="3200" b="1" dirty="0">
                <a:solidFill>
                  <a:srgbClr val="FF0000"/>
                </a:solidFill>
                <a:latin typeface="+mj-lt"/>
              </a:rPr>
              <a:t>mood</a:t>
            </a:r>
            <a:r>
              <a:rPr lang="en-US" altLang="zh-CN" sz="3200" b="1" dirty="0">
                <a:solidFill>
                  <a:schemeClr val="tx1"/>
                </a:solidFill>
                <a:latin typeface="+mj-lt"/>
              </a:rPr>
              <a:t> is, that perfect </a:t>
            </a:r>
            <a:r>
              <a:rPr lang="en-US" altLang="zh-CN" sz="3200" b="1" dirty="0">
                <a:latin typeface="+mj-lt"/>
              </a:rPr>
              <a:t>combination</a:t>
            </a:r>
            <a:r>
              <a:rPr lang="en-US" altLang="zh-CN" sz="3200" b="1" dirty="0">
                <a:solidFill>
                  <a:schemeClr val="tx1"/>
                </a:solidFill>
                <a:latin typeface="+mj-lt"/>
              </a:rPr>
              <a:t> is always enough to </a:t>
            </a:r>
            <a:r>
              <a:rPr lang="en-US" altLang="zh-CN" sz="3200" b="1" dirty="0">
                <a:solidFill>
                  <a:srgbClr val="FF0000"/>
                </a:solidFill>
                <a:latin typeface="+mj-lt"/>
              </a:rPr>
              <a:t>lift my spirits</a:t>
            </a:r>
            <a:r>
              <a:rPr lang="en-US" altLang="zh-CN" sz="3200" b="1" dirty="0">
                <a:solidFill>
                  <a:schemeClr val="tx1"/>
                </a:solidFill>
                <a:latin typeface="+mj-lt"/>
              </a:rPr>
              <a:t>.  </a:t>
            </a:r>
          </a:p>
          <a:p>
            <a:pPr indent="1905" fontAlgn="auto">
              <a:lnSpc>
                <a:spcPct val="120000"/>
              </a:lnSpc>
            </a:pPr>
            <a:r>
              <a:rPr lang="zh-CN" altLang="en-US" sz="3200" b="1" dirty="0">
                <a:solidFill>
                  <a:schemeClr val="tx1"/>
                </a:solidFill>
                <a:latin typeface="+mj-lt"/>
              </a:rPr>
              <a:t>不管我的心情有多糟糕，那种完美的结合总能够</a:t>
            </a:r>
            <a:r>
              <a:rPr lang="zh-CN" altLang="en-US" sz="3200" b="1" dirty="0">
                <a:solidFill>
                  <a:srgbClr val="FF0000"/>
                </a:solidFill>
                <a:latin typeface="+mj-lt"/>
              </a:rPr>
              <a:t>振奋我的情绪</a:t>
            </a:r>
            <a:r>
              <a:rPr lang="zh-CN" altLang="en-US" sz="3200" b="1" dirty="0">
                <a:solidFill>
                  <a:schemeClr val="tx1"/>
                </a:solidFill>
                <a:latin typeface="+mj-lt"/>
              </a:rPr>
              <a:t>。</a:t>
            </a:r>
            <a:endParaRPr lang="en-US" altLang="zh-CN" sz="3200" b="1" dirty="0">
              <a:solidFill>
                <a:schemeClr val="tx1"/>
              </a:solidFill>
              <a:latin typeface="+mj-lt"/>
            </a:endParaRPr>
          </a:p>
          <a:p>
            <a:pPr indent="-2780030" fontAlgn="auto">
              <a:lnSpc>
                <a:spcPct val="120000"/>
              </a:lnSpc>
            </a:pPr>
            <a:r>
              <a:rPr lang="en-US" altLang="zh-CN" sz="3200" b="1" dirty="0">
                <a:solidFill>
                  <a:srgbClr val="FF0000"/>
                </a:solidFill>
                <a:latin typeface="+mj-lt"/>
              </a:rPr>
              <a:t>No matter how</a:t>
            </a:r>
            <a:r>
              <a:rPr lang="en-US" altLang="zh-CN" sz="3200" b="1" dirty="0">
                <a:solidFill>
                  <a:schemeClr val="tx1"/>
                </a:solidFill>
                <a:latin typeface="+mj-lt"/>
              </a:rPr>
              <a:t>: </a:t>
            </a:r>
            <a:r>
              <a:rPr lang="zh-CN" altLang="en-US" sz="3200" b="1" dirty="0">
                <a:solidFill>
                  <a:srgbClr val="FF0000"/>
                </a:solidFill>
                <a:latin typeface="+mj-lt"/>
              </a:rPr>
              <a:t>无论怎么</a:t>
            </a:r>
            <a:r>
              <a:rPr lang="en-US" altLang="zh-CN" sz="3200" b="1" dirty="0">
                <a:solidFill>
                  <a:srgbClr val="FF0000"/>
                </a:solidFill>
                <a:latin typeface="+mj-ea"/>
                <a:ea typeface="+mj-ea"/>
              </a:rPr>
              <a:t>……</a:t>
            </a:r>
            <a:r>
              <a:rPr lang="en-US" altLang="zh-CN" sz="3200" b="1" dirty="0">
                <a:solidFill>
                  <a:srgbClr val="FF0000"/>
                </a:solidFill>
                <a:latin typeface="+mj-lt"/>
                <a:ea typeface="+mj-ea"/>
              </a:rPr>
              <a:t> (</a:t>
            </a:r>
            <a:r>
              <a:rPr lang="zh-CN" altLang="en-US" sz="3200" b="1" dirty="0">
                <a:solidFill>
                  <a:srgbClr val="FF0000"/>
                </a:solidFill>
                <a:latin typeface="+mj-lt"/>
                <a:ea typeface="+mj-ea"/>
              </a:rPr>
              <a:t>让步状语从句</a:t>
            </a:r>
            <a:r>
              <a:rPr lang="en-US" altLang="zh-CN" sz="3200" b="1" dirty="0">
                <a:solidFill>
                  <a:srgbClr val="FF0000"/>
                </a:solidFill>
                <a:latin typeface="+mj-lt"/>
                <a:ea typeface="+mj-ea"/>
              </a:rPr>
              <a:t>)</a:t>
            </a:r>
          </a:p>
          <a:p>
            <a:pPr indent="-2780030" fontAlgn="auto">
              <a:lnSpc>
                <a:spcPct val="120000"/>
              </a:lnSpc>
            </a:pPr>
            <a:r>
              <a:rPr lang="en-US" altLang="zh-CN" sz="3200" b="1" dirty="0">
                <a:solidFill>
                  <a:srgbClr val="FF0000"/>
                </a:solidFill>
                <a:latin typeface="+mj-lt"/>
                <a:ea typeface="+mj-ea"/>
              </a:rPr>
              <a:t>(No matter how (=However) </a:t>
            </a:r>
            <a:r>
              <a:rPr lang="en-US" altLang="zh-CN" sz="3200" b="1" dirty="0">
                <a:latin typeface="+mj-lt"/>
                <a:ea typeface="+mj-ea"/>
              </a:rPr>
              <a:t>busy she is, she still exercises every day.</a:t>
            </a:r>
          </a:p>
          <a:p>
            <a:pPr indent="1905" fontAlgn="auto">
              <a:lnSpc>
                <a:spcPct val="120000"/>
              </a:lnSpc>
            </a:pPr>
            <a:r>
              <a:rPr lang="en-US" altLang="zh-CN" sz="3200" b="1" dirty="0">
                <a:latin typeface="+mj-lt"/>
                <a:ea typeface="+mj-ea"/>
              </a:rPr>
              <a:t>Feeding a baby is a messy job </a:t>
            </a:r>
            <a:r>
              <a:rPr lang="en-US" altLang="zh-CN" sz="3200" b="1" dirty="0">
                <a:solidFill>
                  <a:srgbClr val="FF0000"/>
                </a:solidFill>
                <a:latin typeface="+mj-lt"/>
                <a:ea typeface="+mj-ea"/>
              </a:rPr>
              <a:t>no matter how </a:t>
            </a:r>
            <a:r>
              <a:rPr lang="en-US" altLang="zh-CN" sz="3200" b="1" dirty="0">
                <a:latin typeface="+mj-lt"/>
                <a:ea typeface="+mj-ea"/>
              </a:rPr>
              <a:t>careful you are.</a:t>
            </a:r>
            <a:endParaRPr lang="zh-CN" altLang="en-US" sz="3200" b="1" dirty="0">
              <a:solidFill>
                <a:schemeClr val="tx1"/>
              </a:solidFill>
              <a:latin typeface="+mj-lt"/>
              <a:ea typeface="+mj-ea"/>
            </a:endParaRPr>
          </a:p>
          <a:p>
            <a:pPr>
              <a:lnSpc>
                <a:spcPct val="120000"/>
              </a:lnSpc>
            </a:pPr>
            <a:r>
              <a:rPr lang="zh-CN" altLang="en-US" sz="3200" b="1" dirty="0">
                <a:solidFill>
                  <a:srgbClr val="0000FF"/>
                </a:solidFill>
                <a:sym typeface="+mn-ea"/>
              </a:rPr>
              <a:t>注意：</a:t>
            </a:r>
            <a:endParaRPr lang="en-US" altLang="zh-CN" sz="3200" b="1" dirty="0">
              <a:solidFill>
                <a:srgbClr val="0000FF"/>
              </a:solidFill>
            </a:endParaRPr>
          </a:p>
          <a:p>
            <a:pPr>
              <a:lnSpc>
                <a:spcPct val="120000"/>
              </a:lnSpc>
            </a:pPr>
            <a:r>
              <a:rPr lang="zh-CN" altLang="en-US" sz="3200" b="1" dirty="0">
                <a:sym typeface="+mn-ea"/>
              </a:rPr>
              <a:t>当</a:t>
            </a:r>
            <a:r>
              <a:rPr lang="en-US" altLang="zh-CN" sz="3200" b="1" dirty="0">
                <a:solidFill>
                  <a:srgbClr val="FF0000"/>
                </a:solidFill>
                <a:sym typeface="+mn-ea"/>
              </a:rPr>
              <a:t>whoever, whichever, whatever</a:t>
            </a:r>
            <a:r>
              <a:rPr lang="zh-CN" altLang="en-US" sz="3200" b="1" dirty="0">
                <a:sym typeface="+mn-ea"/>
              </a:rPr>
              <a:t>等引导</a:t>
            </a:r>
            <a:r>
              <a:rPr lang="zh-CN" altLang="en-US" sz="3200" b="1" dirty="0">
                <a:solidFill>
                  <a:srgbClr val="FF0000"/>
                </a:solidFill>
                <a:sym typeface="+mn-ea"/>
              </a:rPr>
              <a:t>名词性从句</a:t>
            </a:r>
            <a:r>
              <a:rPr lang="zh-CN" altLang="en-US" sz="3200" b="1" dirty="0">
                <a:sym typeface="+mn-ea"/>
              </a:rPr>
              <a:t>时</a:t>
            </a:r>
            <a:r>
              <a:rPr lang="en-US" altLang="zh-CN" sz="3200" b="1" dirty="0">
                <a:sym typeface="+mn-ea"/>
              </a:rPr>
              <a:t>(</a:t>
            </a:r>
            <a:r>
              <a:rPr lang="zh-CN" altLang="en-US" sz="3200" b="1" dirty="0">
                <a:sym typeface="+mn-ea"/>
              </a:rPr>
              <a:t>即作句中名词成分</a:t>
            </a:r>
            <a:r>
              <a:rPr lang="en-US" altLang="zh-CN" sz="3200" b="1" dirty="0">
                <a:sym typeface="+mn-ea"/>
              </a:rPr>
              <a:t>)</a:t>
            </a:r>
            <a:r>
              <a:rPr lang="zh-CN" altLang="en-US" sz="3200" b="1" dirty="0">
                <a:sym typeface="+mn-ea"/>
              </a:rPr>
              <a:t>，不能换成</a:t>
            </a:r>
            <a:r>
              <a:rPr lang="en-US" altLang="zh-CN" sz="3200" b="1" dirty="0">
                <a:solidFill>
                  <a:srgbClr val="FF0000"/>
                </a:solidFill>
                <a:sym typeface="+mn-ea"/>
              </a:rPr>
              <a:t>no matter who/ which/ what</a:t>
            </a:r>
            <a:r>
              <a:rPr lang="zh-CN" altLang="en-US" sz="3200" b="1" dirty="0">
                <a:sym typeface="+mn-ea"/>
              </a:rPr>
              <a:t>等。</a:t>
            </a:r>
            <a:endParaRPr lang="en-US" altLang="zh-CN" sz="3200" b="1" dirty="0"/>
          </a:p>
          <a:p>
            <a:pPr>
              <a:lnSpc>
                <a:spcPct val="120000"/>
              </a:lnSpc>
            </a:pPr>
            <a:r>
              <a:rPr lang="en-US" altLang="zh-CN" sz="3200" b="1" dirty="0">
                <a:solidFill>
                  <a:srgbClr val="FF0000"/>
                </a:solidFill>
                <a:sym typeface="+mn-ea"/>
              </a:rPr>
              <a:t>Whatever (</a:t>
            </a:r>
            <a:r>
              <a:rPr lang="zh-CN" altLang="en-US" sz="3200" b="1" dirty="0">
                <a:solidFill>
                  <a:srgbClr val="FF0000"/>
                </a:solidFill>
                <a:sym typeface="+mn-ea"/>
              </a:rPr>
              <a:t>≠</a:t>
            </a:r>
            <a:r>
              <a:rPr lang="en-US" altLang="zh-CN" sz="3200" b="1" dirty="0">
                <a:solidFill>
                  <a:srgbClr val="FF0000"/>
                </a:solidFill>
                <a:sym typeface="+mn-ea"/>
              </a:rPr>
              <a:t>No matter what) </a:t>
            </a:r>
            <a:r>
              <a:rPr lang="en-US" altLang="zh-CN" sz="3200" b="1" dirty="0">
                <a:sym typeface="+mn-ea"/>
              </a:rPr>
              <a:t>you say is right. </a:t>
            </a:r>
            <a:endParaRPr lang="zh-CN" altLang="en-US" sz="3200" b="1" dirty="0">
              <a:solidFill>
                <a:schemeClr val="tx1"/>
              </a:solidFill>
              <a:latin typeface="+mj-lt"/>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6">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p:tgtEl>
                                          <p:spTgt spid="6">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p:tgtEl>
                                          <p:spTgt spid="6">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p:tgtEl>
                                          <p:spTgt spid="6">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p:tgtEl>
                                          <p:spTgt spid="6">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6">
                                            <p:txEl>
                                              <p:pRg st="5" end="5"/>
                                            </p:txEl>
                                          </p:spTgt>
                                        </p:tgtEl>
                                      </p:cBhvr>
                                    </p:animEffect>
                                  </p:childTnLst>
                                </p:cTn>
                              </p:par>
                              <p:par>
                                <p:cTn id="33" presetID="12" presetClass="entr" presetSubtype="4" fill="hold" nodeType="with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p:tgtEl>
                                          <p:spTgt spid="6">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6">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6">
                                            <p:txEl>
                                              <p:pRg st="7" end="7"/>
                                            </p:txEl>
                                          </p:spTgt>
                                        </p:tgtEl>
                                        <p:attrNameLst>
                                          <p:attrName>style.visibility</p:attrName>
                                        </p:attrNameLst>
                                      </p:cBhvr>
                                      <p:to>
                                        <p:strVal val="visible"/>
                                      </p:to>
                                    </p:set>
                                    <p:anim calcmode="lin" valueType="num">
                                      <p:cBhvr additive="base">
                                        <p:cTn id="41" dur="500"/>
                                        <p:tgtEl>
                                          <p:spTgt spid="6">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221615" y="179705"/>
            <a:ext cx="11712575" cy="5406390"/>
          </a:xfrm>
          <a:prstGeom prst="rect">
            <a:avLst/>
          </a:prstGeom>
          <a:noFill/>
        </p:spPr>
        <p:txBody>
          <a:bodyPr wrap="square" rtlCol="0">
            <a:spAutoFit/>
          </a:bodyPr>
          <a:lstStyle/>
          <a:p>
            <a:pPr algn="ctr" fontAlgn="auto">
              <a:lnSpc>
                <a:spcPct val="120000"/>
              </a:lnSpc>
            </a:pPr>
            <a:r>
              <a:rPr lang="en-US" altLang="zh-CN" sz="3200" b="1" dirty="0"/>
              <a:t>“no matter +</a:t>
            </a:r>
            <a:r>
              <a:rPr lang="zh-CN" altLang="en-US" sz="3200" b="1" dirty="0"/>
              <a:t>疑问词</a:t>
            </a:r>
            <a:r>
              <a:rPr lang="en-US" altLang="zh-CN" sz="3200" b="1" dirty="0"/>
              <a:t>”</a:t>
            </a:r>
            <a:r>
              <a:rPr lang="zh-CN" altLang="en-US" sz="3200" b="1" dirty="0"/>
              <a:t>引导的让步状语从句</a:t>
            </a:r>
            <a:endParaRPr lang="en-US" altLang="zh-CN" sz="3200" b="1" dirty="0"/>
          </a:p>
          <a:p>
            <a:pPr indent="-631825" fontAlgn="auto">
              <a:lnSpc>
                <a:spcPct val="120000"/>
              </a:lnSpc>
            </a:pPr>
            <a:r>
              <a:rPr lang="zh-CN" altLang="en-US" sz="3200" b="1" dirty="0"/>
              <a:t>无论你决定何时去，我都会陪着你。</a:t>
            </a:r>
          </a:p>
          <a:p>
            <a:pPr indent="-631825" fontAlgn="auto">
              <a:lnSpc>
                <a:spcPct val="120000"/>
              </a:lnSpc>
            </a:pPr>
            <a:r>
              <a:rPr lang="en-US" altLang="zh-CN" sz="3200" b="1" dirty="0">
                <a:solidFill>
                  <a:srgbClr val="FF0000"/>
                </a:solidFill>
                <a:sym typeface="+mn-ea"/>
              </a:rPr>
              <a:t>Whenever/No matter when </a:t>
            </a:r>
            <a:r>
              <a:rPr lang="en-US" altLang="zh-CN" sz="3200" b="1" dirty="0">
                <a:sym typeface="+mn-ea"/>
              </a:rPr>
              <a:t>you decide to go, I would keep you company.</a:t>
            </a:r>
          </a:p>
          <a:p>
            <a:pPr indent="-631825" fontAlgn="auto">
              <a:lnSpc>
                <a:spcPct val="120000"/>
              </a:lnSpc>
            </a:pPr>
            <a:r>
              <a:rPr lang="zh-CN" altLang="en-US" sz="3200" b="1" dirty="0">
                <a:sym typeface="+mn-ea"/>
              </a:rPr>
              <a:t>不管做什么，你必须得做好。</a:t>
            </a:r>
            <a:endParaRPr lang="en-US" altLang="zh-CN" sz="3200" b="1" dirty="0"/>
          </a:p>
          <a:p>
            <a:pPr fontAlgn="auto">
              <a:lnSpc>
                <a:spcPct val="120000"/>
              </a:lnSpc>
            </a:pPr>
            <a:r>
              <a:rPr lang="en-US" altLang="zh-CN" sz="3200" b="1" dirty="0">
                <a:solidFill>
                  <a:srgbClr val="FF0000"/>
                </a:solidFill>
              </a:rPr>
              <a:t>Whatever/No matter what </a:t>
            </a:r>
            <a:r>
              <a:rPr lang="en-US" altLang="zh-CN" sz="3200" b="1" dirty="0"/>
              <a:t>you do, you must do it well.</a:t>
            </a:r>
          </a:p>
          <a:p>
            <a:pPr fontAlgn="auto">
              <a:lnSpc>
                <a:spcPct val="120000"/>
              </a:lnSpc>
            </a:pPr>
            <a:r>
              <a:rPr lang="zh-CN" altLang="en-US" sz="3200" b="1" dirty="0">
                <a:sym typeface="+mn-ea"/>
              </a:rPr>
              <a:t>无论你在哪里工作，你都总能找到时间学习。</a:t>
            </a:r>
            <a:endParaRPr lang="en-US" altLang="zh-CN" sz="3200" b="1" dirty="0"/>
          </a:p>
          <a:p>
            <a:pPr fontAlgn="auto">
              <a:lnSpc>
                <a:spcPct val="120000"/>
              </a:lnSpc>
            </a:pPr>
            <a:r>
              <a:rPr lang="en-US" altLang="zh-CN" sz="3200" b="1" dirty="0">
                <a:solidFill>
                  <a:srgbClr val="FF0000"/>
                </a:solidFill>
              </a:rPr>
              <a:t>Wherever/No matter where </a:t>
            </a:r>
            <a:r>
              <a:rPr lang="en-US" altLang="zh-CN" sz="3200" b="1" dirty="0"/>
              <a:t>you work, you can always find time to study.</a:t>
            </a:r>
            <a:endParaRPr lang="zh-CN" altLang="en-US" sz="3200" b="1" dirty="0"/>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 y="91"/>
            <a:ext cx="979606" cy="5465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down)">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down)">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down)">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wipe(down)">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247015" y="269875"/>
            <a:ext cx="11602720" cy="4225290"/>
          </a:xfrm>
          <a:prstGeom prst="rect">
            <a:avLst/>
          </a:prstGeom>
          <a:noFill/>
        </p:spPr>
        <p:txBody>
          <a:bodyPr wrap="square" rtlCol="0">
            <a:spAutoFit/>
          </a:bodyPr>
          <a:lstStyle/>
          <a:p>
            <a:pPr>
              <a:lnSpc>
                <a:spcPct val="120000"/>
              </a:lnSpc>
            </a:pPr>
            <a:r>
              <a:rPr lang="en-US" altLang="zh-CN" sz="3200" b="1" dirty="0">
                <a:solidFill>
                  <a:srgbClr val="0000FF"/>
                </a:solidFill>
              </a:rPr>
              <a:t>【</a:t>
            </a:r>
            <a:r>
              <a:rPr lang="zh-CN" altLang="en-US" sz="3200" b="1" dirty="0">
                <a:solidFill>
                  <a:srgbClr val="0000FF"/>
                </a:solidFill>
              </a:rPr>
              <a:t>语境应用</a:t>
            </a:r>
            <a:r>
              <a:rPr lang="en-US" altLang="zh-CN" sz="3200" b="1" dirty="0">
                <a:solidFill>
                  <a:srgbClr val="0000FF"/>
                </a:solidFill>
              </a:rPr>
              <a:t>】</a:t>
            </a:r>
            <a:r>
              <a:rPr lang="zh-CN" altLang="en-US" sz="3200" b="1" dirty="0">
                <a:solidFill>
                  <a:srgbClr val="0000FF"/>
                </a:solidFill>
              </a:rPr>
              <a:t>根据汉语提示完成句子。</a:t>
            </a:r>
            <a:endParaRPr lang="en-US" altLang="zh-CN" sz="3200" b="1" dirty="0">
              <a:solidFill>
                <a:srgbClr val="0000FF"/>
              </a:solidFill>
            </a:endParaRPr>
          </a:p>
          <a:p>
            <a:pPr marL="446405" indent="-446405">
              <a:lnSpc>
                <a:spcPct val="120000"/>
              </a:lnSpc>
            </a:pPr>
            <a:r>
              <a:rPr lang="en-US" altLang="zh-CN" sz="3200" b="1" dirty="0"/>
              <a:t>1) I’ll be your true friend, _______________________________ (</a:t>
            </a:r>
            <a:r>
              <a:rPr lang="zh-CN" altLang="en-US" sz="3200" b="1" dirty="0"/>
              <a:t>无论发生什么</a:t>
            </a:r>
            <a:r>
              <a:rPr lang="en-US" altLang="zh-CN" sz="3200" b="1" dirty="0"/>
              <a:t>).</a:t>
            </a:r>
          </a:p>
          <a:p>
            <a:pPr marL="446405" indent="-446405">
              <a:lnSpc>
                <a:spcPct val="120000"/>
              </a:lnSpc>
            </a:pPr>
            <a:r>
              <a:rPr lang="en-US" altLang="zh-CN" sz="3200" b="1" dirty="0"/>
              <a:t>2) __________________________________ (</a:t>
            </a:r>
            <a:r>
              <a:rPr lang="zh-CN" altLang="en-US" sz="3200" b="1" dirty="0"/>
              <a:t>无论何时我探望他</a:t>
            </a:r>
            <a:r>
              <a:rPr lang="en-US" altLang="zh-CN" sz="3200" b="1" dirty="0"/>
              <a:t>), he is busy with his research work.</a:t>
            </a:r>
          </a:p>
          <a:p>
            <a:pPr marL="446405" indent="-446405">
              <a:lnSpc>
                <a:spcPct val="120000"/>
              </a:lnSpc>
            </a:pPr>
            <a:r>
              <a:rPr lang="en-US" altLang="zh-CN" sz="3200" b="1" dirty="0"/>
              <a:t>3) _____________________________ (</a:t>
            </a:r>
            <a:r>
              <a:rPr lang="zh-CN" altLang="en-US" sz="3200" b="1" dirty="0"/>
              <a:t>无论这辆汽车花多少钱</a:t>
            </a:r>
            <a:r>
              <a:rPr lang="en-US" altLang="zh-CN" sz="3200" b="1" dirty="0"/>
              <a:t>), I’ll buy it.</a:t>
            </a:r>
          </a:p>
        </p:txBody>
      </p:sp>
      <p:sp>
        <p:nvSpPr>
          <p:cNvPr id="3" name="文本框 2"/>
          <p:cNvSpPr txBox="1"/>
          <p:nvPr/>
        </p:nvSpPr>
        <p:spPr>
          <a:xfrm>
            <a:off x="4977039" y="747213"/>
            <a:ext cx="6311900" cy="681990"/>
          </a:xfrm>
          <a:prstGeom prst="rect">
            <a:avLst/>
          </a:prstGeom>
          <a:noFill/>
        </p:spPr>
        <p:txBody>
          <a:bodyPr wrap="none" rtlCol="0">
            <a:spAutoFit/>
          </a:bodyPr>
          <a:lstStyle/>
          <a:p>
            <a:pPr>
              <a:lnSpc>
                <a:spcPct val="120000"/>
              </a:lnSpc>
            </a:pPr>
            <a:r>
              <a:rPr lang="en-US" altLang="zh-CN" sz="3200" b="1" dirty="0">
                <a:solidFill>
                  <a:srgbClr val="FF0000"/>
                </a:solidFill>
              </a:rPr>
              <a:t> whatever/ no matter what happens</a:t>
            </a:r>
          </a:p>
        </p:txBody>
      </p:sp>
      <p:sp>
        <p:nvSpPr>
          <p:cNvPr id="4" name="文本框 3"/>
          <p:cNvSpPr txBox="1"/>
          <p:nvPr/>
        </p:nvSpPr>
        <p:spPr>
          <a:xfrm>
            <a:off x="818879" y="2041792"/>
            <a:ext cx="6842125" cy="681990"/>
          </a:xfrm>
          <a:prstGeom prst="rect">
            <a:avLst/>
          </a:prstGeom>
          <a:noFill/>
        </p:spPr>
        <p:txBody>
          <a:bodyPr wrap="none" rtlCol="0">
            <a:spAutoFit/>
          </a:bodyPr>
          <a:lstStyle/>
          <a:p>
            <a:pPr>
              <a:lnSpc>
                <a:spcPct val="120000"/>
              </a:lnSpc>
            </a:pPr>
            <a:r>
              <a:rPr lang="en-US" altLang="zh-CN" sz="3200" b="1" dirty="0">
                <a:solidFill>
                  <a:srgbClr val="FF0000"/>
                </a:solidFill>
              </a:rPr>
              <a:t>No matter when/ Whenever I visit him</a:t>
            </a:r>
          </a:p>
        </p:txBody>
      </p:sp>
      <p:sp>
        <p:nvSpPr>
          <p:cNvPr id="5" name="文本框 4"/>
          <p:cNvSpPr txBox="1"/>
          <p:nvPr/>
        </p:nvSpPr>
        <p:spPr>
          <a:xfrm>
            <a:off x="716099" y="3183686"/>
            <a:ext cx="6096000" cy="681990"/>
          </a:xfrm>
          <a:prstGeom prst="rect">
            <a:avLst/>
          </a:prstGeom>
          <a:noFill/>
        </p:spPr>
        <p:txBody>
          <a:bodyPr wrap="none" rtlCol="0">
            <a:spAutoFit/>
          </a:bodyPr>
          <a:lstStyle/>
          <a:p>
            <a:pPr>
              <a:lnSpc>
                <a:spcPct val="120000"/>
              </a:lnSpc>
            </a:pPr>
            <a:r>
              <a:rPr lang="en-US" altLang="zh-CN" sz="3200" b="1" dirty="0">
                <a:solidFill>
                  <a:srgbClr val="FF0000"/>
                </a:solidFill>
              </a:rPr>
              <a:t>No matter how much the car costs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300990" y="135255"/>
            <a:ext cx="11607800" cy="4225290"/>
          </a:xfrm>
          <a:prstGeom prst="rect">
            <a:avLst/>
          </a:prstGeom>
          <a:noFill/>
        </p:spPr>
        <p:txBody>
          <a:bodyPr wrap="square" rtlCol="0">
            <a:spAutoFit/>
          </a:bodyPr>
          <a:lstStyle/>
          <a:p>
            <a:pPr indent="-358775" fontAlgn="auto">
              <a:lnSpc>
                <a:spcPct val="120000"/>
              </a:lnSpc>
            </a:pPr>
            <a:r>
              <a:rPr lang="en-US" altLang="zh-CN" sz="3200" b="1" dirty="0">
                <a:solidFill>
                  <a:srgbClr val="FF0000"/>
                </a:solidFill>
                <a:sym typeface="+mn-ea"/>
              </a:rPr>
              <a:t>mood  </a:t>
            </a:r>
            <a:r>
              <a:rPr lang="zh-CN" altLang="en-US" sz="3200" b="1" i="1" dirty="0">
                <a:solidFill>
                  <a:srgbClr val="FF0000"/>
                </a:solidFill>
              </a:rPr>
              <a:t>n.</a:t>
            </a:r>
            <a:r>
              <a:rPr lang="zh-CN" altLang="en-US" sz="3200" b="1" dirty="0">
                <a:solidFill>
                  <a:srgbClr val="FF0000"/>
                </a:solidFill>
              </a:rPr>
              <a:t> </a:t>
            </a:r>
            <a:r>
              <a:rPr lang="en-US" altLang="zh-CN" sz="3200" b="1" i="1" dirty="0">
                <a:latin typeface="Times New Roman Bold Italic" panose="02020603050405020304" charset="0"/>
                <a:cs typeface="Times New Roman Bold Italic" panose="02020603050405020304" charset="0"/>
              </a:rPr>
              <a:t>the way you are feeling at a particular time</a:t>
            </a:r>
            <a:r>
              <a:rPr lang="en-US" altLang="zh-CN" sz="3200" b="1" dirty="0"/>
              <a:t> </a:t>
            </a:r>
            <a:r>
              <a:rPr lang="zh-CN" altLang="en-US" sz="3200" b="1" dirty="0">
                <a:solidFill>
                  <a:srgbClr val="FF0000"/>
                </a:solidFill>
              </a:rPr>
              <a:t>情绪，心情</a:t>
            </a:r>
          </a:p>
          <a:p>
            <a:pPr indent="-457200" fontAlgn="auto">
              <a:lnSpc>
                <a:spcPct val="120000"/>
              </a:lnSpc>
              <a:buFont typeface="Arial" panose="020B0704020202020204" pitchFamily="34" charset="0"/>
              <a:buChar char="•"/>
            </a:pPr>
            <a:r>
              <a:rPr lang="zh-CN" altLang="en-US" sz="3200" b="1" dirty="0">
                <a:solidFill>
                  <a:srgbClr val="FF0000"/>
                </a:solidFill>
              </a:rPr>
              <a:t>in a bad/good mood</a:t>
            </a:r>
            <a:r>
              <a:rPr lang="zh-CN" altLang="en-US" sz="3200" b="1" dirty="0">
                <a:solidFill>
                  <a:schemeClr val="tx1"/>
                </a:solidFill>
              </a:rPr>
              <a:t> 心情很糟/好</a:t>
            </a:r>
            <a:endParaRPr lang="en-US" altLang="zh-CN" sz="3200" b="1" dirty="0">
              <a:solidFill>
                <a:schemeClr val="tx1"/>
              </a:solidFill>
            </a:endParaRPr>
          </a:p>
          <a:p>
            <a:pPr indent="-358775" fontAlgn="auto">
              <a:lnSpc>
                <a:spcPct val="120000"/>
              </a:lnSpc>
            </a:pPr>
            <a:r>
              <a:rPr lang="zh-CN" altLang="en-US" sz="3200" b="1" dirty="0">
                <a:sym typeface="+mn-ea"/>
              </a:rPr>
              <a:t>Having been punished by his teacher, he was</a:t>
            </a:r>
            <a:r>
              <a:rPr lang="zh-CN" altLang="en-US" sz="3200" b="1" dirty="0">
                <a:solidFill>
                  <a:srgbClr val="FF0000"/>
                </a:solidFill>
                <a:sym typeface="+mn-ea"/>
              </a:rPr>
              <a:t> in a very bad mood</a:t>
            </a:r>
            <a:r>
              <a:rPr lang="zh-CN" altLang="en-US" sz="3200" b="1" dirty="0">
                <a:sym typeface="+mn-ea"/>
              </a:rPr>
              <a:t>.</a:t>
            </a:r>
            <a:r>
              <a:rPr lang="zh-CN" altLang="en-US" sz="3200" b="1" dirty="0">
                <a:solidFill>
                  <a:srgbClr val="FF0000"/>
                </a:solidFill>
                <a:sym typeface="+mn-ea"/>
              </a:rPr>
              <a:t> </a:t>
            </a:r>
            <a:endParaRPr lang="en-US" altLang="zh-CN" sz="3200" b="1" dirty="0">
              <a:solidFill>
                <a:schemeClr val="tx1"/>
              </a:solidFill>
            </a:endParaRPr>
          </a:p>
          <a:p>
            <a:pPr indent="-457200" fontAlgn="auto">
              <a:lnSpc>
                <a:spcPct val="120000"/>
              </a:lnSpc>
              <a:buFont typeface="Arial" panose="020B0704020202020204" pitchFamily="34" charset="0"/>
              <a:buChar char="•"/>
            </a:pPr>
            <a:r>
              <a:rPr lang="en-US" altLang="zh-CN" sz="3200" b="1" dirty="0">
                <a:solidFill>
                  <a:srgbClr val="FF0000"/>
                </a:solidFill>
              </a:rPr>
              <a:t>be/feel in the(no) mood for/to do… </a:t>
            </a:r>
            <a:r>
              <a:rPr lang="en-US" altLang="zh-CN" sz="3200" b="1" dirty="0">
                <a:solidFill>
                  <a:schemeClr val="tx1"/>
                </a:solidFill>
              </a:rPr>
              <a:t>(</a:t>
            </a:r>
            <a:r>
              <a:rPr lang="zh-CN" altLang="en-US" sz="3200" b="1" dirty="0">
                <a:solidFill>
                  <a:schemeClr val="tx1"/>
                </a:solidFill>
              </a:rPr>
              <a:t>没</a:t>
            </a:r>
            <a:r>
              <a:rPr lang="en-US" altLang="zh-CN" sz="3200" b="1" dirty="0">
                <a:solidFill>
                  <a:schemeClr val="tx1"/>
                </a:solidFill>
              </a:rPr>
              <a:t>)</a:t>
            </a:r>
            <a:r>
              <a:rPr lang="zh-CN" altLang="en-US" sz="3200" b="1" dirty="0"/>
              <a:t>有做</a:t>
            </a:r>
            <a:r>
              <a:rPr lang="en-US" altLang="zh-CN" sz="3200" b="1" dirty="0">
                <a:latin typeface="+mn-ea"/>
              </a:rPr>
              <a:t>……</a:t>
            </a:r>
            <a:r>
              <a:rPr lang="zh-CN" altLang="en-US" sz="3200" b="1" dirty="0"/>
              <a:t>的心情</a:t>
            </a:r>
            <a:endParaRPr lang="zh-CN" altLang="en-US" sz="3200" b="1" dirty="0">
              <a:solidFill>
                <a:srgbClr val="FF0000"/>
              </a:solidFill>
            </a:endParaRPr>
          </a:p>
          <a:p>
            <a:pPr indent="-720725" fontAlgn="auto">
              <a:lnSpc>
                <a:spcPct val="120000"/>
              </a:lnSpc>
            </a:pPr>
            <a:r>
              <a:rPr lang="en-US" altLang="zh-CN" sz="3200" b="1" dirty="0">
                <a:solidFill>
                  <a:schemeClr val="tx1"/>
                </a:solidFill>
                <a:sym typeface="+mn-ea"/>
              </a:rPr>
              <a:t>The management </a:t>
            </a:r>
            <a:r>
              <a:rPr lang="en-US" altLang="zh-CN" sz="3200" b="1" dirty="0">
                <a:solidFill>
                  <a:srgbClr val="FF0000"/>
                </a:solidFill>
                <a:sym typeface="+mn-ea"/>
              </a:rPr>
              <a:t>is in no mood for </a:t>
            </a:r>
            <a:r>
              <a:rPr lang="en-US" altLang="zh-CN" sz="3200" b="1" dirty="0">
                <a:solidFill>
                  <a:schemeClr val="tx1"/>
                </a:solidFill>
                <a:sym typeface="+mn-ea"/>
              </a:rPr>
              <a:t>compromise over this problem.</a:t>
            </a:r>
          </a:p>
          <a:p>
            <a:pPr marL="457200" indent="-457200" fontAlgn="auto">
              <a:lnSpc>
                <a:spcPct val="120000"/>
              </a:lnSpc>
              <a:buFont typeface="Arial" panose="020B0704020202020204" pitchFamily="34" charset="0"/>
              <a:buChar char="•"/>
            </a:pPr>
            <a:r>
              <a:rPr lang="en-US" altLang="zh-CN" sz="3200" b="1" dirty="0">
                <a:sym typeface="+mn-ea"/>
              </a:rPr>
              <a:t>The </a:t>
            </a:r>
            <a:r>
              <a:rPr lang="en-US" altLang="zh-CN" sz="3200" b="1" dirty="0">
                <a:solidFill>
                  <a:srgbClr val="FF0000"/>
                </a:solidFill>
                <a:sym typeface="+mn-ea"/>
              </a:rPr>
              <a:t>mood </a:t>
            </a:r>
            <a:r>
              <a:rPr lang="en-US" altLang="zh-CN" sz="3200" b="1" dirty="0">
                <a:sym typeface="+mn-ea"/>
              </a:rPr>
              <a:t>of the conference was extremely encouraging.</a:t>
            </a:r>
            <a:endParaRPr lang="zh-CN" altLang="en-US" sz="3200" b="1" dirty="0">
              <a:solidFill>
                <a:schemeClr val="tx1"/>
              </a:solidFill>
              <a:sym typeface="+mn-ea"/>
            </a:endParaRPr>
          </a:p>
        </p:txBody>
      </p:sp>
      <p:sp>
        <p:nvSpPr>
          <p:cNvPr id="2" name="Text Box 1"/>
          <p:cNvSpPr txBox="1"/>
          <p:nvPr/>
        </p:nvSpPr>
        <p:spPr>
          <a:xfrm>
            <a:off x="1530350" y="4232910"/>
            <a:ext cx="996950" cy="681990"/>
          </a:xfrm>
          <a:prstGeom prst="rect">
            <a:avLst/>
          </a:prstGeom>
          <a:noFill/>
        </p:spPr>
        <p:txBody>
          <a:bodyPr wrap="none" rtlCol="0" anchor="t">
            <a:spAutoFit/>
          </a:bodyPr>
          <a:lstStyle/>
          <a:p>
            <a:pPr>
              <a:lnSpc>
                <a:spcPct val="120000"/>
              </a:lnSpc>
            </a:pPr>
            <a:r>
              <a:rPr lang="zh-CN" altLang="en-US" sz="3200" b="1" dirty="0">
                <a:solidFill>
                  <a:srgbClr val="FF0000"/>
                </a:solidFill>
              </a:rPr>
              <a:t>气氛</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linds(horizont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linds(horizontal)">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linds(horizontal)">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p:tgtEl>
                                          <p:spTgt spid="2"/>
                                        </p:tgtEl>
                                        <p:attrNameLst>
                                          <p:attrName>ppt_y</p:attrName>
                                        </p:attrNameLst>
                                      </p:cBhvr>
                                      <p:tavLst>
                                        <p:tav tm="0">
                                          <p:val>
                                            <p:strVal val="#ppt_y+#ppt_h*1.125000"/>
                                          </p:val>
                                        </p:tav>
                                        <p:tav tm="100000">
                                          <p:val>
                                            <p:strVal val="#ppt_y"/>
                                          </p:val>
                                        </p:tav>
                                      </p:tavLst>
                                    </p:anim>
                                    <p:animEffect transition="in" filter="wipe(up)">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999490" y="151130"/>
            <a:ext cx="10924540" cy="1272540"/>
          </a:xfrm>
          <a:prstGeom prst="rect">
            <a:avLst/>
          </a:prstGeom>
        </p:spPr>
        <p:txBody>
          <a:bodyPr wrap="square">
            <a:spAutoFit/>
          </a:bodyPr>
          <a:lstStyle/>
          <a:p>
            <a:pPr marL="457200" indent="-457200">
              <a:lnSpc>
                <a:spcPct val="120000"/>
              </a:lnSpc>
              <a:buFont typeface="Arial" panose="020B0704020202020204" pitchFamily="34" charset="0"/>
              <a:buChar char="•"/>
            </a:pPr>
            <a:r>
              <a:rPr lang="zh-CN" altLang="en-US" sz="3200" b="1" dirty="0">
                <a:solidFill>
                  <a:srgbClr val="FF0000"/>
                </a:solidFill>
                <a:sym typeface="+mn-ea"/>
              </a:rPr>
              <a:t>moody </a:t>
            </a:r>
            <a:r>
              <a:rPr lang="zh-CN" altLang="en-US" sz="3200" b="1" i="1" dirty="0">
                <a:solidFill>
                  <a:srgbClr val="FF0000"/>
                </a:solidFill>
                <a:sym typeface="+mn-ea"/>
              </a:rPr>
              <a:t>a</a:t>
            </a:r>
            <a:r>
              <a:rPr lang="en-US" altLang="zh-CN" sz="3200" b="1" i="1" dirty="0" err="1">
                <a:solidFill>
                  <a:srgbClr val="FF0000"/>
                </a:solidFill>
                <a:sym typeface="+mn-ea"/>
              </a:rPr>
              <a:t>dj</a:t>
            </a:r>
            <a:r>
              <a:rPr lang="zh-CN" altLang="en-US" sz="3200" b="1" i="1" dirty="0">
                <a:solidFill>
                  <a:srgbClr val="FF0000"/>
                </a:solidFill>
                <a:sym typeface="+mn-ea"/>
              </a:rPr>
              <a:t>. </a:t>
            </a:r>
            <a:r>
              <a:rPr lang="zh-CN" altLang="en-US" sz="3200" b="1" dirty="0">
                <a:sym typeface="+mn-ea"/>
              </a:rPr>
              <a:t>心情不稳定的;  易怒的;  闷闷不乐的</a:t>
            </a:r>
            <a:endParaRPr lang="zh-CN" altLang="en-US" sz="3200" b="1" dirty="0">
              <a:solidFill>
                <a:srgbClr val="FF0000"/>
              </a:solidFill>
              <a:sym typeface="+mn-ea"/>
            </a:endParaRPr>
          </a:p>
          <a:p>
            <a:pPr indent="0">
              <a:lnSpc>
                <a:spcPct val="120000"/>
              </a:lnSpc>
              <a:buFont typeface="Wingdings" panose="05000000000000000000" charset="0"/>
              <a:buNone/>
            </a:pPr>
            <a:r>
              <a:rPr lang="zh-CN" altLang="en-US" sz="3200" b="1" dirty="0">
                <a:solidFill>
                  <a:srgbClr val="FF0000"/>
                </a:solidFill>
              </a:rPr>
              <a:t>Moody </a:t>
            </a:r>
            <a:r>
              <a:rPr lang="zh-CN" altLang="en-US" sz="3200" b="1" dirty="0"/>
              <a:t>people are very difficult to deal with. </a:t>
            </a: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542" y="151167"/>
            <a:ext cx="884039" cy="495062"/>
          </a:xfrm>
          <a:prstGeom prst="rect">
            <a:avLst/>
          </a:prstGeom>
        </p:spPr>
      </p:pic>
      <p:sp>
        <p:nvSpPr>
          <p:cNvPr id="6" name="文本框 5"/>
          <p:cNvSpPr txBox="1"/>
          <p:nvPr/>
        </p:nvSpPr>
        <p:spPr>
          <a:xfrm>
            <a:off x="275590" y="1423670"/>
            <a:ext cx="11482070" cy="2453640"/>
          </a:xfrm>
          <a:prstGeom prst="rect">
            <a:avLst/>
          </a:prstGeom>
          <a:noFill/>
        </p:spPr>
        <p:txBody>
          <a:bodyPr wrap="square" rtlCol="0">
            <a:spAutoFit/>
          </a:bodyPr>
          <a:lstStyle/>
          <a:p>
            <a:pPr>
              <a:lnSpc>
                <a:spcPct val="120000"/>
              </a:lnSpc>
            </a:pPr>
            <a:r>
              <a:rPr lang="en-US" altLang="zh-CN" sz="3200" b="1" dirty="0">
                <a:solidFill>
                  <a:srgbClr val="0000FF"/>
                </a:solidFill>
              </a:rPr>
              <a:t>【</a:t>
            </a:r>
            <a:r>
              <a:rPr lang="zh-CN" altLang="en-US" sz="3200" b="1" dirty="0">
                <a:solidFill>
                  <a:srgbClr val="0000FF"/>
                </a:solidFill>
              </a:rPr>
              <a:t>语境应用</a:t>
            </a:r>
            <a:r>
              <a:rPr lang="en-US" altLang="zh-CN" sz="3200" b="1" dirty="0">
                <a:solidFill>
                  <a:srgbClr val="0000FF"/>
                </a:solidFill>
              </a:rPr>
              <a:t>】</a:t>
            </a:r>
            <a:r>
              <a:rPr lang="zh-CN" altLang="en-US" sz="3200" b="1" dirty="0">
                <a:solidFill>
                  <a:srgbClr val="0000FF"/>
                </a:solidFill>
              </a:rPr>
              <a:t>按要求完成句子。</a:t>
            </a:r>
            <a:endParaRPr lang="en-US" altLang="zh-CN" sz="3200" b="1" dirty="0">
              <a:solidFill>
                <a:srgbClr val="0000FF"/>
              </a:solidFill>
            </a:endParaRPr>
          </a:p>
          <a:p>
            <a:pPr marL="514350" indent="-514350">
              <a:lnSpc>
                <a:spcPct val="120000"/>
              </a:lnSpc>
              <a:buAutoNum type="arabicPeriod"/>
            </a:pPr>
            <a:r>
              <a:rPr lang="zh-CN" altLang="en-US" sz="3200" b="1" dirty="0"/>
              <a:t>我没有心情和你争辩。</a:t>
            </a:r>
            <a:endParaRPr lang="en-US" altLang="zh-CN" sz="3200" b="1" dirty="0"/>
          </a:p>
          <a:p>
            <a:pPr>
              <a:lnSpc>
                <a:spcPct val="120000"/>
              </a:lnSpc>
            </a:pPr>
            <a:endParaRPr lang="en-US" altLang="zh-CN" sz="3200" b="1" dirty="0"/>
          </a:p>
          <a:p>
            <a:pPr>
              <a:lnSpc>
                <a:spcPct val="120000"/>
              </a:lnSpc>
            </a:pPr>
            <a:r>
              <a:rPr lang="en-US" altLang="zh-CN" sz="3200" b="1" dirty="0"/>
              <a:t>2. </a:t>
            </a:r>
            <a:r>
              <a:rPr lang="zh-CN" altLang="en-US" sz="3200" b="1" dirty="0"/>
              <a:t>我发现他走进办公室的时候情绪不太好。</a:t>
            </a:r>
          </a:p>
        </p:txBody>
      </p:sp>
      <p:sp>
        <p:nvSpPr>
          <p:cNvPr id="2" name="矩形 1"/>
          <p:cNvSpPr/>
          <p:nvPr/>
        </p:nvSpPr>
        <p:spPr>
          <a:xfrm>
            <a:off x="535305" y="2578735"/>
            <a:ext cx="8286115" cy="681990"/>
          </a:xfrm>
          <a:prstGeom prst="rect">
            <a:avLst/>
          </a:prstGeom>
        </p:spPr>
        <p:txBody>
          <a:bodyPr wrap="square">
            <a:spAutoFit/>
          </a:bodyPr>
          <a:lstStyle/>
          <a:p>
            <a:pPr lvl="0" indent="0" fontAlgn="auto">
              <a:lnSpc>
                <a:spcPct val="120000"/>
              </a:lnSpc>
            </a:pPr>
            <a:r>
              <a:rPr lang="en-US" altLang="zh-CN" sz="3200" b="1" dirty="0">
                <a:solidFill>
                  <a:srgbClr val="FF0000"/>
                </a:solidFill>
              </a:rPr>
              <a:t>I am in no mood to argue with you.</a:t>
            </a:r>
          </a:p>
        </p:txBody>
      </p:sp>
      <p:sp>
        <p:nvSpPr>
          <p:cNvPr id="3" name="矩形 2"/>
          <p:cNvSpPr/>
          <p:nvPr/>
        </p:nvSpPr>
        <p:spPr>
          <a:xfrm>
            <a:off x="535305" y="3877310"/>
            <a:ext cx="11259820" cy="681990"/>
          </a:xfrm>
          <a:prstGeom prst="rect">
            <a:avLst/>
          </a:prstGeom>
        </p:spPr>
        <p:txBody>
          <a:bodyPr wrap="square">
            <a:spAutoFit/>
          </a:bodyPr>
          <a:lstStyle/>
          <a:p>
            <a:pPr lvl="0" algn="l">
              <a:lnSpc>
                <a:spcPct val="120000"/>
              </a:lnSpc>
              <a:buClrTx/>
              <a:buSzTx/>
              <a:buFontTx/>
            </a:pPr>
            <a:r>
              <a:rPr lang="en-US" altLang="zh-CN" sz="3200" b="1" dirty="0">
                <a:solidFill>
                  <a:srgbClr val="FF0000"/>
                </a:solidFill>
                <a:sym typeface="+mn-ea"/>
              </a:rPr>
              <a:t>I found he was in a bad mood when he entered the office.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341630" y="1611630"/>
            <a:ext cx="11636375" cy="3044190"/>
          </a:xfrm>
          <a:prstGeom prst="rect">
            <a:avLst/>
          </a:prstGeom>
          <a:noFill/>
        </p:spPr>
        <p:txBody>
          <a:bodyPr wrap="square" rtlCol="0">
            <a:spAutoFit/>
          </a:bodyPr>
          <a:lstStyle/>
          <a:p>
            <a:pPr marL="358775" indent="-358775" fontAlgn="auto">
              <a:lnSpc>
                <a:spcPct val="120000"/>
              </a:lnSpc>
            </a:pPr>
            <a:r>
              <a:rPr lang="en-US" altLang="zh-CN" sz="3200" b="1" dirty="0"/>
              <a:t>2. Sometimes the smell alone can</a:t>
            </a:r>
            <a:r>
              <a:rPr lang="en-US" altLang="zh-CN" sz="3200" b="1" dirty="0">
                <a:solidFill>
                  <a:srgbClr val="FF0000"/>
                </a:solidFill>
              </a:rPr>
              <a:t> do the trick</a:t>
            </a:r>
            <a:r>
              <a:rPr lang="en-US" altLang="zh-CN" sz="3200" b="1" dirty="0"/>
              <a:t>,</a:t>
            </a:r>
            <a:r>
              <a:rPr lang="en-US" altLang="zh-CN" sz="3200" b="1" dirty="0">
                <a:solidFill>
                  <a:srgbClr val="FF0000"/>
                </a:solidFill>
              </a:rPr>
              <a:t> not to mention </a:t>
            </a:r>
            <a:r>
              <a:rPr lang="en-US" altLang="zh-CN" sz="3200" b="1" dirty="0"/>
              <a:t>the lovely creamy flavour, </a:t>
            </a:r>
            <a:r>
              <a:rPr lang="en-US" altLang="zh-CN" sz="3200" b="1" dirty="0">
                <a:solidFill>
                  <a:srgbClr val="FF0000"/>
                </a:solidFill>
              </a:rPr>
              <a:t>which</a:t>
            </a:r>
            <a:r>
              <a:rPr lang="en-US" altLang="zh-CN" sz="3200" b="1" dirty="0"/>
              <a:t> works like a time machine immediately </a:t>
            </a:r>
            <a:r>
              <a:rPr lang="en-US" altLang="zh-CN" sz="3200" b="1" dirty="0">
                <a:solidFill>
                  <a:srgbClr val="FF0000"/>
                </a:solidFill>
              </a:rPr>
              <a:t>transporting</a:t>
            </a:r>
            <a:r>
              <a:rPr lang="en-US" altLang="zh-CN" sz="3200" b="1" dirty="0"/>
              <a:t> me back to my sunny childhood. </a:t>
            </a:r>
          </a:p>
          <a:p>
            <a:pPr marL="358775" indent="1905" fontAlgn="auto">
              <a:lnSpc>
                <a:spcPct val="120000"/>
              </a:lnSpc>
            </a:pPr>
            <a:endParaRPr lang="en-US" altLang="zh-CN" sz="3200" b="1" dirty="0">
              <a:solidFill>
                <a:srgbClr val="0000FF"/>
              </a:solidFill>
            </a:endParaRPr>
          </a:p>
          <a:p>
            <a:pPr marL="358775" indent="1905" fontAlgn="auto">
              <a:lnSpc>
                <a:spcPct val="120000"/>
              </a:lnSpc>
            </a:pPr>
            <a:endParaRPr lang="en-US" altLang="zh-CN" sz="3200" b="1" dirty="0">
              <a:solidFill>
                <a:srgbClr val="0000FF"/>
              </a:solidFill>
            </a:endParaRPr>
          </a:p>
        </p:txBody>
      </p:sp>
      <p:sp>
        <p:nvSpPr>
          <p:cNvPr id="2" name="圆角矩形标注 1"/>
          <p:cNvSpPr/>
          <p:nvPr/>
        </p:nvSpPr>
        <p:spPr>
          <a:xfrm>
            <a:off x="9095232" y="1071826"/>
            <a:ext cx="2323235" cy="539908"/>
          </a:xfrm>
          <a:prstGeom prst="wedgeRoundRectCallou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rPr>
              <a:t>引出附加成分</a:t>
            </a:r>
          </a:p>
        </p:txBody>
      </p:sp>
      <p:cxnSp>
        <p:nvCxnSpPr>
          <p:cNvPr id="6" name="直接连接符 5"/>
          <p:cNvCxnSpPr/>
          <p:nvPr/>
        </p:nvCxnSpPr>
        <p:spPr>
          <a:xfrm flipV="1">
            <a:off x="8486775" y="2301070"/>
            <a:ext cx="1892808" cy="13716"/>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7" name="圆角矩形标注 6"/>
          <p:cNvSpPr/>
          <p:nvPr/>
        </p:nvSpPr>
        <p:spPr>
          <a:xfrm>
            <a:off x="2987167" y="367030"/>
            <a:ext cx="4770311" cy="741094"/>
          </a:xfrm>
          <a:prstGeom prst="wedgeRoundRectCallout">
            <a:avLst>
              <a:gd name="adj1" fmla="val 9537"/>
              <a:gd name="adj2" fmla="val 138845"/>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rgbClr val="FF0000"/>
                </a:solidFill>
              </a:rPr>
              <a:t>which</a:t>
            </a:r>
            <a:r>
              <a:rPr lang="zh-CN" altLang="en-US" sz="2400" b="1" dirty="0">
                <a:solidFill>
                  <a:srgbClr val="FF0000"/>
                </a:solidFill>
              </a:rPr>
              <a:t>引导非限制性定语从句</a:t>
            </a:r>
            <a:r>
              <a:rPr lang="en-US" altLang="zh-CN" sz="2400" b="1" dirty="0">
                <a:solidFill>
                  <a:srgbClr val="FF0000"/>
                </a:solidFill>
              </a:rPr>
              <a:t>,</a:t>
            </a:r>
            <a:r>
              <a:rPr lang="zh-CN" altLang="en-US" sz="2400" b="1" dirty="0">
                <a:solidFill>
                  <a:srgbClr val="FF0000"/>
                </a:solidFill>
              </a:rPr>
              <a:t>修饰</a:t>
            </a:r>
            <a:r>
              <a:rPr lang="en-US" altLang="zh-CN" sz="2400" b="1" dirty="0">
                <a:solidFill>
                  <a:srgbClr val="FF0000"/>
                </a:solidFill>
              </a:rPr>
              <a:t>the lovely creamy </a:t>
            </a:r>
            <a:r>
              <a:rPr lang="en-US" altLang="zh-CN" sz="2400" b="1" dirty="0" err="1">
                <a:solidFill>
                  <a:srgbClr val="FF0000"/>
                </a:solidFill>
              </a:rPr>
              <a:t>flavour</a:t>
            </a:r>
            <a:endParaRPr lang="zh-CN" altLang="en-US" sz="2400" b="1" dirty="0">
              <a:solidFill>
                <a:srgbClr val="FF0000"/>
              </a:solidFill>
            </a:endParaRPr>
          </a:p>
        </p:txBody>
      </p:sp>
      <p:cxnSp>
        <p:nvCxnSpPr>
          <p:cNvPr id="8" name="直接连接符 7"/>
          <p:cNvCxnSpPr/>
          <p:nvPr/>
        </p:nvCxnSpPr>
        <p:spPr>
          <a:xfrm>
            <a:off x="3146806" y="3433910"/>
            <a:ext cx="6346825"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10" name="圆角矩形标注 9"/>
          <p:cNvSpPr/>
          <p:nvPr/>
        </p:nvSpPr>
        <p:spPr>
          <a:xfrm>
            <a:off x="669925" y="3902075"/>
            <a:ext cx="7087870" cy="753745"/>
          </a:xfrm>
          <a:prstGeom prst="wedgeRoundRectCallout">
            <a:avLst>
              <a:gd name="adj1" fmla="val -11772"/>
              <a:gd name="adj2" fmla="val -101811"/>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rPr>
              <a:t>分词短语作后置定语，修饰名词短语</a:t>
            </a:r>
            <a:r>
              <a:rPr lang="en-US" altLang="zh-CN" sz="2400" b="1" dirty="0">
                <a:solidFill>
                  <a:srgbClr val="FF0000"/>
                </a:solidFill>
              </a:rPr>
              <a:t>a time machine</a:t>
            </a:r>
            <a:endParaRPr lang="zh-CN" altLang="en-US" sz="2400" b="1" dirty="0">
              <a:solidFill>
                <a:srgbClr val="FF0000"/>
              </a:solidFill>
            </a:endParaRPr>
          </a:p>
        </p:txBody>
      </p:sp>
      <p:sp>
        <p:nvSpPr>
          <p:cNvPr id="13" name="矩形 12"/>
          <p:cNvSpPr/>
          <p:nvPr/>
        </p:nvSpPr>
        <p:spPr>
          <a:xfrm>
            <a:off x="341630" y="4931410"/>
            <a:ext cx="11307445" cy="1272540"/>
          </a:xfrm>
          <a:prstGeom prst="rect">
            <a:avLst/>
          </a:prstGeom>
        </p:spPr>
        <p:txBody>
          <a:bodyPr wrap="square">
            <a:spAutoFit/>
          </a:bodyPr>
          <a:lstStyle/>
          <a:p>
            <a:pPr>
              <a:lnSpc>
                <a:spcPct val="120000"/>
              </a:lnSpc>
            </a:pPr>
            <a:r>
              <a:rPr lang="zh-CN" altLang="en-US" sz="3200" b="1" dirty="0"/>
              <a:t>有时只是闻到香味就能奏效了，更不用说那美妙的奶油的味道了，它就像一台时光机，立刻把我带回阳光灿烂的童年。</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7" grpId="0" bldLvl="0" animBg="1"/>
      <p:bldP spid="10" grpId="0" bldLvl="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267970" y="283210"/>
            <a:ext cx="11532235" cy="4420870"/>
          </a:xfrm>
          <a:prstGeom prst="rect">
            <a:avLst/>
          </a:prstGeom>
          <a:noFill/>
        </p:spPr>
        <p:txBody>
          <a:bodyPr wrap="square" rtlCol="0">
            <a:spAutoFit/>
          </a:bodyPr>
          <a:lstStyle/>
          <a:p>
            <a:pPr indent="0" fontAlgn="auto">
              <a:lnSpc>
                <a:spcPct val="110000"/>
              </a:lnSpc>
            </a:pPr>
            <a:r>
              <a:rPr lang="en-US" altLang="zh-CN" sz="3200" b="1" dirty="0">
                <a:solidFill>
                  <a:srgbClr val="FF0000"/>
                </a:solidFill>
              </a:rPr>
              <a:t>do the trick:  </a:t>
            </a:r>
            <a:r>
              <a:rPr lang="en-US" altLang="zh-CN" sz="3200" b="1" i="1" dirty="0">
                <a:latin typeface="Times New Roman Bold Italic" panose="02020603050405020304" charset="0"/>
                <a:cs typeface="Times New Roman Bold Italic" panose="02020603050405020304" charset="0"/>
              </a:rPr>
              <a:t>to succeed in solving a problem or achieving a particular result </a:t>
            </a:r>
            <a:r>
              <a:rPr lang="en-US" altLang="zh-CN" sz="3200" b="1" dirty="0"/>
              <a:t> </a:t>
            </a:r>
            <a:r>
              <a:rPr lang="en-US" altLang="zh-CN" sz="3200" b="1" dirty="0" err="1">
                <a:solidFill>
                  <a:srgbClr val="FF0000"/>
                </a:solidFill>
              </a:rPr>
              <a:t>奏效</a:t>
            </a:r>
            <a:r>
              <a:rPr lang="zh-CN" altLang="en-US" sz="3200" b="1" dirty="0">
                <a:solidFill>
                  <a:srgbClr val="FF0000"/>
                </a:solidFill>
              </a:rPr>
              <a:t>，</a:t>
            </a:r>
            <a:r>
              <a:rPr lang="en-US" altLang="zh-CN" sz="3200" b="1" dirty="0" err="1">
                <a:solidFill>
                  <a:srgbClr val="FF0000"/>
                </a:solidFill>
              </a:rPr>
              <a:t>起作用</a:t>
            </a:r>
            <a:r>
              <a:rPr lang="zh-CN" altLang="en-US" sz="3200" b="1" dirty="0">
                <a:solidFill>
                  <a:srgbClr val="FF0000"/>
                </a:solidFill>
              </a:rPr>
              <a:t>，</a:t>
            </a:r>
            <a:r>
              <a:rPr lang="en-US" altLang="zh-CN" sz="3200" b="1" dirty="0" err="1">
                <a:solidFill>
                  <a:srgbClr val="FF0000"/>
                </a:solidFill>
              </a:rPr>
              <a:t>达到目的</a:t>
            </a:r>
          </a:p>
          <a:p>
            <a:pPr indent="0" fontAlgn="auto">
              <a:lnSpc>
                <a:spcPct val="110000"/>
              </a:lnSpc>
            </a:pPr>
            <a:endParaRPr lang="en-US" altLang="zh-CN" sz="3200" b="1" dirty="0">
              <a:solidFill>
                <a:srgbClr val="FF0000"/>
              </a:solidFill>
            </a:endParaRPr>
          </a:p>
          <a:p>
            <a:pPr indent="0" fontAlgn="auto">
              <a:lnSpc>
                <a:spcPct val="110000"/>
              </a:lnSpc>
            </a:pPr>
            <a:r>
              <a:rPr lang="en-US" altLang="zh-CN" sz="3200" b="1" dirty="0"/>
              <a:t>A bit more sugar should </a:t>
            </a:r>
            <a:r>
              <a:rPr lang="en-US" altLang="zh-CN" sz="3200" b="1" dirty="0">
                <a:solidFill>
                  <a:srgbClr val="FF0000"/>
                </a:solidFill>
              </a:rPr>
              <a:t>do the trick</a:t>
            </a:r>
            <a:r>
              <a:rPr lang="en-US" altLang="zh-CN" sz="3200" b="1" dirty="0"/>
              <a:t>.</a:t>
            </a:r>
          </a:p>
          <a:p>
            <a:pPr indent="0" fontAlgn="auto">
              <a:lnSpc>
                <a:spcPct val="110000"/>
              </a:lnSpc>
            </a:pPr>
            <a:r>
              <a:rPr lang="zh-CN" altLang="en-US" sz="3200" b="1" dirty="0"/>
              <a:t>再加一点糖应该就可以了。</a:t>
            </a:r>
          </a:p>
          <a:p>
            <a:pPr indent="0" fontAlgn="auto">
              <a:lnSpc>
                <a:spcPct val="110000"/>
              </a:lnSpc>
            </a:pPr>
            <a:r>
              <a:rPr lang="en-US" altLang="zh-CN" sz="3200" b="1" dirty="0"/>
              <a:t>This sauce needs a bit of </a:t>
            </a:r>
            <a:r>
              <a:rPr lang="en-US" altLang="zh-CN" sz="3200" b="1" dirty="0" err="1"/>
              <a:t>flavour</a:t>
            </a:r>
            <a:r>
              <a:rPr lang="en-US" altLang="zh-CN" sz="3200" b="1" dirty="0"/>
              <a:t> — I know, some lemon juice should/ought to </a:t>
            </a:r>
            <a:r>
              <a:rPr lang="en-US" altLang="zh-CN" sz="3200" b="1" dirty="0">
                <a:solidFill>
                  <a:srgbClr val="FF0000"/>
                </a:solidFill>
              </a:rPr>
              <a:t>do the trick</a:t>
            </a:r>
            <a:r>
              <a:rPr lang="en-US" altLang="zh-CN" sz="3200" b="1" dirty="0"/>
              <a:t>.</a:t>
            </a:r>
          </a:p>
          <a:p>
            <a:pPr indent="0" fontAlgn="auto">
              <a:lnSpc>
                <a:spcPct val="110000"/>
              </a:lnSpc>
            </a:pPr>
            <a:r>
              <a:rPr lang="zh-CN" altLang="en-US" sz="3200" b="1" dirty="0"/>
              <a:t>这个酱汁还差点味道</a:t>
            </a:r>
            <a:r>
              <a:rPr lang="en-US" altLang="zh-CN" sz="3200" b="1" dirty="0"/>
              <a:t>—</a:t>
            </a:r>
            <a:r>
              <a:rPr lang="zh-CN" altLang="en-US" sz="3200" b="1" dirty="0"/>
              <a:t>我知道了，放些柠檬汁应该会好。</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20345" y="343535"/>
            <a:ext cx="11741785" cy="4815840"/>
          </a:xfrm>
          <a:prstGeom prst="rect">
            <a:avLst/>
          </a:prstGeom>
        </p:spPr>
        <p:txBody>
          <a:bodyPr wrap="square">
            <a:spAutoFit/>
          </a:bodyPr>
          <a:lstStyle/>
          <a:p>
            <a:pPr indent="-2784475" fontAlgn="auto">
              <a:lnSpc>
                <a:spcPct val="120000"/>
              </a:lnSpc>
            </a:pPr>
            <a:r>
              <a:rPr lang="en-US" altLang="zh-CN" sz="3200" b="1" dirty="0">
                <a:solidFill>
                  <a:srgbClr val="FF0000"/>
                </a:solidFill>
                <a:latin typeface="+mj-lt"/>
              </a:rPr>
              <a:t>not to mention</a:t>
            </a:r>
            <a:r>
              <a:rPr lang="en-US" altLang="zh-CN" sz="3200" b="1" dirty="0">
                <a:latin typeface="+mj-lt"/>
              </a:rPr>
              <a:t>: </a:t>
            </a:r>
            <a:r>
              <a:rPr lang="en-US" altLang="zh-CN" sz="3200" b="1" i="1" dirty="0">
                <a:latin typeface="Times New Roman Bold Italic" panose="02020603050405020304" charset="0"/>
                <a:cs typeface="Times New Roman Bold Italic" panose="02020603050405020304" charset="0"/>
              </a:rPr>
              <a:t>used to introduce an additional thing that makes a situation even more difficult, surprising, interesting </a:t>
            </a:r>
            <a:r>
              <a:rPr lang="en-US" altLang="zh-CN" sz="3200" b="1" i="1" dirty="0" err="1">
                <a:latin typeface="Times New Roman Bold Italic" panose="02020603050405020304" charset="0"/>
                <a:cs typeface="Times New Roman Bold Italic" panose="02020603050405020304" charset="0"/>
              </a:rPr>
              <a:t>etc</a:t>
            </a:r>
            <a:r>
              <a:rPr lang="en-US" altLang="zh-CN" sz="3200" b="1" dirty="0">
                <a:latin typeface="+mj-lt"/>
              </a:rPr>
              <a:t> </a:t>
            </a:r>
            <a:r>
              <a:rPr lang="zh-CN" altLang="en-US" sz="3200" b="1" dirty="0">
                <a:solidFill>
                  <a:srgbClr val="FF0000"/>
                </a:solidFill>
                <a:latin typeface="+mj-lt"/>
              </a:rPr>
              <a:t>更不用说某事物了</a:t>
            </a:r>
            <a:endParaRPr lang="en-US" altLang="zh-CN" sz="3200" b="1" dirty="0">
              <a:solidFill>
                <a:srgbClr val="FF0000"/>
              </a:solidFill>
              <a:latin typeface="+mj-lt"/>
            </a:endParaRPr>
          </a:p>
          <a:p>
            <a:pPr indent="-720725" fontAlgn="auto">
              <a:lnSpc>
                <a:spcPct val="120000"/>
              </a:lnSpc>
            </a:pPr>
            <a:endParaRPr lang="zh-CN" altLang="en-US" sz="3200" b="1" dirty="0">
              <a:latin typeface="+mj-lt"/>
              <a:sym typeface="+mn-ea"/>
            </a:endParaRPr>
          </a:p>
          <a:p>
            <a:pPr indent="-720725" fontAlgn="auto">
              <a:lnSpc>
                <a:spcPct val="120000"/>
              </a:lnSpc>
            </a:pPr>
            <a:r>
              <a:rPr lang="zh-CN" altLang="en-US" sz="3200" b="1" dirty="0">
                <a:latin typeface="+mj-lt"/>
                <a:sym typeface="+mn-ea"/>
              </a:rPr>
              <a:t>污染对生活在这个城市里的每一个人的健康都有害处，更不用说对环境的破坏了。</a:t>
            </a:r>
            <a:endParaRPr lang="en-US" altLang="zh-CN" sz="3200" b="1" dirty="0">
              <a:latin typeface="+mj-lt"/>
            </a:endParaRPr>
          </a:p>
          <a:p>
            <a:pPr indent="-720725" fontAlgn="auto">
              <a:lnSpc>
                <a:spcPct val="120000"/>
              </a:lnSpc>
            </a:pPr>
            <a:r>
              <a:rPr lang="en-US" altLang="zh-CN" sz="3200" b="1" dirty="0">
                <a:latin typeface="+mj-lt"/>
              </a:rPr>
              <a:t>Pollution has a negative effect on the health of everyone living in the city, </a:t>
            </a:r>
            <a:r>
              <a:rPr lang="en-US" altLang="zh-CN" sz="3200" b="1" dirty="0">
                <a:solidFill>
                  <a:srgbClr val="FF0000"/>
                </a:solidFill>
                <a:latin typeface="+mj-lt"/>
              </a:rPr>
              <a:t>not to mention </a:t>
            </a:r>
            <a:r>
              <a:rPr lang="en-US" altLang="zh-CN" sz="3200" b="1" dirty="0">
                <a:latin typeface="+mj-lt"/>
              </a:rPr>
              <a:t>the damage to the environment.</a:t>
            </a:r>
            <a:endParaRPr lang="zh-CN" altLang="en-US" sz="3200" b="1" dirty="0">
              <a:latin typeface="+mj-l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blinds(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blinds(horizontal)">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286385" y="187960"/>
            <a:ext cx="11686540" cy="5996940"/>
          </a:xfrm>
          <a:prstGeom prst="rect">
            <a:avLst/>
          </a:prstGeom>
          <a:noFill/>
        </p:spPr>
        <p:txBody>
          <a:bodyPr wrap="square" rtlCol="0">
            <a:spAutoFit/>
          </a:bodyPr>
          <a:lstStyle/>
          <a:p>
            <a:pPr indent="0" fontAlgn="auto">
              <a:lnSpc>
                <a:spcPct val="120000"/>
              </a:lnSpc>
            </a:pPr>
            <a:r>
              <a:rPr lang="en-US" altLang="zh-CN" sz="3200" b="1" dirty="0" err="1">
                <a:solidFill>
                  <a:srgbClr val="FF0000"/>
                </a:solidFill>
              </a:rPr>
              <a:t>flavour</a:t>
            </a:r>
            <a:r>
              <a:rPr lang="en-US" altLang="zh-CN" sz="3200" b="1" dirty="0">
                <a:solidFill>
                  <a:srgbClr val="FF0000"/>
                </a:solidFill>
              </a:rPr>
              <a:t>  </a:t>
            </a:r>
            <a:r>
              <a:rPr lang="en-US" altLang="zh-CN" sz="3200" b="1" i="1" dirty="0">
                <a:solidFill>
                  <a:srgbClr val="FF0000"/>
                </a:solidFill>
              </a:rPr>
              <a:t>n</a:t>
            </a:r>
            <a:r>
              <a:rPr lang="en-US" altLang="zh-CN" sz="3200" b="1" dirty="0">
                <a:solidFill>
                  <a:srgbClr val="FF0000"/>
                </a:solidFill>
              </a:rPr>
              <a:t>. </a:t>
            </a:r>
          </a:p>
          <a:p>
            <a:pPr marL="457200" indent="-457200" fontAlgn="auto">
              <a:lnSpc>
                <a:spcPct val="120000"/>
              </a:lnSpc>
              <a:buFont typeface="Arial" panose="020B0704020202020204" pitchFamily="34" charset="0"/>
              <a:buChar char="•"/>
            </a:pPr>
            <a:r>
              <a:rPr lang="zh-CN" altLang="en-US" sz="3200" b="1" dirty="0">
                <a:solidFill>
                  <a:srgbClr val="FF0000"/>
                </a:solidFill>
              </a:rPr>
              <a:t>味道</a:t>
            </a:r>
            <a:r>
              <a:rPr lang="en-US" altLang="zh-CN" sz="3200" b="1" dirty="0">
                <a:solidFill>
                  <a:srgbClr val="FF0000"/>
                </a:solidFill>
              </a:rPr>
              <a:t> u.</a:t>
            </a:r>
            <a:r>
              <a:rPr lang="zh-CN" altLang="en-US" sz="3200" b="1" dirty="0">
                <a:solidFill>
                  <a:srgbClr val="FF0000"/>
                </a:solidFill>
              </a:rPr>
              <a:t>，某种味道</a:t>
            </a:r>
            <a:r>
              <a:rPr lang="en-US" altLang="zh-CN" sz="3200" b="1" dirty="0">
                <a:solidFill>
                  <a:srgbClr val="FF0000"/>
                </a:solidFill>
              </a:rPr>
              <a:t> c.</a:t>
            </a:r>
            <a:endParaRPr lang="zh-CN" altLang="en-US" sz="3200" b="1" dirty="0">
              <a:solidFill>
                <a:srgbClr val="FF0000"/>
              </a:solidFill>
            </a:endParaRPr>
          </a:p>
          <a:p>
            <a:pPr marL="457200" indent="-457200" fontAlgn="auto">
              <a:lnSpc>
                <a:spcPct val="120000"/>
              </a:lnSpc>
              <a:buFont typeface="Arial" panose="020B0704020202020204" pitchFamily="34" charset="0"/>
              <a:buChar char="•"/>
            </a:pPr>
            <a:r>
              <a:rPr lang="en-US" altLang="zh-CN" sz="3200" b="1" i="1" dirty="0">
                <a:sym typeface="+mn-ea"/>
              </a:rPr>
              <a:t>a particular quality that something has</a:t>
            </a:r>
            <a:r>
              <a:rPr lang="en-US" altLang="zh-CN" sz="3200" b="1" i="1" dirty="0">
                <a:solidFill>
                  <a:srgbClr val="FF0000"/>
                </a:solidFill>
                <a:sym typeface="+mn-ea"/>
              </a:rPr>
              <a:t>  </a:t>
            </a:r>
            <a:r>
              <a:rPr lang="zh-CN" altLang="en-US" sz="3200" b="1" dirty="0">
                <a:solidFill>
                  <a:srgbClr val="FF0000"/>
                </a:solidFill>
                <a:sym typeface="+mn-ea"/>
              </a:rPr>
              <a:t>特色，特点</a:t>
            </a:r>
            <a:endParaRPr lang="zh-CN" altLang="en-US" sz="3200" b="1" dirty="0">
              <a:solidFill>
                <a:srgbClr val="FF0000"/>
              </a:solidFill>
            </a:endParaRPr>
          </a:p>
          <a:p>
            <a:pPr indent="0" fontAlgn="auto">
              <a:lnSpc>
                <a:spcPct val="120000"/>
              </a:lnSpc>
              <a:buFont typeface="Arial" panose="020B0704020202020204" pitchFamily="34" charset="0"/>
              <a:buNone/>
            </a:pPr>
            <a:r>
              <a:rPr lang="en-US" altLang="zh-CN" sz="3200" b="1" dirty="0">
                <a:sym typeface="+mn-ea"/>
              </a:rPr>
              <a:t>The tomatoes </a:t>
            </a:r>
            <a:r>
              <a:rPr lang="en-US" altLang="zh-CN" sz="3200" b="1" u="sng" dirty="0">
                <a:solidFill>
                  <a:srgbClr val="FF0000"/>
                </a:solidFill>
                <a:sym typeface="+mn-ea"/>
              </a:rPr>
              <a:t>give (extra) flavour (to</a:t>
            </a:r>
            <a:r>
              <a:rPr lang="en-US" altLang="zh-CN" sz="3200" b="1" dirty="0">
                <a:sym typeface="+mn-ea"/>
              </a:rPr>
              <a:t> the sauce).</a:t>
            </a:r>
            <a:endParaRPr lang="zh-CN" altLang="en-US" sz="3200" b="1" dirty="0">
              <a:solidFill>
                <a:schemeClr val="tx1"/>
              </a:solidFill>
            </a:endParaRPr>
          </a:p>
          <a:p>
            <a:pPr indent="0" fontAlgn="auto">
              <a:lnSpc>
                <a:spcPct val="120000"/>
              </a:lnSpc>
              <a:buFont typeface="Arial" panose="020B0704020202020204" pitchFamily="34" charset="0"/>
              <a:buNone/>
            </a:pPr>
            <a:r>
              <a:rPr lang="zh-CN" altLang="en-US" sz="3200" b="1" dirty="0">
                <a:solidFill>
                  <a:schemeClr val="tx1"/>
                </a:solidFill>
              </a:rPr>
              <a:t>给……增加风味</a:t>
            </a:r>
          </a:p>
          <a:p>
            <a:pPr indent="0" fontAlgn="auto">
              <a:lnSpc>
                <a:spcPct val="120000"/>
              </a:lnSpc>
              <a:buFont typeface="Arial" panose="020B0704020202020204" pitchFamily="34" charset="0"/>
              <a:buNone/>
            </a:pPr>
            <a:r>
              <a:rPr lang="en-US" altLang="zh-CN" sz="3200" b="1" dirty="0">
                <a:latin typeface="Times New Roman Bold" panose="02020603050405020304" charset="0"/>
                <a:cs typeface="Times New Roman Bold" panose="02020603050405020304" charset="0"/>
              </a:rPr>
              <a:t>T</a:t>
            </a:r>
            <a:r>
              <a:rPr lang="zh-CN" altLang="en-US" sz="3200" b="1" dirty="0">
                <a:latin typeface="Times New Roman Bold" panose="02020603050405020304" charset="0"/>
                <a:cs typeface="Times New Roman Bold" panose="02020603050405020304" charset="0"/>
              </a:rPr>
              <a:t>he book captures </a:t>
            </a:r>
            <a:r>
              <a:rPr lang="zh-CN" altLang="en-US" sz="3200" b="1" u="sng" dirty="0">
                <a:solidFill>
                  <a:srgbClr val="FF0000"/>
                </a:solidFill>
                <a:latin typeface="Times New Roman Bold" panose="02020603050405020304" charset="0"/>
                <a:cs typeface="Times New Roman Bold" panose="02020603050405020304" charset="0"/>
              </a:rPr>
              <a:t>the flavour of</a:t>
            </a:r>
            <a:r>
              <a:rPr lang="zh-CN" altLang="en-US" sz="3200" b="1" dirty="0">
                <a:latin typeface="Times New Roman Bold" panose="02020603050405020304" charset="0"/>
                <a:cs typeface="Times New Roman Bold" panose="02020603050405020304" charset="0"/>
              </a:rPr>
              <a:t> London</a:t>
            </a:r>
            <a:r>
              <a:rPr lang="en-US" altLang="zh-CN" sz="3200" b="1" dirty="0">
                <a:latin typeface="Times New Roman Bold" panose="02020603050405020304" charset="0"/>
                <a:cs typeface="Times New Roman Bold" panose="02020603050405020304" charset="0"/>
              </a:rPr>
              <a:t>.</a:t>
            </a:r>
          </a:p>
          <a:p>
            <a:pPr indent="0" fontAlgn="auto">
              <a:lnSpc>
                <a:spcPct val="120000"/>
              </a:lnSpc>
              <a:buFont typeface="Arial" panose="020B0704020202020204" pitchFamily="34" charset="0"/>
              <a:buNone/>
            </a:pPr>
            <a:r>
              <a:rPr lang="zh-CN" altLang="en-US" sz="3200" b="1" dirty="0">
                <a:latin typeface="Times New Roman Bold" panose="02020603050405020304" charset="0"/>
                <a:cs typeface="Times New Roman Bold" panose="02020603050405020304" charset="0"/>
              </a:rPr>
              <a:t>这本书抓住了伦敦的风情。</a:t>
            </a:r>
          </a:p>
          <a:p>
            <a:pPr indent="0" fontAlgn="auto">
              <a:lnSpc>
                <a:spcPct val="120000"/>
              </a:lnSpc>
              <a:buFont typeface="Arial" panose="020B0704020202020204" pitchFamily="34" charset="0"/>
              <a:buNone/>
            </a:pPr>
            <a:r>
              <a:rPr lang="zh-CN" altLang="en-US" sz="3200" b="1" dirty="0"/>
              <a:t>salt and vinegar </a:t>
            </a:r>
            <a:r>
              <a:rPr lang="zh-CN" altLang="en-US" sz="3200" b="1" dirty="0">
                <a:solidFill>
                  <a:srgbClr val="FF0000"/>
                </a:solidFill>
              </a:rPr>
              <a:t>flavour </a:t>
            </a:r>
            <a:r>
              <a:rPr lang="zh-CN" altLang="en-US" sz="3200" b="1" dirty="0"/>
              <a:t>crisps</a:t>
            </a:r>
            <a:r>
              <a:rPr lang="en-US" altLang="zh-CN" sz="3200" b="1" dirty="0"/>
              <a:t> 咸酸口味的薯片</a:t>
            </a:r>
          </a:p>
          <a:p>
            <a:pPr indent="0" fontAlgn="auto">
              <a:lnSpc>
                <a:spcPct val="120000"/>
              </a:lnSpc>
              <a:buFont typeface="Arial" panose="020B0704020202020204" pitchFamily="34" charset="0"/>
              <a:buNone/>
            </a:pPr>
            <a:r>
              <a:rPr lang="zh-CN" altLang="en-US" sz="3200" b="1" dirty="0">
                <a:solidFill>
                  <a:schemeClr val="tx1"/>
                </a:solidFill>
              </a:rPr>
              <a:t>a wine with </a:t>
            </a:r>
            <a:r>
              <a:rPr lang="zh-CN" altLang="en-US" sz="3200" b="1" u="sng" dirty="0">
                <a:solidFill>
                  <a:srgbClr val="FF0000"/>
                </a:solidFill>
              </a:rPr>
              <a:t>a delicate fruit flavour</a:t>
            </a:r>
            <a:endParaRPr lang="zh-CN" altLang="en-US" sz="3200" b="1" dirty="0">
              <a:solidFill>
                <a:schemeClr val="tx1"/>
              </a:solidFill>
            </a:endParaRPr>
          </a:p>
          <a:p>
            <a:pPr indent="0" fontAlgn="auto">
              <a:lnSpc>
                <a:spcPct val="120000"/>
              </a:lnSpc>
              <a:buFont typeface="Arial" panose="020B0704020202020204" pitchFamily="34" charset="0"/>
              <a:buNone/>
            </a:pPr>
            <a:r>
              <a:rPr lang="zh-CN" altLang="en-US" sz="3200" b="1" dirty="0">
                <a:solidFill>
                  <a:schemeClr val="tx1"/>
                </a:solidFill>
              </a:rPr>
              <a:t>有淡淡的水果味的葡萄酒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blinds(horizontal)">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blinds(horizontal)">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blinds(horizontal)">
                                      <p:cBhvr>
                                        <p:cTn id="4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330200" y="333375"/>
            <a:ext cx="11656695" cy="3044190"/>
          </a:xfrm>
          <a:prstGeom prst="rect">
            <a:avLst/>
          </a:prstGeom>
          <a:noFill/>
        </p:spPr>
        <p:txBody>
          <a:bodyPr wrap="square" rtlCol="0">
            <a:spAutoFit/>
          </a:bodyPr>
          <a:lstStyle/>
          <a:p>
            <a:pPr>
              <a:lnSpc>
                <a:spcPct val="120000"/>
              </a:lnSpc>
            </a:pPr>
            <a:r>
              <a:rPr lang="en-US" altLang="zh-CN" sz="3200" b="1" dirty="0" err="1">
                <a:solidFill>
                  <a:srgbClr val="FF0000"/>
                </a:solidFill>
              </a:rPr>
              <a:t>flavour</a:t>
            </a:r>
            <a:r>
              <a:rPr lang="en-US" altLang="zh-CN" sz="3200" b="1" dirty="0"/>
              <a:t>  </a:t>
            </a:r>
            <a:r>
              <a:rPr lang="en-US" altLang="zh-CN" sz="3200" b="1" i="1" dirty="0">
                <a:solidFill>
                  <a:srgbClr val="FF0000"/>
                </a:solidFill>
              </a:rPr>
              <a:t>vt</a:t>
            </a:r>
            <a:r>
              <a:rPr lang="en-US" altLang="zh-CN" sz="3200" b="1" dirty="0">
                <a:solidFill>
                  <a:srgbClr val="FF0000"/>
                </a:solidFill>
              </a:rPr>
              <a:t>.</a:t>
            </a:r>
            <a:r>
              <a:rPr lang="en-US" altLang="zh-CN" sz="3200" b="1" dirty="0"/>
              <a:t> </a:t>
            </a:r>
            <a:r>
              <a:rPr lang="en-US" altLang="zh-CN" sz="3200" b="1" i="1" dirty="0">
                <a:latin typeface="Times New Roman Bold Italic" panose="02020603050405020304" charset="0"/>
                <a:cs typeface="Times New Roman Bold Italic" panose="02020603050405020304" charset="0"/>
              </a:rPr>
              <a:t>to give </a:t>
            </a:r>
            <a:r>
              <a:rPr lang="en-US" altLang="zh-CN" sz="3200" b="1" i="1" dirty="0" err="1">
                <a:latin typeface="Times New Roman Bold Italic" panose="02020603050405020304" charset="0"/>
                <a:cs typeface="Times New Roman Bold Italic" panose="02020603050405020304" charset="0"/>
              </a:rPr>
              <a:t>flavour</a:t>
            </a:r>
            <a:r>
              <a:rPr lang="en-US" altLang="zh-CN" sz="3200" b="1" i="1" dirty="0">
                <a:latin typeface="Times New Roman Bold Italic" panose="02020603050405020304" charset="0"/>
                <a:cs typeface="Times New Roman Bold Italic" panose="02020603050405020304" charset="0"/>
              </a:rPr>
              <a:t> to </a:t>
            </a:r>
            <a:r>
              <a:rPr lang="zh-CN" altLang="en-US" sz="3200" b="1" dirty="0">
                <a:solidFill>
                  <a:srgbClr val="FF0000"/>
                </a:solidFill>
              </a:rPr>
              <a:t>给</a:t>
            </a:r>
            <a:r>
              <a:rPr lang="en-US" altLang="zh-CN" sz="3200" b="1" dirty="0">
                <a:solidFill>
                  <a:srgbClr val="FF0000"/>
                </a:solidFill>
                <a:latin typeface="+mn-ea"/>
              </a:rPr>
              <a:t>……</a:t>
            </a:r>
            <a:r>
              <a:rPr lang="zh-CN" altLang="en-US" sz="3200" b="1" dirty="0">
                <a:solidFill>
                  <a:srgbClr val="FF0000"/>
                </a:solidFill>
              </a:rPr>
              <a:t>调味，加味于</a:t>
            </a:r>
            <a:endParaRPr lang="en-US" altLang="zh-CN" sz="3200" b="1" dirty="0">
              <a:solidFill>
                <a:srgbClr val="FF0000"/>
              </a:solidFill>
            </a:endParaRPr>
          </a:p>
          <a:p>
            <a:pPr>
              <a:lnSpc>
                <a:spcPct val="120000"/>
              </a:lnSpc>
            </a:pPr>
            <a:r>
              <a:rPr lang="en-US" altLang="zh-CN" sz="3200" b="1" dirty="0"/>
              <a:t>This sauce </a:t>
            </a:r>
            <a:r>
              <a:rPr lang="en-US" altLang="zh-CN" sz="3200" b="1" u="sng" dirty="0">
                <a:solidFill>
                  <a:srgbClr val="FF0000"/>
                </a:solidFill>
              </a:rPr>
              <a:t>is </a:t>
            </a:r>
            <a:r>
              <a:rPr lang="en-US" altLang="zh-CN" sz="3200" b="1" u="sng" dirty="0" err="1">
                <a:solidFill>
                  <a:srgbClr val="FF0000"/>
                </a:solidFill>
              </a:rPr>
              <a:t>flavoured</a:t>
            </a:r>
            <a:r>
              <a:rPr lang="en-US" altLang="zh-CN" sz="3200" b="1" u="sng" dirty="0">
                <a:solidFill>
                  <a:srgbClr val="FF0000"/>
                </a:solidFill>
              </a:rPr>
              <a:t> with</a:t>
            </a:r>
            <a:r>
              <a:rPr lang="en-US" altLang="zh-CN" sz="3200" b="1" dirty="0"/>
              <a:t> garlic and herbs.</a:t>
            </a:r>
          </a:p>
          <a:p>
            <a:pPr>
              <a:lnSpc>
                <a:spcPct val="120000"/>
              </a:lnSpc>
            </a:pPr>
            <a:r>
              <a:rPr lang="zh-CN" altLang="en-US" sz="3200" b="1" dirty="0"/>
              <a:t>这种酱加了大蒜和香草调味。</a:t>
            </a:r>
          </a:p>
          <a:p>
            <a:pPr>
              <a:lnSpc>
                <a:spcPct val="120000"/>
              </a:lnSpc>
            </a:pPr>
            <a:r>
              <a:rPr lang="zh-CN" altLang="en-US" sz="3200" b="1" u="sng" dirty="0">
                <a:solidFill>
                  <a:srgbClr val="FF0000"/>
                </a:solidFill>
              </a:rPr>
              <a:t>Flavour</a:t>
            </a:r>
            <a:r>
              <a:rPr lang="zh-CN" altLang="en-US" sz="3200" b="1" dirty="0"/>
              <a:t> your favourite dishes </a:t>
            </a:r>
            <a:r>
              <a:rPr lang="zh-CN" altLang="en-US" sz="3200" b="1" u="sng" dirty="0">
                <a:solidFill>
                  <a:srgbClr val="FF0000"/>
                </a:solidFill>
              </a:rPr>
              <a:t>with</a:t>
            </a:r>
            <a:r>
              <a:rPr lang="zh-CN" altLang="en-US" sz="3200" b="1" dirty="0"/>
              <a:t> exotic herbs and spices.</a:t>
            </a:r>
          </a:p>
          <a:p>
            <a:pPr>
              <a:lnSpc>
                <a:spcPct val="120000"/>
              </a:lnSpc>
            </a:pPr>
            <a:r>
              <a:rPr lang="zh-CN" altLang="en-US" sz="3200" b="1" dirty="0"/>
              <a:t>把异国风味的芳草和香料加到你最喜爱的菜肴里调味。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422910" y="1052195"/>
            <a:ext cx="11325225" cy="4225290"/>
          </a:xfrm>
          <a:prstGeom prst="rect">
            <a:avLst/>
          </a:prstGeom>
          <a:noFill/>
        </p:spPr>
        <p:txBody>
          <a:bodyPr wrap="square" rtlCol="0">
            <a:spAutoFit/>
          </a:bodyPr>
          <a:lstStyle/>
          <a:p>
            <a:pPr>
              <a:lnSpc>
                <a:spcPct val="120000"/>
              </a:lnSpc>
            </a:pPr>
            <a:r>
              <a:rPr lang="en-US" altLang="zh-CN" sz="3200" b="1" dirty="0">
                <a:solidFill>
                  <a:srgbClr val="FF0000"/>
                </a:solidFill>
              </a:rPr>
              <a:t>with a …(adj./n.) </a:t>
            </a:r>
            <a:r>
              <a:rPr lang="en-US" altLang="zh-CN" sz="3200" b="1" dirty="0" err="1">
                <a:solidFill>
                  <a:srgbClr val="FF0000"/>
                </a:solidFill>
              </a:rPr>
              <a:t>flavour</a:t>
            </a:r>
            <a:r>
              <a:rPr lang="en-US" altLang="zh-CN" sz="3200" b="1" dirty="0">
                <a:solidFill>
                  <a:srgbClr val="FF0000"/>
                </a:solidFill>
              </a:rPr>
              <a:t> </a:t>
            </a:r>
            <a:r>
              <a:rPr lang="zh-CN" altLang="en-US" sz="3200" b="1" dirty="0"/>
              <a:t>有</a:t>
            </a:r>
            <a:r>
              <a:rPr lang="en-US" altLang="zh-CN" sz="3200" b="1" dirty="0">
                <a:latin typeface="+mj-ea"/>
                <a:ea typeface="+mj-ea"/>
              </a:rPr>
              <a:t>……</a:t>
            </a:r>
            <a:r>
              <a:rPr lang="zh-CN" altLang="en-US" sz="3200" b="1" dirty="0"/>
              <a:t>的味道</a:t>
            </a:r>
            <a:endParaRPr lang="en-US" altLang="zh-CN" sz="3200" b="1" dirty="0"/>
          </a:p>
          <a:p>
            <a:pPr>
              <a:lnSpc>
                <a:spcPct val="120000"/>
              </a:lnSpc>
            </a:pPr>
            <a:r>
              <a:rPr lang="en-US" altLang="zh-CN" sz="3200" b="1" dirty="0"/>
              <a:t>a dish </a:t>
            </a:r>
            <a:r>
              <a:rPr lang="en-US" altLang="zh-CN" sz="3200" b="1" dirty="0">
                <a:solidFill>
                  <a:srgbClr val="FF0000"/>
                </a:solidFill>
              </a:rPr>
              <a:t>with a</a:t>
            </a:r>
            <a:r>
              <a:rPr lang="en-US" altLang="zh-CN" sz="3200" b="1" dirty="0"/>
              <a:t> strong spicy </a:t>
            </a:r>
            <a:r>
              <a:rPr lang="en-US" altLang="zh-CN" sz="3200" b="1" dirty="0" err="1">
                <a:solidFill>
                  <a:srgbClr val="FF0000"/>
                </a:solidFill>
              </a:rPr>
              <a:t>flavour</a:t>
            </a:r>
          </a:p>
          <a:p>
            <a:pPr>
              <a:lnSpc>
                <a:spcPct val="120000"/>
              </a:lnSpc>
            </a:pPr>
            <a:r>
              <a:rPr lang="zh-CN" altLang="en-US" sz="3200" b="1" dirty="0"/>
              <a:t>辣味很重的一道菜</a:t>
            </a:r>
          </a:p>
          <a:p>
            <a:pPr>
              <a:lnSpc>
                <a:spcPct val="120000"/>
              </a:lnSpc>
            </a:pPr>
            <a:endParaRPr lang="zh-CN" altLang="en-US" sz="3200" b="1" dirty="0"/>
          </a:p>
          <a:p>
            <a:pPr>
              <a:lnSpc>
                <a:spcPct val="120000"/>
              </a:lnSpc>
            </a:pPr>
            <a:r>
              <a:rPr lang="en-US" altLang="zh-CN" sz="3200" b="1" dirty="0">
                <a:solidFill>
                  <a:srgbClr val="FF0000"/>
                </a:solidFill>
                <a:sym typeface="+mn-ea"/>
              </a:rPr>
              <a:t>flavour of the month </a:t>
            </a:r>
            <a:r>
              <a:rPr lang="zh-CN" altLang="en-US" sz="3200" b="1" dirty="0">
                <a:sym typeface="+mn-ea"/>
              </a:rPr>
              <a:t>风靡一时的人</a:t>
            </a:r>
            <a:r>
              <a:rPr lang="en-US" altLang="zh-CN" sz="3200" b="1" dirty="0">
                <a:sym typeface="+mn-ea"/>
              </a:rPr>
              <a:t>(</a:t>
            </a:r>
            <a:r>
              <a:rPr lang="zh-CN" altLang="en-US" sz="3200" b="1" dirty="0">
                <a:sym typeface="+mn-ea"/>
              </a:rPr>
              <a:t>或事物</a:t>
            </a:r>
            <a:r>
              <a:rPr lang="en-US" altLang="zh-CN" sz="3200" b="1" dirty="0">
                <a:sym typeface="+mn-ea"/>
              </a:rPr>
              <a:t>)</a:t>
            </a:r>
            <a:endParaRPr lang="zh-CN" altLang="en-US" sz="3200" b="1" dirty="0"/>
          </a:p>
          <a:p>
            <a:pPr>
              <a:lnSpc>
                <a:spcPct val="120000"/>
              </a:lnSpc>
            </a:pPr>
            <a:r>
              <a:rPr lang="en-US" altLang="zh-CN" sz="3200" b="1" dirty="0"/>
              <a:t>Mary is certainly </a:t>
            </a:r>
            <a:r>
              <a:rPr lang="en-US" altLang="zh-CN" sz="3200" b="1" dirty="0" err="1">
                <a:solidFill>
                  <a:srgbClr val="FF0000"/>
                </a:solidFill>
              </a:rPr>
              <a:t>flavour</a:t>
            </a:r>
            <a:r>
              <a:rPr lang="en-US" altLang="zh-CN" sz="3200" b="1" dirty="0">
                <a:solidFill>
                  <a:srgbClr val="FF0000"/>
                </a:solidFill>
              </a:rPr>
              <a:t> of the month </a:t>
            </a:r>
            <a:r>
              <a:rPr lang="en-US" altLang="zh-CN" sz="3200" b="1" dirty="0"/>
              <a:t>with the boss.</a:t>
            </a:r>
          </a:p>
          <a:p>
            <a:pPr>
              <a:lnSpc>
                <a:spcPct val="120000"/>
              </a:lnSpc>
            </a:pPr>
            <a:r>
              <a:rPr lang="en-US" altLang="zh-CN" sz="3200" b="1" dirty="0"/>
              <a:t>Mary</a:t>
            </a:r>
            <a:r>
              <a:rPr lang="zh-CN" altLang="en-US" sz="3200" b="1" dirty="0"/>
              <a:t>当然是老板跟前的红人。</a:t>
            </a: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2715" y="268605"/>
            <a:ext cx="939165" cy="495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blinds(horizontal)">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542925" y="405765"/>
            <a:ext cx="11151235" cy="3634740"/>
          </a:xfrm>
          <a:prstGeom prst="rect">
            <a:avLst/>
          </a:prstGeom>
          <a:noFill/>
        </p:spPr>
        <p:txBody>
          <a:bodyPr wrap="square" rtlCol="0">
            <a:spAutoFit/>
          </a:bodyPr>
          <a:lstStyle/>
          <a:p>
            <a:pPr>
              <a:lnSpc>
                <a:spcPct val="120000"/>
              </a:lnSpc>
            </a:pPr>
            <a:r>
              <a:rPr lang="en-US" altLang="zh-CN" sz="3200" b="1" dirty="0">
                <a:solidFill>
                  <a:srgbClr val="0000FF"/>
                </a:solidFill>
              </a:rPr>
              <a:t>【</a:t>
            </a:r>
            <a:r>
              <a:rPr lang="zh-CN" altLang="en-US" sz="3200" b="1" dirty="0">
                <a:solidFill>
                  <a:srgbClr val="0000FF"/>
                </a:solidFill>
              </a:rPr>
              <a:t>语境应用</a:t>
            </a:r>
            <a:r>
              <a:rPr lang="en-US" altLang="zh-CN" sz="3200" b="1" dirty="0">
                <a:solidFill>
                  <a:srgbClr val="0000FF"/>
                </a:solidFill>
              </a:rPr>
              <a:t>】</a:t>
            </a:r>
            <a:r>
              <a:rPr lang="zh-CN" altLang="en-US" sz="3200" b="1" dirty="0">
                <a:solidFill>
                  <a:srgbClr val="0000FF"/>
                </a:solidFill>
              </a:rPr>
              <a:t>根据汉语意思完成句子。</a:t>
            </a:r>
            <a:endParaRPr lang="en-US" altLang="zh-CN" sz="3200" b="1" dirty="0">
              <a:solidFill>
                <a:srgbClr val="0000FF"/>
              </a:solidFill>
            </a:endParaRPr>
          </a:p>
          <a:p>
            <a:pPr>
              <a:lnSpc>
                <a:spcPct val="120000"/>
              </a:lnSpc>
            </a:pPr>
            <a:r>
              <a:rPr lang="en-US" altLang="zh-CN" sz="3200" b="1" dirty="0"/>
              <a:t>1) </a:t>
            </a:r>
            <a:r>
              <a:rPr lang="zh-CN" altLang="en-US" sz="3200" b="1" dirty="0"/>
              <a:t>我的鱼肉美味可口，但是查尔斯的牛肉几乎没什么味道。</a:t>
            </a:r>
            <a:endParaRPr lang="en-US" altLang="zh-CN" sz="3200" b="1" dirty="0"/>
          </a:p>
          <a:p>
            <a:pPr indent="446405">
              <a:lnSpc>
                <a:spcPct val="120000"/>
              </a:lnSpc>
            </a:pPr>
            <a:r>
              <a:rPr lang="en-US" altLang="zh-CN" sz="3200" b="1" dirty="0"/>
              <a:t>My fish was delicious but Charles’ beef had almost __________.</a:t>
            </a:r>
          </a:p>
          <a:p>
            <a:pPr>
              <a:lnSpc>
                <a:spcPct val="120000"/>
              </a:lnSpc>
            </a:pPr>
            <a:r>
              <a:rPr lang="en-US" altLang="zh-CN" sz="3200" b="1" dirty="0"/>
              <a:t>2) </a:t>
            </a:r>
            <a:r>
              <a:rPr lang="zh-CN" altLang="en-US" sz="3200" b="1" dirty="0"/>
              <a:t>你可以用新鲜香草给汤调味。</a:t>
            </a:r>
            <a:endParaRPr lang="en-US" altLang="zh-CN" sz="3200" b="1" dirty="0"/>
          </a:p>
          <a:p>
            <a:pPr indent="446405">
              <a:lnSpc>
                <a:spcPct val="120000"/>
              </a:lnSpc>
            </a:pPr>
            <a:r>
              <a:rPr lang="en-US" altLang="zh-CN" sz="3200" b="1" dirty="0"/>
              <a:t>You can use fresh herbs ___________ the soup.</a:t>
            </a:r>
          </a:p>
        </p:txBody>
      </p:sp>
      <p:sp>
        <p:nvSpPr>
          <p:cNvPr id="3" name="文本框 2"/>
          <p:cNvSpPr txBox="1"/>
          <p:nvPr/>
        </p:nvSpPr>
        <p:spPr>
          <a:xfrm>
            <a:off x="542925" y="2145665"/>
            <a:ext cx="2258695" cy="681990"/>
          </a:xfrm>
          <a:prstGeom prst="rect">
            <a:avLst/>
          </a:prstGeom>
          <a:noFill/>
        </p:spPr>
        <p:txBody>
          <a:bodyPr wrap="square" rtlCol="0">
            <a:spAutoFit/>
          </a:bodyPr>
          <a:lstStyle/>
          <a:p>
            <a:pPr>
              <a:lnSpc>
                <a:spcPct val="120000"/>
              </a:lnSpc>
            </a:pPr>
            <a:r>
              <a:rPr lang="en-US" altLang="zh-CN" sz="3200" b="1" dirty="0">
                <a:solidFill>
                  <a:srgbClr val="FF0000"/>
                </a:solidFill>
              </a:rPr>
              <a:t> no </a:t>
            </a:r>
            <a:r>
              <a:rPr lang="en-US" altLang="zh-CN" sz="3200" b="1" dirty="0" err="1">
                <a:solidFill>
                  <a:srgbClr val="FF0000"/>
                </a:solidFill>
              </a:rPr>
              <a:t>flavour</a:t>
            </a:r>
          </a:p>
        </p:txBody>
      </p:sp>
      <p:sp>
        <p:nvSpPr>
          <p:cNvPr id="4" name="文本框 3"/>
          <p:cNvSpPr txBox="1"/>
          <p:nvPr/>
        </p:nvSpPr>
        <p:spPr>
          <a:xfrm>
            <a:off x="5361305" y="3317875"/>
            <a:ext cx="2159635" cy="681990"/>
          </a:xfrm>
          <a:prstGeom prst="rect">
            <a:avLst/>
          </a:prstGeom>
          <a:noFill/>
        </p:spPr>
        <p:txBody>
          <a:bodyPr wrap="square" rtlCol="0">
            <a:spAutoFit/>
          </a:bodyPr>
          <a:lstStyle/>
          <a:p>
            <a:pPr>
              <a:lnSpc>
                <a:spcPct val="120000"/>
              </a:lnSpc>
            </a:pPr>
            <a:r>
              <a:rPr lang="en-US" altLang="zh-CN" sz="3200" b="1" dirty="0">
                <a:solidFill>
                  <a:srgbClr val="FF0000"/>
                </a:solidFill>
              </a:rPr>
              <a:t> to </a:t>
            </a:r>
            <a:r>
              <a:rPr lang="en-US" altLang="zh-CN" sz="3200" b="1" dirty="0" err="1">
                <a:solidFill>
                  <a:srgbClr val="FF0000"/>
                </a:solidFill>
              </a:rPr>
              <a:t>flavour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blinds(horizontal)">
                                      <p:cBhvr>
                                        <p:cTn id="20" dur="500"/>
                                        <p:tgtEl>
                                          <p:spTgt spid="2">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blinds(horizontal)">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randombar(horizontal)">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321310" y="1722755"/>
            <a:ext cx="11546840" cy="2453640"/>
          </a:xfrm>
          <a:prstGeom prst="rect">
            <a:avLst/>
          </a:prstGeom>
          <a:noFill/>
        </p:spPr>
        <p:txBody>
          <a:bodyPr wrap="square" rtlCol="0">
            <a:spAutoFit/>
          </a:bodyPr>
          <a:lstStyle/>
          <a:p>
            <a:pPr marL="358775" indent="-358775">
              <a:lnSpc>
                <a:spcPct val="120000"/>
              </a:lnSpc>
            </a:pPr>
            <a:r>
              <a:rPr lang="en-US" altLang="zh-CN" sz="3200" b="1" dirty="0"/>
              <a:t>3. With pleasure, I remember the lazy Sunday afternoons I used to spend in the warmth of my grandma’s flat, listening to her wonderful stories and greedily eating bowl after bowl of her delicious rice pudding.</a:t>
            </a:r>
          </a:p>
        </p:txBody>
      </p:sp>
      <p:sp>
        <p:nvSpPr>
          <p:cNvPr id="3" name="矩形 2"/>
          <p:cNvSpPr/>
          <p:nvPr/>
        </p:nvSpPr>
        <p:spPr>
          <a:xfrm>
            <a:off x="321310" y="4758690"/>
            <a:ext cx="11733530" cy="1863090"/>
          </a:xfrm>
          <a:prstGeom prst="rect">
            <a:avLst/>
          </a:prstGeom>
        </p:spPr>
        <p:txBody>
          <a:bodyPr wrap="square">
            <a:spAutoFit/>
          </a:bodyPr>
          <a:lstStyle/>
          <a:p>
            <a:pPr marL="358775" lvl="0">
              <a:lnSpc>
                <a:spcPct val="120000"/>
              </a:lnSpc>
            </a:pPr>
            <a:r>
              <a:rPr lang="zh-CN" altLang="en-US" sz="3200" b="1" dirty="0">
                <a:solidFill>
                  <a:prstClr val="black"/>
                </a:solidFill>
              </a:rPr>
              <a:t>欣欣然，我回忆起那些慵懒的周日午后，那时我常常在外婆温暖的公寓里，一边听她讲那些精彩的故事，一边一碗又一碗贪婪地吃着她做的美味的大米布丁。</a:t>
            </a:r>
          </a:p>
        </p:txBody>
      </p:sp>
      <p:sp>
        <p:nvSpPr>
          <p:cNvPr id="4" name="圆角矩形标注 3"/>
          <p:cNvSpPr/>
          <p:nvPr/>
        </p:nvSpPr>
        <p:spPr>
          <a:xfrm>
            <a:off x="4329430" y="977265"/>
            <a:ext cx="956945" cy="745490"/>
          </a:xfrm>
          <a:prstGeom prst="wedgeRoundRectCallou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rPr>
              <a:t>主句</a:t>
            </a:r>
          </a:p>
        </p:txBody>
      </p:sp>
      <p:cxnSp>
        <p:nvCxnSpPr>
          <p:cNvPr id="5" name="直接连接符 4"/>
          <p:cNvCxnSpPr/>
          <p:nvPr/>
        </p:nvCxnSpPr>
        <p:spPr>
          <a:xfrm flipV="1">
            <a:off x="4022878" y="2374739"/>
            <a:ext cx="5159638" cy="4944"/>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8" name="左中括号 7"/>
          <p:cNvSpPr/>
          <p:nvPr/>
        </p:nvSpPr>
        <p:spPr>
          <a:xfrm>
            <a:off x="10355695" y="1918000"/>
            <a:ext cx="374073" cy="457200"/>
          </a:xfrm>
          <a:prstGeom prst="leftBracket">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9" name="右中括号 8"/>
          <p:cNvSpPr/>
          <p:nvPr/>
        </p:nvSpPr>
        <p:spPr>
          <a:xfrm>
            <a:off x="4555236" y="3641044"/>
            <a:ext cx="512480" cy="510960"/>
          </a:xfrm>
          <a:prstGeom prst="rightBracket">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10" name="圆角矩形标注 9"/>
          <p:cNvSpPr/>
          <p:nvPr/>
        </p:nvSpPr>
        <p:spPr>
          <a:xfrm>
            <a:off x="6396355" y="316230"/>
            <a:ext cx="4809490" cy="1200785"/>
          </a:xfrm>
          <a:prstGeom prst="wedgeRoundRectCallout">
            <a:avLst>
              <a:gd name="adj1" fmla="val 37343"/>
              <a:gd name="adj2" fmla="val 71697"/>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rgbClr val="FF0000"/>
                </a:solidFill>
              </a:rPr>
              <a:t>省略了关系词</a:t>
            </a:r>
            <a:r>
              <a:rPr lang="en-US" altLang="zh-CN" sz="2400" b="1" dirty="0">
                <a:solidFill>
                  <a:srgbClr val="FF0000"/>
                </a:solidFill>
              </a:rPr>
              <a:t>which / that</a:t>
            </a:r>
            <a:r>
              <a:rPr lang="zh-CN" altLang="en-US" sz="2400" b="1" dirty="0">
                <a:solidFill>
                  <a:srgbClr val="FF0000"/>
                </a:solidFill>
              </a:rPr>
              <a:t>的定语从句，修饰先行词</a:t>
            </a:r>
            <a:r>
              <a:rPr lang="en-US" altLang="zh-CN" sz="2400" b="1" dirty="0">
                <a:solidFill>
                  <a:srgbClr val="FF0000"/>
                </a:solidFill>
              </a:rPr>
              <a:t>Sunday afternoons</a:t>
            </a:r>
            <a:endParaRPr lang="zh-CN" altLang="en-US" sz="2400" b="1" dirty="0">
              <a:solidFill>
                <a:srgbClr val="FF0000"/>
              </a:solidFill>
            </a:endParaRPr>
          </a:p>
        </p:txBody>
      </p:sp>
      <p:cxnSp>
        <p:nvCxnSpPr>
          <p:cNvPr id="11" name="直接连接符 10"/>
          <p:cNvCxnSpPr/>
          <p:nvPr/>
        </p:nvCxnSpPr>
        <p:spPr>
          <a:xfrm flipV="1">
            <a:off x="8792083" y="2919762"/>
            <a:ext cx="2215685" cy="4944"/>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629802" y="3559960"/>
            <a:ext cx="3686175"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1326022" y="4187146"/>
            <a:ext cx="2696784" cy="49045"/>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17" name="圆角矩形标注 16"/>
          <p:cNvSpPr/>
          <p:nvPr/>
        </p:nvSpPr>
        <p:spPr>
          <a:xfrm>
            <a:off x="6197809" y="4032849"/>
            <a:ext cx="4809673" cy="745658"/>
          </a:xfrm>
          <a:prstGeom prst="wedgeRoundRectCallout">
            <a:avLst>
              <a:gd name="adj1" fmla="val 13673"/>
              <a:gd name="adj2" fmla="val -88335"/>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rgbClr val="FF0000"/>
                </a:solidFill>
              </a:rPr>
              <a:t>由</a:t>
            </a:r>
            <a:r>
              <a:rPr lang="en-US" altLang="zh-CN" sz="2400" b="1" dirty="0">
                <a:solidFill>
                  <a:srgbClr val="FF0000"/>
                </a:solidFill>
              </a:rPr>
              <a:t>and</a:t>
            </a:r>
            <a:r>
              <a:rPr lang="zh-CN" altLang="en-US" sz="2400" b="1" dirty="0">
                <a:solidFill>
                  <a:srgbClr val="FF0000"/>
                </a:solidFill>
              </a:rPr>
              <a:t>连接的两个并列的动词</a:t>
            </a:r>
            <a:r>
              <a:rPr lang="en-US" altLang="zh-CN" sz="2400" b="1" dirty="0">
                <a:solidFill>
                  <a:srgbClr val="FF0000"/>
                </a:solidFill>
              </a:rPr>
              <a:t>‑</a:t>
            </a:r>
            <a:r>
              <a:rPr lang="en-US" altLang="zh-CN" sz="2400" b="1" dirty="0" err="1">
                <a:solidFill>
                  <a:srgbClr val="FF0000"/>
                </a:solidFill>
              </a:rPr>
              <a:t>ing</a:t>
            </a:r>
            <a:r>
              <a:rPr lang="zh-CN" altLang="en-US" sz="2400" b="1" dirty="0">
                <a:solidFill>
                  <a:srgbClr val="FF0000"/>
                </a:solidFill>
              </a:rPr>
              <a:t>形式短语作伴随状语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00"/>
                                        <p:tgtEl>
                                          <p:spTgt spid="11"/>
                                        </p:tgtEl>
                                      </p:cBhvr>
                                    </p:animEffect>
                                  </p:childTnLst>
                                </p:cTn>
                              </p:par>
                              <p:par>
                                <p:cTn id="31" presetID="22" presetClass="entr" presetSubtype="4"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down)">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P spid="8" grpId="0" bldLvl="0" animBg="1"/>
      <p:bldP spid="9" grpId="0" bldLvl="0" animBg="1"/>
      <p:bldP spid="10" grpId="0" bldLvl="0" animBg="1"/>
      <p:bldP spid="17"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302260" y="363855"/>
            <a:ext cx="11504930" cy="4378960"/>
          </a:xfrm>
          <a:prstGeom prst="rect">
            <a:avLst/>
          </a:prstGeom>
          <a:noFill/>
        </p:spPr>
        <p:txBody>
          <a:bodyPr wrap="square" rtlCol="0">
            <a:spAutoFit/>
          </a:bodyPr>
          <a:lstStyle/>
          <a:p>
            <a:pPr marL="358775" indent="-358775" algn="ctr">
              <a:lnSpc>
                <a:spcPct val="120000"/>
              </a:lnSpc>
              <a:spcAft>
                <a:spcPts val="1200"/>
              </a:spcAft>
            </a:pPr>
            <a:r>
              <a:rPr lang="zh-CN" altLang="en-US" sz="3200" b="1" dirty="0"/>
              <a:t>现在分词短语作伴随状语</a:t>
            </a:r>
            <a:endParaRPr lang="en-US" altLang="zh-CN" sz="3200" b="1" dirty="0"/>
          </a:p>
          <a:p>
            <a:pPr marL="631825" indent="-631825">
              <a:lnSpc>
                <a:spcPct val="120000"/>
              </a:lnSpc>
            </a:pPr>
            <a:r>
              <a:rPr lang="en-US" altLang="zh-CN" sz="3200" b="1" dirty="0"/>
              <a:t>(1) </a:t>
            </a:r>
            <a:r>
              <a:rPr lang="zh-CN" altLang="en-US" sz="3200" b="1" dirty="0"/>
              <a:t>现在分词短语作伴随状语时，通常表示分词</a:t>
            </a:r>
            <a:r>
              <a:rPr lang="en-US" altLang="zh-CN" sz="3200" b="1" dirty="0"/>
              <a:t>(</a:t>
            </a:r>
            <a:r>
              <a:rPr lang="zh-CN" altLang="en-US" sz="3200" b="1" dirty="0"/>
              <a:t>短语</a:t>
            </a:r>
            <a:r>
              <a:rPr lang="en-US" altLang="zh-CN" sz="3200" b="1" dirty="0"/>
              <a:t>)</a:t>
            </a:r>
            <a:r>
              <a:rPr lang="zh-CN" altLang="en-US" sz="3200" b="1" dirty="0"/>
              <a:t>所表示的动作与谓语所表示的动作</a:t>
            </a:r>
            <a:r>
              <a:rPr lang="zh-CN" altLang="en-US" sz="3200" b="1" dirty="0">
                <a:solidFill>
                  <a:srgbClr val="FF0000"/>
                </a:solidFill>
              </a:rPr>
              <a:t>同时存在</a:t>
            </a:r>
            <a:r>
              <a:rPr lang="zh-CN" altLang="en-US" sz="3200" b="1" dirty="0"/>
              <a:t>。</a:t>
            </a:r>
          </a:p>
          <a:p>
            <a:pPr marL="631825" indent="-631825">
              <a:lnSpc>
                <a:spcPct val="120000"/>
              </a:lnSpc>
            </a:pPr>
            <a:endParaRPr lang="en-US" altLang="zh-CN" sz="3200" b="1" dirty="0"/>
          </a:p>
          <a:p>
            <a:pPr>
              <a:lnSpc>
                <a:spcPct val="120000"/>
              </a:lnSpc>
            </a:pPr>
            <a:r>
              <a:rPr lang="en-US" altLang="zh-CN" sz="3200" b="1" dirty="0"/>
              <a:t>John sat on the grass, </a:t>
            </a:r>
            <a:r>
              <a:rPr lang="en-US" altLang="zh-CN" sz="3200" b="1" dirty="0">
                <a:solidFill>
                  <a:srgbClr val="FF0000"/>
                </a:solidFill>
              </a:rPr>
              <a:t>wondering</a:t>
            </a:r>
            <a:r>
              <a:rPr lang="en-US" altLang="zh-CN" sz="3200" b="1" dirty="0"/>
              <a:t> </a:t>
            </a:r>
            <a:r>
              <a:rPr lang="en-US" altLang="zh-CN" sz="3200" b="1" dirty="0">
                <a:solidFill>
                  <a:srgbClr val="FF0000"/>
                </a:solidFill>
              </a:rPr>
              <a:t>where to go next</a:t>
            </a:r>
            <a:r>
              <a:rPr lang="en-US" altLang="zh-CN" sz="3200" b="1" dirty="0"/>
              <a:t>.</a:t>
            </a:r>
          </a:p>
          <a:p>
            <a:pPr>
              <a:lnSpc>
                <a:spcPct val="120000"/>
              </a:lnSpc>
            </a:pPr>
            <a:r>
              <a:rPr lang="en-US" altLang="zh-CN" sz="3200" b="1" dirty="0"/>
              <a:t>He told me to start early, </a:t>
            </a:r>
            <a:r>
              <a:rPr lang="en-US" altLang="zh-CN" sz="3200" b="1" dirty="0">
                <a:solidFill>
                  <a:srgbClr val="FF0000"/>
                </a:solidFill>
              </a:rPr>
              <a:t>reminding</a:t>
            </a:r>
            <a:r>
              <a:rPr lang="en-US" altLang="zh-CN" sz="3200" b="1" dirty="0"/>
              <a:t> </a:t>
            </a:r>
            <a:r>
              <a:rPr lang="en-US" altLang="zh-CN" sz="3200" b="1" dirty="0">
                <a:solidFill>
                  <a:srgbClr val="FF0000"/>
                </a:solidFill>
              </a:rPr>
              <a:t>me that the roads would be crowded</a:t>
            </a:r>
            <a:r>
              <a:rPr lang="en-US" altLang="zh-CN" sz="3200" b="1" dirty="0"/>
              <a:t>.</a:t>
            </a:r>
            <a:endParaRPr lang="zh-CN" altLang="en-US" sz="3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wipe(down)">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356235" y="868680"/>
            <a:ext cx="11540490" cy="3044190"/>
          </a:xfrm>
          <a:prstGeom prst="rect">
            <a:avLst/>
          </a:prstGeom>
          <a:noFill/>
        </p:spPr>
        <p:txBody>
          <a:bodyPr wrap="square" rtlCol="0">
            <a:spAutoFit/>
          </a:bodyPr>
          <a:lstStyle/>
          <a:p>
            <a:pPr indent="0" fontAlgn="auto">
              <a:lnSpc>
                <a:spcPct val="120000"/>
              </a:lnSpc>
            </a:pPr>
            <a:r>
              <a:rPr lang="en-US" altLang="zh-CN" sz="3200" b="1" dirty="0"/>
              <a:t>(2) </a:t>
            </a:r>
            <a:r>
              <a:rPr lang="zh-CN" altLang="en-US" sz="3200" b="1" dirty="0"/>
              <a:t>现在分词</a:t>
            </a:r>
            <a:r>
              <a:rPr lang="en-US" altLang="zh-CN" sz="3200" b="1" dirty="0"/>
              <a:t>(</a:t>
            </a:r>
            <a:r>
              <a:rPr lang="zh-CN" altLang="en-US" sz="3200" b="1" dirty="0"/>
              <a:t>短语</a:t>
            </a:r>
            <a:r>
              <a:rPr lang="en-US" altLang="zh-CN" sz="3200" b="1" dirty="0"/>
              <a:t>)</a:t>
            </a:r>
            <a:r>
              <a:rPr lang="zh-CN" altLang="en-US" sz="3200" b="1" dirty="0"/>
              <a:t>作伴随状语时，其</a:t>
            </a:r>
            <a:r>
              <a:rPr lang="zh-CN" altLang="en-US" sz="3200" b="1" dirty="0">
                <a:solidFill>
                  <a:srgbClr val="FF0000"/>
                </a:solidFill>
              </a:rPr>
              <a:t>逻辑主语通常是句子的主语</a:t>
            </a:r>
            <a:r>
              <a:rPr lang="zh-CN" altLang="en-US" sz="3200" b="1" dirty="0"/>
              <a:t>。若逻辑主语不是句子的主语，就要在</a:t>
            </a:r>
            <a:r>
              <a:rPr lang="zh-CN" altLang="en-US" sz="3200" b="1" dirty="0">
                <a:solidFill>
                  <a:srgbClr val="FF0000"/>
                </a:solidFill>
              </a:rPr>
              <a:t>分词</a:t>
            </a:r>
            <a:r>
              <a:rPr lang="en-US" altLang="zh-CN" sz="3200" b="1" dirty="0">
                <a:solidFill>
                  <a:srgbClr val="FF0000"/>
                </a:solidFill>
              </a:rPr>
              <a:t>(</a:t>
            </a:r>
            <a:r>
              <a:rPr lang="zh-CN" altLang="en-US" sz="3200" b="1" dirty="0">
                <a:solidFill>
                  <a:srgbClr val="FF0000"/>
                </a:solidFill>
              </a:rPr>
              <a:t>短语</a:t>
            </a:r>
            <a:r>
              <a:rPr lang="en-US" altLang="zh-CN" sz="3200" b="1" dirty="0">
                <a:solidFill>
                  <a:srgbClr val="FF0000"/>
                </a:solidFill>
              </a:rPr>
              <a:t>)</a:t>
            </a:r>
            <a:r>
              <a:rPr lang="zh-CN" altLang="en-US" sz="3200" b="1" dirty="0">
                <a:solidFill>
                  <a:srgbClr val="FF0000"/>
                </a:solidFill>
              </a:rPr>
              <a:t>前加上其自身的逻辑主语</a:t>
            </a:r>
            <a:r>
              <a:rPr lang="zh-CN" altLang="en-US" sz="3200" b="1" dirty="0"/>
              <a:t>。</a:t>
            </a:r>
            <a:endParaRPr lang="en-US" altLang="zh-CN" sz="3200" b="1" dirty="0"/>
          </a:p>
          <a:p>
            <a:pPr indent="0" fontAlgn="auto">
              <a:lnSpc>
                <a:spcPct val="120000"/>
              </a:lnSpc>
            </a:pPr>
            <a:endParaRPr lang="en-US" altLang="zh-CN" sz="3200" b="1" dirty="0"/>
          </a:p>
          <a:p>
            <a:pPr indent="0" fontAlgn="auto">
              <a:lnSpc>
                <a:spcPct val="120000"/>
              </a:lnSpc>
            </a:pPr>
            <a:r>
              <a:rPr lang="en-US" altLang="zh-CN" sz="3200" b="1" dirty="0"/>
              <a:t>He walked slowly on the quiet street, </a:t>
            </a:r>
            <a:r>
              <a:rPr lang="en-US" altLang="zh-CN" sz="3200" b="1" dirty="0">
                <a:solidFill>
                  <a:srgbClr val="FF0000"/>
                </a:solidFill>
              </a:rPr>
              <a:t>his pet dog following him</a:t>
            </a:r>
            <a:r>
              <a:rPr lang="zh-CN" altLang="en-US" sz="3200" b="1" dirty="0">
                <a:solidFill>
                  <a:srgbClr val="FF0000"/>
                </a:solidFill>
              </a:rPr>
              <a:t>。</a:t>
            </a:r>
            <a:endParaRPr lang="zh-CN" altLang="en-US" sz="3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282575" y="250190"/>
            <a:ext cx="11613515" cy="3879215"/>
          </a:xfrm>
          <a:prstGeom prst="rect">
            <a:avLst/>
          </a:prstGeom>
          <a:noFill/>
        </p:spPr>
        <p:txBody>
          <a:bodyPr wrap="square" rtlCol="0">
            <a:spAutoFit/>
          </a:bodyPr>
          <a:lstStyle/>
          <a:p>
            <a:pPr>
              <a:lnSpc>
                <a:spcPct val="110000"/>
              </a:lnSpc>
            </a:pPr>
            <a:r>
              <a:rPr lang="en-US" altLang="zh-CN" sz="3200" b="1" dirty="0">
                <a:solidFill>
                  <a:srgbClr val="0000FF"/>
                </a:solidFill>
              </a:rPr>
              <a:t>【</a:t>
            </a:r>
            <a:r>
              <a:rPr lang="zh-CN" altLang="en-US" sz="3200" b="1" dirty="0">
                <a:solidFill>
                  <a:srgbClr val="0000FF"/>
                </a:solidFill>
              </a:rPr>
              <a:t>语境应用</a:t>
            </a:r>
            <a:r>
              <a:rPr lang="en-US" altLang="zh-CN" sz="3200" b="1" dirty="0">
                <a:solidFill>
                  <a:srgbClr val="0000FF"/>
                </a:solidFill>
              </a:rPr>
              <a:t>】</a:t>
            </a:r>
            <a:r>
              <a:rPr lang="zh-CN" altLang="en-US" sz="3200" b="1" dirty="0">
                <a:solidFill>
                  <a:srgbClr val="0000FF"/>
                </a:solidFill>
              </a:rPr>
              <a:t>用分词作状语的结构对下列句子进行同义转换。</a:t>
            </a:r>
            <a:endParaRPr lang="en-US" altLang="zh-CN" sz="3200" b="1" dirty="0">
              <a:solidFill>
                <a:srgbClr val="0000FF"/>
              </a:solidFill>
            </a:endParaRPr>
          </a:p>
          <a:p>
            <a:pPr>
              <a:lnSpc>
                <a:spcPct val="110000"/>
              </a:lnSpc>
            </a:pPr>
            <a:r>
              <a:rPr lang="en-US" altLang="zh-CN" sz="3200" b="1" dirty="0"/>
              <a:t>1) He stayed up all night, and he looked after her.</a:t>
            </a:r>
          </a:p>
          <a:p>
            <a:pPr indent="446405">
              <a:lnSpc>
                <a:spcPct val="110000"/>
              </a:lnSpc>
            </a:pPr>
            <a:r>
              <a:rPr lang="en-US" altLang="zh-CN" sz="3200" b="1" dirty="0"/>
              <a:t>He stayed up all night, ______________________.</a:t>
            </a:r>
          </a:p>
          <a:p>
            <a:pPr marL="446405" indent="-446405">
              <a:lnSpc>
                <a:spcPct val="110000"/>
              </a:lnSpc>
            </a:pPr>
            <a:r>
              <a:rPr lang="en-US" altLang="zh-CN" sz="3200" b="1" dirty="0"/>
              <a:t>2) She was busy cooking a big meal all the morning, and her daughter helped with it.</a:t>
            </a:r>
          </a:p>
          <a:p>
            <a:pPr marL="446405">
              <a:lnSpc>
                <a:spcPct val="110000"/>
              </a:lnSpc>
            </a:pPr>
            <a:r>
              <a:rPr lang="en-US" altLang="zh-CN" sz="3200" b="1" dirty="0"/>
              <a:t>She was busy cooking a big meal all the morning, ________</a:t>
            </a:r>
          </a:p>
          <a:p>
            <a:pPr marL="446405">
              <a:lnSpc>
                <a:spcPct val="110000"/>
              </a:lnSpc>
            </a:pPr>
            <a:r>
              <a:rPr lang="en-US" altLang="zh-CN" sz="3200" b="1" dirty="0"/>
              <a:t>_______________________.</a:t>
            </a:r>
          </a:p>
        </p:txBody>
      </p:sp>
      <p:sp>
        <p:nvSpPr>
          <p:cNvPr id="4" name="文本框 3"/>
          <p:cNvSpPr txBox="1"/>
          <p:nvPr/>
        </p:nvSpPr>
        <p:spPr>
          <a:xfrm>
            <a:off x="5222562" y="1291605"/>
            <a:ext cx="3196590" cy="681990"/>
          </a:xfrm>
          <a:prstGeom prst="rect">
            <a:avLst/>
          </a:prstGeom>
          <a:noFill/>
        </p:spPr>
        <p:txBody>
          <a:bodyPr wrap="none" rtlCol="0">
            <a:spAutoFit/>
          </a:bodyPr>
          <a:lstStyle/>
          <a:p>
            <a:pPr>
              <a:lnSpc>
                <a:spcPct val="120000"/>
              </a:lnSpc>
            </a:pPr>
            <a:r>
              <a:rPr lang="en-US" altLang="zh-CN" sz="3200" b="1" dirty="0">
                <a:solidFill>
                  <a:srgbClr val="FF0000"/>
                </a:solidFill>
              </a:rPr>
              <a:t> looking after her</a:t>
            </a:r>
          </a:p>
        </p:txBody>
      </p:sp>
      <p:sp>
        <p:nvSpPr>
          <p:cNvPr id="5" name="文本框 4"/>
          <p:cNvSpPr txBox="1"/>
          <p:nvPr/>
        </p:nvSpPr>
        <p:spPr>
          <a:xfrm>
            <a:off x="460314" y="2840616"/>
            <a:ext cx="7715250" cy="1272540"/>
          </a:xfrm>
          <a:prstGeom prst="rect">
            <a:avLst/>
          </a:prstGeom>
          <a:noFill/>
        </p:spPr>
        <p:txBody>
          <a:bodyPr wrap="square" rtlCol="0">
            <a:spAutoFit/>
          </a:bodyPr>
          <a:lstStyle/>
          <a:p>
            <a:pPr>
              <a:lnSpc>
                <a:spcPct val="120000"/>
              </a:lnSpc>
            </a:pPr>
            <a:r>
              <a:rPr lang="en-US" altLang="zh-CN" sz="3200" b="1" dirty="0">
                <a:solidFill>
                  <a:srgbClr val="FF0000"/>
                </a:solidFill>
              </a:rPr>
              <a:t>                                                                                       her daughter helping with it</a:t>
            </a:r>
          </a:p>
        </p:txBody>
      </p:sp>
      <p:sp>
        <p:nvSpPr>
          <p:cNvPr id="2" name="矩形 1"/>
          <p:cNvSpPr/>
          <p:nvPr/>
        </p:nvSpPr>
        <p:spPr>
          <a:xfrm>
            <a:off x="282575" y="4194175"/>
            <a:ext cx="11758930" cy="2061210"/>
          </a:xfrm>
          <a:prstGeom prst="rect">
            <a:avLst/>
          </a:prstGeom>
        </p:spPr>
        <p:txBody>
          <a:bodyPr wrap="square">
            <a:spAutoFit/>
          </a:bodyPr>
          <a:lstStyle/>
          <a:p>
            <a:r>
              <a:rPr lang="en-US" altLang="zh-CN" sz="3200" b="1" dirty="0">
                <a:solidFill>
                  <a:srgbClr val="0000FF"/>
                </a:solidFill>
                <a:latin typeface="+mj-lt"/>
              </a:rPr>
              <a:t>【</a:t>
            </a:r>
            <a:r>
              <a:rPr lang="zh-CN" altLang="en-US" sz="3200" b="1" dirty="0">
                <a:solidFill>
                  <a:srgbClr val="0000FF"/>
                </a:solidFill>
                <a:latin typeface="+mj-lt"/>
              </a:rPr>
              <a:t>仿写</a:t>
            </a:r>
            <a:r>
              <a:rPr lang="en-US" altLang="zh-CN" sz="3200" b="1" dirty="0">
                <a:solidFill>
                  <a:srgbClr val="0000FF"/>
                </a:solidFill>
                <a:latin typeface="+mj-lt"/>
              </a:rPr>
              <a:t>】</a:t>
            </a:r>
            <a:r>
              <a:rPr lang="zh-CN" altLang="en-US" sz="3200" b="1" dirty="0">
                <a:latin typeface="+mj-lt"/>
              </a:rPr>
              <a:t>我很珍惜在大学度过的四年时间，学习如何与他人合作，并准备好踏入职场。</a:t>
            </a:r>
            <a:endParaRPr lang="en-US" altLang="zh-CN" sz="3200" b="1" dirty="0">
              <a:latin typeface="+mj-lt"/>
            </a:endParaRPr>
          </a:p>
          <a:p>
            <a:r>
              <a:rPr lang="en-US" altLang="zh-CN" sz="3200" b="1" dirty="0">
                <a:solidFill>
                  <a:srgbClr val="FF0000"/>
                </a:solidFill>
                <a:latin typeface="+mj-lt"/>
              </a:rPr>
              <a:t>I greatly value the four years I spent in university, learning how to work with others and getting prepared for starting my career.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blinds(horizontal)">
                                      <p:cBhvr>
                                        <p:cTn id="17" dur="5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blinds(horizontal)">
                                      <p:cBhvr>
                                        <p:cTn id="2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4398499" y="1705420"/>
            <a:ext cx="2279015" cy="449580"/>
          </a:xfrm>
          <a:prstGeom prst="rect">
            <a:avLst/>
          </a:prstGeom>
          <a:noFill/>
        </p:spPr>
        <p:txBody>
          <a:bodyPr wrap="none" rtlCol="0">
            <a:spAutoFit/>
          </a:bodyPr>
          <a:lstStyle/>
          <a:p>
            <a:r>
              <a:rPr lang="en-US" altLang="zh-CN" sz="2325" b="1" dirty="0">
                <a:solidFill>
                  <a:schemeClr val="bg1"/>
                </a:solidFill>
              </a:rPr>
              <a:t>Language points</a:t>
            </a:r>
            <a:endParaRPr lang="zh-CN" altLang="en-US" sz="2325" b="1" dirty="0">
              <a:solidFill>
                <a:schemeClr val="bg1"/>
              </a:solidFill>
            </a:endParaRPr>
          </a:p>
        </p:txBody>
      </p:sp>
      <p:sp>
        <p:nvSpPr>
          <p:cNvPr id="6" name="文本框 5"/>
          <p:cNvSpPr txBox="1"/>
          <p:nvPr/>
        </p:nvSpPr>
        <p:spPr>
          <a:xfrm>
            <a:off x="715645" y="428625"/>
            <a:ext cx="11117580" cy="1863090"/>
          </a:xfrm>
          <a:prstGeom prst="rect">
            <a:avLst/>
          </a:prstGeom>
          <a:noFill/>
        </p:spPr>
        <p:txBody>
          <a:bodyPr wrap="square" rtlCol="0">
            <a:spAutoFit/>
          </a:bodyPr>
          <a:lstStyle/>
          <a:p>
            <a:pPr marL="446405" indent="-446405" fontAlgn="auto">
              <a:lnSpc>
                <a:spcPct val="120000"/>
              </a:lnSpc>
              <a:spcBef>
                <a:spcPts val="0"/>
              </a:spcBef>
              <a:spcAft>
                <a:spcPts val="0"/>
              </a:spcAft>
            </a:pPr>
            <a:r>
              <a:rPr lang="en-US" altLang="zh-CN" sz="3200" b="1" dirty="0">
                <a:latin typeface="Times New Roman" panose="02020603050405020304" charset="0"/>
                <a:cs typeface="Times New Roman" panose="02020603050405020304" charset="0"/>
              </a:rPr>
              <a:t>4. In this article, we will talk about a particular type of comfort food whose power mainly lies in the </a:t>
            </a:r>
            <a:r>
              <a:rPr lang="en-US" altLang="zh-CN" sz="3200" b="1" dirty="0">
                <a:solidFill>
                  <a:srgbClr val="FF0000"/>
                </a:solidFill>
                <a:latin typeface="Times New Roman" panose="02020603050405020304" charset="0"/>
                <a:cs typeface="Times New Roman" panose="02020603050405020304" charset="0"/>
              </a:rPr>
              <a:t>associations</a:t>
            </a:r>
            <a:r>
              <a:rPr lang="en-US" altLang="zh-CN" sz="3200" b="1" dirty="0">
                <a:latin typeface="Times New Roman" panose="02020603050405020304" charset="0"/>
                <a:cs typeface="Times New Roman" panose="02020603050405020304" charset="0"/>
              </a:rPr>
              <a:t> it </a:t>
            </a:r>
            <a:r>
              <a:rPr lang="en-US" altLang="zh-CN" sz="3200" b="1" dirty="0">
                <a:solidFill>
                  <a:srgbClr val="FF0000"/>
                </a:solidFill>
                <a:latin typeface="Times New Roman" panose="02020603050405020304" charset="0"/>
                <a:cs typeface="Times New Roman" panose="02020603050405020304" charset="0"/>
              </a:rPr>
              <a:t>calls to mind</a:t>
            </a:r>
            <a:r>
              <a:rPr lang="en-US" altLang="zh-CN" sz="3200" b="1" dirty="0">
                <a:latin typeface="Times New Roman" panose="02020603050405020304" charset="0"/>
                <a:cs typeface="Times New Roman" panose="02020603050405020304" charset="0"/>
              </a:rPr>
              <a:t>. </a:t>
            </a:r>
          </a:p>
        </p:txBody>
      </p:sp>
      <p:sp>
        <p:nvSpPr>
          <p:cNvPr id="3" name="矩形 2"/>
          <p:cNvSpPr/>
          <p:nvPr/>
        </p:nvSpPr>
        <p:spPr>
          <a:xfrm>
            <a:off x="922655" y="4445635"/>
            <a:ext cx="10908665" cy="1272540"/>
          </a:xfrm>
          <a:prstGeom prst="rect">
            <a:avLst/>
          </a:prstGeom>
        </p:spPr>
        <p:txBody>
          <a:bodyPr wrap="square">
            <a:spAutoFit/>
          </a:bodyPr>
          <a:lstStyle/>
          <a:p>
            <a:pPr marL="446405" lvl="0" indent="3175">
              <a:lnSpc>
                <a:spcPct val="120000"/>
              </a:lnSpc>
            </a:pPr>
            <a:r>
              <a:rPr lang="zh-CN" altLang="en-US" sz="3200" b="1" dirty="0">
                <a:solidFill>
                  <a:prstClr val="black"/>
                </a:solidFill>
                <a:latin typeface="Times New Roman" panose="02020603050405020304" charset="0"/>
                <a:cs typeface="Times New Roman" panose="02020603050405020304" charset="0"/>
              </a:rPr>
              <a:t>本文我们将谈谈有关</a:t>
            </a:r>
            <a:r>
              <a:rPr lang="en-US" altLang="zh-CN" sz="3200" b="1" dirty="0" err="1">
                <a:solidFill>
                  <a:prstClr val="black"/>
                </a:solidFill>
                <a:sym typeface="+mn-ea"/>
              </a:rPr>
              <a:t>治愈系食物</a:t>
            </a:r>
            <a:r>
              <a:rPr lang="zh-CN" altLang="en-US" sz="3200" b="1" dirty="0">
                <a:solidFill>
                  <a:prstClr val="black"/>
                </a:solidFill>
                <a:sym typeface="+mn-ea"/>
              </a:rPr>
              <a:t>。</a:t>
            </a:r>
            <a:r>
              <a:rPr lang="en-US" altLang="zh-CN" sz="3200" b="1" dirty="0" err="1">
                <a:solidFill>
                  <a:prstClr val="black"/>
                </a:solidFill>
                <a:sym typeface="+mn-ea"/>
              </a:rPr>
              <a:t>治愈系食物</a:t>
            </a:r>
            <a:r>
              <a:rPr lang="zh-CN" altLang="en-US" sz="3200" b="1" dirty="0">
                <a:solidFill>
                  <a:prstClr val="black"/>
                </a:solidFill>
                <a:sym typeface="+mn-ea"/>
              </a:rPr>
              <a:t>的力量在于它所唤起的联想。</a:t>
            </a:r>
          </a:p>
        </p:txBody>
      </p:sp>
      <p:sp>
        <p:nvSpPr>
          <p:cNvPr id="5" name="圆角矩形标注 4"/>
          <p:cNvSpPr/>
          <p:nvPr/>
        </p:nvSpPr>
        <p:spPr>
          <a:xfrm>
            <a:off x="3123565" y="2375535"/>
            <a:ext cx="6809740" cy="917575"/>
          </a:xfrm>
          <a:prstGeom prst="wedgeRoundRectCallout">
            <a:avLst>
              <a:gd name="adj1" fmla="val -32827"/>
              <a:gd name="adj2" fmla="val -81073"/>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F0000"/>
                </a:solidFill>
              </a:rPr>
              <a:t>whose</a:t>
            </a:r>
            <a:r>
              <a:rPr lang="zh-CN" altLang="en-US" sz="2400" b="1" dirty="0">
                <a:solidFill>
                  <a:srgbClr val="FF0000"/>
                </a:solidFill>
              </a:rPr>
              <a:t>引导的定语从句，修饰先行词 </a:t>
            </a:r>
            <a:r>
              <a:rPr lang="en-US" altLang="zh-CN" sz="2400" b="1" dirty="0">
                <a:solidFill>
                  <a:srgbClr val="FF0000"/>
                </a:solidFill>
              </a:rPr>
              <a:t>comfort food</a:t>
            </a:r>
            <a:endParaRPr lang="zh-CN" altLang="en-US" sz="2400" b="1" dirty="0">
              <a:solidFill>
                <a:srgbClr val="FF0000"/>
              </a:solidFill>
            </a:endParaRPr>
          </a:p>
        </p:txBody>
      </p:sp>
      <p:sp>
        <p:nvSpPr>
          <p:cNvPr id="11" name="矩形 10"/>
          <p:cNvSpPr/>
          <p:nvPr/>
        </p:nvSpPr>
        <p:spPr>
          <a:xfrm>
            <a:off x="3521710" y="1114425"/>
            <a:ext cx="1188085" cy="539115"/>
          </a:xfrm>
          <a:prstGeom prst="rect">
            <a:avLst/>
          </a:prstGeom>
          <a:noFill/>
          <a:ln w="31750">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圆角矩形标注 11"/>
          <p:cNvSpPr/>
          <p:nvPr/>
        </p:nvSpPr>
        <p:spPr>
          <a:xfrm>
            <a:off x="6944741" y="3905926"/>
            <a:ext cx="4887468" cy="539908"/>
          </a:xfrm>
          <a:prstGeom prst="wedgeRoundRectCallout">
            <a:avLst>
              <a:gd name="adj1" fmla="val 26660"/>
              <a:gd name="adj2" fmla="val -466238"/>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rPr>
              <a:t>定语从句，修饰先行词</a:t>
            </a:r>
            <a:r>
              <a:rPr lang="en-US" altLang="zh-CN" sz="2400" b="1" dirty="0">
                <a:solidFill>
                  <a:srgbClr val="FF0000"/>
                </a:solidFill>
              </a:rPr>
              <a:t>associations</a:t>
            </a:r>
            <a:endParaRPr lang="zh-CN" altLang="en-US" sz="2400" b="1"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ldLvl="0" animBg="1"/>
      <p:bldP spid="11" grpId="0" bldLvl="0" animBg="1"/>
      <p:bldP spid="12"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4177273" y="1499680"/>
            <a:ext cx="2279015" cy="449580"/>
          </a:xfrm>
          <a:prstGeom prst="rect">
            <a:avLst/>
          </a:prstGeom>
          <a:noFill/>
        </p:spPr>
        <p:txBody>
          <a:bodyPr wrap="none" rtlCol="0">
            <a:spAutoFit/>
          </a:bodyPr>
          <a:lstStyle/>
          <a:p>
            <a:r>
              <a:rPr lang="en-US" altLang="zh-CN" sz="2325" b="1" dirty="0">
                <a:solidFill>
                  <a:schemeClr val="bg1"/>
                </a:solidFill>
              </a:rPr>
              <a:t>Language points</a:t>
            </a:r>
            <a:endParaRPr lang="zh-CN" altLang="en-US" sz="2325" b="1" dirty="0">
              <a:solidFill>
                <a:schemeClr val="bg1"/>
              </a:solidFill>
            </a:endParaRPr>
          </a:p>
        </p:txBody>
      </p:sp>
      <p:sp>
        <p:nvSpPr>
          <p:cNvPr id="6" name="文本框 5"/>
          <p:cNvSpPr txBox="1"/>
          <p:nvPr/>
        </p:nvSpPr>
        <p:spPr>
          <a:xfrm>
            <a:off x="455930" y="430530"/>
            <a:ext cx="11383645" cy="4815840"/>
          </a:xfrm>
          <a:prstGeom prst="rect">
            <a:avLst/>
          </a:prstGeom>
          <a:noFill/>
        </p:spPr>
        <p:txBody>
          <a:bodyPr wrap="square" rtlCol="0">
            <a:spAutoFit/>
          </a:bodyPr>
          <a:lstStyle/>
          <a:p>
            <a:pPr indent="0" fontAlgn="auto">
              <a:lnSpc>
                <a:spcPct val="120000"/>
              </a:lnSpc>
              <a:spcBef>
                <a:spcPts val="0"/>
              </a:spcBef>
              <a:spcAft>
                <a:spcPts val="0"/>
              </a:spcAft>
            </a:pPr>
            <a:r>
              <a:rPr lang="en-US" altLang="zh-CN" sz="3200" b="1" dirty="0">
                <a:solidFill>
                  <a:srgbClr val="FF0000"/>
                </a:solidFill>
                <a:latin typeface="Times New Roman" panose="02020603050405020304" charset="0"/>
                <a:cs typeface="Times New Roman" panose="02020603050405020304" charset="0"/>
                <a:sym typeface="+mn-ea"/>
              </a:rPr>
              <a:t>association  </a:t>
            </a:r>
            <a:r>
              <a:rPr lang="zh-CN" altLang="en-US" sz="3200" b="1" i="1" dirty="0">
                <a:solidFill>
                  <a:srgbClr val="FF0000"/>
                </a:solidFill>
                <a:latin typeface="Times New Roman" panose="02020603050405020304" charset="0"/>
                <a:cs typeface="Times New Roman" panose="02020603050405020304" charset="0"/>
                <a:sym typeface="+mn-ea"/>
              </a:rPr>
              <a:t>n.</a:t>
            </a:r>
            <a:r>
              <a:rPr lang="zh-CN" altLang="en-US" sz="3200" b="1" i="1" dirty="0">
                <a:latin typeface="Times New Roman" panose="02020603050405020304" charset="0"/>
                <a:cs typeface="Times New Roman" panose="02020603050405020304" charset="0"/>
                <a:sym typeface="+mn-ea"/>
              </a:rPr>
              <a:t> </a:t>
            </a:r>
          </a:p>
          <a:p>
            <a:pPr indent="0" fontAlgn="auto">
              <a:lnSpc>
                <a:spcPct val="120000"/>
              </a:lnSpc>
              <a:spcBef>
                <a:spcPts val="0"/>
              </a:spcBef>
              <a:spcAft>
                <a:spcPts val="0"/>
              </a:spcAft>
              <a:buFont typeface="Arial" panose="020B0704020202020204" pitchFamily="34" charset="0"/>
              <a:buChar char="•"/>
            </a:pPr>
            <a:r>
              <a:rPr lang="en-US" altLang="zh-CN" sz="3200" b="1" i="1" dirty="0"/>
              <a:t>the action of making such a connection</a:t>
            </a:r>
            <a:r>
              <a:rPr lang="en-US" altLang="zh-CN" sz="3200" b="1" dirty="0"/>
              <a:t> </a:t>
            </a:r>
            <a:r>
              <a:rPr lang="zh-CN" altLang="en-US" sz="3200" b="1" dirty="0">
                <a:solidFill>
                  <a:srgbClr val="FF0000"/>
                </a:solidFill>
              </a:rPr>
              <a:t>联合</a:t>
            </a:r>
            <a:endParaRPr lang="en-US" altLang="zh-CN" sz="3200" b="1" dirty="0">
              <a:solidFill>
                <a:srgbClr val="FF0000"/>
              </a:solidFill>
              <a:latin typeface="Times New Roman" panose="02020603050405020304" charset="0"/>
              <a:cs typeface="Times New Roman" panose="02020603050405020304" charset="0"/>
              <a:sym typeface="+mn-ea"/>
            </a:endParaRPr>
          </a:p>
          <a:p>
            <a:pPr indent="0" fontAlgn="auto">
              <a:lnSpc>
                <a:spcPct val="120000"/>
              </a:lnSpc>
              <a:spcBef>
                <a:spcPts val="0"/>
              </a:spcBef>
              <a:spcAft>
                <a:spcPts val="0"/>
              </a:spcAft>
            </a:pPr>
            <a:r>
              <a:rPr lang="zh-CN" altLang="en-US" sz="3200" b="1" dirty="0">
                <a:solidFill>
                  <a:srgbClr val="FF0000"/>
                </a:solidFill>
                <a:latin typeface="Times New Roman" panose="02020603050405020304" charset="0"/>
                <a:cs typeface="Times New Roman" panose="02020603050405020304" charset="0"/>
                <a:sym typeface="+mn-ea"/>
              </a:rPr>
              <a:t>be in association with …</a:t>
            </a:r>
            <a:r>
              <a:rPr lang="zh-CN" altLang="en-US" sz="3200" b="1" dirty="0">
                <a:solidFill>
                  <a:prstClr val="black"/>
                </a:solidFill>
                <a:latin typeface="Times New Roman" panose="02020603050405020304" charset="0"/>
                <a:cs typeface="Times New Roman" panose="02020603050405020304" charset="0"/>
                <a:sym typeface="+mn-ea"/>
              </a:rPr>
              <a:t> 与某人/某机构等合伙</a:t>
            </a:r>
            <a:r>
              <a:rPr lang="en-US" altLang="zh-CN" sz="3200" b="1" dirty="0">
                <a:solidFill>
                  <a:prstClr val="black"/>
                </a:solidFill>
                <a:latin typeface="Times New Roman" panose="02020603050405020304" charset="0"/>
                <a:cs typeface="Times New Roman" panose="02020603050405020304" charset="0"/>
                <a:sym typeface="+mn-ea"/>
              </a:rPr>
              <a:t>(</a:t>
            </a:r>
            <a:r>
              <a:rPr lang="zh-CN" altLang="en-US" sz="3200" b="1" dirty="0">
                <a:solidFill>
                  <a:prstClr val="black"/>
                </a:solidFill>
                <a:latin typeface="Times New Roman" panose="02020603050405020304" charset="0"/>
                <a:cs typeface="Times New Roman" panose="02020603050405020304" charset="0"/>
                <a:sym typeface="+mn-ea"/>
              </a:rPr>
              <a:t>合作</a:t>
            </a:r>
            <a:r>
              <a:rPr lang="en-US" altLang="zh-CN" sz="3200" b="1" dirty="0">
                <a:solidFill>
                  <a:prstClr val="black"/>
                </a:solidFill>
                <a:latin typeface="Times New Roman" panose="02020603050405020304" charset="0"/>
                <a:cs typeface="Times New Roman" panose="02020603050405020304" charset="0"/>
                <a:sym typeface="+mn-ea"/>
              </a:rPr>
              <a:t>)</a:t>
            </a:r>
          </a:p>
          <a:p>
            <a:pPr indent="0" fontAlgn="auto">
              <a:lnSpc>
                <a:spcPct val="120000"/>
              </a:lnSpc>
              <a:spcBef>
                <a:spcPts val="0"/>
              </a:spcBef>
              <a:spcAft>
                <a:spcPts val="0"/>
              </a:spcAft>
              <a:buFont typeface="Arial" panose="020B0704020202020204" pitchFamily="34" charset="0"/>
              <a:buChar char="•"/>
            </a:pPr>
            <a:r>
              <a:rPr lang="en-US" altLang="zh-CN" sz="3200" b="1" i="1" dirty="0">
                <a:latin typeface="Times New Roman Bold Italic" panose="02020603050405020304" charset="0"/>
                <a:cs typeface="Times New Roman Bold Italic" panose="02020603050405020304" charset="0"/>
                <a:sym typeface="+mn-ea"/>
              </a:rPr>
              <a:t>a mental connection between ideas</a:t>
            </a:r>
            <a:r>
              <a:rPr lang="en-US" altLang="zh-CN" sz="3200" b="1" dirty="0">
                <a:sym typeface="+mn-ea"/>
              </a:rPr>
              <a:t> </a:t>
            </a:r>
            <a:r>
              <a:rPr lang="zh-CN" altLang="en-US" sz="3200" b="1" dirty="0">
                <a:solidFill>
                  <a:srgbClr val="FF0000"/>
                </a:solidFill>
                <a:sym typeface="+mn-ea"/>
              </a:rPr>
              <a:t>联系起来的（事情）</a:t>
            </a:r>
          </a:p>
          <a:p>
            <a:pPr indent="0" fontAlgn="auto">
              <a:lnSpc>
                <a:spcPct val="120000"/>
              </a:lnSpc>
              <a:spcBef>
                <a:spcPts val="0"/>
              </a:spcBef>
              <a:spcAft>
                <a:spcPts val="0"/>
              </a:spcAft>
              <a:buFont typeface="Arial" panose="020B0704020202020204" pitchFamily="34" charset="0"/>
              <a:buNone/>
            </a:pPr>
            <a:r>
              <a:rPr lang="en-US" altLang="zh-CN" sz="3200" b="1" i="1" dirty="0">
                <a:solidFill>
                  <a:srgbClr val="FF0000"/>
                </a:solidFill>
                <a:latin typeface="Times New Roman Bold Italic" panose="02020603050405020304" charset="0"/>
                <a:cs typeface="Times New Roman Bold Italic" panose="02020603050405020304" charset="0"/>
                <a:sym typeface="+mn-ea"/>
              </a:rPr>
              <a:t>[usually plural]</a:t>
            </a:r>
            <a:endParaRPr lang="en-US" altLang="zh-CN" sz="3200" b="1" dirty="0">
              <a:solidFill>
                <a:srgbClr val="FF0000"/>
              </a:solidFill>
              <a:latin typeface="Times New Roman" panose="02020603050405020304" charset="0"/>
              <a:cs typeface="Times New Roman" panose="02020603050405020304" charset="0"/>
              <a:sym typeface="+mn-ea"/>
            </a:endParaRPr>
          </a:p>
          <a:p>
            <a:pPr indent="0" fontAlgn="auto">
              <a:lnSpc>
                <a:spcPct val="120000"/>
              </a:lnSpc>
              <a:spcBef>
                <a:spcPts val="0"/>
              </a:spcBef>
              <a:spcAft>
                <a:spcPts val="0"/>
              </a:spcAft>
            </a:pPr>
            <a:r>
              <a:rPr lang="zh-CN" altLang="en-US" sz="3200" b="1" dirty="0">
                <a:latin typeface="Times New Roman" panose="02020603050405020304" charset="0"/>
                <a:cs typeface="Times New Roman" panose="02020603050405020304" charset="0"/>
                <a:sym typeface="+mn-ea"/>
              </a:rPr>
              <a:t>The seaside had all sorts of </a:t>
            </a:r>
            <a:r>
              <a:rPr lang="zh-CN" altLang="en-US" sz="3200" b="1" u="sng" dirty="0">
                <a:latin typeface="Times New Roman" panose="02020603050405020304" charset="0"/>
                <a:cs typeface="Times New Roman" panose="02020603050405020304" charset="0"/>
                <a:sym typeface="+mn-ea"/>
              </a:rPr>
              <a:t>pleasant </a:t>
            </a:r>
            <a:r>
              <a:rPr lang="zh-CN" altLang="en-US" sz="3200" b="1" u="sng" dirty="0">
                <a:solidFill>
                  <a:srgbClr val="FF0000"/>
                </a:solidFill>
                <a:latin typeface="Times New Roman" panose="02020603050405020304" charset="0"/>
                <a:cs typeface="Times New Roman" panose="02020603050405020304" charset="0"/>
                <a:sym typeface="+mn-ea"/>
              </a:rPr>
              <a:t>associations</a:t>
            </a:r>
            <a:r>
              <a:rPr lang="zh-CN" altLang="en-US" sz="3200" b="1" dirty="0">
                <a:solidFill>
                  <a:srgbClr val="FF0000"/>
                </a:solidFill>
                <a:latin typeface="Times New Roman" panose="02020603050405020304" charset="0"/>
                <a:cs typeface="Times New Roman" panose="02020603050405020304" charset="0"/>
                <a:sym typeface="+mn-ea"/>
              </a:rPr>
              <a:t> </a:t>
            </a:r>
            <a:r>
              <a:rPr lang="zh-CN" altLang="en-US" sz="3200" b="1" dirty="0">
                <a:latin typeface="Times New Roman" panose="02020603050405020304" charset="0"/>
                <a:cs typeface="Times New Roman" panose="02020603050405020304" charset="0"/>
                <a:sym typeface="+mn-ea"/>
              </a:rPr>
              <a:t>with childhood holidays for me.</a:t>
            </a:r>
          </a:p>
          <a:p>
            <a:pPr indent="0" fontAlgn="auto">
              <a:lnSpc>
                <a:spcPct val="120000"/>
              </a:lnSpc>
              <a:spcBef>
                <a:spcPts val="0"/>
              </a:spcBef>
              <a:spcAft>
                <a:spcPts val="0"/>
              </a:spcAft>
            </a:pPr>
            <a:r>
              <a:rPr lang="zh-CN" altLang="en-US" sz="3200" b="1" dirty="0">
                <a:latin typeface="Times New Roman" panose="02020603050405020304" charset="0"/>
                <a:cs typeface="Times New Roman" panose="02020603050405020304" charset="0"/>
                <a:sym typeface="+mn-ea"/>
              </a:rPr>
              <a:t>海滨使我联想起童年假期的各种愉快情景。</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linds(horizont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linds(horizontal)">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linds(horizontal)">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blinds(horizontal)">
                                      <p:cBhvr>
                                        <p:cTn id="3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384810" y="440055"/>
            <a:ext cx="11494770" cy="3634740"/>
          </a:xfrm>
          <a:prstGeom prst="rect">
            <a:avLst/>
          </a:prstGeom>
        </p:spPr>
        <p:txBody>
          <a:bodyPr wrap="square">
            <a:spAutoFit/>
          </a:bodyPr>
          <a:lstStyle/>
          <a:p>
            <a:pPr marL="457200" indent="-457200" fontAlgn="auto">
              <a:lnSpc>
                <a:spcPct val="120000"/>
              </a:lnSpc>
              <a:spcBef>
                <a:spcPts val="0"/>
              </a:spcBef>
              <a:spcAft>
                <a:spcPts val="0"/>
              </a:spcAft>
              <a:buFont typeface="Arial" panose="020B0704020202020204" pitchFamily="34" charset="0"/>
              <a:buChar char="•"/>
            </a:pPr>
            <a:r>
              <a:rPr lang="zh-CN" altLang="en-US" sz="3200" b="1" dirty="0">
                <a:solidFill>
                  <a:srgbClr val="FF0000"/>
                </a:solidFill>
                <a:latin typeface="Times New Roman" panose="02020603050405020304" charset="0"/>
                <a:cs typeface="Times New Roman" panose="02020603050405020304" charset="0"/>
                <a:sym typeface="+mn-ea"/>
              </a:rPr>
              <a:t>协会，社团</a:t>
            </a:r>
          </a:p>
          <a:p>
            <a:pPr indent="0" fontAlgn="auto">
              <a:lnSpc>
                <a:spcPct val="120000"/>
              </a:lnSpc>
              <a:spcBef>
                <a:spcPts val="0"/>
              </a:spcBef>
              <a:spcAft>
                <a:spcPts val="0"/>
              </a:spcAft>
              <a:buFont typeface="Arial" panose="020B0704020202020204" pitchFamily="34" charset="0"/>
              <a:buNone/>
            </a:pPr>
            <a:r>
              <a:rPr lang="en-US" altLang="zh-CN" sz="3200" b="1" dirty="0">
                <a:latin typeface="Times New Roman" panose="02020603050405020304" charset="0"/>
                <a:cs typeface="Times New Roman" panose="02020603050405020304" charset="0"/>
                <a:sym typeface="+mn-ea"/>
              </a:rPr>
              <a:t>Research </a:t>
            </a:r>
            <a:r>
              <a:rPr lang="en-US" altLang="zh-CN" sz="3200" b="1" dirty="0">
                <a:solidFill>
                  <a:srgbClr val="FF0000"/>
                </a:solidFill>
                <a:latin typeface="Times New Roman" panose="02020603050405020304" charset="0"/>
                <a:cs typeface="Times New Roman" panose="02020603050405020304" charset="0"/>
                <a:sym typeface="+mn-ea"/>
              </a:rPr>
              <a:t>associations</a:t>
            </a:r>
            <a:r>
              <a:rPr lang="en-US" altLang="zh-CN" sz="3200" b="1" dirty="0">
                <a:latin typeface="Times New Roman" panose="02020603050405020304" charset="0"/>
                <a:cs typeface="Times New Roman" panose="02020603050405020304" charset="0"/>
                <a:sym typeface="+mn-ea"/>
              </a:rPr>
              <a:t> are often linked to a particular industry. </a:t>
            </a:r>
            <a:r>
              <a:rPr lang="zh-CN" altLang="en-US" sz="3200" b="1" dirty="0">
                <a:latin typeface="Times New Roman" panose="02020603050405020304" charset="0"/>
                <a:cs typeface="Times New Roman" panose="02020603050405020304" charset="0"/>
                <a:sym typeface="+mn-ea"/>
              </a:rPr>
              <a:t>研究协会常与某个特定的行业挂钩。</a:t>
            </a:r>
            <a:endParaRPr lang="en-US" altLang="zh-CN" sz="3200" b="1" dirty="0">
              <a:latin typeface="Times New Roman" panose="02020603050405020304" charset="0"/>
              <a:cs typeface="Times New Roman" panose="02020603050405020304" charset="0"/>
              <a:sym typeface="+mn-ea"/>
            </a:endParaRPr>
          </a:p>
          <a:p>
            <a:pPr marL="457200" indent="-457200" fontAlgn="auto">
              <a:lnSpc>
                <a:spcPct val="120000"/>
              </a:lnSpc>
              <a:spcBef>
                <a:spcPts val="0"/>
              </a:spcBef>
              <a:spcAft>
                <a:spcPts val="0"/>
              </a:spcAft>
              <a:buFont typeface="Arial" panose="020B0704020202020204" pitchFamily="34" charset="0"/>
              <a:buChar char="•"/>
            </a:pPr>
            <a:r>
              <a:rPr lang="en-US" altLang="zh-CN" sz="3200" b="1" i="1" dirty="0">
                <a:solidFill>
                  <a:srgbClr val="000000"/>
                </a:solidFill>
                <a:latin typeface="Times New Roman Bold Italic" panose="02020603050405020304" charset="0"/>
                <a:cs typeface="Times New Roman Bold Italic" panose="02020603050405020304" charset="0"/>
              </a:rPr>
              <a:t>being in </a:t>
            </a:r>
            <a:r>
              <a:rPr lang="en-US" altLang="zh-CN" sz="3200" b="1" i="1" dirty="0" err="1">
                <a:solidFill>
                  <a:srgbClr val="000000"/>
                </a:solidFill>
                <a:latin typeface="Times New Roman Bold Italic" panose="02020603050405020304" charset="0"/>
                <a:cs typeface="Times New Roman Bold Italic" panose="02020603050405020304" charset="0"/>
              </a:rPr>
              <a:t>sb’s</a:t>
            </a:r>
            <a:r>
              <a:rPr lang="en-US" altLang="zh-CN" sz="3200" b="1" i="1" dirty="0">
                <a:solidFill>
                  <a:srgbClr val="000000"/>
                </a:solidFill>
                <a:latin typeface="Times New Roman Bold Italic" panose="02020603050405020304" charset="0"/>
                <a:cs typeface="Times New Roman Bold Italic" panose="02020603050405020304" charset="0"/>
              </a:rPr>
              <a:t> company; </a:t>
            </a:r>
            <a:r>
              <a:rPr lang="en-US" altLang="zh-CN" sz="3200" b="1" i="1" dirty="0">
                <a:solidFill>
                  <a:srgbClr val="0000FF"/>
                </a:solidFill>
                <a:latin typeface="Times New Roman Bold Italic" panose="02020603050405020304" charset="0"/>
                <a:cs typeface="Times New Roman Bold Italic" panose="02020603050405020304" charset="0"/>
              </a:rPr>
              <a:t>friendship</a:t>
            </a:r>
            <a:r>
              <a:rPr lang="en-US" altLang="zh-CN" sz="3200" b="1" dirty="0">
                <a:solidFill>
                  <a:srgbClr val="0000FF"/>
                </a:solidFill>
                <a:latin typeface="Times New Roman" panose="02020603050405020304" charset="0"/>
                <a:cs typeface="Times New Roman" panose="02020603050405020304" charset="0"/>
              </a:rPr>
              <a:t> </a:t>
            </a:r>
            <a:r>
              <a:rPr lang="zh-CN" altLang="en-US" sz="3200" b="1" dirty="0">
                <a:solidFill>
                  <a:srgbClr val="FF0000"/>
                </a:solidFill>
                <a:latin typeface="Times New Roman" panose="02020603050405020304" charset="0"/>
                <a:cs typeface="Times New Roman" panose="02020603050405020304" charset="0"/>
              </a:rPr>
              <a:t>联合，交往</a:t>
            </a:r>
            <a:endParaRPr lang="en-US" altLang="zh-CN" sz="3200" b="1" dirty="0">
              <a:solidFill>
                <a:srgbClr val="FF0000"/>
              </a:solidFill>
              <a:latin typeface="Times New Roman" panose="02020603050405020304" charset="0"/>
              <a:cs typeface="Times New Roman" panose="02020603050405020304" charset="0"/>
            </a:endParaRPr>
          </a:p>
          <a:p>
            <a:pPr indent="0" fontAlgn="auto">
              <a:lnSpc>
                <a:spcPct val="120000"/>
              </a:lnSpc>
              <a:spcBef>
                <a:spcPts val="0"/>
              </a:spcBef>
              <a:spcAft>
                <a:spcPts val="0"/>
              </a:spcAft>
              <a:buFont typeface="Arial" panose="020B0704020202020204" pitchFamily="34" charset="0"/>
              <a:buNone/>
            </a:pPr>
            <a:r>
              <a:rPr lang="en-US" altLang="zh-CN" sz="3200" b="1" dirty="0"/>
              <a:t>She became famous through her </a:t>
            </a:r>
            <a:r>
              <a:rPr lang="en-US" altLang="zh-CN" sz="3200" b="1" dirty="0">
                <a:solidFill>
                  <a:srgbClr val="FF0000"/>
                </a:solidFill>
              </a:rPr>
              <a:t>association with</a:t>
            </a:r>
            <a:r>
              <a:rPr lang="en-US" altLang="zh-CN" sz="3200" b="1" dirty="0"/>
              <a:t> several poets. </a:t>
            </a:r>
          </a:p>
          <a:p>
            <a:pPr indent="0" fontAlgn="auto">
              <a:lnSpc>
                <a:spcPct val="120000"/>
              </a:lnSpc>
              <a:spcBef>
                <a:spcPts val="0"/>
              </a:spcBef>
              <a:spcAft>
                <a:spcPts val="0"/>
              </a:spcAft>
              <a:buFont typeface="Arial" panose="020B0704020202020204" pitchFamily="34" charset="0"/>
              <a:buNone/>
            </a:pPr>
            <a:r>
              <a:rPr lang="zh-CN" altLang="en-US" sz="3200" b="1" dirty="0"/>
              <a:t>她通过与几位诗人的交往而出名了。</a:t>
            </a:r>
            <a:endParaRPr lang="zh-CN" altLang="en-US" sz="3200" b="1" dirty="0">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4177273" y="1499680"/>
            <a:ext cx="2279015" cy="449580"/>
          </a:xfrm>
          <a:prstGeom prst="rect">
            <a:avLst/>
          </a:prstGeom>
          <a:noFill/>
        </p:spPr>
        <p:txBody>
          <a:bodyPr wrap="none" rtlCol="0">
            <a:spAutoFit/>
          </a:bodyPr>
          <a:lstStyle/>
          <a:p>
            <a:r>
              <a:rPr lang="en-US" altLang="zh-CN" sz="2325" b="1" dirty="0">
                <a:solidFill>
                  <a:schemeClr val="bg1"/>
                </a:solidFill>
              </a:rPr>
              <a:t>Language points</a:t>
            </a:r>
            <a:endParaRPr lang="zh-CN" altLang="en-US" sz="2325" b="1" dirty="0">
              <a:solidFill>
                <a:schemeClr val="bg1"/>
              </a:solidFill>
            </a:endParaRPr>
          </a:p>
        </p:txBody>
      </p:sp>
      <p:sp>
        <p:nvSpPr>
          <p:cNvPr id="6" name="文本框 5"/>
          <p:cNvSpPr txBox="1"/>
          <p:nvPr/>
        </p:nvSpPr>
        <p:spPr>
          <a:xfrm>
            <a:off x="452755" y="270510"/>
            <a:ext cx="11515090" cy="5996940"/>
          </a:xfrm>
          <a:prstGeom prst="rect">
            <a:avLst/>
          </a:prstGeom>
          <a:noFill/>
        </p:spPr>
        <p:txBody>
          <a:bodyPr wrap="square" rtlCol="0">
            <a:spAutoFit/>
          </a:bodyPr>
          <a:lstStyle/>
          <a:p>
            <a:pPr marL="457200" indent="-457200" defTabSz="225425" fontAlgn="auto">
              <a:lnSpc>
                <a:spcPct val="120000"/>
              </a:lnSpc>
              <a:buFont typeface="Arial" panose="020B0704020202020204" pitchFamily="34" charset="0"/>
              <a:buChar char="•"/>
            </a:pPr>
            <a:r>
              <a:rPr lang="en-US" altLang="zh-CN" sz="3200" b="1" dirty="0">
                <a:solidFill>
                  <a:srgbClr val="FF0000"/>
                </a:solidFill>
                <a:latin typeface="Times New Roman" panose="02020603050405020304" charset="0"/>
                <a:cs typeface="Times New Roman" panose="02020603050405020304" charset="0"/>
                <a:sym typeface="+mn-ea"/>
              </a:rPr>
              <a:t>associate </a:t>
            </a:r>
            <a:r>
              <a:rPr lang="en-US" altLang="zh-CN" sz="3200" b="1" i="1" dirty="0">
                <a:solidFill>
                  <a:srgbClr val="FF0000"/>
                </a:solidFill>
                <a:latin typeface="Times New Roman" panose="02020603050405020304" charset="0"/>
                <a:cs typeface="Times New Roman" panose="02020603050405020304" charset="0"/>
                <a:sym typeface="+mn-ea"/>
              </a:rPr>
              <a:t>v.</a:t>
            </a:r>
            <a:r>
              <a:rPr lang="en-US" altLang="zh-CN" sz="3200" b="1" i="1" dirty="0">
                <a:latin typeface="Times New Roman" panose="02020603050405020304" charset="0"/>
                <a:cs typeface="Times New Roman" panose="02020603050405020304" charset="0"/>
                <a:sym typeface="+mn-ea"/>
              </a:rPr>
              <a:t> </a:t>
            </a:r>
            <a:r>
              <a:rPr lang="zh-CN" altLang="en-US" sz="3200" b="1" dirty="0">
                <a:latin typeface="Times New Roman" panose="02020603050405020304" charset="0"/>
                <a:cs typeface="Times New Roman" panose="02020603050405020304" charset="0"/>
                <a:sym typeface="+mn-ea"/>
              </a:rPr>
              <a:t>联想，联系；与某人</a:t>
            </a:r>
            <a:r>
              <a:rPr lang="en-US" altLang="zh-CN" sz="3200" b="1" dirty="0">
                <a:latin typeface="Times New Roman" panose="02020603050405020304" charset="0"/>
                <a:cs typeface="Times New Roman" panose="02020603050405020304" charset="0"/>
                <a:sym typeface="+mn-ea"/>
              </a:rPr>
              <a:t>/</a:t>
            </a:r>
            <a:r>
              <a:rPr lang="zh-CN" altLang="en-US" sz="3200" b="1" dirty="0">
                <a:latin typeface="Times New Roman" panose="02020603050405020304" charset="0"/>
                <a:cs typeface="Times New Roman" panose="02020603050405020304" charset="0"/>
                <a:sym typeface="+mn-ea"/>
              </a:rPr>
              <a:t>物有瓜葛</a:t>
            </a:r>
          </a:p>
          <a:p>
            <a:pPr indent="0" defTabSz="225425" fontAlgn="auto">
              <a:lnSpc>
                <a:spcPct val="120000"/>
              </a:lnSpc>
              <a:buNone/>
            </a:pPr>
            <a:r>
              <a:rPr lang="en-US" altLang="zh-CN" sz="3200" b="1" dirty="0">
                <a:solidFill>
                  <a:srgbClr val="FF0000"/>
                </a:solidFill>
                <a:latin typeface="Times New Roman" panose="02020603050405020304" charset="0"/>
                <a:cs typeface="Times New Roman" panose="02020603050405020304" charset="0"/>
                <a:sym typeface="+mn-ea"/>
              </a:rPr>
              <a:t>associate </a:t>
            </a:r>
            <a:r>
              <a:rPr lang="en-US" altLang="zh-CN" sz="3200" b="1" dirty="0" err="1">
                <a:solidFill>
                  <a:srgbClr val="FF0000"/>
                </a:solidFill>
                <a:latin typeface="Times New Roman" panose="02020603050405020304" charset="0"/>
                <a:cs typeface="Times New Roman" panose="02020603050405020304" charset="0"/>
                <a:sym typeface="+mn-ea"/>
              </a:rPr>
              <a:t>sb</a:t>
            </a:r>
            <a:r>
              <a:rPr lang="en-US" altLang="zh-CN" sz="3200" b="1" dirty="0">
                <a:solidFill>
                  <a:srgbClr val="FF0000"/>
                </a:solidFill>
                <a:latin typeface="Times New Roman" panose="02020603050405020304" charset="0"/>
                <a:cs typeface="Times New Roman" panose="02020603050405020304" charset="0"/>
                <a:sym typeface="+mn-ea"/>
              </a:rPr>
              <a:t>/</a:t>
            </a:r>
            <a:r>
              <a:rPr lang="en-US" altLang="zh-CN" sz="3200" b="1" dirty="0" err="1">
                <a:solidFill>
                  <a:srgbClr val="FF0000"/>
                </a:solidFill>
                <a:latin typeface="Times New Roman" panose="02020603050405020304" charset="0"/>
                <a:cs typeface="Times New Roman" panose="02020603050405020304" charset="0"/>
                <a:sym typeface="+mn-ea"/>
              </a:rPr>
              <a:t>sth</a:t>
            </a:r>
            <a:r>
              <a:rPr lang="en-US" altLang="zh-CN" sz="3200" b="1" dirty="0">
                <a:solidFill>
                  <a:srgbClr val="FF0000"/>
                </a:solidFill>
                <a:latin typeface="Times New Roman" panose="02020603050405020304" charset="0"/>
                <a:cs typeface="Times New Roman" panose="02020603050405020304" charset="0"/>
                <a:sym typeface="+mn-ea"/>
              </a:rPr>
              <a:t> with </a:t>
            </a:r>
            <a:r>
              <a:rPr lang="en-US" altLang="zh-CN" sz="3200" b="1" dirty="0" err="1">
                <a:solidFill>
                  <a:srgbClr val="FF0000"/>
                </a:solidFill>
                <a:latin typeface="Times New Roman" panose="02020603050405020304" charset="0"/>
                <a:cs typeface="Times New Roman" panose="02020603050405020304" charset="0"/>
                <a:sym typeface="+mn-ea"/>
              </a:rPr>
              <a:t>sth</a:t>
            </a:r>
            <a:r>
              <a:rPr lang="en-US" altLang="zh-CN" sz="3200" b="1" dirty="0">
                <a:solidFill>
                  <a:srgbClr val="FF0000"/>
                </a:solidFill>
                <a:latin typeface="Times New Roman" panose="02020603050405020304" charset="0"/>
                <a:cs typeface="Times New Roman" panose="02020603050405020304" charset="0"/>
                <a:sym typeface="+mn-ea"/>
              </a:rPr>
              <a:t> </a:t>
            </a:r>
          </a:p>
          <a:p>
            <a:pPr indent="0" defTabSz="225425" fontAlgn="auto">
              <a:lnSpc>
                <a:spcPct val="120000"/>
              </a:lnSpc>
              <a:buNone/>
            </a:pPr>
            <a:r>
              <a:rPr lang="en-US" altLang="zh-CN" sz="3200" b="1" dirty="0">
                <a:latin typeface="Times New Roman" panose="02020603050405020304" charset="0"/>
                <a:cs typeface="Times New Roman" panose="02020603050405020304" charset="0"/>
                <a:sym typeface="+mn-ea"/>
              </a:rPr>
              <a:t>Most people </a:t>
            </a:r>
            <a:r>
              <a:rPr lang="en-US" altLang="zh-CN" sz="3200" b="1" dirty="0">
                <a:solidFill>
                  <a:srgbClr val="FF0000"/>
                </a:solidFill>
                <a:latin typeface="Times New Roman" panose="02020603050405020304" charset="0"/>
                <a:cs typeface="Times New Roman" panose="02020603050405020304" charset="0"/>
                <a:sym typeface="+mn-ea"/>
              </a:rPr>
              <a:t>associate</a:t>
            </a:r>
            <a:r>
              <a:rPr lang="en-US" altLang="zh-CN" sz="3200" b="1" dirty="0">
                <a:latin typeface="Times New Roman" panose="02020603050405020304" charset="0"/>
                <a:cs typeface="Times New Roman" panose="02020603050405020304" charset="0"/>
                <a:sym typeface="+mn-ea"/>
              </a:rPr>
              <a:t> this brand </a:t>
            </a:r>
            <a:r>
              <a:rPr lang="en-US" altLang="zh-CN" sz="3200" b="1" dirty="0">
                <a:solidFill>
                  <a:srgbClr val="FF0000"/>
                </a:solidFill>
                <a:latin typeface="Times New Roman" panose="02020603050405020304" charset="0"/>
                <a:cs typeface="Times New Roman" panose="02020603050405020304" charset="0"/>
                <a:sym typeface="+mn-ea"/>
              </a:rPr>
              <a:t>with</a:t>
            </a:r>
            <a:r>
              <a:rPr lang="en-US" altLang="zh-CN" sz="3200" b="1" dirty="0">
                <a:latin typeface="Times New Roman" panose="02020603050405020304" charset="0"/>
                <a:cs typeface="Times New Roman" panose="02020603050405020304" charset="0"/>
                <a:sym typeface="+mn-ea"/>
              </a:rPr>
              <a:t> good quality.</a:t>
            </a:r>
          </a:p>
          <a:p>
            <a:pPr marL="457200" indent="-457200" fontAlgn="auto">
              <a:lnSpc>
                <a:spcPct val="120000"/>
              </a:lnSpc>
              <a:buFont typeface="Arial" panose="020B0704020202020204" pitchFamily="34" charset="0"/>
              <a:buChar char="•"/>
            </a:pPr>
            <a:r>
              <a:rPr lang="zh-CN" altLang="en-US" sz="3200" b="1" dirty="0">
                <a:solidFill>
                  <a:srgbClr val="FF0000"/>
                </a:solidFill>
                <a:latin typeface="Times New Roman" panose="02020603050405020304" charset="0"/>
                <a:cs typeface="Times New Roman" panose="02020603050405020304" charset="0"/>
                <a:sym typeface="+mn-ea"/>
              </a:rPr>
              <a:t>associated </a:t>
            </a:r>
            <a:r>
              <a:rPr lang="zh-CN" altLang="en-US" sz="3200" b="1" i="1" dirty="0">
                <a:solidFill>
                  <a:srgbClr val="FF0000"/>
                </a:solidFill>
                <a:latin typeface="Times New Roman" panose="02020603050405020304" charset="0"/>
                <a:cs typeface="Times New Roman" panose="02020603050405020304" charset="0"/>
                <a:sym typeface="+mn-ea"/>
              </a:rPr>
              <a:t>a</a:t>
            </a:r>
            <a:r>
              <a:rPr lang="en-US" altLang="zh-CN" sz="3200" b="1" i="1" dirty="0" err="1">
                <a:solidFill>
                  <a:srgbClr val="FF0000"/>
                </a:solidFill>
                <a:latin typeface="Times New Roman" panose="02020603050405020304" charset="0"/>
                <a:cs typeface="Times New Roman" panose="02020603050405020304" charset="0"/>
                <a:sym typeface="+mn-ea"/>
              </a:rPr>
              <a:t>dj</a:t>
            </a:r>
            <a:r>
              <a:rPr lang="zh-CN" altLang="en-US" sz="3200" b="1" i="1" dirty="0">
                <a:solidFill>
                  <a:srgbClr val="FF0000"/>
                </a:solidFill>
                <a:latin typeface="Times New Roman" panose="02020603050405020304" charset="0"/>
                <a:cs typeface="Times New Roman" panose="02020603050405020304" charset="0"/>
                <a:sym typeface="+mn-ea"/>
              </a:rPr>
              <a:t>. </a:t>
            </a:r>
            <a:r>
              <a:rPr lang="zh-CN" altLang="en-US" sz="3200" b="1" dirty="0">
                <a:solidFill>
                  <a:schemeClr val="tx1"/>
                </a:solidFill>
                <a:latin typeface="Times New Roman" panose="02020603050405020304" charset="0"/>
                <a:cs typeface="Times New Roman" panose="02020603050405020304" charset="0"/>
                <a:sym typeface="+mn-ea"/>
              </a:rPr>
              <a:t>有关的；相关的</a:t>
            </a:r>
          </a:p>
          <a:p>
            <a:pPr indent="0" fontAlgn="auto">
              <a:lnSpc>
                <a:spcPct val="120000"/>
              </a:lnSpc>
              <a:buFont typeface="Wingdings" panose="05000000000000000000" charset="0"/>
              <a:buNone/>
            </a:pPr>
            <a:r>
              <a:rPr lang="zh-CN" altLang="en-US" sz="3200" b="1" dirty="0">
                <a:solidFill>
                  <a:srgbClr val="FF0000"/>
                </a:solidFill>
                <a:latin typeface="Times New Roman" panose="02020603050405020304" charset="0"/>
                <a:cs typeface="Times New Roman" panose="02020603050405020304" charset="0"/>
                <a:sym typeface="+mn-ea"/>
              </a:rPr>
              <a:t>be associated with</a:t>
            </a:r>
            <a:r>
              <a:rPr lang="zh-CN" altLang="en-US" sz="3200" b="1" dirty="0">
                <a:latin typeface="Times New Roman" panose="02020603050405020304" charset="0"/>
                <a:cs typeface="Times New Roman" panose="02020603050405020304" charset="0"/>
                <a:sym typeface="+mn-ea"/>
              </a:rPr>
              <a:t> …与</a:t>
            </a:r>
            <a:r>
              <a:rPr lang="zh-CN" altLang="en-US" sz="3200" b="1" dirty="0">
                <a:latin typeface="+mn-ea"/>
                <a:cs typeface="Times New Roman" panose="02020603050405020304" charset="0"/>
                <a:sym typeface="+mn-ea"/>
              </a:rPr>
              <a:t>…</a:t>
            </a:r>
            <a:r>
              <a:rPr lang="en-US" altLang="zh-CN" sz="3200" b="1" dirty="0">
                <a:latin typeface="+mn-ea"/>
                <a:cs typeface="Times New Roman" panose="02020603050405020304" charset="0"/>
                <a:sym typeface="+mn-ea"/>
              </a:rPr>
              <a:t>…</a:t>
            </a:r>
            <a:r>
              <a:rPr lang="zh-CN" altLang="en-US" sz="3200" b="1" dirty="0">
                <a:latin typeface="Times New Roman" panose="02020603050405020304" charset="0"/>
                <a:cs typeface="Times New Roman" panose="02020603050405020304" charset="0"/>
                <a:sym typeface="+mn-ea"/>
              </a:rPr>
              <a:t>有关联</a:t>
            </a:r>
            <a:endParaRPr lang="en-US" altLang="zh-CN" sz="3200" b="1" dirty="0">
              <a:latin typeface="Times New Roman" panose="02020603050405020304" charset="0"/>
              <a:cs typeface="Times New Roman" panose="02020603050405020304" charset="0"/>
              <a:sym typeface="+mn-ea"/>
            </a:endParaRPr>
          </a:p>
          <a:p>
            <a:pPr indent="0" fontAlgn="auto">
              <a:lnSpc>
                <a:spcPct val="120000"/>
              </a:lnSpc>
              <a:buFont typeface="Wingdings" panose="05000000000000000000" charset="0"/>
              <a:buNone/>
            </a:pPr>
            <a:r>
              <a:rPr lang="en-US" altLang="zh-CN" sz="3200" b="1" dirty="0">
                <a:latin typeface="Times New Roman" panose="02020603050405020304" charset="0"/>
                <a:cs typeface="Times New Roman" panose="02020603050405020304" charset="0"/>
                <a:sym typeface="+mn-ea"/>
              </a:rPr>
              <a:t>His social problems </a:t>
            </a:r>
            <a:r>
              <a:rPr lang="en-US" altLang="zh-CN" sz="3200" b="1" dirty="0">
                <a:solidFill>
                  <a:srgbClr val="FF0000"/>
                </a:solidFill>
                <a:latin typeface="Times New Roman" panose="02020603050405020304" charset="0"/>
                <a:cs typeface="Times New Roman" panose="02020603050405020304" charset="0"/>
                <a:sym typeface="+mn-ea"/>
              </a:rPr>
              <a:t>were associated with</a:t>
            </a:r>
            <a:r>
              <a:rPr lang="en-US" altLang="zh-CN" sz="3200" b="1" dirty="0">
                <a:latin typeface="Times New Roman" panose="02020603050405020304" charset="0"/>
                <a:cs typeface="Times New Roman" panose="02020603050405020304" charset="0"/>
                <a:sym typeface="+mn-ea"/>
              </a:rPr>
              <a:t> heavy drinking.</a:t>
            </a:r>
            <a:endParaRPr lang="zh-CN" altLang="en-US" sz="3200" b="1" dirty="0">
              <a:latin typeface="Times New Roman" panose="02020603050405020304" charset="0"/>
              <a:cs typeface="Times New Roman" panose="02020603050405020304" charset="0"/>
              <a:sym typeface="+mn-ea"/>
            </a:endParaRPr>
          </a:p>
          <a:p>
            <a:pPr marL="457200" indent="-457200" fontAlgn="auto">
              <a:lnSpc>
                <a:spcPct val="120000"/>
              </a:lnSpc>
              <a:buFont typeface="Arial" panose="020B0704020202020204" pitchFamily="34" charset="0"/>
              <a:buChar char="•"/>
              <a:tabLst>
                <a:tab pos="448945" algn="l"/>
              </a:tabLst>
            </a:pPr>
            <a:r>
              <a:rPr lang="zh-CN" altLang="en-US" sz="3200" b="1" dirty="0">
                <a:solidFill>
                  <a:srgbClr val="FF0000"/>
                </a:solidFill>
                <a:latin typeface="Times New Roman" panose="02020603050405020304" charset="0"/>
                <a:cs typeface="Times New Roman" panose="02020603050405020304" charset="0"/>
                <a:sym typeface="+mn-ea"/>
              </a:rPr>
              <a:t>associate </a:t>
            </a:r>
            <a:r>
              <a:rPr lang="zh-CN" altLang="en-US" sz="3200" b="1" dirty="0">
                <a:solidFill>
                  <a:schemeClr val="tx1"/>
                </a:solidFill>
                <a:latin typeface="Times New Roman" panose="02020603050405020304" charset="0"/>
                <a:cs typeface="Times New Roman" panose="02020603050405020304" charset="0"/>
                <a:sym typeface="+mn-ea"/>
              </a:rPr>
              <a:t> </a:t>
            </a:r>
            <a:r>
              <a:rPr lang="zh-CN" altLang="en-US" sz="3200" b="1" i="1" dirty="0">
                <a:solidFill>
                  <a:srgbClr val="FF0000"/>
                </a:solidFill>
                <a:latin typeface="Times New Roman" panose="02020603050405020304" charset="0"/>
                <a:cs typeface="Times New Roman" panose="02020603050405020304" charset="0"/>
                <a:sym typeface="+mn-ea"/>
              </a:rPr>
              <a:t>a</a:t>
            </a:r>
            <a:r>
              <a:rPr lang="en-US" altLang="zh-CN" sz="3200" b="1" i="1" dirty="0" err="1">
                <a:solidFill>
                  <a:srgbClr val="FF0000"/>
                </a:solidFill>
                <a:latin typeface="Times New Roman" panose="02020603050405020304" charset="0"/>
                <a:cs typeface="Times New Roman" panose="02020603050405020304" charset="0"/>
                <a:sym typeface="+mn-ea"/>
              </a:rPr>
              <a:t>dj</a:t>
            </a:r>
            <a:r>
              <a:rPr lang="zh-CN" altLang="en-US" sz="3200" b="1" i="1" dirty="0">
                <a:solidFill>
                  <a:srgbClr val="FF0000"/>
                </a:solidFill>
                <a:latin typeface="Times New Roman" panose="02020603050405020304" charset="0"/>
                <a:cs typeface="Times New Roman" panose="02020603050405020304" charset="0"/>
                <a:sym typeface="+mn-ea"/>
              </a:rPr>
              <a:t>. </a:t>
            </a:r>
            <a:r>
              <a:rPr lang="zh-CN" altLang="en-US" sz="3200" b="1" dirty="0">
                <a:solidFill>
                  <a:schemeClr val="tx1"/>
                </a:solidFill>
                <a:latin typeface="Times New Roman" panose="02020603050405020304" charset="0"/>
                <a:cs typeface="Times New Roman" panose="02020603050405020304" charset="0"/>
                <a:sym typeface="+mn-ea"/>
              </a:rPr>
              <a:t>副的；非正式的 </a:t>
            </a:r>
            <a:endParaRPr lang="zh-CN" altLang="en-US" sz="3200" b="1" dirty="0">
              <a:solidFill>
                <a:srgbClr val="FF0000"/>
              </a:solidFill>
              <a:latin typeface="Times New Roman" panose="02020603050405020304" charset="0"/>
              <a:cs typeface="Times New Roman" panose="02020603050405020304" charset="0"/>
              <a:sym typeface="+mn-ea"/>
            </a:endParaRPr>
          </a:p>
          <a:p>
            <a:pPr indent="0" fontAlgn="auto">
              <a:lnSpc>
                <a:spcPct val="120000"/>
              </a:lnSpc>
              <a:buFont typeface="Wingdings" panose="05000000000000000000" charset="0"/>
              <a:buNone/>
            </a:pPr>
            <a:r>
              <a:rPr lang="zh-CN" altLang="en-US" sz="3200" b="1" dirty="0">
                <a:solidFill>
                  <a:srgbClr val="FF0000"/>
                </a:solidFill>
                <a:latin typeface="Times New Roman" panose="02020603050405020304" charset="0"/>
                <a:cs typeface="Times New Roman" panose="02020603050405020304" charset="0"/>
                <a:sym typeface="+mn-ea"/>
              </a:rPr>
              <a:t>an associate professor </a:t>
            </a:r>
            <a:r>
              <a:rPr lang="zh-CN" altLang="en-US" sz="3200" b="1" dirty="0">
                <a:solidFill>
                  <a:schemeClr val="tx1"/>
                </a:solidFill>
                <a:latin typeface="Times New Roman" panose="02020603050405020304" charset="0"/>
                <a:cs typeface="Times New Roman" panose="02020603050405020304" charset="0"/>
                <a:sym typeface="+mn-ea"/>
              </a:rPr>
              <a:t>副教授</a:t>
            </a:r>
            <a:endParaRPr lang="en-US" altLang="zh-CN" sz="3200" b="1" dirty="0">
              <a:solidFill>
                <a:srgbClr val="FF0000"/>
              </a:solidFill>
              <a:latin typeface="Times New Roman" panose="02020603050405020304" charset="0"/>
              <a:cs typeface="Times New Roman" panose="02020603050405020304" charset="0"/>
              <a:sym typeface="+mn-ea"/>
            </a:endParaRPr>
          </a:p>
          <a:p>
            <a:pPr marL="457200" lvl="0" indent="-457200" defTabSz="225425" fontAlgn="auto">
              <a:lnSpc>
                <a:spcPct val="120000"/>
              </a:lnSpc>
              <a:buFont typeface="Arial" panose="020B0704020202020204" pitchFamily="34" charset="0"/>
              <a:buChar char="•"/>
            </a:pPr>
            <a:r>
              <a:rPr lang="en-US" altLang="zh-CN" sz="3200" b="1" dirty="0">
                <a:solidFill>
                  <a:srgbClr val="FF0000"/>
                </a:solidFill>
                <a:latin typeface="Times New Roman" panose="02020603050405020304" charset="0"/>
                <a:cs typeface="Times New Roman" panose="02020603050405020304" charset="0"/>
                <a:sym typeface="+mn-ea"/>
              </a:rPr>
              <a:t>associate</a:t>
            </a:r>
            <a:r>
              <a:rPr lang="en-US" altLang="zh-CN" sz="3200" b="1" dirty="0">
                <a:solidFill>
                  <a:prstClr val="black"/>
                </a:solidFill>
                <a:latin typeface="Times New Roman" panose="02020603050405020304" charset="0"/>
                <a:cs typeface="Times New Roman" panose="02020603050405020304" charset="0"/>
                <a:sym typeface="+mn-ea"/>
              </a:rPr>
              <a:t> </a:t>
            </a:r>
            <a:r>
              <a:rPr lang="en-US" altLang="zh-CN" sz="3200" b="1" i="1" dirty="0">
                <a:solidFill>
                  <a:srgbClr val="FF0000"/>
                </a:solidFill>
                <a:latin typeface="Times New Roman" panose="02020603050405020304" charset="0"/>
                <a:cs typeface="Times New Roman" panose="02020603050405020304" charset="0"/>
                <a:sym typeface="+mn-ea"/>
              </a:rPr>
              <a:t>n.</a:t>
            </a:r>
            <a:r>
              <a:rPr lang="en-US" altLang="zh-CN" sz="3200" b="1" dirty="0">
                <a:solidFill>
                  <a:prstClr val="black"/>
                </a:solidFill>
                <a:latin typeface="Times New Roman" panose="02020603050405020304" charset="0"/>
                <a:cs typeface="Times New Roman" panose="02020603050405020304" charset="0"/>
                <a:sym typeface="+mn-ea"/>
              </a:rPr>
              <a:t> </a:t>
            </a:r>
            <a:r>
              <a:rPr lang="zh-CN" altLang="en-US" sz="3200" b="1" dirty="0">
                <a:solidFill>
                  <a:prstClr val="black"/>
                </a:solidFill>
                <a:latin typeface="Times New Roman" panose="02020603050405020304" charset="0"/>
                <a:cs typeface="Times New Roman" panose="02020603050405020304" charset="0"/>
                <a:sym typeface="+mn-ea"/>
              </a:rPr>
              <a:t>同事；生意伙伴</a:t>
            </a:r>
          </a:p>
          <a:p>
            <a:pPr lvl="0" indent="0" defTabSz="225425" fontAlgn="auto">
              <a:lnSpc>
                <a:spcPct val="120000"/>
              </a:lnSpc>
              <a:buFont typeface="Arial" panose="020B0704020202020204" pitchFamily="34" charset="0"/>
              <a:buNone/>
            </a:pPr>
            <a:r>
              <a:rPr lang="zh-CN" altLang="en-US" sz="3200" b="1" dirty="0">
                <a:solidFill>
                  <a:prstClr val="black"/>
                </a:solidFill>
                <a:latin typeface="Times New Roman" panose="02020603050405020304" charset="0"/>
                <a:cs typeface="Times New Roman" panose="02020603050405020304" charset="0"/>
                <a:sym typeface="+mn-ea"/>
              </a:rPr>
              <a:t>the restaurant owner's </a:t>
            </a:r>
            <a:r>
              <a:rPr lang="zh-CN" altLang="en-US" sz="3200" b="1" dirty="0">
                <a:solidFill>
                  <a:srgbClr val="FF0000"/>
                </a:solidFill>
                <a:latin typeface="Times New Roman" panose="02020603050405020304" charset="0"/>
                <a:cs typeface="Times New Roman" panose="02020603050405020304" charset="0"/>
                <a:sym typeface="+mn-ea"/>
              </a:rPr>
              <a:t>business associates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linds(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blinds(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blinds(horizontal)">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blinds(horizontal)">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blinds(horizontal)">
                                      <p:cBhvr>
                                        <p:cTn id="5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379095" y="327660"/>
            <a:ext cx="11516995" cy="4815840"/>
          </a:xfrm>
          <a:prstGeom prst="rect">
            <a:avLst/>
          </a:prstGeom>
        </p:spPr>
        <p:txBody>
          <a:bodyPr wrap="square">
            <a:spAutoFit/>
          </a:bodyPr>
          <a:lstStyle/>
          <a:p>
            <a:pPr>
              <a:lnSpc>
                <a:spcPct val="120000"/>
              </a:lnSpc>
            </a:pPr>
            <a:r>
              <a:rPr lang="en-US" altLang="zh-CN" sz="3200" b="1" dirty="0">
                <a:solidFill>
                  <a:srgbClr val="0000FF"/>
                </a:solidFill>
                <a:latin typeface="+mj-lt"/>
                <a:ea typeface="宋体" pitchFamily="2" charset="-122"/>
              </a:rPr>
              <a:t>【</a:t>
            </a:r>
            <a:r>
              <a:rPr lang="zh-CN" altLang="en-US" sz="3200" b="1" dirty="0">
                <a:solidFill>
                  <a:srgbClr val="0000FF"/>
                </a:solidFill>
                <a:latin typeface="+mj-lt"/>
                <a:ea typeface="宋体" pitchFamily="2" charset="-122"/>
              </a:rPr>
              <a:t>语境应用</a:t>
            </a:r>
            <a:r>
              <a:rPr lang="en-US" altLang="zh-CN" sz="3200" b="1" dirty="0">
                <a:solidFill>
                  <a:srgbClr val="0000FF"/>
                </a:solidFill>
                <a:latin typeface="+mj-lt"/>
                <a:ea typeface="宋体" pitchFamily="2" charset="-122"/>
              </a:rPr>
              <a:t>】</a:t>
            </a:r>
            <a:r>
              <a:rPr lang="zh-CN" altLang="en-US" sz="3200" b="1" dirty="0">
                <a:solidFill>
                  <a:srgbClr val="0000FF"/>
                </a:solidFill>
                <a:latin typeface="+mj-lt"/>
                <a:ea typeface="宋体" pitchFamily="2" charset="-122"/>
              </a:rPr>
              <a:t>根据括号内的汉语提示补全下列句子。</a:t>
            </a:r>
          </a:p>
          <a:p>
            <a:pPr marL="449580" indent="-449580">
              <a:lnSpc>
                <a:spcPct val="120000"/>
              </a:lnSpc>
            </a:pPr>
            <a:r>
              <a:rPr lang="en-US" altLang="zh-CN" sz="3200" b="1" dirty="0">
                <a:latin typeface="+mj-lt"/>
                <a:ea typeface="宋体" pitchFamily="2" charset="-122"/>
              </a:rPr>
              <a:t>1) In the children’s minds summer __________________ (</a:t>
            </a:r>
            <a:r>
              <a:rPr lang="zh-CN" altLang="en-US" sz="3200" b="1" dirty="0">
                <a:latin typeface="+mj-lt"/>
                <a:ea typeface="宋体" pitchFamily="2" charset="-122"/>
              </a:rPr>
              <a:t>和</a:t>
            </a:r>
            <a:r>
              <a:rPr lang="en-US" altLang="zh-CN" sz="3200" b="1" dirty="0">
                <a:latin typeface="+mn-ea"/>
              </a:rPr>
              <a:t>……</a:t>
            </a:r>
            <a:r>
              <a:rPr lang="zh-CN" altLang="en-US" sz="3200" b="1" dirty="0">
                <a:latin typeface="+mj-lt"/>
                <a:ea typeface="宋体" pitchFamily="2" charset="-122"/>
              </a:rPr>
              <a:t>联系起来</a:t>
            </a:r>
            <a:r>
              <a:rPr lang="en-US" altLang="zh-CN" sz="3200" b="1" dirty="0">
                <a:latin typeface="+mj-lt"/>
                <a:ea typeface="宋体" pitchFamily="2" charset="-122"/>
              </a:rPr>
              <a:t>) holidays.</a:t>
            </a:r>
          </a:p>
          <a:p>
            <a:pPr>
              <a:lnSpc>
                <a:spcPct val="120000"/>
              </a:lnSpc>
            </a:pPr>
            <a:r>
              <a:rPr lang="en-US" altLang="zh-CN" sz="3200" b="1" dirty="0">
                <a:latin typeface="+mj-lt"/>
                <a:ea typeface="宋体" pitchFamily="2" charset="-122"/>
              </a:rPr>
              <a:t>2) Mr. Green is __________________ (</a:t>
            </a:r>
            <a:r>
              <a:rPr lang="zh-CN" altLang="en-US" sz="3200" b="1" dirty="0">
                <a:latin typeface="+mj-lt"/>
                <a:ea typeface="宋体" pitchFamily="2" charset="-122"/>
              </a:rPr>
              <a:t>副主编</a:t>
            </a:r>
            <a:r>
              <a:rPr lang="en-US" altLang="zh-CN" sz="3200" b="1" dirty="0">
                <a:latin typeface="+mj-lt"/>
                <a:ea typeface="宋体" pitchFamily="2" charset="-122"/>
              </a:rPr>
              <a:t>) of the newspaper.</a:t>
            </a:r>
          </a:p>
          <a:p>
            <a:pPr marL="446405" indent="-446405">
              <a:lnSpc>
                <a:spcPct val="120000"/>
              </a:lnSpc>
            </a:pPr>
            <a:r>
              <a:rPr lang="en-US" altLang="zh-CN" sz="3200" b="1" dirty="0">
                <a:latin typeface="+mj-lt"/>
                <a:ea typeface="宋体" pitchFamily="2" charset="-122"/>
              </a:rPr>
              <a:t>3) There has always been ___________________ (</a:t>
            </a:r>
            <a:r>
              <a:rPr lang="zh-CN" altLang="en-US" sz="3200" b="1" dirty="0">
                <a:latin typeface="+mj-lt"/>
                <a:ea typeface="宋体" pitchFamily="2" charset="-122"/>
              </a:rPr>
              <a:t>密切联系</a:t>
            </a:r>
            <a:r>
              <a:rPr lang="en-US" altLang="zh-CN" sz="3200" b="1" dirty="0">
                <a:latin typeface="+mj-lt"/>
                <a:ea typeface="宋体" pitchFamily="2" charset="-122"/>
              </a:rPr>
              <a:t>) between these two schools.</a:t>
            </a:r>
          </a:p>
          <a:p>
            <a:pPr marL="446405" indent="-446405">
              <a:lnSpc>
                <a:spcPct val="120000"/>
              </a:lnSpc>
            </a:pPr>
            <a:r>
              <a:rPr lang="en-US" altLang="zh-CN" sz="3200" b="1" dirty="0">
                <a:latin typeface="+mj-lt"/>
                <a:ea typeface="宋体" pitchFamily="2" charset="-122"/>
              </a:rPr>
              <a:t>4) _____________________________ (</a:t>
            </a:r>
            <a:r>
              <a:rPr lang="zh-CN" altLang="en-US" sz="3200" b="1" dirty="0">
                <a:latin typeface="+mj-lt"/>
                <a:ea typeface="宋体" pitchFamily="2" charset="-122"/>
              </a:rPr>
              <a:t>那位小偷和他的同伙们</a:t>
            </a:r>
            <a:r>
              <a:rPr lang="en-US" altLang="zh-CN" sz="3200" b="1" dirty="0">
                <a:latin typeface="+mj-lt"/>
                <a:ea typeface="宋体" pitchFamily="2" charset="-122"/>
              </a:rPr>
              <a:t>) were caught by the police yesterday morning.</a:t>
            </a:r>
          </a:p>
        </p:txBody>
      </p:sp>
      <p:sp>
        <p:nvSpPr>
          <p:cNvPr id="5" name="矩形 4"/>
          <p:cNvSpPr/>
          <p:nvPr/>
        </p:nvSpPr>
        <p:spPr>
          <a:xfrm>
            <a:off x="6919011" y="1036353"/>
            <a:ext cx="3185795" cy="583565"/>
          </a:xfrm>
          <a:prstGeom prst="rect">
            <a:avLst/>
          </a:prstGeom>
        </p:spPr>
        <p:txBody>
          <a:bodyPr wrap="none">
            <a:spAutoFit/>
          </a:bodyPr>
          <a:lstStyle/>
          <a:p>
            <a:r>
              <a:rPr lang="en-US" altLang="zh-CN" sz="3200" b="1" dirty="0">
                <a:solidFill>
                  <a:srgbClr val="FF0000"/>
                </a:solidFill>
              </a:rPr>
              <a:t>is associated with</a:t>
            </a:r>
          </a:p>
        </p:txBody>
      </p:sp>
      <p:sp>
        <p:nvSpPr>
          <p:cNvPr id="7" name="矩形 6"/>
          <p:cNvSpPr/>
          <p:nvPr/>
        </p:nvSpPr>
        <p:spPr>
          <a:xfrm>
            <a:off x="3567912" y="2142021"/>
            <a:ext cx="3489960" cy="583565"/>
          </a:xfrm>
          <a:prstGeom prst="rect">
            <a:avLst/>
          </a:prstGeom>
        </p:spPr>
        <p:txBody>
          <a:bodyPr wrap="none">
            <a:spAutoFit/>
          </a:bodyPr>
          <a:lstStyle/>
          <a:p>
            <a:r>
              <a:rPr lang="en-US" altLang="zh-CN" sz="3200" b="1" dirty="0">
                <a:solidFill>
                  <a:srgbClr val="FF0000"/>
                </a:solidFill>
              </a:rPr>
              <a:t>an associate editor </a:t>
            </a:r>
          </a:p>
        </p:txBody>
      </p:sp>
      <p:sp>
        <p:nvSpPr>
          <p:cNvPr id="8" name="矩形 7"/>
          <p:cNvSpPr/>
          <p:nvPr/>
        </p:nvSpPr>
        <p:spPr>
          <a:xfrm>
            <a:off x="5223005" y="2725301"/>
            <a:ext cx="3321050" cy="583565"/>
          </a:xfrm>
          <a:prstGeom prst="rect">
            <a:avLst/>
          </a:prstGeom>
        </p:spPr>
        <p:txBody>
          <a:bodyPr wrap="none">
            <a:spAutoFit/>
          </a:bodyPr>
          <a:lstStyle/>
          <a:p>
            <a:r>
              <a:rPr lang="en-US" altLang="zh-CN" sz="3200" b="1" dirty="0">
                <a:solidFill>
                  <a:srgbClr val="FF0000"/>
                </a:solidFill>
              </a:rPr>
              <a:t>a close association</a:t>
            </a:r>
          </a:p>
        </p:txBody>
      </p:sp>
      <p:sp>
        <p:nvSpPr>
          <p:cNvPr id="9" name="矩形 8"/>
          <p:cNvSpPr/>
          <p:nvPr/>
        </p:nvSpPr>
        <p:spPr>
          <a:xfrm>
            <a:off x="1495614" y="3816918"/>
            <a:ext cx="4902200" cy="583565"/>
          </a:xfrm>
          <a:prstGeom prst="rect">
            <a:avLst/>
          </a:prstGeom>
        </p:spPr>
        <p:txBody>
          <a:bodyPr wrap="none">
            <a:spAutoFit/>
          </a:bodyPr>
          <a:lstStyle/>
          <a:p>
            <a:r>
              <a:rPr lang="en-US" altLang="zh-CN" sz="3200" b="1" dirty="0">
                <a:solidFill>
                  <a:srgbClr val="FF0000"/>
                </a:solidFill>
              </a:rPr>
              <a:t>The thief and his associates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randombar(horizontal)">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178435" y="307975"/>
            <a:ext cx="11628120" cy="5717540"/>
          </a:xfrm>
          <a:prstGeom prst="rect">
            <a:avLst/>
          </a:prstGeom>
          <a:noFill/>
        </p:spPr>
        <p:txBody>
          <a:bodyPr wrap="square" rtlCol="0">
            <a:noAutofit/>
          </a:bodyPr>
          <a:lstStyle/>
          <a:p>
            <a:pPr fontAlgn="auto">
              <a:lnSpc>
                <a:spcPct val="120000"/>
              </a:lnSpc>
            </a:pPr>
            <a:r>
              <a:rPr lang="en-US" altLang="zh-CN" sz="1600" dirty="0"/>
              <a:t> </a:t>
            </a:r>
            <a:r>
              <a:rPr lang="en-US" altLang="zh-CN" sz="3200" b="1" dirty="0">
                <a:solidFill>
                  <a:srgbClr val="FF0000"/>
                </a:solidFill>
              </a:rPr>
              <a:t>call </a:t>
            </a:r>
            <a:r>
              <a:rPr lang="en-US" altLang="zh-CN" sz="3200" b="1" dirty="0" err="1">
                <a:solidFill>
                  <a:srgbClr val="FF0000"/>
                </a:solidFill>
              </a:rPr>
              <a:t>sb</a:t>
            </a:r>
            <a:r>
              <a:rPr lang="en-US" altLang="zh-CN" sz="3200" b="1" dirty="0">
                <a:solidFill>
                  <a:srgbClr val="FF0000"/>
                </a:solidFill>
              </a:rPr>
              <a:t>/</a:t>
            </a:r>
            <a:r>
              <a:rPr lang="en-US" altLang="zh-CN" sz="3200" b="1" dirty="0" err="1">
                <a:solidFill>
                  <a:srgbClr val="FF0000"/>
                </a:solidFill>
              </a:rPr>
              <a:t>sth</a:t>
            </a:r>
            <a:r>
              <a:rPr lang="en-US" altLang="zh-CN" sz="3200" b="1" dirty="0">
                <a:solidFill>
                  <a:srgbClr val="FF0000"/>
                </a:solidFill>
              </a:rPr>
              <a:t> to mind</a:t>
            </a:r>
            <a:r>
              <a:rPr lang="en-US" altLang="zh-CN" sz="3200" b="1" dirty="0"/>
              <a:t>: </a:t>
            </a:r>
            <a:r>
              <a:rPr lang="en-US" altLang="zh-CN" sz="3200" b="1" i="1" dirty="0">
                <a:latin typeface="Times New Roman Bold Italic" panose="02020603050405020304" charset="0"/>
                <a:cs typeface="Times New Roman Bold Italic" panose="02020603050405020304" charset="0"/>
              </a:rPr>
              <a:t>to remind </a:t>
            </a:r>
            <a:r>
              <a:rPr lang="en-US" altLang="zh-CN" sz="3200" b="1" i="1" dirty="0" err="1">
                <a:latin typeface="Times New Roman Bold Italic" panose="02020603050405020304" charset="0"/>
                <a:cs typeface="Times New Roman Bold Italic" panose="02020603050405020304" charset="0"/>
              </a:rPr>
              <a:t>sb</a:t>
            </a:r>
            <a:r>
              <a:rPr lang="en-US" altLang="zh-CN" sz="3200" b="1" i="1" dirty="0">
                <a:latin typeface="Times New Roman Bold Italic" panose="02020603050405020304" charset="0"/>
                <a:cs typeface="Times New Roman Bold Italic" panose="02020603050405020304" charset="0"/>
              </a:rPr>
              <a:t> of </a:t>
            </a:r>
            <a:r>
              <a:rPr lang="en-US" altLang="zh-CN" sz="3200" b="1" i="1" dirty="0" err="1">
                <a:latin typeface="Times New Roman Bold Italic" panose="02020603050405020304" charset="0"/>
                <a:cs typeface="Times New Roman Bold Italic" panose="02020603050405020304" charset="0"/>
              </a:rPr>
              <a:t>sb</a:t>
            </a:r>
            <a:r>
              <a:rPr lang="en-US" altLang="zh-CN" sz="3200" b="1" i="1" dirty="0">
                <a:latin typeface="Times New Roman Bold Italic" panose="02020603050405020304" charset="0"/>
                <a:cs typeface="Times New Roman Bold Italic" panose="02020603050405020304" charset="0"/>
              </a:rPr>
              <a:t>/ </a:t>
            </a:r>
            <a:r>
              <a:rPr lang="en-US" altLang="zh-CN" sz="3200" b="1" i="1" dirty="0" err="1">
                <a:latin typeface="Times New Roman Bold Italic" panose="02020603050405020304" charset="0"/>
                <a:cs typeface="Times New Roman Bold Italic" panose="02020603050405020304" charset="0"/>
              </a:rPr>
              <a:t>sth</a:t>
            </a:r>
            <a:r>
              <a:rPr lang="en-US" altLang="zh-CN" sz="3200" b="1" dirty="0"/>
              <a:t> </a:t>
            </a:r>
            <a:r>
              <a:rPr lang="zh-CN" altLang="en-US" sz="3200" b="1" dirty="0">
                <a:solidFill>
                  <a:srgbClr val="FF0000"/>
                </a:solidFill>
              </a:rPr>
              <a:t>使想起；唤起</a:t>
            </a:r>
            <a:endParaRPr lang="en-US" altLang="zh-CN" sz="3200" b="1" dirty="0">
              <a:solidFill>
                <a:srgbClr val="FF0000"/>
              </a:solidFill>
            </a:endParaRPr>
          </a:p>
          <a:p>
            <a:pPr indent="-723900" fontAlgn="auto">
              <a:lnSpc>
                <a:spcPct val="120000"/>
              </a:lnSpc>
            </a:pPr>
            <a:r>
              <a:rPr lang="en-US" altLang="zh-CN" sz="3200" b="1" dirty="0"/>
              <a:t>这些照片让我想起了我们上初中的日子。</a:t>
            </a:r>
          </a:p>
          <a:p>
            <a:pPr indent="-723900" fontAlgn="auto">
              <a:lnSpc>
                <a:spcPct val="120000"/>
              </a:lnSpc>
            </a:pPr>
            <a:r>
              <a:rPr lang="en-US" altLang="zh-CN" sz="3200" b="1" dirty="0"/>
              <a:t>These photos </a:t>
            </a:r>
            <a:r>
              <a:rPr lang="en-US" altLang="zh-CN" sz="3200" b="1" dirty="0">
                <a:solidFill>
                  <a:srgbClr val="FF0000"/>
                </a:solidFill>
              </a:rPr>
              <a:t>call to mind </a:t>
            </a:r>
            <a:r>
              <a:rPr lang="en-US" altLang="zh-CN" sz="3200" b="1" dirty="0"/>
              <a:t>the days when we were in junior high school.</a:t>
            </a:r>
          </a:p>
          <a:p>
            <a:pPr fontAlgn="auto">
              <a:lnSpc>
                <a:spcPct val="120000"/>
              </a:lnSpc>
            </a:pPr>
            <a:r>
              <a:rPr lang="zh-CN" altLang="en-US" sz="3200" b="1" dirty="0">
                <a:solidFill>
                  <a:srgbClr val="0000FF"/>
                </a:solidFill>
              </a:rPr>
              <a:t>同义短语：</a:t>
            </a:r>
            <a:r>
              <a:rPr lang="en-US" altLang="zh-CN" sz="3200" b="1" dirty="0">
                <a:solidFill>
                  <a:srgbClr val="FF0000"/>
                </a:solidFill>
              </a:rPr>
              <a:t>bring </a:t>
            </a:r>
            <a:r>
              <a:rPr lang="en-US" altLang="zh-CN" sz="3200" b="1" dirty="0" err="1">
                <a:solidFill>
                  <a:srgbClr val="FF0000"/>
                </a:solidFill>
              </a:rPr>
              <a:t>sb</a:t>
            </a:r>
            <a:r>
              <a:rPr lang="en-US" altLang="zh-CN" sz="3200" b="1" dirty="0">
                <a:solidFill>
                  <a:srgbClr val="FF0000"/>
                </a:solidFill>
              </a:rPr>
              <a:t>/ </a:t>
            </a:r>
            <a:r>
              <a:rPr lang="en-US" altLang="zh-CN" sz="3200" b="1" dirty="0" err="1">
                <a:solidFill>
                  <a:srgbClr val="FF0000"/>
                </a:solidFill>
              </a:rPr>
              <a:t>sth</a:t>
            </a:r>
            <a:r>
              <a:rPr lang="en-US" altLang="zh-CN" sz="3200" b="1" dirty="0">
                <a:solidFill>
                  <a:srgbClr val="FF0000"/>
                </a:solidFill>
              </a:rPr>
              <a:t> to mind</a:t>
            </a:r>
          </a:p>
          <a:p>
            <a:pPr indent="-811530" fontAlgn="auto">
              <a:lnSpc>
                <a:spcPct val="120000"/>
              </a:lnSpc>
              <a:tabLst>
                <a:tab pos="723900" algn="l"/>
              </a:tabLst>
            </a:pPr>
            <a:r>
              <a:rPr lang="en-US" altLang="zh-CN" sz="3200" b="1" dirty="0"/>
              <a:t>The only thing I could </a:t>
            </a:r>
            <a:r>
              <a:rPr lang="en-US" altLang="zh-CN" sz="3200" b="1" dirty="0">
                <a:solidFill>
                  <a:srgbClr val="FF0000"/>
                </a:solidFill>
              </a:rPr>
              <a:t>bring to mind </a:t>
            </a:r>
            <a:r>
              <a:rPr lang="en-US" altLang="zh-CN" sz="3200" b="1" dirty="0"/>
              <a:t>was something my mother once said.</a:t>
            </a:r>
          </a:p>
          <a:p>
            <a:pPr indent="-811530" fontAlgn="auto">
              <a:lnSpc>
                <a:spcPct val="120000"/>
              </a:lnSpc>
              <a:tabLst>
                <a:tab pos="723900" algn="l"/>
              </a:tabLst>
            </a:pPr>
            <a:r>
              <a:rPr lang="zh-CN" altLang="en-US" sz="3200" b="1" dirty="0"/>
              <a:t>我唯一能想起来的就是母亲曾经说过的话。</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down)">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down)">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wipe(down)">
                                      <p:cBhvr>
                                        <p:cTn id="2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140970" y="270510"/>
            <a:ext cx="11703685" cy="5996940"/>
          </a:xfrm>
          <a:prstGeom prst="rect">
            <a:avLst/>
          </a:prstGeom>
          <a:noFill/>
        </p:spPr>
        <p:txBody>
          <a:bodyPr wrap="square" rtlCol="0">
            <a:spAutoFit/>
          </a:bodyPr>
          <a:lstStyle/>
          <a:p>
            <a:pPr marL="446405" indent="-446405" fontAlgn="auto">
              <a:lnSpc>
                <a:spcPct val="120000"/>
              </a:lnSpc>
              <a:spcBef>
                <a:spcPts val="0"/>
              </a:spcBef>
              <a:spcAft>
                <a:spcPts val="0"/>
              </a:spcAft>
            </a:pPr>
            <a:r>
              <a:rPr lang="en-US" sz="3200" b="1" dirty="0">
                <a:solidFill>
                  <a:schemeClr val="tx1"/>
                </a:solidFill>
              </a:rPr>
              <a:t>5. They</a:t>
            </a:r>
            <a:r>
              <a:rPr lang="en-US" sz="3200" b="1" dirty="0">
                <a:solidFill>
                  <a:srgbClr val="FF0000"/>
                </a:solidFill>
              </a:rPr>
              <a:t> vary from person to person</a:t>
            </a:r>
            <a:r>
              <a:rPr lang="en-US" sz="3200" b="1" dirty="0"/>
              <a:t>, depending on our own unique experiences that have shaped our lives.  </a:t>
            </a:r>
          </a:p>
          <a:p>
            <a:pPr marL="446405" indent="-87630" fontAlgn="auto">
              <a:lnSpc>
                <a:spcPct val="120000"/>
              </a:lnSpc>
              <a:spcBef>
                <a:spcPts val="0"/>
              </a:spcBef>
              <a:spcAft>
                <a:spcPts val="0"/>
              </a:spcAft>
            </a:pPr>
            <a:r>
              <a:rPr lang="zh-CN" altLang="en-US" sz="3200" b="1" dirty="0"/>
              <a:t>它们因人而异，取决于我们自己独特的经历，这些经历塑造了我们的性格。</a:t>
            </a:r>
          </a:p>
          <a:p>
            <a:pPr marL="1798955" indent="-1437005" fontAlgn="auto">
              <a:lnSpc>
                <a:spcPct val="120000"/>
              </a:lnSpc>
              <a:spcBef>
                <a:spcPts val="0"/>
              </a:spcBef>
              <a:spcAft>
                <a:spcPts val="0"/>
              </a:spcAft>
            </a:pPr>
            <a:r>
              <a:rPr lang="en-US" sz="3200" b="1" dirty="0">
                <a:solidFill>
                  <a:srgbClr val="FF0000"/>
                </a:solidFill>
                <a:sym typeface="+mn-ea"/>
              </a:rPr>
              <a:t>vary  </a:t>
            </a:r>
            <a:r>
              <a:rPr lang="en-US" sz="3200" b="1" i="1" dirty="0">
                <a:solidFill>
                  <a:srgbClr val="FF0000"/>
                </a:solidFill>
                <a:sym typeface="+mn-ea"/>
              </a:rPr>
              <a:t>vi. </a:t>
            </a:r>
            <a:r>
              <a:rPr lang="en-US" altLang="zh-CN" sz="3200" b="1" dirty="0">
                <a:sym typeface="+mn-ea"/>
              </a:rPr>
              <a:t>to be different from each other in size, shape etc.       </a:t>
            </a:r>
            <a:r>
              <a:rPr lang="zh-CN" altLang="en-US" sz="3200" b="1" dirty="0">
                <a:solidFill>
                  <a:srgbClr val="FF0000"/>
                </a:solidFill>
                <a:sym typeface="+mn-ea"/>
              </a:rPr>
              <a:t>相异，不同</a:t>
            </a:r>
            <a:endParaRPr lang="en-US" altLang="zh-CN" sz="3200" b="1" dirty="0">
              <a:solidFill>
                <a:srgbClr val="FF0000"/>
              </a:solidFill>
              <a:sym typeface="+mn-ea"/>
            </a:endParaRPr>
          </a:p>
          <a:p>
            <a:pPr marL="1798955" indent="-1437005" fontAlgn="auto">
              <a:lnSpc>
                <a:spcPct val="120000"/>
              </a:lnSpc>
              <a:spcBef>
                <a:spcPts val="0"/>
              </a:spcBef>
              <a:spcAft>
                <a:spcPts val="0"/>
              </a:spcAft>
            </a:pPr>
            <a:r>
              <a:rPr lang="en-US" altLang="zh-CN" sz="3200" b="1" dirty="0">
                <a:solidFill>
                  <a:srgbClr val="FF0000"/>
                </a:solidFill>
                <a:sym typeface="+mn-ea"/>
              </a:rPr>
              <a:t>vary from A to B </a:t>
            </a:r>
            <a:r>
              <a:rPr lang="zh-CN" altLang="en-US" sz="3200" b="1" dirty="0">
                <a:solidFill>
                  <a:srgbClr val="FF0000"/>
                </a:solidFill>
                <a:sym typeface="+mn-ea"/>
              </a:rPr>
              <a:t>或者 </a:t>
            </a:r>
            <a:r>
              <a:rPr lang="en-US" altLang="zh-CN" sz="3200" b="1" dirty="0">
                <a:solidFill>
                  <a:srgbClr val="FF0000"/>
                </a:solidFill>
                <a:sym typeface="+mn-ea"/>
              </a:rPr>
              <a:t>vary between A and B</a:t>
            </a:r>
          </a:p>
          <a:p>
            <a:pPr marL="1798955" indent="-1437005" fontAlgn="auto">
              <a:lnSpc>
                <a:spcPct val="120000"/>
              </a:lnSpc>
              <a:spcBef>
                <a:spcPts val="0"/>
              </a:spcBef>
              <a:spcAft>
                <a:spcPts val="0"/>
              </a:spcAft>
            </a:pPr>
            <a:r>
              <a:rPr lang="zh-CN" altLang="en-US" sz="3200" b="1" dirty="0">
                <a:solidFill>
                  <a:schemeClr val="tx1"/>
                </a:solidFill>
                <a:sym typeface="+mn-ea"/>
              </a:rPr>
              <a:t>从</a:t>
            </a:r>
            <a:r>
              <a:rPr lang="en-US" altLang="zh-CN" sz="3200" b="1" dirty="0">
                <a:solidFill>
                  <a:schemeClr val="tx1"/>
                </a:solidFill>
                <a:sym typeface="+mn-ea"/>
              </a:rPr>
              <a:t>A</a:t>
            </a:r>
            <a:r>
              <a:rPr lang="zh-CN" altLang="en-US" sz="3200" b="1" dirty="0">
                <a:solidFill>
                  <a:schemeClr val="tx1"/>
                </a:solidFill>
                <a:sym typeface="+mn-ea"/>
              </a:rPr>
              <a:t>到</a:t>
            </a:r>
            <a:r>
              <a:rPr lang="en-US" altLang="zh-CN" sz="3200" b="1" dirty="0">
                <a:solidFill>
                  <a:schemeClr val="tx1"/>
                </a:solidFill>
                <a:sym typeface="+mn-ea"/>
              </a:rPr>
              <a:t>B</a:t>
            </a:r>
            <a:r>
              <a:rPr lang="zh-CN" altLang="en-US" sz="3200" b="1" dirty="0">
                <a:solidFill>
                  <a:schemeClr val="tx1"/>
                </a:solidFill>
                <a:sym typeface="+mn-ea"/>
              </a:rPr>
              <a:t>变化</a:t>
            </a:r>
          </a:p>
          <a:p>
            <a:pPr marL="1798955" indent="-1437005" fontAlgn="auto">
              <a:lnSpc>
                <a:spcPct val="120000"/>
              </a:lnSpc>
              <a:spcBef>
                <a:spcPts val="0"/>
              </a:spcBef>
              <a:spcAft>
                <a:spcPts val="0"/>
              </a:spcAft>
            </a:pPr>
            <a:r>
              <a:rPr lang="en-US" altLang="zh-CN" sz="3200" b="1" dirty="0">
                <a:solidFill>
                  <a:srgbClr val="FF0000"/>
                </a:solidFill>
                <a:sym typeface="+mn-ea"/>
              </a:rPr>
              <a:t>vary with sth </a:t>
            </a:r>
            <a:r>
              <a:rPr lang="zh-CN" altLang="en-US" sz="3200" b="1" dirty="0">
                <a:solidFill>
                  <a:schemeClr val="tx1"/>
                </a:solidFill>
                <a:sym typeface="+mn-ea"/>
              </a:rPr>
              <a:t>随……</a:t>
            </a:r>
            <a:r>
              <a:rPr lang="en-US" altLang="zh-CN" sz="3200" b="1" dirty="0">
                <a:solidFill>
                  <a:schemeClr val="tx1"/>
                </a:solidFill>
                <a:sym typeface="+mn-ea"/>
              </a:rPr>
              <a:t>而变化</a:t>
            </a:r>
          </a:p>
          <a:p>
            <a:pPr marL="1798955" indent="-1437005" fontAlgn="auto">
              <a:lnSpc>
                <a:spcPct val="120000"/>
              </a:lnSpc>
              <a:spcBef>
                <a:spcPts val="0"/>
              </a:spcBef>
              <a:spcAft>
                <a:spcPts val="0"/>
              </a:spcAft>
            </a:pPr>
            <a:r>
              <a:rPr lang="en-US" altLang="zh-CN" sz="3200" b="1" dirty="0">
                <a:solidFill>
                  <a:srgbClr val="FF0000"/>
                </a:solidFill>
                <a:sym typeface="+mn-ea"/>
              </a:rPr>
              <a:t>vary in sth </a:t>
            </a:r>
            <a:r>
              <a:rPr lang="zh-CN" altLang="en-US" sz="3200" b="1" dirty="0">
                <a:solidFill>
                  <a:schemeClr val="tx1"/>
                </a:solidFill>
                <a:sym typeface="+mn-ea"/>
              </a:rPr>
              <a:t>在……方面有差异</a:t>
            </a:r>
          </a:p>
        </p:txBody>
      </p:sp>
      <p:sp>
        <p:nvSpPr>
          <p:cNvPr id="2" name="Text Box 1"/>
          <p:cNvSpPr txBox="1"/>
          <p:nvPr/>
        </p:nvSpPr>
        <p:spPr>
          <a:xfrm>
            <a:off x="7770495" y="809625"/>
            <a:ext cx="6096000" cy="681990"/>
          </a:xfrm>
          <a:prstGeom prst="rect">
            <a:avLst/>
          </a:prstGeom>
          <a:noFill/>
        </p:spPr>
        <p:txBody>
          <a:bodyPr wrap="square" rtlCol="0" anchor="t">
            <a:spAutoFit/>
          </a:bodyPr>
          <a:lstStyle/>
          <a:p>
            <a:pPr>
              <a:lnSpc>
                <a:spcPct val="120000"/>
              </a:lnSpc>
            </a:pPr>
            <a:r>
              <a:rPr lang="en-US" sz="3200" b="1" dirty="0">
                <a:solidFill>
                  <a:srgbClr val="0000FF"/>
                </a:solidFill>
                <a:sym typeface="+mn-ea"/>
              </a:rPr>
              <a:t>..., which depend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blinds(horizontal)">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linds(horizontal)">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blinds(horizontal)">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blinds(horizontal)">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blinds(horizontal)">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blinds(horizontal)">
                                      <p:cBhvr>
                                        <p:cTn id="4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450215" y="475615"/>
            <a:ext cx="11416665" cy="4815840"/>
          </a:xfrm>
          <a:prstGeom prst="rect">
            <a:avLst/>
          </a:prstGeom>
        </p:spPr>
        <p:txBody>
          <a:bodyPr wrap="square">
            <a:spAutoFit/>
          </a:bodyPr>
          <a:lstStyle/>
          <a:p>
            <a:pPr marL="446405" indent="-446405" fontAlgn="auto">
              <a:lnSpc>
                <a:spcPct val="120000"/>
              </a:lnSpc>
              <a:spcBef>
                <a:spcPts val="0"/>
              </a:spcBef>
              <a:spcAft>
                <a:spcPts val="0"/>
              </a:spcAft>
            </a:pPr>
            <a:r>
              <a:rPr lang="en-US" altLang="en-US" sz="3200" b="1" dirty="0">
                <a:sym typeface="+mn-ea"/>
              </a:rPr>
              <a:t>The students’ work </a:t>
            </a:r>
            <a:r>
              <a:rPr lang="en-US" altLang="en-US" sz="3200" b="1" dirty="0">
                <a:solidFill>
                  <a:srgbClr val="FF0000"/>
                </a:solidFill>
                <a:sym typeface="+mn-ea"/>
              </a:rPr>
              <a:t>varies</a:t>
            </a:r>
            <a:r>
              <a:rPr lang="en-US" altLang="en-US" sz="3200" b="1" dirty="0">
                <a:sym typeface="+mn-ea"/>
              </a:rPr>
              <a:t> </a:t>
            </a:r>
            <a:r>
              <a:rPr lang="en-US" altLang="en-US" sz="3200" b="1" dirty="0">
                <a:solidFill>
                  <a:srgbClr val="FF0000"/>
                </a:solidFill>
                <a:sym typeface="+mn-ea"/>
              </a:rPr>
              <a:t>considerably in quality</a:t>
            </a:r>
            <a:r>
              <a:rPr lang="en-US" altLang="en-US" sz="3200" b="1" dirty="0">
                <a:sym typeface="+mn-ea"/>
              </a:rPr>
              <a:t>. </a:t>
            </a:r>
          </a:p>
          <a:p>
            <a:pPr marL="446405" indent="-446405" fontAlgn="auto">
              <a:lnSpc>
                <a:spcPct val="120000"/>
              </a:lnSpc>
              <a:spcBef>
                <a:spcPts val="0"/>
              </a:spcBef>
              <a:spcAft>
                <a:spcPts val="0"/>
              </a:spcAft>
            </a:pPr>
            <a:r>
              <a:rPr lang="zh-CN" altLang="en-US" sz="3200" b="1" dirty="0">
                <a:solidFill>
                  <a:prstClr val="black"/>
                </a:solidFill>
              </a:rPr>
              <a:t>学生作业的质量甚是参差不齐。</a:t>
            </a:r>
          </a:p>
          <a:p>
            <a:pPr marL="446405" indent="-446405" fontAlgn="auto">
              <a:lnSpc>
                <a:spcPct val="120000"/>
              </a:lnSpc>
              <a:spcBef>
                <a:spcPts val="0"/>
              </a:spcBef>
              <a:spcAft>
                <a:spcPts val="0"/>
              </a:spcAft>
            </a:pPr>
            <a:endParaRPr lang="en-US" altLang="zh-CN" sz="3200" b="1" dirty="0">
              <a:solidFill>
                <a:prstClr val="black"/>
              </a:solidFill>
            </a:endParaRPr>
          </a:p>
          <a:p>
            <a:pPr lvl="0" indent="0" fontAlgn="auto">
              <a:lnSpc>
                <a:spcPct val="120000"/>
              </a:lnSpc>
            </a:pPr>
            <a:r>
              <a:rPr lang="en-US" altLang="zh-CN" sz="3200" b="1" dirty="0">
                <a:solidFill>
                  <a:prstClr val="black"/>
                </a:solidFill>
              </a:rPr>
              <a:t>The number of students in each class </a:t>
            </a:r>
            <a:r>
              <a:rPr lang="en-US" altLang="zh-CN" sz="3200" b="1" dirty="0">
                <a:solidFill>
                  <a:srgbClr val="FF0000"/>
                </a:solidFill>
              </a:rPr>
              <a:t>varies between</a:t>
            </a:r>
            <a:r>
              <a:rPr lang="en-US" altLang="zh-CN" sz="3200" b="1" dirty="0">
                <a:solidFill>
                  <a:prstClr val="black"/>
                </a:solidFill>
              </a:rPr>
              <a:t> 25 </a:t>
            </a:r>
            <a:r>
              <a:rPr lang="en-US" altLang="zh-CN" sz="3200" b="1" dirty="0">
                <a:solidFill>
                  <a:srgbClr val="FF0000"/>
                </a:solidFill>
              </a:rPr>
              <a:t>and</a:t>
            </a:r>
            <a:r>
              <a:rPr lang="en-US" altLang="zh-CN" sz="3200" b="1" dirty="0">
                <a:solidFill>
                  <a:prstClr val="black"/>
                </a:solidFill>
              </a:rPr>
              <a:t> 30. </a:t>
            </a:r>
            <a:r>
              <a:rPr lang="zh-CN" altLang="en-US" sz="3200" b="1" dirty="0"/>
              <a:t>各班级学生人数从</a:t>
            </a:r>
            <a:r>
              <a:rPr lang="en-US" altLang="zh-CN" sz="3200" b="1" dirty="0"/>
              <a:t>25</a:t>
            </a:r>
            <a:r>
              <a:rPr lang="zh-CN" altLang="en-US" sz="3200" b="1" dirty="0"/>
              <a:t>到</a:t>
            </a:r>
            <a:r>
              <a:rPr lang="en-US" altLang="zh-CN" sz="3200" b="1" dirty="0"/>
              <a:t>30	</a:t>
            </a:r>
            <a:r>
              <a:rPr lang="zh-CN" altLang="en-US" sz="3200" b="1" dirty="0"/>
              <a:t>不等。</a:t>
            </a:r>
          </a:p>
          <a:p>
            <a:pPr lvl="0" indent="0" fontAlgn="auto">
              <a:lnSpc>
                <a:spcPct val="120000"/>
              </a:lnSpc>
            </a:pPr>
            <a:endParaRPr lang="zh-CN" altLang="en-US" sz="3200" b="1" dirty="0"/>
          </a:p>
          <a:p>
            <a:pPr lvl="0" indent="0" fontAlgn="auto">
              <a:lnSpc>
                <a:spcPct val="120000"/>
              </a:lnSpc>
            </a:pPr>
            <a:r>
              <a:rPr lang="en-US" altLang="zh-CN" sz="3200" b="1" dirty="0"/>
              <a:t>He </a:t>
            </a:r>
            <a:r>
              <a:rPr lang="en-US" altLang="zh-CN" sz="3200" b="1" dirty="0">
                <a:solidFill>
                  <a:srgbClr val="FF0000"/>
                </a:solidFill>
              </a:rPr>
              <a:t>varies</a:t>
            </a:r>
            <a:r>
              <a:rPr lang="en-US" altLang="zh-CN" sz="3200" b="1" dirty="0"/>
              <a:t> his style of writing according to his readers. </a:t>
            </a:r>
          </a:p>
          <a:p>
            <a:pPr lvl="0" indent="0" fontAlgn="auto">
              <a:lnSpc>
                <a:spcPct val="120000"/>
              </a:lnSpc>
            </a:pPr>
            <a:r>
              <a:rPr lang="zh-CN" altLang="en-US" sz="3200" b="1" dirty="0"/>
              <a:t>针对不同的读者，他变换创作的风格。</a:t>
            </a:r>
            <a:endParaRPr lang="zh-CN" altLang="en-US" sz="3200" b="1"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linds(horizontal)">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linds(horizontal)">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694" y="274185"/>
            <a:ext cx="1216384" cy="681175"/>
          </a:xfrm>
          <a:prstGeom prst="rect">
            <a:avLst/>
          </a:prstGeom>
        </p:spPr>
      </p:pic>
      <p:sp>
        <p:nvSpPr>
          <p:cNvPr id="4" name="矩形 3"/>
          <p:cNvSpPr/>
          <p:nvPr/>
        </p:nvSpPr>
        <p:spPr>
          <a:xfrm>
            <a:off x="410845" y="1021080"/>
            <a:ext cx="11329035" cy="4815840"/>
          </a:xfrm>
          <a:prstGeom prst="rect">
            <a:avLst/>
          </a:prstGeom>
        </p:spPr>
        <p:txBody>
          <a:bodyPr wrap="square">
            <a:spAutoFit/>
          </a:bodyPr>
          <a:lstStyle/>
          <a:p>
            <a:pPr>
              <a:lnSpc>
                <a:spcPct val="120000"/>
              </a:lnSpc>
            </a:pPr>
            <a:r>
              <a:rPr lang="en-US" altLang="zh-CN" sz="3200" b="1" dirty="0">
                <a:solidFill>
                  <a:srgbClr val="FF0000"/>
                </a:solidFill>
                <a:latin typeface="+mj-lt"/>
              </a:rPr>
              <a:t>various </a:t>
            </a:r>
            <a:r>
              <a:rPr lang="en-US" altLang="zh-CN" sz="3200" b="1" i="1" dirty="0">
                <a:solidFill>
                  <a:srgbClr val="FF0000"/>
                </a:solidFill>
                <a:latin typeface="+mj-lt"/>
              </a:rPr>
              <a:t>adj.</a:t>
            </a:r>
            <a:r>
              <a:rPr lang="en-US" altLang="zh-CN" sz="3200" b="1" dirty="0">
                <a:solidFill>
                  <a:srgbClr val="FF0000"/>
                </a:solidFill>
                <a:latin typeface="+mj-lt"/>
              </a:rPr>
              <a:t> </a:t>
            </a:r>
            <a:r>
              <a:rPr lang="zh-CN" altLang="en-US" sz="3200" b="1" dirty="0">
                <a:latin typeface="+mj-lt"/>
              </a:rPr>
              <a:t>不同的；各种各样的</a:t>
            </a:r>
          </a:p>
          <a:p>
            <a:pPr>
              <a:lnSpc>
                <a:spcPct val="120000"/>
              </a:lnSpc>
            </a:pPr>
            <a:r>
              <a:rPr lang="zh-CN" altLang="en-US" sz="3200" b="1" dirty="0">
                <a:latin typeface="+mj-lt"/>
                <a:sym typeface="+mn-ea"/>
              </a:rPr>
              <a:t>帐篷有各种各样的形状和大小。</a:t>
            </a:r>
            <a:endParaRPr lang="zh-CN" altLang="en-US" sz="3200" b="1" dirty="0">
              <a:latin typeface="+mj-lt"/>
            </a:endParaRPr>
          </a:p>
          <a:p>
            <a:pPr>
              <a:lnSpc>
                <a:spcPct val="120000"/>
              </a:lnSpc>
            </a:pPr>
            <a:r>
              <a:rPr lang="en-US" altLang="zh-CN" sz="3200" b="1" dirty="0">
                <a:latin typeface="+mj-lt"/>
              </a:rPr>
              <a:t>Tents </a:t>
            </a:r>
            <a:r>
              <a:rPr lang="en-US" altLang="zh-CN" sz="3200" b="1" dirty="0">
                <a:solidFill>
                  <a:srgbClr val="FF0000"/>
                </a:solidFill>
                <a:latin typeface="+mj-lt"/>
              </a:rPr>
              <a:t>come in various shapes</a:t>
            </a:r>
            <a:r>
              <a:rPr lang="en-US" altLang="zh-CN" sz="3200" b="1" dirty="0">
                <a:latin typeface="+mj-lt"/>
              </a:rPr>
              <a:t> and sizes. </a:t>
            </a:r>
          </a:p>
          <a:p>
            <a:pPr>
              <a:lnSpc>
                <a:spcPct val="120000"/>
              </a:lnSpc>
            </a:pPr>
            <a:r>
              <a:rPr lang="en-US" altLang="zh-CN" sz="3200" b="1" dirty="0">
                <a:solidFill>
                  <a:srgbClr val="FF0000"/>
                </a:solidFill>
                <a:latin typeface="+mj-lt"/>
              </a:rPr>
              <a:t>variety  </a:t>
            </a:r>
            <a:r>
              <a:rPr lang="en-US" altLang="zh-CN" sz="3200" b="1" i="1" dirty="0" err="1">
                <a:solidFill>
                  <a:srgbClr val="FF0000"/>
                </a:solidFill>
                <a:latin typeface="+mj-lt"/>
              </a:rPr>
              <a:t>n.</a:t>
            </a:r>
            <a:r>
              <a:rPr lang="en-US" altLang="zh-CN" sz="3200" b="1" dirty="0" err="1">
                <a:latin typeface="+mj-lt"/>
              </a:rPr>
              <a:t>【U</a:t>
            </a:r>
            <a:r>
              <a:rPr lang="en-US" altLang="zh-CN" sz="3200" b="1" dirty="0">
                <a:latin typeface="+mj-lt"/>
              </a:rPr>
              <a:t>】</a:t>
            </a:r>
            <a:r>
              <a:rPr lang="zh-CN" altLang="en-US" sz="3200" b="1" dirty="0">
                <a:latin typeface="+mj-lt"/>
              </a:rPr>
              <a:t>多样性；</a:t>
            </a:r>
            <a:r>
              <a:rPr lang="en-US" altLang="zh-CN" sz="3200" b="1" dirty="0">
                <a:latin typeface="+mj-lt"/>
              </a:rPr>
              <a:t>【C】</a:t>
            </a:r>
            <a:r>
              <a:rPr lang="zh-CN" altLang="en-US" sz="3200" b="1" dirty="0">
                <a:latin typeface="+mj-lt"/>
              </a:rPr>
              <a:t>种类，品种</a:t>
            </a:r>
          </a:p>
          <a:p>
            <a:pPr>
              <a:lnSpc>
                <a:spcPct val="120000"/>
              </a:lnSpc>
            </a:pPr>
            <a:r>
              <a:rPr lang="en-US" altLang="zh-CN" sz="3200" b="1" dirty="0">
                <a:latin typeface="+mj-lt"/>
              </a:rPr>
              <a:t>a variety of </a:t>
            </a:r>
            <a:r>
              <a:rPr lang="zh-CN" altLang="en-US" sz="3200" b="1" dirty="0">
                <a:latin typeface="+mj-lt"/>
              </a:rPr>
              <a:t>＝ </a:t>
            </a:r>
            <a:r>
              <a:rPr lang="en-US" altLang="zh-CN" sz="3200" b="1" dirty="0">
                <a:latin typeface="+mj-lt"/>
              </a:rPr>
              <a:t>varieties of </a:t>
            </a:r>
            <a:r>
              <a:rPr lang="zh-CN" altLang="en-US" sz="3200" b="1" dirty="0">
                <a:latin typeface="+mj-lt"/>
              </a:rPr>
              <a:t>＝ </a:t>
            </a:r>
            <a:r>
              <a:rPr lang="en-US" altLang="zh-CN" sz="3200" b="1" dirty="0">
                <a:latin typeface="+mj-lt"/>
              </a:rPr>
              <a:t>all kinds/sorts of...  </a:t>
            </a:r>
            <a:r>
              <a:rPr lang="zh-CN" altLang="en-US" sz="3200" b="1" dirty="0">
                <a:latin typeface="+mj-lt"/>
              </a:rPr>
              <a:t>各种各样的</a:t>
            </a:r>
          </a:p>
          <a:p>
            <a:pPr>
              <a:lnSpc>
                <a:spcPct val="120000"/>
              </a:lnSpc>
            </a:pPr>
            <a:endParaRPr lang="en-US" altLang="zh-CN" sz="3200" b="1" dirty="0">
              <a:latin typeface="+mj-lt"/>
            </a:endParaRPr>
          </a:p>
          <a:p>
            <a:pPr>
              <a:lnSpc>
                <a:spcPct val="120000"/>
              </a:lnSpc>
            </a:pPr>
            <a:r>
              <a:rPr lang="en-US" altLang="zh-CN" sz="3200" b="1" dirty="0">
                <a:latin typeface="+mj-lt"/>
              </a:rPr>
              <a:t>This tool can be used in </a:t>
            </a:r>
            <a:r>
              <a:rPr lang="en-US" altLang="zh-CN" sz="3200" b="1" dirty="0">
                <a:solidFill>
                  <a:srgbClr val="FF0000"/>
                </a:solidFill>
                <a:latin typeface="+mj-lt"/>
              </a:rPr>
              <a:t>a (wide) variety of </a:t>
            </a:r>
            <a:r>
              <a:rPr lang="en-US" altLang="zh-CN" sz="3200" b="1" dirty="0">
                <a:latin typeface="+mj-lt"/>
              </a:rPr>
              <a:t>ways. </a:t>
            </a:r>
          </a:p>
          <a:p>
            <a:pPr>
              <a:lnSpc>
                <a:spcPct val="120000"/>
              </a:lnSpc>
            </a:pPr>
            <a:r>
              <a:rPr lang="zh-CN" altLang="en-US" sz="3200" b="1" dirty="0">
                <a:latin typeface="+mj-lt"/>
              </a:rPr>
              <a:t>这一工具有多种用途。</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blinds(horizontal)">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blinds(horizontal)">
                                      <p:cBhvr>
                                        <p:cTn id="3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00025" y="537845"/>
            <a:ext cx="11626850" cy="4815840"/>
          </a:xfrm>
          <a:prstGeom prst="rect">
            <a:avLst/>
          </a:prstGeom>
        </p:spPr>
        <p:txBody>
          <a:bodyPr wrap="square">
            <a:spAutoFit/>
          </a:bodyPr>
          <a:lstStyle/>
          <a:p>
            <a:pPr>
              <a:lnSpc>
                <a:spcPct val="120000"/>
              </a:lnSpc>
            </a:pPr>
            <a:r>
              <a:rPr lang="en-US" altLang="zh-CN" sz="3200" b="1" dirty="0">
                <a:solidFill>
                  <a:srgbClr val="0000FF"/>
                </a:solidFill>
              </a:rPr>
              <a:t>【</a:t>
            </a:r>
            <a:r>
              <a:rPr lang="zh-CN" altLang="en-US" sz="3200" b="1" dirty="0">
                <a:solidFill>
                  <a:srgbClr val="0000FF"/>
                </a:solidFill>
              </a:rPr>
              <a:t>语境应用</a:t>
            </a:r>
            <a:r>
              <a:rPr lang="en-US" altLang="zh-CN" sz="3200" b="1" dirty="0">
                <a:solidFill>
                  <a:srgbClr val="0000FF"/>
                </a:solidFill>
              </a:rPr>
              <a:t>】 </a:t>
            </a:r>
            <a:r>
              <a:rPr lang="zh-CN" altLang="en-US" sz="3200" b="1" dirty="0">
                <a:solidFill>
                  <a:srgbClr val="0000FF"/>
                </a:solidFill>
              </a:rPr>
              <a:t>汉译英。</a:t>
            </a:r>
          </a:p>
          <a:p>
            <a:pPr>
              <a:lnSpc>
                <a:spcPct val="120000"/>
              </a:lnSpc>
            </a:pPr>
            <a:r>
              <a:rPr lang="en-US" altLang="zh-CN" sz="3200" b="1" dirty="0"/>
              <a:t>1) </a:t>
            </a:r>
            <a:r>
              <a:rPr lang="zh-CN" altLang="en-US" sz="3200" b="1" dirty="0"/>
              <a:t>人的智力因人而异。</a:t>
            </a:r>
          </a:p>
          <a:p>
            <a:pPr>
              <a:lnSpc>
                <a:spcPct val="120000"/>
              </a:lnSpc>
            </a:pPr>
            <a:endParaRPr lang="en-US" altLang="zh-CN" sz="3200" b="1" dirty="0"/>
          </a:p>
          <a:p>
            <a:pPr>
              <a:lnSpc>
                <a:spcPct val="120000"/>
              </a:lnSpc>
            </a:pPr>
            <a:endParaRPr lang="zh-CN" altLang="en-US" sz="3200" b="1" dirty="0"/>
          </a:p>
          <a:p>
            <a:pPr>
              <a:lnSpc>
                <a:spcPct val="120000"/>
              </a:lnSpc>
            </a:pPr>
            <a:r>
              <a:rPr lang="en-US" altLang="zh-CN" sz="3200" b="1" dirty="0"/>
              <a:t>2) </a:t>
            </a:r>
            <a:r>
              <a:rPr lang="zh-CN" altLang="en-US" sz="3200" b="1" dirty="0"/>
              <a:t>习俗随时代而变化。</a:t>
            </a:r>
          </a:p>
          <a:p>
            <a:pPr>
              <a:lnSpc>
                <a:spcPct val="120000"/>
              </a:lnSpc>
            </a:pPr>
            <a:endParaRPr lang="zh-CN" altLang="en-US" sz="3200" b="1" dirty="0"/>
          </a:p>
          <a:p>
            <a:pPr>
              <a:lnSpc>
                <a:spcPct val="120000"/>
              </a:lnSpc>
            </a:pPr>
            <a:r>
              <a:rPr lang="en-US" altLang="zh-CN" sz="3200" b="1" dirty="0"/>
              <a:t>3) </a:t>
            </a:r>
            <a:r>
              <a:rPr lang="zh-CN" altLang="en-US" sz="3200" b="1" dirty="0"/>
              <a:t>天气一天天变化。</a:t>
            </a:r>
          </a:p>
          <a:p>
            <a:pPr>
              <a:lnSpc>
                <a:spcPct val="120000"/>
              </a:lnSpc>
            </a:pPr>
            <a:endParaRPr lang="zh-CN" altLang="en-US" sz="3200" b="1" dirty="0"/>
          </a:p>
        </p:txBody>
      </p:sp>
      <p:sp>
        <p:nvSpPr>
          <p:cNvPr id="5" name="矩形 4"/>
          <p:cNvSpPr/>
          <p:nvPr/>
        </p:nvSpPr>
        <p:spPr>
          <a:xfrm>
            <a:off x="544195" y="1638300"/>
            <a:ext cx="11448415" cy="1272540"/>
          </a:xfrm>
          <a:prstGeom prst="rect">
            <a:avLst/>
          </a:prstGeom>
        </p:spPr>
        <p:txBody>
          <a:bodyPr wrap="square">
            <a:spAutoFit/>
          </a:bodyPr>
          <a:lstStyle/>
          <a:p>
            <a:pPr>
              <a:lnSpc>
                <a:spcPct val="120000"/>
              </a:lnSpc>
            </a:pPr>
            <a:r>
              <a:rPr lang="en-US" altLang="zh-CN" sz="3200" b="1" dirty="0">
                <a:solidFill>
                  <a:srgbClr val="FF0000"/>
                </a:solidFill>
              </a:rPr>
              <a:t>People vary in intelligence. / Intelligence varies from person to person.</a:t>
            </a:r>
          </a:p>
        </p:txBody>
      </p:sp>
      <p:sp>
        <p:nvSpPr>
          <p:cNvPr id="6" name="矩形 5"/>
          <p:cNvSpPr/>
          <p:nvPr/>
        </p:nvSpPr>
        <p:spPr>
          <a:xfrm>
            <a:off x="544139" y="3528637"/>
            <a:ext cx="5227955" cy="681990"/>
          </a:xfrm>
          <a:prstGeom prst="rect">
            <a:avLst/>
          </a:prstGeom>
        </p:spPr>
        <p:txBody>
          <a:bodyPr wrap="none">
            <a:spAutoFit/>
          </a:bodyPr>
          <a:lstStyle/>
          <a:p>
            <a:pPr>
              <a:lnSpc>
                <a:spcPct val="120000"/>
              </a:lnSpc>
            </a:pPr>
            <a:r>
              <a:rPr lang="en-US" altLang="zh-CN" sz="3200" b="1" dirty="0">
                <a:solidFill>
                  <a:srgbClr val="FF0000"/>
                </a:solidFill>
              </a:rPr>
              <a:t>Customs vary with the times.</a:t>
            </a:r>
          </a:p>
        </p:txBody>
      </p:sp>
      <p:sp>
        <p:nvSpPr>
          <p:cNvPr id="7" name="矩形 6"/>
          <p:cNvSpPr/>
          <p:nvPr/>
        </p:nvSpPr>
        <p:spPr>
          <a:xfrm>
            <a:off x="544014" y="4671587"/>
            <a:ext cx="6469380" cy="681990"/>
          </a:xfrm>
          <a:prstGeom prst="rect">
            <a:avLst/>
          </a:prstGeom>
        </p:spPr>
        <p:txBody>
          <a:bodyPr wrap="none">
            <a:spAutoFit/>
          </a:bodyPr>
          <a:lstStyle/>
          <a:p>
            <a:pPr>
              <a:lnSpc>
                <a:spcPct val="120000"/>
              </a:lnSpc>
            </a:pPr>
            <a:r>
              <a:rPr lang="en-US" altLang="zh-CN" sz="3200" b="1" dirty="0">
                <a:solidFill>
                  <a:srgbClr val="FF0000"/>
                </a:solidFill>
              </a:rPr>
              <a:t>The weather varies from day to day.</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380365" y="324485"/>
            <a:ext cx="11614785" cy="5996940"/>
          </a:xfrm>
          <a:prstGeom prst="rect">
            <a:avLst/>
          </a:prstGeom>
          <a:noFill/>
        </p:spPr>
        <p:txBody>
          <a:bodyPr wrap="square" rtlCol="0">
            <a:spAutoFit/>
          </a:bodyPr>
          <a:lstStyle/>
          <a:p>
            <a:pPr marL="361950" indent="-361950">
              <a:lnSpc>
                <a:spcPct val="120000"/>
              </a:lnSpc>
            </a:pPr>
            <a:r>
              <a:rPr lang="en-US" altLang="zh-CN" sz="3200" b="1" dirty="0"/>
              <a:t>6. If we grow up eating certain foods in our family, then those foods tend to </a:t>
            </a:r>
            <a:r>
              <a:rPr lang="en-US" altLang="zh-CN" sz="3200" b="1" dirty="0">
                <a:solidFill>
                  <a:srgbClr val="FF0000"/>
                </a:solidFill>
              </a:rPr>
              <a:t>be linked with </a:t>
            </a:r>
            <a:r>
              <a:rPr lang="en-US" altLang="zh-CN" sz="3200" b="1" dirty="0"/>
              <a:t>positive </a:t>
            </a:r>
            <a:r>
              <a:rPr lang="en-US" altLang="zh-CN" sz="3200" b="1" dirty="0">
                <a:solidFill>
                  <a:srgbClr val="FF0000"/>
                </a:solidFill>
              </a:rPr>
              <a:t>emotions</a:t>
            </a:r>
            <a:r>
              <a:rPr lang="en-US" altLang="zh-CN" sz="3200" b="1" dirty="0"/>
              <a:t>.</a:t>
            </a:r>
          </a:p>
          <a:p>
            <a:pPr marL="361950">
              <a:lnSpc>
                <a:spcPct val="120000"/>
              </a:lnSpc>
            </a:pPr>
            <a:r>
              <a:rPr lang="zh-CN" altLang="en-US" sz="3200" b="1" dirty="0"/>
              <a:t>如果我们从小在家就吃某些特定的食物，这些食物就容易与积极的情绪产生关联。</a:t>
            </a:r>
            <a:endParaRPr lang="en-US" altLang="zh-CN" sz="3200" b="1" dirty="0"/>
          </a:p>
          <a:p>
            <a:pPr marL="1622425" indent="-1260475">
              <a:lnSpc>
                <a:spcPct val="120000"/>
              </a:lnSpc>
            </a:pPr>
            <a:r>
              <a:rPr lang="en-US" altLang="zh-CN" sz="3200" b="1" dirty="0">
                <a:solidFill>
                  <a:srgbClr val="FF0000"/>
                </a:solidFill>
              </a:rPr>
              <a:t>link </a:t>
            </a:r>
            <a:r>
              <a:rPr lang="en-US" altLang="zh-CN" sz="3200" b="1" dirty="0"/>
              <a:t> </a:t>
            </a:r>
            <a:r>
              <a:rPr lang="en-US" altLang="zh-CN" sz="3200" b="1" i="1" dirty="0">
                <a:solidFill>
                  <a:srgbClr val="FF0000"/>
                </a:solidFill>
              </a:rPr>
              <a:t>v.</a:t>
            </a:r>
            <a:r>
              <a:rPr lang="en-US" altLang="zh-CN" sz="3200" b="1" dirty="0"/>
              <a:t> </a:t>
            </a:r>
            <a:r>
              <a:rPr lang="en-US" altLang="zh-CN" sz="3200" b="1" i="1" dirty="0">
                <a:solidFill>
                  <a:srgbClr val="0000FF"/>
                </a:solidFill>
                <a:latin typeface="Times New Roman Bold Italic" panose="02020603050405020304" charset="0"/>
                <a:cs typeface="Times New Roman Bold Italic" panose="02020603050405020304" charset="0"/>
              </a:rPr>
              <a:t>be connected</a:t>
            </a:r>
            <a:r>
              <a:rPr lang="en-US" altLang="zh-CN" sz="3200" b="1" dirty="0"/>
              <a:t> </a:t>
            </a:r>
            <a:r>
              <a:rPr lang="zh-CN" altLang="en-US" sz="3200" b="1" dirty="0">
                <a:solidFill>
                  <a:srgbClr val="FF0000"/>
                </a:solidFill>
              </a:rPr>
              <a:t>有联系，有关联</a:t>
            </a:r>
            <a:endParaRPr lang="en-US" altLang="zh-CN" sz="3200" b="1" dirty="0">
              <a:solidFill>
                <a:srgbClr val="FF0000"/>
              </a:solidFill>
            </a:endParaRPr>
          </a:p>
          <a:p>
            <a:pPr indent="0" fontAlgn="auto">
              <a:lnSpc>
                <a:spcPct val="120000"/>
              </a:lnSpc>
            </a:pPr>
            <a:r>
              <a:rPr lang="en-US" altLang="zh-CN" sz="3200" b="1" dirty="0"/>
              <a:t>Her name </a:t>
            </a:r>
            <a:r>
              <a:rPr lang="en-US" altLang="zh-CN" sz="3200" b="1" dirty="0">
                <a:solidFill>
                  <a:srgbClr val="FF0000"/>
                </a:solidFill>
              </a:rPr>
              <a:t>is</a:t>
            </a:r>
            <a:r>
              <a:rPr lang="en-US" altLang="zh-CN" sz="3200" b="1" dirty="0"/>
              <a:t> often </a:t>
            </a:r>
            <a:r>
              <a:rPr lang="en-US" altLang="zh-CN" sz="3200" b="1" dirty="0">
                <a:solidFill>
                  <a:srgbClr val="FF0000"/>
                </a:solidFill>
              </a:rPr>
              <a:t>linked with </a:t>
            </a:r>
            <a:r>
              <a:rPr lang="en-US" altLang="zh-CN" sz="3200" b="1" dirty="0"/>
              <a:t>that of a well-known painter. </a:t>
            </a:r>
          </a:p>
          <a:p>
            <a:pPr indent="0" fontAlgn="auto">
              <a:lnSpc>
                <a:spcPct val="120000"/>
              </a:lnSpc>
            </a:pPr>
            <a:r>
              <a:rPr lang="zh-CN" altLang="en-US" sz="3200" b="1" dirty="0"/>
              <a:t>她的名字经常和一位著名画家的名字联系在一起。</a:t>
            </a:r>
          </a:p>
          <a:p>
            <a:pPr indent="0" fontAlgn="auto">
              <a:lnSpc>
                <a:spcPct val="120000"/>
              </a:lnSpc>
            </a:pPr>
            <a:endParaRPr lang="zh-CN" altLang="en-US" sz="3200" b="1" dirty="0"/>
          </a:p>
          <a:p>
            <a:pPr indent="0" fontAlgn="auto">
              <a:lnSpc>
                <a:spcPct val="120000"/>
              </a:lnSpc>
            </a:pPr>
            <a:r>
              <a:rPr lang="zh-CN" altLang="en-US" sz="3200" b="1" dirty="0">
                <a:solidFill>
                  <a:srgbClr val="0000FF"/>
                </a:solidFill>
              </a:rPr>
              <a:t>同义短语</a:t>
            </a:r>
            <a:r>
              <a:rPr lang="zh-CN" altLang="en-US" sz="3200" b="1" dirty="0"/>
              <a:t>：</a:t>
            </a:r>
            <a:r>
              <a:rPr lang="en-US" altLang="zh-CN" sz="3200" b="1" dirty="0">
                <a:solidFill>
                  <a:srgbClr val="FF0000"/>
                </a:solidFill>
              </a:rPr>
              <a:t>be linked to/with, be related with/to, be connected with/to, be associated with/to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linds(horizont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linds(horizont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328930" y="3394710"/>
            <a:ext cx="11574780" cy="2453640"/>
          </a:xfrm>
          <a:prstGeom prst="rect">
            <a:avLst/>
          </a:prstGeom>
          <a:noFill/>
        </p:spPr>
        <p:txBody>
          <a:bodyPr wrap="square" rtlCol="0">
            <a:spAutoFit/>
          </a:bodyPr>
          <a:lstStyle/>
          <a:p>
            <a:pPr>
              <a:lnSpc>
                <a:spcPct val="120000"/>
              </a:lnSpc>
            </a:pPr>
            <a:r>
              <a:rPr lang="en-US" altLang="zh-CN" sz="3200" b="1" dirty="0">
                <a:solidFill>
                  <a:srgbClr val="0000FF"/>
                </a:solidFill>
              </a:rPr>
              <a:t>【</a:t>
            </a:r>
            <a:r>
              <a:rPr lang="zh-CN" altLang="en-US" sz="3200" b="1" dirty="0">
                <a:solidFill>
                  <a:srgbClr val="0000FF"/>
                </a:solidFill>
              </a:rPr>
              <a:t>语境应用</a:t>
            </a:r>
            <a:r>
              <a:rPr lang="en-US" altLang="zh-CN" sz="3200" b="1" dirty="0">
                <a:solidFill>
                  <a:srgbClr val="0000FF"/>
                </a:solidFill>
              </a:rPr>
              <a:t>】</a:t>
            </a:r>
            <a:r>
              <a:rPr lang="zh-CN" altLang="en-US" sz="3200" b="1" dirty="0">
                <a:solidFill>
                  <a:srgbClr val="0000FF"/>
                </a:solidFill>
              </a:rPr>
              <a:t>单句语法填空。</a:t>
            </a:r>
            <a:endParaRPr lang="en-US" altLang="zh-CN" sz="3200" b="1" dirty="0">
              <a:solidFill>
                <a:srgbClr val="0000FF"/>
              </a:solidFill>
            </a:endParaRPr>
          </a:p>
          <a:p>
            <a:pPr marL="446405" indent="-446405">
              <a:lnSpc>
                <a:spcPct val="120000"/>
              </a:lnSpc>
            </a:pPr>
            <a:r>
              <a:rPr lang="en-US" altLang="zh-CN" sz="3200" b="1" dirty="0"/>
              <a:t>1) Parents prefer to choose names that are _________ (link) to beautiful things and good luck.</a:t>
            </a:r>
          </a:p>
          <a:p>
            <a:pPr marL="446405" indent="-446405">
              <a:lnSpc>
                <a:spcPct val="120000"/>
              </a:lnSpc>
            </a:pPr>
            <a:r>
              <a:rPr lang="en-US" altLang="zh-CN" sz="3200" b="1" dirty="0"/>
              <a:t>2) The new bridge will link the island ________ the mainland.</a:t>
            </a:r>
          </a:p>
        </p:txBody>
      </p:sp>
      <p:sp>
        <p:nvSpPr>
          <p:cNvPr id="5" name="文本框 4"/>
          <p:cNvSpPr txBox="1"/>
          <p:nvPr/>
        </p:nvSpPr>
        <p:spPr>
          <a:xfrm>
            <a:off x="8148393" y="3945616"/>
            <a:ext cx="1267460" cy="681990"/>
          </a:xfrm>
          <a:prstGeom prst="rect">
            <a:avLst/>
          </a:prstGeom>
          <a:noFill/>
        </p:spPr>
        <p:txBody>
          <a:bodyPr wrap="none" rtlCol="0">
            <a:spAutoFit/>
          </a:bodyPr>
          <a:lstStyle/>
          <a:p>
            <a:pPr>
              <a:lnSpc>
                <a:spcPct val="120000"/>
              </a:lnSpc>
            </a:pPr>
            <a:r>
              <a:rPr lang="en-US" altLang="zh-CN" sz="3200" b="1" dirty="0">
                <a:solidFill>
                  <a:srgbClr val="FF0000"/>
                </a:solidFill>
              </a:rPr>
              <a:t>linked</a:t>
            </a:r>
          </a:p>
        </p:txBody>
      </p:sp>
      <p:sp>
        <p:nvSpPr>
          <p:cNvPr id="6" name="文本框 5"/>
          <p:cNvSpPr txBox="1"/>
          <p:nvPr/>
        </p:nvSpPr>
        <p:spPr>
          <a:xfrm>
            <a:off x="6920756" y="5179043"/>
            <a:ext cx="1605280" cy="681990"/>
          </a:xfrm>
          <a:prstGeom prst="rect">
            <a:avLst/>
          </a:prstGeom>
          <a:noFill/>
        </p:spPr>
        <p:txBody>
          <a:bodyPr wrap="none" rtlCol="0">
            <a:spAutoFit/>
          </a:bodyPr>
          <a:lstStyle/>
          <a:p>
            <a:pPr>
              <a:lnSpc>
                <a:spcPct val="120000"/>
              </a:lnSpc>
            </a:pPr>
            <a:r>
              <a:rPr lang="en-US" altLang="zh-CN" sz="3200" b="1" dirty="0">
                <a:solidFill>
                  <a:srgbClr val="FF0000"/>
                </a:solidFill>
              </a:rPr>
              <a:t> to/ with</a:t>
            </a:r>
          </a:p>
        </p:txBody>
      </p:sp>
      <p:sp>
        <p:nvSpPr>
          <p:cNvPr id="2" name="文本框 1"/>
          <p:cNvSpPr txBox="1"/>
          <p:nvPr/>
        </p:nvSpPr>
        <p:spPr>
          <a:xfrm>
            <a:off x="328930" y="350520"/>
            <a:ext cx="11574780" cy="3044190"/>
          </a:xfrm>
          <a:prstGeom prst="rect">
            <a:avLst/>
          </a:prstGeom>
          <a:noFill/>
        </p:spPr>
        <p:txBody>
          <a:bodyPr wrap="square" rtlCol="0">
            <a:spAutoFit/>
          </a:bodyPr>
          <a:lstStyle/>
          <a:p>
            <a:pPr indent="0" fontAlgn="auto">
              <a:lnSpc>
                <a:spcPct val="120000"/>
              </a:lnSpc>
            </a:pPr>
            <a:r>
              <a:rPr lang="en-US" altLang="zh-CN" sz="3200" b="1" dirty="0"/>
              <a:t>Experts believe that these two factors </a:t>
            </a:r>
            <a:r>
              <a:rPr lang="en-US" altLang="zh-CN" sz="3200" b="1" dirty="0">
                <a:solidFill>
                  <a:srgbClr val="FF0000"/>
                </a:solidFill>
              </a:rPr>
              <a:t>are </a:t>
            </a:r>
            <a:r>
              <a:rPr lang="en-US" altLang="zh-CN" sz="3200" b="1" dirty="0"/>
              <a:t>closely </a:t>
            </a:r>
            <a:r>
              <a:rPr lang="en-US" altLang="zh-CN" sz="3200" b="1" dirty="0">
                <a:solidFill>
                  <a:srgbClr val="FF0000"/>
                </a:solidFill>
              </a:rPr>
              <a:t>related to </a:t>
            </a:r>
            <a:r>
              <a:rPr lang="en-US" altLang="zh-CN" sz="3200" b="1" dirty="0"/>
              <a:t>each other.</a:t>
            </a:r>
          </a:p>
          <a:p>
            <a:pPr indent="0" fontAlgn="auto">
              <a:lnSpc>
                <a:spcPct val="120000"/>
              </a:lnSpc>
            </a:pPr>
            <a:r>
              <a:rPr lang="zh-CN" altLang="en-US" sz="3200" b="1" dirty="0"/>
              <a:t>专家们认为这两个因素彼此之间密切相关。</a:t>
            </a:r>
            <a:endParaRPr lang="en-US" altLang="zh-CN" sz="3200" b="1" dirty="0"/>
          </a:p>
          <a:p>
            <a:pPr indent="0" fontAlgn="auto">
              <a:lnSpc>
                <a:spcPct val="120000"/>
              </a:lnSpc>
            </a:pPr>
            <a:r>
              <a:rPr lang="en-US" altLang="zh-CN" sz="3200" b="1" dirty="0"/>
              <a:t>It has been proved that lung cancer </a:t>
            </a:r>
            <a:r>
              <a:rPr lang="en-US" altLang="zh-CN" sz="3200" b="1" dirty="0">
                <a:solidFill>
                  <a:srgbClr val="FF0000"/>
                </a:solidFill>
              </a:rPr>
              <a:t>is associated with </a:t>
            </a:r>
            <a:r>
              <a:rPr lang="en-US" altLang="zh-CN" sz="3200" b="1" dirty="0"/>
              <a:t>smoking.</a:t>
            </a:r>
          </a:p>
          <a:p>
            <a:pPr indent="0" fontAlgn="auto">
              <a:lnSpc>
                <a:spcPct val="120000"/>
              </a:lnSpc>
            </a:pPr>
            <a:r>
              <a:rPr lang="zh-CN" altLang="en-US" sz="3200" b="1" dirty="0"/>
              <a:t>已证明肺癌和吸烟有关。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211455" y="233680"/>
            <a:ext cx="11980545" cy="5996940"/>
          </a:xfrm>
          <a:prstGeom prst="rect">
            <a:avLst/>
          </a:prstGeom>
          <a:noFill/>
        </p:spPr>
        <p:txBody>
          <a:bodyPr wrap="square" rtlCol="0">
            <a:spAutoFit/>
          </a:bodyPr>
          <a:lstStyle/>
          <a:p>
            <a:pPr indent="0" fontAlgn="auto">
              <a:lnSpc>
                <a:spcPct val="120000"/>
              </a:lnSpc>
            </a:pPr>
            <a:r>
              <a:rPr lang="en-US" altLang="zh-CN" sz="3200" b="1" dirty="0">
                <a:solidFill>
                  <a:srgbClr val="FF0000"/>
                </a:solidFill>
              </a:rPr>
              <a:t>emotion  </a:t>
            </a:r>
            <a:r>
              <a:rPr lang="en-US" altLang="zh-CN" sz="3200" b="1" i="1" dirty="0">
                <a:solidFill>
                  <a:srgbClr val="FF0000"/>
                </a:solidFill>
              </a:rPr>
              <a:t>n.</a:t>
            </a:r>
            <a:r>
              <a:rPr lang="en-US" altLang="zh-CN" sz="3200" b="1" i="1" dirty="0"/>
              <a:t> </a:t>
            </a:r>
            <a:r>
              <a:rPr lang="en-US" altLang="zh-CN" sz="3200" b="1" i="1" dirty="0">
                <a:latin typeface="Times New Roman Bold Italic" panose="02020603050405020304" charset="0"/>
                <a:cs typeface="Times New Roman Bold Italic" panose="02020603050405020304" charset="0"/>
              </a:rPr>
              <a:t>a strong human feeling such as love, hate, or anger</a:t>
            </a:r>
            <a:r>
              <a:rPr lang="en-US" altLang="zh-CN" sz="3200" b="1" dirty="0"/>
              <a:t> </a:t>
            </a:r>
            <a:r>
              <a:rPr lang="zh-CN" altLang="en-US" sz="3200" b="1" dirty="0">
                <a:solidFill>
                  <a:srgbClr val="FF0000"/>
                </a:solidFill>
              </a:rPr>
              <a:t>强烈的情感</a:t>
            </a:r>
            <a:r>
              <a:rPr lang="en-US" altLang="zh-CN" sz="3200" b="1" dirty="0">
                <a:solidFill>
                  <a:srgbClr val="FF0000"/>
                </a:solidFill>
              </a:rPr>
              <a:t>; </a:t>
            </a:r>
            <a:r>
              <a:rPr lang="zh-CN" altLang="en-US" sz="3200" b="1" dirty="0">
                <a:solidFill>
                  <a:srgbClr val="FF0000"/>
                </a:solidFill>
              </a:rPr>
              <a:t>激情</a:t>
            </a:r>
          </a:p>
          <a:p>
            <a:pPr indent="0" fontAlgn="auto">
              <a:lnSpc>
                <a:spcPct val="120000"/>
              </a:lnSpc>
            </a:pPr>
            <a:r>
              <a:rPr lang="en-US" altLang="zh-CN" sz="3200" b="1" dirty="0"/>
              <a:t>Her voice was full of </a:t>
            </a:r>
            <a:r>
              <a:rPr lang="en-US" altLang="zh-CN" sz="3200" b="1" dirty="0">
                <a:solidFill>
                  <a:srgbClr val="FF0000"/>
                </a:solidFill>
              </a:rPr>
              <a:t>emotion</a:t>
            </a:r>
            <a:r>
              <a:rPr lang="en-US" altLang="zh-CN" sz="3200" b="1" dirty="0"/>
              <a:t>. </a:t>
            </a:r>
          </a:p>
          <a:p>
            <a:pPr indent="0" fontAlgn="auto">
              <a:lnSpc>
                <a:spcPct val="120000"/>
              </a:lnSpc>
            </a:pPr>
            <a:r>
              <a:rPr lang="zh-CN" altLang="en-US" sz="3200" b="1" dirty="0"/>
              <a:t>她的嗓音充满了激情。</a:t>
            </a:r>
          </a:p>
          <a:p>
            <a:pPr indent="0" fontAlgn="auto">
              <a:lnSpc>
                <a:spcPct val="120000"/>
              </a:lnSpc>
            </a:pPr>
            <a:r>
              <a:rPr lang="en-US" altLang="zh-CN" sz="3200" b="1" dirty="0"/>
              <a:t>She was good at hiding her </a:t>
            </a:r>
            <a:r>
              <a:rPr lang="en-US" altLang="zh-CN" sz="3200" b="1" dirty="0">
                <a:solidFill>
                  <a:srgbClr val="FF0000"/>
                </a:solidFill>
              </a:rPr>
              <a:t>emotions</a:t>
            </a:r>
            <a:r>
              <a:rPr lang="en-US" altLang="zh-CN" sz="3200" b="1" dirty="0"/>
              <a:t>.</a:t>
            </a:r>
          </a:p>
          <a:p>
            <a:pPr indent="0" fontAlgn="auto">
              <a:lnSpc>
                <a:spcPct val="120000"/>
              </a:lnSpc>
            </a:pPr>
            <a:r>
              <a:rPr lang="zh-CN" altLang="en-US" sz="3200" b="1" dirty="0"/>
              <a:t>她很会掩饰自己的情感。</a:t>
            </a:r>
            <a:endParaRPr lang="en-US" altLang="zh-CN" sz="3200" b="1" dirty="0"/>
          </a:p>
          <a:p>
            <a:pPr marL="457200" indent="-457200" fontAlgn="auto">
              <a:lnSpc>
                <a:spcPct val="120000"/>
              </a:lnSpc>
              <a:buFont typeface="Arial" panose="020B0704020202020204" pitchFamily="34" charset="0"/>
              <a:buChar char="•"/>
            </a:pPr>
            <a:r>
              <a:rPr lang="en-US" altLang="zh-CN" sz="3200" b="1" dirty="0">
                <a:solidFill>
                  <a:srgbClr val="FF0000"/>
                </a:solidFill>
              </a:rPr>
              <a:t>emotional </a:t>
            </a:r>
            <a:r>
              <a:rPr lang="en-US" altLang="zh-CN" sz="3200" b="1" i="1" dirty="0">
                <a:solidFill>
                  <a:srgbClr val="FF0000"/>
                </a:solidFill>
              </a:rPr>
              <a:t>adj.</a:t>
            </a:r>
            <a:r>
              <a:rPr lang="en-US" altLang="zh-CN" sz="3200" b="1" dirty="0">
                <a:solidFill>
                  <a:srgbClr val="FF0000"/>
                </a:solidFill>
              </a:rPr>
              <a:t> </a:t>
            </a:r>
            <a:r>
              <a:rPr lang="zh-CN" altLang="en-US" sz="3200" b="1" dirty="0"/>
              <a:t>情绪上的；激起感情的；情绪激动的</a:t>
            </a:r>
            <a:endParaRPr lang="en-US" altLang="zh-CN" sz="3200" b="1" dirty="0"/>
          </a:p>
          <a:p>
            <a:pPr indent="0" fontAlgn="auto">
              <a:lnSpc>
                <a:spcPct val="120000"/>
              </a:lnSpc>
            </a:pPr>
            <a:r>
              <a:rPr lang="en-US" altLang="zh-CN" sz="3200" b="1" dirty="0"/>
              <a:t>The funeral was a very </a:t>
            </a:r>
            <a:r>
              <a:rPr lang="en-US" altLang="zh-CN" sz="3200" b="1" dirty="0">
                <a:solidFill>
                  <a:srgbClr val="FF0000"/>
                </a:solidFill>
              </a:rPr>
              <a:t>emotional</a:t>
            </a:r>
            <a:r>
              <a:rPr lang="en-US" altLang="zh-CN" sz="3200" b="1" dirty="0"/>
              <a:t> experience for all of us.  </a:t>
            </a:r>
          </a:p>
          <a:p>
            <a:pPr indent="0" fontAlgn="auto">
              <a:lnSpc>
                <a:spcPct val="120000"/>
              </a:lnSpc>
            </a:pPr>
            <a:r>
              <a:rPr lang="zh-CN" altLang="en-US" sz="3200" b="1" dirty="0"/>
              <a:t>那次葬礼对我们大家来说都是一次令人情绪激动的经历。</a:t>
            </a:r>
            <a:endParaRPr lang="en-US" altLang="zh-CN" sz="3200" b="1" dirty="0"/>
          </a:p>
          <a:p>
            <a:pPr marL="457200" indent="-457200" fontAlgn="auto">
              <a:lnSpc>
                <a:spcPct val="120000"/>
              </a:lnSpc>
              <a:buFont typeface="Arial" panose="020B0704020202020204" pitchFamily="34" charset="0"/>
              <a:buChar char="•"/>
            </a:pPr>
            <a:r>
              <a:rPr lang="en-US" altLang="zh-CN" sz="3200" b="1" dirty="0">
                <a:solidFill>
                  <a:srgbClr val="FF0000"/>
                </a:solidFill>
              </a:rPr>
              <a:t>emotionless </a:t>
            </a:r>
            <a:r>
              <a:rPr lang="en-US" altLang="zh-CN" sz="3200" b="1" i="1" dirty="0">
                <a:solidFill>
                  <a:srgbClr val="FF0000"/>
                </a:solidFill>
              </a:rPr>
              <a:t>adj.</a:t>
            </a:r>
            <a:r>
              <a:rPr lang="en-US" altLang="zh-CN" sz="3200" b="1" dirty="0">
                <a:solidFill>
                  <a:srgbClr val="FF0000"/>
                </a:solidFill>
              </a:rPr>
              <a:t> </a:t>
            </a:r>
            <a:r>
              <a:rPr lang="zh-CN" altLang="en-US" sz="3200" b="1" dirty="0"/>
              <a:t>没有情感的；冷漠的</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down)">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down)">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randombar(horizontal)">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wipe(down)">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wipe(down)">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randombar(horizontal)">
                                      <p:cBhvr>
                                        <p:cTn id="4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3" name="圆角矩形标注 12"/>
          <p:cNvSpPr/>
          <p:nvPr/>
        </p:nvSpPr>
        <p:spPr>
          <a:xfrm>
            <a:off x="1471101" y="589713"/>
            <a:ext cx="7074668" cy="539908"/>
          </a:xfrm>
          <a:prstGeom prst="wedgeRoundRectCallout">
            <a:avLst>
              <a:gd name="adj1" fmla="val -30518"/>
              <a:gd name="adj2" fmla="val 146088"/>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F0000"/>
                </a:solidFill>
              </a:rPr>
              <a:t>that</a:t>
            </a:r>
            <a:r>
              <a:rPr lang="zh-CN" altLang="en-US" sz="2400" b="1" dirty="0">
                <a:solidFill>
                  <a:srgbClr val="FF0000"/>
                </a:solidFill>
              </a:rPr>
              <a:t>引导的定语从句，修饰</a:t>
            </a:r>
            <a:r>
              <a:rPr lang="en-US" altLang="zh-CN" sz="2400" b="1" dirty="0">
                <a:solidFill>
                  <a:srgbClr val="FF0000"/>
                </a:solidFill>
              </a:rPr>
              <a:t>some aspects of culture</a:t>
            </a:r>
            <a:endParaRPr lang="zh-CN" altLang="en-US" sz="2400" b="1" dirty="0">
              <a:solidFill>
                <a:srgbClr val="FF0000"/>
              </a:solidFill>
            </a:endParaRPr>
          </a:p>
        </p:txBody>
      </p:sp>
      <p:sp>
        <p:nvSpPr>
          <p:cNvPr id="4" name="矩形 3"/>
          <p:cNvSpPr/>
          <p:nvPr/>
        </p:nvSpPr>
        <p:spPr>
          <a:xfrm>
            <a:off x="687070" y="1577975"/>
            <a:ext cx="11147425" cy="2453640"/>
          </a:xfrm>
          <a:prstGeom prst="rect">
            <a:avLst/>
          </a:prstGeom>
        </p:spPr>
        <p:txBody>
          <a:bodyPr wrap="square">
            <a:spAutoFit/>
          </a:bodyPr>
          <a:lstStyle/>
          <a:p>
            <a:pPr marL="354330" indent="-354330">
              <a:lnSpc>
                <a:spcPct val="120000"/>
              </a:lnSpc>
            </a:pPr>
            <a:r>
              <a:rPr lang="en-US" altLang="zh-CN" sz="3200" b="1" dirty="0"/>
              <a:t>7. According to some food experts, there are some aspects of culture that people will lose right away, but with food, there are more opportunities to connect to memory, family and place.</a:t>
            </a:r>
          </a:p>
        </p:txBody>
      </p:sp>
      <p:sp>
        <p:nvSpPr>
          <p:cNvPr id="6" name="矩形 5"/>
          <p:cNvSpPr/>
          <p:nvPr/>
        </p:nvSpPr>
        <p:spPr>
          <a:xfrm>
            <a:off x="2327275" y="2262505"/>
            <a:ext cx="958215" cy="593725"/>
          </a:xfrm>
          <a:prstGeom prst="rect">
            <a:avLst/>
          </a:prstGeom>
          <a:noFill/>
          <a:ln w="31750">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7" name="直接连接符 6"/>
          <p:cNvCxnSpPr/>
          <p:nvPr/>
        </p:nvCxnSpPr>
        <p:spPr>
          <a:xfrm>
            <a:off x="3017274" y="2890653"/>
            <a:ext cx="3982065" cy="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087333" y="3441219"/>
            <a:ext cx="5161935" cy="8882"/>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14" name="圆角矩形标注 13"/>
          <p:cNvSpPr/>
          <p:nvPr/>
        </p:nvSpPr>
        <p:spPr>
          <a:xfrm>
            <a:off x="7298055" y="3752215"/>
            <a:ext cx="4535805" cy="765810"/>
          </a:xfrm>
          <a:prstGeom prst="wedgeRoundRectCallout">
            <a:avLst>
              <a:gd name="adj1" fmla="val -15196"/>
              <a:gd name="adj2" fmla="val -79273"/>
              <a:gd name="adj3" fmla="val 16667"/>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rPr>
              <a:t>不定式短语作后置定语，修饰</a:t>
            </a:r>
            <a:r>
              <a:rPr lang="en-US" altLang="zh-CN" sz="2400" b="1" dirty="0">
                <a:solidFill>
                  <a:srgbClr val="FF0000"/>
                </a:solidFill>
              </a:rPr>
              <a:t>opportunities</a:t>
            </a:r>
            <a:endParaRPr lang="zh-CN" altLang="en-US" sz="2400" b="1" dirty="0">
              <a:solidFill>
                <a:srgbClr val="FF0000"/>
              </a:solidFill>
            </a:endParaRPr>
          </a:p>
        </p:txBody>
      </p:sp>
      <p:sp>
        <p:nvSpPr>
          <p:cNvPr id="16" name="文本框 15"/>
          <p:cNvSpPr txBox="1"/>
          <p:nvPr/>
        </p:nvSpPr>
        <p:spPr>
          <a:xfrm>
            <a:off x="1010285" y="4651375"/>
            <a:ext cx="10647680" cy="1370965"/>
          </a:xfrm>
          <a:prstGeom prst="rect">
            <a:avLst/>
          </a:prstGeom>
          <a:solidFill>
            <a:schemeClr val="accent4">
              <a:lumMod val="40000"/>
              <a:lumOff val="60000"/>
            </a:schemeClr>
          </a:solidFill>
        </p:spPr>
        <p:txBody>
          <a:bodyPr wrap="square" rtlCol="0">
            <a:noAutofit/>
          </a:bodyPr>
          <a:lstStyle/>
          <a:p>
            <a:pPr>
              <a:lnSpc>
                <a:spcPct val="120000"/>
              </a:lnSpc>
            </a:pPr>
            <a:r>
              <a:rPr lang="zh-CN" altLang="en-US" sz="3200" b="1" dirty="0"/>
              <a:t>据一些食物专家所言，文化中的某些方面人们很快会失去，但对于食物，则有更多机会与回忆、与家、与处所关联。</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6" grpId="0" bldLvl="0" animBg="1"/>
      <p:bldP spid="14" grpId="0" bldLvl="0" animBg="1"/>
      <p:bldP spid="1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339090" y="255905"/>
            <a:ext cx="11555095" cy="1863090"/>
          </a:xfrm>
          <a:prstGeom prst="rect">
            <a:avLst/>
          </a:prstGeom>
          <a:noFill/>
        </p:spPr>
        <p:txBody>
          <a:bodyPr wrap="square" rtlCol="0">
            <a:spAutoFit/>
          </a:bodyPr>
          <a:lstStyle/>
          <a:p>
            <a:pPr marL="358775" indent="-358775" fontAlgn="auto">
              <a:lnSpc>
                <a:spcPct val="120000"/>
              </a:lnSpc>
            </a:pPr>
            <a:r>
              <a:rPr lang="en-US" altLang="zh-CN" sz="3200" b="1" dirty="0"/>
              <a:t>8. One mouthful of comfort food takes us back to our </a:t>
            </a:r>
            <a:r>
              <a:rPr lang="en-US" altLang="zh-CN" sz="3200" b="1" dirty="0">
                <a:solidFill>
                  <a:srgbClr val="FF0000"/>
                </a:solidFill>
              </a:rPr>
              <a:t>cultural roots</a:t>
            </a:r>
            <a:r>
              <a:rPr lang="en-US" altLang="zh-CN" sz="3200" b="1" dirty="0"/>
              <a:t>, </a:t>
            </a:r>
            <a:r>
              <a:rPr lang="en-US" altLang="zh-CN" sz="3200" b="1" dirty="0">
                <a:solidFill>
                  <a:srgbClr val="FF0000"/>
                </a:solidFill>
              </a:rPr>
              <a:t>giving us</a:t>
            </a:r>
            <a:r>
              <a:rPr lang="en-US" altLang="zh-CN" sz="3200" b="1" dirty="0"/>
              <a:t> the </a:t>
            </a:r>
            <a:r>
              <a:rPr lang="en-US" altLang="zh-CN" sz="3200" b="1" dirty="0">
                <a:sym typeface="+mn-ea"/>
              </a:rPr>
              <a:t>“</a:t>
            </a:r>
            <a:r>
              <a:rPr lang="en-US" altLang="zh-CN" sz="3200" b="1" dirty="0"/>
              <a:t>taste of home</a:t>
            </a:r>
            <a:r>
              <a:rPr lang="en-US" altLang="zh-CN" sz="3200" b="1" dirty="0">
                <a:sym typeface="+mn-ea"/>
              </a:rPr>
              <a:t>” </a:t>
            </a:r>
            <a:r>
              <a:rPr lang="en-US" altLang="zh-CN" sz="3200" b="1" dirty="0"/>
              <a:t>that we </a:t>
            </a:r>
            <a:r>
              <a:rPr lang="en-US" altLang="zh-CN" sz="3200" b="1" dirty="0">
                <a:solidFill>
                  <a:srgbClr val="FF0000"/>
                </a:solidFill>
              </a:rPr>
              <a:t>cry out for </a:t>
            </a:r>
            <a:r>
              <a:rPr lang="en-US" altLang="zh-CN" sz="3200" b="1" dirty="0"/>
              <a:t>and </a:t>
            </a:r>
            <a:r>
              <a:rPr lang="en-US" altLang="zh-CN" sz="3200" b="1" dirty="0">
                <a:solidFill>
                  <a:srgbClr val="FF0000"/>
                </a:solidFill>
              </a:rPr>
              <a:t>relieving </a:t>
            </a:r>
            <a:r>
              <a:rPr lang="en-US" altLang="zh-CN" sz="3200" b="1" dirty="0"/>
              <a:t>feelings of homesickness. </a:t>
            </a:r>
          </a:p>
        </p:txBody>
      </p:sp>
      <p:sp>
        <p:nvSpPr>
          <p:cNvPr id="2" name="矩形 1"/>
          <p:cNvSpPr/>
          <p:nvPr/>
        </p:nvSpPr>
        <p:spPr>
          <a:xfrm>
            <a:off x="624205" y="2218690"/>
            <a:ext cx="11269345" cy="3634740"/>
          </a:xfrm>
          <a:prstGeom prst="rect">
            <a:avLst/>
          </a:prstGeom>
        </p:spPr>
        <p:txBody>
          <a:bodyPr wrap="square">
            <a:spAutoFit/>
          </a:bodyPr>
          <a:lstStyle/>
          <a:p>
            <a:pPr indent="0" fontAlgn="auto">
              <a:lnSpc>
                <a:spcPct val="120000"/>
              </a:lnSpc>
            </a:pPr>
            <a:r>
              <a:rPr lang="zh-CN" altLang="en-US" sz="3200" b="1" dirty="0">
                <a:latin typeface="+mj-lt"/>
              </a:rPr>
              <a:t>一口治愈系食物带我们回到自己</a:t>
            </a:r>
            <a:r>
              <a:rPr lang="zh-CN" altLang="en-US" sz="3200" b="1" dirty="0">
                <a:solidFill>
                  <a:srgbClr val="FF0000"/>
                </a:solidFill>
                <a:latin typeface="+mj-lt"/>
              </a:rPr>
              <a:t>文化的根</a:t>
            </a:r>
            <a:r>
              <a:rPr lang="zh-CN" altLang="en-US" sz="3200" b="1" dirty="0">
                <a:latin typeface="+mj-lt"/>
              </a:rPr>
              <a:t>，带来我们渴望的“家的味道”，让我们一解怀乡之情。</a:t>
            </a:r>
          </a:p>
          <a:p>
            <a:pPr indent="0" fontAlgn="auto">
              <a:lnSpc>
                <a:spcPct val="120000"/>
              </a:lnSpc>
            </a:pPr>
            <a:r>
              <a:rPr lang="en-US" altLang="zh-CN" sz="3200" b="1" dirty="0">
                <a:solidFill>
                  <a:srgbClr val="FF0000"/>
                </a:solidFill>
                <a:latin typeface="+mj-lt"/>
              </a:rPr>
              <a:t>cry out for</a:t>
            </a:r>
            <a:r>
              <a:rPr lang="en-US" altLang="zh-CN" sz="3200" b="1" dirty="0">
                <a:latin typeface="+mj-lt"/>
              </a:rPr>
              <a:t>: </a:t>
            </a:r>
            <a:r>
              <a:rPr lang="en-US" altLang="zh-CN" sz="3200" b="1" i="1" dirty="0">
                <a:latin typeface="Times New Roman Bold Italic" panose="02020603050405020304" charset="0"/>
                <a:cs typeface="Times New Roman Bold Italic" panose="02020603050405020304" charset="0"/>
              </a:rPr>
              <a:t>to need </a:t>
            </a:r>
            <a:r>
              <a:rPr lang="en-US" altLang="zh-CN" sz="3200" b="1" i="1" dirty="0" err="1">
                <a:latin typeface="Times New Roman Bold Italic" panose="02020603050405020304" charset="0"/>
                <a:cs typeface="Times New Roman Bold Italic" panose="02020603050405020304" charset="0"/>
              </a:rPr>
              <a:t>sth</a:t>
            </a:r>
            <a:r>
              <a:rPr lang="en-US" altLang="zh-CN" sz="3200" b="1" i="1" dirty="0">
                <a:latin typeface="Times New Roman Bold Italic" panose="02020603050405020304" charset="0"/>
                <a:cs typeface="Times New Roman Bold Italic" panose="02020603050405020304" charset="0"/>
              </a:rPr>
              <a:t> very much</a:t>
            </a:r>
            <a:r>
              <a:rPr lang="en-US" altLang="zh-CN" sz="3200" b="1" dirty="0">
                <a:latin typeface="+mj-lt"/>
              </a:rPr>
              <a:t>  </a:t>
            </a:r>
            <a:r>
              <a:rPr lang="zh-CN" altLang="en-US" sz="3200" b="1" dirty="0">
                <a:solidFill>
                  <a:srgbClr val="FF0000"/>
                </a:solidFill>
                <a:latin typeface="+mj-lt"/>
              </a:rPr>
              <a:t>迫切需要</a:t>
            </a:r>
          </a:p>
          <a:p>
            <a:pPr indent="0" fontAlgn="auto">
              <a:lnSpc>
                <a:spcPct val="120000"/>
              </a:lnSpc>
            </a:pPr>
            <a:r>
              <a:rPr lang="en-US" altLang="zh-CN" sz="3200" b="1" dirty="0">
                <a:latin typeface="+mj-lt"/>
              </a:rPr>
              <a:t>Many schools in the countryside are </a:t>
            </a:r>
            <a:r>
              <a:rPr lang="en-US" altLang="zh-CN" sz="3200" b="1" dirty="0">
                <a:solidFill>
                  <a:srgbClr val="FF0000"/>
                </a:solidFill>
                <a:latin typeface="+mj-lt"/>
              </a:rPr>
              <a:t>crying out for </a:t>
            </a:r>
            <a:r>
              <a:rPr lang="en-US" altLang="zh-CN" sz="3200" b="1" dirty="0">
                <a:latin typeface="+mj-lt"/>
              </a:rPr>
              <a:t>good English teachers.</a:t>
            </a:r>
          </a:p>
          <a:p>
            <a:pPr indent="0" fontAlgn="auto">
              <a:lnSpc>
                <a:spcPct val="120000"/>
              </a:lnSpc>
            </a:pPr>
            <a:r>
              <a:rPr lang="zh-CN" altLang="en-US" sz="3200" b="1" dirty="0">
                <a:latin typeface="+mj-lt"/>
              </a:rPr>
              <a:t>       许多乡村学校迫切需要优秀的英语教师。</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268605" y="282575"/>
            <a:ext cx="11487785" cy="5996940"/>
          </a:xfrm>
          <a:prstGeom prst="rect">
            <a:avLst/>
          </a:prstGeom>
          <a:noFill/>
        </p:spPr>
        <p:txBody>
          <a:bodyPr wrap="square" rtlCol="0">
            <a:spAutoFit/>
          </a:bodyPr>
          <a:lstStyle/>
          <a:p>
            <a:pPr marL="1708150" indent="-1708150" fontAlgn="auto">
              <a:lnSpc>
                <a:spcPct val="120000"/>
              </a:lnSpc>
            </a:pPr>
            <a:r>
              <a:rPr lang="en-US" altLang="zh-CN" sz="3200" b="1" dirty="0">
                <a:solidFill>
                  <a:srgbClr val="FF0000"/>
                </a:solidFill>
              </a:rPr>
              <a:t>relieve  </a:t>
            </a:r>
            <a:r>
              <a:rPr lang="en-US" altLang="zh-CN" sz="3200" b="1" i="1" dirty="0">
                <a:solidFill>
                  <a:srgbClr val="FF0000"/>
                </a:solidFill>
              </a:rPr>
              <a:t>v. </a:t>
            </a:r>
            <a:r>
              <a:rPr lang="en-US" altLang="zh-CN" sz="3200" b="1" i="1" dirty="0">
                <a:latin typeface="Times New Roman Bold Italic" panose="02020603050405020304" charset="0"/>
                <a:cs typeface="Times New Roman Bold Italic" panose="02020603050405020304" charset="0"/>
              </a:rPr>
              <a:t>to reduce someone's pain or unpleasant feelings</a:t>
            </a:r>
            <a:r>
              <a:rPr lang="en-US" altLang="zh-CN" sz="3200" b="1" dirty="0"/>
              <a:t>  </a:t>
            </a:r>
            <a:r>
              <a:rPr lang="zh-CN" altLang="en-US" sz="3200" b="1" dirty="0">
                <a:solidFill>
                  <a:srgbClr val="FF0000"/>
                </a:solidFill>
              </a:rPr>
              <a:t>减轻，缓解</a:t>
            </a:r>
            <a:endParaRPr lang="en-US" altLang="zh-CN" sz="3200" b="1" dirty="0">
              <a:solidFill>
                <a:srgbClr val="FF0000"/>
              </a:solidFill>
            </a:endParaRPr>
          </a:p>
          <a:p>
            <a:pPr marL="358775" indent="-358775" fontAlgn="auto">
              <a:lnSpc>
                <a:spcPct val="120000"/>
              </a:lnSpc>
            </a:pPr>
            <a:r>
              <a:rPr lang="en-US" altLang="zh-CN" sz="3200" b="1" dirty="0">
                <a:sym typeface="+mn-ea"/>
              </a:rPr>
              <a:t>听音乐有助于缓解压力。</a:t>
            </a:r>
          </a:p>
          <a:p>
            <a:pPr marL="358775" indent="-358775" fontAlgn="auto">
              <a:lnSpc>
                <a:spcPct val="120000"/>
              </a:lnSpc>
            </a:pPr>
            <a:r>
              <a:rPr lang="en-US" altLang="zh-CN" sz="3200" b="1" dirty="0"/>
              <a:t>Listening to music can help</a:t>
            </a:r>
            <a:r>
              <a:rPr lang="en-US" altLang="zh-CN" sz="3200" b="1" dirty="0">
                <a:solidFill>
                  <a:srgbClr val="FF0000"/>
                </a:solidFill>
              </a:rPr>
              <a:t> </a:t>
            </a:r>
            <a:r>
              <a:rPr lang="en-US" altLang="zh-CN" sz="3200" b="1" u="sng" dirty="0">
                <a:solidFill>
                  <a:srgbClr val="FF0000"/>
                </a:solidFill>
              </a:rPr>
              <a:t>relieve stress</a:t>
            </a:r>
            <a:r>
              <a:rPr lang="en-US" altLang="zh-CN" sz="3200" b="1" dirty="0"/>
              <a:t>.</a:t>
            </a:r>
          </a:p>
          <a:p>
            <a:pPr marL="358775" indent="-358775" fontAlgn="auto">
              <a:lnSpc>
                <a:spcPct val="120000"/>
              </a:lnSpc>
            </a:pPr>
            <a:r>
              <a:rPr lang="en-US" altLang="zh-CN" sz="3200" b="1" dirty="0">
                <a:solidFill>
                  <a:srgbClr val="FF0000"/>
                </a:solidFill>
                <a:sym typeface="+mn-ea"/>
              </a:rPr>
              <a:t>relieve </a:t>
            </a:r>
            <a:r>
              <a:rPr lang="en-US" altLang="zh-CN" sz="3200" b="1" dirty="0" err="1">
                <a:solidFill>
                  <a:srgbClr val="FF0000"/>
                </a:solidFill>
                <a:sym typeface="+mn-ea"/>
              </a:rPr>
              <a:t>sb</a:t>
            </a:r>
            <a:r>
              <a:rPr lang="en-US" altLang="zh-CN" sz="3200" b="1" dirty="0">
                <a:solidFill>
                  <a:srgbClr val="FF0000"/>
                </a:solidFill>
                <a:sym typeface="+mn-ea"/>
              </a:rPr>
              <a:t> of </a:t>
            </a:r>
            <a:r>
              <a:rPr lang="en-US" altLang="zh-CN" sz="3200" b="1" dirty="0" err="1">
                <a:solidFill>
                  <a:srgbClr val="FF0000"/>
                </a:solidFill>
                <a:sym typeface="+mn-ea"/>
              </a:rPr>
              <a:t>sth</a:t>
            </a:r>
            <a:r>
              <a:rPr lang="en-US" altLang="zh-CN" sz="3200" b="1" dirty="0">
                <a:solidFill>
                  <a:srgbClr val="FF0000"/>
                </a:solidFill>
                <a:sym typeface="+mn-ea"/>
              </a:rPr>
              <a:t> </a:t>
            </a:r>
            <a:r>
              <a:rPr lang="en-US" altLang="zh-CN" sz="3200" b="1" dirty="0"/>
              <a:t>帮助减轻(负担)；开除/解除某人的职务</a:t>
            </a:r>
          </a:p>
          <a:p>
            <a:pPr marL="358775" indent="-358775" fontAlgn="auto">
              <a:lnSpc>
                <a:spcPct val="120000"/>
              </a:lnSpc>
            </a:pPr>
            <a:r>
              <a:rPr lang="en-US" altLang="zh-CN" sz="3200" b="1" dirty="0"/>
              <a:t>Let me </a:t>
            </a:r>
            <a:r>
              <a:rPr lang="en-US" altLang="zh-CN" sz="3200" b="1" dirty="0">
                <a:solidFill>
                  <a:srgbClr val="FF0000"/>
                </a:solidFill>
              </a:rPr>
              <a:t>relieve you of </a:t>
            </a:r>
            <a:r>
              <a:rPr lang="en-US" altLang="zh-CN" sz="3200" b="1" dirty="0"/>
              <a:t>some of your bags. </a:t>
            </a:r>
          </a:p>
          <a:p>
            <a:pPr marL="358775" indent="-358775" fontAlgn="auto">
              <a:lnSpc>
                <a:spcPct val="120000"/>
              </a:lnSpc>
            </a:pPr>
            <a:r>
              <a:rPr lang="zh-CN" altLang="en-US" sz="3200" b="1" dirty="0"/>
              <a:t>我来帮你拿几个袋子吧。</a:t>
            </a:r>
            <a:endParaRPr lang="en-US" altLang="zh-CN" sz="3200" b="1" dirty="0"/>
          </a:p>
          <a:p>
            <a:pPr marL="457200" indent="-457200" fontAlgn="auto">
              <a:lnSpc>
                <a:spcPct val="120000"/>
              </a:lnSpc>
              <a:buFont typeface="Arial" panose="020B0704020202020204" pitchFamily="34" charset="0"/>
              <a:buChar char="•"/>
            </a:pPr>
            <a:r>
              <a:rPr lang="en-US" altLang="zh-CN" sz="3200" b="1" dirty="0">
                <a:solidFill>
                  <a:srgbClr val="FF0000"/>
                </a:solidFill>
              </a:rPr>
              <a:t>relief </a:t>
            </a:r>
            <a:r>
              <a:rPr lang="en-US" altLang="zh-CN" sz="3200" b="1" i="1" dirty="0">
                <a:solidFill>
                  <a:srgbClr val="FF0000"/>
                </a:solidFill>
              </a:rPr>
              <a:t>n.</a:t>
            </a:r>
            <a:r>
              <a:rPr lang="en-US" altLang="zh-CN" sz="3200" b="1" dirty="0">
                <a:solidFill>
                  <a:srgbClr val="FF0000"/>
                </a:solidFill>
              </a:rPr>
              <a:t> </a:t>
            </a:r>
            <a:r>
              <a:rPr lang="en-US" altLang="zh-CN" sz="3200" b="1" dirty="0"/>
              <a:t>(痛苦等的)减轻；宽慰；救济物</a:t>
            </a:r>
          </a:p>
          <a:p>
            <a:pPr marL="358775" indent="-5080" fontAlgn="auto">
              <a:lnSpc>
                <a:spcPct val="120000"/>
              </a:lnSpc>
            </a:pPr>
            <a:r>
              <a:rPr lang="en-US" altLang="zh-CN" sz="3200" b="1" dirty="0">
                <a:solidFill>
                  <a:srgbClr val="FF0000"/>
                </a:solidFill>
              </a:rPr>
              <a:t>to one’s relief   </a:t>
            </a:r>
            <a:r>
              <a:rPr lang="zh-CN" altLang="en-US" sz="3200" b="1" dirty="0"/>
              <a:t>令某人安心的是</a:t>
            </a:r>
            <a:endParaRPr lang="en-US" altLang="zh-CN" sz="3200" b="1" dirty="0"/>
          </a:p>
          <a:p>
            <a:pPr marL="358775" indent="-5080" fontAlgn="auto">
              <a:lnSpc>
                <a:spcPct val="120000"/>
              </a:lnSpc>
            </a:pPr>
            <a:r>
              <a:rPr lang="en-US" altLang="zh-CN" sz="3200" b="1" dirty="0">
                <a:solidFill>
                  <a:srgbClr val="FF0000"/>
                </a:solidFill>
                <a:sym typeface="+mn-ea"/>
              </a:rPr>
              <a:t>To my relief</a:t>
            </a:r>
            <a:r>
              <a:rPr lang="en-US" altLang="zh-CN" sz="3200" b="1" dirty="0">
                <a:sym typeface="+mn-ea"/>
              </a:rPr>
              <a:t>, he didn’t argue with my suggestion at all.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linds(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blinds(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blinds(horizontal)">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blinds(horizontal)">
                                      <p:cBhvr>
                                        <p:cTn id="4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342265" y="318135"/>
            <a:ext cx="11445875" cy="3634740"/>
          </a:xfrm>
          <a:prstGeom prst="rect">
            <a:avLst/>
          </a:prstGeom>
          <a:noFill/>
        </p:spPr>
        <p:txBody>
          <a:bodyPr wrap="square" rtlCol="0">
            <a:spAutoFit/>
          </a:bodyPr>
          <a:lstStyle/>
          <a:p>
            <a:pPr indent="0" fontAlgn="auto">
              <a:lnSpc>
                <a:spcPct val="120000"/>
              </a:lnSpc>
            </a:pPr>
            <a:r>
              <a:rPr lang="en-US" altLang="zh-CN" sz="3200" b="1" dirty="0"/>
              <a:t>He laughed </a:t>
            </a:r>
            <a:r>
              <a:rPr lang="en-US" altLang="zh-CN" sz="3200" b="1" u="sng" dirty="0">
                <a:solidFill>
                  <a:srgbClr val="FF0000"/>
                </a:solidFill>
              </a:rPr>
              <a:t>in/with relief</a:t>
            </a:r>
            <a:r>
              <a:rPr lang="en-US" altLang="zh-CN" sz="3200" b="1" dirty="0"/>
              <a:t>.</a:t>
            </a:r>
          </a:p>
          <a:p>
            <a:pPr indent="0" fontAlgn="auto">
              <a:lnSpc>
                <a:spcPct val="120000"/>
              </a:lnSpc>
            </a:pPr>
            <a:r>
              <a:rPr lang="en-US" altLang="zh-CN" sz="3200" b="1" dirty="0"/>
              <a:t>他</a:t>
            </a:r>
            <a:r>
              <a:rPr lang="zh-CN" altLang="en-US" sz="3200" b="1" u="sng" dirty="0"/>
              <a:t>如释重负</a:t>
            </a:r>
            <a:r>
              <a:rPr lang="zh-CN" altLang="en-US" sz="3200" b="1" dirty="0"/>
              <a:t>地笑了</a:t>
            </a:r>
            <a:r>
              <a:rPr lang="en-US" altLang="zh-CN" sz="3200" b="1" dirty="0"/>
              <a:t>。</a:t>
            </a:r>
          </a:p>
          <a:p>
            <a:pPr indent="0" fontAlgn="auto">
              <a:lnSpc>
                <a:spcPct val="120000"/>
              </a:lnSpc>
            </a:pPr>
            <a:r>
              <a:rPr lang="en-US" altLang="zh-CN" sz="3200" b="1" dirty="0">
                <a:solidFill>
                  <a:srgbClr val="FF0000"/>
                </a:solidFill>
              </a:rPr>
              <a:t>relieved </a:t>
            </a:r>
            <a:r>
              <a:rPr lang="en-US" altLang="zh-CN" sz="3200" b="1" i="1" dirty="0">
                <a:solidFill>
                  <a:srgbClr val="FF0000"/>
                </a:solidFill>
              </a:rPr>
              <a:t>adj.</a:t>
            </a:r>
            <a:r>
              <a:rPr lang="en-US" altLang="zh-CN" sz="3200" b="1" dirty="0">
                <a:solidFill>
                  <a:srgbClr val="FF0000"/>
                </a:solidFill>
              </a:rPr>
              <a:t> 宽心的；宽慰的</a:t>
            </a:r>
          </a:p>
          <a:p>
            <a:pPr indent="0" fontAlgn="auto">
              <a:lnSpc>
                <a:spcPct val="120000"/>
              </a:lnSpc>
            </a:pPr>
            <a:r>
              <a:rPr lang="en-US" altLang="zh-CN" sz="3200" b="1" dirty="0">
                <a:sym typeface="+mn-ea"/>
              </a:rPr>
              <a:t>看到没人在这次车祸中受伤，司机深感宽慰。</a:t>
            </a:r>
          </a:p>
          <a:p>
            <a:pPr indent="0" fontAlgn="auto">
              <a:lnSpc>
                <a:spcPct val="120000"/>
              </a:lnSpc>
            </a:pPr>
            <a:r>
              <a:rPr lang="en-US" altLang="zh-CN" sz="3200" b="1" dirty="0">
                <a:sym typeface="+mn-ea"/>
              </a:rPr>
              <a:t>The driver </a:t>
            </a:r>
            <a:r>
              <a:rPr lang="en-US" altLang="zh-CN" sz="3200" b="1" dirty="0">
                <a:solidFill>
                  <a:srgbClr val="FF0000"/>
                </a:solidFill>
                <a:sym typeface="+mn-ea"/>
              </a:rPr>
              <a:t>felt</a:t>
            </a:r>
            <a:r>
              <a:rPr lang="en-US" altLang="zh-CN" sz="3200" b="1" dirty="0">
                <a:sym typeface="+mn-ea"/>
              </a:rPr>
              <a:t> quite</a:t>
            </a:r>
            <a:r>
              <a:rPr lang="en-US" altLang="zh-CN" sz="3200" b="1" dirty="0">
                <a:solidFill>
                  <a:srgbClr val="FF0000"/>
                </a:solidFill>
                <a:sym typeface="+mn-ea"/>
              </a:rPr>
              <a:t> relieved to</a:t>
            </a:r>
            <a:r>
              <a:rPr lang="en-US" altLang="zh-CN" sz="3200" b="1" dirty="0">
                <a:sym typeface="+mn-ea"/>
              </a:rPr>
              <a:t> see that nobody had been injured in the traffic accident.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438785" y="255270"/>
            <a:ext cx="11377295" cy="5406390"/>
          </a:xfrm>
          <a:prstGeom prst="rect">
            <a:avLst/>
          </a:prstGeom>
        </p:spPr>
        <p:txBody>
          <a:bodyPr wrap="square">
            <a:spAutoFit/>
          </a:bodyPr>
          <a:lstStyle/>
          <a:p>
            <a:pPr>
              <a:lnSpc>
                <a:spcPct val="120000"/>
              </a:lnSpc>
            </a:pPr>
            <a:r>
              <a:rPr lang="en-US" altLang="zh-CN" sz="3200" b="1" dirty="0">
                <a:solidFill>
                  <a:srgbClr val="0000FF"/>
                </a:solidFill>
                <a:latin typeface="+mj-lt"/>
              </a:rPr>
              <a:t>【</a:t>
            </a:r>
            <a:r>
              <a:rPr lang="zh-CN" altLang="en-US" sz="3200" b="1" dirty="0">
                <a:solidFill>
                  <a:srgbClr val="0000FF"/>
                </a:solidFill>
                <a:latin typeface="+mj-lt"/>
              </a:rPr>
              <a:t>语境应用</a:t>
            </a:r>
            <a:r>
              <a:rPr lang="en-US" altLang="zh-CN" sz="3200" b="1" dirty="0">
                <a:solidFill>
                  <a:srgbClr val="0000FF"/>
                </a:solidFill>
                <a:latin typeface="+mj-lt"/>
              </a:rPr>
              <a:t>】</a:t>
            </a:r>
            <a:r>
              <a:rPr lang="zh-CN" altLang="en-US" sz="3200" b="1" dirty="0">
                <a:solidFill>
                  <a:srgbClr val="0000FF"/>
                </a:solidFill>
                <a:latin typeface="+mj-lt"/>
              </a:rPr>
              <a:t>翻译下列句子。</a:t>
            </a:r>
          </a:p>
          <a:p>
            <a:pPr>
              <a:lnSpc>
                <a:spcPct val="120000"/>
              </a:lnSpc>
            </a:pPr>
            <a:r>
              <a:rPr lang="en-US" altLang="zh-CN" sz="3200" b="1" dirty="0">
                <a:latin typeface="+mj-lt"/>
              </a:rPr>
              <a:t>1) </a:t>
            </a:r>
            <a:r>
              <a:rPr lang="zh-CN" altLang="en-US" sz="3200" b="1" dirty="0">
                <a:latin typeface="+mj-lt"/>
              </a:rPr>
              <a:t>大哭了一场</a:t>
            </a:r>
            <a:r>
              <a:rPr lang="en-US" altLang="zh-CN" sz="3200" b="1" dirty="0">
                <a:latin typeface="+mj-lt"/>
              </a:rPr>
              <a:t>(a good cry) </a:t>
            </a:r>
            <a:r>
              <a:rPr lang="zh-CN" altLang="en-US" sz="3200" b="1" dirty="0">
                <a:latin typeface="+mj-lt"/>
              </a:rPr>
              <a:t>才使她悲伤的情绪得以缓和。</a:t>
            </a:r>
            <a:endParaRPr lang="en-US" altLang="zh-CN" sz="3200" b="1" dirty="0">
              <a:latin typeface="+mj-lt"/>
            </a:endParaRPr>
          </a:p>
          <a:p>
            <a:pPr marL="514350" indent="-514350">
              <a:lnSpc>
                <a:spcPct val="120000"/>
              </a:lnSpc>
              <a:buAutoNum type="arabicPeriod"/>
            </a:pPr>
            <a:endParaRPr lang="en-US" altLang="zh-CN" sz="3200" b="1" dirty="0">
              <a:latin typeface="+mj-lt"/>
            </a:endParaRPr>
          </a:p>
          <a:p>
            <a:pPr marL="514350" indent="-514350">
              <a:lnSpc>
                <a:spcPct val="120000"/>
              </a:lnSpc>
              <a:buAutoNum type="arabicPeriod"/>
            </a:pPr>
            <a:endParaRPr lang="zh-CN" altLang="en-US" sz="3200" b="1" dirty="0">
              <a:latin typeface="+mj-lt"/>
            </a:endParaRPr>
          </a:p>
          <a:p>
            <a:pPr>
              <a:lnSpc>
                <a:spcPct val="120000"/>
              </a:lnSpc>
            </a:pPr>
            <a:r>
              <a:rPr lang="en-US" altLang="zh-CN" sz="3200" b="1" dirty="0">
                <a:latin typeface="+mj-lt"/>
              </a:rPr>
              <a:t>2) </a:t>
            </a:r>
            <a:r>
              <a:rPr lang="zh-CN" altLang="en-US" sz="3200" b="1" dirty="0">
                <a:latin typeface="+mj-lt"/>
              </a:rPr>
              <a:t>政府迅速采取措施来赈济地震灾民。</a:t>
            </a:r>
            <a:endParaRPr lang="en-US" altLang="zh-CN" sz="3200" b="1" dirty="0">
              <a:latin typeface="+mj-lt"/>
            </a:endParaRPr>
          </a:p>
          <a:p>
            <a:pPr>
              <a:lnSpc>
                <a:spcPct val="120000"/>
              </a:lnSpc>
            </a:pPr>
            <a:endParaRPr lang="en-US" altLang="zh-CN" sz="3200" b="1" dirty="0">
              <a:latin typeface="+mj-lt"/>
            </a:endParaRPr>
          </a:p>
          <a:p>
            <a:pPr>
              <a:lnSpc>
                <a:spcPct val="120000"/>
              </a:lnSpc>
            </a:pPr>
            <a:endParaRPr lang="en-US" altLang="zh-CN" sz="3200" b="1" dirty="0">
              <a:latin typeface="+mj-lt"/>
            </a:endParaRPr>
          </a:p>
          <a:p>
            <a:pPr>
              <a:lnSpc>
                <a:spcPct val="120000"/>
              </a:lnSpc>
            </a:pPr>
            <a:r>
              <a:rPr lang="en-US" altLang="zh-CN" sz="3200" b="1" dirty="0">
                <a:latin typeface="+mj-lt"/>
              </a:rPr>
              <a:t>3) </a:t>
            </a:r>
            <a:r>
              <a:rPr lang="zh-CN" altLang="en-US" sz="3200" b="1" dirty="0">
                <a:latin typeface="+mj-lt"/>
              </a:rPr>
              <a:t>我不想这么说</a:t>
            </a:r>
            <a:r>
              <a:rPr lang="en-US" altLang="zh-CN" sz="3200" b="1" dirty="0">
                <a:latin typeface="+mj-lt"/>
              </a:rPr>
              <a:t>﹐</a:t>
            </a:r>
            <a:r>
              <a:rPr lang="zh-CN" altLang="en-US" sz="3200" b="1" dirty="0">
                <a:latin typeface="+mj-lt"/>
              </a:rPr>
              <a:t>但是他不在家里确实让我很轻松。</a:t>
            </a:r>
          </a:p>
          <a:p>
            <a:pPr marL="3657600" lvl="8" indent="457200">
              <a:lnSpc>
                <a:spcPct val="120000"/>
              </a:lnSpc>
            </a:pPr>
            <a:r>
              <a:rPr lang="en-US" altLang="zh-CN" sz="3200" b="1" dirty="0">
                <a:latin typeface="+mj-lt"/>
              </a:rPr>
              <a:t>                       </a:t>
            </a:r>
            <a:r>
              <a:rPr lang="en-US" altLang="zh-CN" sz="3200" b="1" dirty="0">
                <a:solidFill>
                  <a:schemeClr val="tx1"/>
                </a:solidFill>
                <a:latin typeface="+mj-lt"/>
                <a:sym typeface="+mn-ea"/>
              </a:rPr>
              <a:t>have him out of the house.</a:t>
            </a:r>
          </a:p>
        </p:txBody>
      </p:sp>
      <p:sp>
        <p:nvSpPr>
          <p:cNvPr id="5" name="矩形 4"/>
          <p:cNvSpPr/>
          <p:nvPr/>
        </p:nvSpPr>
        <p:spPr>
          <a:xfrm>
            <a:off x="643255" y="1470025"/>
            <a:ext cx="11172825" cy="1272540"/>
          </a:xfrm>
          <a:prstGeom prst="rect">
            <a:avLst/>
          </a:prstGeom>
        </p:spPr>
        <p:txBody>
          <a:bodyPr wrap="square">
            <a:spAutoFit/>
          </a:bodyPr>
          <a:lstStyle/>
          <a:p>
            <a:pPr>
              <a:lnSpc>
                <a:spcPct val="120000"/>
              </a:lnSpc>
            </a:pPr>
            <a:r>
              <a:rPr lang="en-US" altLang="zh-CN" sz="3200" b="1" dirty="0">
                <a:solidFill>
                  <a:srgbClr val="FF0000"/>
                </a:solidFill>
                <a:latin typeface="+mj-lt"/>
              </a:rPr>
              <a:t>Her sadness was relieved by a good cry. / A good cry relieved her sadness.</a:t>
            </a:r>
          </a:p>
        </p:txBody>
      </p:sp>
      <p:sp>
        <p:nvSpPr>
          <p:cNvPr id="7" name="矩形 6"/>
          <p:cNvSpPr/>
          <p:nvPr/>
        </p:nvSpPr>
        <p:spPr>
          <a:xfrm>
            <a:off x="643890" y="3131185"/>
            <a:ext cx="10996930" cy="1272540"/>
          </a:xfrm>
          <a:prstGeom prst="rect">
            <a:avLst/>
          </a:prstGeom>
        </p:spPr>
        <p:txBody>
          <a:bodyPr wrap="square">
            <a:spAutoFit/>
          </a:bodyPr>
          <a:lstStyle/>
          <a:p>
            <a:pPr>
              <a:lnSpc>
                <a:spcPct val="120000"/>
              </a:lnSpc>
            </a:pPr>
            <a:r>
              <a:rPr lang="en-US" altLang="zh-CN" sz="3200" b="1" dirty="0">
                <a:solidFill>
                  <a:srgbClr val="FF0000"/>
                </a:solidFill>
                <a:latin typeface="+mj-lt"/>
              </a:rPr>
              <a:t>The government took measures immediately to relieve the victims of the earthquake.</a:t>
            </a:r>
          </a:p>
        </p:txBody>
      </p:sp>
      <p:sp>
        <p:nvSpPr>
          <p:cNvPr id="2" name="矩形 1"/>
          <p:cNvSpPr/>
          <p:nvPr/>
        </p:nvSpPr>
        <p:spPr>
          <a:xfrm>
            <a:off x="643890" y="5019675"/>
            <a:ext cx="11171555" cy="583565"/>
          </a:xfrm>
          <a:prstGeom prst="rect">
            <a:avLst/>
          </a:prstGeom>
        </p:spPr>
        <p:txBody>
          <a:bodyPr wrap="square">
            <a:spAutoFit/>
          </a:bodyPr>
          <a:lstStyle/>
          <a:p>
            <a:r>
              <a:rPr lang="en-US" altLang="zh-CN" sz="3200" b="1" dirty="0">
                <a:solidFill>
                  <a:srgbClr val="FF0000"/>
                </a:solidFill>
                <a:latin typeface="+mj-lt"/>
              </a:rPr>
              <a:t>I hate to say it, but it was a relief to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379730" y="170815"/>
            <a:ext cx="11556365" cy="6043930"/>
          </a:xfrm>
          <a:prstGeom prst="rect">
            <a:avLst/>
          </a:prstGeom>
          <a:noFill/>
        </p:spPr>
        <p:txBody>
          <a:bodyPr wrap="square" rtlCol="0">
            <a:spAutoFit/>
          </a:bodyPr>
          <a:lstStyle/>
          <a:p>
            <a:pPr marL="444500" indent="-444500" defTabSz="352425" fontAlgn="auto">
              <a:lnSpc>
                <a:spcPct val="110000"/>
              </a:lnSpc>
              <a:spcBef>
                <a:spcPts val="0"/>
              </a:spcBef>
              <a:spcAft>
                <a:spcPts val="0"/>
              </a:spcAft>
            </a:pPr>
            <a:r>
              <a:rPr lang="en-US" altLang="zh-CN" sz="3200" b="1" dirty="0"/>
              <a:t>9. Comfort food tastes good and by </a:t>
            </a:r>
            <a:r>
              <a:rPr lang="en-US" altLang="zh-CN" sz="3200" b="1" dirty="0">
                <a:solidFill>
                  <a:srgbClr val="FF0000"/>
                </a:solidFill>
              </a:rPr>
              <a:t>building an emotional bond with</a:t>
            </a:r>
            <a:r>
              <a:rPr lang="en-US" altLang="zh-CN" sz="3200" b="1" dirty="0"/>
              <a:t> our happy memories, always makes us feel good. </a:t>
            </a:r>
          </a:p>
          <a:p>
            <a:pPr marL="446405" indent="-1905" fontAlgn="auto">
              <a:lnSpc>
                <a:spcPct val="110000"/>
              </a:lnSpc>
              <a:spcBef>
                <a:spcPts val="0"/>
              </a:spcBef>
              <a:spcAft>
                <a:spcPts val="0"/>
              </a:spcAft>
            </a:pPr>
            <a:r>
              <a:rPr lang="zh-CN" altLang="en-US" sz="3200" b="1" dirty="0"/>
              <a:t>治愈系食物味道可口，通过</a:t>
            </a:r>
            <a:r>
              <a:rPr lang="zh-CN" altLang="en-US" sz="3200" b="1" dirty="0">
                <a:solidFill>
                  <a:srgbClr val="FF0000"/>
                </a:solidFill>
              </a:rPr>
              <a:t>与</a:t>
            </a:r>
            <a:r>
              <a:rPr lang="zh-CN" altLang="en-US" sz="3200" b="1" dirty="0"/>
              <a:t>我们快乐的回忆</a:t>
            </a:r>
            <a:r>
              <a:rPr lang="zh-CN" altLang="en-US" sz="3200" b="1" dirty="0">
                <a:solidFill>
                  <a:srgbClr val="FF0000"/>
                </a:solidFill>
              </a:rPr>
              <a:t>之间建立情感联系</a:t>
            </a:r>
            <a:r>
              <a:rPr lang="zh-CN" altLang="en-US" sz="3200" b="1" dirty="0"/>
              <a:t>，它总是让我们心情不错。</a:t>
            </a:r>
          </a:p>
          <a:p>
            <a:pPr marL="1881505" indent="-1437005" fontAlgn="auto">
              <a:lnSpc>
                <a:spcPct val="110000"/>
              </a:lnSpc>
              <a:spcBef>
                <a:spcPts val="0"/>
              </a:spcBef>
              <a:spcAft>
                <a:spcPts val="0"/>
              </a:spcAft>
            </a:pPr>
            <a:r>
              <a:rPr lang="en-US" altLang="zh-CN" sz="3200" b="1" dirty="0">
                <a:solidFill>
                  <a:srgbClr val="FF0000"/>
                </a:solidFill>
                <a:sym typeface="+mn-ea"/>
              </a:rPr>
              <a:t>bond</a:t>
            </a:r>
            <a:r>
              <a:rPr lang="en-US" altLang="zh-CN" sz="3200" b="1" dirty="0">
                <a:sym typeface="+mn-ea"/>
              </a:rPr>
              <a:t> </a:t>
            </a:r>
            <a:r>
              <a:rPr lang="zh-CN" altLang="en-US" sz="3200" b="1" i="1" dirty="0">
                <a:solidFill>
                  <a:srgbClr val="FF0000"/>
                </a:solidFill>
              </a:rPr>
              <a:t>n.</a:t>
            </a:r>
            <a:r>
              <a:rPr lang="zh-CN" altLang="en-US" sz="3200" b="1" dirty="0"/>
              <a:t> </a:t>
            </a:r>
            <a:r>
              <a:rPr lang="en-US" altLang="zh-CN" sz="3200" b="1" i="1" dirty="0">
                <a:latin typeface="Times New Roman Bold Italic" panose="02020603050405020304" charset="0"/>
                <a:cs typeface="Times New Roman Bold Italic" panose="02020603050405020304" charset="0"/>
              </a:rPr>
              <a:t>something that forms a connection between people or groups </a:t>
            </a:r>
            <a:r>
              <a:rPr lang="en-US" altLang="zh-CN" sz="3200" b="1" dirty="0"/>
              <a:t>  </a:t>
            </a:r>
            <a:r>
              <a:rPr lang="zh-CN" altLang="en-US" sz="3200" b="1" dirty="0">
                <a:solidFill>
                  <a:srgbClr val="FF0000"/>
                </a:solidFill>
              </a:rPr>
              <a:t>纽带，联系</a:t>
            </a:r>
            <a:endParaRPr lang="en-US" altLang="zh-CN" sz="3200" b="1" dirty="0">
              <a:solidFill>
                <a:srgbClr val="FF0000"/>
              </a:solidFill>
            </a:endParaRPr>
          </a:p>
          <a:p>
            <a:pPr marL="1798955" fontAlgn="auto">
              <a:lnSpc>
                <a:spcPct val="110000"/>
              </a:lnSpc>
              <a:spcBef>
                <a:spcPts val="0"/>
              </a:spcBef>
              <a:spcAft>
                <a:spcPts val="0"/>
              </a:spcAft>
            </a:pPr>
            <a:r>
              <a:rPr lang="en-US" altLang="zh-CN" sz="3200" dirty="0"/>
              <a:t> </a:t>
            </a:r>
            <a:r>
              <a:rPr lang="en-US" altLang="zh-CN" sz="3200" b="1" i="1" dirty="0">
                <a:latin typeface="Times New Roman Bold Italic" panose="02020603050405020304" charset="0"/>
                <a:cs typeface="Times New Roman Bold Italic" panose="02020603050405020304" charset="0"/>
              </a:rPr>
              <a:t>state of being joined </a:t>
            </a:r>
            <a:r>
              <a:rPr lang="en-US" altLang="zh-CN" sz="3200" b="1" dirty="0"/>
              <a:t> </a:t>
            </a:r>
            <a:r>
              <a:rPr lang="zh-CN" altLang="en-US" sz="3200" b="1" dirty="0">
                <a:solidFill>
                  <a:srgbClr val="FF0000"/>
                </a:solidFill>
              </a:rPr>
              <a:t>连接，结合</a:t>
            </a:r>
            <a:endParaRPr lang="en-US" altLang="zh-CN" sz="3200" b="1" dirty="0">
              <a:solidFill>
                <a:srgbClr val="FF0000"/>
              </a:solidFill>
            </a:endParaRPr>
          </a:p>
          <a:p>
            <a:pPr marL="446405" indent="-1905" fontAlgn="auto">
              <a:lnSpc>
                <a:spcPct val="110000"/>
              </a:lnSpc>
              <a:spcBef>
                <a:spcPts val="0"/>
              </a:spcBef>
              <a:spcAft>
                <a:spcPts val="0"/>
              </a:spcAft>
            </a:pPr>
            <a:r>
              <a:rPr lang="en-US" altLang="zh-CN" sz="3200" b="1" dirty="0">
                <a:solidFill>
                  <a:srgbClr val="FF0000"/>
                </a:solidFill>
              </a:rPr>
              <a:t>forge/establish/create</a:t>
            </a:r>
            <a:r>
              <a:rPr lang="zh-CN" altLang="en-US" sz="3200" b="1" dirty="0">
                <a:solidFill>
                  <a:srgbClr val="FF0000"/>
                </a:solidFill>
              </a:rPr>
              <a:t>/build a close/emotional bond with sb between A and B</a:t>
            </a:r>
          </a:p>
          <a:p>
            <a:pPr marL="446405" indent="-1905" fontAlgn="auto">
              <a:lnSpc>
                <a:spcPct val="110000"/>
              </a:lnSpc>
              <a:spcBef>
                <a:spcPts val="0"/>
              </a:spcBef>
              <a:spcAft>
                <a:spcPts val="0"/>
              </a:spcAft>
            </a:pPr>
            <a:r>
              <a:rPr lang="zh-CN" altLang="en-US" sz="3200" b="1" dirty="0"/>
              <a:t>与某人/在</a:t>
            </a:r>
            <a:r>
              <a:rPr lang="zh-CN" altLang="en-US" sz="3200" b="1" dirty="0">
                <a:latin typeface="+mj-ea"/>
                <a:ea typeface="+mj-ea"/>
              </a:rPr>
              <a:t>…</a:t>
            </a:r>
            <a:r>
              <a:rPr lang="en-US" altLang="zh-CN" sz="3200" b="1" dirty="0">
                <a:latin typeface="+mj-ea"/>
                <a:ea typeface="+mj-ea"/>
              </a:rPr>
              <a:t>…</a:t>
            </a:r>
            <a:r>
              <a:rPr lang="zh-CN" altLang="en-US" sz="3200" b="1" dirty="0"/>
              <a:t>之间建立紧密的关系/情感纽带</a:t>
            </a:r>
          </a:p>
          <a:p>
            <a:pPr marL="446405" indent="-1905" fontAlgn="auto">
              <a:lnSpc>
                <a:spcPct val="110000"/>
              </a:lnSpc>
              <a:spcBef>
                <a:spcPts val="0"/>
              </a:spcBef>
              <a:spcAft>
                <a:spcPts val="0"/>
              </a:spcAft>
            </a:pPr>
            <a:r>
              <a:rPr lang="en-US" altLang="zh-CN" sz="3200" b="1" dirty="0">
                <a:solidFill>
                  <a:srgbClr val="FF0000"/>
                </a:solidFill>
                <a:sym typeface="+mn-ea"/>
              </a:rPr>
              <a:t>the bond of friendship </a:t>
            </a:r>
            <a:r>
              <a:rPr lang="zh-CN" altLang="en-US" sz="3200" b="1" dirty="0">
                <a:sym typeface="+mn-ea"/>
              </a:rPr>
              <a:t>友谊的纽带</a:t>
            </a:r>
            <a:endParaRPr lang="zh-CN" altLang="en-US" sz="3200" b="1"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linds(horizont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linds(horizontal)">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linds(horizontal)">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blinds(horizontal)">
                                      <p:cBhvr>
                                        <p:cTn id="3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285750" y="361315"/>
            <a:ext cx="11516995" cy="2011045"/>
          </a:xfrm>
          <a:prstGeom prst="rect">
            <a:avLst/>
          </a:prstGeom>
          <a:noFill/>
        </p:spPr>
        <p:txBody>
          <a:bodyPr wrap="square" rtlCol="0">
            <a:spAutoFit/>
          </a:bodyPr>
          <a:lstStyle/>
          <a:p>
            <a:pPr marL="446405" indent="-446405" fontAlgn="auto">
              <a:lnSpc>
                <a:spcPct val="130000"/>
              </a:lnSpc>
              <a:spcBef>
                <a:spcPts val="0"/>
              </a:spcBef>
              <a:spcAft>
                <a:spcPts val="0"/>
              </a:spcAft>
            </a:pPr>
            <a:r>
              <a:rPr lang="en-US" altLang="zh-CN" sz="3200" b="1" dirty="0">
                <a:solidFill>
                  <a:srgbClr val="FF0000"/>
                </a:solidFill>
                <a:sym typeface="+mn-ea"/>
              </a:rPr>
              <a:t>bond </a:t>
            </a:r>
            <a:r>
              <a:rPr lang="zh-CN" altLang="en-US" sz="3200" b="1" i="1" dirty="0">
                <a:solidFill>
                  <a:srgbClr val="FF0000"/>
                </a:solidFill>
              </a:rPr>
              <a:t>v.</a:t>
            </a:r>
            <a:r>
              <a:rPr lang="zh-CN" altLang="en-US" sz="3200" b="1" dirty="0"/>
              <a:t>  </a:t>
            </a:r>
            <a:r>
              <a:rPr lang="zh-CN" altLang="en-US" sz="3200" b="1" dirty="0">
                <a:solidFill>
                  <a:srgbClr val="FF0000"/>
                </a:solidFill>
              </a:rPr>
              <a:t>与某人培养了一种关系</a:t>
            </a:r>
          </a:p>
          <a:p>
            <a:pPr marL="446405" indent="-446405" fontAlgn="auto">
              <a:lnSpc>
                <a:spcPct val="130000"/>
              </a:lnSpc>
              <a:spcBef>
                <a:spcPts val="0"/>
              </a:spcBef>
              <a:spcAft>
                <a:spcPts val="0"/>
              </a:spcAft>
            </a:pPr>
            <a:r>
              <a:rPr lang="en-US" altLang="zh-CN" sz="3200" b="1" dirty="0"/>
              <a:t>Time must be given for the teacher to </a:t>
            </a:r>
            <a:r>
              <a:rPr lang="en-US" altLang="zh-CN" sz="3200" b="1" u="sng" dirty="0">
                <a:solidFill>
                  <a:srgbClr val="FF0000"/>
                </a:solidFill>
              </a:rPr>
              <a:t>bond</a:t>
            </a:r>
            <a:r>
              <a:rPr lang="en-US" altLang="zh-CN" sz="3200" b="1" u="sng" dirty="0"/>
              <a:t> </a:t>
            </a:r>
            <a:r>
              <a:rPr lang="en-US" altLang="zh-CN" sz="3200" b="1" u="sng" dirty="0">
                <a:solidFill>
                  <a:srgbClr val="FF0000"/>
                </a:solidFill>
              </a:rPr>
              <a:t>with</a:t>
            </a:r>
            <a:r>
              <a:rPr lang="en-US" altLang="zh-CN" sz="3200" b="1" u="sng" dirty="0"/>
              <a:t> her students</a:t>
            </a:r>
            <a:r>
              <a:rPr lang="en-US" altLang="zh-CN" sz="3200" b="1" dirty="0"/>
              <a:t>.</a:t>
            </a:r>
          </a:p>
          <a:p>
            <a:pPr marL="446405" indent="-446405" fontAlgn="auto">
              <a:lnSpc>
                <a:spcPct val="130000"/>
              </a:lnSpc>
              <a:spcBef>
                <a:spcPts val="0"/>
              </a:spcBef>
              <a:spcAft>
                <a:spcPts val="0"/>
              </a:spcAft>
            </a:pPr>
            <a:r>
              <a:rPr lang="zh-CN" altLang="en-US" sz="3200" b="1"/>
              <a:t>老师和</a:t>
            </a:r>
            <a:r>
              <a:rPr lang="zh-CN" altLang="en-US" sz="3200" b="1" dirty="0"/>
              <a:t>学生之间需要时间来培养师生情谊。</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p:tgtEl>
                                          <p:spTgt spid="6">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p:tgtEl>
                                          <p:spTgt spid="6">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6">
      <a:majorFont>
        <a:latin typeface="Times New Roman"/>
        <a:ea typeface="宋体"/>
        <a:cs typeface=""/>
      </a:majorFont>
      <a:minorFont>
        <a:latin typeface="Times New Roman"/>
        <a:ea typeface="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defRPr sz="32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3009</Words>
  <Application>Microsoft Macintosh PowerPoint</Application>
  <PresentationFormat>Widescreen</PresentationFormat>
  <Paragraphs>257</Paragraphs>
  <Slides>36</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宋体</vt:lpstr>
      <vt:lpstr>Times New Roman Bold</vt:lpstr>
      <vt:lpstr>Times New Roman Bold Italic</vt:lpstr>
      <vt:lpstr>Arial</vt:lpstr>
      <vt:lpstr>Calibri</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Qing NI</cp:lastModifiedBy>
  <cp:revision>500</cp:revision>
  <dcterms:created xsi:type="dcterms:W3CDTF">2024-05-17T03:05:02Z</dcterms:created>
  <dcterms:modified xsi:type="dcterms:W3CDTF">2026-07-22T14:28:40Z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1033-6.7.1.8828</vt:lpwstr>
  </property>
  <property fmtid="{D5CDD505-2E9C-101B-9397-08002B2CF9AE}" pid="3" name="ICV">
    <vt:lpwstr>3A059DF9B23556D608BD3B643E09B625_42</vt:lpwstr>
  </property>
</Properties>
</file>