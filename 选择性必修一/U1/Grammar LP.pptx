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664" r:id="rId2"/>
    <p:sldId id="665" r:id="rId3"/>
    <p:sldId id="667" r:id="rId4"/>
    <p:sldId id="666" r:id="rId5"/>
    <p:sldId id="6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CC99FF"/>
    <a:srgbClr val="CC66FF"/>
    <a:srgbClr val="4472C4"/>
    <a:srgbClr val="0A74F9"/>
    <a:srgbClr val="CC00FF"/>
    <a:srgbClr val="ED7D31"/>
    <a:srgbClr val="00CC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225" y="205740"/>
            <a:ext cx="2827655" cy="5949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9255" y="720725"/>
            <a:ext cx="1161986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1. To eat out was also a social activity, allowing me to </a:t>
            </a:r>
            <a:r>
              <a:rPr lang="en-US" altLang="zh-CN" sz="3200" b="1" dirty="0">
                <a:solidFill>
                  <a:srgbClr val="FF0000"/>
                </a:solidFill>
              </a:rPr>
              <a:t>enhance</a:t>
            </a:r>
            <a:r>
              <a:rPr lang="en-US" altLang="zh-CN" sz="3200" b="1" dirty="0"/>
              <a:t> the relationship with my friends.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enhance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improve </a:t>
            </a:r>
            <a:r>
              <a:rPr lang="en-US" altLang="zh-CN" sz="3200" b="1" dirty="0"/>
              <a:t>something </a:t>
            </a:r>
            <a:r>
              <a:rPr lang="zh-CN" altLang="en-US" sz="3200" b="1" dirty="0">
                <a:solidFill>
                  <a:schemeClr val="tx1"/>
                </a:solidFill>
              </a:rPr>
              <a:t>提高</a:t>
            </a:r>
            <a:r>
              <a:rPr lang="en-US" altLang="zh-CN" sz="3200" b="1" dirty="0">
                <a:solidFill>
                  <a:schemeClr val="tx1"/>
                </a:solidFill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</a:rPr>
              <a:t>改进</a:t>
            </a:r>
            <a:r>
              <a:rPr lang="en-US" altLang="zh-CN" sz="3200" b="1" dirty="0">
                <a:solidFill>
                  <a:schemeClr val="tx1"/>
                </a:solidFill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</a:rPr>
              <a:t>增强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这种酱汁会增强风味。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/>
              <a:t>This sauce will </a:t>
            </a:r>
            <a:r>
              <a:rPr lang="en-US" altLang="zh-CN" sz="3200" b="1" u="sng" dirty="0">
                <a:solidFill>
                  <a:srgbClr val="FF0000"/>
                </a:solidFill>
              </a:rPr>
              <a:t>enhance the flavor</a:t>
            </a:r>
            <a:r>
              <a:rPr lang="en-US" altLang="zh-CN" sz="3200" b="1" dirty="0"/>
              <a:t>.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enhance the public image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enhance their friendship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enhance the efficiency 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/>
              <a:t>Music can keep you happy and </a:t>
            </a:r>
            <a:r>
              <a:rPr lang="en-US" altLang="zh-CN" sz="3200" b="1" dirty="0">
                <a:solidFill>
                  <a:srgbClr val="FF0000"/>
                </a:solidFill>
              </a:rPr>
              <a:t>enhance your enjoyment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of life</a:t>
            </a:r>
            <a:r>
              <a:rPr lang="en-US" altLang="zh-CN" sz="3200" b="1" dirty="0"/>
              <a:t>.</a:t>
            </a:r>
          </a:p>
          <a:p>
            <a:pPr marL="360680">
              <a:lnSpc>
                <a:spcPct val="120000"/>
              </a:lnSpc>
            </a:pPr>
            <a:r>
              <a:rPr lang="en-US" altLang="zh-CN" sz="3200" b="1" dirty="0"/>
              <a:t>提升</a:t>
            </a:r>
            <a:r>
              <a:rPr lang="zh-CN" altLang="en-US" sz="3200" b="1" dirty="0"/>
              <a:t>你的</a:t>
            </a:r>
            <a:r>
              <a:rPr lang="en-US" altLang="zh-CN" sz="3200" b="1" dirty="0"/>
              <a:t>生活乐趣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578475" y="36544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sz="3200" b="1" dirty="0"/>
              <a:t>提升公众形象</a:t>
            </a:r>
          </a:p>
        </p:txBody>
      </p:sp>
      <p:sp>
        <p:nvSpPr>
          <p:cNvPr id="3" name="Text Box 2"/>
          <p:cNvSpPr txBox="1"/>
          <p:nvPr>
            <p:custDataLst>
              <p:tags r:id="rId1"/>
            </p:custDataLst>
          </p:nvPr>
        </p:nvSpPr>
        <p:spPr>
          <a:xfrm>
            <a:off x="5578475" y="428498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sz="3200" b="1" dirty="0"/>
              <a:t>增进他们的友谊</a:t>
            </a:r>
          </a:p>
        </p:txBody>
      </p:sp>
      <p:sp>
        <p:nvSpPr>
          <p:cNvPr id="5" name="Text Box 4"/>
          <p:cNvSpPr txBox="1"/>
          <p:nvPr>
            <p:custDataLst>
              <p:tags r:id="rId2"/>
            </p:custDataLst>
          </p:nvPr>
        </p:nvSpPr>
        <p:spPr>
          <a:xfrm>
            <a:off x="5705475" y="491553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zh-CN" altLang="en-US" sz="3200" b="1" dirty="0"/>
              <a:t>提高效率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0195" y="285750"/>
            <a:ext cx="1163002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2. I’ve </a:t>
            </a:r>
            <a:r>
              <a:rPr lang="en-US" altLang="zh-CN" sz="3200" b="1" dirty="0">
                <a:solidFill>
                  <a:srgbClr val="FF0000"/>
                </a:solidFill>
              </a:rPr>
              <a:t>thrown myself into </a:t>
            </a:r>
            <a:r>
              <a:rPr lang="en-US" altLang="zh-CN" sz="3200" b="1" dirty="0"/>
              <a:t>home cooking, </a:t>
            </a:r>
            <a:r>
              <a:rPr lang="en-US" altLang="zh-CN" sz="3200" b="1" u="sng" dirty="0"/>
              <a:t>from</a:t>
            </a:r>
            <a:r>
              <a:rPr lang="en-US" altLang="zh-CN" sz="3200" b="1" dirty="0"/>
              <a:t> boiling noodles in the pot </a:t>
            </a:r>
            <a:r>
              <a:rPr lang="en-US" altLang="zh-CN" sz="3200" b="1" u="sng" dirty="0"/>
              <a:t>to</a:t>
            </a:r>
            <a:r>
              <a:rPr lang="en-US" altLang="zh-CN" sz="3200" b="1" dirty="0"/>
              <a:t> frying steak in the pan.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    </a:t>
            </a:r>
            <a:r>
              <a:rPr lang="en-US" altLang="zh-CN" sz="3200" b="1" dirty="0">
                <a:solidFill>
                  <a:srgbClr val="FF0000"/>
                </a:solidFill>
              </a:rPr>
              <a:t>throw oneself into: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start doing an activity with a lot of effort and energy</a:t>
            </a:r>
            <a:r>
              <a:rPr lang="en-US" altLang="zh-CN" sz="3200" b="1" dirty="0"/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投身于，热衷于</a:t>
            </a:r>
          </a:p>
          <a:p>
            <a:pPr marL="360680" indent="-360680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</a:endParaRP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Since her husband died, she's </a:t>
            </a:r>
            <a:r>
              <a:rPr lang="en-US" altLang="zh-CN" sz="3200" b="1" dirty="0">
                <a:solidFill>
                  <a:srgbClr val="FF0000"/>
                </a:solidFill>
              </a:rPr>
              <a:t>thrown herself into </a:t>
            </a:r>
            <a:r>
              <a:rPr lang="en-US" altLang="zh-CN" sz="3200" b="1" dirty="0"/>
              <a:t>her work.</a:t>
            </a:r>
          </a:p>
          <a:p>
            <a:pPr marL="984250" indent="-984250">
              <a:lnSpc>
                <a:spcPct val="120000"/>
              </a:lnSpc>
            </a:pPr>
            <a:r>
              <a:rPr lang="zh-CN" altLang="en-US" sz="3200" b="1" dirty="0"/>
              <a:t>尽管困难重重，他还是全心投入了研究。</a:t>
            </a:r>
          </a:p>
          <a:p>
            <a:pPr marL="984250" indent="-9842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Despite the difficulties, he threw himself into the research.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2570" y="0"/>
            <a:ext cx="1170622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60680" fontAlgn="auto">
              <a:lnSpc>
                <a:spcPct val="120000"/>
              </a:lnSpc>
            </a:pPr>
            <a:r>
              <a:rPr lang="en-US" altLang="zh-CN" sz="3200" b="1" dirty="0"/>
              <a:t>3. As long as you are not afraid of heights, you will be </a:t>
            </a:r>
            <a:r>
              <a:rPr lang="en-US" altLang="zh-CN" sz="3200" b="1" dirty="0">
                <a:solidFill>
                  <a:srgbClr val="FF0000"/>
                </a:solidFill>
              </a:rPr>
              <a:t>impressed </a:t>
            </a:r>
            <a:r>
              <a:rPr lang="en-US" altLang="zh-CN" sz="3200" b="1" dirty="0"/>
              <a:t>by Sky Buffet, ...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impress 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</a:rPr>
              <a:t> &amp; vi.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(1)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make someone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feel admiration</a:t>
            </a:r>
            <a:r>
              <a:rPr lang="en-US" altLang="zh-CN" sz="3200" b="1" dirty="0"/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使钦佩</a:t>
            </a:r>
            <a:r>
              <a:rPr lang="en-US" altLang="zh-CN" sz="3200" b="1" dirty="0">
                <a:solidFill>
                  <a:schemeClr val="tx1"/>
                </a:solidFill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</a:rPr>
              <a:t>使留下深刻印象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impress </a:t>
            </a:r>
            <a:r>
              <a:rPr lang="en-US" altLang="zh-CN" sz="3200" b="1" dirty="0" err="1">
                <a:solidFill>
                  <a:srgbClr val="FF0000"/>
                </a:solidFill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</a:rPr>
              <a:t> with / by </a:t>
            </a:r>
            <a:r>
              <a:rPr lang="en-US" altLang="zh-CN" sz="3200" b="1" dirty="0" err="1">
                <a:solidFill>
                  <a:srgbClr val="FF0000"/>
                </a:solidFill>
              </a:rPr>
              <a:t>sth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/>
              <a:t>We </a:t>
            </a:r>
            <a:r>
              <a:rPr lang="en-US" altLang="zh-CN" sz="3200" b="1" dirty="0">
                <a:solidFill>
                  <a:srgbClr val="FF0000"/>
                </a:solidFill>
              </a:rPr>
              <a:t>were</a:t>
            </a:r>
            <a:r>
              <a:rPr lang="en-US" altLang="zh-CN" sz="3200" b="1" dirty="0"/>
              <a:t> very </a:t>
            </a:r>
            <a:r>
              <a:rPr lang="en-US" altLang="zh-CN" sz="3200" b="1" dirty="0">
                <a:solidFill>
                  <a:srgbClr val="FF0000"/>
                </a:solidFill>
              </a:rPr>
              <a:t>impressed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by</a:t>
            </a:r>
            <a:r>
              <a:rPr lang="en-US" altLang="zh-CN" sz="3200" b="1" dirty="0"/>
              <a:t> the standard of work.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让我很佩服的是</a:t>
            </a:r>
            <a:r>
              <a:rPr lang="en-US" altLang="zh-CN" sz="3200" b="1" dirty="0"/>
              <a:t>...</a:t>
            </a:r>
            <a:endParaRPr lang="zh-CN" altLang="en-US" sz="3200" b="1" dirty="0"/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It impressed me that ... / I was impressed that ...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/>
              <a:t>(2)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make sb understand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the importance of sth</a:t>
            </a:r>
            <a:r>
              <a:rPr lang="en-US" altLang="zh-CN" sz="3200" b="1" dirty="0"/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使意识到，强调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/>
              <a:t>He </a:t>
            </a:r>
            <a:r>
              <a:rPr lang="en-US" altLang="zh-CN" sz="3200" b="1" u="sng" dirty="0">
                <a:solidFill>
                  <a:srgbClr val="FF0000"/>
                </a:solidFill>
              </a:rPr>
              <a:t>impressed on us the need for immediate action</a:t>
            </a:r>
            <a:r>
              <a:rPr lang="en-US" altLang="zh-CN" sz="3200" b="1" dirty="0"/>
              <a:t>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他让我们认识到立刻采取行动的必要。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266700"/>
            <a:ext cx="1204087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impression  </a:t>
            </a:r>
            <a:r>
              <a:rPr lang="en-US" altLang="zh-CN" sz="3200" b="1" i="1" dirty="0">
                <a:solidFill>
                  <a:srgbClr val="FF0000"/>
                </a:solidFill>
              </a:rPr>
              <a:t>n. </a:t>
            </a:r>
            <a:r>
              <a:rPr lang="zh-CN" altLang="en-US" sz="3200" b="1" dirty="0">
                <a:solidFill>
                  <a:srgbClr val="FF0000"/>
                </a:solidFill>
              </a:rPr>
              <a:t>印象；感想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have / get the impression (that…)  </a:t>
            </a:r>
            <a:r>
              <a:rPr lang="zh-CN" altLang="en-US" sz="3200" b="1" dirty="0"/>
              <a:t>得到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r>
              <a:rPr lang="zh-CN" altLang="en-US" sz="3200" b="1" dirty="0"/>
              <a:t>的印象</a:t>
            </a:r>
            <a:endParaRPr lang="en-US" altLang="zh-CN" sz="3200" b="1" dirty="0"/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give </a:t>
            </a:r>
            <a:r>
              <a:rPr lang="en-US" altLang="zh-CN" sz="3200" b="1" dirty="0" err="1"/>
              <a:t>sb</a:t>
            </a:r>
            <a:r>
              <a:rPr lang="en-US" altLang="zh-CN" sz="3200" b="1" dirty="0"/>
              <a:t> the impression of / that…   </a:t>
            </a:r>
            <a:r>
              <a:rPr lang="zh-CN" altLang="en-US" sz="3200" b="1" dirty="0"/>
              <a:t>给某人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r>
              <a:rPr lang="zh-CN" altLang="en-US" sz="3200" b="1" dirty="0"/>
              <a:t>的印象</a:t>
            </a:r>
            <a:endParaRPr lang="en-US" altLang="zh-CN" sz="3200" b="1" dirty="0"/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make / leave an impression (on </a:t>
            </a:r>
            <a:r>
              <a:rPr lang="en-US" altLang="zh-CN" sz="3200" b="1" dirty="0" err="1"/>
              <a:t>sb</a:t>
            </a:r>
            <a:r>
              <a:rPr lang="en-US" altLang="zh-CN" sz="3200" b="1" dirty="0"/>
              <a:t>) </a:t>
            </a:r>
            <a:r>
              <a:rPr lang="zh-CN" altLang="en-US" sz="3200" b="1" dirty="0"/>
              <a:t>给某人留下印象</a:t>
            </a:r>
          </a:p>
          <a:p>
            <a:pPr marL="360680" indent="-360680">
              <a:lnSpc>
                <a:spcPct val="120000"/>
              </a:lnSpc>
            </a:pPr>
            <a:r>
              <a:rPr lang="zh-CN" altLang="en-US" sz="3200" b="1" dirty="0"/>
              <a:t>他给我的第一印象是很幽默。</a:t>
            </a:r>
            <a:endParaRPr lang="en-US" altLang="zh-CN" sz="3200" b="1" dirty="0"/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He gives me </a:t>
            </a:r>
            <a:r>
              <a:rPr lang="en-US" altLang="zh-CN" sz="3200" b="1" dirty="0">
                <a:solidFill>
                  <a:srgbClr val="FF0000"/>
                </a:solidFill>
              </a:rPr>
              <a:t>the first impression of</a:t>
            </a:r>
            <a:r>
              <a:rPr lang="en-US" altLang="zh-CN" sz="3200" b="1" dirty="0"/>
              <a:t> being humorous.</a:t>
            </a:r>
          </a:p>
          <a:p>
            <a:pPr marL="360680" indent="-360680">
              <a:lnSpc>
                <a:spcPct val="120000"/>
              </a:lnSpc>
            </a:pPr>
            <a:endParaRPr lang="en-US" altLang="zh-CN" sz="3200" b="1" dirty="0"/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impressive </a:t>
            </a:r>
            <a:r>
              <a:rPr lang="en-US" altLang="zh-CN" sz="3200" b="1" i="1" dirty="0">
                <a:solidFill>
                  <a:srgbClr val="FF0000"/>
                </a:solidFill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令人钦佩的，使人难忘的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/>
              <a:t>His latest novel is one of the most </a:t>
            </a:r>
            <a:r>
              <a:rPr lang="en-US" altLang="zh-CN" sz="3200" b="1" dirty="0">
                <a:solidFill>
                  <a:srgbClr val="FF0000"/>
                </a:solidFill>
              </a:rPr>
              <a:t>impressive</a:t>
            </a:r>
            <a:r>
              <a:rPr lang="en-US" altLang="zh-CN" sz="3200" b="1" dirty="0"/>
              <a:t> novels of recent years.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1630" y="274320"/>
            <a:ext cx="1163129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+mj-lt"/>
            </a:endParaRPr>
          </a:p>
          <a:p>
            <a:pPr marL="443230" indent="-443230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1) We were impressed ___________ the beautiful scenery of the small mountain village as well as the friendliness of the</a:t>
            </a:r>
          </a:p>
          <a:p>
            <a:pPr marL="443230" indent="-443230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    ___________ (village).</a:t>
            </a:r>
          </a:p>
          <a:p>
            <a:pPr marL="443230" indent="-443230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2) The lady always gives others an ____________ (impress) of being very learned.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3) She was very ____________ (impress) in the interview.</a:t>
            </a:r>
          </a:p>
        </p:txBody>
      </p:sp>
      <p:sp>
        <p:nvSpPr>
          <p:cNvPr id="3" name="矩形 2"/>
          <p:cNvSpPr/>
          <p:nvPr/>
        </p:nvSpPr>
        <p:spPr>
          <a:xfrm>
            <a:off x="3469784" y="3795699"/>
            <a:ext cx="203390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impressive</a:t>
            </a:r>
          </a:p>
        </p:txBody>
      </p:sp>
      <p:sp>
        <p:nvSpPr>
          <p:cNvPr id="4" name="矩形 3"/>
          <p:cNvSpPr/>
          <p:nvPr/>
        </p:nvSpPr>
        <p:spPr>
          <a:xfrm>
            <a:off x="4495078" y="857727"/>
            <a:ext cx="16960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with / by</a:t>
            </a:r>
          </a:p>
        </p:txBody>
      </p:sp>
      <p:sp>
        <p:nvSpPr>
          <p:cNvPr id="5" name="矩形 4"/>
          <p:cNvSpPr/>
          <p:nvPr/>
        </p:nvSpPr>
        <p:spPr>
          <a:xfrm>
            <a:off x="6618633" y="2626779"/>
            <a:ext cx="2079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impression</a:t>
            </a:r>
          </a:p>
        </p:txBody>
      </p:sp>
      <p:sp>
        <p:nvSpPr>
          <p:cNvPr id="6" name="矩形 5"/>
          <p:cNvSpPr/>
          <p:nvPr/>
        </p:nvSpPr>
        <p:spPr>
          <a:xfrm>
            <a:off x="1092803" y="2043446"/>
            <a:ext cx="165036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villagers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5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360680" indent="-360680">
          <a:lnSpc>
            <a:spcPct val="120000"/>
          </a:lnSpc>
          <a:defRPr sz="3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Macintosh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宋体</vt:lpstr>
      <vt:lpstr>Times New Roman Bold</vt:lpstr>
      <vt:lpstr>Times New Roman Bold Italic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Qing NI</cp:lastModifiedBy>
  <cp:revision>449</cp:revision>
  <dcterms:created xsi:type="dcterms:W3CDTF">2024-05-17T00:49:28Z</dcterms:created>
  <dcterms:modified xsi:type="dcterms:W3CDTF">2026-07-22T14:29:22Z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1033-6.7.1.8828</vt:lpwstr>
  </property>
  <property fmtid="{D5CDD505-2E9C-101B-9397-08002B2CF9AE}" pid="3" name="ICV">
    <vt:lpwstr>91B9FBDE9F00CB28B1133D6484204575_42</vt:lpwstr>
  </property>
</Properties>
</file>