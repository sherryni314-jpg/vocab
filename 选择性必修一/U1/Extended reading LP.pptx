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3.xml" ContentType="application/vnd.openxmlformats-officedocument.themeOverride+xml"/>
  <Override PartName="/ppt/tags/tag5.xml" ContentType="application/vnd.openxmlformats-officedocument.presentationml.tags+xml"/>
  <Override PartName="/ppt/notesSlides/notesSlide2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7.xml" ContentType="application/vnd.openxmlformats-officedocument.themeOverride+xml"/>
  <Override PartName="/ppt/tags/tag6.xml" ContentType="application/vnd.openxmlformats-officedocument.presentationml.tags+xml"/>
  <Override PartName="/ppt/notesSlides/notesSlide3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69" r:id="rId2"/>
    <p:sldId id="281" r:id="rId3"/>
    <p:sldId id="312" r:id="rId4"/>
    <p:sldId id="288" r:id="rId5"/>
    <p:sldId id="290" r:id="rId6"/>
    <p:sldId id="270" r:id="rId7"/>
    <p:sldId id="283" r:id="rId8"/>
    <p:sldId id="285" r:id="rId9"/>
    <p:sldId id="292" r:id="rId10"/>
    <p:sldId id="257" r:id="rId11"/>
    <p:sldId id="258" r:id="rId12"/>
    <p:sldId id="273" r:id="rId13"/>
    <p:sldId id="274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5" r:id="rId22"/>
    <p:sldId id="275" r:id="rId23"/>
    <p:sldId id="347" r:id="rId24"/>
    <p:sldId id="276" r:id="rId25"/>
    <p:sldId id="277" r:id="rId26"/>
    <p:sldId id="348" r:id="rId27"/>
    <p:sldId id="313" r:id="rId28"/>
    <p:sldId id="349" r:id="rId29"/>
    <p:sldId id="314" r:id="rId30"/>
    <p:sldId id="315" r:id="rId31"/>
    <p:sldId id="316" r:id="rId32"/>
    <p:sldId id="318" r:id="rId33"/>
    <p:sldId id="319" r:id="rId34"/>
    <p:sldId id="363" r:id="rId35"/>
    <p:sldId id="36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 snapToGrid="0">
      <p:cViewPr varScale="1">
        <p:scale>
          <a:sx n="103" d="100"/>
          <a:sy n="103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E77EB-C438-4D49-84CD-9AE459BF85C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1F35-2BC5-4E80-9279-AB0775AC8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expand scientific knowledge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production</a:t>
            </a:r>
          </a:p>
          <a:p>
            <a:r>
              <a:rPr lang="en-US"/>
              <a:t>went digital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slight fever, headache and loss of appetite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appetizer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D110A-812B-4BD8-8E82-6708F187114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2F0AB-C35B-46FD-B12A-0E9FF8DB0C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9395" y="210185"/>
            <a:ext cx="1161034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loose rivers of sweat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summer afternoon.</a:t>
            </a:r>
          </a:p>
          <a:p>
            <a:pPr indent="-36068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让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汗流浃背</a:t>
            </a:r>
          </a:p>
          <a:p>
            <a:pPr indent="-22402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let loose sth/let sth loose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 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free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sb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/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from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whatever holds them/it in place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释放；放任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Don't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let your dog loose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 the beach.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不要让你的狗在沙滩上乱跑。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松开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loosen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不受约束地表达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release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loosed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straps that bound her arms.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他松开了绑在她手臂上的带子。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His speech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loosed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tide of nationalist sentiment.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他的讲话表露出一种强烈的民族主义情绪。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0975" y="24130"/>
            <a:ext cx="11828145" cy="6518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loose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adj. 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not fixed/tied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松动的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 that the plug has not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come loose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检查一下别让插头松脱了。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potatoes were sold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loose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not in bags.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土豆是散装而不是袋装出售。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free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不受束缚的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sheep had got out and were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road.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opposite of tight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宽松的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衣服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not solid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疏松的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 soil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not strict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不精确的，不严谨的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6068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loose translation / a loose adaptation</a:t>
            </a:r>
          </a:p>
          <a:p>
            <a:pPr indent="-360680" fontAlgn="auto">
              <a:lnSpc>
                <a:spcPct val="12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不严谨的翻译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270" y="278765"/>
            <a:ext cx="1188275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她的头发披散在肩上。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56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hair fell loose around her shoulders.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长途飞行时，穿宽松的衣服和舒适的鞋子。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long flights, wear loose clothing and comfortable shoes.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我松开牵绳，让我的狗儿奔跑起来。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loosed/let loose the rope and allowed my dog to run.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1800" y="166370"/>
            <a:ext cx="11503025" cy="645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Sichuan hot pots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perfect for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damp, foggy climate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which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were invented.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四川火锅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非常适合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其发源地潮湿多雾的气候。</a:t>
            </a:r>
          </a:p>
          <a:p>
            <a:pPr indent="-446405"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我已经到了什么都不在乎的地步。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I’ve reached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stage where/in which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just don’t care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any more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在一些情况下，压力可以变成动。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cases where/in which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pressure can be turned into motivation.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8455" y="218440"/>
            <a:ext cx="1164717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根据汉语意思完成句子。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政府正处于乐于进行会谈的阶段。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is ______________________________ it is willing to talk.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他们现在正面临着一个严重的情况，人们缺少食物和水。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now facing ______________________________ people are short of food and water.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45660" y="1375410"/>
            <a:ext cx="587565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a stage where / in which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60545" y="3131576"/>
            <a:ext cx="638111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serious situation where / in which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4795" y="256540"/>
            <a:ext cx="11794490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6068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time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include...,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appealing to people of different tastes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360680" fontAlgn="auto">
              <a:lnSpc>
                <a:spcPct val="10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随着时间的推移，它已经扩展到包括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，吸引着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喜爱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不同口味的人。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14325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vi.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increase the size, volume, quantity, or scope of; enlarge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增加，扩大；</a:t>
            </a:r>
          </a:p>
          <a:p>
            <a:pPr indent="-90170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Metals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when heated.</a:t>
            </a:r>
          </a:p>
          <a:p>
            <a:pPr indent="-901700" fontAlgn="auto">
              <a:lnSpc>
                <a:spcPct val="10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金属受热则膨胀。</a:t>
            </a:r>
          </a:p>
          <a:p>
            <a:pPr indent="-90170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 one’s vocabulary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扩大词汇量</a:t>
            </a:r>
          </a:p>
          <a:p>
            <a:pPr indent="-90170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expand/advance one’s knowledge of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扩展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知识</a:t>
            </a:r>
          </a:p>
          <a:p>
            <a:pPr indent="-90170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expand the business/economy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53670" y="137795"/>
            <a:ext cx="11883390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repeated the question and waited for her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我把问题重复了一遍，等着她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详细阐明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you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on that point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please?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请你把那一点详细说明一下好吗？</a:t>
            </a:r>
          </a:p>
          <a:p>
            <a:pPr>
              <a:lnSpc>
                <a:spcPct val="120000"/>
              </a:lnSpc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expansion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经济扩张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book is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expansion of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series of lectures given last year.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本书是去年举行的系列讲座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的扩充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0510" y="233680"/>
            <a:ext cx="11693525" cy="5963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03705" indent="-170370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appeal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对某人有吸引力，引起某人的兴趣</a:t>
            </a:r>
          </a:p>
          <a:p>
            <a:pPr marL="1703705" indent="-1703705">
              <a:lnSpc>
                <a:spcPct val="11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他请求朋友支持。</a:t>
            </a:r>
          </a:p>
          <a:p>
            <a:pPr marL="1703705" indent="-1703705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appealed 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his friends for support.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3705" indent="-170370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appeal (to…) (against…)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提起上诉</a:t>
            </a:r>
          </a:p>
          <a:p>
            <a:pPr marL="1703705" indent="-1703705">
              <a:lnSpc>
                <a:spcPct val="11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3705" indent="-1703705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make / launch an appeal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向某人呼吁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 The police are appealing _______ the public _______ the information about the crime now.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The government is appealing ______ everyone _______ (save) water.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3705" indent="-1703705">
              <a:lnSpc>
                <a:spcPct val="11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59169" y="4044444"/>
            <a:ext cx="52133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981123" y="3877820"/>
            <a:ext cx="7016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236018" y="5181987"/>
            <a:ext cx="52133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830628" y="5182429"/>
            <a:ext cx="146939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2240" y="215900"/>
            <a:ext cx="11790680" cy="41389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仿写句子。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我最喜欢这家酒店的一点在于，它提供很好的机会来放松我的心情，因为酒店四周风景优美。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love best about the hotel is that it offers a great opportunity to relax my mind since it is surrounded with beautiful scenery.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5435" y="347980"/>
            <a:ext cx="11619865" cy="3709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Served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thin, white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meat is juicy and salty.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鸭肉被简单地切成白白的薄片端上来，肉质多汁且带有咸味。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 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28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1) not decorated in any way; with nothing added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朴素的；简单的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plain food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清淡的食物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8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obvious and clear to understand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清楚的；明显的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2063750" fontAlgn="auto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plain style of architecture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简朴的建筑风格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5455" y="523240"/>
            <a:ext cx="1145349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87630" fontAlgn="auto">
              <a:lnSpc>
                <a:spcPct val="120000"/>
              </a:lnSpc>
              <a:tabLst>
                <a:tab pos="984250" algn="l"/>
                <a:tab pos="1430020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preferred clothes that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plain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but elegant.</a:t>
            </a:r>
          </a:p>
          <a:p>
            <a:pPr indent="-87630" fontAlgn="auto">
              <a:lnSpc>
                <a:spcPct val="120000"/>
              </a:lnSpc>
              <a:tabLst>
                <a:tab pos="984250" algn="l"/>
                <a:tab pos="143002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她更喜欢朴素而雅致的衣服。</a:t>
            </a:r>
          </a:p>
          <a:p>
            <a:pPr indent="-87630" fontAlgn="auto">
              <a:lnSpc>
                <a:spcPct val="120000"/>
              </a:lnSpc>
              <a:tabLst>
                <a:tab pos="984250" algn="l"/>
                <a:tab pos="1430020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meaning of the article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plain to see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 indent="-87630" fontAlgn="auto">
              <a:lnSpc>
                <a:spcPct val="120000"/>
              </a:lnSpc>
              <a:tabLst>
                <a:tab pos="984250" algn="l"/>
                <a:tab pos="143002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这篇文章的意思一目了然。</a:t>
            </a:r>
          </a:p>
          <a:p>
            <a:pPr indent="-87630" fontAlgn="auto">
              <a:lnSpc>
                <a:spcPct val="120000"/>
              </a:lnSpc>
              <a:tabLst>
                <a:tab pos="984250" algn="l"/>
                <a:tab pos="143002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plain (to sb) that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（对于某人）是清楚的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平原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mountains tower above the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高山耸立在平原之上。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255" y="361315"/>
            <a:ext cx="1147318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slice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一片面包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Everybody wants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slice/share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profits.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这利润每个人都想分一杯羹。</a:t>
            </a:r>
          </a:p>
          <a:p>
            <a:pPr>
              <a:lnSpc>
                <a:spcPct val="120000"/>
              </a:lnSpc>
            </a:pPr>
            <a:endParaRPr lang="zh-CN" alt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cut something into slices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切成片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 the cucumber thinly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把黄瓜切成薄薄的片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 sth in two/half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把……切成两半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accidentally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sliced through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 finger.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他不小心把指头割破了。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矩形 1"/>
          <p:cNvSpPr/>
          <p:nvPr/>
        </p:nvSpPr>
        <p:spPr>
          <a:xfrm>
            <a:off x="195580" y="179705"/>
            <a:ext cx="11791950" cy="415671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这刀片（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）锋利得很，一下就能割破你的手指。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blade is so sharp that it could slice through your finger.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把这些蛋切成两半后在餐盘上摆好。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 the eggs in two and arrange them on a plate.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把番茄切成片。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 the tomatoes into slices.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6090" y="860425"/>
            <a:ext cx="1139825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finished my first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recent afternoon in Nanjing, my host, Chef Zhang, told me a little more about the dish.</a:t>
            </a:r>
          </a:p>
          <a:p>
            <a:pPr marL="35433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最近的一个下午，我在南京吃完我的第一份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盐水鸭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时，我的东道主张厨师告诉了我更多关于这道菜的事情。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正当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的时候，正在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的时候，一边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一边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”，引导时间状语从句时，</a:t>
            </a:r>
          </a:p>
          <a:p>
            <a:pPr marL="35433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从句中谓语动词用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持续性动词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while/when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替换；从句中谓语动词用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非持续性动词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替换。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3248660" y="248285"/>
            <a:ext cx="5239385" cy="612140"/>
          </a:xfrm>
          <a:prstGeom prst="wedgeRoundRectCallout">
            <a:avLst>
              <a:gd name="adj1" fmla="val -20256"/>
              <a:gd name="adj2" fmla="val 81018"/>
              <a:gd name="adj3" fmla="val 16667"/>
            </a:avLst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helping: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食物的一份，一客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8285" y="236220"/>
            <a:ext cx="11503025" cy="3732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began to rain just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got off the train.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told us his adventures in the Arctic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went along.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我们一边走着，他一边给我们讲他在北极的历险故事。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Jim was reading, Jack was writing.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吉姆阅读的时候，杰克在写东西。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1965" y="379095"/>
            <a:ext cx="11359515" cy="4504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的其他用法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“因为，由于”，引导原因状语从句。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365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were out, I left a message.</a:t>
            </a:r>
          </a:p>
          <a:p>
            <a:pPr indent="53657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你不在，所以我留了一条信息。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“虽然，即使”，引导让步状语从句，从句多用倒装结构。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920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were, there was something missing.</a:t>
            </a:r>
          </a:p>
          <a:p>
            <a:pPr marL="536575" indent="9207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尽管他们很快乐，但总缺少点儿什么。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20" y="460375"/>
            <a:ext cx="11477625" cy="3430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“按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方式”，引导方式状语从句。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say!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按我说的去做！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“正如，和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一样”，用于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as/ so… as…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结构中，引导比较状语从句，从句常用省略形式。</a:t>
            </a:r>
          </a:p>
          <a:p>
            <a:pPr marL="536575" indent="-536575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not as hard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thought.</a:t>
            </a:r>
          </a:p>
          <a:p>
            <a:pPr marL="536575" indent="-536575">
              <a:lnSpc>
                <a:spcPct val="13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这没我想象得那么困难。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1475" y="355600"/>
            <a:ext cx="115316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指出下列各句中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的词性和词义。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She lost it, just as I said she would. 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As I was a child, I was interested in singing. </a:t>
            </a:r>
          </a:p>
          <a:p>
            <a:pPr indent="655002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He doesn’t earn as much as I do. _______________________</a:t>
            </a:r>
          </a:p>
          <a:p>
            <a:pPr indent="618363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As he was ill, he stayed home for a good rest. 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Young as she was, she was equal to the task. 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As it grew darker it became colder. __________________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772655" y="910590"/>
            <a:ext cx="202438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5465" y="1986122"/>
            <a:ext cx="365125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的时候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00520" y="2668270"/>
            <a:ext cx="549148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第一个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如同；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第二个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像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一样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724265" y="3811270"/>
            <a:ext cx="484187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因为，由于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661836" y="4398244"/>
            <a:ext cx="314388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尽管，虽然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16701" y="5079869"/>
            <a:ext cx="192278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5110" y="187960"/>
            <a:ext cx="1157541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Traditionally, duck is considered to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 properties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hot summer months.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suitable; right and proper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适当的，合适的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appropriate measure/method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恰当的措施／方法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appropriate to/for sth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适合某事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哪件衣服更适合这个聚会？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dress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more appropriate for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party?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it’s (not) appropriate (for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to do…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对某人来说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做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合适的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7185" y="351155"/>
            <a:ext cx="1185481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在采访中问这样的私人问题是不合适的。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 appropriate 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such personal questions in an interview.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appropriate that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be present at the meeting.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我们出席会议是合适的。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7185" y="3670300"/>
            <a:ext cx="1137729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appropriately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恰当地，合适地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new job started,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appropriately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enough, on January 1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indent="-6286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她的新工作，很恰当，正好从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日开始。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不适当的，不合适的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02" y="2805020"/>
            <a:ext cx="1165766" cy="6528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8960" y="422275"/>
            <a:ext cx="11327765" cy="564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每个场合都穿着得体。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Dress appropriately for each occasion.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问问你的医生是否这些治疗手段都适合你。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Ask your doctor whether these treatments are appropriate to/for you.</a:t>
            </a:r>
          </a:p>
          <a:p>
            <a:pPr indent="-446405"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180" y="119380"/>
            <a:ext cx="1185672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6068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... it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tens of thousands of ducks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day in Nanjing!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据估计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6068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guess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the cost, size, value, etc. of something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估计，估价</a:t>
            </a:r>
          </a:p>
          <a:p>
            <a:pPr indent="-36068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crowd at/to be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30 000.</a:t>
            </a:r>
          </a:p>
          <a:p>
            <a:pPr indent="-36068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警方估计聚集的人有 3 万。</a:t>
            </a:r>
          </a:p>
          <a:p>
            <a:pPr indent="-360680" fontAlgn="auto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gardener estimated that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would take him four hours to weed the garden.</a:t>
            </a:r>
          </a:p>
          <a:p>
            <a:pPr indent="-6286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园丁估计他给花园除草需要四个小时。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180" y="119380"/>
            <a:ext cx="1185672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6286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estimate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n.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can give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rough estimate of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amount of wood you will need.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粗略估计一下某物的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official 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estimates</a:t>
            </a:r>
            <a:r>
              <a:rPr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traffic growth over the next decade</a:t>
            </a:r>
          </a:p>
          <a:p>
            <a:pPr fontAlgn="auto">
              <a:lnSpc>
                <a:spcPct val="120000"/>
              </a:lnSpc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今后十年交通增长的官方估计</a:t>
            </a:r>
          </a:p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conservative estimate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保守估计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best estimate / an optimistic estimate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最佳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乐观估计</a:t>
            </a:r>
          </a:p>
          <a:p>
            <a:pPr fontAlgn="auto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2435" y="236220"/>
            <a:ext cx="11412855" cy="4387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tree _________________________________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被估计至少有七百年了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他们估计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the journey will take at least two weeks.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We got 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三家公司的估价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accepted the lowest.</a:t>
            </a:r>
          </a:p>
        </p:txBody>
      </p:sp>
      <p:sp>
        <p:nvSpPr>
          <p:cNvPr id="4" name="矩形 3"/>
          <p:cNvSpPr/>
          <p:nvPr/>
        </p:nvSpPr>
        <p:spPr>
          <a:xfrm>
            <a:off x="2275163" y="3198495"/>
            <a:ext cx="487616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estimates from three firms </a:t>
            </a:r>
          </a:p>
        </p:txBody>
      </p:sp>
      <p:sp>
        <p:nvSpPr>
          <p:cNvPr id="5" name="矩形 4"/>
          <p:cNvSpPr/>
          <p:nvPr/>
        </p:nvSpPr>
        <p:spPr>
          <a:xfrm>
            <a:off x="1457807" y="1991838"/>
            <a:ext cx="36810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 estimate (that)</a:t>
            </a:r>
          </a:p>
        </p:txBody>
      </p:sp>
      <p:sp>
        <p:nvSpPr>
          <p:cNvPr id="6" name="矩形 5"/>
          <p:cNvSpPr/>
          <p:nvPr/>
        </p:nvSpPr>
        <p:spPr>
          <a:xfrm>
            <a:off x="2519680" y="855345"/>
            <a:ext cx="73571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estimated to be at least 700 years 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535" y="236220"/>
            <a:ext cx="11743690" cy="57391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eat or drink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something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吃，喝；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time, energy, goods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消耗，耗费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尤指燃料、能量或时间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large quantities of chips with every meal.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他每一餐都要吃掉大量的薯条。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27% of the paper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recycled.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我们消耗的纸张只有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27%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得到回收利用。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535" y="236220"/>
            <a:ext cx="11743690" cy="57391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consumption n.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消费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水果和蔬菜的平均每日消费量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average daily consumption of fruit and vegetables</a:t>
            </a:r>
          </a:p>
          <a:p>
            <a:pPr indent="0" fontAlgn="auto">
              <a:lnSpc>
                <a:spcPct val="120000"/>
              </a:lnSpc>
            </a:pPr>
            <a:r>
              <a:rPr sz="3200" b="1"/>
              <a:t>对我们</a:t>
            </a:r>
            <a:r>
              <a:rPr lang="zh-CN" sz="3200" b="1"/>
              <a:t>增加的</a:t>
            </a:r>
            <a:r>
              <a:rPr sz="3200" b="1"/>
              <a:t>消费产生的垃圾进行回收要好过将其焚烧。</a:t>
            </a:r>
          </a:p>
          <a:p>
            <a:pPr indent="0" fontAlgn="auto"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Recycling the waste from our increased consumption is better than burning it.</a:t>
            </a:r>
          </a:p>
          <a:p>
            <a:pPr indent="0" fontAlgn="auto">
              <a:lnSpc>
                <a:spcPct val="120000"/>
              </a:lnSpc>
            </a:pPr>
            <a:endParaRPr lang="zh-CN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消费者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顾客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consumerism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消费主义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nology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impacted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consumerism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dramatically.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现代科技极大地影响了消费主义。</a:t>
            </a:r>
            <a:endParaRPr lang="zh-CN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8770" y="306705"/>
            <a:ext cx="11699875" cy="626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 customers’ appetite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over a thousand offerings, each more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delicate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delicious than the last.</a:t>
            </a: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用一千多道点心刺激着食客的食欲，一道比一道精致可口。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8705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激发，鼓励，激励</a:t>
            </a:r>
          </a:p>
          <a:p>
            <a:pPr indent="-2338705"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interest in art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her father.</a:t>
            </a:r>
          </a:p>
          <a:p>
            <a:pPr indent="-2338705"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激发兴趣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imagination/innovation/thinking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8705"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new plan is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 growth.</a:t>
            </a:r>
          </a:p>
          <a:p>
            <a:pPr indent="-2338705"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刺激经济增长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production/consumption/development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-2338705"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conference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stimulated him to study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subject in more depth.</a:t>
            </a:r>
          </a:p>
          <a:p>
            <a:pPr indent="-2338705"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激励某人去做某事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338705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stimulation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刺激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(sensory/intellectual)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18770" y="306705"/>
            <a:ext cx="11487150" cy="3457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appetite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食欲</a:t>
            </a:r>
            <a:endParaRPr lang="en-US" sz="3200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indent="-444500" fontAlgn="auto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have a good appetite</a:t>
            </a:r>
            <a:r>
              <a:rPr lang="en-US" sz="3200" b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胃口很好</a:t>
            </a:r>
          </a:p>
          <a:p>
            <a:pPr indent="-44450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satisfy one’s appetite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满足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某人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的食欲</a:t>
            </a:r>
            <a:endParaRPr lang="zh-CN" altLang="en-US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-444500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has no appetite for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that sort of work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-444500"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对……有欲望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have an appetite for ...</a:t>
            </a:r>
          </a:p>
          <a:p>
            <a:pPr indent="-444500" fontAlgn="auto">
              <a:lnSpc>
                <a:spcPct val="114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6210" y="135255"/>
            <a:ext cx="1181608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delicate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fragile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易碎的</a:t>
            </a:r>
          </a:p>
          <a:p>
            <a:pPr marL="2326005" indent="-232600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delicate ecological balance of the rainforest</a:t>
            </a:r>
          </a:p>
          <a:p>
            <a:pPr marL="2326005" indent="-232600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热带雨林极易被破坏的生态平衡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delicate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a clock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钟的精密机件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delicate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微妙的问题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(color, flavour, smell)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light and pleasant, subtle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delicate fragrance/flavour/watercolors</a:t>
            </a:r>
          </a:p>
          <a:p>
            <a:pPr marL="2326005" indent="-23260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清新的芳香；鲜美的味道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；柔和的色彩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1150" y="169545"/>
            <a:ext cx="11569700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delicately balanced flavour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精心调配的味道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stepped delicately over the broken glass.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他小心翼翼地跨过碎玻璃。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5435" y="229870"/>
            <a:ext cx="115830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286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rather on conversation about business, family or pleasure, and locals can spend hours together chatting, drinking tea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their way through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menu. </a:t>
            </a:r>
          </a:p>
          <a:p>
            <a:pPr indent="-6286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重点而是在谈生意，话家常或消遣，当地人可以花好几个小时聚在一起聊天、喝茶，慢慢吃遍菜单上所有的点心。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emphasis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强调；重视；重要性</a:t>
            </a:r>
          </a:p>
          <a:p>
            <a:pPr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viewpoints.</a:t>
            </a:r>
          </a:p>
          <a:p>
            <a:pPr indent="-28733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places/lay/put great emphasis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 management.</a:t>
            </a:r>
          </a:p>
          <a:p>
            <a:pPr indent="-287337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重视某事</a:t>
            </a:r>
          </a:p>
          <a:p>
            <a:pPr indent="-28733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gave emphasis to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0360" y="777240"/>
            <a:ext cx="11468735" cy="5850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根据括号内所给的汉语提示补全下列句子。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dress _____________________________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突出了她的身材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The leader ___________________________________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强调质量比数量更重要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We should _____________________________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更加重视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on technological development.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Schools here 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非常看中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students’ physical health.</a:t>
            </a:r>
          </a:p>
        </p:txBody>
      </p:sp>
      <p:sp>
        <p:nvSpPr>
          <p:cNvPr id="3" name="矩形 2"/>
          <p:cNvSpPr/>
          <p:nvPr/>
        </p:nvSpPr>
        <p:spPr>
          <a:xfrm>
            <a:off x="2839464" y="1504931"/>
            <a:ext cx="58388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emphsized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shape of her body</a:t>
            </a:r>
          </a:p>
        </p:txBody>
      </p:sp>
      <p:sp>
        <p:nvSpPr>
          <p:cNvPr id="4" name="矩形 3"/>
          <p:cNvSpPr/>
          <p:nvPr/>
        </p:nvSpPr>
        <p:spPr>
          <a:xfrm>
            <a:off x="2859405" y="2313305"/>
            <a:ext cx="716153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emphasized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quality is more important than quantity</a:t>
            </a:r>
          </a:p>
        </p:txBody>
      </p:sp>
      <p:sp>
        <p:nvSpPr>
          <p:cNvPr id="5" name="矩形 4"/>
          <p:cNvSpPr/>
          <p:nvPr/>
        </p:nvSpPr>
        <p:spPr>
          <a:xfrm>
            <a:off x="2839464" y="3954226"/>
            <a:ext cx="589470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/ lay / put greater emphasis</a:t>
            </a:r>
          </a:p>
        </p:txBody>
      </p:sp>
      <p:sp>
        <p:nvSpPr>
          <p:cNvPr id="6" name="矩形 5"/>
          <p:cNvSpPr/>
          <p:nvPr/>
        </p:nvSpPr>
        <p:spPr>
          <a:xfrm>
            <a:off x="3912705" y="5267661"/>
            <a:ext cx="36931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give great emphasis</a:t>
            </a:r>
          </a:p>
        </p:txBody>
      </p:sp>
      <p:sp>
        <p:nvSpPr>
          <p:cNvPr id="7" name="文本框 1"/>
          <p:cNvSpPr txBox="1"/>
          <p:nvPr>
            <p:custDataLst>
              <p:tags r:id="rId2"/>
            </p:custDataLst>
          </p:nvPr>
        </p:nvSpPr>
        <p:spPr>
          <a:xfrm>
            <a:off x="340360" y="147320"/>
            <a:ext cx="1156398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73375" indent="-2873375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emphasize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强调，重视；使突出，使明显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9875" y="393700"/>
            <a:ext cx="117043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one’s way through: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to do sth from beginning to end, especially when it takes a lot of time or effort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自始至终做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7131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board are still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their way through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forms.</a:t>
            </a:r>
          </a:p>
          <a:p>
            <a:pPr indent="-71310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董事会仍在审阅所有申请表。</a:t>
            </a:r>
          </a:p>
          <a:p>
            <a:pPr indent="-7131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链接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your way through school / college / university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勤工俭学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半工半读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n.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边缘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big house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at/on the edge 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town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cot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edges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锋利的边缘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have driven the rhino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edge of extinction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临界点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verge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had brought the country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edge of disaster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他们使国家濒临灾难。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was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edge of tears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她热泪盈眶。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cutting edge of …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(technology/fashion)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处于……的前沿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cutting-edge technology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尖端技术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(highly advanced, innovative or pioneering)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优势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advantages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companies needs to improve its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competitive edge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 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竞争力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 intensive training she had done gave her 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edge over</a:t>
            </a:r>
            <a:r>
              <a:rPr lang="en-US" altLang="zh-CN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the other runners. </a:t>
            </a:r>
            <a:r>
              <a:rPr lang="zh-CN" altLang="en-US"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超过某人的优势</a:t>
            </a: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v.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move slowly and carefully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徐徐移动</a:t>
            </a:r>
            <a:endParaRPr lang="zh-CN" altLang="en-US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She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edged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a little closer to me.</a:t>
            </a: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Emily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edged her chair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forward.</a:t>
            </a:r>
          </a:p>
          <a:p>
            <a:pPr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埃米莉把椅子慢慢地向前挪动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2841</Words>
  <Application>Microsoft Macintosh PowerPoint</Application>
  <PresentationFormat>Widescreen</PresentationFormat>
  <Paragraphs>282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323</cp:revision>
  <dcterms:created xsi:type="dcterms:W3CDTF">2024-05-28T02:38:52Z</dcterms:created>
  <dcterms:modified xsi:type="dcterms:W3CDTF">2026-07-22T14:31:13Z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5689D7A0AE931FFDA9D940648DC92428_42</vt:lpwstr>
  </property>
  <property fmtid="{D5CDD505-2E9C-101B-9397-08002B2CF9AE}" pid="3" name="KSOProductBuildVer">
    <vt:lpwstr>1033-6.7.1.8828</vt:lpwstr>
  </property>
</Properties>
</file>