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62.xml" ContentType="application/vnd.openxmlformats-officedocument.presentationml.tags+xml"/>
  <Override PartName="/ppt/theme/themeOverride1.xml" ContentType="application/vnd.openxmlformats-officedocument.themeOverride+xml"/>
  <Override PartName="/ppt/tags/tag63.xml" ContentType="application/vnd.openxmlformats-officedocument.presentationml.tags+xml"/>
  <Override PartName="/ppt/theme/themeOverride2.xml" ContentType="application/vnd.openxmlformats-officedocument.themeOverride+xml"/>
  <Override PartName="/ppt/tags/tag64.xml" ContentType="application/vnd.openxmlformats-officedocument.presentationml.tags+xml"/>
  <Override PartName="/ppt/theme/themeOverride3.xml" ContentType="application/vnd.openxmlformats-officedocument.themeOverride+xml"/>
  <Override PartName="/ppt/tags/tag6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99" r:id="rId2"/>
    <p:sldId id="300" r:id="rId3"/>
    <p:sldId id="303" r:id="rId4"/>
    <p:sldId id="301" r:id="rId5"/>
  </p:sldIdLst>
  <p:sldSz cx="12192000" cy="6858000"/>
  <p:notesSz cx="6858000" cy="9144000"/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5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C00FF"/>
    <a:srgbClr val="13742F"/>
    <a:srgbClr val="1F2DA8"/>
    <a:srgbClr val="08CAAC"/>
    <a:srgbClr val="1CAF46"/>
    <a:srgbClr val="FFFFFF"/>
    <a:srgbClr val="DCDCDC"/>
    <a:srgbClr val="F0F0F0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93" autoAdjust="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696" y="184"/>
      </p:cViewPr>
      <p:guideLst>
        <p:guide orient="horz" pos="2185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2026/7/23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530" y="1143000"/>
            <a:ext cx="548694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669949" y="2588281"/>
            <a:ext cx="10853306" cy="899167"/>
          </a:xfrm>
        </p:spPr>
        <p:txBody>
          <a:bodyPr lIns="76200" tIns="28575" rIns="19050" bIns="28575" anchor="t" anchorCtr="0">
            <a:noAutofit/>
          </a:bodyPr>
          <a:lstStyle>
            <a:lvl1pPr algn="ctr">
              <a:defRPr sz="5465" b="0" spc="45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669949" y="3566160"/>
            <a:ext cx="10853306" cy="950984"/>
          </a:xfrm>
        </p:spPr>
        <p:txBody>
          <a:bodyPr lIns="76200" tIns="28575" rIns="57150" bIns="28575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50" normalizeH="0" baseline="0">
                <a:solidFill>
                  <a:schemeClr val="tx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65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49" y="432000"/>
            <a:ext cx="10853306" cy="648000"/>
          </a:xfrm>
        </p:spPr>
        <p:txBody>
          <a:bodyPr vert="horz" lIns="76200" tIns="28575" rIns="57150" bIns="28575" rtlCol="0" anchor="ctr" anchorCtr="0">
            <a:noAutofit/>
          </a:bodyPr>
          <a:lstStyle>
            <a:lvl1pPr marL="0" marR="0" algn="l" defTabSz="6858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69949" y="1296000"/>
            <a:ext cx="10853306" cy="5041355"/>
          </a:xfrm>
        </p:spPr>
        <p:txBody>
          <a:bodyPr vert="horz" lIns="76200" tIns="0" rIns="61913" bIns="0" rtlCol="0">
            <a:noAutofit/>
          </a:bodyPr>
          <a:lstStyle>
            <a:lvl1pPr marL="228600" marR="0" lvl="0" indent="-22860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tabLst>
                <a:tab pos="1207135" algn="l"/>
              </a:tabLst>
              <a:defRPr kumimoji="0" lang="zh-CN" altLang="en-US" sz="16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97" y="3808731"/>
            <a:ext cx="10853306" cy="624845"/>
          </a:xfrm>
        </p:spPr>
        <p:txBody>
          <a:bodyPr lIns="76200" tIns="28575" rIns="47625" bIns="28575" anchor="t" anchorCtr="0">
            <a:noAutofit/>
          </a:bodyPr>
          <a:lstStyle>
            <a:lvl1pPr>
              <a:defRPr sz="3600" b="0" u="none" strike="noStrike" kern="1200" cap="none" spc="225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69991" y="4511676"/>
            <a:ext cx="10853306" cy="1077985"/>
          </a:xfrm>
        </p:spPr>
        <p:txBody>
          <a:bodyPr lIns="76200" tIns="28575" rIns="57150" bIns="28575">
            <a:no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13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49" y="432000"/>
            <a:ext cx="10853306" cy="648000"/>
          </a:xfrm>
        </p:spPr>
        <p:txBody>
          <a:bodyPr vert="horz" lIns="76200" tIns="28575" rIns="57150" bIns="28575" rtlCol="0" anchor="ctr" anchorCtr="0">
            <a:noAutofit/>
          </a:bodyPr>
          <a:lstStyle>
            <a:lvl1pPr marL="0" marR="0" lvl="0" algn="l" defTabSz="6858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69995" y="1296000"/>
            <a:ext cx="5283763" cy="5040000"/>
          </a:xfrm>
        </p:spPr>
        <p:txBody>
          <a:bodyPr vert="horz" lIns="76200" tIns="0" rIns="61913" bIns="0" rtlCol="0">
            <a:noAutofit/>
          </a:bodyPr>
          <a:lstStyle>
            <a:lvl1pPr marL="228600" marR="0" lvl="0" indent="-22860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tabLst>
                <a:tab pos="1207135" algn="l"/>
              </a:tabLst>
              <a:defRPr kumimoji="0" lang="zh-CN" altLang="en-US" sz="16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239492" y="1296000"/>
            <a:ext cx="5283763" cy="5040000"/>
          </a:xfr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49" y="432000"/>
            <a:ext cx="10853306" cy="648000"/>
          </a:xfrm>
        </p:spPr>
        <p:txBody>
          <a:bodyPr vert="horz" lIns="76200" tIns="28575" rIns="57150" bIns="28575" rtlCol="0" anchor="ctr" anchorCtr="0">
            <a:noAutofit/>
          </a:bodyPr>
          <a:lstStyle>
            <a:lvl1pPr marL="0" marR="0" lvl="0" algn="l" defTabSz="6858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69995" y="1296001"/>
            <a:ext cx="5283763" cy="381003"/>
          </a:xfrm>
        </p:spPr>
        <p:txBody>
          <a:bodyPr lIns="76200" tIns="28575" rIns="57150" bIns="28575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150" normalizeH="0" baseline="0">
                <a:solidFill>
                  <a:schemeClr val="tx1"/>
                </a:solidFill>
                <a:uFillTx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65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69991" y="1789043"/>
            <a:ext cx="5283720" cy="4552235"/>
          </a:xfrm>
        </p:spPr>
        <p:txBody>
          <a:bodyPr vert="horz" lIns="76200" tIns="0" rIns="61913" bIns="0" rtlCol="0">
            <a:noAutofit/>
          </a:bodyPr>
          <a:lstStyle>
            <a:lvl1pPr marL="228600" marR="0" lvl="0" indent="-22860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tabLst>
                <a:tab pos="1207135" algn="l"/>
              </a:tabLst>
              <a:defRPr kumimoji="0" lang="zh-CN" altLang="en-US" sz="16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6363" y="1296001"/>
            <a:ext cx="5283763" cy="381003"/>
          </a:xfrm>
        </p:spPr>
        <p:txBody>
          <a:bodyPr vert="horz" lIns="76200" tIns="28575" rIns="57150" bIns="28575" rtlCol="0" anchor="t" anchorCtr="0">
            <a:noAutofit/>
          </a:bodyPr>
          <a:lstStyle>
            <a:lvl1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65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6363" y="1789043"/>
            <a:ext cx="5283763" cy="4552235"/>
          </a:xfrm>
        </p:spPr>
        <p:txBody>
          <a:bodyPr vert="horz" lIns="76200" tIns="0" rIns="61913" bIns="0" rtlCol="0">
            <a:noAutofit/>
          </a:bodyPr>
          <a:lstStyle>
            <a:lvl1pPr marL="228600" marR="0" lvl="0" indent="-22860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tabLst>
                <a:tab pos="1207135" algn="l"/>
              </a:tabLst>
              <a:defRPr kumimoji="0" lang="zh-CN" altLang="en-US" sz="16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76200" tIns="28575" rIns="57150" bIns="28575" rtlCol="0" anchor="ctr" anchorCtr="0">
            <a:noAutofit/>
          </a:bodyPr>
          <a:lstStyle>
            <a:lvl1pPr marL="0" marR="0" lvl="0" algn="l" defTabSz="6858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blipFill>
          <a:blip r:embed="rId8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69995" y="1296000"/>
            <a:ext cx="5283763" cy="5040000"/>
          </a:xfrm>
        </p:spPr>
        <p:txBody>
          <a:bodyPr vert="horz" lIns="76200" tIns="0" rIns="61913" bIns="0" rtlCol="0">
            <a:noAutofit/>
          </a:bodyPr>
          <a:lstStyle>
            <a:lvl1pPr marL="0" marR="0" lvl="0" indent="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tabLst>
                <a:tab pos="1207135" algn="l"/>
              </a:tabLst>
              <a:defRPr kumimoji="0" lang="zh-CN" altLang="en-US" sz="16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239540" y="1296000"/>
            <a:ext cx="5283763" cy="5040000"/>
          </a:xfrm>
        </p:spPr>
        <p:txBody>
          <a:bodyPr vert="horz" lIns="76200" tIns="0" rIns="61913" bIns="0" rtlCol="0">
            <a:normAutofit/>
          </a:bodyPr>
          <a:lstStyle>
            <a:lvl1pPr marL="228600" marR="0" lvl="0" indent="-22860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2026/7/23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"/>
            </p:custDataLst>
          </p:nvPr>
        </p:nvSpPr>
        <p:spPr>
          <a:xfrm>
            <a:off x="10572176" y="952509"/>
            <a:ext cx="951078" cy="5388907"/>
          </a:xfrm>
        </p:spPr>
        <p:txBody>
          <a:bodyPr vert="eaVert" lIns="76200" tIns="28575" rIns="57150" bIns="28575" rtlCol="0" anchor="ctr" anchorCtr="0">
            <a:noAutofit/>
          </a:bodyPr>
          <a:lstStyle>
            <a:lvl1pPr marL="0" marR="0" lvl="0" algn="l" defTabSz="6858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669991" y="952501"/>
            <a:ext cx="9829069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69997" y="952508"/>
            <a:ext cx="10853306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69949" y="2588281"/>
            <a:ext cx="10853306" cy="899167"/>
          </a:xfrm>
        </p:spPr>
        <p:txBody>
          <a:bodyPr vert="horz" lIns="76200" tIns="28575" rIns="19050" bIns="28575" rtlCol="0" anchor="t" anchorCtr="0">
            <a:noAutofit/>
          </a:bodyPr>
          <a:lstStyle>
            <a:lvl1pPr marL="0" marR="0" algn="ctr" defTabSz="685800" rtl="0" eaLnBrk="1" fontAlgn="auto" latinLnBrk="0" hangingPunct="1">
              <a:lnSpc>
                <a:spcPct val="100000"/>
              </a:lnSpc>
              <a:buNone/>
              <a:defRPr kumimoji="0" lang="zh-CN" altLang="en-US" sz="5465" b="0" i="0" u="none" strike="noStrike" kern="1200" cap="none" spc="45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DCDCDC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69949" y="432000"/>
            <a:ext cx="10853306" cy="648000"/>
          </a:xfrm>
          <a:prstGeom prst="rect">
            <a:avLst/>
          </a:prstGeom>
        </p:spPr>
        <p:txBody>
          <a:bodyPr vert="horz" lIns="76200" tIns="28575" rIns="57150" bIns="28575" rtlCol="0" anchor="ctr" anchorCtr="0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69949" y="1296000"/>
            <a:ext cx="10853306" cy="5040000"/>
          </a:xfrm>
          <a:prstGeom prst="rect">
            <a:avLst/>
          </a:prstGeom>
        </p:spPr>
        <p:txBody>
          <a:bodyPr vert="horz" lIns="76200" tIns="0" rIns="61913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879829" y="6349833"/>
            <a:ext cx="2700266" cy="316800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405" y="6349833"/>
            <a:ext cx="3960390" cy="316800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611448" y="6349833"/>
            <a:ext cx="2700266" cy="316800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5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600" u="none" strike="noStrike" kern="1200" cap="none" spc="113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13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600" u="none" strike="noStrike" kern="1200" cap="none" spc="113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600" u="none" strike="noStrike" kern="1200" cap="none" spc="113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600" u="none" strike="noStrike" kern="1200" cap="none" spc="113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3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4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5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/>
          <p:cNvSpPr txBox="1"/>
          <p:nvPr/>
        </p:nvSpPr>
        <p:spPr>
          <a:xfrm>
            <a:off x="418022" y="1941567"/>
            <a:ext cx="10810813" cy="127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312420" indent="-312420">
              <a:lnSpc>
                <a:spcPct val="120000"/>
              </a:lnSpc>
              <a:defRPr sz="3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1341755" indent="-1341755"/>
            <a:r>
              <a:rPr lang="en-US" altLang="zh-CN" dirty="0">
                <a:solidFill>
                  <a:srgbClr val="FF0000"/>
                </a:solidFill>
              </a:rPr>
              <a:t>Arrange</a:t>
            </a:r>
            <a:r>
              <a:rPr lang="en-US" altLang="zh-CN" dirty="0"/>
              <a:t> the vegetables on the toast to create your portrait.</a:t>
            </a:r>
          </a:p>
          <a:p>
            <a:pPr marL="1341755" indent="-1341755"/>
            <a:r>
              <a:rPr lang="zh-CN" altLang="en-US" dirty="0">
                <a:latin typeface="宋体" pitchFamily="2" charset="-122"/>
                <a:ea typeface="宋体" pitchFamily="2" charset="-122"/>
              </a:rPr>
              <a:t>把蔬菜排列在吐司上，做成你的肖像。</a:t>
            </a:r>
            <a:endParaRPr lang="en-US" altLang="zh-CN" dirty="0"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3311" y="539362"/>
            <a:ext cx="7077265" cy="1378344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572401" y="3108025"/>
            <a:ext cx="11286297" cy="3046988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2511425" indent="-251142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arrange</a:t>
            </a:r>
            <a:r>
              <a:rPr lang="en-US" altLang="zh-CN" sz="3200" dirty="0">
                <a:solidFill>
                  <a:srgbClr val="FF0000"/>
                </a:solidFill>
              </a:rPr>
              <a:t>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</a:t>
            </a:r>
            <a:r>
              <a:rPr lang="en-US" altLang="zh-CN" sz="3200" dirty="0">
                <a:solidFill>
                  <a:srgbClr val="FF0000"/>
                </a:solidFill>
              </a:rPr>
              <a:t>  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1) to put a group of things or people in a particular order or position 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整理，排列，布置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e.g. I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arranged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the books on the shelves.</a:t>
            </a:r>
          </a:p>
          <a:p>
            <a:pPr indent="71310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The photos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are arranged 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in chronological order. </a:t>
            </a:r>
            <a:endParaRPr lang="zh-CN" altLang="en-US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71310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She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arranged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the flowers in a vase.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/>
          <p:cNvSpPr txBox="1"/>
          <p:nvPr/>
        </p:nvSpPr>
        <p:spPr>
          <a:xfrm>
            <a:off x="442406" y="1375068"/>
            <a:ext cx="10810813" cy="2456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312420" indent="-312420">
              <a:lnSpc>
                <a:spcPct val="120000"/>
              </a:lnSpc>
              <a:defRPr sz="3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450850" indent="-450850">
              <a:tabLst>
                <a:tab pos="450850" algn="l"/>
              </a:tabLst>
            </a:pPr>
            <a:r>
              <a:rPr lang="en-US" altLang="zh-CN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2) to organize or make plans for something such as a meeting, party, or trip 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安排，筹划</a:t>
            </a:r>
            <a:endParaRPr lang="en-US" altLang="zh-CN" dirty="0"/>
          </a:p>
          <a:p>
            <a:pPr marL="1341755" indent="-1341755"/>
            <a:r>
              <a:rPr lang="en-US" altLang="zh-CN" dirty="0"/>
              <a:t>e.g. The party </a:t>
            </a:r>
            <a:r>
              <a:rPr lang="en-US" altLang="zh-CN" dirty="0">
                <a:solidFill>
                  <a:srgbClr val="FF0000"/>
                </a:solidFill>
              </a:rPr>
              <a:t>was arranged </a:t>
            </a:r>
            <a:r>
              <a:rPr lang="en-US" altLang="zh-CN" dirty="0"/>
              <a:t>quickly.   </a:t>
            </a:r>
          </a:p>
          <a:p>
            <a:pPr marL="1341755" indent="-713105"/>
            <a:r>
              <a:rPr lang="en-US" altLang="zh-CN" dirty="0"/>
              <a:t>He went to England </a:t>
            </a:r>
            <a:r>
              <a:rPr lang="en-US" altLang="zh-CN" dirty="0">
                <a:solidFill>
                  <a:srgbClr val="FF0000"/>
                </a:solidFill>
              </a:rPr>
              <a:t>to arrange </a:t>
            </a:r>
            <a:r>
              <a:rPr lang="en-US" altLang="zh-CN" dirty="0"/>
              <a:t>for his boy’s education.    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42406" y="3838395"/>
            <a:ext cx="8436864" cy="127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41755" indent="-1341755">
              <a:lnSpc>
                <a:spcPct val="120000"/>
              </a:lnSpc>
            </a:pPr>
            <a:r>
              <a:rPr lang="zh-CN" altLang="zh-CN" sz="3200" b="1" dirty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【拓展】</a:t>
            </a:r>
          </a:p>
          <a:p>
            <a:pPr marL="1341755" indent="-134175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arrangement 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n. 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安排；排列，排出的样子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02840" y="1354263"/>
            <a:ext cx="10386320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语块积累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】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arrange about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. 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为某事做准备或安排</a:t>
            </a:r>
            <a:endParaRPr lang="en-US" altLang="zh-CN" sz="3200" b="1" dirty="0">
              <a:latin typeface="宋体" pitchFamily="2" charset="-122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arrange with sb. about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. 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与某人安排好某事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arrange sth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安排某事</a:t>
            </a:r>
          </a:p>
          <a:p>
            <a:pPr>
              <a:lnSpc>
                <a:spcPct val="120000"/>
              </a:lnSpc>
            </a:pP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arrange an appointment for 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……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安排约会</a:t>
            </a:r>
            <a:endParaRPr lang="en-US" altLang="zh-CN" sz="3200" b="1" dirty="0">
              <a:latin typeface="宋体" pitchFamily="2" charset="-122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arrange for sb. to do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. 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安排某人做某事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make arrangements for sb to do sth 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为某人安排做某事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46265" y="1460665"/>
            <a:ext cx="11008426" cy="4228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单句语法填空。</a:t>
            </a:r>
            <a:endParaRPr lang="en-US" altLang="zh-CN" sz="3200" b="1" dirty="0">
              <a:solidFill>
                <a:srgbClr val="0000FF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1) she’s happy with her unusual living ___________ (arrange).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2) I will arrange for someone ___________ (take) you round our new school.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3) I’m going to arrange ___________ him about the concert.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4) The staff is working frantically on final _____________ (arrange) for the summit.</a:t>
            </a:r>
            <a:endParaRPr lang="zh-CN" altLang="en-US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125195" y="2018805"/>
            <a:ext cx="2624436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arrangements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50478" y="2650516"/>
            <a:ext cx="1483098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to take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311254" y="3879936"/>
            <a:ext cx="958917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with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956468" y="4354949"/>
            <a:ext cx="2624436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arrangements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2、3、6、8、10、11、12、15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lnSpc>
            <a:spcPct val="120000"/>
          </a:lnSpc>
          <a:defRPr sz="3200" b="1" dirty="0" smtClean="0">
            <a:latin typeface="Times New Roman" panose="02020603050405020304" pitchFamily="18" charset="0"/>
            <a:ea typeface="宋体" pitchFamily="2" charset="-122"/>
            <a:cs typeface="Times New Roman" panose="020206030504050203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271</Words>
  <Application>Microsoft Macintosh PowerPoint</Application>
  <PresentationFormat>Widescreen</PresentationFormat>
  <Paragraphs>28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微软雅黑</vt:lpstr>
      <vt:lpstr>宋体</vt:lpstr>
      <vt:lpstr>Arial</vt:lpstr>
      <vt:lpstr>Times New Roman</vt:lpstr>
      <vt:lpstr>Office 主题​​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123</cp:revision>
  <dcterms:created xsi:type="dcterms:W3CDTF">2023-05-24T02:43:02Z</dcterms:created>
  <dcterms:modified xsi:type="dcterms:W3CDTF">2026-07-23T00:57:36Z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1033-5.4.1.7920</vt:lpwstr>
  </property>
  <property fmtid="{D5CDD505-2E9C-101B-9397-08002B2CF9AE}" pid="3" name="ICV">
    <vt:lpwstr>5535E810C5CD1DF423CA69642852FAD1_42</vt:lpwstr>
  </property>
</Properties>
</file>