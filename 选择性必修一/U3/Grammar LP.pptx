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1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348" r:id="rId2"/>
    <p:sldId id="351" r:id="rId3"/>
    <p:sldId id="349" r:id="rId4"/>
    <p:sldId id="350" r:id="rId5"/>
    <p:sldId id="352" r:id="rId6"/>
    <p:sldId id="353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3" userDrawn="1">
          <p15:clr>
            <a:srgbClr val="A4A3A4"/>
          </p15:clr>
        </p15:guide>
        <p15:guide id="2" pos="380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FF"/>
    <a:srgbClr val="FFFFCC"/>
    <a:srgbClr val="1F2DA8"/>
    <a:srgbClr val="DCDCDC"/>
    <a:srgbClr val="F0F0F0"/>
    <a:srgbClr val="E6E6E6"/>
    <a:srgbClr val="C8C8C8"/>
    <a:srgbClr val="FFFFFF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93" autoAdjust="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696" y="184"/>
      </p:cViewPr>
      <p:guideLst>
        <p:guide orient="horz" pos="2123"/>
        <p:guide pos="3806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2026/7/23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‹#›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in the shadow of sth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5" Type="http://schemas.openxmlformats.org/officeDocument/2006/relationships/image" Target="../media/image1.jpe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669882" y="25882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669882" y="3566160"/>
            <a:ext cx="10852237" cy="950984"/>
          </a:xfr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69882" y="1296000"/>
            <a:ext cx="10852237" cy="504135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30" y="3808730"/>
            <a:ext cx="10852237" cy="624845"/>
          </a:xfrm>
        </p:spPr>
        <p:txBody>
          <a:bodyPr lIns="101600" tIns="38100" rIns="63500" bIns="38100" anchor="t" anchorCtr="0">
            <a:noAutofit/>
          </a:bodyPr>
          <a:lstStyle>
            <a:lvl1pPr>
              <a:defRPr sz="3600" b="0" u="none" strike="noStrike" kern="1200" cap="none" spc="300" normalizeH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69925" y="4511675"/>
            <a:ext cx="10852237" cy="1077985"/>
          </a:xfrm>
        </p:spPr>
        <p:txBody>
          <a:bodyPr lIns="101600"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69930" y="1296000"/>
            <a:ext cx="5283242" cy="50400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238877" y="1296000"/>
            <a:ext cx="5283242" cy="5040000"/>
          </a:xfrm>
        </p:spPr>
        <p:txBody>
          <a:bodyPr>
            <a:noAutofit/>
          </a:bodyPr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69930" y="1296000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69925" y="1789043"/>
            <a:ext cx="5283200" cy="455223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296000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789043"/>
            <a:ext cx="5283242" cy="455223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>
          <a:blip r:embed="rId5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69930" y="1296000"/>
            <a:ext cx="5283242" cy="504000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238925" y="1296000"/>
            <a:ext cx="5283242" cy="50400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2026/7/23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69930" y="952508"/>
            <a:ext cx="10852237" cy="504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69882" y="2588281"/>
            <a:ext cx="10852237" cy="899167"/>
          </a:xfrm>
        </p:spPr>
        <p:txBody>
          <a:bodyPr vert="horz" lIns="101600" tIns="38100" rIns="25400" bIns="381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5400" b="0" i="0" u="none" strike="noStrike" kern="1200" cap="none" spc="60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DCDCDC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69882" y="1296000"/>
            <a:ext cx="10852237" cy="504000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-299" y="-24"/>
            <a:ext cx="11169569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shade </a:t>
            </a:r>
            <a:r>
              <a:rPr lang="en-US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n.</a:t>
            </a:r>
          </a:p>
          <a:p>
            <a:pPr marL="358775" indent="-358775">
              <a:lnSpc>
                <a:spcPct val="12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1) </a:t>
            </a:r>
            <a:r>
              <a:rPr 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U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阴凉处，树荫</a:t>
            </a:r>
          </a:p>
          <a:p>
            <a:pPr marL="358775" indent="-358775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We sat down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in the shade of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the wall.</a:t>
            </a:r>
          </a:p>
          <a:p>
            <a:pPr marL="358775" indent="-358775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The temperature can reach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 40°C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in the shade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.</a:t>
            </a:r>
            <a:endParaRPr lang="zh-CN" altLang="en-US" sz="3200" b="1" dirty="0">
              <a:solidFill>
                <a:schemeClr val="tx1"/>
              </a:solidFill>
              <a:latin typeface="Times New Roman Bold Italic" panose="02020503050405090304" charset="0"/>
              <a:ea typeface="宋体" pitchFamily="2" charset="-122"/>
              <a:cs typeface="Times New Roman Bold Italic" panose="02020503050405090304" charset="0"/>
            </a:endParaRPr>
          </a:p>
          <a:p>
            <a:pPr marL="358775" indent="-358775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The trees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provide shade for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the animals in the summer.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2)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阴影</a:t>
            </a:r>
          </a:p>
          <a:p>
            <a:pPr marL="358775" indent="-358775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The painting needs more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light and shade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.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明暗层次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3)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色度</a:t>
            </a:r>
          </a:p>
          <a:p>
            <a:pPr marL="358775" indent="-358775"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a delicate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/soft 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shade of blue</a:t>
            </a:r>
          </a:p>
          <a:p>
            <a:pPr marL="358775" indent="-358775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淡淡的柔和的蓝色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His car was painted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an unusual shade of blue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.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-299" y="-24"/>
            <a:ext cx="11169569" cy="2453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shade </a:t>
            </a:r>
            <a:r>
              <a:rPr lang="en-US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n.</a:t>
            </a:r>
          </a:p>
          <a:p>
            <a:pPr marL="358775" indent="-358775">
              <a:lnSpc>
                <a:spcPct val="120000"/>
              </a:lnSpc>
            </a:pPr>
            <a:r>
              <a:rPr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I tried hard but her work </a:t>
            </a:r>
            <a:r>
              <a:rPr sz="3200" b="1" u="sng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put</a:t>
            </a:r>
            <a:r>
              <a:rPr lang="en-US" sz="3200" b="1" u="sng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/leave</a:t>
            </a:r>
            <a:r>
              <a:rPr sz="3200" b="1" u="sng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mine in the shade</a:t>
            </a:r>
            <a:r>
              <a:rPr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.</a:t>
            </a:r>
          </a:p>
          <a:p>
            <a:pPr marL="358775" indent="-358775">
              <a:lnSpc>
                <a:spcPct val="120000"/>
              </a:lnSpc>
            </a:pPr>
            <a:r>
              <a:rPr sz="3200" b="1" dirty="0">
                <a:ea typeface="宋体" pitchFamily="2" charset="-122"/>
              </a:rPr>
              <a:t>我费了很大力气，但她的成果让我</a:t>
            </a:r>
            <a:r>
              <a:rPr sz="3200" b="1" u="sng" dirty="0">
                <a:ea typeface="宋体" pitchFamily="2" charset="-122"/>
              </a:rPr>
              <a:t>相形见绌</a:t>
            </a:r>
            <a:r>
              <a:rPr sz="3200" b="1" dirty="0">
                <a:ea typeface="宋体" pitchFamily="2" charset="-122"/>
              </a:rPr>
              <a:t>。</a:t>
            </a:r>
          </a:p>
          <a:p>
            <a:pPr marL="358775" indent="-358775">
              <a:lnSpc>
                <a:spcPct val="120000"/>
              </a:lnSpc>
            </a:pPr>
            <a:r>
              <a:rPr lang="en-US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put sb/sth to shame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-299" y="-24"/>
            <a:ext cx="11169569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58775" fontAlgn="auto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wonder at sth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对……感到惊奇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(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be surprised by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</a:t>
            </a:r>
          </a:p>
          <a:p>
            <a:pPr indent="-358775" fontAlgn="auto">
              <a:lnSpc>
                <a:spcPct val="12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He's gone and left us to do all the work, I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shouldn't wonder.</a:t>
            </a:r>
          </a:p>
          <a:p>
            <a:pPr indent="-358775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对此不感到奇怪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(wouldn’t be surprised if he had)</a:t>
            </a:r>
            <a:endParaRPr 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358775" fontAlgn="auto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I wonder (that)</a:t>
            </a:r>
            <a:r>
              <a:rPr 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he didn't hurt himself jumping over that wall.</a:t>
            </a:r>
          </a:p>
          <a:p>
            <a:pPr indent="-358775" fontAlgn="auto">
              <a:lnSpc>
                <a:spcPct val="120000"/>
              </a:lnSpc>
            </a:pPr>
            <a:endParaRPr lang="en-US" sz="3200" b="1" dirty="0">
              <a:solidFill>
                <a:schemeClr val="tx1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 indent="-358775" fontAlgn="auto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wonder if/whether ...</a:t>
            </a:r>
            <a:r>
              <a:rPr 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不知是否可以</a:t>
            </a:r>
          </a:p>
          <a:p>
            <a:pPr indent="-35877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wonder about sth/ wonder who (where)...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想知道</a:t>
            </a:r>
          </a:p>
          <a:p>
            <a:pPr indent="-358775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We were 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wondering about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next April for the wedding.</a:t>
            </a:r>
          </a:p>
          <a:p>
            <a:pPr indent="-358775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'What should I do now?' she 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wondered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.</a:t>
            </a:r>
          </a:p>
          <a:p>
            <a:pPr indent="-358775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“我现在该怎么办呢？” 她自忖道。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-299" y="-24"/>
            <a:ext cx="11169569" cy="3044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wonder n. </a:t>
            </a:r>
          </a:p>
          <a:p>
            <a:pPr marL="358775" indent="-358775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do wonders for sb/sth </a:t>
            </a:r>
          </a:p>
          <a:p>
            <a:pPr marL="358775" indent="-358775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对……产生作用</a:t>
            </a:r>
          </a:p>
          <a:p>
            <a:pPr marL="358775" indent="-358775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She gazed down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in wonder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at the city spread below her.</a:t>
            </a:r>
          </a:p>
          <a:p>
            <a:pPr marL="358775" indent="-358775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她俯瞰展现在眼前的城市，惊叹不已。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-299" y="-24"/>
            <a:ext cx="11169569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bathe v</a:t>
            </a:r>
            <a:r>
              <a:rPr lang="en-US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. </a:t>
            </a:r>
            <a:r>
              <a:rPr 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(</a:t>
            </a:r>
            <a:r>
              <a:rPr lang="en-US" sz="3200" b="1" dirty="0"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光线</a:t>
            </a:r>
            <a:r>
              <a:rPr 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)</a:t>
            </a:r>
            <a:r>
              <a:rPr lang="en-US" sz="3200" b="1" dirty="0"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洒满，覆盖；使沐浴在（光线中）</a:t>
            </a:r>
            <a:endParaRPr lang="en-US" sz="3200" b="1" i="1" dirty="0">
              <a:solidFill>
                <a:srgbClr val="FF0000"/>
              </a:solidFill>
              <a:latin typeface="Times New Roman Bold Italic" panose="02020503050405090304" charset="0"/>
              <a:ea typeface="宋体" pitchFamily="2" charset="-122"/>
              <a:cs typeface="Times New Roman Bold Italic" panose="02020503050405090304" charset="0"/>
            </a:endParaRPr>
          </a:p>
          <a:p>
            <a:pPr marL="358775" indent="-358775">
              <a:lnSpc>
                <a:spcPct val="120000"/>
              </a:lnSpc>
            </a:pPr>
            <a:r>
              <a:rPr 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The moon </a:t>
            </a:r>
            <a:r>
              <a:rPr lang="en-US" sz="3200" b="1" u="sng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bathed the countryside in a silver light</a:t>
            </a:r>
            <a:r>
              <a:rPr 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.</a:t>
            </a:r>
          </a:p>
          <a:p>
            <a:pPr marL="358775" indent="-358775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月光下的乡村沐浴在一片银辉中。</a:t>
            </a:r>
          </a:p>
          <a:p>
            <a:pPr marL="358775" indent="-358775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山谷沐浴着阳光。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T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he valley 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was bathed in sunlight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.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他身后的灯光似乎将他笼罩在一片温暖之中</a:t>
            </a:r>
            <a:endParaRPr lang="en-US" altLang="zh-CN" sz="3200" b="1" dirty="0">
              <a:solidFill>
                <a:schemeClr val="tx1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The lamp behind him seems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bathe him in warmth.</a:t>
            </a:r>
            <a:endParaRPr lang="en-US" altLang="zh-CN" sz="3200" b="1" dirty="0">
              <a:solidFill>
                <a:schemeClr val="tx1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The athlete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was bathed in sweat.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汗流浃背</a:t>
            </a:r>
          </a:p>
          <a:p>
            <a:pPr marL="358775" indent="-358775">
              <a:lnSpc>
                <a:spcPct val="12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 marL="358775" indent="-358775"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Bathe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the infected area in a salt solution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.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浸泡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-299" y="-24"/>
            <a:ext cx="11169569" cy="363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be reduced to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被迫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进入一种状态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endParaRPr 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358775" indent="-358775">
              <a:lnSpc>
                <a:spcPct val="12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She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was reduced to tears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by their criticisms.</a:t>
            </a:r>
          </a:p>
          <a:p>
            <a:pPr marL="358775" indent="-358775">
              <a:lnSpc>
                <a:spcPct val="12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他们的批评使她流下了眼泪。</a:t>
            </a:r>
          </a:p>
          <a:p>
            <a:pPr marL="358775" indent="-358775">
              <a:lnSpc>
                <a:spcPct val="12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They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were reduced to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begging in the streets.</a:t>
            </a:r>
          </a:p>
          <a:p>
            <a:pPr marL="358775" indent="-358775">
              <a:lnSpc>
                <a:spcPct val="12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他们沦落到沿街乞讨。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be reduced to ruins/ashes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化为灰烬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2、3、6、8、10、11、12、15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lnSpc>
            <a:spcPct val="120000"/>
          </a:lnSpc>
          <a:defRPr sz="3200" b="1" dirty="0" smtClean="0">
            <a:latin typeface="Times New Roman" panose="02020503050405090304" pitchFamily="18" charset="0"/>
            <a:ea typeface="宋体" pitchFamily="2" charset="-122"/>
            <a:cs typeface="Times New Roman" panose="020205030504050903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381</Words>
  <Application>Microsoft Macintosh PowerPoint</Application>
  <PresentationFormat>Widescreen</PresentationFormat>
  <Paragraphs>47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微软雅黑</vt:lpstr>
      <vt:lpstr>宋体</vt:lpstr>
      <vt:lpstr>Times New Roman Bold</vt:lpstr>
      <vt:lpstr>Times New Roman Bold Italic</vt:lpstr>
      <vt:lpstr>Arial</vt:lpstr>
      <vt:lpstr>Times New Roman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Qing NI</cp:lastModifiedBy>
  <cp:revision>203</cp:revision>
  <dcterms:created xsi:type="dcterms:W3CDTF">2024-06-17T03:30:39Z</dcterms:created>
  <dcterms:modified xsi:type="dcterms:W3CDTF">2026-07-23T00:56:46Z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1033-6.7.1.8828</vt:lpwstr>
  </property>
  <property fmtid="{D5CDD505-2E9C-101B-9397-08002B2CF9AE}" pid="3" name="ICV">
    <vt:lpwstr>4A157E94719CB1AE0E7665644F15C8B3_42</vt:lpwstr>
  </property>
</Properties>
</file>