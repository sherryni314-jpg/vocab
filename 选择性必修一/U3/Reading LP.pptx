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notesSlides/notesSlide1.xml" ContentType="application/vnd.openxmlformats-officedocument.presentationml.notesSlide+xml"/>
  <Override PartName="/ppt/tags/tag63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6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65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66.xml" ContentType="application/vnd.openxmlformats-officedocument.presentationml.tags+xml"/>
  <Override PartName="/ppt/notesSlides/notesSlide14.xml" ContentType="application/vnd.openxmlformats-officedocument.presentationml.notesSlide+xml"/>
  <Override PartName="/ppt/tags/tag6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tags/tag71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tags/tag72.xml" ContentType="application/vnd.openxmlformats-officedocument.presentationml.tags+xml"/>
  <Override PartName="/ppt/notesSlides/notesSlide31.xml" ContentType="application/vnd.openxmlformats-officedocument.presentationml.notesSlide+xml"/>
  <Override PartName="/ppt/tags/tag73.xml" ContentType="application/vnd.openxmlformats-officedocument.presentationml.tags+xml"/>
  <Override PartName="/ppt/notesSlides/notesSlide32.xml" ContentType="application/vnd.openxmlformats-officedocument.presentationml.notesSlide+xml"/>
  <Override PartName="/ppt/tags/tag74.xml" ContentType="application/vnd.openxmlformats-officedocument.presentationml.tags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tags/tag75.xml" ContentType="application/vnd.openxmlformats-officedocument.presentationml.tags+xml"/>
  <Override PartName="/ppt/notesSlides/notesSlide36.xml" ContentType="application/vnd.openxmlformats-officedocument.presentationml.notesSlide+xml"/>
  <Override PartName="/ppt/tags/tag76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tags/tag77.xml" ContentType="application/vnd.openxmlformats-officedocument.presentationml.tags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405" r:id="rId2"/>
    <p:sldId id="309" r:id="rId3"/>
    <p:sldId id="317" r:id="rId4"/>
    <p:sldId id="318" r:id="rId5"/>
    <p:sldId id="310" r:id="rId6"/>
    <p:sldId id="337" r:id="rId7"/>
    <p:sldId id="339" r:id="rId8"/>
    <p:sldId id="343" r:id="rId9"/>
    <p:sldId id="361" r:id="rId10"/>
    <p:sldId id="447" r:id="rId11"/>
    <p:sldId id="311" r:id="rId12"/>
    <p:sldId id="406" r:id="rId13"/>
    <p:sldId id="362" r:id="rId14"/>
    <p:sldId id="407" r:id="rId15"/>
    <p:sldId id="366" r:id="rId16"/>
    <p:sldId id="451" r:id="rId17"/>
    <p:sldId id="321" r:id="rId18"/>
    <p:sldId id="363" r:id="rId19"/>
    <p:sldId id="364" r:id="rId20"/>
    <p:sldId id="365" r:id="rId21"/>
    <p:sldId id="345" r:id="rId22"/>
    <p:sldId id="347" r:id="rId23"/>
    <p:sldId id="348" r:id="rId24"/>
    <p:sldId id="349" r:id="rId25"/>
    <p:sldId id="450" r:id="rId26"/>
    <p:sldId id="315" r:id="rId27"/>
    <p:sldId id="323" r:id="rId28"/>
    <p:sldId id="352" r:id="rId29"/>
    <p:sldId id="353" r:id="rId30"/>
    <p:sldId id="367" r:id="rId31"/>
    <p:sldId id="368" r:id="rId32"/>
    <p:sldId id="316" r:id="rId33"/>
    <p:sldId id="452" r:id="rId34"/>
    <p:sldId id="453" r:id="rId35"/>
    <p:sldId id="325" r:id="rId36"/>
    <p:sldId id="455" r:id="rId37"/>
    <p:sldId id="454" r:id="rId38"/>
    <p:sldId id="456" r:id="rId39"/>
    <p:sldId id="370" r:id="rId40"/>
    <p:sldId id="372" r:id="rId41"/>
    <p:sldId id="373" r:id="rId42"/>
    <p:sldId id="314" r:id="rId43"/>
    <p:sldId id="326" r:id="rId44"/>
    <p:sldId id="356" r:id="rId45"/>
    <p:sldId id="357" r:id="rId46"/>
    <p:sldId id="358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1F2DA8"/>
    <a:srgbClr val="F2F4F3"/>
    <a:srgbClr val="F3EFED"/>
    <a:srgbClr val="F4F9F5"/>
    <a:srgbClr val="EBF3FA"/>
    <a:srgbClr val="F2F9EE"/>
    <a:srgbClr val="7CDB05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648" y="168"/>
      </p:cViewPr>
      <p:guideLst>
        <p:guide orient="horz" pos="215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2026/7/23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  <a:t>‹#›</a:t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49F42C-2DAE-424C-A4B8-3140182C3E9F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flash through my minde / spring to mind</a:t>
            </a:r>
          </a:p>
          <a:p>
            <a:r>
              <a:rPr lang="en-US"/>
              <a:t>go on strick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flash through my minde / spring to mind</a:t>
            </a:r>
          </a:p>
          <a:p>
            <a:r>
              <a:rPr lang="en-US"/>
              <a:t>go on strick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flash through my minde / spring to mind</a:t>
            </a:r>
          </a:p>
          <a:p>
            <a:r>
              <a:rPr lang="en-US"/>
              <a:t>go on strick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smilatiries and differences</a:t>
            </a:r>
          </a:p>
          <a:p>
            <a:r>
              <a:rPr lang="en-US"/>
              <a:t>She is strickingly beautiful.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对“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not…until…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”结构的强调，要用“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is / was not until… that…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”这一固定句型。由于否定词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not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已经前移，</a:t>
            </a:r>
            <a:r>
              <a:rPr lang="en-US" altLang="zh-CN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</a:t>
            </a:r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后只能用肯定形式。同时要注意不能使用倒装语序。</a:t>
            </a:r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working environment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反对兴建火车站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dominant position </a:t>
            </a:r>
            <a:r>
              <a:rPr lang="zh-CN" altLang="en-US"/>
              <a:t>支配地位</a:t>
            </a:r>
            <a:endParaRPr lang="en-US"/>
          </a:p>
          <a:p>
            <a:r>
              <a:rPr lang="en-US"/>
              <a:t>a dominant figure </a:t>
            </a:r>
            <a:r>
              <a:rPr lang="zh-CN" altLang="en-US"/>
              <a:t>举足轻重的人物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 生动、流畅的笔触</a:t>
            </a:r>
          </a:p>
          <a:p>
            <a:r>
              <a:rPr lang="en-US"/>
              <a:t>canvases characterized by lively, flowing brushwork.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block one’s vision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They found a bacterium visible to the human eye.[+ to]</a:t>
            </a:r>
          </a:p>
          <a:p>
            <a:r>
              <a:rPr lang="en-US"/>
              <a:t>他们发现了一种肉眼可见的细菌。</a:t>
            </a:r>
          </a:p>
          <a:p>
            <a:r>
              <a:rPr lang="en-US"/>
              <a:t>He was making a visible effort to control himself.</a:t>
            </a:r>
          </a:p>
          <a:p>
            <a:r>
              <a:rPr lang="en-US"/>
              <a:t>他明显是在努力控制自己的情绪。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1. If you are talking about a person or thing (a noun) that is deserving of something, use worthy.</a:t>
            </a:r>
            <a:endParaRPr lang="en-US"/>
          </a:p>
          <a:p>
            <a:r>
              <a:rPr lang="en-US">
                <a:sym typeface="+mn-ea"/>
              </a:rPr>
              <a:t>He is worthy of respect/recognition/consideration.</a:t>
            </a:r>
            <a:endParaRPr lang="en-US"/>
          </a:p>
          <a:p>
            <a:endParaRPr lang="en-US"/>
          </a:p>
          <a:p>
            <a:r>
              <a:rPr lang="en-US"/>
              <a:t>be worthy of praise/ deserves the praise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 it is noteworthy that no one at the Bank has accepted responsibility for the failure.</a:t>
            </a:r>
          </a:p>
          <a:p>
            <a:r>
              <a:rPr lang="en-US"/>
              <a:t>It’s worth a fortune.</a:t>
            </a:r>
          </a:p>
          <a:p>
            <a:r>
              <a:rPr lang="en-US"/>
              <a:t>It isn’t worth much.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1. If you are talking about a person or thing (a noun) that is deserving of something, use worthy.</a:t>
            </a:r>
          </a:p>
          <a:p>
            <a:r>
              <a:rPr lang="en-US"/>
              <a:t>He is worthy of respect/recognition/consideration.</a:t>
            </a:r>
          </a:p>
          <a:p>
            <a:r>
              <a:rPr lang="en-US"/>
              <a:t>2.  If you are talking about the value of doing an activity, there are a few options:</a:t>
            </a:r>
          </a:p>
          <a:p>
            <a:r>
              <a:rPr lang="en-US"/>
              <a:t>    * Worthwhile: Exercising regularly is worthwhile.</a:t>
            </a:r>
          </a:p>
          <a:p>
            <a:r>
              <a:rPr lang="en-US"/>
              <a:t>    * An expression (such as 'worth your time/while/trouble/effort'): Exercising regularly is worth your time.</a:t>
            </a:r>
          </a:p>
          <a:p>
            <a:r>
              <a:rPr lang="en-US"/>
              <a:t>    * Worth + gerund: It is worth exercising regularly. </a:t>
            </a:r>
          </a:p>
          <a:p>
            <a:r>
              <a:rPr lang="en-US"/>
              <a:t>3. If you are talking about the value (usually financial) of a thing (a noun), use worth.</a:t>
            </a:r>
          </a:p>
          <a:p>
            <a:r>
              <a:rPr lang="en-US"/>
              <a:t>This house is worth four million dollars.</a:t>
            </a:r>
          </a:p>
          <a:p>
            <a:endParaRPr lang="en-US"/>
          </a:p>
          <a:p>
            <a:r>
              <a:rPr lang="en-US"/>
              <a:t>用作定语、表语或宾补，强调某事是值得花时间、金钱或精力的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1.xml"/><Relationship Id="rId4" Type="http://schemas.openxmlformats.org/officeDocument/2006/relationships/tags" Target="../tags/tag10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6.xml"/><Relationship Id="rId4" Type="http://schemas.openxmlformats.org/officeDocument/2006/relationships/tags" Target="../tags/tag15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1.xml"/><Relationship Id="rId4" Type="http://schemas.openxmlformats.org/officeDocument/2006/relationships/tags" Target="../tags/tag20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3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39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5" Type="http://schemas.openxmlformats.org/officeDocument/2006/relationships/image" Target="../media/image1.jpe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3.xml"/><Relationship Id="rId4" Type="http://schemas.openxmlformats.org/officeDocument/2006/relationships/tags" Target="../tags/tag5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7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" Type="http://schemas.openxmlformats.org/officeDocument/2006/relationships/tags" Target="../tags/tag5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6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669882" y="25882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669882" y="3566160"/>
            <a:ext cx="10852237" cy="950984"/>
          </a:xfr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930" y="3808730"/>
            <a:ext cx="10852237" cy="624845"/>
          </a:xfr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69925" y="4511675"/>
            <a:ext cx="10852237" cy="1077985"/>
          </a:xfr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238877" y="1296000"/>
            <a:ext cx="5283242" cy="5040000"/>
          </a:xfr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69930" y="1296000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69925" y="1789043"/>
            <a:ext cx="5283200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296000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9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789043"/>
            <a:ext cx="5283242" cy="4552234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</a:p>
          <a:p>
            <a:pPr lvl="1"/>
            <a:r>
              <a:rPr dirty="0">
                <a:sym typeface="+mn-ea"/>
              </a:rPr>
              <a:t>第二级</a:t>
            </a:r>
          </a:p>
          <a:p>
            <a:pPr lvl="2"/>
            <a:r>
              <a:rPr dirty="0">
                <a:sym typeface="+mn-ea"/>
              </a:rPr>
              <a:t>第三级</a:t>
            </a:r>
          </a:p>
          <a:p>
            <a:pPr lvl="3"/>
            <a:r>
              <a:rPr dirty="0">
                <a:sym typeface="+mn-ea"/>
              </a:rPr>
              <a:t>第四级</a:t>
            </a:r>
          </a:p>
          <a:p>
            <a:pPr lvl="4"/>
            <a:r>
              <a:rPr dirty="0">
                <a:sym typeface="+mn-ea"/>
              </a:rPr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>
          <a:blip r:embed="rId5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69930" y="1296000"/>
            <a:ext cx="5283242" cy="5040000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238925" y="1296000"/>
            <a:ext cx="5283242" cy="50400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69930" y="952508"/>
            <a:ext cx="10852237" cy="50400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669882" y="2588281"/>
            <a:ext cx="10852237" cy="899167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FFFFF"/>
            </a:gs>
            <a:gs pos="100000">
              <a:srgbClr val="DCDCDC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69882" y="1296000"/>
            <a:ext cx="10852237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70.xml"/><Relationship Id="rId2" Type="http://schemas.openxmlformats.org/officeDocument/2006/relationships/tags" Target="../tags/tag69.xml"/><Relationship Id="rId1" Type="http://schemas.openxmlformats.org/officeDocument/2006/relationships/tags" Target="../tags/tag68.xml"/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3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93980" y="95885"/>
            <a:ext cx="11913235" cy="42252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house v. 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government is committed to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housing the refugees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政府承诺收容难民。(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provide a place to live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gallery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houses 2 000 works of modern art.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美术馆收藏了 2000 件现代艺术作品。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store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museum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is housed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Old Court House.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博物馆设在旧法院大楼里。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 set up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51790" y="187960"/>
            <a:ext cx="1146683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2. As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wandered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through the Impressionist gallery, I appreciated masterpieces like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Ballet Class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and </a:t>
            </a:r>
            <a:r>
              <a:rPr lang="en-US" altLang="zh-CN" sz="3200" b="1" i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Card Players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漫步于印象派展馆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我欣赏着像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《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舞蹈课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》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和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《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玩纸牌者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》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这样的杰作。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43585" y="2961005"/>
            <a:ext cx="11229975" cy="1863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wander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v.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accent1">
                    <a:lumMod val="75000"/>
                  </a:schemeClr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to walk slowly around or to a place, often without any particular sense of purpose or direction</a:t>
            </a:r>
          </a:p>
          <a:p>
            <a:pPr marL="1882775" indent="-1882775">
              <a:lnSpc>
                <a:spcPct val="120000"/>
              </a:lnSpc>
            </a:pPr>
            <a:r>
              <a:rPr lang="zh-CN" altLang="en-US" sz="3200" b="1" i="1" dirty="0">
                <a:solidFill>
                  <a:srgbClr val="0070C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                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1)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闲逛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漫步</a:t>
            </a:r>
          </a:p>
        </p:txBody>
      </p:sp>
      <p:sp>
        <p:nvSpPr>
          <p:cNvPr id="3" name="矩形 2"/>
          <p:cNvSpPr/>
          <p:nvPr/>
        </p:nvSpPr>
        <p:spPr>
          <a:xfrm>
            <a:off x="743585" y="4824095"/>
            <a:ext cx="11229975" cy="12725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7194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wandered aimlessly around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the streets.</a:t>
            </a:r>
          </a:p>
          <a:p>
            <a:pPr indent="-7194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她在大街上</a:t>
            </a:r>
            <a:r>
              <a:rPr lang="en-US" altLang="zh-CN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漫无目的地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闲逛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36332" y="135324"/>
            <a:ext cx="11620251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偏离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正道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);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走失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离散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The child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wandered off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and got lost.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ea typeface="宋体" pitchFamily="2" charset="-122"/>
                <a:cs typeface="Times New Roman Bold" panose="02020503050405090304" charset="0"/>
              </a:rPr>
              <a:t>3)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vi.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走神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神志恍惚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; 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思想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开小差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Try not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let your mind/attention wander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during class.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His thoughts wandered back 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 his youth.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蜿蜒曲折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road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wanders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along through the hills.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这条路</a:t>
            </a:r>
            <a:r>
              <a:rPr lang="zh-CN" altLang="en-US" sz="3200" b="1" u="sng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蜿蜒曲折地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穿过山丘。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5) (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眼睛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慢慢地移开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His eyes wandered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towards the photographs on the wall.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他的目光慢慢地移向墙上的照片。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88691" y="430332"/>
            <a:ext cx="11035785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Some youths are quite addicted to _________ (wander) in the cyber space.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My thoughts wander _________ to the whole thing as if it happened yesterday.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一听见外面演奏的音乐，他发现自己的注意力开始分散。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hearing the music played outside, he found his attention was starting to wander. 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小女孩转悠着进了一家商店。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little girl wandered into a shop, asking for a glass of water.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911439" y="964721"/>
            <a:ext cx="205376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wandering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085618" y="2211630"/>
            <a:ext cx="102784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back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5079" y="952856"/>
            <a:ext cx="11196228" cy="289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Even though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had admired them hundreds of times on my computer screen, nothing could have prepared me for the wonder I felt when I finally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laid eyes on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real thing.</a:t>
            </a:r>
          </a:p>
          <a:p>
            <a:pPr marL="446405" indent="-446405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尽管我曾在我的电脑屏幕已欣赏过数百次，但当我终于亲眼见到实物时，还是觉得猝不及防，惊叹不已。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0942" y="781527"/>
            <a:ext cx="10684001" cy="12150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19780" indent="-3319780"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lay eyes on sb./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i="1" dirty="0">
                <a:solidFill>
                  <a:schemeClr val="accent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see somebody or something, especially for the first time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见到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0942" y="1974831"/>
            <a:ext cx="10781972" cy="2896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当我看到这本书的封面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的那一刻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，我就喜欢上了它。</a:t>
            </a: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 loved that book the moment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laid eyes on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its cover.</a:t>
            </a:r>
          </a:p>
          <a:p>
            <a:pPr fontAlgn="auto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最后，他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看到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了这幅画，欣赏了很久。</a:t>
            </a:r>
          </a:p>
          <a:p>
            <a:pPr indent="-719455" fontAlgn="auto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Finally,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laid eyes on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painting and appreciated it for a long time.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9753" y="1001486"/>
            <a:ext cx="10602686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it was hard to pick a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favourite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painting out of so many amazing works, the artists who made the deepest impression on me were two of the greatest impressionist painters, Claude Monet and Pierre-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</a:rPr>
              <a:t>Auguste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Renoir.</a:t>
            </a: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虽然从这么多令人称奇的作品中很难选出一幅最喜欢的，但两位伟大的印象派画家给我留下了最深的印象克劳德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莫奈和皮埃尔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–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奥古斯特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雷诺阿。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1749" y="820387"/>
            <a:ext cx="11103428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5. It is amazing that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every time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Monet Studied this simple scene, he brought the pond’s beauty to the canvas in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unique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way.</a:t>
            </a: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令人赞叹的是，莫奈每次端详睡莲池这处简单的风景，都以独特的方式让它的美跃然于画布之上。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20633" y="914400"/>
            <a:ext cx="11376561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完成句子。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Do bring your sister here 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你下次来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to see me.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______________________________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每次读到这一段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I’ll remember my childhood in the countryside.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我第一次遇到他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I knew he was a difficult person to get along with.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______________________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我上次看到她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), I found she had a talent for music.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79522" y="1460665"/>
            <a:ext cx="4490332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(the) next time you come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19397" y="2624446"/>
            <a:ext cx="598009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Every time I read this paragraph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5647" y="3871357"/>
            <a:ext cx="438934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first time I met him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07522" y="5035137"/>
            <a:ext cx="418736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last time I saw her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6050" y="143510"/>
            <a:ext cx="11864340" cy="30441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We grew up in the same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neighbourhood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district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poor/quiet/residential neighbourhood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贫困的街区；安静的城区；居民区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Houses </a:t>
            </a:r>
            <a:r>
              <a:rPr 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neighbourhood of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Paris are extremely expensive.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巴黎</a:t>
            </a:r>
            <a:r>
              <a:rPr lang="en-US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附近一带的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住房极其昂贵。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0"/>
            <a:ext cx="12191365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6. When I saw it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up close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I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struck by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small areas of  light across the painting,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way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soft edges of the figures seemed to mix together.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近距离观赏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画面上遍布着小面积的光斑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人物柔和和轮廓似乎融为一体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en-US" altLang="zh-CN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令我大为震撼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1305" y="2861945"/>
            <a:ext cx="12191365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76475" indent="-22764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strike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</a:t>
            </a:r>
            <a:r>
              <a:rPr lang="zh-CN" altLang="en-US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hit </a:t>
            </a:r>
            <a:r>
              <a:rPr lang="zh-CN" altLang="en-US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force </a:t>
            </a:r>
            <a:r>
              <a:rPr lang="zh-CN" altLang="en-US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撞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;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碰；击打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2276475" indent="-2276475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The ship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struck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a rock.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</a:p>
          <a:p>
            <a:pPr marL="2276475" indent="-2276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struck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him in the face.</a:t>
            </a:r>
          </a:p>
          <a:p>
            <a:pPr marL="2276475" indent="-2276475">
              <a:lnSpc>
                <a:spcPct val="120000"/>
              </a:lnSpc>
            </a:pPr>
            <a:r>
              <a:rPr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</a:t>
            </a:r>
            <a:r>
              <a:rPr sz="3200" b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struck at me</a:t>
            </a:r>
            <a:r>
              <a:rPr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repeatedly with a stick.</a:t>
            </a:r>
          </a:p>
          <a:p>
            <a:pPr marL="2276475" indent="-2276475">
              <a:lnSpc>
                <a:spcPct val="120000"/>
              </a:lnSpc>
            </a:pPr>
            <a:r>
              <a:rPr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他拿着棍子一再</a:t>
            </a:r>
            <a:r>
              <a:rPr sz="3200" b="1" u="sng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朝我打</a:t>
            </a:r>
            <a:r>
              <a:rPr sz="3200" b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过来。</a:t>
            </a:r>
          </a:p>
          <a:p>
            <a:pPr marL="2276475" indent="-22764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area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struck by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an outbreak of smallpox.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灾难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侵袭，袭击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750" y="203200"/>
            <a:ext cx="12033250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27647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to come into sb.’s mind suddenly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突然想到</a:t>
            </a:r>
          </a:p>
          <a:p>
            <a:pPr indent="-22764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awful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thought has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just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struck me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22764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刚才我脑子里突然闪过一个可怕的念头。(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flash through my mind/spring(come) to mind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-2276475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suddenly struck me 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we ought to make a new plan.</a:t>
            </a:r>
          </a:p>
          <a:p>
            <a:pPr indent="-22764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It occurred to me that ...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pPr indent="-22764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suddenly struck me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how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we could improve the situation.</a:t>
            </a:r>
          </a:p>
          <a:p>
            <a:pPr indent="-227647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我一下子明白我们如何能改善局面了。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750" y="114300"/>
            <a:ext cx="12033250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3)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罢工</a:t>
            </a:r>
            <a:r>
              <a:rPr lang="en-US" altLang="zh-CN" sz="3200" b="1" i="1" dirty="0">
                <a:solidFill>
                  <a:srgbClr val="C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 indent="-628650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workers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were striking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because they wanted more money.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划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火柴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matches were damp and he couldn't make them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strike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5)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钟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敲，报时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clock has just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struck three.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时钟刚刚敲过三点。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6)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strike a chord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on the piano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在钢琴上奏出和弦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speaker had obviously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struck a chord with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audience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讲演者显然已</a:t>
            </a:r>
            <a:r>
              <a:rPr lang="en-US" altLang="zh-CN" sz="3200" b="1" u="sng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引起了听众的共鸣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8750" y="203200"/>
            <a:ext cx="12033250" cy="4815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strike a balance between A and B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8)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strike sb. down (of a disease, etc.)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疾病等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摧垮某人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使某人病倒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struck down by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cancer at the age of thirty.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他三十岁那年被癌症夺去了性命。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9)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thunderstruck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=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extremely surprised and shocked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震惊的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struck dumb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一时什么也说不出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，惊呆了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Its beauty seemed to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strike the child dumb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它的美丽似乎让孩子目瞪口呆。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283210" y="776605"/>
            <a:ext cx="11278235" cy="42252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罢工；袭击；击打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Half the workforce are now (out) on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strike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strike against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为反对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  <a:sym typeface="+mn-ea"/>
              </a:rPr>
              <a:t>而罢工</a:t>
            </a:r>
            <a:endParaRPr lang="zh-CN" altLang="en-US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on strike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罢工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dirty="0">
                <a:sym typeface="+mn-ea"/>
              </a:rPr>
              <a:t>→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go on strike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举行罢工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446405" fontAlgn="auto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They decided to launch a pre-emptive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strike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713105" fontAlgn="auto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His spectacular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strike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 in the second half made the score 2–0.</a:t>
            </a:r>
            <a:endParaRPr lang="en-US" altLang="zh-CN" sz="3200" b="1" i="0" dirty="0">
              <a:effectLst/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>
            <p:custDataLst>
              <p:tags r:id="rId1"/>
            </p:custDataLst>
          </p:nvPr>
        </p:nvSpPr>
        <p:spPr>
          <a:xfrm>
            <a:off x="118110" y="116840"/>
            <a:ext cx="1207325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striking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unusual enough to attract attention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引人注目的，异乎寻常的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a striking feature of those statistics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显著的特征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She bears a striking resemblance to her older sister.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她酷似她姐姐。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In striking contrast to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their brothers, the girls were both intelligent and charming.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cs typeface="Times New Roman Bold" panose="02020503050405090304" charset="0"/>
            </a:endParaRP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姑娘们既聪明伶俐，又妩媚动人，跟她们的兄弟形成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鲜明的对照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。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her striking good looks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她惊人的美貌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The two polls produced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</a:rPr>
              <a:t>strikingly different results.</a:t>
            </a:r>
          </a:p>
          <a:p>
            <a:pPr indent="-44640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两次投票产生的结果截然不同。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598714" y="1108225"/>
            <a:ext cx="10548258" cy="4819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写出下面句子中划线单词的词性及中文释义。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1) The boy 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struck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the man with a stick.  ________ ________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The disease has 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struck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the whole community, sometimes wiping out whole families.   ________ ________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3) The 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strike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ended when the pay demands were met.  ________ ________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4) Her car went out of control and </a:t>
            </a:r>
            <a:r>
              <a:rPr lang="en-US" altLang="zh-CN" sz="3200" b="1" u="sng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struck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an oncoming vehicle.   ________ ________</a:t>
            </a:r>
          </a:p>
        </p:txBody>
      </p:sp>
      <p:sp>
        <p:nvSpPr>
          <p:cNvPr id="4" name="矩形 3"/>
          <p:cNvSpPr/>
          <p:nvPr/>
        </p:nvSpPr>
        <p:spPr>
          <a:xfrm>
            <a:off x="7821679" y="1729856"/>
            <a:ext cx="28600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动词；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打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击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172929" y="2888410"/>
            <a:ext cx="265489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动词；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侵袭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378586" y="4063652"/>
            <a:ext cx="2757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名词；     罢工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2980005" y="5231599"/>
            <a:ext cx="2757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动词；  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碰撞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6266" y="629393"/>
            <a:ext cx="10735294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way+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定语从句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5305" indent="-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the way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后面的定语从句，关系词若在从句中作方式状语，相当于“用这种方式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方法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(=in this way)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”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,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此时常用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引导定语从句，也可省略，在较正式的文体里用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 which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来引导。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was impressed by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way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(that/ in which) she did it.</a:t>
            </a:r>
          </a:p>
          <a:p>
            <a:pPr marL="535305" indent="-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way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后不能用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引导定语从句，但也可以不用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，而直接用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引导的名词性从句来表达这类意思。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That’s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way he did 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= That’s how he did it.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8764" y="1923803"/>
            <a:ext cx="11210306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当先行词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表示方向时，不用任何关系词。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 was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way she went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535305" indent="-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关系词代指先行词在从句中作宾语时，用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which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引导定语从句；又因为关系词作从句的宾语，因此也可省略。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353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You speak to her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way (that/ which)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don’t like.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43936" y="843148"/>
            <a:ext cx="11139054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14350" indent="-514350">
              <a:lnSpc>
                <a:spcPct val="120000"/>
              </a:lnSpc>
              <a:buAutoNum type="arabicParenR"/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After a while, she apologized for the way __________ she behaved at the beginning. (2020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全国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III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完形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Culture is the way in __________ a group of people solve problems.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We all approve of his way __________ has been proved to be practical.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Do you know the way __________ I can get access to the Internet?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847117" y="1460664"/>
            <a:ext cx="88998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77641" y="2600696"/>
            <a:ext cx="1306286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which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05153" y="3803530"/>
            <a:ext cx="205216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which/that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550580" y="4993238"/>
            <a:ext cx="108065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79962" y="417066"/>
            <a:ext cx="1085305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7. Although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paintings had very different settings,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their similarities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stayed with me long after left the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Mus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é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d’Orsay – similarities which can be seen throughout the Impressionists’ paintings.</a:t>
            </a: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尽管这两幅画的背景截然不同，但在我离开奥赛博物馆后很长一段时间里，一直萦绕着我的却是它们的相似之处⸻这种相似之处在印象派的画作中随处可见。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本句是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主从复合句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although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让步状语从句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after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引导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时间状语从句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was… that…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是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强调句型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，强调的成分是主句的主语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their similarities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071" y="-293"/>
            <a:ext cx="1480331" cy="82898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98895" y="643164"/>
            <a:ext cx="10994572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强调句的特殊句型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一般疑问句：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Is/Was it 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被强调部分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 that/ who+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其他？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3340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是你想读的书吗？</a:t>
            </a:r>
          </a:p>
          <a:p>
            <a:pPr indent="533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it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book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you want to read?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特殊疑问句：特殊疑问词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+is/ was it + that/ who+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其他？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53340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是什么让他如此高兴？</a:t>
            </a:r>
          </a:p>
          <a:p>
            <a:pPr indent="533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What was it that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made him so happy?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not until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的强调句式：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is/ was not until …+ that+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其他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indent="4572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直到昨天，我才知道这个坏消息。</a:t>
            </a:r>
          </a:p>
          <a:p>
            <a:pPr indent="533400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not until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yesterday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 knew the bad news.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37210" y="430530"/>
            <a:ext cx="11422380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注意：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在强调句结构中，虽然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无任何意义，但不可以换成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或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等词。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被强调部分指人时用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that/ who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，其他情况均用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在强调句结构中，无论被强调的是人还是物，单数还是复数，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be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动词一律用单数形式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(is/ was)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533400" indent="-5334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判断句子是否为强调句型，方法就是去掉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It is/ was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that/ who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，剩下的部分若结构完整、句意明确，则为强调句。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533400" indent="-533400">
              <a:lnSpc>
                <a:spcPct val="12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829356" y="573389"/>
            <a:ext cx="10885714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It was Marie Curie and her husband ________ discovered radium.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It was in the factory _______ I got to know him.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567612" y="1169706"/>
            <a:ext cx="1938351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who/ 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121082" y="2363011"/>
            <a:ext cx="88998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矩形 1"/>
          <p:cNvSpPr/>
          <p:nvPr>
            <p:custDataLst>
              <p:tags r:id="rId1"/>
            </p:custDataLst>
          </p:nvPr>
        </p:nvSpPr>
        <p:spPr>
          <a:xfrm>
            <a:off x="783771" y="2994512"/>
            <a:ext cx="10983685" cy="36347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正是他的不懈努力使得中国逐渐发生变化。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_____________________________ caused China to change gradually.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当我感到孤独时我才意识到朋友的重要性。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8763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____________________________ I realized the importance of friends.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7" name="文本框 2"/>
          <p:cNvSpPr txBox="1"/>
          <p:nvPr>
            <p:custDataLst>
              <p:tags r:id="rId2"/>
            </p:custDataLst>
          </p:nvPr>
        </p:nvSpPr>
        <p:spPr>
          <a:xfrm>
            <a:off x="1349828" y="3506895"/>
            <a:ext cx="6172200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his continuous efforts 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8" name="文本框 3"/>
          <p:cNvSpPr txBox="1"/>
          <p:nvPr>
            <p:custDataLst>
              <p:tags r:id="rId3"/>
            </p:custDataLst>
          </p:nvPr>
        </p:nvSpPr>
        <p:spPr>
          <a:xfrm>
            <a:off x="1349828" y="5259495"/>
            <a:ext cx="517641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was when I felt lonely that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46050" y="143510"/>
            <a:ext cx="1186434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setting n.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 set of surroundings 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环境；背景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set </a:t>
            </a:r>
            <a:r>
              <a:rPr lang="en-US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v.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以……为背景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delightful setting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一个宜人的环境</a:t>
            </a:r>
            <a:endParaRPr lang="en-US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was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perfect setting for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wonderful Christmas.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环境气氛无可挑剔，正是一个美好的圣诞节所需要的。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short stories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with a contemporary setting</a:t>
            </a:r>
            <a:endParaRPr lang="en-US" sz="3200" b="1" dirty="0"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以当代生活为背景的短篇小说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short stories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set in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contemporary China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635" y="121285"/>
            <a:ext cx="12016105" cy="4756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8. Everyday subject matter was the main focus of their works,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 opposed to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 history paintings that had traditionally dominated European art. (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..., unlike sth/in contrast to sth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印象派的作品主要关注日常主题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</a:t>
            </a:r>
            <a:r>
              <a:rPr lang="zh-CN" altLang="en-US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传统上欧洲艺术界占主流的历史题材画作</a:t>
            </a:r>
            <a:r>
              <a:rPr lang="zh-CN" altLang="en-US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大相径庭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opposed to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：</a:t>
            </a:r>
            <a:r>
              <a:rPr lang="zh-CN" altLang="en-US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used to make a contrast between two things</a:t>
            </a:r>
            <a:endParaRPr lang="en-US" altLang="zh-CN" sz="3200" b="1" i="1"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4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表示对比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而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,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相对于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46405" indent="-446405">
              <a:lnSpc>
                <a:spcPct val="120000"/>
              </a:lnSpc>
            </a:pP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200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people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attended,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opposed to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300 the previous year.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9860" y="223520"/>
            <a:ext cx="12042140" cy="48158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opposed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1)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(of a person) disagreeing strongly with </a:t>
            </a:r>
            <a:r>
              <a:rPr lang="en-US" altLang="zh-CN" sz="3200" b="1" i="1" dirty="0" err="1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and trying to stop it</a:t>
            </a:r>
            <a:endParaRPr lang="en-US" altLang="zh-CN" sz="3200" b="1" i="1" dirty="0">
              <a:solidFill>
                <a:srgbClr val="0070C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75280" indent="-287528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强烈反对的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 strongly opposed 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modernism in art.</a:t>
            </a: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她非常反对你出国。</a:t>
            </a: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very much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opposed to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your going abroad.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2)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(of ideas, opinions, etc.) very different from </a:t>
            </a:r>
            <a:r>
              <a:rPr lang="en-US" altLang="zh-CN" sz="3200" b="1" i="1" dirty="0" err="1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sth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截然不同的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2875280" indent="-287528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two sets of values seemed mutually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opposed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9700" y="0"/>
            <a:ext cx="1223518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opposing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仅用于名词前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对立的；相反的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Water is the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force to fire.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Throughout the negotiations, Hurst and Jevon took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opposing views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719455" indent="-719455">
              <a:lnSpc>
                <a:spcPct val="12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反对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计划、政策等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；抵制；阻挠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oppose (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doing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反对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opposite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相反的；对立的 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		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对立面；对立物</a:t>
            </a: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opposite to… 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在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的对面</a:t>
            </a:r>
            <a:r>
              <a:rPr lang="en-US" altLang="zh-CN" sz="3200" b="1" dirty="0">
                <a:latin typeface="宋体" pitchFamily="2" charset="-122"/>
                <a:ea typeface="宋体" pitchFamily="2" charset="-122"/>
                <a:cs typeface="Times New Roman" panose="02020503050405090304" pitchFamily="18" charset="0"/>
              </a:rPr>
              <a:t>  	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opposite of sth</a:t>
            </a:r>
            <a:endParaRPr lang="en-US" altLang="zh-CN" sz="3200" b="1" dirty="0">
              <a:latin typeface="宋体" pitchFamily="2" charset="-122"/>
              <a:ea typeface="宋体" pitchFamily="2" charset="-122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opposition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un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反对，相反，敌对</a:t>
            </a:r>
          </a:p>
          <a:p>
            <a:pPr marL="719455" indent="-7194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Much of the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opposition to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 this plan has come from the media</a:t>
            </a:r>
            <a:r>
              <a:rPr lang="en-US" altLang="zh-CN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.</a:t>
            </a:r>
            <a:endParaRPr lang="zh-CN" altLang="en-US" sz="3200" b="1" dirty="0"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  <a:p>
            <a:pPr marL="719455" indent="-71945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该计划的主要反对声音来自媒体。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1996" y="827314"/>
            <a:ext cx="10570028" cy="54107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The parents strongly opposed their daughter _________ (go) there alone.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_________ opposed to last year, his income of this year is small.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At first he was _________ (oppose) to the idea, but later he came round to it.</a:t>
            </a:r>
          </a:p>
          <a:p>
            <a:pPr marL="355600" indent="-35560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He spent five years in prison for his _________ (oppose) to the government.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199418" y="1376130"/>
            <a:ext cx="1141659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going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50671" y="2590603"/>
            <a:ext cx="74814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As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788229" y="3710800"/>
            <a:ext cx="162095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293105" y="4918702"/>
            <a:ext cx="2060692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opposition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0" y="0"/>
            <a:ext cx="12192000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305117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dominate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&amp; vi.</a:t>
            </a:r>
          </a:p>
          <a:p>
            <a:pPr indent="-3051175" fontAlgn="auto">
              <a:lnSpc>
                <a:spcPct val="120000"/>
              </a:lnSpc>
            </a:pPr>
            <a:r>
              <a:rPr lang="en-US" altLang="zh-CN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be the most important or noticeable feature of sth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在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……中具有最重要的特色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train crash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dominated the headlines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火车相撞事故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占据了头条新闻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支配，控制，左右，影响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He tended to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dominate the conversation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他往往左右着交谈的内容。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always says a lot in meetings, but she doesn't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她在会上总是滔滔不绝，但她的话没什么影响。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As a child 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was dominated by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his father.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807538" y="384657"/>
            <a:ext cx="10782795" cy="3044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3)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play much better than your opponent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占有优势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United completely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first half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game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4)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be larger and more noticeable than anything else in a place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俯视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cathedral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dominates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city.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189574" y="3562288"/>
            <a:ext cx="5957570" cy="18630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domination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支配，管辖，控制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dominator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统治者；支配者</a:t>
            </a:r>
          </a:p>
          <a:p>
            <a:pPr algn="l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占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支配地位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8" y="3779625"/>
            <a:ext cx="1480331" cy="8289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88010" y="5289550"/>
            <a:ext cx="11427460" cy="12725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companies fighting for </a:t>
            </a: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domination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of the software market</a:t>
            </a:r>
          </a:p>
          <a:p>
            <a:pPr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争取控制软件市场的各家公司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07447" y="267726"/>
            <a:ext cx="11104790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6405" indent="-446405">
              <a:lnSpc>
                <a:spcPct val="120000"/>
              </a:lnSpc>
              <a:defRPr sz="32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r>
              <a:rPr lang="en-US" altLang="zh-CN" dirty="0"/>
              <a:t>9. They </a:t>
            </a:r>
            <a:r>
              <a:rPr lang="en-US" altLang="zh-CN" dirty="0">
                <a:solidFill>
                  <a:srgbClr val="FF0000"/>
                </a:solidFill>
              </a:rPr>
              <a:t>employed</a:t>
            </a:r>
            <a:r>
              <a:rPr lang="en-US" altLang="zh-CN" dirty="0"/>
              <a:t> free brushwork and used </a:t>
            </a:r>
            <a:r>
              <a:rPr lang="en-US" altLang="zh-CN" dirty="0" err="1"/>
              <a:t>colours</a:t>
            </a:r>
            <a:r>
              <a:rPr lang="en-US" altLang="zh-CN" dirty="0"/>
              <a:t> to show the effect of light on things, creating paintings that were far less realistic than the works that came before.</a:t>
            </a:r>
          </a:p>
          <a:p>
            <a:r>
              <a:rPr lang="en-US" altLang="zh-CN" dirty="0"/>
              <a:t>    </a:t>
            </a:r>
            <a:r>
              <a:rPr lang="zh-CN" altLang="en-US" dirty="0"/>
              <a:t>他们</a:t>
            </a:r>
            <a:r>
              <a:rPr lang="zh-CN" altLang="en-US" u="sng" dirty="0"/>
              <a:t>运用</a:t>
            </a:r>
            <a:r>
              <a:rPr lang="zh-CN" altLang="en-US" dirty="0"/>
              <a:t>自由的笔法</a:t>
            </a:r>
            <a:r>
              <a:rPr lang="en-US" altLang="zh-CN" dirty="0"/>
              <a:t>, </a:t>
            </a:r>
            <a:r>
              <a:rPr lang="zh-CN" altLang="en-US" dirty="0"/>
              <a:t>使用色彩来表现光线投射在物体上的效果</a:t>
            </a:r>
            <a:r>
              <a:rPr lang="en-US" altLang="zh-CN" dirty="0"/>
              <a:t>, </a:t>
            </a:r>
            <a:r>
              <a:rPr lang="zh-CN" altLang="en-US" dirty="0"/>
              <a:t>创作的画远不如前人之作那么写实。</a:t>
            </a:r>
            <a:endParaRPr lang="en-US" altLang="zh-CN" dirty="0"/>
          </a:p>
        </p:txBody>
      </p:sp>
      <p:sp>
        <p:nvSpPr>
          <p:cNvPr id="6" name="文本框 5"/>
          <p:cNvSpPr txBox="1"/>
          <p:nvPr/>
        </p:nvSpPr>
        <p:spPr>
          <a:xfrm>
            <a:off x="478179" y="3312281"/>
            <a:ext cx="11530941" cy="3044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6405" indent="-446405">
              <a:lnSpc>
                <a:spcPct val="120000"/>
              </a:lnSpc>
              <a:defRPr sz="32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employ  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.  </a:t>
            </a:r>
            <a:r>
              <a:rPr lang="en-US" altLang="zh-CN" dirty="0">
                <a:solidFill>
                  <a:schemeClr val="tx1"/>
                </a:solidFill>
              </a:rPr>
              <a:t>1) </a:t>
            </a:r>
            <a:r>
              <a:rPr lang="en-US" altLang="zh-CN" i="1" dirty="0">
                <a:solidFill>
                  <a:srgbClr val="0070C0"/>
                </a:solidFill>
              </a:rPr>
              <a:t>to </a:t>
            </a:r>
            <a:r>
              <a:rPr lang="en-US" altLang="zh-CN" i="1" dirty="0">
                <a:solidFill>
                  <a:srgbClr val="0070C0"/>
                </a:solidFill>
                <a:sym typeface="+mn-ea"/>
              </a:rPr>
              <a:t>give sb. a job to do for payment </a:t>
            </a:r>
            <a:r>
              <a:rPr lang="en-US" altLang="zh-CN" i="1" dirty="0">
                <a:solidFill>
                  <a:schemeClr val="tx1"/>
                </a:solidFill>
                <a:sym typeface="+mn-ea"/>
              </a:rPr>
              <a:t> </a:t>
            </a:r>
            <a:r>
              <a:rPr lang="zh-CN" altLang="en-US" dirty="0">
                <a:solidFill>
                  <a:schemeClr val="tx1"/>
                </a:solidFill>
                <a:sym typeface="+mn-ea"/>
              </a:rPr>
              <a:t>雇用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-713105" fontAlgn="auto"/>
            <a:r>
              <a:rPr lang="en-US" altLang="zh-CN" dirty="0"/>
              <a:t>A number of people have </a:t>
            </a:r>
            <a:r>
              <a:rPr lang="en-US" altLang="zh-CN" u="sng" dirty="0">
                <a:solidFill>
                  <a:srgbClr val="FF0000"/>
                </a:solidFill>
              </a:rPr>
              <a:t>been employed to deal</a:t>
            </a:r>
            <a:r>
              <a:rPr lang="en-US" altLang="zh-CN" dirty="0"/>
              <a:t> with the backlog of work. 已雇来一些人处理积压的工作。</a:t>
            </a:r>
          </a:p>
          <a:p>
            <a:pPr marL="0" fontAlgn="auto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For the past three years he has </a:t>
            </a:r>
            <a:r>
              <a:rPr lang="en-US" altLang="zh-CN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been employed as</a:t>
            </a:r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 firefighter.</a:t>
            </a:r>
          </a:p>
          <a:p>
            <a:pPr marL="0" fontAlgn="auto"/>
            <a:r>
              <a:rPr lang="en-US" altLang="zh-CN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三年来他一直受雇当消防员。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12667" y="478559"/>
            <a:ext cx="11082647" cy="4225290"/>
          </a:xfrm>
          <a:prstGeom prst="rect">
            <a:avLst/>
          </a:prstGeom>
          <a:ln w="28575">
            <a:solidFill>
              <a:schemeClr val="accent1"/>
            </a:solidFill>
            <a:prstDash val="lgDashDotDot"/>
          </a:ln>
        </p:spPr>
        <p:txBody>
          <a:bodyPr wrap="square">
            <a:spAutoFit/>
          </a:bodyPr>
          <a:lstStyle/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语块积累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 sb. to do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雇用某人做某事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 sb. as… </a:t>
            </a:r>
            <a:r>
              <a:rPr lang="zh-CN" altLang="en-US" sz="3200" b="1" dirty="0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</a:rPr>
              <a:t>雇用某人担任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 oneself in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= be employed in (doing)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2775" indent="-1882775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忙于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某事；从事某活动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（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keep busy/occupied with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She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was employed in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making a list of all the jobs to be done.</a:t>
            </a:r>
          </a:p>
          <a:p>
            <a:pPr marL="1882775" indent="-188277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她忙着把要做的所有工作列一个清单。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340" y="5206771"/>
            <a:ext cx="1451759" cy="812985"/>
          </a:xfrm>
          <a:prstGeom prst="rect">
            <a:avLst/>
          </a:prstGeom>
        </p:spPr>
      </p:pic>
      <p:sp>
        <p:nvSpPr>
          <p:cNvPr id="5" name="矩形 2"/>
          <p:cNvSpPr/>
          <p:nvPr>
            <p:custDataLst>
              <p:tags r:id="rId1"/>
            </p:custDataLst>
          </p:nvPr>
        </p:nvSpPr>
        <p:spPr>
          <a:xfrm>
            <a:off x="2012315" y="4830445"/>
            <a:ext cx="9697085" cy="2011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employee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雇员；受雇者 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employer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雇主，老板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employment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使用；职业；雇用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out of employment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失业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/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unemployment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失业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30224" y="121"/>
            <a:ext cx="11530941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6405" indent="-446405">
              <a:lnSpc>
                <a:spcPct val="120000"/>
              </a:lnSpc>
              <a:defRPr sz="32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employ  </a:t>
            </a:r>
            <a:r>
              <a:rPr lang="en-US" altLang="zh-CN" i="1" dirty="0">
                <a:solidFill>
                  <a:srgbClr val="FF0000"/>
                </a:solidFill>
              </a:rPr>
              <a:t>v</a:t>
            </a:r>
            <a:r>
              <a:rPr lang="en-US" altLang="zh-CN" dirty="0">
                <a:solidFill>
                  <a:srgbClr val="FF0000"/>
                </a:solidFill>
              </a:rPr>
              <a:t>.  2</a:t>
            </a:r>
            <a:r>
              <a:rPr lang="en-US" altLang="zh-CN" dirty="0">
                <a:solidFill>
                  <a:schemeClr val="tx1"/>
                </a:solidFill>
              </a:rPr>
              <a:t>) </a:t>
            </a:r>
            <a:r>
              <a:rPr lang="en-US" altLang="zh-CN" i="1" dirty="0">
                <a:solidFill>
                  <a:srgbClr val="0070C0"/>
                </a:solidFill>
              </a:rPr>
              <a:t>to use sth such as a skill, method, etc. for a particular purpose </a:t>
            </a:r>
            <a:r>
              <a:rPr lang="en-US" altLang="zh-CN" dirty="0">
                <a:solidFill>
                  <a:schemeClr val="tx1"/>
                </a:solidFill>
              </a:rPr>
              <a:t>应用；运用；使用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-713105" fontAlgn="auto"/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employ methods, approaches, techniques, equipment</a:t>
            </a:r>
          </a:p>
          <a:p>
            <a:pPr marL="0" indent="-713105" fontAlgn="auto"/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采用方法，技巧，设备</a:t>
            </a:r>
          </a:p>
          <a:p>
            <a:pPr marL="0" indent="-713105" fontAlgn="auto"/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vocabulary that she employs</a:t>
            </a:r>
          </a:p>
          <a:p>
            <a:pPr marL="0" indent="-713105" fontAlgn="auto"/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她使用的词汇</a:t>
            </a:r>
          </a:p>
          <a:p>
            <a:pPr marL="0" indent="-713105" fontAlgn="auto"/>
            <a:endParaRPr lang="zh-CN" altLang="en-US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-713105" fontAlgn="auto"/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unemployed</a:t>
            </a:r>
            <a:r>
              <a:rPr lang="en-US" altLang="zh-CN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失业的人</a:t>
            </a:r>
          </a:p>
          <a:p>
            <a:pPr marL="0" indent="-713105" fontAlgn="auto"/>
            <a:r>
              <a:rPr lang="zh-CN" altLang="en-US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unemployed capital</a:t>
            </a:r>
            <a:r>
              <a:rPr lang="en-US" altLang="zh-CN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闲置的资金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762001" y="1335652"/>
            <a:ext cx="10689771" cy="45735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 根据汉语提示补全下列句子。</a:t>
            </a: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1)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别打扰他，他正忙着写作文呢。</a:t>
            </a: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Don’t trouble him. He ___________________ writing a composition.</a:t>
            </a: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2) 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这对夫妇失业了，过着艰难的生活。</a:t>
            </a:r>
            <a:endParaRPr lang="en-US" altLang="zh-CN" sz="3200" b="1" dirty="0">
              <a:solidFill>
                <a:prstClr val="black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631825" indent="-631825">
              <a:lnSpc>
                <a:spcPct val="130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 The couple were __________________ and they led a hard life.</a:t>
            </a:r>
          </a:p>
        </p:txBody>
      </p:sp>
      <p:sp>
        <p:nvSpPr>
          <p:cNvPr id="3" name="矩形 2"/>
          <p:cNvSpPr/>
          <p:nvPr/>
        </p:nvSpPr>
        <p:spPr>
          <a:xfrm>
            <a:off x="4323385" y="4539001"/>
            <a:ext cx="35670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out of employment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742078" y="2644939"/>
            <a:ext cx="28969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employed in  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90497" y="417066"/>
            <a:ext cx="11245932" cy="3634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indent="-6286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10. The Impressionists’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vision 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inspired a whole new generation of Post-Impressionist painters such as Vincent van Gogh and Paul Gauguin, whose works are also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displayed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at the 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Mus</a:t>
            </a:r>
            <a:r>
              <a:rPr lang="en-US" altLang="zh-CN" sz="3200" b="1" dirty="0" err="1">
                <a:latin typeface="Times New Roman" panose="02020503050405090304" pitchFamily="18" charset="0"/>
                <a:ea typeface="宋体" pitchFamily="2" charset="-122"/>
                <a:cs typeface="Times New Roman" panose="02020503050405090304" pitchFamily="18" charset="0"/>
                <a:sym typeface="+mn-ea"/>
              </a:rPr>
              <a:t>é</a:t>
            </a:r>
            <a:r>
              <a:rPr lang="en-US" altLang="zh-CN" sz="3200" b="1" dirty="0" err="1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d’Orsay.</a:t>
            </a:r>
          </a:p>
          <a:p>
            <a:pPr marL="62865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印象派的远见卓识启发了新一代的后印象派画家，如文森特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凡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高和保罗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•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高更，奥赛博物馆有展出他们的作品。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0" y="-160020"/>
            <a:ext cx="12192000" cy="717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6405" indent="-446405">
              <a:lnSpc>
                <a:spcPct val="120000"/>
              </a:lnSpc>
              <a:defRPr sz="32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vision n.</a:t>
            </a:r>
            <a:r>
              <a:rPr lang="en-US" altLang="zh-CN" dirty="0">
                <a:solidFill>
                  <a:schemeClr val="tx1"/>
                </a:solidFill>
              </a:rPr>
              <a:t> 1) </a:t>
            </a:r>
            <a:r>
              <a:rPr lang="en-US" altLang="zh-CN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the ability to think about or plan the future with great imagination and intelligence</a:t>
            </a:r>
            <a:r>
              <a:rPr lang="en-US" altLang="zh-CN" dirty="0">
                <a:solidFill>
                  <a:schemeClr val="tx1"/>
                </a:solidFill>
              </a:rPr>
              <a:t> 眼力；远见卓识 (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foresight</a:t>
            </a:r>
            <a:r>
              <a:rPr lang="en-US" altLang="zh-CN" dirty="0">
                <a:solidFill>
                  <a:schemeClr val="tx1"/>
                </a:solidFill>
                <a:sym typeface="+mn-ea"/>
              </a:rPr>
              <a:t>)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a leader of vision </a:t>
            </a:r>
            <a:r>
              <a:rPr lang="en-US" altLang="zh-CN" dirty="0">
                <a:solidFill>
                  <a:schemeClr val="tx1"/>
                </a:solidFill>
              </a:rPr>
              <a:t>有远见的领袖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缺乏远见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对未来有清晰的设想</a:t>
            </a:r>
          </a:p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a lack of vision/have a clear vision of the future </a:t>
            </a:r>
          </a:p>
          <a:p>
            <a:pPr marL="0" fontAlgn="auto"/>
            <a:r>
              <a:rPr lang="en-US" dirty="0">
                <a:solidFill>
                  <a:schemeClr val="tx1"/>
                </a:solidFill>
              </a:rPr>
              <a:t>2) </a:t>
            </a:r>
            <a:r>
              <a:rPr lang="zh-CN" altLang="en-US" dirty="0">
                <a:solidFill>
                  <a:schemeClr val="tx1"/>
                </a:solidFill>
              </a:rPr>
              <a:t>视力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have good/poor/blurred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vision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视力好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差</a:t>
            </a:r>
            <a:r>
              <a:rPr lang="en-US" altLang="zh-CN" dirty="0">
                <a:solidFill>
                  <a:schemeClr val="tx1"/>
                </a:solidFill>
              </a:rPr>
              <a:t>/</a:t>
            </a:r>
            <a:r>
              <a:rPr lang="zh-CN" altLang="en-US" dirty="0">
                <a:solidFill>
                  <a:schemeClr val="tx1"/>
                </a:solidFill>
              </a:rPr>
              <a:t>模糊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The couple moved outside her </a:t>
            </a:r>
            <a:r>
              <a:rPr lang="zh-CN" altLang="en-US" u="sng" dirty="0">
                <a:solidFill>
                  <a:srgbClr val="FF0000"/>
                </a:solidFill>
              </a:rPr>
              <a:t>field of vision</a:t>
            </a:r>
            <a:r>
              <a:rPr lang="zh-CN" altLang="en-US" dirty="0">
                <a:solidFill>
                  <a:schemeClr val="tx1"/>
                </a:solidFill>
              </a:rPr>
              <a:t>.</a:t>
            </a:r>
            <a:r>
              <a:rPr lang="en-US" altLang="zh-CN" dirty="0">
                <a:solidFill>
                  <a:schemeClr val="tx1"/>
                </a:solidFill>
              </a:rPr>
              <a:t> (</a:t>
            </a:r>
            <a:r>
              <a:rPr lang="en-US" altLang="zh-CN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out of sight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这对夫妇离开了她的视野。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He glimpsed something </a:t>
            </a:r>
            <a:r>
              <a:rPr lang="zh-CN" altLang="en-US" u="sng" dirty="0">
                <a:solidFill>
                  <a:srgbClr val="FF0000"/>
                </a:solidFill>
              </a:rPr>
              <a:t>on the edge of his vision</a:t>
            </a:r>
            <a:r>
              <a:rPr lang="zh-CN" altLang="en-US" dirty="0">
                <a:solidFill>
                  <a:schemeClr val="tx1"/>
                </a:solidFill>
              </a:rPr>
              <a:t>.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他斜眼瞥见了点什么。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0" y="-160020"/>
            <a:ext cx="12192000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446405" indent="-446405">
              <a:lnSpc>
                <a:spcPct val="120000"/>
              </a:lnSpc>
              <a:defRPr sz="3200" b="1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defRPr>
            </a:lvl1pPr>
          </a:lstStyle>
          <a:p>
            <a:pPr marL="0" fontAlgn="auto"/>
            <a:r>
              <a:rPr lang="en-US" dirty="0">
                <a:solidFill>
                  <a:srgbClr val="FF0000"/>
                </a:solidFill>
              </a:rPr>
              <a:t>visible </a:t>
            </a:r>
            <a:r>
              <a:rPr lang="en-US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可见的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Most stars </a:t>
            </a:r>
            <a:r>
              <a:rPr lang="zh-CN" altLang="en-US" u="sng" dirty="0">
                <a:solidFill>
                  <a:srgbClr val="FF0000"/>
                </a:solidFill>
              </a:rPr>
              <a:t>are</a:t>
            </a:r>
            <a:r>
              <a:rPr lang="zh-CN" altLang="en-US" dirty="0">
                <a:solidFill>
                  <a:schemeClr val="tx1"/>
                </a:solidFill>
              </a:rPr>
              <a:t> not</a:t>
            </a:r>
            <a:r>
              <a:rPr lang="zh-CN" altLang="en-US" u="sng" dirty="0">
                <a:solidFill>
                  <a:schemeClr val="tx1"/>
                </a:solidFill>
              </a:rPr>
              <a:t> </a:t>
            </a:r>
            <a:r>
              <a:rPr lang="zh-CN" altLang="en-US" u="sng" dirty="0">
                <a:solidFill>
                  <a:srgbClr val="FF0000"/>
                </a:solidFill>
              </a:rPr>
              <a:t>visible</a:t>
            </a:r>
            <a:r>
              <a:rPr lang="zh-CN" altLang="en-US" u="sng" dirty="0">
                <a:solidFill>
                  <a:schemeClr val="tx1"/>
                </a:solidFill>
              </a:rPr>
              <a:t> </a:t>
            </a:r>
            <a:r>
              <a:rPr lang="zh-CN" altLang="en-US" u="sng" dirty="0">
                <a:solidFill>
                  <a:srgbClr val="FF0000"/>
                </a:solidFill>
              </a:rPr>
              <a:t>to</a:t>
            </a:r>
            <a:r>
              <a:rPr lang="zh-CN" altLang="en-US" dirty="0">
                <a:solidFill>
                  <a:schemeClr val="tx1"/>
                </a:solidFill>
              </a:rPr>
              <a:t> the naked </a:t>
            </a:r>
            <a:r>
              <a:rPr lang="zh-CN" altLang="en-US" u="sng" dirty="0">
                <a:solidFill>
                  <a:srgbClr val="FF0000"/>
                </a:solidFill>
              </a:rPr>
              <a:t>eye</a:t>
            </a:r>
            <a:r>
              <a:rPr lang="zh-CN" altLang="en-US" dirty="0">
                <a:solidFill>
                  <a:schemeClr val="tx1"/>
                </a:solidFill>
              </a:rPr>
              <a:t>.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大多数星星肉眼看不见。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The warning lights were clearly </a:t>
            </a:r>
            <a:r>
              <a:rPr lang="zh-CN" altLang="en-US" dirty="0">
                <a:solidFill>
                  <a:srgbClr val="FF0000"/>
                </a:solidFill>
              </a:rPr>
              <a:t>visible</a:t>
            </a:r>
            <a:r>
              <a:rPr lang="zh-CN" altLang="en-US" dirty="0">
                <a:solidFill>
                  <a:schemeClr val="tx1"/>
                </a:solidFill>
              </a:rPr>
              <a:t>.</a:t>
            </a:r>
          </a:p>
          <a:p>
            <a:pPr marL="0" fontAlgn="auto"/>
            <a:r>
              <a:rPr lang="zh-CN" altLang="en-US" dirty="0">
                <a:solidFill>
                  <a:schemeClr val="tx1"/>
                </a:solidFill>
              </a:rPr>
              <a:t>警示信号灯清晰可见。</a:t>
            </a:r>
          </a:p>
          <a:p>
            <a:pPr marL="0" fontAlgn="auto"/>
            <a:endParaRPr lang="zh-CN" altLang="en-US" dirty="0">
              <a:solidFill>
                <a:schemeClr val="tx1"/>
              </a:solidFill>
            </a:endParaRPr>
          </a:p>
          <a:p>
            <a:pPr marL="0" fontAlgn="auto"/>
            <a:r>
              <a:rPr lang="en-US" altLang="zh-CN" dirty="0">
                <a:solidFill>
                  <a:srgbClr val="FF0000"/>
                </a:solidFill>
              </a:rPr>
              <a:t>invisible </a:t>
            </a:r>
            <a:r>
              <a:rPr lang="en-US" altLang="zh-CN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不可见的，隐形的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42240" y="0"/>
            <a:ext cx="11905615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1876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display </a:t>
            </a:r>
            <a:r>
              <a:rPr lang="en-US" altLang="zh-CN" sz="3200" b="1" i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vt.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</a:rPr>
              <a:t> 1)</a:t>
            </a:r>
            <a:r>
              <a:rPr lang="en-US" altLang="zh-CN" sz="3200" b="1" i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to put something in a place where people can see it easily; to show something to people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陈列，展出</a:t>
            </a:r>
          </a:p>
          <a:p>
            <a:pPr indent="-187642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该展览为当地艺术家提供了展示其作品的机会。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exhibition gives local artists an opportunity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display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their work.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 to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show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展示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supporting cast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displays real acting talent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window display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changes once a month.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an impressive display of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strength and courage</a:t>
            </a:r>
          </a:p>
          <a:p>
            <a:pPr indent="-630555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firework display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烟火展示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88768" y="1021277"/>
            <a:ext cx="10604665" cy="481584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语块积累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 display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展出，陈列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</a:t>
            </a:r>
            <a:r>
              <a:rPr lang="en-US" altLang="zh-CN" sz="3200" b="1" dirty="0" err="1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on display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展出某物</a:t>
            </a:r>
          </a:p>
          <a:p>
            <a:pPr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Designs for the new sports hall </a:t>
            </a:r>
            <a:r>
              <a:rPr lang="zh-CN" altLang="en-US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on display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in the library.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新体育馆的设计图展示在图书馆里。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sth on temporary/permanent display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临时／长期展出某物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67690" y="1531620"/>
            <a:ext cx="11624310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She __________(display) great interest when visiting the museum yesterday.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latest models will be __________ display at the motor show.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3) His pictures _____________(display) at the art gallery when you come in.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4)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这个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节目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的特色是展示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麦克的一些服装设计。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show featured a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display 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of some of Mack's costume designs.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935678" y="2090057"/>
            <a:ext cx="1848583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displayed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13462" y="3330485"/>
            <a:ext cx="617477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on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289465" y="3962514"/>
            <a:ext cx="2514406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displayed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466726" y="1143953"/>
            <a:ext cx="11137446" cy="4579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31825" indent="-631825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also worthy of note that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Post-Impressionist painters were not the only ones to be influenced by Impressionism – the movement has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had a lasting influence on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modern art, encouraging artists to look at the world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from an entirely new point of view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marL="631825" indent="-631825">
              <a:lnSpc>
                <a:spcPct val="114000"/>
              </a:lnSpc>
            </a:pP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    </a:t>
            </a:r>
            <a:r>
              <a:rPr lang="en-US" altLang="zh-CN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u="sng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值得注意的是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后印象派画家并不是唯一受印象派影响的群体 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―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这场运动还对现代艺术产生了持久的影响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, </a:t>
            </a:r>
            <a:r>
              <a:rPr lang="zh-CN" altLang="en-US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鼓励着艺术家们从一个全新的视角去看待世界。</a:t>
            </a:r>
            <a:r>
              <a:rPr lang="en-US" altLang="zh-CN" sz="3200" b="1" dirty="0">
                <a:solidFill>
                  <a:prstClr val="black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</p:txBody>
      </p:sp>
    </p:spTree>
    <p:custDataLst>
      <p:tags r:id="rId1"/>
    </p:custData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56210" y="160655"/>
            <a:ext cx="11895455" cy="658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worthy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 </a:t>
            </a: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</a:rPr>
              <a:t>1)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having the qualities that </a:t>
            </a:r>
            <a:r>
              <a:rPr lang="en-US" altLang="zh-CN" sz="3200" b="1" i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deserve </a:t>
            </a:r>
            <a:r>
              <a:rPr lang="en-US" altLang="zh-CN" sz="3200" b="1" i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sb./</a:t>
            </a:r>
            <a:r>
              <a:rPr lang="en-US" altLang="zh-CN" sz="3200" b="1" i="1" dirty="0" err="1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sth</a:t>
            </a:r>
            <a:r>
              <a:rPr lang="en-US" altLang="zh-CN" sz="3200" b="1" i="1" dirty="0">
                <a:solidFill>
                  <a:srgbClr val="0070C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值得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或应得</a:t>
            </a:r>
            <a:r>
              <a:rPr lang="en-US" altLang="zh-CN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)……</a:t>
            </a:r>
            <a:r>
              <a:rPr lang="zh-CN" altLang="en-US" sz="3200" b="1" dirty="0">
                <a:solidFill>
                  <a:schemeClr val="tx1"/>
                </a:solidFill>
                <a:latin typeface="Times New Roman Regular" panose="02020503050405090304" charset="0"/>
                <a:cs typeface="Times New Roman Regular" panose="02020503050405090304" charset="0"/>
              </a:rPr>
              <a:t>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fontAlgn="auto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number of the report’s findings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worthy of note/notice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值得注意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worthy of attention</a:t>
            </a:r>
          </a:p>
          <a:p>
            <a:pPr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荣誉当之无愧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be worthy of the honour</a:t>
            </a:r>
          </a:p>
          <a:p>
            <a:pPr indent="-2243455" fontAlgn="auto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 composer was considered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worthy of the name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until he had written an opera.</a:t>
            </a:r>
          </a:p>
          <a:p>
            <a:pPr indent="-2243455" fontAlgn="auto">
              <a:lnSpc>
                <a:spcPct val="120000"/>
              </a:lnSpc>
            </a:pP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名副其实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3455" fontAlgn="auto">
              <a:lnSpc>
                <a:spcPct val="120000"/>
              </a:lnSpc>
            </a:pP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derserving</a:t>
            </a:r>
            <a:r>
              <a:rPr 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(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名词前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值得尊敬的，值得敬仰的</a:t>
            </a:r>
          </a:p>
          <a:p>
            <a:pPr indent="-2243455" fontAlgn="auto"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money we raise will be going to </a:t>
            </a:r>
            <a:r>
              <a:rPr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very worthy cause</a:t>
            </a:r>
            <a:r>
              <a:rPr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  <a:endParaRPr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-2243455" fontAlgn="auto">
              <a:lnSpc>
                <a:spcPct val="120000"/>
              </a:lnSpc>
            </a:pPr>
            <a:r>
              <a:rPr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我们筹集的钱款将用于非常崇高的事业。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-154305"/>
            <a:ext cx="12192635" cy="6858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trustworthy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值得信任的			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noteworthy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值得注意的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值得的；有</a:t>
            </a:r>
            <a:r>
              <a:rPr lang="en-US" altLang="zh-CN" sz="3200" b="1" dirty="0">
                <a:latin typeface="+mn-ea"/>
                <a:cs typeface="Times New Roman" panose="02020503050405090304" pitchFamily="18" charset="0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的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价值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]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n.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财富，财产；价值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How much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this painting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?</a:t>
            </a:r>
          </a:p>
          <a:p>
            <a:pPr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这家博物馆值得参观。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museum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certainly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 a visit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 (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...is worth visiting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这个想法很值得考虑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。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This idea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is well worth considering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winner will receive ten pounds’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worth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of books.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worthwhile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adj.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值得的；值得做的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[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\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定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\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宾补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]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It is worthwhile to include/including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really high-quality illustrations.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It was in aid of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worthwhile cause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High prices in the UK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make it worthwhile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for buyers to look abroad.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37811" y="596664"/>
            <a:ext cx="723260" cy="11063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667000" y="828191"/>
            <a:ext cx="5086649" cy="6267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worthwhile, worthy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与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worth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812800" y="1626808"/>
          <a:ext cx="10911114" cy="4740148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65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词条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用法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常见句型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worthwhile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表示“值得花时间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(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或钱、努力等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)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，值得做的”，可作表语、定语和补语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It is worthwhile doing/ to do </a:t>
                      </a:r>
                      <a:r>
                        <a:rPr lang="en-US" altLang="zh-CN" sz="2800" b="1" dirty="0" err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sth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worthy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作定语修饰名词时，表示“值得尊敬的，值得敬仰的”；作表语时表示“值得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(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或应得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)……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的”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Sb. / </a:t>
                      </a:r>
                      <a:r>
                        <a:rPr lang="en-US" altLang="zh-CN" sz="2800" b="1" dirty="0" err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Sth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 is worthy+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of +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  <a:sym typeface="+mn-ea"/>
                        </a:rPr>
                        <a:t>名词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of</a:t>
                      </a:r>
                      <a:r>
                        <a:rPr lang="en-US" altLang="zh-CN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being done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to be done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baseline="0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 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左大括号 4"/>
          <p:cNvSpPr/>
          <p:nvPr/>
        </p:nvSpPr>
        <p:spPr>
          <a:xfrm>
            <a:off x="8186057" y="4680857"/>
            <a:ext cx="76200" cy="108857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442685" y="1003980"/>
          <a:ext cx="10911114" cy="2645156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2065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08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7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词条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用法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常见句型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worth</a:t>
                      </a:r>
                      <a:endParaRPr lang="zh-CN" altLang="en-US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一般用作表语，其前可用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well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修饰，一般不用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very 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修饰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Sb./ </a:t>
                      </a:r>
                      <a:r>
                        <a:rPr lang="en-US" altLang="zh-CN" sz="2800" b="1" dirty="0" err="1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Sth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. is worth+</a:t>
                      </a: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名词</a:t>
                      </a:r>
                      <a:endParaRPr lang="en-US" altLang="zh-CN" sz="2800" b="1" dirty="0"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  <a:p>
                      <a:pPr>
                        <a:lnSpc>
                          <a:spcPct val="120000"/>
                        </a:lnSpc>
                      </a:pP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doing(</a:t>
                      </a:r>
                      <a:r>
                        <a:rPr lang="zh-CN" altLang="en-US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用主动形式表被动意义</a:t>
                      </a:r>
                      <a:r>
                        <a:rPr lang="en-US" altLang="zh-CN" sz="2800" b="1" dirty="0"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左大括号 2"/>
          <p:cNvSpPr/>
          <p:nvPr/>
        </p:nvSpPr>
        <p:spPr>
          <a:xfrm>
            <a:off x="7665720" y="1830705"/>
            <a:ext cx="111760" cy="188404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442685" y="3714008"/>
            <a:ext cx="10526486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语境应用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】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单句语法填空。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1) It is worthwhile _______________ (work) hard.</a:t>
            </a:r>
          </a:p>
          <a:p>
            <a:pPr marL="446405" indent="-446405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2) The film is so meaningful and worth _________ (see) a second time.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686626" y="4258772"/>
            <a:ext cx="3189515" cy="631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working/ to work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65580" y="4835237"/>
            <a:ext cx="1257075" cy="6317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seeing</a:t>
            </a:r>
            <a:endParaRPr lang="zh-CN" altLang="en-US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7308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2、3、6、8、10、11、12、15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187308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0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>
            <a:latin typeface="Times New Roman" panose="02020503050405090304" pitchFamily="18" charset="0"/>
            <a:cs typeface="Times New Roman" panose="02020503050405090304" pitchFamily="18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4289</Words>
  <Application>Microsoft Macintosh PowerPoint</Application>
  <PresentationFormat>Widescreen</PresentationFormat>
  <Paragraphs>392</Paragraphs>
  <Slides>46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4" baseType="lpstr">
      <vt:lpstr>微软雅黑</vt:lpstr>
      <vt:lpstr>宋体</vt:lpstr>
      <vt:lpstr>Times New Roman Bold</vt:lpstr>
      <vt:lpstr>Times New Roman Bold Italic</vt:lpstr>
      <vt:lpstr>Times New Roman Regular</vt:lpstr>
      <vt:lpstr>Arial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336</cp:revision>
  <dcterms:created xsi:type="dcterms:W3CDTF">2024-06-16T07:52:16Z</dcterms:created>
  <dcterms:modified xsi:type="dcterms:W3CDTF">2026-07-23T00:55:24Z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1033-6.7.1.8828</vt:lpwstr>
  </property>
  <property fmtid="{D5CDD505-2E9C-101B-9397-08002B2CF9AE}" pid="3" name="ICV">
    <vt:lpwstr>1184E8EB1A51FA5A0A766564B1A2A665_42</vt:lpwstr>
  </property>
</Properties>
</file>