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62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ags/tag63.xml" ContentType="application/vnd.openxmlformats-officedocument.presentationml.tags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3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4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tags/tag72.xml" ContentType="application/vnd.openxmlformats-officedocument.presentationml.tags+xml"/>
  <Override PartName="/ppt/theme/themeOverride5.xml" ContentType="application/vnd.openxmlformats-officedocument.themeOverride+xml"/>
  <Override PartName="/ppt/tags/tag73.xml" ContentType="application/vnd.openxmlformats-officedocument.presentationml.tags+xml"/>
  <Override PartName="/ppt/theme/themeOverride6.xml" ContentType="application/vnd.openxmlformats-officedocument.themeOverride+xml"/>
  <Override PartName="/ppt/tags/tag74.xml" ContentType="application/vnd.openxmlformats-officedocument.presentationml.tags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heme/themeOverride8.xml" ContentType="application/vnd.openxmlformats-officedocument.themeOverride+xml"/>
  <Override PartName="/ppt/tags/tag77.xml" ContentType="application/vnd.openxmlformats-officedocument.presentationml.tags+xml"/>
  <Override PartName="/ppt/theme/themeOverride9.xml" ContentType="application/vnd.openxmlformats-officedocument.themeOverride+xml"/>
  <Override PartName="/ppt/tags/tag78.xml" ContentType="application/vnd.openxmlformats-officedocument.presentationml.tags+xml"/>
  <Override PartName="/ppt/theme/themeOverride10.xml" ContentType="application/vnd.openxmlformats-officedocument.themeOverr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heme/themeOverride11.xml" ContentType="application/vnd.openxmlformats-officedocument.themeOverride+xml"/>
  <Override PartName="/ppt/tags/tag84.xml" ContentType="application/vnd.openxmlformats-officedocument.presentationml.tags+xml"/>
  <Override PartName="/ppt/theme/themeOverride12.xml" ContentType="application/vnd.openxmlformats-officedocument.themeOverr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7.xml" ContentType="application/vnd.openxmlformats-officedocument.presentationml.notesSlide+xml"/>
  <Override PartName="/ppt/tags/tag87.xml" ContentType="application/vnd.openxmlformats-officedocument.presentationml.tags+xml"/>
  <Override PartName="/ppt/notesSlides/notesSlide8.xml" ContentType="application/vnd.openxmlformats-officedocument.presentationml.notesSlide+xml"/>
  <Override PartName="/ppt/tags/tag88.xml" ContentType="application/vnd.openxmlformats-officedocument.presentationml.tags+xml"/>
  <Override PartName="/ppt/notesSlides/notesSlide9.xml" ContentType="application/vnd.openxmlformats-officedocument.presentationml.notesSlide+xml"/>
  <Override PartName="/ppt/tags/tag89.xml" ContentType="application/vnd.openxmlformats-officedocument.presentationml.tags+xml"/>
  <Override PartName="/ppt/notesSlides/notesSlide10.xml" ContentType="application/vnd.openxmlformats-officedocument.presentationml.notesSlide+xml"/>
  <Override PartName="/ppt/theme/themeOverride13.xml" ContentType="application/vnd.openxmlformats-officedocument.themeOverride+xml"/>
  <Override PartName="/ppt/tags/tag90.xml" ContentType="application/vnd.openxmlformats-officedocument.presentationml.tags+xml"/>
  <Override PartName="/ppt/notesSlides/notesSlide11.xml" ContentType="application/vnd.openxmlformats-officedocument.presentationml.notesSlide+xml"/>
  <Override PartName="/ppt/theme/themeOverride14.xml" ContentType="application/vnd.openxmlformats-officedocument.themeOverride+xml"/>
  <Override PartName="/ppt/tags/tag91.xml" ContentType="application/vnd.openxmlformats-officedocument.presentationml.tags+xml"/>
  <Override PartName="/ppt/notesSlides/notesSlide12.xml" ContentType="application/vnd.openxmlformats-officedocument.presentationml.notesSlide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heme/themeOverride15.xml" ContentType="application/vnd.openxmlformats-officedocument.themeOverride+xml"/>
  <Override PartName="/ppt/tags/tag94.xml" ContentType="application/vnd.openxmlformats-officedocument.presentationml.tags+xml"/>
  <Override PartName="/ppt/notesSlides/notesSlide13.xml" ContentType="application/vnd.openxmlformats-officedocument.presentationml.notesSlide+xml"/>
  <Override PartName="/ppt/theme/themeOverride16.xml" ContentType="application/vnd.openxmlformats-officedocument.themeOverride+xml"/>
  <Override PartName="/ppt/tags/tag95.xml" ContentType="application/vnd.openxmlformats-officedocument.presentationml.tags+xml"/>
  <Override PartName="/ppt/theme/themeOverride17.xml" ContentType="application/vnd.openxmlformats-officedocument.themeOverride+xml"/>
  <Override PartName="/ppt/tags/tag96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307" r:id="rId2"/>
    <p:sldId id="381" r:id="rId3"/>
    <p:sldId id="343" r:id="rId4"/>
    <p:sldId id="282" r:id="rId5"/>
    <p:sldId id="292" r:id="rId6"/>
    <p:sldId id="311" r:id="rId7"/>
    <p:sldId id="312" r:id="rId8"/>
    <p:sldId id="313" r:id="rId9"/>
    <p:sldId id="314" r:id="rId10"/>
    <p:sldId id="285" r:id="rId11"/>
    <p:sldId id="309" r:id="rId12"/>
    <p:sldId id="310" r:id="rId13"/>
    <p:sldId id="344" r:id="rId14"/>
    <p:sldId id="345" r:id="rId15"/>
    <p:sldId id="382" r:id="rId16"/>
    <p:sldId id="346" r:id="rId17"/>
    <p:sldId id="347" r:id="rId18"/>
    <p:sldId id="348" r:id="rId19"/>
    <p:sldId id="281" r:id="rId20"/>
    <p:sldId id="320" r:id="rId21"/>
    <p:sldId id="296" r:id="rId22"/>
    <p:sldId id="416" r:id="rId23"/>
    <p:sldId id="289" r:id="rId24"/>
    <p:sldId id="305" r:id="rId25"/>
    <p:sldId id="287" r:id="rId26"/>
    <p:sldId id="301" r:id="rId27"/>
    <p:sldId id="302" r:id="rId28"/>
    <p:sldId id="277" r:id="rId29"/>
    <p:sldId id="303" r:id="rId30"/>
    <p:sldId id="417" r:id="rId31"/>
    <p:sldId id="323" r:id="rId32"/>
    <p:sldId id="324" r:id="rId33"/>
    <p:sldId id="290" r:id="rId34"/>
    <p:sldId id="291" r:id="rId35"/>
    <p:sldId id="349" r:id="rId3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FF3399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3899" autoAdjust="0"/>
  </p:normalViewPr>
  <p:slideViewPr>
    <p:cSldViewPr snapToGrid="0" snapToObjects="1" showGuides="1">
      <p:cViewPr varScale="1">
        <p:scale>
          <a:sx n="102" d="100"/>
          <a:sy n="102" d="100"/>
        </p:scale>
        <p:origin x="968" y="176"/>
      </p:cViewPr>
      <p:guideLst>
        <p:guide orient="horz" pos="220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2026/7/23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gain insght into / provide insights into / a deep/brief insight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gain insght into / provide insights into / a deep/brief insight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陆上风光</a:t>
            </a:r>
          </a:p>
          <a:p>
            <a:r>
              <a:rPr lang="en-US" altLang="zh-CN"/>
              <a:t>\</a:t>
            </a:r>
            <a:r>
              <a:rPr lang="zh-CN" altLang="en-US"/>
              <a:t>medo</a:t>
            </a:r>
            <a:r>
              <a:rPr lang="en-US" altLang="zh-CN"/>
              <a:t>w\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~ (with sth) full of emotion, excitement, activity, etc. 情绪饱满；激动兴奋；有生气；有活力</a:t>
            </a:r>
          </a:p>
          <a:p>
            <a:r>
              <a:rPr lang="en-US"/>
              <a:t>Ed was alive with happiness.</a:t>
            </a:r>
          </a:p>
          <a:p>
            <a:r>
              <a:rPr lang="en-US"/>
              <a:t>埃德高兴得眉飞色舞。</a:t>
            </a:r>
          </a:p>
          <a:p>
            <a:r>
              <a:rPr lang="en-US"/>
              <a:t>a huge sea of green alive with the sound of animals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walk </a:t>
            </a:r>
            <a:r>
              <a:rPr lang="zh-CN" altLang="en-US"/>
              <a:t>行为方式、生活方式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highly ambitious politician</a:t>
            </a:r>
          </a:p>
          <a:p>
            <a:r>
              <a:rPr lang="en-US"/>
              <a:t>immense</a:t>
            </a:r>
          </a:p>
          <a:p>
            <a:r>
              <a:rPr lang="en-US"/>
              <a:t>enormous  impact/effort/cost/pleasure/</a:t>
            </a:r>
          </a:p>
          <a:p>
            <a:r>
              <a:rPr lang="en-US" altLang="zh-CN" b="1" dirty="0">
                <a:sym typeface="+mn-ea"/>
              </a:rPr>
              <a:t>The bedroom is 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enormous</a:t>
            </a:r>
            <a:r>
              <a:rPr lang="en-US" altLang="zh-CN" b="1" dirty="0">
                <a:sym typeface="+mn-ea"/>
              </a:rPr>
              <a:t>.</a:t>
            </a:r>
            <a:endParaRPr lang="en-US" altLang="zh-CN" b="1" dirty="0">
              <a:solidFill>
                <a:schemeClr val="tx1"/>
              </a:solidFill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go through crisis/in times of crisis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on the rise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What it boils down to sb/sth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这就是我的诺言，我会再来的。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这就是我的诺言，我会再来的。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display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历史人物</a:t>
            </a:r>
            <a:r>
              <a:rPr lang="en-US" altLang="zh-CN"/>
              <a:t> 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historical figures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2.xml"/><Relationship Id="rId1" Type="http://schemas.openxmlformats.org/officeDocument/2006/relationships/themeOverride" Target="../theme/themeOverride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3.xml"/><Relationship Id="rId1" Type="http://schemas.openxmlformats.org/officeDocument/2006/relationships/themeOverride" Target="../theme/themeOverride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4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2.xml"/><Relationship Id="rId1" Type="http://schemas.openxmlformats.org/officeDocument/2006/relationships/themeOverride" Target="../theme/themeOverrid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3.xml"/><Relationship Id="rId1" Type="http://schemas.openxmlformats.org/officeDocument/2006/relationships/themeOverride" Target="../theme/themeOverrid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4.xml"/><Relationship Id="rId1" Type="http://schemas.openxmlformats.org/officeDocument/2006/relationships/themeOverride" Target="../theme/themeOverride6.xml"/><Relationship Id="rId4" Type="http://schemas.openxmlformats.org/officeDocument/2006/relationships/notesSlide" Target="../notesSlides/notesSlid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5.xml"/><Relationship Id="rId1" Type="http://schemas.openxmlformats.org/officeDocument/2006/relationships/themeOverride" Target="../theme/themeOverride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7.xml"/><Relationship Id="rId1" Type="http://schemas.openxmlformats.org/officeDocument/2006/relationships/themeOverride" Target="../theme/themeOverrid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8.xml"/><Relationship Id="rId1" Type="http://schemas.openxmlformats.org/officeDocument/2006/relationships/themeOverride" Target="../theme/themeOverride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9.xml"/><Relationship Id="rId1" Type="http://schemas.openxmlformats.org/officeDocument/2006/relationships/themeOverride" Target="../theme/themeOverride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4.xml"/><Relationship Id="rId1" Type="http://schemas.openxmlformats.org/officeDocument/2006/relationships/themeOverride" Target="../theme/themeOverride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5.xml"/><Relationship Id="rId1" Type="http://schemas.openxmlformats.org/officeDocument/2006/relationships/themeOverride" Target="../theme/themeOverride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0.xml"/><Relationship Id="rId1" Type="http://schemas.openxmlformats.org/officeDocument/2006/relationships/themeOverride" Target="../theme/themeOverride13.xml"/><Relationship Id="rId4" Type="http://schemas.openxmlformats.org/officeDocument/2006/relationships/notesSlide" Target="../notesSlides/notesSlide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1.xml"/><Relationship Id="rId1" Type="http://schemas.openxmlformats.org/officeDocument/2006/relationships/themeOverride" Target="../theme/themeOverride14.xml"/><Relationship Id="rId4" Type="http://schemas.openxmlformats.org/officeDocument/2006/relationships/notesSlide" Target="../notesSlides/notesSlide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4.xml"/><Relationship Id="rId1" Type="http://schemas.openxmlformats.org/officeDocument/2006/relationships/themeOverride" Target="../theme/themeOverride15.xml"/><Relationship Id="rId4" Type="http://schemas.openxmlformats.org/officeDocument/2006/relationships/notesSlide" Target="../notesSlides/notesSlide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5.xml"/><Relationship Id="rId1" Type="http://schemas.openxmlformats.org/officeDocument/2006/relationships/themeOverride" Target="../theme/themeOverride1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96.xml"/><Relationship Id="rId1" Type="http://schemas.openxmlformats.org/officeDocument/2006/relationships/themeOverride" Target="../theme/themeOverride17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1365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..., it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offers an important insight into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life in China...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提供了对……的重要的洞察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book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gives us fascinating insights into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life in Mexico.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这本书生动地表现了墨西哥的生活。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这是一部有趣的电影，充满了对宇宙起源的独到的见解。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 was an interesting movie, full of ___________________________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96000" y="2912745"/>
            <a:ext cx="542988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unique insights into the origin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-8890" y="342900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of the universe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1365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insight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un.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洞察力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is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 leader of great insight.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person with considerable insigt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富有洞察力的人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insightful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富有洞察力的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有见地的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If you find this video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insightful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share it with someone who would benefit from it.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6220" y="1302365"/>
            <a:ext cx="11593830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is commonly believed that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city described in the painting is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Bianjing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(present-day Kaifeng), the capital of the Northern Song Dynasty. </a:t>
            </a:r>
          </a:p>
          <a:p>
            <a:pPr marL="446405" indent="-446405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5080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句意：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人们通常认为，画中描绘的城市是汴京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今开封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，即北宋的都城。</a:t>
            </a:r>
          </a:p>
        </p:txBody>
      </p:sp>
      <p:sp>
        <p:nvSpPr>
          <p:cNvPr id="3" name="圆角矩形标注 2"/>
          <p:cNvSpPr/>
          <p:nvPr/>
        </p:nvSpPr>
        <p:spPr>
          <a:xfrm>
            <a:off x="733984" y="496816"/>
            <a:ext cx="8602035" cy="646986"/>
          </a:xfrm>
          <a:prstGeom prst="wedgeRoundRectCallout">
            <a:avLst>
              <a:gd name="adj1" fmla="val -41477"/>
              <a:gd name="adj2" fmla="val 97321"/>
              <a:gd name="adj3" fmla="val 16667"/>
            </a:avLst>
          </a:prstGeom>
          <a:ln w="31750">
            <a:solidFill>
              <a:schemeClr val="accent2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是形式主语，真正的主语是后面的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从句。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745357" y="2491409"/>
            <a:ext cx="470452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733984" y="3081131"/>
            <a:ext cx="2420033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圆角矩形标注 7"/>
          <p:cNvSpPr/>
          <p:nvPr/>
        </p:nvSpPr>
        <p:spPr>
          <a:xfrm>
            <a:off x="4824617" y="2757638"/>
            <a:ext cx="5032259" cy="646986"/>
          </a:xfrm>
          <a:prstGeom prst="wedgeRoundRectCallout">
            <a:avLst>
              <a:gd name="adj1" fmla="val 11192"/>
              <a:gd name="adj2" fmla="val -80881"/>
              <a:gd name="adj3" fmla="val 16667"/>
            </a:avLst>
          </a:prstGeom>
          <a:ln w="31750">
            <a:solidFill>
              <a:schemeClr val="accent2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同位语，解释说明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Bianjing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18353" y="4951088"/>
            <a:ext cx="1070623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+mj-ea"/>
                <a:ea typeface="+mj-ea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+mj-ea"/>
                <a:ea typeface="+mj-ea"/>
              </a:rPr>
              <a:t>仿写</a:t>
            </a:r>
            <a:r>
              <a:rPr lang="en-US" altLang="zh-CN" sz="3200" b="1" dirty="0">
                <a:solidFill>
                  <a:srgbClr val="0000FF"/>
                </a:solidFill>
                <a:latin typeface="+mj-ea"/>
                <a:ea typeface="+mj-ea"/>
              </a:rPr>
              <a:t>】</a:t>
            </a:r>
            <a:r>
              <a:rPr lang="zh-CN" altLang="en-US" sz="3200" b="1" dirty="0">
                <a:latin typeface="+mj-ea"/>
                <a:ea typeface="+mj-ea"/>
              </a:rPr>
              <a:t>据说，拉丁语是一门难学的语言。</a:t>
            </a:r>
          </a:p>
        </p:txBody>
      </p:sp>
      <p:sp>
        <p:nvSpPr>
          <p:cNvPr id="10" name="矩形 9"/>
          <p:cNvSpPr/>
          <p:nvPr/>
        </p:nvSpPr>
        <p:spPr>
          <a:xfrm>
            <a:off x="733984" y="5685194"/>
            <a:ext cx="1109606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It is said that Latin is a hard language to learn.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8" grpId="0" bldLvl="0" animBg="1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7307" y="494139"/>
            <a:ext cx="1159764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2. The first section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presents a peaceful scene of rural life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near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Bianjing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featuring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crop fields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river winding through the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landscape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and farmers hard at work.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第一部分</a:t>
            </a:r>
            <a:r>
              <a:rPr lang="zh-CN" altLang="en-US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展现了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汴京近郊</a:t>
            </a:r>
            <a:r>
              <a:rPr lang="zh-CN" altLang="en-US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恬静的乡村生活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，重点描绘了</a:t>
            </a:r>
            <a:r>
              <a:rPr lang="zh-CN" altLang="en-US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农田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、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zh-CN" altLang="en-US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蜿蜒而过的河流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和辛勤劳作的农民。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wind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v.</a:t>
            </a:r>
            <a:r>
              <a:rPr lang="en-US" altLang="zh-CN" sz="3200" b="1" i="1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have many bends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道路、河流等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蜿蜒，迂回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path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wound down 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beach.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这条小路弯弯曲曲通向海滩。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river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winds its way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between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two meadows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草地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弯弯曲曲的街道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4689475" y="5732780"/>
            <a:ext cx="2813050" cy="6819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winding streets</a:t>
            </a:r>
            <a:endParaRPr 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0821" y="248410"/>
            <a:ext cx="11186286" cy="3044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上发条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Did you remember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wind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watch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(up)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?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缠绕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wound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scarf around her neck to keep herself warm.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她把围巾围在脖子上保暖。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0530" y="214630"/>
            <a:ext cx="11599545" cy="4833620"/>
          </a:xfrm>
          <a:prstGeom prst="rect">
            <a:avLst/>
          </a:prstGeom>
          <a:noFill/>
          <a:ln>
            <a:solidFill>
              <a:schemeClr val="accent1"/>
            </a:solidFill>
            <a:prstDash val="lgDashDotDot"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语块积累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wind along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蜿蜒向前，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沿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+mn-ea"/>
                <a:cs typeface="Times New Roman" panose="02020503050405090304" pitchFamily="18" charset="0"/>
              </a:rPr>
              <a:t>蜿蜒向前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wind through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使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贯穿其中</a:t>
            </a:r>
            <a:endParaRPr lang="en-US" altLang="zh-CN" sz="3200" b="1" dirty="0">
              <a:latin typeface="+mn-ea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wind around/ round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缠绕，盘旋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wind back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倒带，倒片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wind up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上发条；将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车窗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摇上去；使结束</a:t>
            </a: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It’s getting late so let’s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wind things up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(end up)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wind down = relax, unwind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将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车窗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摇下来，放松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430530" y="5257165"/>
            <a:ext cx="11598910" cy="1600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*Music helps me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unwind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after a busy day.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音乐使我在忙碌一天后得以放松。(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relax, wind down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2752" y="829056"/>
            <a:ext cx="10911840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I don’t know why the thread is winding _________ the branches.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We can see from the tower that the road winds _________ a small forest.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Please wind the windows _________, as the wind is so strong outside.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4) Would you please wind the film _________ to the part where the child comes in?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0560" y="1414272"/>
            <a:ext cx="145321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around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473184" y="2511552"/>
            <a:ext cx="1589474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through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08695" y="3681984"/>
            <a:ext cx="63991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up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32320" y="4925568"/>
            <a:ext cx="102784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back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79400" y="119380"/>
            <a:ext cx="11696700" cy="61036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54330" indent="-3543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3. The second section shows the riverbanks and the central bridge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alive with activity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as boats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sail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in and out of </a:t>
            </a:r>
            <a:r>
              <a:rPr lang="en-US" altLang="zh-CN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Bianjing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marL="354330">
              <a:lnSpc>
                <a:spcPct val="120000"/>
              </a:lnSpc>
            </a:pPr>
            <a:r>
              <a:rPr lang="zh-CN" altLang="en-US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熙熙攘攘的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河岸和中心桥，往来京城的船只穿梭着。</a:t>
            </a:r>
          </a:p>
          <a:p>
            <a:pPr marL="354330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5433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sail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vi. &amp;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vt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乘船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航行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54330">
              <a:lnSpc>
                <a:spcPct val="120000"/>
              </a:lnSpc>
            </a:pP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sail into harbour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驶入海港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/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sail the Atlantic </a:t>
            </a:r>
            <a:endParaRPr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54330">
              <a:lnSpc>
                <a:spcPct val="120000"/>
              </a:lnSpc>
            </a:pPr>
            <a:r>
              <a:rPr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最早进行环球航行的人之一</a:t>
            </a:r>
            <a:endParaRPr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54330">
              <a:lnSpc>
                <a:spcPct val="120000"/>
              </a:lnSpc>
            </a:pP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one of the first people to sail around the world</a:t>
            </a:r>
          </a:p>
          <a:p>
            <a:pPr marL="354330">
              <a:lnSpc>
                <a:spcPct val="120000"/>
              </a:lnSpc>
            </a:pP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sail at 2 p.m. tomorrow.</a:t>
            </a:r>
          </a:p>
          <a:p>
            <a:pPr marL="354330">
              <a:lnSpc>
                <a:spcPct val="120000"/>
              </a:lnSpc>
            </a:pP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我们明天下午两点</a:t>
            </a:r>
            <a:r>
              <a:rPr sz="3200" b="1" u="sng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起航</a:t>
            </a:r>
            <a:r>
              <a:rPr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  <a:p>
            <a:pPr marL="354330">
              <a:lnSpc>
                <a:spcPct val="120000"/>
              </a:lnSpc>
            </a:pPr>
            <a:endParaRPr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35" y="152400"/>
            <a:ext cx="12315190" cy="25419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Blake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sailed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ship safely through the narrow passage.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驾驶船只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clouds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sailing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across the sky</a:t>
            </a:r>
          </a:p>
          <a:p>
            <a:pPr>
              <a:lnSpc>
                <a:spcPct val="120000"/>
              </a:lnSpc>
            </a:pPr>
            <a:r>
              <a:rPr lang="en-US" altLang="zh-CN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飘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过天空的云彩 </a:t>
            </a:r>
            <a:r>
              <a:rPr lang="en-US" altLang="zh-CN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move quickly and smoothly in a particular direction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719455" indent="-719455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sail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n.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帆</a:t>
            </a:r>
            <a:endParaRPr lang="en-US" sz="3200" b="1" i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719455" indent="-71945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As the boat moved down the river the wind began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fill the sails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 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went for a sail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我们乘船兜了一趟风。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7730" y="422503"/>
            <a:ext cx="11320860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4. Here, hundreds of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people from all walks of life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including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butchers, hairdressers and government officials, can be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seen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going about their daily business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我们能看到数以百计</a:t>
            </a:r>
            <a:r>
              <a:rPr lang="zh-CN" altLang="en-US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各行各业的人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，肉贩、理发匠、官差，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都在</a:t>
            </a:r>
            <a:r>
              <a:rPr lang="zh-CN" altLang="en-US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忙着各自的营生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83895" y="3466401"/>
            <a:ext cx="11056620" cy="2453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622300" fontAlgn="auto">
              <a:lnSpc>
                <a:spcPct val="120000"/>
              </a:lnSpc>
            </a:pPr>
            <a:r>
              <a:rPr lang="zh-CN" altLang="en-US" sz="3200" b="1" dirty="0">
                <a:latin typeface="+mj-lt"/>
                <a:sym typeface="+mn-ea"/>
              </a:rPr>
              <a:t>这份工作最大的乐趣之一在于可以接触到各行各业的人</a:t>
            </a:r>
            <a:endParaRPr lang="en-US" altLang="zh-CN" sz="3200" b="1" dirty="0">
              <a:latin typeface="+mj-lt"/>
            </a:endParaRPr>
          </a:p>
          <a:p>
            <a:pPr indent="-622300" fontAlgn="auto">
              <a:lnSpc>
                <a:spcPct val="120000"/>
              </a:lnSpc>
            </a:pPr>
            <a:r>
              <a:rPr lang="en-US" altLang="zh-CN" sz="3200" b="1" dirty="0">
                <a:latin typeface="+mj-lt"/>
              </a:rPr>
              <a:t>One of the greatest pleasures of this job is meeting people from </a:t>
            </a:r>
            <a:r>
              <a:rPr lang="en-US" altLang="zh-CN" sz="3200" b="1" dirty="0">
                <a:solidFill>
                  <a:srgbClr val="FF0000"/>
                </a:solidFill>
                <a:latin typeface="+mj-lt"/>
              </a:rPr>
              <a:t>all walks of life</a:t>
            </a:r>
            <a:r>
              <a:rPr lang="en-US" altLang="zh-CN" sz="3200" b="1" dirty="0">
                <a:latin typeface="+mj-lt"/>
              </a:rPr>
              <a:t>.</a:t>
            </a:r>
          </a:p>
          <a:p>
            <a:pPr indent="-62230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goes about one’s daily routine/business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忙着自己的日常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事</a:t>
            </a:r>
            <a:endParaRPr lang="zh-CN" altLang="en-US" sz="3200" b="1" dirty="0">
              <a:latin typeface="+mj-lt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92274" y="537999"/>
            <a:ext cx="11519770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5. The combination of these three sections gives the viewer an idea of what life was like for the people of </a:t>
            </a:r>
            <a:r>
              <a:rPr lang="en-US" altLang="zh-CN" sz="3200" b="1" dirty="0" err="1"/>
              <a:t>Bianjing</a:t>
            </a:r>
            <a:r>
              <a:rPr lang="en-US" altLang="zh-CN" sz="3200" b="1" dirty="0"/>
              <a:t>. </a:t>
            </a:r>
          </a:p>
          <a:p>
            <a:pPr marL="450850" indent="-87630">
              <a:lnSpc>
                <a:spcPct val="120000"/>
              </a:lnSpc>
            </a:pPr>
            <a:endParaRPr lang="en-US" altLang="zh-CN" sz="3200" b="1" dirty="0"/>
          </a:p>
          <a:p>
            <a:pPr marL="450850" indent="-87630">
              <a:lnSpc>
                <a:spcPct val="120000"/>
              </a:lnSpc>
            </a:pPr>
            <a:endParaRPr lang="en-US" altLang="zh-CN" sz="3200" b="1" dirty="0"/>
          </a:p>
          <a:p>
            <a:pPr marL="450850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</a:rPr>
              <a:t>句意：</a:t>
            </a:r>
            <a:r>
              <a:rPr lang="zh-CN" altLang="en-US" sz="3200" b="1" dirty="0"/>
              <a:t>三部分综合起来，观者便可对当时汴京人的生活状况有一大致了解。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2040836" y="1727322"/>
            <a:ext cx="767936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圆角矩形标注 4"/>
          <p:cNvSpPr/>
          <p:nvPr/>
        </p:nvSpPr>
        <p:spPr>
          <a:xfrm>
            <a:off x="892569" y="2037714"/>
            <a:ext cx="6396659" cy="646986"/>
          </a:xfrm>
          <a:prstGeom prst="wedgeRoundRectCallout">
            <a:avLst>
              <a:gd name="adj1" fmla="val -20918"/>
              <a:gd name="adj2" fmla="val -88625"/>
              <a:gd name="adj3" fmla="val 16667"/>
            </a:avLst>
          </a:prstGeom>
          <a:ln w="31750">
            <a:solidFill>
              <a:schemeClr val="accent2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what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引导的宾语从句，作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of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的宾语</a:t>
            </a:r>
          </a:p>
        </p:txBody>
      </p:sp>
      <p:sp>
        <p:nvSpPr>
          <p:cNvPr id="7" name="矩形 6"/>
          <p:cNvSpPr/>
          <p:nvPr/>
        </p:nvSpPr>
        <p:spPr>
          <a:xfrm>
            <a:off x="716091" y="4172187"/>
            <a:ext cx="10920588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+mj-lt"/>
              </a:rPr>
              <a:t>仿写</a:t>
            </a:r>
            <a:r>
              <a:rPr lang="en-US" altLang="zh-CN" sz="3200" b="1" dirty="0">
                <a:solidFill>
                  <a:srgbClr val="0000FF"/>
                </a:solidFill>
                <a:latin typeface="+mj-lt"/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+mj-lt"/>
              </a:rPr>
              <a:t>首先，你能告诉我这个艺术展有多大吗？</a:t>
            </a:r>
            <a:endParaRPr lang="en-US" altLang="zh-CN" sz="3200" b="1" dirty="0">
              <a:latin typeface="+mj-lt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+mj-lt"/>
              </a:rPr>
              <a:t>First, can you give me an idea of how big the art exhibition is?</a:t>
            </a:r>
            <a:endParaRPr lang="zh-CN" altLang="en-US" sz="3200" b="1" dirty="0">
              <a:solidFill>
                <a:srgbClr val="FF0000"/>
              </a:solidFill>
              <a:latin typeface="+mj-lt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4487" y="927422"/>
            <a:ext cx="11432089" cy="2456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/>
              <a:t>6. Using ink on silk, he creates realistic images of scenery, buildings and people, and displays a remarkable mastery of perspective. </a:t>
            </a:r>
          </a:p>
          <a:p>
            <a:pPr>
              <a:lnSpc>
                <a:spcPct val="120000"/>
              </a:lnSpc>
            </a:pPr>
            <a:endParaRPr lang="en-US" altLang="zh-CN" sz="3200" b="1" dirty="0"/>
          </a:p>
        </p:txBody>
      </p:sp>
      <p:cxnSp>
        <p:nvCxnSpPr>
          <p:cNvPr id="3" name="直接连接符 2"/>
          <p:cNvCxnSpPr/>
          <p:nvPr/>
        </p:nvCxnSpPr>
        <p:spPr>
          <a:xfrm>
            <a:off x="688025" y="1550688"/>
            <a:ext cx="2856841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圆角矩形标注 3"/>
          <p:cNvSpPr/>
          <p:nvPr/>
        </p:nvSpPr>
        <p:spPr>
          <a:xfrm>
            <a:off x="1551534" y="287663"/>
            <a:ext cx="4619540" cy="646986"/>
          </a:xfrm>
          <a:prstGeom prst="wedgeRoundRectCallout">
            <a:avLst>
              <a:gd name="adj1" fmla="val -31493"/>
              <a:gd name="adj2" fmla="val 77876"/>
              <a:gd name="adj3" fmla="val 16667"/>
            </a:avLst>
          </a:prstGeom>
          <a:ln w="31750">
            <a:solidFill>
              <a:schemeClr val="accent2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动词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-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ing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形式作方式状语</a:t>
            </a:r>
          </a:p>
        </p:txBody>
      </p:sp>
      <p:sp>
        <p:nvSpPr>
          <p:cNvPr id="7" name="椭圆 6"/>
          <p:cNvSpPr/>
          <p:nvPr/>
        </p:nvSpPr>
        <p:spPr>
          <a:xfrm>
            <a:off x="4409160" y="1624237"/>
            <a:ext cx="851771" cy="554742"/>
          </a:xfrm>
          <a:prstGeom prst="ellipse">
            <a:avLst/>
          </a:prstGeom>
          <a:ln w="28575">
            <a:solidFill>
              <a:srgbClr val="FF3399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圆角矩形标注 7"/>
          <p:cNvSpPr/>
          <p:nvPr/>
        </p:nvSpPr>
        <p:spPr>
          <a:xfrm>
            <a:off x="3290722" y="2472758"/>
            <a:ext cx="6531533" cy="646986"/>
          </a:xfrm>
          <a:prstGeom prst="wedgeRoundRectCallout">
            <a:avLst>
              <a:gd name="adj1" fmla="val -21712"/>
              <a:gd name="adj2" fmla="val -86689"/>
              <a:gd name="adj3" fmla="val 16667"/>
            </a:avLst>
          </a:prstGeom>
          <a:ln w="31750">
            <a:solidFill>
              <a:schemeClr val="accent2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连接两个并列谓语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creates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和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displays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60488" y="4564065"/>
            <a:ext cx="11288926" cy="683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仿写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r>
              <a:rPr lang="zh-CN" altLang="en-US" sz="3200" b="1" dirty="0">
                <a:solidFill>
                  <a:prstClr val="black"/>
                </a:solidFill>
              </a:rPr>
              <a:t>使用老师推荐给他的学习方法，杰克的英语进步很大。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03127" y="3289870"/>
            <a:ext cx="10958187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句意：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他施墨于绢，落笔之处，风景、建筑、人物，无不逼真传神，同时展现出对透视法的精髓。</a:t>
            </a:r>
          </a:p>
        </p:txBody>
      </p:sp>
      <p:sp>
        <p:nvSpPr>
          <p:cNvPr id="11" name="矩形 10"/>
          <p:cNvSpPr/>
          <p:nvPr/>
        </p:nvSpPr>
        <p:spPr>
          <a:xfrm>
            <a:off x="688024" y="5204196"/>
            <a:ext cx="10898551" cy="1222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Using the method recommended by the teacher, Jack has made great progress in English.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12511405" cy="658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1. (have) remarkable/complete mastery of perspective </a:t>
            </a:r>
            <a:r>
              <a:rPr lang="zh-CN" altLang="en-US" sz="3200" b="1" dirty="0">
                <a:solidFill>
                  <a:schemeClr val="tx1"/>
                </a:solidFill>
              </a:rPr>
              <a:t>对透视法的精通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2. precise brushwork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精准的笔法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3. well-developed ability/skill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高超的技艺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4. ambitious size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宏大的画幅</a:t>
            </a:r>
          </a:p>
          <a:p>
            <a:pPr indent="45720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the government's </a:t>
            </a:r>
            <a:r>
              <a:rPr lang="zh-CN" altLang="en-US" sz="3200" b="1" dirty="0">
                <a:solidFill>
                  <a:srgbClr val="FF0000"/>
                </a:solidFill>
              </a:rPr>
              <a:t>ambitious </a:t>
            </a:r>
            <a:r>
              <a:rPr lang="zh-CN" altLang="en-US" sz="3200" b="1" dirty="0">
                <a:solidFill>
                  <a:schemeClr val="tx1"/>
                </a:solidFill>
              </a:rPr>
              <a:t>plans for social reform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政府耗资巨大的社会改革计划</a:t>
            </a: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have an ambition 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</a:rPr>
              <a:t>) to do sth  / one’s ambition of doing sth</a:t>
            </a: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achieve/fulfill/realize one’s ambition</a:t>
            </a:r>
            <a:endParaRPr lang="zh-CN" altLang="en-US" sz="32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5. an enormous amount of sth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大量的</a:t>
            </a:r>
            <a:r>
              <a:rPr lang="en-US" altLang="zh-CN" sz="3200" b="1" dirty="0">
                <a:solidFill>
                  <a:schemeClr val="tx1"/>
                </a:solidFill>
              </a:rPr>
              <a:t>...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large in size, quantity or extent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enormous interest</a:t>
            </a:r>
            <a:r>
              <a:rPr lang="en-US" altLang="zh-CN" sz="3200" b="1" dirty="0">
                <a:solidFill>
                  <a:schemeClr val="tx1"/>
                </a:solidFill>
              </a:rPr>
              <a:t> 浓厚的兴趣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The problems facing the President are </a:t>
            </a:r>
            <a:r>
              <a:rPr lang="en-US" altLang="zh-CN" sz="3200" b="1" dirty="0">
                <a:solidFill>
                  <a:srgbClr val="FF0000"/>
                </a:solidFill>
              </a:rPr>
              <a:t>enormous</a:t>
            </a:r>
            <a:r>
              <a:rPr lang="en-US" altLang="zh-CN" sz="3200" b="1" dirty="0">
                <a:solidFill>
                  <a:schemeClr val="tx1"/>
                </a:solidFill>
              </a:rPr>
              <a:t>.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646114" y="430266"/>
            <a:ext cx="10898551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provide a comprehensive look at life during ...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详尽地展现了关于北宋生活的事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 comprehensive list </a:t>
            </a:r>
            <a:r>
              <a:rPr lang="zh-CN" altLang="en-US" sz="3200" b="1" dirty="0">
                <a:solidFill>
                  <a:schemeClr val="tx1"/>
                </a:solidFill>
              </a:rPr>
              <a:t>详尽的清单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 comprehensive training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全方面的培训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 comprehensive range of</a:t>
            </a:r>
            <a:r>
              <a:rPr lang="en-US" altLang="zh-CN" sz="3200" b="1" dirty="0">
                <a:solidFill>
                  <a:schemeClr val="tx1"/>
                </a:solidFill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</a:rPr>
              <a:t>全面的</a:t>
            </a:r>
            <a:r>
              <a:rPr lang="en-US" altLang="zh-CN" sz="3200" b="1" dirty="0">
                <a:solidFill>
                  <a:schemeClr val="tx1"/>
                </a:solidFill>
              </a:rPr>
              <a:t>...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comprehend </a:t>
            </a:r>
            <a:r>
              <a:rPr lang="en-US" altLang="zh-CN" sz="3200" b="1" dirty="0">
                <a:solidFill>
                  <a:schemeClr val="tx1"/>
                </a:solidFill>
              </a:rPr>
              <a:t>v. </a:t>
            </a:r>
            <a:r>
              <a:rPr lang="zh-CN" altLang="en-US" sz="3200" b="1" dirty="0">
                <a:solidFill>
                  <a:schemeClr val="tx1"/>
                </a:solidFill>
              </a:rPr>
              <a:t>理解，领会</a:t>
            </a:r>
            <a:r>
              <a:rPr lang="en-US" altLang="zh-CN" sz="3200" b="1" dirty="0">
                <a:solidFill>
                  <a:schemeClr val="tx1"/>
                </a:solidFill>
              </a:rPr>
              <a:t> = understand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comprehension </a:t>
            </a:r>
            <a:r>
              <a:rPr lang="en-US" altLang="zh-CN" sz="3200" b="1" dirty="0">
                <a:solidFill>
                  <a:schemeClr val="tx1"/>
                </a:solidFill>
              </a:rPr>
              <a:t>n. </a:t>
            </a:r>
            <a:r>
              <a:rPr lang="zh-CN" altLang="en-US" sz="3200" b="1" dirty="0">
                <a:solidFill>
                  <a:schemeClr val="tx1"/>
                </a:solidFill>
              </a:rPr>
              <a:t>理解力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It's </a:t>
            </a:r>
            <a:r>
              <a:rPr lang="en-US" altLang="zh-CN" sz="3200" b="1" dirty="0">
                <a:solidFill>
                  <a:srgbClr val="FF0000"/>
                </a:solidFill>
              </a:rPr>
              <a:t>beyond (one’s) comprehension</a:t>
            </a:r>
            <a:r>
              <a:rPr lang="en-US" altLang="zh-CN" sz="3200" b="1" dirty="0">
                <a:solidFill>
                  <a:schemeClr val="tx1"/>
                </a:solidFill>
              </a:rPr>
              <a:t>.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23520" y="161925"/>
            <a:ext cx="11968480" cy="4815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stone/wooden structure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石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木结构建筑物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structure v. </a:t>
            </a:r>
            <a:r>
              <a:rPr lang="en-US" sz="3200" b="1" i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arrange sth into a system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</a:rPr>
              <a:t>精心组织，系统安排</a:t>
            </a:r>
            <a:endParaRPr lang="en-US" sz="3200" b="1" i="1" dirty="0">
              <a:solidFill>
                <a:schemeClr val="tx1"/>
              </a:solidFill>
              <a:latin typeface="Times New Roman Bold Italic" panose="02020503050405090304" charset="0"/>
              <a:ea typeface="宋体" pitchFamily="2" charset="-122"/>
              <a:cs typeface="Times New Roman Bold Italic" panose="02020503050405090304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How well does the teacher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structure the lessons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Make use of the toys in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structured group activities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在精心安排的分组活动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exhibition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is structured around the themes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of work and leisure.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展览是围绕工作与休闲的主题来布置的。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493395" y="270510"/>
            <a:ext cx="11311890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</a:rPr>
              <a:t>a film/literary critic </a:t>
            </a:r>
            <a:r>
              <a:rPr lang="zh-CN" altLang="en-US" sz="3200" b="1" dirty="0">
                <a:solidFill>
                  <a:schemeClr val="tx1"/>
                </a:solidFill>
              </a:rPr>
              <a:t>电影</a:t>
            </a:r>
            <a:r>
              <a:rPr lang="en-US" altLang="zh-CN" sz="3200" b="1" dirty="0">
                <a:solidFill>
                  <a:schemeClr val="tx1"/>
                </a:solidFill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</a:rPr>
              <a:t>文学评论家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这部小说受到评论家们的认可。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The novel was well received by the critics.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criticism </a:t>
            </a:r>
            <a:r>
              <a:rPr lang="en-US" altLang="zh-CN" sz="3200" b="1" dirty="0">
                <a:solidFill>
                  <a:schemeClr val="tx1"/>
                </a:solidFill>
              </a:rPr>
              <a:t>n. 批评；评论</a:t>
            </a:r>
            <a:endParaRPr lang="zh-CN" altLang="en-US" sz="32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attract/draw widespread criticism </a:t>
            </a:r>
            <a:r>
              <a:rPr lang="zh-CN" altLang="en-US" sz="3200" b="1" dirty="0">
                <a:solidFill>
                  <a:schemeClr val="tx1"/>
                </a:solidFill>
              </a:rPr>
              <a:t>受到广泛批评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(strongly/sharply/heavily) criticize sb for sth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因……而批评某人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The report has been 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criticized as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 incomplete.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493079" y="270246"/>
            <a:ext cx="10898551" cy="3044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critical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adj.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Tom's parents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were highly critical of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the school.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汤姆的父母对学校</a:t>
            </a:r>
            <a:r>
              <a:rPr lang="zh-CN" altLang="en-US" sz="3200" b="1" u="sng" dirty="0">
                <a:solidFill>
                  <a:schemeClr val="tx1"/>
                </a:solidFill>
                <a:sym typeface="+mn-ea"/>
              </a:rPr>
              <a:t>提出了强烈的批评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。</a:t>
            </a: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sz="3200" b="1" dirty="0">
                <a:solidFill>
                  <a:srgbClr val="FF0000"/>
                </a:solidFill>
                <a:sym typeface="+mn-ea"/>
              </a:rPr>
              <a:t>be critical to sth</a:t>
            </a:r>
            <a:r>
              <a:rPr lang="en-US" sz="3200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对……至关重要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vital, crucial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)</a:t>
            </a:r>
            <a:endParaRPr lang="zh-CN" altLang="en-US" sz="3200" b="1" dirty="0">
              <a:solidFill>
                <a:schemeClr val="tx1"/>
              </a:solidFill>
              <a:sym typeface="+mn-ea"/>
            </a:endParaRPr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critical thinking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批判思维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539434" y="328031"/>
            <a:ext cx="10898551" cy="5406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sym typeface="+mn-ea"/>
              </a:rPr>
              <a:t>on closer/thorough inspection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细心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详细观察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careful examination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)</a:t>
            </a:r>
            <a:endParaRPr lang="zh-CN" altLang="en-US" sz="3200" b="1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carry out/conduct an inspection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进行检查</a:t>
            </a:r>
          </a:p>
          <a:p>
            <a:pPr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inspect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vt.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检查；视察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Make sure you 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inspect the goods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 before signing for them.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要确保在签收货物之前进行检验。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inspector</a:t>
            </a:r>
            <a:r>
              <a:rPr lang="en-US" altLang="zh-CN" sz="3200" b="1" dirty="0">
                <a:solidFill>
                  <a:schemeClr val="tx1"/>
                </a:solidFill>
                <a:sym typeface="+mn-ea"/>
              </a:rPr>
              <a:t> n.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视察员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8119" y="136887"/>
            <a:ext cx="11608057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7.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exposes serious political and social problems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揭露了严重的政治和社会问题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2425700" indent="-24257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expose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vt.</a:t>
            </a:r>
          </a:p>
          <a:p>
            <a:pPr marL="2425700" indent="-2425700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(1)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show truth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揭露，揭穿</a:t>
            </a:r>
          </a:p>
          <a:p>
            <a:pPr marL="2425700" indent="-2425700">
              <a:lnSpc>
                <a:spcPct val="120000"/>
              </a:lnSpc>
            </a:pPr>
            <a:r>
              <a:rPr lang="en-US" altLang="zh-CN" sz="3200" b="1" dirty="0"/>
              <a:t>She </a:t>
            </a:r>
            <a:r>
              <a:rPr lang="en-US" altLang="zh-CN" sz="3200" b="1" dirty="0">
                <a:solidFill>
                  <a:srgbClr val="FF0000"/>
                </a:solidFill>
              </a:rPr>
              <a:t>was exposed as</a:t>
            </a:r>
            <a:r>
              <a:rPr lang="en-US" altLang="zh-CN" sz="3200" b="1" dirty="0"/>
              <a:t> a liar and a fraud.</a:t>
            </a:r>
          </a:p>
          <a:p>
            <a:pPr marL="2425700" indent="-2425700">
              <a:lnSpc>
                <a:spcPct val="120000"/>
              </a:lnSpc>
            </a:pPr>
            <a:r>
              <a:rPr lang="en-US" altLang="zh-CN" sz="3200" b="1" dirty="0"/>
              <a:t>她说谎和欺骗的面目被揭穿了。</a:t>
            </a:r>
          </a:p>
          <a:p>
            <a:pPr marL="2425700" indent="-2425700">
              <a:lnSpc>
                <a:spcPct val="120000"/>
              </a:lnSpc>
            </a:pPr>
            <a:r>
              <a:rPr lang="en-US" altLang="zh-CN" sz="3200" b="1" dirty="0"/>
              <a:t>(2)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show something that is usually hidde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暴露，显露</a:t>
            </a:r>
          </a:p>
          <a:p>
            <a:pPr marL="2425700" indent="-24257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expose the truth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揭露真相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He did not want to </a:t>
            </a:r>
            <a:r>
              <a:rPr lang="en-US" altLang="zh-CN" sz="3200" b="1" dirty="0">
                <a:solidFill>
                  <a:srgbClr val="FF0000"/>
                </a:solidFill>
              </a:rPr>
              <a:t>expose his fears and insecurity to anyone</a:t>
            </a:r>
            <a:r>
              <a:rPr lang="en-US" altLang="zh-CN" sz="3200" b="1" dirty="0"/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他不想向任何人显露他的恐惧与不安。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3190" y="180340"/>
            <a:ext cx="11954510" cy="2453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(3)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使遭受；使接触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Do not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expose babies to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strong sunlight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不要让婴孩受到强烈的阳光照射。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Some children </a:t>
            </a:r>
            <a:r>
              <a:rPr lang="en-US" altLang="zh-CN" sz="3200" b="1" dirty="0">
                <a:solidFill>
                  <a:srgbClr val="FF0000"/>
                </a:solidFill>
              </a:rPr>
              <a:t>are</a:t>
            </a:r>
            <a:r>
              <a:rPr lang="en-US" altLang="zh-CN" sz="3200" b="1" dirty="0"/>
              <a:t> never </a:t>
            </a:r>
            <a:r>
              <a:rPr lang="en-US" altLang="zh-CN" sz="3200" b="1" dirty="0">
                <a:solidFill>
                  <a:srgbClr val="FF0000"/>
                </a:solidFill>
              </a:rPr>
              <a:t>exposed to </a:t>
            </a:r>
            <a:r>
              <a:rPr lang="en-US" altLang="zh-CN" sz="3200" b="1" dirty="0"/>
              <a:t>classical music.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体验，接触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441960" y="3429000"/>
            <a:ext cx="11272520" cy="2453640"/>
          </a:xfrm>
          <a:prstGeom prst="rect">
            <a:avLst/>
          </a:prstGeom>
          <a:ln>
            <a:solidFill>
              <a:schemeClr val="accent1"/>
            </a:solidFill>
            <a:prstDash val="lgDashDotDot"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vert="horz" lIns="101600" tIns="0" rIns="82550" bIns="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4625" indent="-174625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语块积累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】</a:t>
            </a:r>
          </a:p>
          <a:p>
            <a:pPr marL="174625" indent="-174625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 expose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 sb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 sth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   使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Arial" panose="020B0604020202090204" pitchFamily="34" charset="0"/>
              </a:rPr>
              <a:t>…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  <a:sym typeface="Arial" panose="020B0604020202090204" pitchFamily="34" charset="0"/>
              </a:rPr>
              <a:t>…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Arial" panose="020B0604020202090204" pitchFamily="34" charset="0"/>
              </a:rPr>
              <a:t>暴露于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  <a:sym typeface="Arial" panose="020B0604020202090204" pitchFamily="34" charset="0"/>
              </a:rPr>
              <a:t>……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Arial" panose="020B0604020202090204" pitchFamily="34" charset="0"/>
              </a:rPr>
              <a:t>；使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  <a:sym typeface="Arial" panose="020B0604020202090204" pitchFamily="34" charset="0"/>
              </a:rPr>
              <a:t>……</a:t>
            </a:r>
            <a:r>
              <a:rPr lang="zh-CN" altLang="en-US" sz="3200" b="1" dirty="0">
                <a:latin typeface="+mj-ea"/>
                <a:ea typeface="+mj-ea"/>
                <a:cs typeface="Times New Roman" panose="02020503050405090304" pitchFamily="18" charset="0"/>
                <a:sym typeface="Arial" panose="020B0604020202090204" pitchFamily="34" charset="0"/>
              </a:rPr>
              <a:t>接触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  <a:sym typeface="Arial" panose="020B0604020202090204" pitchFamily="34" charset="0"/>
              </a:rPr>
              <a:t>……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Arial" panose="020B0604020202090204" pitchFamily="34" charset="0"/>
            </a:endParaRPr>
          </a:p>
          <a:p>
            <a:pPr marL="174625" indent="-174625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 be exposed to diverse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culture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接触不同文化</a:t>
            </a:r>
          </a:p>
          <a:p>
            <a:pPr marL="174625" indent="-174625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Font typeface="Arial" panose="020B0604020202090204" pitchFamily="34" charset="0"/>
              <a:buNone/>
            </a:pPr>
            <a:r>
              <a:rPr lang="en-US" altLang="zh-CN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Arial" panose="020B0604020202090204" pitchFamily="3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Arial" panose="020B0604020202090204" pitchFamily="34" charset="0"/>
              </a:rPr>
              <a:t>expose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Arial" panose="020B0604020202090204" pitchFamily="34" charset="0"/>
              </a:rPr>
              <a:t>sb as ... </a:t>
            </a:r>
            <a:r>
              <a:rPr lang="zh-CN" altLang="en-US" sz="3200" b="1" dirty="0" err="1">
                <a:solidFill>
                  <a:schemeClr val="tx1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  <a:sym typeface="Arial" panose="020B0604020202090204" pitchFamily="34" charset="0"/>
              </a:rPr>
              <a:t>揭露某人为……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658702" y="316307"/>
            <a:ext cx="6096000" cy="127254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74625" indent="-174625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exposed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暴露的，无遮掩的</a:t>
            </a:r>
          </a:p>
          <a:p>
            <a:pPr marL="174625" indent="-174625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exposure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Arial" panose="020B0604020202090204" pitchFamily="34" charset="0"/>
              </a:rPr>
              <a:t>u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Arial" panose="020B0604020202090204" pitchFamily="34" charset="0"/>
              </a:rPr>
              <a:t>暴露；揭露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644" y="524792"/>
            <a:ext cx="1520410" cy="848344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11480" y="1590675"/>
            <a:ext cx="11546205" cy="4225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Her new movie has had a lot of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exposure 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in the media.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她的新电影媒体有很多报道。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long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exposure to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harmful radiation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长时间接触有害辐射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their first exposure to big city life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他们第一次接触大城市生活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er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exposure to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museums enriched her life in France.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463296" y="634323"/>
            <a:ext cx="11301984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354330" indent="-3543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Young people may risk going deaf if they ____________ (expose) to very loud music every day.</a:t>
            </a:r>
          </a:p>
          <a:p>
            <a:pPr marL="354330" indent="-3543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Children ___________ (expose) to difficult situations are better at handing those challenges.</a:t>
            </a:r>
          </a:p>
          <a:p>
            <a:pPr marL="354330" indent="-3543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______________ (expose) to the sunlight for too long will do harm to your skin.</a:t>
            </a:r>
          </a:p>
          <a:p>
            <a:pPr marL="354330" indent="-3543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4) ______________ (expose) to sunlight, the curtains will fade.</a:t>
            </a:r>
          </a:p>
          <a:p>
            <a:pPr marL="354330" indent="-3543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5) Limit your ____________ (expose) to the sun.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131098" y="1184075"/>
            <a:ext cx="2344488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are exposed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824482" y="4749927"/>
            <a:ext cx="1651000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Exposed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69387" y="2304034"/>
            <a:ext cx="1682496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exposed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86993" y="3542283"/>
            <a:ext cx="268214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Being exposed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" name="文本框 7"/>
          <p:cNvSpPr txBox="1"/>
          <p:nvPr/>
        </p:nvSpPr>
        <p:spPr>
          <a:xfrm>
            <a:off x="3475482" y="5231257"/>
            <a:ext cx="1740535" cy="681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exposure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95735" y="1235088"/>
            <a:ext cx="11453470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8. Some boats carrying food do not seem to belong to the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government, which suggests that the government has lost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control of food supplies and transportation.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2778350" y="1829171"/>
            <a:ext cx="239489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6341" y="3100214"/>
            <a:ext cx="10952864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which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引导定语从句，指代前面整个主句；其中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suggests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后又跟一个宾语从句。</a:t>
            </a:r>
          </a:p>
        </p:txBody>
      </p:sp>
      <p:sp>
        <p:nvSpPr>
          <p:cNvPr id="9" name="圆角矩形标注 8"/>
          <p:cNvSpPr/>
          <p:nvPr/>
        </p:nvSpPr>
        <p:spPr>
          <a:xfrm>
            <a:off x="2395532" y="608378"/>
            <a:ext cx="4619540" cy="646986"/>
          </a:xfrm>
          <a:prstGeom prst="wedgeRoundRectCallout">
            <a:avLst>
              <a:gd name="adj1" fmla="val -31493"/>
              <a:gd name="adj2" fmla="val 77876"/>
              <a:gd name="adj3" fmla="val 16667"/>
            </a:avLst>
          </a:prstGeom>
          <a:ln w="31750">
            <a:solidFill>
              <a:schemeClr val="accent2">
                <a:lumMod val="75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algn="ctr"/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动词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-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ing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形式作后置定语</a:t>
            </a:r>
          </a:p>
        </p:txBody>
      </p:sp>
      <p:sp>
        <p:nvSpPr>
          <p:cNvPr id="14" name="椭圆 13"/>
          <p:cNvSpPr/>
          <p:nvPr/>
        </p:nvSpPr>
        <p:spPr>
          <a:xfrm>
            <a:off x="2891084" y="1882074"/>
            <a:ext cx="1142297" cy="644332"/>
          </a:xfrm>
          <a:prstGeom prst="ellipse">
            <a:avLst/>
          </a:prstGeom>
          <a:ln w="28575">
            <a:solidFill>
              <a:srgbClr val="FF3399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5538995" y="1940852"/>
            <a:ext cx="836753" cy="510398"/>
          </a:xfrm>
          <a:prstGeom prst="ellipse">
            <a:avLst/>
          </a:prstGeom>
          <a:ln w="28575">
            <a:solidFill>
              <a:srgbClr val="FF3399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lang="zh-CN" altLang="en-US" sz="32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6341" y="4477914"/>
            <a:ext cx="10952864" cy="1217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句意：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有些运粮船看上去不像官船，这意味着官府已失去了对粮食供应和运输的控制。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9" grpId="0" animBg="1"/>
      <p:bldP spid="14" grpId="0" animBg="1"/>
      <p:bldP spid="15" grpId="0" animBg="1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05215" y="1439873"/>
            <a:ext cx="11181567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仿写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/>
              <a:t>那些正在思考数学问题的同学，好像忘记了时间，这表明他们是全身心地投入到了课堂上。</a:t>
            </a:r>
          </a:p>
        </p:txBody>
      </p:sp>
      <p:sp>
        <p:nvSpPr>
          <p:cNvPr id="4" name="矩形 3"/>
          <p:cNvSpPr/>
          <p:nvPr/>
        </p:nvSpPr>
        <p:spPr>
          <a:xfrm>
            <a:off x="505214" y="3303666"/>
            <a:ext cx="11181567" cy="1863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Those students thinking over the </a:t>
            </a:r>
            <a:r>
              <a:rPr lang="en-US" altLang="zh-CN" sz="3200" b="1" dirty="0" err="1">
                <a:solidFill>
                  <a:srgbClr val="FF0000"/>
                </a:solidFill>
              </a:rPr>
              <a:t>maths</a:t>
            </a:r>
            <a:r>
              <a:rPr lang="en-US" altLang="zh-CN" sz="3200" b="1" dirty="0">
                <a:solidFill>
                  <a:srgbClr val="FF0000"/>
                </a:solidFill>
              </a:rPr>
              <a:t> question seemed to forget time, which suggested that they threw themselves into the class.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8946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9. In fact, the Northern Song Dynasty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was in decline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by this stage.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事实上，当时的北宋王朝已经在走下坡路了。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1878965" indent="-187896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decline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n.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decrease in the quality, quantity, or importance of    </a:t>
            </a:r>
          </a:p>
          <a:p>
            <a:pPr marL="1878965" indent="-1878965">
              <a:lnSpc>
                <a:spcPct val="120000"/>
              </a:lnSpc>
            </a:pP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something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衰退，衰落，减少，下降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1878965" indent="-1878965">
              <a:lnSpc>
                <a:spcPct val="120000"/>
              </a:lnSpc>
            </a:pPr>
            <a:r>
              <a:rPr lang="en-US" altLang="zh-CN" sz="3200" b="1" dirty="0"/>
              <a:t>There has been a 5% </a:t>
            </a:r>
            <a:r>
              <a:rPr lang="en-US" altLang="zh-CN" sz="3200" b="1" dirty="0">
                <a:solidFill>
                  <a:srgbClr val="FF0000"/>
                </a:solidFill>
              </a:rPr>
              <a:t>decline</a:t>
            </a:r>
            <a:r>
              <a:rPr lang="en-US" altLang="zh-CN" sz="3200" b="1" dirty="0"/>
              <a:t> in student numbers.</a:t>
            </a:r>
          </a:p>
          <a:p>
            <a:pPr marL="1878965" indent="-1878965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vi. &amp;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vt.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 1)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become smaller, fewer, weaker, etc.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下降，衰退，衰落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Sales of whole milk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declined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by 4 per cent.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refuse politely to accept or to do something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谢绝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Mary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declined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 hot drink and went to h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er room.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1" name="Text Box 2"/>
          <p:cNvSpPr txBox="1">
            <a:spLocks noChangeArrowheads="1"/>
          </p:cNvSpPr>
          <p:nvPr/>
        </p:nvSpPr>
        <p:spPr bwMode="auto">
          <a:xfrm>
            <a:off x="867777" y="1386840"/>
            <a:ext cx="10456445" cy="4191000"/>
          </a:xfrm>
          <a:prstGeom prst="rect">
            <a:avLst/>
          </a:prstGeom>
          <a:noFill/>
          <a:ln w="9525" algn="ctr">
            <a:solidFill>
              <a:srgbClr val="000000"/>
            </a:solidFill>
            <a:prstDash val="lgDashDotDot"/>
            <a:miter lim="800000"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语块积累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fall / go into (a) decline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开始衰退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下降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in decline					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在下降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economic decline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经济衰退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2) decline by           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下降了</a:t>
            </a:r>
            <a:r>
              <a:rPr lang="en-US" altLang="zh-CN" sz="3200" b="1" dirty="0">
                <a:latin typeface="+mj-ea"/>
                <a:ea typeface="+mj-ea"/>
                <a:cs typeface="Times New Roman" panose="02020503050405090304" pitchFamily="18" charset="0"/>
              </a:rPr>
              <a:t>……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decline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 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拒绝做某事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decline one’s invitation 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拒绝某人的邀请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ext Box 2"/>
          <p:cNvSpPr txBox="1">
            <a:spLocks noChangeArrowheads="1"/>
          </p:cNvSpPr>
          <p:nvPr/>
        </p:nvSpPr>
        <p:spPr bwMode="auto">
          <a:xfrm>
            <a:off x="422556" y="452954"/>
            <a:ext cx="10893311" cy="4624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3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We asked her to the reception, but she _________ _______ 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谢绝了这个邀请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</a:p>
          <a:p>
            <a:pPr marL="450850" indent="-450850">
              <a:lnSpc>
                <a:spcPct val="13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He _________ _______ ________ _______ 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拒绝讨论他的计划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with us.</a:t>
            </a:r>
          </a:p>
          <a:p>
            <a:pPr marL="450850" indent="-450850">
              <a:lnSpc>
                <a:spcPct val="13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Thankfully, this is a disease that is now ________ ________ 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在衰退中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).</a:t>
            </a:r>
          </a:p>
          <a:p>
            <a:pPr marL="450850" indent="-450850">
              <a:lnSpc>
                <a:spcPct val="13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As the economy was _________ 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在衰退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 some people in the town had lost their jobs.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85060" y="3681651"/>
            <a:ext cx="10768301" cy="1222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                           on             the         decline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68834" y="1181717"/>
            <a:ext cx="10201585" cy="1222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                                                              declined      the          invitation  </a:t>
            </a:r>
          </a:p>
        </p:txBody>
      </p:sp>
      <p:sp>
        <p:nvSpPr>
          <p:cNvPr id="4" name="矩形 3"/>
          <p:cNvSpPr/>
          <p:nvPr/>
        </p:nvSpPr>
        <p:spPr>
          <a:xfrm>
            <a:off x="1643061" y="2452009"/>
            <a:ext cx="82668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declined       to           discuss       his        plan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95806" y="4970638"/>
            <a:ext cx="401082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in         decline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8328" y="395486"/>
            <a:ext cx="11795760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10. Its value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is down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not only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its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great scale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artistic quality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and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attention to detail, but also </a:t>
            </a:r>
            <a:r>
              <a:rPr lang="en-US" altLang="zh-CN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its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representation of daily life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它的价值不仅</a:t>
            </a:r>
            <a:r>
              <a:rPr lang="zh-CN" altLang="en-US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在于画幅宏大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</a:t>
            </a:r>
            <a:r>
              <a:rPr lang="zh-CN" altLang="en-US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艺术性高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，注重细节，更在于其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zh-CN" altLang="en-US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对日常生活的再现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 down to: </a:t>
            </a:r>
            <a:r>
              <a:rPr lang="zh-CN" altLang="en-US" sz="3200" b="1" i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be caused by a particular person or thing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归因于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claimed her problems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were down to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media.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6406" y="4624336"/>
            <a:ext cx="10809962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 down to sb.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由某人决定，是某人的责任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-7194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After your father retires, it will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 down to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you to lead   the company.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0"/>
            <a:ext cx="1219263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11.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Such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is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its worth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that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several later emperors even asked the </a:t>
            </a:r>
          </a:p>
          <a:p>
            <a:pPr marL="628650" indent="-6286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most talented artists of their day to make copies of the scroll.</a:t>
            </a:r>
          </a:p>
          <a:p>
            <a:pPr>
              <a:lnSpc>
                <a:spcPct val="120000"/>
              </a:lnSpc>
            </a:pPr>
            <a:r>
              <a:rPr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such 作为代词，用作表语时，</a:t>
            </a:r>
            <a:r>
              <a:rPr 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如此这样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 </a:t>
            </a:r>
            <a:r>
              <a:rPr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可以放在句首产生倒装语序。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句意：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其价值之高，以至于后世有多位皇帝令当时最有才华的画家加以临摹。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damage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was such that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it would cost thousands to repair.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损坏很严重，要修好得花几千块钱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 Such was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damage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that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it would cost thousands to repair.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Such were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the expectations from his supporters that one of his challenges was to deliver them. (be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与后面真正主语保持一致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-17145"/>
            <a:ext cx="1219263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Such was the flood that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many people became homeless.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这次洪灾很严重，以致许多人都无家可归。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Such was her beauty that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whoever saw her was fascinated.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她的美貌使所有见到她的人都为之倾心。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2) such/so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连同其所修饰的成分共同置于句首时，主句部分倒装，从句不倒装，起强调作用。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Such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 hard-working student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is she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that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everyone likes her.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=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She 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such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hard-working student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that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everyone likes her.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= She 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so hard-working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that everyone likes her.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So hard-working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is she that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everyone likes her.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如此生气以至于说不出话。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So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angry was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that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he couldn’t speak.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他跑得如此之快，以至于他远远领先于其他人。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So fast does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 run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that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he is far ahead of others.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父母爱他们的儿子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到了这样的程度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，以至于他们试图满足他的每一个要求。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To such an extent do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the parents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love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their son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that 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they try to satisfy every demand of his.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礼物这般珍贵，我深受感动。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Such a precious gift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was it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that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 was deeply touched. 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Such was the gift that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 was deeply touched.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5215" y="132713"/>
            <a:ext cx="10814304" cy="65925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This dictionary is such a useful tool to learn a foreign language _________ people often borrow it.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2) Those problems are _________ difficult ones that we have to turn to our teacher.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3) They did that work in _________ effective a way that they finished their work ahead of one day.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4) To _________ an extent do prices rise that I have to take more jobs.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5) _________ difficult did I find it to work out the problem that I decided to ask Tom for advice.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69919" y="1278761"/>
            <a:ext cx="88998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that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09405" y="1910472"/>
            <a:ext cx="982961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such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45848" y="3113144"/>
            <a:ext cx="550151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so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869965" y="4216520"/>
            <a:ext cx="982961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such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09930" y="5445127"/>
            <a:ext cx="720069" cy="6832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So 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9855" y="135255"/>
            <a:ext cx="1208214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12.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last time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 was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exhibition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/eksɪbɪʃən/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crowds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waited in line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for hours for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rare chance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to see the famous painting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with their own eyes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538480" indent="-53848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在展览中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=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display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8480" indent="-5384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stage/hold an exhibition of ...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举办展览</a:t>
            </a:r>
          </a:p>
          <a:p>
            <a:pPr marL="538480" indent="-53848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这次比赛展示了这名运动员的技巧和力量。</a:t>
            </a:r>
          </a:p>
          <a:p>
            <a:pPr marL="538480" indent="-5384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match was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an exhibition of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athlete’s skill and strength.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8480" indent="-53848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exhibit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/ɪɡˈzɪbɪt/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v.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展览，展出；显示出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/ n.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展览品</a:t>
            </a:r>
          </a:p>
          <a:p>
            <a:pPr marL="538480" indent="-5384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His work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exhibited in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best galleries in America.</a:t>
            </a:r>
          </a:p>
          <a:p>
            <a:pPr marL="538480" indent="-5384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first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exhibited the talent for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painting when he was 6.</a:t>
            </a:r>
          </a:p>
          <a:p>
            <a:pPr marL="538480" indent="-5384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museum is rich in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exhibits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481" y="655563"/>
            <a:ext cx="11183459" cy="1865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13. The public’s continued enthusiasm about the </a:t>
            </a:r>
            <a:r>
              <a:rPr lang="en-US" altLang="zh-CN" sz="3200" b="1" i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Qingming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Scroll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even after all these centuries,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speaks volumes about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    the power of this historic piece of art.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101001" y="1179317"/>
            <a:ext cx="173736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上弧形箭头 6"/>
          <p:cNvSpPr/>
          <p:nvPr/>
        </p:nvSpPr>
        <p:spPr>
          <a:xfrm>
            <a:off x="3847761" y="699318"/>
            <a:ext cx="990600" cy="259080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43061" y="92665"/>
            <a:ext cx="6012180" cy="626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过去分词作定语修饰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enthusiasm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97076" y="2384923"/>
            <a:ext cx="10513428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甚至在几个世纪之后，公众对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《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清明上河图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》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仍热情不减，这足以证明这幅历史名画的魅力。</a:t>
            </a:r>
          </a:p>
        </p:txBody>
      </p:sp>
      <p:sp>
        <p:nvSpPr>
          <p:cNvPr id="5" name="矩形 4"/>
          <p:cNvSpPr/>
          <p:nvPr/>
        </p:nvSpPr>
        <p:spPr>
          <a:xfrm>
            <a:off x="597076" y="3429000"/>
            <a:ext cx="10902987" cy="3044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85005" lvl="0" indent="-44850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speak volumes about/for: 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i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give a lot of information about </a:t>
            </a:r>
            <a:r>
              <a:rPr lang="zh-CN" altLang="en-US" sz="3200" b="1" dirty="0">
                <a:solidFill>
                  <a:srgbClr val="FF0000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充分说明，清楚表明</a:t>
            </a:r>
          </a:p>
          <a:p>
            <a:pPr lvl="0"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What you wear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speaks volumes about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you.</a:t>
            </a:r>
          </a:p>
          <a:p>
            <a:pPr lvl="0"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他的成就充分说明了他的决心。</a:t>
            </a:r>
          </a:p>
          <a:p>
            <a:pPr lvl="0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His achievement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speaks volumes for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his determination.</a:t>
            </a:r>
            <a:endParaRPr lang="zh-CN" altLang="en-US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8110" y="458229"/>
            <a:ext cx="11276057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historic piece of art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这幅历史名画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significant, remarkable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historic event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有历史意义的事件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historic building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有历史意义的建筑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在这个有历史意义的场合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 this historic occasion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historical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= relating to history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is writing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 historical novel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历史小说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about the 19th-century Europe.</a:t>
            </a: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79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>
          <a:defRPr sz="3200" dirty="0" smtClean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spDef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>
            <a:latin typeface="Times New Roman" panose="02020503050405090304" pitchFamily="18" charset="0"/>
            <a:ea typeface="宋体" pitchFamily="2" charset="-122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3032</Words>
  <Application>Microsoft Macintosh PowerPoint</Application>
  <PresentationFormat>Widescreen</PresentationFormat>
  <Paragraphs>311</Paragraphs>
  <Slides>35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微软雅黑</vt:lpstr>
      <vt:lpstr>宋体</vt:lpstr>
      <vt:lpstr>Times New Roman Bold</vt:lpstr>
      <vt:lpstr>Times New Roman Bold Italic</vt:lpstr>
      <vt:lpstr>Arial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224</cp:revision>
  <dcterms:created xsi:type="dcterms:W3CDTF">2024-06-19T00:51:03Z</dcterms:created>
  <dcterms:modified xsi:type="dcterms:W3CDTF">2026-07-23T00:58:00Z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1033-6.7.1.8828</vt:lpwstr>
  </property>
  <property fmtid="{D5CDD505-2E9C-101B-9397-08002B2CF9AE}" pid="3" name="ICV">
    <vt:lpwstr>DF1BA2743D3D6B0478216F6459FE8CB1_42</vt:lpwstr>
  </property>
</Properties>
</file>