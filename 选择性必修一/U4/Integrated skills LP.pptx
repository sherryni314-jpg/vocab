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516" r:id="rId2"/>
    <p:sldId id="517" r:id="rId3"/>
    <p:sldId id="519" r:id="rId4"/>
    <p:sldId id="518" r:id="rId5"/>
    <p:sldId id="613" r:id="rId6"/>
    <p:sldId id="612" r:id="rId7"/>
    <p:sldId id="520" r:id="rId8"/>
    <p:sldId id="521" r:id="rId9"/>
    <p:sldId id="585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E986C9B-A88A-41B8-B907-BBD3FD4A4393}">
          <p14:sldIdLst>
            <p14:sldId id="516"/>
            <p14:sldId id="517"/>
            <p14:sldId id="519"/>
            <p14:sldId id="518"/>
            <p14:sldId id="613"/>
            <p14:sldId id="612"/>
            <p14:sldId id="520"/>
            <p14:sldId id="521"/>
            <p14:sldId id="5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472C4"/>
    <a:srgbClr val="BE25D9"/>
    <a:srgbClr val="0A74F9"/>
    <a:srgbClr val="660066"/>
    <a:srgbClr val="008000"/>
    <a:srgbClr val="F57218"/>
    <a:srgbClr val="FFFFFF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同位语从句</a:t>
            </a:r>
          </a:p>
          <a:p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should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make a claim (on his house insurance) for</a:t>
            </a:r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storm damage. </a:t>
            </a:r>
            <a:endParaRPr lang="en-US" altLang="zh-CN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同位语从句</a:t>
            </a:r>
          </a:p>
          <a:p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should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make a claim (on his house insurance) for</a:t>
            </a:r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storm damage. </a:t>
            </a:r>
            <a:endParaRPr lang="en-US" altLang="zh-CN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ym typeface="+mn-ea"/>
              </a:rPr>
              <a:t>他声称他未得到公正的申诉机会。</a:t>
            </a:r>
          </a:p>
          <a:p>
            <a:r>
              <a:rPr lang="zh-CN" altLang="en-US"/>
              <a:t>陈述观点的动词</a:t>
            </a:r>
            <a:r>
              <a:rPr lang="en-US" altLang="zh-CN"/>
              <a:t> argue, maintain, note, point put, suggest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87020" y="1710690"/>
            <a:ext cx="11904980" cy="245364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bend  </a:t>
            </a:r>
            <a:r>
              <a:rPr lang="en-US" altLang="zh-CN" sz="3200" b="1" i="1" dirty="0">
                <a:solidFill>
                  <a:srgbClr val="FF0000"/>
                </a:solidFill>
                <a:latin typeface="+mj-lt"/>
              </a:rPr>
              <a:t>vi.&amp;vt. </a:t>
            </a:r>
            <a:r>
              <a:rPr lang="en-US" altLang="zh-CN" sz="3200" b="1" dirty="0">
                <a:latin typeface="+mj-lt"/>
              </a:rPr>
              <a:t>1)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change direction to form a curve</a:t>
            </a:r>
            <a:r>
              <a:rPr lang="en-US" altLang="zh-CN" sz="32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+mj-lt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+mj-lt"/>
              </a:rPr>
              <a:t>拐弯；转弯</a:t>
            </a:r>
            <a:endParaRPr lang="en-US" altLang="zh-CN" sz="3200" b="1" dirty="0">
              <a:solidFill>
                <a:srgbClr val="FF0000"/>
              </a:solidFill>
              <a:latin typeface="+mj-lt"/>
            </a:endParaRPr>
          </a:p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              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move part of your body so that it is not straight or so that you are not upright</a:t>
            </a:r>
            <a:r>
              <a:rPr lang="en-US" altLang="zh-CN" sz="3200" b="1" dirty="0">
                <a:latin typeface="+mj-lt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+mj-lt"/>
              </a:rPr>
              <a:t>俯身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; (</a:t>
            </a:r>
            <a:r>
              <a:rPr lang="zh-CN" altLang="en-US" sz="3200" b="1" dirty="0">
                <a:solidFill>
                  <a:srgbClr val="FF0000"/>
                </a:solidFill>
                <a:latin typeface="+mj-lt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+mj-lt"/>
              </a:rPr>
              <a:t>弯腰</a:t>
            </a:r>
            <a:endParaRPr lang="en-US" altLang="zh-CN" sz="3200" b="1" dirty="0">
              <a:solidFill>
                <a:srgbClr val="FF0000"/>
              </a:solidFill>
              <a:latin typeface="+mj-lt"/>
            </a:endParaRPr>
          </a:p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              3)  </a:t>
            </a:r>
            <a:r>
              <a:rPr lang="zh-CN" altLang="en-US" sz="3200" b="1" dirty="0">
                <a:solidFill>
                  <a:srgbClr val="FF0000"/>
                </a:solidFill>
                <a:latin typeface="+mj-lt"/>
              </a:rPr>
              <a:t>压弯，弄弯</a:t>
            </a:r>
            <a:endParaRPr lang="en-US" altLang="zh-CN" sz="32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2270" y="1166478"/>
            <a:ext cx="7599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1. To where it </a:t>
            </a:r>
            <a:r>
              <a:rPr lang="en-US" altLang="zh-CN" sz="3200" b="1" dirty="0">
                <a:solidFill>
                  <a:srgbClr val="FF0000"/>
                </a:solidFill>
              </a:rPr>
              <a:t>bent</a:t>
            </a:r>
            <a:r>
              <a:rPr lang="en-US" altLang="zh-CN" sz="3200" b="1" dirty="0"/>
              <a:t> in the undergrowth </a:t>
            </a:r>
            <a:endParaRPr lang="zh-CN" altLang="en-US" sz="32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046" y="179017"/>
            <a:ext cx="5070230" cy="98746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46735" y="4156075"/>
            <a:ext cx="11450955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The road 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bends</a:t>
            </a:r>
            <a:r>
              <a:rPr lang="en-US" altLang="zh-CN" sz="3200" b="1" dirty="0">
                <a:latin typeface="+mj-lt"/>
              </a:rPr>
              <a:t> sharply to the left.</a:t>
            </a:r>
          </a:p>
          <a:p>
            <a:pPr marL="1881505" indent="-1881505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+mj-lt"/>
              </a:rPr>
              <a:t>Bend your knees</a:t>
            </a:r>
            <a:r>
              <a:rPr lang="en-US" altLang="zh-CN" sz="3200" b="1" dirty="0">
                <a:latin typeface="+mj-lt"/>
              </a:rPr>
              <a:t>, keeping your back straight.</a:t>
            </a:r>
          </a:p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Fields of wheat 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bent </a:t>
            </a:r>
            <a:r>
              <a:rPr lang="en-US" altLang="zh-CN" sz="3200" b="1" dirty="0">
                <a:latin typeface="+mj-lt"/>
              </a:rPr>
              <a:t>in the wind.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87020" y="2415540"/>
            <a:ext cx="137731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- bent</a:t>
            </a:r>
          </a:p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- bent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3292" y="4267309"/>
            <a:ext cx="11112928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He slowed down when he drove near </a:t>
            </a:r>
            <a:r>
              <a:rPr lang="en-US" altLang="zh-CN" sz="3200" b="1" dirty="0">
                <a:solidFill>
                  <a:srgbClr val="FF0000"/>
                </a:solidFill>
              </a:rPr>
              <a:t>a sharp bend in the road</a:t>
            </a:r>
            <a:r>
              <a:rPr lang="en-US" altLang="zh-CN" sz="3200" b="1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We started the session with a few knee </a:t>
            </a:r>
            <a:r>
              <a:rPr lang="en-US" altLang="zh-CN" sz="3200" b="1" dirty="0">
                <a:solidFill>
                  <a:srgbClr val="FF0000"/>
                </a:solidFill>
              </a:rPr>
              <a:t>bends</a:t>
            </a:r>
            <a:r>
              <a:rPr lang="en-US" altLang="zh-CN" sz="3200" b="1" dirty="0"/>
              <a:t> to warm up.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552993" y="1589002"/>
            <a:ext cx="11097710" cy="245364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wrap="square">
            <a:spAutoFit/>
          </a:bodyPr>
          <a:lstStyle/>
          <a:p>
            <a:pPr marL="1968500" indent="-19685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bend  </a:t>
            </a:r>
            <a:r>
              <a:rPr lang="en-US" altLang="zh-CN" sz="3200" b="1" i="1" dirty="0">
                <a:solidFill>
                  <a:srgbClr val="FF0000"/>
                </a:solidFill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1)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 curved part of something, especially a road or river</a:t>
            </a:r>
            <a:r>
              <a:rPr lang="en-US" altLang="zh-CN" sz="3200" b="1" dirty="0"/>
              <a:t>  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尤指道路或河流的</a:t>
            </a:r>
            <a:r>
              <a:rPr lang="en-US" altLang="zh-CN" sz="3200" b="1" dirty="0">
                <a:solidFill>
                  <a:srgbClr val="FF0000"/>
                </a:solidFill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</a:rPr>
              <a:t>拐弯，弯道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1968500" indent="-1968500">
              <a:lnSpc>
                <a:spcPct val="120000"/>
              </a:lnSpc>
            </a:pPr>
            <a:r>
              <a:rPr lang="en-US" altLang="zh-CN" sz="3200" b="1" dirty="0"/>
              <a:t>               2)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an action in which you bend a part of your body 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身体的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</a:rPr>
              <a:t>弯曲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06400" y="287655"/>
            <a:ext cx="1124458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sz="3200" b="1" i="0">
                <a:solidFill>
                  <a:schemeClr val="tx1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</a:rPr>
              <a:t>I </a:t>
            </a:r>
            <a:r>
              <a:rPr sz="3200" b="1" i="0">
                <a:solidFill>
                  <a:srgbClr val="FF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</a:rPr>
              <a:t>bent down</a:t>
            </a:r>
            <a:r>
              <a:rPr sz="3200" b="1" i="0">
                <a:solidFill>
                  <a:schemeClr val="tx1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</a:rPr>
              <a:t> and tied my shoelace.</a:t>
            </a:r>
          </a:p>
          <a:p>
            <a:pPr marL="0" indent="0"/>
            <a:r>
              <a:rPr lang="en-US" sz="3200" b="1" i="0">
                <a:solidFill>
                  <a:schemeClr val="tx1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</a:rPr>
              <a:t>She</a:t>
            </a:r>
            <a:r>
              <a:rPr lang="en-US" sz="3200" b="1" i="0">
                <a:solidFill>
                  <a:srgbClr val="FF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</a:rPr>
              <a:t> bent forward</a:t>
            </a:r>
            <a:r>
              <a:rPr lang="en-US" sz="3200" b="1" i="0">
                <a:solidFill>
                  <a:schemeClr val="tx1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</a:rPr>
              <a:t> to pick up the newspaper.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7810" y="670048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翻译下面句子。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7810" y="1288006"/>
            <a:ext cx="10871561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1) </a:t>
            </a:r>
            <a:r>
              <a:rPr lang="zh-CN" altLang="en-US" sz="3200" b="1" dirty="0"/>
              <a:t>她往前倾身，在我耳边低语。</a:t>
            </a:r>
          </a:p>
          <a:p>
            <a:pPr>
              <a:lnSpc>
                <a:spcPct val="120000"/>
              </a:lnSpc>
            </a:pP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zh-CN" altLang="en-US" sz="3200" b="1" dirty="0"/>
              <a:t>这条河有一连串的急弯。</a:t>
            </a:r>
          </a:p>
          <a:p>
            <a:pPr>
              <a:lnSpc>
                <a:spcPct val="120000"/>
              </a:lnSpc>
            </a:pPr>
            <a:endParaRPr lang="zh-CN" altLang="en-US" sz="3200" b="1" dirty="0"/>
          </a:p>
          <a:p>
            <a:pPr marL="352425" indent="-352425">
              <a:lnSpc>
                <a:spcPct val="120000"/>
              </a:lnSpc>
            </a:pPr>
            <a:r>
              <a:rPr lang="en-US" altLang="zh-CN" sz="3200" b="1" dirty="0"/>
              <a:t>3)</a:t>
            </a:r>
            <a:r>
              <a:rPr lang="zh-CN" altLang="en-US" sz="3200" b="1" dirty="0"/>
              <a:t>当我说我没看见她时，确切地说我并没有说谎，我只是稍微歪曲了一下事实。</a:t>
            </a:r>
          </a:p>
        </p:txBody>
      </p:sp>
      <p:sp>
        <p:nvSpPr>
          <p:cNvPr id="4" name="矩形 3"/>
          <p:cNvSpPr/>
          <p:nvPr/>
        </p:nvSpPr>
        <p:spPr>
          <a:xfrm>
            <a:off x="900300" y="1939147"/>
            <a:ext cx="7729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She bent forward and whispered in my ear.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0300" y="3078688"/>
            <a:ext cx="80926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There are a series of sharp bends in the river.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2237" y="4842824"/>
            <a:ext cx="10399071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 wasn’t exactly lying when I said I hadn’t seen her — I was just </a:t>
            </a:r>
            <a:r>
              <a:rPr lang="en-US" altLang="zh-CN" sz="3200" b="1" u="sng" dirty="0">
                <a:solidFill>
                  <a:srgbClr val="FF0000"/>
                </a:solidFill>
              </a:rPr>
              <a:t>bending the truth</a:t>
            </a:r>
            <a:r>
              <a:rPr lang="en-US" altLang="zh-CN" sz="3200" b="1" dirty="0">
                <a:solidFill>
                  <a:srgbClr val="FF0000"/>
                </a:solidFill>
              </a:rPr>
              <a:t> a little.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35" y="266700"/>
            <a:ext cx="12192635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057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claim 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n.</a:t>
            </a:r>
            <a:r>
              <a:rPr lang="en-US" altLang="zh-CN" sz="3200" b="1" dirty="0">
                <a:sym typeface="+mn-ea"/>
              </a:rPr>
              <a:t> 1)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say sth is true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声称；断言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  <a:p>
            <a:pPr indent="-2057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singer has </a:t>
            </a:r>
            <a:r>
              <a:rPr lang="en-US" altLang="zh-CN" sz="3200" b="1" u="sng" dirty="0">
                <a:solidFill>
                  <a:srgbClr val="FF0000"/>
                </a:solidFill>
              </a:rPr>
              <a:t>denied the claim that </a:t>
            </a:r>
            <a:r>
              <a:rPr lang="en-US" altLang="zh-CN" sz="3200" b="1" dirty="0">
                <a:solidFill>
                  <a:schemeClr val="tx1"/>
                </a:solidFill>
              </a:rPr>
              <a:t>she is leaving the band.</a:t>
            </a:r>
          </a:p>
          <a:p>
            <a:pPr indent="-2057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这名歌手已否认那家杂志有关她要离开乐队的说法。</a:t>
            </a:r>
          </a:p>
          <a:p>
            <a:pPr indent="-1973580" fontAlgn="auto">
              <a:lnSpc>
                <a:spcPct val="120000"/>
              </a:lnSpc>
            </a:pPr>
            <a:r>
              <a:rPr lang="en-US" altLang="zh-CN" sz="3200" b="1" dirty="0"/>
              <a:t>He </a:t>
            </a:r>
            <a:r>
              <a:rPr lang="en-US" altLang="zh-CN" sz="3200" b="1" u="sng" dirty="0">
                <a:solidFill>
                  <a:srgbClr val="FF0000"/>
                </a:solidFill>
              </a:rPr>
              <a:t>made a claim that</a:t>
            </a:r>
            <a:r>
              <a:rPr lang="en-US" altLang="zh-CN" sz="3200" b="1" dirty="0"/>
              <a:t> he couldn't live up to his parents’ expectations.</a:t>
            </a:r>
          </a:p>
          <a:p>
            <a:pPr indent="-627380" fontAlgn="auto">
              <a:lnSpc>
                <a:spcPct val="120000"/>
              </a:lnSpc>
              <a:tabLst>
                <a:tab pos="1071245" algn="l"/>
              </a:tabLst>
            </a:pPr>
            <a:r>
              <a:rPr lang="zh-CN" altLang="en-US" sz="3200" b="1" dirty="0"/>
              <a:t>警方缺乏足够的证据来支持这些说法。</a:t>
            </a:r>
          </a:p>
          <a:p>
            <a:pPr indent="-627380" fontAlgn="auto">
              <a:lnSpc>
                <a:spcPct val="120000"/>
              </a:lnSpc>
              <a:tabLst>
                <a:tab pos="1071245" algn="l"/>
              </a:tabLst>
            </a:pPr>
            <a:r>
              <a:rPr lang="en-US" altLang="zh-CN" sz="3200" b="1" dirty="0"/>
              <a:t>The police lack enough evidence to </a:t>
            </a:r>
            <a:r>
              <a:rPr lang="en-US" altLang="zh-CN" sz="3200" b="1" u="sng" dirty="0">
                <a:solidFill>
                  <a:srgbClr val="FF0000"/>
                </a:solidFill>
              </a:rPr>
              <a:t>support these claims</a:t>
            </a:r>
            <a:r>
              <a:rPr lang="en-US" altLang="zh-CN" sz="3200" b="1" dirty="0"/>
              <a:t>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35" y="-152400"/>
            <a:ext cx="12192635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057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claim 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n.</a:t>
            </a:r>
            <a:r>
              <a:rPr lang="en-US" altLang="zh-CN" sz="3200" b="1" dirty="0">
                <a:sym typeface="+mn-ea"/>
              </a:rPr>
              <a:t> </a:t>
            </a:r>
          </a:p>
          <a:p>
            <a:pPr indent="-2057400" fontAlgn="auto"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legal right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权利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所有权</a:t>
            </a:r>
          </a:p>
          <a:p>
            <a:pPr indent="-2057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3)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a request for a sum of money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索赔</a:t>
            </a:r>
          </a:p>
          <a:p>
            <a:pPr indent="-2057400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</a:endParaRPr>
          </a:p>
          <a:p>
            <a:pPr indent="-627380" fontAlgn="auto">
              <a:lnSpc>
                <a:spcPct val="120000"/>
              </a:lnSpc>
              <a:tabLst>
                <a:tab pos="1071245" algn="l"/>
              </a:tabLst>
            </a:pPr>
            <a:r>
              <a:rPr lang="zh-CN" altLang="en-US" sz="3200" b="1" dirty="0"/>
              <a:t>They </a:t>
            </a:r>
            <a:r>
              <a:rPr lang="zh-CN" altLang="en-US" sz="3200" b="1" u="sng" dirty="0">
                <a:solidFill>
                  <a:srgbClr val="FF0000"/>
                </a:solidFill>
              </a:rPr>
              <a:t>had no claim on</a:t>
            </a:r>
            <a:r>
              <a:rPr lang="zh-CN" altLang="en-US" sz="3200" b="1" dirty="0"/>
              <a:t> the land.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他们无权索要那块土地。</a:t>
            </a:r>
          </a:p>
          <a:p>
            <a:pPr indent="-627380" fontAlgn="auto">
              <a:lnSpc>
                <a:spcPct val="120000"/>
              </a:lnSpc>
              <a:tabLst>
                <a:tab pos="1071245" algn="l"/>
              </a:tabLst>
            </a:pPr>
            <a:r>
              <a:rPr lang="en-US" altLang="zh-CN" sz="3200" b="1" dirty="0">
                <a:solidFill>
                  <a:srgbClr val="0000FF"/>
                </a:solidFill>
              </a:rPr>
              <a:t>lay claim to sth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声明对……的所有权</a:t>
            </a:r>
          </a:p>
          <a:p>
            <a:pPr indent="-627380" fontAlgn="auto">
              <a:lnSpc>
                <a:spcPct val="120000"/>
              </a:lnSpc>
              <a:tabLst>
                <a:tab pos="1071245" algn="l"/>
              </a:tabLst>
            </a:pPr>
            <a:r>
              <a:rPr lang="zh-CN" altLang="en-US" sz="3200" b="1" dirty="0"/>
              <a:t>You can </a:t>
            </a:r>
            <a:r>
              <a:rPr lang="zh-CN" altLang="en-US" sz="3200" b="1" u="sng" dirty="0">
                <a:solidFill>
                  <a:srgbClr val="FF0000"/>
                </a:solidFill>
              </a:rPr>
              <a:t>make a claim on your insurance policy</a:t>
            </a:r>
            <a:r>
              <a:rPr lang="en-US" altLang="zh-CN" sz="3200" b="1" u="sng" dirty="0">
                <a:solidFill>
                  <a:srgbClr val="FF0000"/>
                </a:solidFill>
              </a:rPr>
              <a:t> for</a:t>
            </a:r>
            <a:r>
              <a:rPr lang="en-US" altLang="zh-CN" sz="3200" b="1" dirty="0"/>
              <a:t> £2000</a:t>
            </a:r>
            <a:r>
              <a:rPr lang="zh-CN" altLang="en-US" sz="3200" b="1" dirty="0"/>
              <a:t>.</a:t>
            </a:r>
          </a:p>
          <a:p>
            <a:pPr indent="-627380" fontAlgn="auto">
              <a:lnSpc>
                <a:spcPct val="120000"/>
              </a:lnSpc>
              <a:tabLst>
                <a:tab pos="1071245" algn="l"/>
              </a:tabLst>
            </a:pPr>
            <a:r>
              <a:rPr lang="zh-CN" altLang="en-US" sz="3200" b="1" dirty="0"/>
              <a:t>你可</a:t>
            </a:r>
            <a:r>
              <a:rPr lang="zh-CN" altLang="en-US" sz="3200" b="1" u="sng" dirty="0"/>
              <a:t>按保险单索赔</a:t>
            </a:r>
            <a:r>
              <a:rPr lang="en-US" altLang="zh-CN" sz="3200" b="1" dirty="0"/>
              <a:t>2000</a:t>
            </a:r>
            <a:r>
              <a:rPr lang="zh-CN" altLang="en-US" sz="3200" b="1" dirty="0"/>
              <a:t>英镑。</a:t>
            </a:r>
          </a:p>
          <a:p>
            <a:pPr indent="-627380" fontAlgn="auto">
              <a:lnSpc>
                <a:spcPct val="120000"/>
              </a:lnSpc>
              <a:tabLst>
                <a:tab pos="1071245" algn="l"/>
              </a:tabLst>
            </a:pP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make/lodge a claim for sth 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为……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提出索赔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35" y="38100"/>
            <a:ext cx="1219263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0574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3200" b="1" dirty="0">
                <a:sym typeface="+mn-ea"/>
              </a:rPr>
              <a:t> three per cent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pay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/wage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 claim</a:t>
            </a:r>
          </a:p>
          <a:p>
            <a:pPr indent="-205740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fill in/complete the claim form</a:t>
            </a:r>
          </a:p>
          <a:p>
            <a:pPr indent="-2057400" fontAlgn="auto"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sym typeface="+mn-ea"/>
            </a:endParaRPr>
          </a:p>
          <a:p>
            <a:pPr indent="-19735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claim 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v. </a:t>
            </a:r>
            <a:r>
              <a:rPr lang="en-US" altLang="zh-CN" sz="3200" b="1" dirty="0">
                <a:sym typeface="+mn-ea"/>
              </a:rPr>
              <a:t>1)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声称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断言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主张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197358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           2)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索要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索取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claims (that)</a:t>
            </a:r>
            <a:r>
              <a:rPr lang="en-US" altLang="zh-CN" sz="3200" b="1" dirty="0">
                <a:sym typeface="+mn-ea"/>
              </a:rPr>
              <a:t> he was not given a fair hearing.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I don't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claim to be</a:t>
            </a:r>
            <a:r>
              <a:rPr lang="en-US" altLang="zh-CN" sz="3200" b="1" dirty="0">
                <a:sym typeface="+mn-ea"/>
              </a:rPr>
              <a:t> a feminist, but I'd like to see more women in top jobs. </a:t>
            </a:r>
            <a:r>
              <a:rPr lang="zh-CN" altLang="en-US" sz="3200" b="1" dirty="0">
                <a:sym typeface="+mn-ea"/>
              </a:rPr>
              <a:t>声称做某事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Scientists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claimed a major breakthrough</a:t>
            </a:r>
            <a:r>
              <a:rPr lang="en-US" altLang="zh-CN" sz="3200" b="1" dirty="0">
                <a:sym typeface="+mn-ea"/>
              </a:rPr>
              <a:t> in the fight against the disease.</a:t>
            </a:r>
            <a:r>
              <a:rPr lang="en-US" altLang="zh-CN" sz="3200" b="1" dirty="0"/>
              <a:t>  </a:t>
            </a:r>
            <a:r>
              <a:rPr lang="zh-CN" altLang="en-US" sz="3200" b="1" dirty="0"/>
              <a:t>宣布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宣称某事</a:t>
            </a:r>
            <a:endParaRPr lang="en-US" altLang="zh-CN" sz="3200" b="1" dirty="0">
              <a:sym typeface="+mn-ea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It is claimed that _______________________.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据说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888355" y="38100"/>
            <a:ext cx="6096000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0574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提高工资 3% 的要求</a:t>
            </a:r>
          </a:p>
          <a:p>
            <a:pPr indent="-20574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填写索赔申请表</a:t>
            </a:r>
          </a:p>
          <a:p>
            <a:pPr indent="-2057400" fontAlgn="auto">
              <a:lnSpc>
                <a:spcPct val="120000"/>
              </a:lnSpc>
            </a:pPr>
            <a:endParaRPr lang="zh-CN" altLang="en-US" sz="3200" b="1" dirty="0">
              <a:sym typeface="+mn-ea"/>
            </a:endParaRPr>
          </a:p>
        </p:txBody>
      </p:sp>
      <p:sp>
        <p:nvSpPr>
          <p:cNvPr id="5" name="Text Box 4"/>
          <p:cNvSpPr txBox="1"/>
          <p:nvPr>
            <p:custDataLst>
              <p:tags r:id="rId2"/>
            </p:custDataLst>
          </p:nvPr>
        </p:nvSpPr>
        <p:spPr>
          <a:xfrm>
            <a:off x="3115310" y="5927090"/>
            <a:ext cx="46634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scientists made a major ...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"/>
          <p:cNvSpPr/>
          <p:nvPr>
            <p:custDataLst>
              <p:tags r:id="rId2"/>
            </p:custDataLst>
          </p:nvPr>
        </p:nvSpPr>
        <p:spPr>
          <a:xfrm>
            <a:off x="164283" y="263995"/>
            <a:ext cx="1124821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The car crash </a:t>
            </a:r>
            <a:r>
              <a:rPr lang="en-US" altLang="zh-CN" sz="3200" b="1" dirty="0">
                <a:solidFill>
                  <a:srgbClr val="FF0000"/>
                </a:solidFill>
              </a:rPr>
              <a:t>claimed three lives</a:t>
            </a:r>
            <a:r>
              <a:rPr lang="en-US" altLang="zh-CN" sz="3200" b="1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She has finally </a:t>
            </a:r>
            <a:r>
              <a:rPr lang="en-US" altLang="zh-CN" sz="3200" b="1" dirty="0">
                <a:solidFill>
                  <a:srgbClr val="FF0000"/>
                </a:solidFill>
              </a:rPr>
              <a:t>claimed a place on the team</a:t>
            </a:r>
            <a:r>
              <a:rPr lang="en-US" altLang="zh-CN" sz="3200" b="1" dirty="0"/>
              <a:t>. </a:t>
            </a:r>
          </a:p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He's not entitled to </a:t>
            </a:r>
            <a:r>
              <a:rPr lang="zh-CN" altLang="en-US" sz="3200" b="1" dirty="0">
                <a:solidFill>
                  <a:srgbClr val="FF0000"/>
                </a:solidFill>
              </a:rPr>
              <a:t>claim unemployment benefit</a:t>
            </a:r>
            <a:r>
              <a:rPr lang="zh-CN" altLang="en-US" sz="3200" b="1" dirty="0">
                <a:solidFill>
                  <a:schemeClr val="tx1"/>
                </a:solidFill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/>
              <a:t>You can </a:t>
            </a:r>
            <a:r>
              <a:rPr lang="en-US" altLang="zh-CN" sz="3200" b="1" dirty="0">
                <a:solidFill>
                  <a:srgbClr val="FF0000"/>
                </a:solidFill>
              </a:rPr>
              <a:t>claim back</a:t>
            </a:r>
            <a:r>
              <a:rPr lang="en-US" altLang="zh-CN" sz="3200" b="1" dirty="0"/>
              <a:t> the tax on your purchases.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/>
              <a:t>There is great potential for customer anger over delays caused by weather, </a:t>
            </a:r>
            <a:r>
              <a:rPr lang="en-US" altLang="zh-CN" sz="3200" b="1" dirty="0">
                <a:solidFill>
                  <a:srgbClr val="FF0000"/>
                </a:solidFill>
              </a:rPr>
              <a:t>unclaimed</a:t>
            </a:r>
            <a:r>
              <a:rPr lang="en-US" altLang="zh-CN" sz="3200" b="1" dirty="0"/>
              <a:t> luggage and technical problems.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522085" y="435610"/>
            <a:ext cx="6096000" cy="3897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ts val="424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夺走三条生命</a:t>
            </a:r>
          </a:p>
          <a:p>
            <a:pPr marL="914400" lvl="2" indent="457200" fontAlgn="auto">
              <a:lnSpc>
                <a:spcPts val="424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在队伍中赢得一席之地</a:t>
            </a:r>
          </a:p>
          <a:p>
            <a:pPr marL="1828800" lvl="4" indent="457200" fontAlgn="auto">
              <a:lnSpc>
                <a:spcPts val="424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领取失业救济金</a:t>
            </a:r>
          </a:p>
          <a:p>
            <a:pPr marL="1828800" lvl="4" indent="457200" fontAlgn="auto">
              <a:lnSpc>
                <a:spcPts val="424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索回，要回</a:t>
            </a:r>
          </a:p>
          <a:p>
            <a:pPr marL="1828800" lvl="4" indent="457200" fontAlgn="auto">
              <a:lnSpc>
                <a:spcPts val="4240"/>
              </a:lnSpc>
            </a:pP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 marL="1828800" lvl="4" indent="457200" fontAlgn="auto">
              <a:lnSpc>
                <a:spcPts val="4240"/>
              </a:lnSpc>
            </a:pP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 marL="1828800" lvl="4" indent="457200" fontAlgn="auto">
              <a:lnSpc>
                <a:spcPts val="424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无人认领的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8674" y="560927"/>
            <a:ext cx="11334206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翻译下列句子。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1) </a:t>
            </a:r>
            <a:r>
              <a:rPr lang="zh-CN" altLang="en-US" sz="3200" b="1" dirty="0">
                <a:latin typeface="+mj-lt"/>
              </a:rPr>
              <a:t>那个年轻人声称对父亲的财产拥有继承权。</a:t>
            </a:r>
            <a:endParaRPr lang="en-US" altLang="zh-CN" sz="3200" b="1" dirty="0">
              <a:latin typeface="+mj-lt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endParaRPr lang="zh-CN" altLang="en-US" sz="3200" b="1" dirty="0">
              <a:latin typeface="+mj-lt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2) </a:t>
            </a:r>
            <a:r>
              <a:rPr lang="zh-CN" altLang="en-US" sz="3200" b="1" dirty="0">
                <a:latin typeface="+mj-lt"/>
              </a:rPr>
              <a:t>如果你在网上买的货物有损坏，可以要求退钱。</a:t>
            </a:r>
            <a:endParaRPr lang="en-US" altLang="zh-CN" sz="3200" b="1" dirty="0">
              <a:latin typeface="+mj-lt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+mj-lt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+mj-lt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3) </a:t>
            </a:r>
            <a:r>
              <a:rPr lang="zh-CN" altLang="en-US" sz="3200" b="1" dirty="0">
                <a:latin typeface="+mj-lt"/>
              </a:rPr>
              <a:t>据声称有些工人一周工作一百个小时左右。</a:t>
            </a:r>
          </a:p>
        </p:txBody>
      </p:sp>
      <p:sp>
        <p:nvSpPr>
          <p:cNvPr id="3" name="矩形 2"/>
          <p:cNvSpPr/>
          <p:nvPr/>
        </p:nvSpPr>
        <p:spPr>
          <a:xfrm>
            <a:off x="775881" y="1738301"/>
            <a:ext cx="8977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The young man laid claim to his father’s property.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5881" y="2992488"/>
            <a:ext cx="101193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You can claim your money back if the goods you bought online are damaged.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5881" y="4669999"/>
            <a:ext cx="10836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It was claimed that some workers worked about 100 hours a week.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/>
          <p:nvPr/>
        </p:nvSpPr>
        <p:spPr>
          <a:xfrm>
            <a:off x="471805" y="430530"/>
            <a:ext cx="1158430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sth make(s) all the difference (to sb/sth)</a:t>
            </a:r>
          </a:p>
          <a:p>
            <a:pPr indent="0" fontAlgn="auto">
              <a:lnSpc>
                <a:spcPct val="120000"/>
              </a:lnSpc>
            </a:pPr>
            <a:r>
              <a:rPr lang="en-US" sz="3200" b="1" dirty="0"/>
              <a:t>= have a significant effect on a person or situation </a:t>
            </a:r>
            <a:r>
              <a:rPr lang="zh-CN" altLang="en-US" sz="3200" b="1" dirty="0"/>
              <a:t>大不相同；关系重大</a:t>
            </a:r>
            <a:endParaRPr sz="3200" b="1" dirty="0"/>
          </a:p>
          <a:p>
            <a:pPr indent="0" fontAlgn="auto">
              <a:lnSpc>
                <a:spcPct val="120000"/>
              </a:lnSpc>
            </a:pPr>
            <a:r>
              <a:rPr sz="3200" b="1" dirty="0"/>
              <a:t>住在哪里会极大地影响你的感受。</a:t>
            </a:r>
          </a:p>
          <a:p>
            <a:pPr indent="0" fontAlgn="auto">
              <a:lnSpc>
                <a:spcPct val="120000"/>
              </a:lnSpc>
            </a:pPr>
            <a:r>
              <a:rPr sz="3200" b="1" dirty="0">
                <a:sym typeface="+mn-ea"/>
              </a:rPr>
              <a:t>Where you live can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make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all the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 difference to</a:t>
            </a:r>
            <a:r>
              <a:rPr sz="3200" b="1" dirty="0">
                <a:sym typeface="+mn-ea"/>
              </a:rPr>
              <a:t> the way you feel.</a:t>
            </a:r>
            <a:endParaRPr sz="3200" b="1" dirty="0"/>
          </a:p>
          <a:p>
            <a:pPr indent="0" fontAlgn="auto">
              <a:lnSpc>
                <a:spcPct val="120000"/>
              </a:lnSpc>
            </a:pPr>
            <a:r>
              <a:rPr sz="3200" b="1" dirty="0">
                <a:sym typeface="+mn-ea"/>
              </a:rPr>
              <a:t>锻炼身体非常重要。</a:t>
            </a:r>
            <a:endParaRPr sz="3200" b="1" dirty="0"/>
          </a:p>
          <a:p>
            <a:pPr indent="0" fontAlgn="auto">
              <a:lnSpc>
                <a:spcPct val="120000"/>
              </a:lnSpc>
            </a:pPr>
            <a:r>
              <a:rPr sz="3200" b="1" dirty="0"/>
              <a:t>Exercise </a:t>
            </a:r>
            <a:r>
              <a:rPr sz="3200" b="1" dirty="0">
                <a:solidFill>
                  <a:srgbClr val="FF0000"/>
                </a:solidFill>
              </a:rPr>
              <a:t>makes all the difference</a:t>
            </a:r>
            <a:r>
              <a:rPr sz="3200" b="1" dirty="0"/>
              <a:t>.</a:t>
            </a:r>
          </a:p>
          <a:p>
            <a:pPr indent="0" fontAlgn="auto">
              <a:lnSpc>
                <a:spcPct val="120000"/>
              </a:lnSpc>
            </a:pPr>
            <a:r>
              <a:rPr sz="3200" b="1" dirty="0">
                <a:sym typeface="+mn-ea"/>
              </a:rPr>
              <a:t>他的退休不会影响我们处理事情的方式。</a:t>
            </a:r>
            <a:endParaRPr sz="3200" b="1" dirty="0"/>
          </a:p>
          <a:p>
            <a:pPr indent="0" fontAlgn="auto">
              <a:lnSpc>
                <a:spcPct val="120000"/>
              </a:lnSpc>
            </a:pPr>
            <a:r>
              <a:rPr sz="3200" b="1" dirty="0"/>
              <a:t>His retirement won't </a:t>
            </a:r>
            <a:r>
              <a:rPr sz="3200" b="1" dirty="0">
                <a:solidFill>
                  <a:srgbClr val="FF0000"/>
                </a:solidFill>
              </a:rPr>
              <a:t>make any difference to</a:t>
            </a:r>
            <a:r>
              <a:rPr sz="3200" b="1" dirty="0"/>
              <a:t> the way we</a:t>
            </a:r>
            <a:r>
              <a:rPr lang="en-US" sz="3200" b="1" dirty="0"/>
              <a:t> handle things.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7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</Words>
  <Application>Microsoft Macintosh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宋体</vt:lpstr>
      <vt:lpstr>Times New Roman Bold</vt:lpstr>
      <vt:lpstr>Times New Roman Bold Italic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182</cp:revision>
  <dcterms:created xsi:type="dcterms:W3CDTF">2024-09-10T02:26:46Z</dcterms:created>
  <dcterms:modified xsi:type="dcterms:W3CDTF">2026-07-23T01:01:39Z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1033-6.11.0.8885</vt:lpwstr>
  </property>
  <property fmtid="{D5CDD505-2E9C-101B-9397-08002B2CF9AE}" pid="3" name="ICV">
    <vt:lpwstr>F2BA66787E6CFFD4BE717C64641697AE_42</vt:lpwstr>
  </property>
</Properties>
</file>