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29" r:id="rId3"/>
    <p:sldId id="649" r:id="rId4"/>
    <p:sldId id="652" r:id="rId6"/>
    <p:sldId id="722" r:id="rId7"/>
    <p:sldId id="750" r:id="rId8"/>
    <p:sldId id="723" r:id="rId9"/>
    <p:sldId id="751" r:id="rId10"/>
    <p:sldId id="679" r:id="rId11"/>
    <p:sldId id="724" r:id="rId12"/>
    <p:sldId id="678" r:id="rId13"/>
    <p:sldId id="681" r:id="rId14"/>
    <p:sldId id="655" r:id="rId15"/>
    <p:sldId id="656" r:id="rId16"/>
    <p:sldId id="669" r:id="rId17"/>
    <p:sldId id="658" r:id="rId18"/>
    <p:sldId id="648" r:id="rId19"/>
    <p:sldId id="659" r:id="rId20"/>
    <p:sldId id="444" r:id="rId21"/>
    <p:sldId id="725" r:id="rId22"/>
    <p:sldId id="646" r:id="rId23"/>
    <p:sldId id="729" r:id="rId24"/>
    <p:sldId id="727" r:id="rId25"/>
    <p:sldId id="728" r:id="rId26"/>
    <p:sldId id="661" r:id="rId27"/>
    <p:sldId id="447" r:id="rId28"/>
    <p:sldId id="677" r:id="rId29"/>
    <p:sldId id="663" r:id="rId30"/>
    <p:sldId id="591" r:id="rId31"/>
  </p:sldIdLst>
  <p:sldSz cx="12192000" cy="6858000"/>
  <p:notesSz cx="6858000" cy="9144000"/>
  <p:custDataLst>
    <p:tags r:id="rId3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39B77"/>
    <a:srgbClr val="E9EBF5"/>
    <a:srgbClr val="FFFFFF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03" autoAdjust="0"/>
    <p:restoredTop sz="94660"/>
  </p:normalViewPr>
  <p:slideViewPr>
    <p:cSldViewPr snapToGrid="0">
      <p:cViewPr varScale="1">
        <p:scale>
          <a:sx n="69" d="100"/>
          <a:sy n="69" d="100"/>
        </p:scale>
        <p:origin x="9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6" Type="http://schemas.openxmlformats.org/officeDocument/2006/relationships/tags" Target="tags/tag3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3F60E-794B-40BA-960D-A62AADD48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69CFB-EF14-41ED-809A-6131161FDF0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我敢说，我认为</a:t>
            </a:r>
            <a:r>
              <a:rPr lang="zh-CN" altLang="en-US"/>
              <a:t>有很大可能</a:t>
            </a:r>
            <a:endParaRPr lang="zh-CN" altLang="en-US"/>
          </a:p>
          <a:p>
            <a:r>
              <a:rPr lang="zh-CN" altLang="en-US"/>
              <a:t>你竟敢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a striking woman </a:t>
            </a:r>
            <a:r>
              <a:rPr lang="zh-CN" altLang="en-US"/>
              <a:t>一个俊俏的</a:t>
            </a:r>
            <a:r>
              <a:rPr lang="zh-CN" altLang="en-US"/>
              <a:t>女人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nature / qualities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  <p:custDataLst>
              <p:tags r:id="rId3"/>
            </p:custDataLst>
          </p:nvPr>
        </p:nvSpPr>
        <p:spPr/>
        <p:txBody>
          <a:bodyPr/>
          <a:p>
            <a:r>
              <a:rPr lang="en-US"/>
              <a:t>/frɪ'kwent/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=</a:t>
            </a:r>
            <a:r>
              <a:rPr lang="en-US"/>
              <a:t>come across</a:t>
            </a:r>
            <a:endParaRPr lang="en-US"/>
          </a:p>
          <a:p>
            <a:r>
              <a:rPr lang="en-US"/>
              <a:t>a remarkable encounter </a:t>
            </a:r>
            <a:r>
              <a:rPr lang="zh-CN" altLang="en-US"/>
              <a:t>一次</a:t>
            </a:r>
            <a:r>
              <a:rPr lang="zh-CN" altLang="en-US"/>
              <a:t>奇遇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cast list </a:t>
            </a:r>
            <a:r>
              <a:rPr lang="zh-CN" altLang="en-US"/>
              <a:t>演员表</a:t>
            </a:r>
            <a:endParaRPr lang="zh-CN" altLang="en-US"/>
          </a:p>
          <a:p>
            <a:r>
              <a:rPr lang="en-US" altLang="zh-CN"/>
              <a:t>a member of the cast </a:t>
            </a:r>
            <a:r>
              <a:rPr lang="zh-CN" altLang="en-US"/>
              <a:t>剧组的</a:t>
            </a:r>
            <a:r>
              <a:rPr lang="zh-CN" altLang="en-US"/>
              <a:t>一员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because of, as a result of, on account of, thanks to...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9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/>
          </p:cNvSpPr>
          <p:nvPr>
            <p:ph idx="1"/>
          </p:nvPr>
        </p:nvSpPr>
        <p:spPr>
          <a:xfrm flipH="1">
            <a:off x="160875" y="94427"/>
            <a:ext cx="8209489" cy="12741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1. But I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dare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 not speak in a voice loud.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  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不敢高声语。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" name="Rectangle 1"/>
          <p:cNvSpPr txBox="1"/>
          <p:nvPr/>
        </p:nvSpPr>
        <p:spPr>
          <a:xfrm>
            <a:off x="582841" y="1297593"/>
            <a:ext cx="11244197" cy="127254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8080" indent="-241808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dare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vi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</a:rPr>
              <a:t>.&amp;</a:t>
            </a:r>
            <a:r>
              <a:rPr lang="en-US" altLang="zh-CN" sz="3200" b="1" i="1" dirty="0" err="1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vt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.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  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</a:rPr>
              <a:t>to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be courageous or bold enough to do or try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</a:rPr>
              <a:t>something </a:t>
            </a:r>
            <a:r>
              <a:rPr lang="en-US" altLang="zh-CN" sz="3200" b="1" dirty="0" smtClean="0">
                <a:latin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勇于，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</a:rPr>
              <a:t>胆敢；有勇气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试着做某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</a:rPr>
              <a:t>事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" name="Rectangle 1"/>
          <p:cNvSpPr txBox="1"/>
          <p:nvPr/>
        </p:nvSpPr>
        <p:spPr>
          <a:xfrm>
            <a:off x="337820" y="2457450"/>
            <a:ext cx="11489055" cy="42252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dare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做实义动词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时：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dare (to) do 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sth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. 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敢做          </a:t>
            </a:r>
            <a:endParaRPr lang="zh-CN" altLang="en-US" sz="3200" b="1" dirty="0">
              <a:latin typeface="Times New Roman" panose="02020503050405090304" pitchFamily="18" charset="0"/>
            </a:endParaRP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我的小儿子不敢晚上独自出门。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只有少数记者敢报道这件事。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你敢告诉他这个坏消息吗？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dare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.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 smtClean="0">
                <a:latin typeface="Times New Roman" panose="02020503050405090304" pitchFamily="18" charset="0"/>
                <a:sym typeface="+mn-ea"/>
              </a:rPr>
              <a:t>敢于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面对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 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* We’ll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dare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any hardship and danger. 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850255" y="2613660"/>
            <a:ext cx="6341745" cy="3494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My little son doesn’t dare to go out alone at night.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Only a few journalists dare (to) cover the event.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Do you dare (to) tell him the bad news?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/>
          <p:nvPr/>
        </p:nvSpPr>
        <p:spPr>
          <a:xfrm flipH="1">
            <a:off x="415284" y="1866585"/>
            <a:ext cx="11086904" cy="48158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Dare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 you tell him the bad news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?  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358775" indent="-358775"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她不敢独自走。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358775" indent="-358775"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She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dared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not go alone. 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358775" indent="-358775"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如果你敢把这告诉老师，我就给你投票。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358775" indent="-358775"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If you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dare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 say that to our teacher, I would vote for you.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358775" indent="-358775"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358775" indent="-358775"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*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I dare say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things will be improving.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358775" indent="-358775"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*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How dare you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say that I was lying.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" name="Rectangle 1"/>
          <p:cNvSpPr txBox="1"/>
          <p:nvPr/>
        </p:nvSpPr>
        <p:spPr>
          <a:xfrm flipH="1">
            <a:off x="306070" y="179070"/>
            <a:ext cx="11580495" cy="1373505"/>
          </a:xfrm>
          <a:prstGeom prst="rect">
            <a:avLst/>
          </a:prstGeom>
          <a:ln w="38100">
            <a:noFill/>
          </a:ln>
        </p:spPr>
        <p:txBody>
          <a:bodyPr vert="horz" wrap="square" lIns="91440" tIns="45720" rIns="91440" bIns="45720" rtlCol="0" anchor="t">
            <a:noAutofit/>
          </a:bodyPr>
          <a:lstStyle>
            <a:defPPr>
              <a:defRPr lang="en-US"/>
            </a:defPPr>
            <a:lvl1pPr marL="1440180" indent="-1440180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90204" pitchFamily="34" charset="0"/>
              <a:defRPr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685800" indent="-228600" eaLnBrk="1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latin typeface="+mn-lt"/>
              </a:defRPr>
            </a:lvl2pPr>
            <a:lvl3pPr marL="1143000" indent="-228600" eaLnBrk="1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latin typeface="+mn-lt"/>
              </a:defRPr>
            </a:lvl3pPr>
            <a:lvl4pPr marL="1600200" indent="-228600" eaLnBrk="1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>
                <a:latin typeface="+mn-lt"/>
              </a:defRPr>
            </a:lvl4pPr>
            <a:lvl5pPr marL="2057400" indent="-228600" eaLnBrk="1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>
                <a:latin typeface="+mn-lt"/>
              </a:defRPr>
            </a:lvl5pPr>
            <a:lvl6pPr marL="2514600" indent="-228600" eaLnBrk="1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>
                <a:latin typeface="+mn-lt"/>
              </a:defRPr>
            </a:lvl6pPr>
            <a:lvl7pPr marL="2971800" indent="-228600" eaLnBrk="1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>
                <a:latin typeface="+mn-lt"/>
              </a:defRPr>
            </a:lvl7pPr>
            <a:lvl8pPr marL="3429000" indent="-228600" eaLnBrk="1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>
                <a:latin typeface="+mn-lt"/>
              </a:defRPr>
            </a:lvl8pPr>
            <a:lvl9pPr marL="3886200" indent="-228600" eaLnBrk="1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>
                <a:latin typeface="+mn-lt"/>
              </a:defRPr>
            </a:lvl9pPr>
          </a:lstStyle>
          <a:p>
            <a:pPr marL="0" indent="0"/>
            <a:r>
              <a:rPr lang="en-US" altLang="zh-CN" dirty="0" smtClean="0"/>
              <a:t>dare</a:t>
            </a:r>
            <a:r>
              <a:rPr lang="zh-CN" altLang="en-US" dirty="0" smtClean="0"/>
              <a:t>用作情态动词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zh-CN" altLang="en-US" dirty="0" smtClean="0"/>
              <a:t>后跟动词原形</a:t>
            </a:r>
            <a:r>
              <a:rPr lang="zh-CN" altLang="en-US" dirty="0" smtClean="0">
                <a:solidFill>
                  <a:schemeClr val="tx1"/>
                </a:solidFill>
              </a:rPr>
              <a:t>，主要用于疑问句、否定句、条件句。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 marL="0" indent="0"/>
            <a:r>
              <a:rPr lang="en-US" altLang="zh-CN" dirty="0" smtClean="0">
                <a:cs typeface="Times New Roman" panose="02020503050405090304" pitchFamily="18" charset="0"/>
                <a:sym typeface="+mn-ea"/>
              </a:rPr>
              <a:t>Do you dare (to) tell him the bad news?</a:t>
            </a:r>
            <a:endParaRPr lang="en-US" altLang="zh-CN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0" indent="0"/>
            <a:r>
              <a:rPr lang="en-US" altLang="zh-CN" dirty="0">
                <a:solidFill>
                  <a:schemeClr val="tx1"/>
                </a:solidFill>
              </a:rPr>
              <a:t>= 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/>
          </p:cNvSpPr>
          <p:nvPr>
            <p:ph idx="4294967295"/>
          </p:nvPr>
        </p:nvSpPr>
        <p:spPr>
          <a:xfrm>
            <a:off x="414020" y="2101850"/>
            <a:ext cx="5694680" cy="2061845"/>
          </a:xfrm>
        </p:spPr>
        <p:txBody>
          <a:bodyPr vert="horz" wrap="square" lIns="91440" tIns="45720" rIns="91440" bIns="45720" anchor="ctr">
            <a:no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一个显著的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特征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与……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酷似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引人注目的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景色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展示出鲜明的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对比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我突然想到……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这个地区被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台风袭击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被……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迷住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划火柴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击打某人的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头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05655" y="92710"/>
            <a:ext cx="7400290" cy="5996940"/>
          </a:xfrm>
          <a:prstGeom prst="rect">
            <a:avLst/>
          </a:prstGeom>
        </p:spPr>
        <p:txBody>
          <a:bodyPr wrap="square">
            <a:spAutoFit/>
          </a:bodyPr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a striking feature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bear a striking similarity 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a striking landscape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show a striking contrast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It (suddenly) struck me that ...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The area was struck by typhoon.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be struck by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strike a match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algn="l" defTabSz="914400">
              <a:lnSpc>
                <a:spcPct val="120000"/>
              </a:lnSpc>
              <a:buClrTx/>
              <a:buSz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strike sb on the head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62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2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62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62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624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/>
          </p:cNvSpPr>
          <p:nvPr>
            <p:ph idx="4294967295"/>
          </p:nvPr>
        </p:nvSpPr>
        <p:spPr>
          <a:xfrm>
            <a:off x="146669" y="255972"/>
            <a:ext cx="11408426" cy="5996940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..., which was later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characterize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Li Bai’s poetry.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characterize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v. 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be typical of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a person, a place or a thing </a:t>
            </a:r>
            <a:endParaRPr lang="en-US" altLang="zh-CN" sz="3200" b="1" i="1" dirty="0"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 i="1" dirty="0"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特征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) characterize (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事物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(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事物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) be characterized by (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特征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)</a:t>
            </a:r>
            <a:endParaRPr lang="en-US" altLang="zh-CN" sz="3200" b="1" u="sng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sym typeface="+mn-ea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是……的特点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明亮的色彩和自由的笔法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是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他绘画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的特点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Bright colors and free brushwork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characterize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his paintings.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这座现代城市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的特点是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钢制和玻璃制的高楼大厦。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This modern city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49295" y="5570855"/>
            <a:ext cx="90316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is characterized by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sym typeface="+mn-ea"/>
              </a:rPr>
              <a:t> tall buildings in steel and glass.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2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2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2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24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/>
          </p:cNvSpPr>
          <p:nvPr>
            <p:ph idx="4294967295"/>
          </p:nvPr>
        </p:nvSpPr>
        <p:spPr>
          <a:xfrm>
            <a:off x="391779" y="414722"/>
            <a:ext cx="11408426" cy="5406390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characterize sb/sth as sth/ (being) adj.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把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描述成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...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The play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is characterized as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 a tragedy.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was characterized as (being)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 well-educated and diligent.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character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品格，性格；人物，角色；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特点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塑造一个人的性格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sym typeface="+mn-ea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character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sym typeface="+mn-ea"/>
              </a:rPr>
              <a:t>of the building remains unchanged.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sym typeface="+mn-ea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sym typeface="+mn-ea"/>
              </a:rPr>
              <a:t>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in/out of character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sym typeface="+mn-ea"/>
              </a:rPr>
              <a:t>符合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sym typeface="+mn-ea"/>
              </a:rPr>
              <a:t>不符合……的个性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sym typeface="+mn-ea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His behavior at the party was completely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out of character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454525" y="33445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shape one’s character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2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2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62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2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/>
          </p:cNvSpPr>
          <p:nvPr>
            <p:ph idx="4294967295"/>
          </p:nvPr>
        </p:nvSpPr>
        <p:spPr>
          <a:xfrm>
            <a:off x="235569" y="324552"/>
            <a:ext cx="11408426" cy="3044190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marL="0" indent="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characteristic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 adj./n.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typical/feature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典型的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特征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spoke with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characteristic enthusiasm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endParaRPr 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她说话带着特有的热情。</a:t>
            </a:r>
            <a:endParaRPr 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two groups of children have quite different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characteristics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endParaRPr 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这两组儿童具有截然不同的特点。</a:t>
            </a:r>
            <a:endParaRPr lang="zh-CN" altLang="en-US" sz="3200" b="1" dirty="0">
              <a:solidFill>
                <a:schemeClr val="tx1"/>
              </a:solidFill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/>
          </p:cNvSpPr>
          <p:nvPr>
            <p:ph idx="1"/>
          </p:nvPr>
        </p:nvSpPr>
        <p:spPr>
          <a:xfrm flipH="1">
            <a:off x="408261" y="681255"/>
            <a:ext cx="11375600" cy="4815840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ancient phil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osophers of different schools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</a:rPr>
              <a:t>诸子百家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familiarize oneself with sth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</a:rPr>
              <a:t>熟悉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</a:rPr>
              <a:t>某事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sb be familiar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with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 sth / sth be familiar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 sb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acquire the wisdom of previous generations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获得先辈的智慧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be driven by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在……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驱使下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a burning desire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对……强烈的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渴望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/>
          <p:nvPr/>
        </p:nvSpPr>
        <p:spPr>
          <a:xfrm flipH="1">
            <a:off x="385503" y="1117220"/>
            <a:ext cx="11375600" cy="122264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Driven by a burning desire for knowledge, Jack took his belongings and walked into the distance in his early twenties.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" name="Rectangle 1"/>
          <p:cNvSpPr txBox="1"/>
          <p:nvPr/>
        </p:nvSpPr>
        <p:spPr>
          <a:xfrm flipH="1">
            <a:off x="408398" y="433956"/>
            <a:ext cx="11375600" cy="6832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ctr">
            <a:spAutoFit/>
          </a:bodyPr>
          <a:lstStyle>
            <a:lvl1pPr marL="446405" indent="-446405" defTabSz="9144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  <a:defRPr sz="3200" b="1">
                <a:latin typeface="Times New Roman" panose="02020503050405090304" pitchFamily="18" charset="0"/>
                <a:ea typeface="宋体" pitchFamily="2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marL="0" indent="0"/>
            <a:r>
              <a:rPr lang="en-US" altLang="zh-CN" dirty="0" smtClean="0">
                <a:solidFill>
                  <a:srgbClr val="0000FF"/>
                </a:solidFill>
              </a:rPr>
              <a:t>【</a:t>
            </a:r>
            <a:r>
              <a:rPr lang="zh-CN" altLang="en-US" dirty="0">
                <a:solidFill>
                  <a:srgbClr val="0000FF"/>
                </a:solidFill>
              </a:rPr>
              <a:t>仿写</a:t>
            </a:r>
            <a:r>
              <a:rPr lang="en-US" altLang="zh-CN" dirty="0">
                <a:solidFill>
                  <a:srgbClr val="0000FF"/>
                </a:solidFill>
              </a:rPr>
              <a:t>】</a:t>
            </a:r>
            <a:r>
              <a:rPr lang="zh-CN" altLang="en-US" dirty="0"/>
              <a:t>求知若渴，二十出头的杰克背上行囊，走向远方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/>
          </p:cNvSpPr>
          <p:nvPr>
            <p:ph idx="1"/>
          </p:nvPr>
        </p:nvSpPr>
        <p:spPr>
          <a:xfrm flipH="1">
            <a:off x="364212" y="378280"/>
            <a:ext cx="11375600" cy="1865126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3. During his travels, he visited famous mountains and great rivers,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encountering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different customs and practices. (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翻译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   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他一路寻访名山大川，见识各地文化风俗。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147531" y="931545"/>
            <a:ext cx="7019233" cy="138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200624" y="1469039"/>
            <a:ext cx="7774649" cy="2962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793338" y="1484810"/>
            <a:ext cx="1243280" cy="138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Grp="1"/>
          </p:cNvSpPr>
          <p:nvPr>
            <p:custDataLst>
              <p:tags r:id="rId1"/>
            </p:custDataLst>
          </p:nvPr>
        </p:nvSpPr>
        <p:spPr>
          <a:xfrm flipH="1">
            <a:off x="623827" y="4166456"/>
            <a:ext cx="11375600" cy="123219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During her study in China, Lucy frequented many tourist attractions in Xi'an, having a deeper understanding of the city.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" name="Rectangle 1"/>
          <p:cNvSpPr txBox="1"/>
          <p:nvPr/>
        </p:nvSpPr>
        <p:spPr>
          <a:xfrm flipH="1">
            <a:off x="623827" y="2243729"/>
            <a:ext cx="11375600" cy="18085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ctr">
            <a:spAutoFit/>
          </a:bodyPr>
          <a:lstStyle>
            <a:lvl1pPr marL="446405" indent="-446405" defTabSz="9144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  <a:defRPr sz="3200" b="1">
                <a:latin typeface="Times New Roman" panose="02020503050405090304" pitchFamily="18" charset="0"/>
                <a:ea typeface="宋体" pitchFamily="2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r>
              <a:rPr lang="en-US" altLang="zh-CN" dirty="0" smtClean="0">
                <a:solidFill>
                  <a:srgbClr val="0000FF"/>
                </a:solidFill>
              </a:rPr>
              <a:t>【</a:t>
            </a:r>
            <a:r>
              <a:rPr lang="zh-CN" altLang="en-US" dirty="0">
                <a:solidFill>
                  <a:srgbClr val="0000FF"/>
                </a:solidFill>
              </a:rPr>
              <a:t>仿写</a:t>
            </a:r>
            <a:r>
              <a:rPr lang="en-US" altLang="zh-CN" dirty="0" smtClean="0">
                <a:solidFill>
                  <a:srgbClr val="0000FF"/>
                </a:solidFill>
              </a:rPr>
              <a:t>】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marL="0" indent="0"/>
            <a:r>
              <a:rPr lang="zh-CN" altLang="en-US" dirty="0" smtClean="0"/>
              <a:t>在</a:t>
            </a:r>
            <a:r>
              <a:rPr lang="zh-CN" altLang="en-US" dirty="0"/>
              <a:t>中国留学期间，露西经常在西安的旅游景点游玩，对这座城市有了深入了解。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/>
          <p:nvPr/>
        </p:nvSpPr>
        <p:spPr>
          <a:xfrm>
            <a:off x="371475" y="204470"/>
            <a:ext cx="11533505" cy="363474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9100" indent="-29591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</a:rPr>
              <a:t>encounter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</a:rPr>
              <a:t>  </a:t>
            </a:r>
            <a:r>
              <a:rPr lang="en-US" altLang="zh-CN" sz="3200" b="1" i="1" dirty="0" err="1" smtClean="0">
                <a:solidFill>
                  <a:srgbClr val="FF0000"/>
                </a:solidFill>
                <a:latin typeface="Times New Roman" panose="02020503050405090304" pitchFamily="18" charset="0"/>
              </a:rPr>
              <a:t>vt.</a:t>
            </a:r>
            <a:r>
              <a:rPr lang="en-US" altLang="zh-CN" sz="3200" b="1" dirty="0" smtClean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</a:rPr>
              <a:t> </a:t>
            </a:r>
            <a:r>
              <a:rPr lang="en-US" altLang="zh-CN" sz="3200" b="1" dirty="0" smtClean="0">
                <a:latin typeface="Times New Roman" panose="02020503050405090304" pitchFamily="18" charset="0"/>
              </a:rPr>
              <a:t>1)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meet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sb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, experience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, especially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sb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/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new, unusual or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unexpected</a:t>
            </a:r>
            <a:endParaRPr lang="en-US" altLang="zh-CN" sz="3200" b="1" dirty="0" smtClean="0">
              <a:latin typeface="Times New Roman" panose="02020503050405090304" pitchFamily="18" charset="0"/>
            </a:endParaRPr>
          </a:p>
          <a:p>
            <a:pPr marL="2514600" indent="-25146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</a:rPr>
              <a:t>                          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</a:rPr>
              <a:t>偶然碰到，意外地遇见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marL="3043555" indent="-304355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</a:rPr>
              <a:t>                          2)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experience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, especially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unpleasant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or difficult, while you are trying to do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else  </a:t>
            </a:r>
            <a:endParaRPr lang="en-US" altLang="zh-CN" sz="3200" b="1" dirty="0" smtClean="0">
              <a:latin typeface="Times New Roman" panose="02020503050405090304" pitchFamily="18" charset="0"/>
            </a:endParaRPr>
          </a:p>
          <a:p>
            <a:pPr marL="2514600" indent="-25146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</a:rPr>
              <a:t>      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遭遇，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</a:rPr>
              <a:t>碰到，冲突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/>
          <p:nvPr/>
        </p:nvSpPr>
        <p:spPr>
          <a:xfrm>
            <a:off x="249569" y="66638"/>
            <a:ext cx="11541378" cy="65874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10718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</a:rPr>
              <a:t>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encountered a number of difficulties</a:t>
            </a:r>
            <a:r>
              <a:rPr lang="en-US" altLang="zh-CN" sz="3200" b="1" dirty="0">
                <a:latin typeface="Times New Roman" panose="02020503050405090304" pitchFamily="18" charset="0"/>
              </a:rPr>
              <a:t> in the first week.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0" indent="-10718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doctor had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encountered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several similar cases in the past</a:t>
            </a:r>
            <a:r>
              <a:rPr lang="en-US" altLang="zh-CN" sz="3200" b="1" dirty="0">
                <a:latin typeface="Times New Roman" panose="02020503050405090304" pitchFamily="18" charset="0"/>
              </a:rPr>
              <a:t>.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0" indent="-10718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 smtClean="0">
                <a:latin typeface="Times New Roman" panose="02020503050405090304" pitchFamily="18" charset="0"/>
              </a:rPr>
              <a:t>那</a:t>
            </a:r>
            <a:r>
              <a:rPr lang="zh-CN" altLang="en-US" sz="3200" b="1" dirty="0">
                <a:latin typeface="Times New Roman" panose="02020503050405090304" pitchFamily="18" charset="0"/>
              </a:rPr>
              <a:t>位医生过去曾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碰到</a:t>
            </a:r>
            <a:r>
              <a:rPr lang="zh-CN" altLang="en-US" sz="3200" b="1" dirty="0">
                <a:latin typeface="Times New Roman" panose="02020503050405090304" pitchFamily="18" charset="0"/>
              </a:rPr>
              <a:t>过好几个类似的病例。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0" indent="-10718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I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first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encountered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him when studying at Cambridge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0" indent="-10718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</a:rPr>
              <a:t>我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</a:rPr>
              <a:t>第一次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遇到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</a:rPr>
              <a:t>他是在剑桥读书时。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0" indent="-1071880" fontAlgn="auto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sym typeface="+mn-ea"/>
            </a:endParaRPr>
          </a:p>
          <a:p>
            <a:pPr marL="0" indent="-10718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encounter n.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0" indent="-1071880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sym typeface="+mn-ea"/>
              </a:rPr>
              <a:t>His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 first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encounter with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Wilson was back in 1989</a:t>
            </a:r>
            <a:r>
              <a:rPr lang="en-US" altLang="zh-CN" sz="3200" b="1" dirty="0" smtClean="0">
                <a:latin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 smtClean="0">
              <a:latin typeface="Times New Roman" panose="02020503050405090304" pitchFamily="18" charset="0"/>
            </a:endParaRPr>
          </a:p>
          <a:p>
            <a:pPr marL="0" indent="-98615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story describes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the extraordinary encounter between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a man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and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a dolphin.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0" indent="-1071880" fontAlgn="auto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/>
          </p:cNvSpPr>
          <p:nvPr>
            <p:ph idx="1"/>
          </p:nvPr>
        </p:nvSpPr>
        <p:spPr>
          <a:xfrm flipH="1">
            <a:off x="-635" y="0"/>
            <a:ext cx="12485370" cy="3044190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open and tolerant atmosphere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allow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develop a free and unconstrained personality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in turn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ha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ve a huge impact on his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poetic production</a:t>
            </a:r>
            <a:endParaRPr lang="en-US" altLang="zh-CN" sz="3200" b="1" dirty="0">
              <a:latin typeface="+mj-ea"/>
              <a:ea typeface="+mj-ea"/>
            </a:endParaRPr>
          </a:p>
        </p:txBody>
      </p:sp>
      <p:sp>
        <p:nvSpPr>
          <p:cNvPr id="4" name="Rectangle 1"/>
          <p:cNvSpPr txBox="1"/>
          <p:nvPr/>
        </p:nvSpPr>
        <p:spPr>
          <a:xfrm>
            <a:off x="140185" y="3340858"/>
            <a:ext cx="11244197" cy="186309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5280" indent="-287528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tolerant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  adj.</a:t>
            </a:r>
            <a:r>
              <a:rPr lang="en-US" altLang="zh-CN" sz="3200" b="1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1)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宽容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的，容忍的</a:t>
            </a:r>
            <a:endParaRPr lang="en-US" altLang="zh-CN" sz="3200" dirty="0" smtClean="0"/>
          </a:p>
          <a:p>
            <a:pPr marL="2875280" indent="-287528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                        2)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 (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</a:rPr>
              <a:t>of plants, animals or machines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) 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able to survive or operate in difficult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conditions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能耐</a:t>
            </a:r>
            <a:r>
              <a:rPr lang="en-US" altLang="zh-CN" sz="3200" b="1" dirty="0" smtClean="0">
                <a:solidFill>
                  <a:srgbClr val="FF0000"/>
                </a:solidFill>
                <a:latin typeface="+mj-ea"/>
                <a:ea typeface="+mj-ea"/>
              </a:rPr>
              <a:t>……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的</a:t>
            </a:r>
            <a:endParaRPr lang="en-US" altLang="zh-CN" sz="32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8" name="Rectangle 1"/>
          <p:cNvSpPr txBox="1"/>
          <p:nvPr/>
        </p:nvSpPr>
        <p:spPr>
          <a:xfrm flipH="1">
            <a:off x="140184" y="5228927"/>
            <a:ext cx="7161479" cy="6267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5" indent="-446405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be tolerant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+mj-ea"/>
                <a:ea typeface="+mj-ea"/>
              </a:rPr>
              <a:t>对</a:t>
            </a:r>
            <a:r>
              <a:rPr lang="en-US" altLang="zh-CN" sz="3200" b="1" dirty="0">
                <a:latin typeface="+mj-ea"/>
                <a:ea typeface="+mj-ea"/>
              </a:rPr>
              <a:t>……</a:t>
            </a:r>
            <a:r>
              <a:rPr lang="zh-CN" altLang="en-US" sz="3200" b="1" dirty="0">
                <a:latin typeface="+mj-ea"/>
                <a:ea typeface="+mj-ea"/>
              </a:rPr>
              <a:t>容忍，忍耐</a:t>
            </a:r>
            <a:r>
              <a:rPr lang="en-US" altLang="zh-CN" sz="3200" b="1" dirty="0">
                <a:latin typeface="+mj-ea"/>
                <a:ea typeface="+mj-ea"/>
              </a:rPr>
              <a:t>……</a:t>
            </a:r>
            <a:endParaRPr lang="en-US" altLang="zh-CN" sz="3200" b="1" dirty="0">
              <a:latin typeface="+mj-ea"/>
              <a:ea typeface="+mj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831205" y="1682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sym typeface="+mn-ea"/>
              </a:rPr>
              <a:t>开放而包容的氛围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983855" y="1332230"/>
            <a:ext cx="40252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sym typeface="+mn-ea"/>
              </a:rPr>
              <a:t>养成自由不羁的性格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506220" y="1787525"/>
            <a:ext cx="12293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sym typeface="+mn-ea"/>
              </a:rPr>
              <a:t>进而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664450" y="23564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sym typeface="+mn-ea"/>
              </a:rPr>
              <a:t>极大地影响他的诗歌创作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2" grpId="0"/>
      <p:bldP spid="3" grpId="0"/>
      <p:bldP spid="5" grpId="0"/>
      <p:bldP spid="2" grpId="1"/>
      <p:bldP spid="3" grpId="1"/>
      <p:bldP spid="5" grpId="1"/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/>
          <p:nvPr/>
        </p:nvSpPr>
        <p:spPr>
          <a:xfrm>
            <a:off x="130457" y="207677"/>
            <a:ext cx="10927367" cy="12725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</a:rPr>
              <a:t>Perhaps </a:t>
            </a:r>
            <a:r>
              <a:rPr lang="en-US" altLang="zh-CN" sz="3200" b="1" dirty="0">
                <a:latin typeface="Times New Roman" panose="02020503050405090304" pitchFamily="18" charset="0"/>
              </a:rPr>
              <a:t>you need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be</a:t>
            </a:r>
            <a:r>
              <a:rPr lang="en-US" altLang="zh-CN" sz="3200" b="1" dirty="0">
                <a:latin typeface="Times New Roman" panose="02020503050405090304" pitchFamily="18" charset="0"/>
              </a:rPr>
              <a:t> more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tolerant</a:t>
            </a:r>
            <a:r>
              <a:rPr lang="en-US" altLang="zh-CN" sz="3200" b="1" u="sng" dirty="0">
                <a:latin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of</a:t>
            </a:r>
            <a:r>
              <a:rPr lang="en-US" altLang="zh-CN" sz="3200" b="1" u="sng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</a:rPr>
              <a:t>your </a:t>
            </a:r>
            <a:r>
              <a:rPr lang="en-US" altLang="zh-CN" sz="3200" b="1" dirty="0" err="1">
                <a:latin typeface="Times New Roman" panose="02020503050405090304" pitchFamily="18" charset="0"/>
              </a:rPr>
              <a:t>neighbours</a:t>
            </a:r>
            <a:r>
              <a:rPr lang="en-US" altLang="zh-CN" sz="3200" b="1" dirty="0" smtClean="0">
                <a:latin typeface="Times New Roman" panose="02020503050405090304" pitchFamily="18" charset="0"/>
              </a:rPr>
              <a:t>.</a:t>
            </a:r>
            <a:endParaRPr lang="en-US" altLang="zh-CN" sz="3200" b="1" dirty="0" smtClean="0">
              <a:latin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</a:rPr>
              <a:t>plants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are tolerant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</a:rPr>
              <a:t>frost. </a:t>
            </a:r>
            <a:endParaRPr lang="en-US" altLang="zh-CN" sz="3200" b="1" dirty="0">
              <a:latin typeface="Times New Roman" panose="02020503050405090304" pitchFamily="18" charset="0"/>
            </a:endParaRPr>
          </a:p>
        </p:txBody>
      </p:sp>
      <p:sp>
        <p:nvSpPr>
          <p:cNvPr id="6" name="Rectangle 1"/>
          <p:cNvSpPr txBox="1"/>
          <p:nvPr/>
        </p:nvSpPr>
        <p:spPr>
          <a:xfrm>
            <a:off x="290209" y="1480348"/>
            <a:ext cx="11069740" cy="12725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tolerate   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容许，允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许；忍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受，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容忍；有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耐受性，能经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受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tolerance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忍受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，容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忍；耐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受力，忍受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性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59410" y="3536950"/>
            <a:ext cx="11000740" cy="29324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628650" indent="-628650"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school cannot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tolerate cheating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on exams.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628650" indent="-628650"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</a:rPr>
              <a:t>= put up with sb/sth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628650" indent="-628650"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Few plants will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tolerate sudden changes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 in temperature.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628650" indent="-628650"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很少植物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经受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得住气温的突然变化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628650" indent="-628650" defTabSz="9144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has little tolerance of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jokes of any kind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</a:endParaRPr>
          </a:p>
          <a:p>
            <a:pPr marL="628650" indent="-628650" defTabSz="9144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tolerance to cold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耐寒力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628650" indent="-628650" defTabSz="9144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1802" y="1490515"/>
            <a:ext cx="11192577" cy="304698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defTabSz="9144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</a:rPr>
              <a:t>tolerate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</a:rPr>
              <a:t>的适当形式填空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</a:rPr>
              <a:t>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marL="446405" indent="-446405" defTabSz="9144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1)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We should always be ________ of views of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others, even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if we don’t agree with them.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defTabSz="9144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2)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I won’t ________ such behavior in this way.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 defTabSz="914400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</a:rPr>
              <a:t>3) __________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to alcohol decreases with age.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17081" y="2132015"/>
            <a:ext cx="15744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tolerant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25701" y="3349944"/>
            <a:ext cx="15295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tolerate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2347" y="3923080"/>
            <a:ext cx="1903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Tolerance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6801" y="451251"/>
            <a:ext cx="11800873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breathes vitality into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the lifeless objects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给……注入活力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 him from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other landscape poets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把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区分出来</a:t>
            </a:r>
            <a:endParaRPr lang="zh-CN" alt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distinguish between A and B 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endParaRPr 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Rectangle 1"/>
          <p:cNvSpPr txBox="1"/>
          <p:nvPr/>
        </p:nvSpPr>
        <p:spPr>
          <a:xfrm>
            <a:off x="458077" y="2318538"/>
            <a:ext cx="11276280" cy="422529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0005" indent="-385000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</a:rPr>
              <a:t>vi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.&amp;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</a:rPr>
              <a:t>vt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</a:rPr>
              <a:t> 1) 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成为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cs typeface="Times New Roman" panose="02020503050405090304" pitchFamily="18" charset="0"/>
              </a:rPr>
              <a:t>……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的特征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使有别于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850005" indent="-385000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2)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recognize the difference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between two people or thing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区分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辨别</a:t>
            </a:r>
            <a:endParaRPr lang="en-US" altLang="zh-CN" sz="3200" b="1" dirty="0" err="1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850005" indent="-385000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</a:t>
            </a:r>
            <a:r>
              <a:rPr lang="en-US" altLang="zh-CN" sz="3200" b="1" dirty="0" smtClean="0">
                <a:latin typeface="Times New Roman" panose="02020503050405090304" pitchFamily="18" charset="0"/>
                <a:sym typeface="+mn-ea"/>
              </a:rPr>
              <a:t>3)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 able to see the shape of something or hear a particular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sound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看清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认出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听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850005" indent="-385000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 4)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do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so well that people notice and admire you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出众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2575" y="271145"/>
            <a:ext cx="1177671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Sometimes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reality and fantasy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are hard to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distinguish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有时候现实和幻想很难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区分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 what age are children able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 right from wrong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? 																	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辨别是非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86155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male bird is 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distinguished from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the female bird 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its colorful tail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86155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has already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distinguished herself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athlete.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986155" fontAlgn="auto">
              <a:lnSpc>
                <a:spcPct val="120000"/>
              </a:lnSpc>
            </a:pPr>
            <a:r>
              <a:rPr lang="en-US" altLang="zh-CN" sz="3200" b="1" u="sng" dirty="0" err="1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作为</a:t>
            </a:r>
            <a:r>
              <a:rPr lang="en-US" altLang="zh-CN" sz="3200" b="1" dirty="0" err="1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运动员她已</a:t>
            </a:r>
            <a:r>
              <a:rPr lang="zh-CN" altLang="en-US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脱颖而出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9861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could not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 her words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but she sounded agitated.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861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我听不清她说的话，但听得出她很激动。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403225" y="202679"/>
            <a:ext cx="11492865" cy="6541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你能区别出这辆车和那辆车吗？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  Can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 _________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car and that one?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语言把人和动物区别开来。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  Speeches __________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man ________  animals.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她年轻的时候因头脑冷静、敢做敢为而出众。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  She ___________ __________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her coolness and bravery at an early age.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我们能看到三个人正在走来，但是看不清他们的脸。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 We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could see three men approaching but could not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 ________.</a:t>
            </a:r>
            <a:endParaRPr lang="en-US" altLang="zh-CN" sz="3200" b="1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53014" y="1351627"/>
            <a:ext cx="3740126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between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97685" y="2557812"/>
            <a:ext cx="4290534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             from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38300" y="3703189"/>
            <a:ext cx="4105611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distinguished    herself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654540" y="5468848"/>
            <a:ext cx="2098651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20665" y="6040260"/>
            <a:ext cx="2810962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their         faces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7645" y="576580"/>
            <a:ext cx="1177671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distinguished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卓越的，杰出的，著名的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～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for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因……而出名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～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as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作为……而出名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was the most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distinguished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scholar in physics.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/>
          <p:nvPr/>
        </p:nvSpPr>
        <p:spPr>
          <a:xfrm>
            <a:off x="457818" y="324781"/>
            <a:ext cx="11276280" cy="121348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76425" indent="-187642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</a:rPr>
              <a:t>to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look, smile, etc. in a particular direction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向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en-US" altLang="zh-CN" sz="3200" b="1" dirty="0" err="1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投以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视线、笑容等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7835" y="1897380"/>
            <a:ext cx="11275695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</a:t>
            </a:r>
            <a:r>
              <a:rPr lang="en-US" altLang="zh-CN" sz="3200" b="1" u="sng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welcoming smile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in his direction.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 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 </a:t>
            </a:r>
            <a:r>
              <a:rPr lang="en-US" altLang="zh-CN" sz="3200" b="1" u="sng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my eyes down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briefly.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Could you just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your eyes over this report?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/>
          <p:nvPr/>
        </p:nvSpPr>
        <p:spPr>
          <a:xfrm>
            <a:off x="457818" y="415586"/>
            <a:ext cx="11276280" cy="121348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76425" indent="-187642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make light, a shadow, etc. appear in a particular place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</a:rPr>
              <a:t>  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投射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57835" y="1877060"/>
            <a:ext cx="11276965" cy="3044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setting sun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 an orange glow over the mountains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sad news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a shadow over/on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proceedings.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								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蒙上阴影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Discoveries in atomic science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(a) new light on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old question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															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带来了新认识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/>
          <p:nvPr/>
        </p:nvSpPr>
        <p:spPr>
          <a:xfrm>
            <a:off x="562593" y="399711"/>
            <a:ext cx="11276280" cy="65214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76425" indent="-187642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cast doubt on/upon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使人怀疑</a:t>
            </a:r>
            <a:endParaRPr lang="zh-CN" altLang="en-US" sz="3200" b="1" dirty="0" smtClean="0">
              <a:solidFill>
                <a:srgbClr val="FF000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2610" y="1051560"/>
            <a:ext cx="112756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This lastest evidence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casts serious doubt on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his version of events.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Rectangle 1"/>
          <p:cNvSpPr txBox="1"/>
          <p:nvPr/>
        </p:nvSpPr>
        <p:spPr>
          <a:xfrm>
            <a:off x="457818" y="1846241"/>
            <a:ext cx="11276280" cy="121348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76425" indent="-187642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to throw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sb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/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somewhere, especially using force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76425" indent="-187642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扔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抛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38150" y="3286760"/>
            <a:ext cx="11296650" cy="65278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Sparks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leapt as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more wood on the fire.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3" grpId="0"/>
      <p:bldP spid="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/>
          <p:nvPr/>
        </p:nvSpPr>
        <p:spPr>
          <a:xfrm>
            <a:off x="598788" y="434953"/>
            <a:ext cx="11276280" cy="177419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76425" indent="-187642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5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choose actors to play the different parts in a film/movie, play,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etc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; to choose an actor to play a particular role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选派角色</a:t>
            </a:r>
            <a:endParaRPr lang="zh-CN" altLang="en-US" sz="3200" b="1" dirty="0" smtClean="0">
              <a:solidFill>
                <a:srgbClr val="FF000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04215" y="2358390"/>
            <a:ext cx="112756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director eventually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Dirk in the male lead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Rectangle 1"/>
          <p:cNvSpPr txBox="1"/>
          <p:nvPr/>
        </p:nvSpPr>
        <p:spPr>
          <a:xfrm>
            <a:off x="491106" y="3485727"/>
            <a:ext cx="11488838" cy="127254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cast 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全体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演员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2)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投，抛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90855" y="4994910"/>
            <a:ext cx="1148905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show is very amusing and the whole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perform(s) brilliant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fisherman got nothing in his first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cast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3" grpId="0"/>
      <p:bldP spid="3" grpId="1"/>
      <p:bldP spid="4" grpId="0" bldLvl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60997" y="1063387"/>
            <a:ext cx="1074119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36575" indent="-536575">
              <a:lnSpc>
                <a:spcPct val="120000"/>
              </a:lnSpc>
            </a:pPr>
            <a:r>
              <a:rPr lang="zh-CN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zh-CN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翻译句子</a:t>
            </a:r>
            <a:r>
              <a:rPr lang="zh-CN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他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很不耐烦地看了哥哥一眼，然后冲出了房间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她被选中扮演主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角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Annie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公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主。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19099" y="2234265"/>
            <a:ext cx="10074415" cy="2453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cast an impatient look/glance at his brother and rushed out of the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room.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cast in the lead role of Princess Annie.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0480" y="204471"/>
            <a:ext cx="1128903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7. </a:t>
            </a:r>
            <a:r>
              <a:rPr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owe a debt to</a:t>
            </a:r>
            <a:r>
              <a:rPr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his inspirational poems</a:t>
            </a: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感激他富有启发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灵感的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诗歌</a:t>
            </a:r>
            <a:endParaRPr lang="zh-CN" alt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Rectangle 1"/>
          <p:cNvSpPr txBox="1"/>
          <p:nvPr/>
        </p:nvSpPr>
        <p:spPr>
          <a:xfrm>
            <a:off x="544193" y="1477304"/>
            <a:ext cx="11103827" cy="127254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76425" indent="-187642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owe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altLang="zh-CN" sz="3200" dirty="0">
                <a:sym typeface="+mn-ea"/>
              </a:rPr>
              <a:t> </a:t>
            </a:r>
            <a:r>
              <a:rPr lang="en-US" altLang="zh-CN" sz="3200" dirty="0" smtClean="0"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(情)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76425" indent="-187642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2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债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4193" y="2992944"/>
            <a:ext cx="10322834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owe sb. 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= owe 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to sb.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欠某人某物；把</a:t>
            </a:r>
            <a:r>
              <a:rPr lang="en-US" altLang="zh-CN" sz="3200" b="1" dirty="0" smtClean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 smtClean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归功于某人；把</a:t>
            </a:r>
            <a:r>
              <a:rPr lang="en-US" altLang="zh-CN" sz="3200" b="1" dirty="0" smtClean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 smtClean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归因于某人</a:t>
            </a:r>
            <a:endParaRPr lang="zh-CN" altLang="en-US" sz="3200" b="1" dirty="0" smtClean="0"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island's present economy 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owes a good deal to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whisky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sales.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owing to  (prep.)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由于，因为</a:t>
            </a:r>
            <a:endParaRPr sz="3200" b="1" dirty="0"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5684" y="2827855"/>
            <a:ext cx="10322834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owe sb. a debt of gratitude   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欠某人恩情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owe sb. a debt                        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欠某人一笔债；欠某人恩情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owe you one/a </a:t>
            </a:r>
            <a:r>
              <a:rPr lang="en-US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favour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我欠你一份情</a:t>
            </a:r>
            <a:endParaRPr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Rectangle 1"/>
          <p:cNvSpPr txBox="1"/>
          <p:nvPr/>
        </p:nvSpPr>
        <p:spPr>
          <a:xfrm>
            <a:off x="405684" y="326645"/>
            <a:ext cx="11103827" cy="245605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76425" indent="-187642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debt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altLang="zh-CN" sz="3200" dirty="0" smtClean="0">
                <a:sym typeface="+mn-ea"/>
              </a:rPr>
              <a:t>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fact that you should feel grateful to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sb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because they have helped you or been kind to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you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76425" indent="-187642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人情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债，情义，恩情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76425" indent="-187642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2) a sum of money that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sb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owes 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借款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，欠款，债务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7970" y="4738134"/>
            <a:ext cx="11404936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0" indent="-901700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was so good to me that I can never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repay the debt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owe him.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86155" indent="-98615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owe a debt of gratitude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to my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teachers.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6320" y="1035665"/>
            <a:ext cx="60960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翻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译句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子。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我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认为他们得向我们道歉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我欠你多少钱？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由于身体受伤，他失业了。</a:t>
            </a:r>
            <a:endParaRPr lang="en-US" altLang="zh-CN" sz="3200" b="1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28220" y="2169914"/>
            <a:ext cx="9666429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think they owe us an apology / owe an apology to us. 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How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much do I owe you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?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out of work owing to a physical injury.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4974" y="167"/>
            <a:ext cx="11411751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poetry collection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entitled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Cathay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诗歌集名为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《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华夏集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》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Rectangle 1"/>
          <p:cNvSpPr txBox="1"/>
          <p:nvPr/>
        </p:nvSpPr>
        <p:spPr>
          <a:xfrm>
            <a:off x="478804" y="1272713"/>
            <a:ext cx="11007576" cy="186309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38375" indent="-223837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entitle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dirty="0"/>
              <a:t>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give a title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给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命名</a:t>
            </a:r>
            <a:endParaRPr lang="en-US" altLang="zh-CN" sz="3200" b="1" dirty="0">
              <a:solidFill>
                <a:srgbClr val="FF0000"/>
              </a:solidFill>
              <a:latin typeface="+mj-ea"/>
              <a:ea typeface="+mj-ea"/>
              <a:cs typeface="Times New Roman" panose="02020503050405090304" pitchFamily="18" charset="0"/>
              <a:sym typeface="+mn-ea"/>
            </a:endParaRPr>
          </a:p>
          <a:p>
            <a:pPr marL="2238375" indent="-223837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2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</a:rPr>
              <a:t>to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give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sb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the right to have or to do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(often passive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</a:rPr>
              <a:t>)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使享有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权利，使符合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资格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1010" y="3157855"/>
            <a:ext cx="11547475" cy="3634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223837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entitled to (do)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有资格做某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事</a:t>
            </a:r>
            <a:endParaRPr lang="zh-CN" alt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23837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Full-time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employees 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entitled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receive health insurance. 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0170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全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职雇员都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有资格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享受医疗保险。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are 23 Clubs throughout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China,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and your membership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entitles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 to enjoy all of them.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9017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让你有资格享有……</a:t>
            </a:r>
            <a:endParaRPr lang="zh-CN" alt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MmZiYWZlYTIzNGZiMjFhNTBkNTdkY2IwNzZiNDZhMjMifQ==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7896</Words>
  <Application>WPS Presentation</Application>
  <PresentationFormat>宽屏</PresentationFormat>
  <Paragraphs>297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</vt:lpstr>
      <vt:lpstr>宋体</vt:lpstr>
      <vt:lpstr>Wingdings</vt:lpstr>
      <vt:lpstr>Times New Roman</vt:lpstr>
      <vt:lpstr>汉仪书宋二KW</vt:lpstr>
      <vt:lpstr>Times New Roman Bold Italic</vt:lpstr>
      <vt:lpstr>Times New Roman Bold</vt:lpstr>
      <vt:lpstr>Times New Roman Regular</vt:lpstr>
      <vt:lpstr>微软雅黑</vt:lpstr>
      <vt:lpstr>汉仪旗黑</vt:lpstr>
      <vt:lpstr>宋体</vt:lpstr>
      <vt:lpstr>Arial Unicode MS</vt:lpstr>
      <vt:lpstr>Calibri Light</vt:lpstr>
      <vt:lpstr>Helvetica Neue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Elsssie</cp:lastModifiedBy>
  <cp:revision>362</cp:revision>
  <dcterms:created xsi:type="dcterms:W3CDTF">2024-09-13T01:57:27Z</dcterms:created>
  <dcterms:modified xsi:type="dcterms:W3CDTF">2024-09-13T01:57:27Z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1033-6.11.0.8885</vt:lpwstr>
  </property>
  <property fmtid="{D5CDD505-2E9C-101B-9397-08002B2CF9AE}" pid="3" name="ICV">
    <vt:lpwstr>D1F011FDA7F3C21D7F777E6445DECD07_42</vt:lpwstr>
  </property>
</Properties>
</file>