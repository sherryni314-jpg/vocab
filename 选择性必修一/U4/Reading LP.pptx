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.xml" ContentType="application/vnd.openxmlformats-officedocument.themeOverride+xml"/>
  <Override PartName="/ppt/theme/themeOverride30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893" r:id="rId3"/>
    <p:sldId id="895" r:id="rId5"/>
    <p:sldId id="765" r:id="rId6"/>
    <p:sldId id="509" r:id="rId7"/>
    <p:sldId id="766" r:id="rId8"/>
    <p:sldId id="757" r:id="rId9"/>
    <p:sldId id="738" r:id="rId10"/>
    <p:sldId id="740" r:id="rId11"/>
    <p:sldId id="897" r:id="rId12"/>
    <p:sldId id="854" r:id="rId13"/>
    <p:sldId id="772" r:id="rId14"/>
    <p:sldId id="771" r:id="rId15"/>
    <p:sldId id="682" r:id="rId16"/>
    <p:sldId id="380" r:id="rId17"/>
    <p:sldId id="759" r:id="rId18"/>
    <p:sldId id="760" r:id="rId19"/>
    <p:sldId id="419" r:id="rId20"/>
    <p:sldId id="761" r:id="rId21"/>
    <p:sldId id="386" r:id="rId22"/>
    <p:sldId id="744" r:id="rId23"/>
    <p:sldId id="393" r:id="rId24"/>
    <p:sldId id="763" r:id="rId25"/>
    <p:sldId id="396" r:id="rId26"/>
    <p:sldId id="830" r:id="rId27"/>
    <p:sldId id="746" r:id="rId28"/>
    <p:sldId id="767" r:id="rId29"/>
    <p:sldId id="769" r:id="rId30"/>
    <p:sldId id="768" r:id="rId31"/>
    <p:sldId id="831" r:id="rId32"/>
    <p:sldId id="599" r:id="rId33"/>
  </p:sldIdLst>
  <p:sldSz cx="12192000" cy="6858000"/>
  <p:notesSz cx="6858000" cy="9144000"/>
  <p:custDataLst>
    <p:tags r:id="rId3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99"/>
    <a:srgbClr val="CFD5EA"/>
    <a:srgbClr val="4472C4"/>
    <a:srgbClr val="0A74F9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66" d="100"/>
          <a:sy n="66" d="100"/>
        </p:scale>
        <p:origin x="10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gs" Target="tags/tag5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F3376-9DB4-4461-9888-1396C77DDD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66566-37A5-4B76-8242-8ED462C8FD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Success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was 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within her grasp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意识</a:t>
            </a:r>
            <a:r>
              <a:rPr lang="zh-CN" altLang="en-US"/>
              <a:t>到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opposing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dig into </a:t>
            </a:r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Speaking through an interpreter, the President said that the talks were going well.</a:t>
            </a:r>
            <a:endParaRPr lang="en-US"/>
          </a:p>
          <a:p>
            <a:r>
              <a:rPr lang="en-US"/>
              <a:t>总统通过口译员说会谈进展良好。</a:t>
            </a:r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存</a:t>
            </a:r>
            <a:r>
              <a:rPr lang="zh-CN" altLang="en-US"/>
              <a:t>零花钱</a:t>
            </a:r>
            <a:r>
              <a:rPr lang="en-US" altLang="zh-CN"/>
              <a:t> put away </a:t>
            </a:r>
            <a:r>
              <a:rPr lang="en-US" altLang="zh-CN"/>
              <a:t>pocket-money</a:t>
            </a:r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distant</a:t>
            </a:r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=</a:t>
            </a:r>
            <a:r>
              <a:rPr lang="en-US"/>
              <a:t>provide</a:t>
            </a:r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note </a:t>
            </a:r>
            <a:r>
              <a:rPr lang="zh-CN" altLang="en-US"/>
              <a:t>气氛，情绪</a:t>
            </a:r>
            <a:r>
              <a:rPr lang="en-US" altLang="zh-CN"/>
              <a:t>，</a:t>
            </a:r>
            <a:r>
              <a:rPr lang="zh-CN" altLang="en-US"/>
              <a:t>口气</a:t>
            </a:r>
            <a:r>
              <a:rPr lang="en-US" altLang="zh-CN"/>
              <a:t> mood / atmosphere</a:t>
            </a:r>
            <a:endParaRPr lang="en-US" altLang="zh-CN"/>
          </a:p>
          <a:p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ea typeface="+mj-ea"/>
                <a:cs typeface="Times New Roman Bold" panose="02020603050405020304" charset="0"/>
                <a:sym typeface="+mn-ea"/>
              </a:rPr>
              <a:t>National football team was widely perceived to have been unlucky.</a:t>
            </a:r>
            <a:endParaRPr lang="en-US" altLang="zh-CN" b="1" dirty="0">
              <a:solidFill>
                <a:srgbClr val="FF0000"/>
              </a:solidFill>
              <a:latin typeface="Times New Roman Bold" panose="02020603050405020304" charset="0"/>
              <a:ea typeface="+mj-ea"/>
              <a:cs typeface="Times New Roman Bold" panose="02020603050405020304" charset="0"/>
              <a:sym typeface="+mn-ea"/>
            </a:endParaRPr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see</a:t>
            </a:r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4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7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0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12420" y="1204595"/>
            <a:ext cx="1156779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sz="3200" b="1" dirty="0" smtClean="0">
                <a:solidFill>
                  <a:srgbClr val="FF0000"/>
                </a:solidFill>
                <a:sym typeface="+mn-ea"/>
              </a:rPr>
              <a:t>(be) frozen with snow </a:t>
            </a:r>
            <a:r>
              <a:rPr lang="zh-CN" altLang="en-US" sz="3200" b="1" dirty="0" smtClean="0">
                <a:solidFill>
                  <a:schemeClr val="tx1"/>
                </a:solidFill>
                <a:sym typeface="+mn-ea"/>
              </a:rPr>
              <a:t>大雪冰封</a:t>
            </a:r>
            <a:endParaRPr lang="zh-CN" altLang="en-US" sz="3200" b="1" dirty="0" smtClean="0">
              <a:solidFill>
                <a:schemeClr val="tx1"/>
              </a:solidFill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freeze </a:t>
            </a:r>
            <a:r>
              <a:rPr lang="en-US" altLang="zh-CN" sz="3200" b="1" i="1" dirty="0" smtClean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vi. &amp; vt. </a:t>
            </a:r>
            <a:r>
              <a:rPr lang="en-US" altLang="zh-CN" sz="3200" b="1" i="1" dirty="0" smtClean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become ice; the weather is at below 0℃ &amp; make sth solid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结冰，冰冻；（使）冻住</a:t>
            </a:r>
            <a:endParaRPr lang="en-US" altLang="zh-CN" sz="3200" b="1" i="1" dirty="0" smtClean="0">
              <a:solidFill>
                <a:srgbClr val="0000FF"/>
              </a:solidFill>
              <a:latin typeface="Times New Roman Bold Italic" panose="02020603050405020304" charset="0"/>
              <a:cs typeface="Times New Roman Bold Italic" panose="0202060305040502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 smtClean="0">
                <a:sym typeface="+mn-ea"/>
              </a:rPr>
              <a:t>The lake </a:t>
            </a:r>
            <a:r>
              <a:rPr lang="zh-CN" altLang="en-US" sz="3200" b="1" dirty="0" smtClean="0">
                <a:solidFill>
                  <a:srgbClr val="FF0000"/>
                </a:solidFill>
                <a:sym typeface="+mn-ea"/>
              </a:rPr>
              <a:t>is </a:t>
            </a:r>
            <a:r>
              <a:rPr lang="zh-CN" altLang="en-US" sz="3200" b="1" u="sng" dirty="0" smtClean="0">
                <a:solidFill>
                  <a:srgbClr val="FF0000"/>
                </a:solidFill>
                <a:sym typeface="+mn-ea"/>
              </a:rPr>
              <a:t>frozen</a:t>
            </a:r>
            <a:r>
              <a:rPr lang="zh-CN" altLang="en-US" sz="3200" b="1" dirty="0" smtClean="0">
                <a:solidFill>
                  <a:srgbClr val="FF0000"/>
                </a:solidFill>
                <a:sym typeface="+mn-ea"/>
              </a:rPr>
              <a:t> solid</a:t>
            </a:r>
            <a:r>
              <a:rPr lang="zh-CN" altLang="en-US" sz="3200" b="1" dirty="0" smtClean="0">
                <a:sym typeface="+mn-ea"/>
              </a:rPr>
              <a:t>.</a:t>
            </a:r>
            <a:r>
              <a:rPr lang="en-US" altLang="zh-CN" sz="3200" b="1" dirty="0" smtClean="0">
                <a:sym typeface="+mn-ea"/>
              </a:rPr>
              <a:t> 湖面冻得很结实。</a:t>
            </a:r>
            <a:endParaRPr lang="en-US" altLang="zh-CN" sz="3200" b="1" dirty="0" smtClean="0"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 smtClean="0">
                <a:sym typeface="+mn-ea"/>
              </a:rPr>
              <a:t>It's </a:t>
            </a:r>
            <a:r>
              <a:rPr lang="zh-CN" altLang="en-US" sz="3200" b="1" u="sng" dirty="0" smtClean="0">
                <a:solidFill>
                  <a:srgbClr val="FF0000"/>
                </a:solidFill>
                <a:sym typeface="+mn-ea"/>
              </a:rPr>
              <a:t>freezing</a:t>
            </a:r>
            <a:r>
              <a:rPr lang="zh-CN" altLang="en-US" sz="3200" b="1" dirty="0" smtClean="0">
                <a:sym typeface="+mn-ea"/>
              </a:rPr>
              <a:t> outside, you need to wear more clothes</a:t>
            </a:r>
            <a:r>
              <a:rPr lang="en-US" altLang="zh-CN" sz="3200" b="1" dirty="0" smtClean="0">
                <a:sym typeface="+mn-ea"/>
              </a:rPr>
              <a:t>. </a:t>
            </a:r>
            <a:r>
              <a:rPr lang="zh-CN" altLang="en-US" sz="3200" b="1" dirty="0" smtClean="0">
                <a:sym typeface="+mn-ea"/>
              </a:rPr>
              <a:t>外面很冷。</a:t>
            </a:r>
            <a:endParaRPr lang="zh-CN" altLang="en-US" sz="3200" b="1" dirty="0" smtClean="0"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 smtClean="0">
                <a:sym typeface="+mn-ea"/>
              </a:rPr>
              <a:t>冷冻食物</a:t>
            </a:r>
            <a:endParaRPr lang="zh-CN" altLang="en-US" sz="3200" b="1" dirty="0" smtClean="0"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 smtClean="0">
                <a:sym typeface="+mn-ea"/>
              </a:rPr>
              <a:t>非常寒冷的天气</a:t>
            </a:r>
            <a:endParaRPr lang="zh-CN" altLang="en-US" sz="3200" b="1" dirty="0" smtClean="0"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ym typeface="+mn-ea"/>
              </a:rPr>
              <a:t>The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freezing weather</a:t>
            </a:r>
            <a:r>
              <a:rPr lang="en-US" altLang="zh-CN" sz="3200" b="1" dirty="0" smtClean="0">
                <a:sym typeface="+mn-ea"/>
              </a:rPr>
              <a:t> chilled me to the bone. </a:t>
            </a:r>
            <a:r>
              <a:rPr lang="zh-CN" altLang="en-US" sz="3200" b="1" dirty="0" smtClean="0">
                <a:sym typeface="+mn-ea"/>
              </a:rPr>
              <a:t>寒冷的天气让我感到冰冷刺骨。</a:t>
            </a:r>
            <a:r>
              <a:rPr lang="en-US" altLang="zh-CN" sz="3200" b="1" dirty="0" smtClean="0">
                <a:sym typeface="+mn-ea"/>
              </a:rPr>
              <a:t> </a:t>
            </a:r>
            <a:endParaRPr lang="en-US" altLang="zh-CN" sz="3200" b="1" dirty="0" smtClean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170" y="52769"/>
            <a:ext cx="5915430" cy="1152069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485390" y="415036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 dirty="0" smtClean="0">
                <a:solidFill>
                  <a:srgbClr val="FF0000"/>
                </a:solidFill>
                <a:sym typeface="+mn-ea"/>
              </a:rPr>
              <a:t>froze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n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food</a:t>
            </a:r>
            <a:endParaRPr lang="en-US" altLang="zh-CN" sz="3200" b="1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579495" y="47485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freezing weather</a:t>
            </a:r>
            <a:endParaRPr lang="en-US" altLang="zh-CN" sz="3200" b="1" dirty="0" smtClean="0">
              <a:solidFill>
                <a:srgbClr val="FF0000"/>
              </a:solidFill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4" grpId="1"/>
      <p:bldP spid="6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12420" y="475615"/>
            <a:ext cx="1156779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be frozen with/in ...</a:t>
            </a:r>
            <a:r>
              <a:rPr lang="en-US" altLang="zh-CN" sz="3200" b="1" dirty="0" smtClean="0">
                <a:sym typeface="+mn-ea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(fear/terror/fright/shock)</a:t>
            </a:r>
            <a:r>
              <a:rPr lang="en-US" altLang="zh-CN" sz="3200" b="1" dirty="0" smtClean="0">
                <a:sym typeface="+mn-ea"/>
              </a:rPr>
              <a:t> </a:t>
            </a:r>
            <a:r>
              <a:rPr lang="zh-CN" altLang="en-US" sz="3200" b="1" dirty="0" smtClean="0">
                <a:sym typeface="+mn-ea"/>
              </a:rPr>
              <a:t>因……吓呆，僵住</a:t>
            </a:r>
            <a:endParaRPr lang="zh-CN" altLang="en-US" sz="3200" b="1" dirty="0" smtClean="0">
              <a:solidFill>
                <a:schemeClr val="tx1"/>
              </a:solidFill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sz="3200" b="1" dirty="0" smtClean="0">
                <a:sym typeface="+mn-ea"/>
              </a:rPr>
              <a:t>She stared at him, </a:t>
            </a:r>
            <a:r>
              <a:rPr lang="en-US" sz="3200" b="1" dirty="0" smtClean="0">
                <a:sym typeface="+mn-ea"/>
              </a:rPr>
              <a:t>________________</a:t>
            </a:r>
            <a:r>
              <a:rPr sz="3200" b="1" dirty="0" smtClean="0">
                <a:sym typeface="+mn-ea"/>
              </a:rPr>
              <a:t>.</a:t>
            </a:r>
            <a:r>
              <a:rPr lang="en-US" sz="3200" b="1" dirty="0" smtClean="0">
                <a:sym typeface="+mn-ea"/>
              </a:rPr>
              <a:t> </a:t>
            </a:r>
            <a:r>
              <a:rPr sz="3200" b="1" dirty="0" smtClean="0">
                <a:sym typeface="+mn-ea"/>
              </a:rPr>
              <a:t>震惊得僵住了</a:t>
            </a:r>
            <a:endParaRPr sz="3200" b="1" dirty="0" smtClean="0"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sz="3200" b="1" dirty="0" smtClean="0">
                <a:sym typeface="+mn-ea"/>
              </a:rPr>
              <a:t>I </a:t>
            </a:r>
            <a:r>
              <a:rPr sz="3200" b="1" dirty="0" smtClean="0">
                <a:solidFill>
                  <a:srgbClr val="FF0000"/>
                </a:solidFill>
                <a:sym typeface="+mn-ea"/>
              </a:rPr>
              <a:t>stood</a:t>
            </a:r>
            <a:r>
              <a:rPr sz="3200" b="1" dirty="0" smtClean="0">
                <a:sym typeface="+mn-ea"/>
              </a:rPr>
              <a:t> </a:t>
            </a:r>
            <a:r>
              <a:rPr sz="3200" b="1" dirty="0" smtClean="0">
                <a:solidFill>
                  <a:srgbClr val="FF0000"/>
                </a:solidFill>
                <a:sym typeface="+mn-ea"/>
              </a:rPr>
              <a:t>frozen to the spot</a:t>
            </a:r>
            <a:r>
              <a:rPr sz="3200" b="1" dirty="0" smtClean="0">
                <a:sym typeface="+mn-ea"/>
              </a:rPr>
              <a:t>, unable to speak.</a:t>
            </a:r>
            <a:endParaRPr sz="3200" b="1" dirty="0" smtClean="0"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sz="3200" b="1" dirty="0" smtClean="0">
                <a:sym typeface="+mn-ea"/>
              </a:rPr>
              <a:t>我</a:t>
            </a:r>
            <a:r>
              <a:rPr sz="3200" b="1" dirty="0" smtClean="0">
                <a:solidFill>
                  <a:srgbClr val="FF0000"/>
                </a:solidFill>
                <a:sym typeface="+mn-ea"/>
              </a:rPr>
              <a:t>呆呆地站在原地</a:t>
            </a:r>
            <a:r>
              <a:rPr sz="3200" b="1" dirty="0" smtClean="0">
                <a:sym typeface="+mn-ea"/>
              </a:rPr>
              <a:t>，说不出话来。</a:t>
            </a:r>
            <a:endParaRPr sz="3200" b="1" dirty="0" smtClean="0">
              <a:sym typeface="+mn-ea"/>
            </a:endParaRPr>
          </a:p>
          <a:p>
            <a:pPr indent="0" fontAlgn="auto">
              <a:lnSpc>
                <a:spcPct val="120000"/>
              </a:lnSpc>
            </a:pPr>
            <a:endParaRPr sz="3200" b="1" dirty="0" smtClean="0"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ym typeface="+mn-ea"/>
              </a:rPr>
              <a:t>T</a:t>
            </a:r>
            <a:r>
              <a:rPr lang="zh-CN" altLang="en-US" sz="3200" b="1" dirty="0" smtClean="0">
                <a:sym typeface="+mn-ea"/>
              </a:rPr>
              <a:t>he words </a:t>
            </a:r>
            <a:r>
              <a:rPr lang="zh-CN" altLang="en-US" sz="3200" b="1" dirty="0" smtClean="0">
                <a:solidFill>
                  <a:srgbClr val="FF0000"/>
                </a:solidFill>
                <a:sym typeface="+mn-ea"/>
              </a:rPr>
              <a:t>froze</a:t>
            </a:r>
            <a:r>
              <a:rPr lang="zh-CN" altLang="en-US" sz="3200" b="1" dirty="0" smtClean="0">
                <a:sym typeface="+mn-ea"/>
              </a:rPr>
              <a:t> on her lips</a:t>
            </a:r>
            <a:r>
              <a:rPr lang="en-US" altLang="zh-CN" sz="3200" b="1" dirty="0" smtClean="0">
                <a:sym typeface="+mn-ea"/>
              </a:rPr>
              <a:t>. 她话到嘴边又噎住了</a:t>
            </a:r>
            <a:r>
              <a:rPr lang="zh-CN" altLang="en-US" sz="3200" b="1" dirty="0" smtClean="0">
                <a:sym typeface="+mn-ea"/>
              </a:rPr>
              <a:t>。</a:t>
            </a:r>
            <a:endParaRPr lang="zh-CN" altLang="en-US" sz="3200" b="1" dirty="0" smtClean="0"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sym typeface="+mn-ea"/>
              </a:rPr>
              <a:t>The smile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froze </a:t>
            </a:r>
            <a:r>
              <a:rPr lang="en-US" altLang="zh-CN" sz="3200" b="1" dirty="0" smtClean="0">
                <a:solidFill>
                  <a:schemeClr val="tx1"/>
                </a:solidFill>
                <a:sym typeface="+mn-ea"/>
              </a:rPr>
              <a:t>on her lips.</a:t>
            </a:r>
            <a:endParaRPr lang="en-US" altLang="zh-CN" sz="3200" b="1" dirty="0" smtClean="0">
              <a:solidFill>
                <a:schemeClr val="tx1"/>
              </a:solidFill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sym typeface="+mn-ea"/>
              </a:rPr>
              <a:t>Two men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froze to death</a:t>
            </a:r>
            <a:r>
              <a:rPr lang="en-US" altLang="zh-CN" sz="3200" b="1" dirty="0" smtClean="0">
                <a:solidFill>
                  <a:schemeClr val="tx1"/>
                </a:solidFill>
                <a:sym typeface="+mn-ea"/>
              </a:rPr>
              <a:t> on the mountain. </a:t>
            </a:r>
            <a:r>
              <a:rPr lang="zh-CN" altLang="en-US" sz="3200" b="1" dirty="0" smtClean="0">
                <a:solidFill>
                  <a:schemeClr val="tx1"/>
                </a:solidFill>
                <a:sym typeface="+mn-ea"/>
              </a:rPr>
              <a:t>冻死</a:t>
            </a:r>
            <a:endParaRPr lang="en-US" altLang="zh-CN" sz="3200" b="1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655060" y="1085850"/>
            <a:ext cx="33616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3200" b="1" dirty="0" smtClean="0">
                <a:solidFill>
                  <a:srgbClr val="FF0000"/>
                </a:solidFill>
                <a:sym typeface="+mn-ea"/>
              </a:rPr>
              <a:t>frozen with shock</a:t>
            </a:r>
            <a:endParaRPr lang="en-US" sz="3200" b="1" dirty="0" smtClean="0">
              <a:solidFill>
                <a:srgbClr val="FF0000"/>
              </a:solidFill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62726" y="1034470"/>
            <a:ext cx="11467324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More </a:t>
            </a:r>
            <a:r>
              <a:rPr lang="en-US" altLang="zh-CN" sz="3200" b="1" dirty="0">
                <a:solidFill>
                  <a:srgbClr val="FF0000"/>
                </a:solidFill>
              </a:rPr>
              <a:t>than any other type of literature</a:t>
            </a:r>
            <a:r>
              <a:rPr lang="en-US" altLang="zh-CN" sz="3200" b="1" dirty="0"/>
              <a:t>, it usually </a:t>
            </a:r>
            <a:r>
              <a:rPr lang="en-US" altLang="zh-CN" sz="3200" b="1" dirty="0">
                <a:solidFill>
                  <a:srgbClr val="FF0000"/>
                </a:solidFill>
              </a:rPr>
              <a:t>implies 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a </a:t>
            </a:r>
            <a:r>
              <a:rPr lang="en-US" altLang="zh-CN" sz="3200" b="1" dirty="0">
                <a:solidFill>
                  <a:srgbClr val="FF0000"/>
                </a:solidFill>
              </a:rPr>
              <a:t>deeper meaning</a:t>
            </a:r>
            <a:r>
              <a:rPr lang="en-US" altLang="zh-CN" sz="3200" b="1" dirty="0"/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beyond the words</a:t>
            </a:r>
            <a:r>
              <a:rPr lang="en-US" altLang="zh-CN" sz="3200" b="1" dirty="0"/>
              <a:t> on the page. </a:t>
            </a:r>
            <a:r>
              <a:rPr lang="en-US" altLang="zh-CN" sz="3200" b="1" dirty="0" smtClean="0"/>
              <a:t> </a:t>
            </a:r>
            <a:r>
              <a:rPr lang="zh-CN" altLang="en-US" sz="3200" b="1" dirty="0" smtClean="0"/>
              <a:t>（翻译）</a:t>
            </a:r>
            <a:endParaRPr lang="en-US" altLang="zh-CN" sz="3200" b="1" dirty="0"/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 smtClean="0"/>
              <a:t>与其他任何文学类型相比</a:t>
            </a:r>
            <a:endParaRPr lang="zh-CN" altLang="en-US" sz="3200" b="1" dirty="0" smtClean="0"/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 smtClean="0"/>
              <a:t>隐含着更深层含义</a:t>
            </a:r>
            <a:endParaRPr lang="zh-CN" altLang="en-US" sz="3200" b="1" dirty="0" smtClean="0"/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 smtClean="0">
                <a:sym typeface="+mn-ea"/>
              </a:rPr>
              <a:t>超越字面的</a:t>
            </a:r>
            <a:endParaRPr lang="en-US" altLang="zh-CN" sz="32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704850" y="4172517"/>
            <a:ext cx="1112520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/>
              <a:t>More than</a:t>
            </a:r>
            <a:r>
              <a:rPr lang="zh-CN" altLang="en-US" sz="3200" b="1" dirty="0"/>
              <a:t>在此意为“</a:t>
            </a:r>
            <a:r>
              <a:rPr lang="zh-CN" altLang="en-US" sz="3200" b="1" dirty="0">
                <a:latin typeface="+mj-ea"/>
                <a:ea typeface="+mj-ea"/>
              </a:rPr>
              <a:t>不同于，与</a:t>
            </a:r>
            <a:r>
              <a:rPr lang="en-US" altLang="zh-CN" sz="3200" b="1" dirty="0">
                <a:latin typeface="+mj-ea"/>
                <a:ea typeface="+mj-ea"/>
              </a:rPr>
              <a:t>……</a:t>
            </a:r>
            <a:r>
              <a:rPr lang="zh-CN" altLang="en-US" sz="3200" b="1" dirty="0"/>
              <a:t>相比”。</a:t>
            </a:r>
            <a:endParaRPr lang="en-US" altLang="zh-CN" sz="3200" b="1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466725" y="1572441"/>
            <a:ext cx="6642100" cy="3810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311249" y="1587267"/>
            <a:ext cx="266700" cy="4224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9020175" y="1587267"/>
            <a:ext cx="1149350" cy="10631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831850" y="2161212"/>
            <a:ext cx="3136900" cy="1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2400300" y="518543"/>
            <a:ext cx="1098550" cy="6832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 smtClean="0">
                <a:solidFill>
                  <a:srgbClr val="FF0000"/>
                </a:solidFill>
              </a:rPr>
              <a:t>状语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393799" y="518543"/>
            <a:ext cx="1098550" cy="6267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 smtClean="0">
                <a:solidFill>
                  <a:srgbClr val="FF0000"/>
                </a:solidFill>
              </a:rPr>
              <a:t>主语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499600" y="508407"/>
            <a:ext cx="1098550" cy="6267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 smtClean="0">
                <a:solidFill>
                  <a:srgbClr val="FF0000"/>
                </a:solidFill>
              </a:rPr>
              <a:t>谓语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850" y="2261074"/>
            <a:ext cx="1098550" cy="6267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 smtClean="0">
                <a:solidFill>
                  <a:srgbClr val="FF0000"/>
                </a:solidFill>
              </a:rPr>
              <a:t>宾语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 bldLvl="0" animBg="1"/>
      <p:bldP spid="19" grpId="0" bldLvl="0" animBg="1"/>
      <p:bldP spid="20" grpId="0" bldLvl="0" animBg="1"/>
      <p:bldP spid="21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55905" y="318770"/>
            <a:ext cx="11567795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8625" indent="-1698625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imply </a:t>
            </a:r>
            <a:r>
              <a:rPr lang="en-US" altLang="zh-CN" sz="3200" b="1" i="1" dirty="0" err="1" smtClean="0">
                <a:solidFill>
                  <a:srgbClr val="FF0000"/>
                </a:solidFill>
                <a:sym typeface="+mn-ea"/>
              </a:rPr>
              <a:t>vt.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i="1" dirty="0" smtClean="0">
                <a:sym typeface="+mn-ea"/>
              </a:rPr>
              <a:t> </a:t>
            </a:r>
            <a:r>
              <a:rPr lang="en-US" altLang="zh-CN" sz="3200" b="1" i="1" dirty="0" smtClean="0">
                <a:sym typeface="+mn-ea"/>
              </a:rPr>
              <a:t>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suggest </a:t>
            </a:r>
            <a:r>
              <a:rPr lang="en-US" altLang="zh-CN" sz="3200" b="1" i="1" dirty="0">
                <a:sym typeface="+mn-ea"/>
              </a:rPr>
              <a:t>that something is true or that you feel or think something </a:t>
            </a:r>
            <a:r>
              <a:rPr lang="zh-CN" altLang="en-US" sz="3200" b="1" dirty="0" smtClean="0">
                <a:solidFill>
                  <a:srgbClr val="FF0000"/>
                </a:solidFill>
                <a:latin typeface="+mn-ea"/>
                <a:sym typeface="+mn-ea"/>
              </a:rPr>
              <a:t>含有</a:t>
            </a:r>
            <a:r>
              <a:rPr lang="en-US" altLang="zh-CN" sz="3200" b="1" dirty="0" smtClean="0">
                <a:solidFill>
                  <a:srgbClr val="FF0000"/>
                </a:solidFill>
                <a:latin typeface="+mn-ea"/>
                <a:sym typeface="+mn-ea"/>
              </a:rPr>
              <a:t>……</a:t>
            </a:r>
            <a:r>
              <a:rPr lang="zh-CN" altLang="en-US" sz="3200" b="1" dirty="0" smtClean="0">
                <a:solidFill>
                  <a:srgbClr val="FF0000"/>
                </a:solidFill>
                <a:latin typeface="+mn-ea"/>
                <a:sym typeface="+mn-ea"/>
              </a:rPr>
              <a:t>的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sym typeface="+mn-ea"/>
              </a:rPr>
              <a:t>意思；暗示；暗指</a:t>
            </a:r>
            <a:endParaRPr lang="en-US" altLang="zh-CN" sz="3200" b="1" dirty="0">
              <a:solidFill>
                <a:srgbClr val="FF0000"/>
              </a:solidFill>
              <a:latin typeface="+mn-ea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 smtClean="0"/>
              <a:t>Are </a:t>
            </a:r>
            <a:r>
              <a:rPr lang="en-US" altLang="zh-CN" sz="3200" b="1" dirty="0"/>
              <a:t>you </a:t>
            </a:r>
            <a:r>
              <a:rPr lang="en-US" altLang="zh-CN" sz="3200" b="1" dirty="0">
                <a:solidFill>
                  <a:srgbClr val="FF0000"/>
                </a:solidFill>
              </a:rPr>
              <a:t>implying</a:t>
            </a:r>
            <a:r>
              <a:rPr lang="en-US" altLang="zh-CN" sz="3200" b="1" dirty="0"/>
              <a:t> (that) I am wrong</a:t>
            </a:r>
            <a:r>
              <a:rPr lang="en-US" altLang="zh-CN" sz="3200" b="1" dirty="0" smtClean="0"/>
              <a:t>?</a:t>
            </a:r>
            <a:endParaRPr lang="en-US" altLang="zh-CN" sz="3200" b="1" dirty="0" smtClean="0"/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/>
              <a:t>I disliked the _______ (imply) criticism in his voice.</a:t>
            </a:r>
            <a:endParaRPr lang="en-US" altLang="zh-CN" sz="3200" b="1" dirty="0"/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/>
              <a:t>我讨厌他暗中批评的口吻。</a:t>
            </a:r>
            <a:endParaRPr lang="en-US" altLang="zh-CN" sz="3200" b="1" dirty="0"/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_____________that we were at fault. 这意味着我们错了。</a:t>
            </a:r>
            <a:endParaRPr lang="en-US" altLang="zh-CN" sz="3200" b="1" dirty="0"/>
          </a:p>
        </p:txBody>
      </p:sp>
      <p:sp>
        <p:nvSpPr>
          <p:cNvPr id="2" name="Text Box 1"/>
          <p:cNvSpPr txBox="1"/>
          <p:nvPr/>
        </p:nvSpPr>
        <p:spPr>
          <a:xfrm>
            <a:off x="2675255" y="2144395"/>
            <a:ext cx="18141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implied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55905" y="3261360"/>
            <a:ext cx="276987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It was implied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8" name="文本框 4"/>
          <p:cNvSpPr txBox="1"/>
          <p:nvPr/>
        </p:nvSpPr>
        <p:spPr>
          <a:xfrm>
            <a:off x="255270" y="3844925"/>
            <a:ext cx="1193673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</a:rPr>
              <a:t>【仿写】</a:t>
            </a:r>
            <a:r>
              <a:rPr lang="zh-CN" altLang="en-US" sz="3200" b="1" dirty="0"/>
              <a:t>与其他任何同话题的书相比，这本书提出了一个更为抽象的概念，我无法理解。</a:t>
            </a:r>
            <a:endParaRPr lang="en-US" altLang="zh-CN" sz="3200" b="1" dirty="0"/>
          </a:p>
        </p:txBody>
      </p:sp>
      <p:sp>
        <p:nvSpPr>
          <p:cNvPr id="9" name="文本框 5"/>
          <p:cNvSpPr txBox="1"/>
          <p:nvPr>
            <p:custDataLst>
              <p:tags r:id="rId1"/>
            </p:custDataLst>
          </p:nvPr>
        </p:nvSpPr>
        <p:spPr>
          <a:xfrm>
            <a:off x="255905" y="5070475"/>
            <a:ext cx="1156843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More </a:t>
            </a:r>
            <a:r>
              <a:rPr lang="en-US" altLang="zh-CN" sz="3200" b="1" dirty="0">
                <a:solidFill>
                  <a:srgbClr val="FF0000"/>
                </a:solidFill>
              </a:rPr>
              <a:t>than any other book of the same topic, this book puts forward a more abstract concept beyond my grasp.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2" grpId="1"/>
      <p:bldP spid="7" grpId="1"/>
      <p:bldP spid="9" grpId="0"/>
      <p:bldP spid="8" grpId="0"/>
      <p:bldP spid="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9540" y="1451610"/>
            <a:ext cx="11943715" cy="540639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grasp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32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1)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 person's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understanding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 a subject or of difficult facts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理解，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领会</a:t>
            </a:r>
            <a:endParaRPr lang="zh-CN" altLang="en-US" sz="32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2)</a:t>
            </a:r>
            <a:r>
              <a:rPr lang="en-US" altLang="zh-CN" sz="3200" b="1" i="1" dirty="0" smtClean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</a:t>
            </a:r>
            <a:r>
              <a:rPr lang="en-US" altLang="zh-CN" sz="3200" b="1" i="1" dirty="0" smtClean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the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ability to get or achieve </a:t>
            </a:r>
            <a:r>
              <a:rPr lang="en-US" altLang="zh-CN" sz="3200" b="1" i="1" dirty="0" err="1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sth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能力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所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及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beyond </a:t>
            </a:r>
            <a:r>
              <a:rPr lang="en-US" altLang="zh-CN" sz="3200" b="1" dirty="0" err="1" smtClean="0">
                <a:solidFill>
                  <a:srgbClr val="FF0000"/>
                </a:solidFill>
              </a:rPr>
              <a:t>one's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 grasp    </a:t>
            </a:r>
            <a:r>
              <a:rPr lang="zh-CN" altLang="en-US" sz="3200" b="1" dirty="0" smtClean="0"/>
              <a:t>某人不能理解；某人抓不住</a:t>
            </a:r>
            <a:endParaRPr lang="zh-CN" altLang="en-US" sz="3200" b="1" dirty="0" smtClean="0"/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 smtClean="0"/>
              <a:t>(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opp. within ~</a:t>
            </a:r>
            <a:r>
              <a:rPr lang="en-US" altLang="zh-CN" sz="3200" b="1" dirty="0" smtClean="0"/>
              <a:t>) </a:t>
            </a:r>
            <a:r>
              <a:rPr lang="zh-CN" altLang="en-US" sz="3200" b="1" dirty="0" smtClean="0"/>
              <a:t>成功尽在她的</a:t>
            </a:r>
            <a:r>
              <a:rPr lang="zh-CN" altLang="en-US" sz="3200" b="1" dirty="0" smtClean="0"/>
              <a:t>掌握。</a:t>
            </a:r>
            <a:endParaRPr lang="zh-CN" altLang="en-US" sz="3200" b="1" dirty="0" smtClean="0"/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这篇文章超出了普通高中生的理解范围。</a:t>
            </a: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essay is </a:t>
            </a: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-9906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have a good/thorough grasp of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foreign languages.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很好地掌握某事</a:t>
            </a:r>
            <a:endParaRPr lang="zh-CN" altLang="en-US" sz="3200" b="1" dirty="0"/>
          </a:p>
        </p:txBody>
      </p:sp>
      <p:sp>
        <p:nvSpPr>
          <p:cNvPr id="2" name="Text Box 1"/>
          <p:cNvSpPr txBox="1"/>
          <p:nvPr/>
        </p:nvSpPr>
        <p:spPr>
          <a:xfrm>
            <a:off x="129540" y="50165"/>
            <a:ext cx="1185100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Even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 its true meaning appears to be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beyond your grasp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you can always 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say something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about how the poem sounds when you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read it aloud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不能理解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大声朗读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385695" y="5021580"/>
            <a:ext cx="914463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/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beyond the grasp of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 average high school student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allAtOnce"/>
      <p:bldP spid="4" grpId="0"/>
      <p:bldP spid="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-635" y="0"/>
            <a:ext cx="12192635" cy="658749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indent="-21590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grasp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32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2)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a firm hold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of </a:t>
            </a:r>
            <a:r>
              <a:rPr lang="en-US" altLang="zh-CN" sz="3200" b="1" i="1" dirty="0" err="1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sb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/</a:t>
            </a:r>
            <a:r>
              <a:rPr lang="en-US" altLang="zh-CN" sz="3200" b="1" i="1" dirty="0" err="1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sth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or control over </a:t>
            </a:r>
            <a:r>
              <a:rPr lang="en-US" altLang="zh-CN" sz="3200" b="1" i="1" dirty="0" err="1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sb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/</a:t>
            </a:r>
            <a:r>
              <a:rPr lang="en-US" altLang="zh-CN" sz="3200" b="1" i="1" dirty="0" err="1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sth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抓紧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控制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9906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grabbed him, but he slipped from my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grasp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9906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我抓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住了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他，可他还是从我手里溜掉了。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9906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 felt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firm grasp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her arm. 她感到手臂被紧紧地抓住了。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9906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grasp  </a:t>
            </a:r>
            <a:r>
              <a:rPr lang="en-US" altLang="zh-CN" sz="32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vt. </a:t>
            </a:r>
            <a:r>
              <a:rPr lang="en-US" altLang="zh-CN" sz="3200" b="1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hold on (to), grip, clasp</a:t>
            </a:r>
            <a:r>
              <a:rPr lang="en-US" altLang="zh-CN" sz="32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抓紧，抓牢</a:t>
            </a:r>
            <a:endParaRPr lang="zh-CN" altLang="en-US" sz="3200" b="1" dirty="0" err="1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-990600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grasped</a:t>
            </a:r>
            <a:r>
              <a:rPr lang="en-US" altLang="zh-CN" sz="3200" b="1" dirty="0">
                <a:sym typeface="+mn-ea"/>
              </a:rPr>
              <a:t> my hand and shook it warmly</a:t>
            </a:r>
            <a:r>
              <a:rPr lang="en-US" altLang="zh-CN" sz="3200" b="1" dirty="0" smtClean="0">
                <a:sym typeface="+mn-ea"/>
              </a:rPr>
              <a:t>. (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=grasp me by the hand</a:t>
            </a:r>
            <a:r>
              <a:rPr lang="en-US" altLang="zh-CN" sz="3200" b="1" dirty="0" smtClean="0">
                <a:sym typeface="+mn-ea"/>
              </a:rPr>
              <a:t>)</a:t>
            </a:r>
            <a:endParaRPr lang="en-US" altLang="zh-CN" sz="3200" b="1" dirty="0" smtClean="0">
              <a:sym typeface="+mn-ea"/>
            </a:endParaRPr>
          </a:p>
          <a:p>
            <a:pPr indent="-990600" fontAlgn="auto">
              <a:lnSpc>
                <a:spcPct val="120000"/>
              </a:lnSpc>
            </a:pPr>
            <a:r>
              <a:rPr lang="zh-CN" altLang="en-US" sz="3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他热情地抓住我的手握了起来。</a:t>
            </a:r>
            <a:endParaRPr lang="zh-CN" altLang="en-US" sz="3200" b="1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-990600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They failed to </a:t>
            </a:r>
            <a:r>
              <a:rPr lang="en-US" altLang="zh-CN" sz="3200" b="1" u="sng" dirty="0">
                <a:solidFill>
                  <a:srgbClr val="FF0000"/>
                </a:solidFill>
                <a:sym typeface="+mn-ea"/>
              </a:rPr>
              <a:t>grasp the importance of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b="1" dirty="0">
                <a:sym typeface="+mn-ea"/>
              </a:rPr>
              <a:t>his words</a:t>
            </a:r>
            <a:r>
              <a:rPr lang="en-US" altLang="zh-CN" sz="3200" b="1" dirty="0" smtClean="0">
                <a:sym typeface="+mn-ea"/>
              </a:rPr>
              <a:t>. </a:t>
            </a:r>
            <a:endParaRPr lang="en-US" altLang="zh-CN" sz="3200" b="1" dirty="0" smtClean="0">
              <a:sym typeface="+mn-ea"/>
            </a:endParaRPr>
          </a:p>
          <a:p>
            <a:pPr indent="-990600" fontAlgn="auto">
              <a:lnSpc>
                <a:spcPct val="120000"/>
              </a:lnSpc>
            </a:pPr>
            <a:r>
              <a:rPr lang="zh-CN" altLang="en-US" sz="3200" b="1" dirty="0" smtClean="0"/>
              <a:t>理解</a:t>
            </a:r>
            <a:r>
              <a:rPr lang="en-US" altLang="zh-CN" sz="3200" b="1" dirty="0" smtClean="0"/>
              <a:t>/</a:t>
            </a:r>
            <a:r>
              <a:rPr lang="zh-CN" altLang="en-US" sz="3200" b="1" dirty="0" smtClean="0"/>
              <a:t>意识到某事的重要性</a:t>
            </a:r>
            <a:endParaRPr lang="en-US" altLang="zh-CN" sz="3200" b="1" dirty="0" smtClean="0"/>
          </a:p>
          <a:p>
            <a:pPr indent="-990600" fontAlgn="auto">
              <a:lnSpc>
                <a:spcPct val="120000"/>
              </a:lnSpc>
            </a:pPr>
            <a:r>
              <a:rPr lang="en-US" altLang="zh-CN" sz="3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 </a:t>
            </a:r>
            <a:r>
              <a:rPr lang="zh-CN" altLang="en-US" sz="3200" b="1" u="sng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grasped the opportunity to</a:t>
            </a:r>
            <a:r>
              <a:rPr lang="zh-CN" altLang="en-US" sz="3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work abroad.</a:t>
            </a:r>
            <a:endParaRPr lang="zh-CN" altLang="en-US" sz="3200" b="1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-990600" fontAlgn="auto">
              <a:lnSpc>
                <a:spcPct val="120000"/>
              </a:lnSpc>
            </a:pPr>
            <a:r>
              <a:rPr lang="zh-CN" altLang="en-US" sz="3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我</a:t>
            </a:r>
            <a:r>
              <a:rPr lang="zh-CN" altLang="en-US" sz="3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毫不犹豫地抓住了去国外工作的机会。</a:t>
            </a:r>
            <a:endParaRPr lang="zh-CN" altLang="en-US" sz="3200" b="1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18276" y="322862"/>
            <a:ext cx="11096978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翻译下面句子。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zh-CN" altLang="en-US" sz="3200">
                <a:sym typeface="+mn-ea"/>
              </a:rPr>
              <a:t>金牌对他来说触手可及。</a:t>
            </a: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她准备好抓住任何机会来扩大自己的生意。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这个课程将提高学生们对这一语言的理解</a:t>
            </a:r>
            <a:r>
              <a:rPr lang="zh-CN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许多家庭发现住房超出了他们的能力范围。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91771" y="2705254"/>
            <a:ext cx="11108269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ready to grasp any opportunity to expand her business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91770" y="3866725"/>
            <a:ext cx="11108269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will improve the students’ grasp of the language.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91845" y="5139055"/>
            <a:ext cx="111086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Many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families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found housing</a:t>
            </a:r>
            <a:r>
              <a:rPr lang="en-US" altLang="zh-CN" sz="3200" b="1" dirty="0"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beyond their grasp.</a:t>
            </a:r>
            <a:endParaRPr lang="zh-CN" altLang="en-US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矩形 5"/>
          <p:cNvSpPr/>
          <p:nvPr>
            <p:custDataLst>
              <p:tags r:id="rId1"/>
            </p:custDataLst>
          </p:nvPr>
        </p:nvSpPr>
        <p:spPr>
          <a:xfrm>
            <a:off x="792406" y="1553999"/>
            <a:ext cx="11108269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gold medal was within his grasp.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2" grpId="0"/>
      <p:bldP spid="2" grpId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本框 7"/>
          <p:cNvSpPr txBox="1">
            <a:spLocks noChangeArrowheads="1"/>
          </p:cNvSpPr>
          <p:nvPr/>
        </p:nvSpPr>
        <p:spPr bwMode="auto">
          <a:xfrm>
            <a:off x="249555" y="270510"/>
            <a:ext cx="11788775" cy="3044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6405" indent="-446405" eaLnBrk="0" hangingPunct="0"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1pPr>
            <a:lvl2pPr marL="742950" indent="-285750" eaLnBrk="0" hangingPunct="0"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2pPr>
            <a:lvl3pPr marL="1143000" indent="-228600" eaLnBrk="0" hangingPunct="0"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3pPr>
            <a:lvl4pPr marL="1600200" indent="-228600" eaLnBrk="0" hangingPunct="0"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4pPr>
            <a:lvl5pPr marL="2057400" indent="-228600" eaLnBrk="0" hangingPunct="0"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9pPr>
          </a:lstStyle>
          <a:p>
            <a:pPr marL="0" indent="-450850" eaLnBrk="1" fontAlgn="auto" hangingPunct="1">
              <a:lnSpc>
                <a:spcPct val="120000"/>
              </a:lnSpc>
              <a:tabLst>
                <a:tab pos="92075" algn="l"/>
                <a:tab pos="92075" algn="l"/>
              </a:tabLst>
            </a:pPr>
            <a:r>
              <a:rPr lang="en-US" altLang="zh-CN" sz="3200" dirty="0" smtClean="0">
                <a:ea typeface="宋体" pitchFamily="2" charset="-122"/>
                <a:cs typeface="Times New Roman" panose="02020603050405020304" pitchFamily="18" charset="0"/>
              </a:rPr>
              <a:t>Do you </a:t>
            </a:r>
            <a:r>
              <a:rPr lang="en-US" altLang="zh-CN" sz="3200" dirty="0" smtClean="0">
                <a:solidFill>
                  <a:srgbClr val="FF0000"/>
                </a:solidFill>
                <a:ea typeface="宋体" pitchFamily="2" charset="-122"/>
                <a:cs typeface="Times New Roman" panose="02020603050405020304" pitchFamily="18" charset="0"/>
              </a:rPr>
              <a:t>detect a rhythm</a:t>
            </a:r>
            <a:r>
              <a:rPr lang="en-US" altLang="zh-CN" sz="3200" dirty="0" smtClean="0">
                <a:ea typeface="宋体" pitchFamily="2" charset="-122"/>
                <a:cs typeface="Times New Roman" panose="02020603050405020304" pitchFamily="18" charset="0"/>
              </a:rPr>
              <a:t>? </a:t>
            </a:r>
            <a:r>
              <a:rPr lang="zh-CN" altLang="en-US" sz="3200" dirty="0" smtClean="0">
                <a:ea typeface="宋体" pitchFamily="2" charset="-122"/>
                <a:cs typeface="Times New Roman" panose="02020603050405020304" pitchFamily="18" charset="0"/>
              </a:rPr>
              <a:t>你能</a:t>
            </a:r>
            <a:r>
              <a:rPr lang="zh-CN" altLang="en-US" sz="3200" dirty="0" smtClean="0">
                <a:ea typeface="宋体" pitchFamily="2" charset="-122"/>
                <a:cs typeface="Times New Roman" panose="02020603050405020304" pitchFamily="18" charset="0"/>
              </a:rPr>
              <a:t>察觉到</a:t>
            </a:r>
            <a:r>
              <a:rPr lang="zh-CN" altLang="en-US" sz="3200" dirty="0" smtClean="0">
                <a:ea typeface="宋体" pitchFamily="2" charset="-122"/>
                <a:cs typeface="Times New Roman" panose="02020603050405020304" pitchFamily="18" charset="0"/>
              </a:rPr>
              <a:t>节奏吗？</a:t>
            </a:r>
            <a:endParaRPr lang="zh-CN" altLang="en-US" sz="3200" dirty="0" smtClean="0">
              <a:ea typeface="宋体" pitchFamily="2" charset="-122"/>
              <a:cs typeface="Times New Roman" panose="02020603050405020304" pitchFamily="18" charset="0"/>
            </a:endParaRPr>
          </a:p>
          <a:p>
            <a:pPr marL="0" indent="-450850" eaLnBrk="1" fontAlgn="auto" hangingPunct="1">
              <a:lnSpc>
                <a:spcPct val="120000"/>
              </a:lnSpc>
              <a:tabLst>
                <a:tab pos="92075" algn="l"/>
                <a:tab pos="92075" algn="l"/>
              </a:tabLst>
            </a:pPr>
            <a:r>
              <a:rPr lang="en-US" altLang="zh-CN" sz="3200" dirty="0">
                <a:solidFill>
                  <a:srgbClr val="FF0000"/>
                </a:solidFill>
                <a:ea typeface="宋体" pitchFamily="2" charset="-122"/>
                <a:cs typeface="Times New Roman" panose="02020603050405020304" pitchFamily="18" charset="0"/>
                <a:sym typeface="+mn-ea"/>
              </a:rPr>
              <a:t>detect  </a:t>
            </a:r>
            <a:r>
              <a:rPr lang="en-US" altLang="zh-CN" sz="3200" i="1" dirty="0">
                <a:solidFill>
                  <a:srgbClr val="FF0000"/>
                </a:solidFill>
                <a:ea typeface="宋体" pitchFamily="2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3200" dirty="0">
                <a:solidFill>
                  <a:srgbClr val="FF0000"/>
                </a:solidFill>
                <a:ea typeface="宋体" pitchFamily="2" charset="-122"/>
                <a:cs typeface="Times New Roman" panose="02020603050405020304" pitchFamily="18" charset="0"/>
                <a:sym typeface="+mn-ea"/>
              </a:rPr>
              <a:t>. </a:t>
            </a:r>
            <a:r>
              <a:rPr lang="en-US" altLang="zh-CN" sz="3200" i="1" dirty="0"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to discover or notice </a:t>
            </a:r>
            <a:r>
              <a:rPr lang="en-US" altLang="zh-CN" sz="3200" i="1" dirty="0" err="1"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sth</a:t>
            </a:r>
            <a:r>
              <a:rPr lang="en-US" altLang="zh-CN" sz="3200" i="1" dirty="0"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, especially </a:t>
            </a:r>
            <a:r>
              <a:rPr lang="en-US" altLang="zh-CN" sz="3200" i="1" dirty="0" err="1"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sth</a:t>
            </a:r>
            <a:r>
              <a:rPr lang="en-US" altLang="zh-CN" sz="3200" i="1" dirty="0"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 that is not easy to see, hear, </a:t>
            </a:r>
            <a:r>
              <a:rPr lang="en-US" altLang="zh-CN" sz="3200" i="1" dirty="0" err="1"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etc</a:t>
            </a:r>
            <a:r>
              <a:rPr lang="en-US" altLang="zh-CN" sz="3200" dirty="0" err="1">
                <a:ea typeface="宋体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dirty="0">
                <a:ea typeface="宋体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dirty="0" smtClean="0">
                <a:solidFill>
                  <a:srgbClr val="FF0000"/>
                </a:solidFill>
                <a:ea typeface="宋体" pitchFamily="2" charset="-122"/>
                <a:cs typeface="Times New Roman" panose="02020603050405020304" pitchFamily="18" charset="0"/>
                <a:sym typeface="+mn-ea"/>
              </a:rPr>
              <a:t>发现</a:t>
            </a:r>
            <a:r>
              <a:rPr lang="zh-CN" altLang="en-US" sz="3200" dirty="0">
                <a:solidFill>
                  <a:srgbClr val="FF0000"/>
                </a:solidFill>
                <a:ea typeface="宋体" pitchFamily="2" charset="-122"/>
                <a:cs typeface="Times New Roman" panose="02020603050405020304" pitchFamily="18" charset="0"/>
                <a:sym typeface="+mn-ea"/>
              </a:rPr>
              <a:t>，查明，侦察出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450850" eaLnBrk="1" fontAlgn="auto" hangingPunct="1">
              <a:lnSpc>
                <a:spcPct val="120000"/>
              </a:lnSpc>
              <a:tabLst>
                <a:tab pos="92075" algn="l"/>
                <a:tab pos="92075" algn="l"/>
              </a:tabLst>
            </a:pPr>
            <a:r>
              <a:rPr lang="en-US" altLang="zh-CN" sz="3200" dirty="0">
                <a:ea typeface="宋体" pitchFamily="2" charset="-122"/>
                <a:cs typeface="Times New Roman" panose="02020603050405020304" pitchFamily="18" charset="0"/>
                <a:sym typeface="+mn-ea"/>
              </a:rPr>
              <a:t>The tests are designed to </a:t>
            </a:r>
            <a:r>
              <a:rPr lang="en-US" altLang="zh-CN" sz="3200" dirty="0">
                <a:solidFill>
                  <a:srgbClr val="FF0000"/>
                </a:solidFill>
                <a:ea typeface="宋体" pitchFamily="2" charset="-122"/>
                <a:cs typeface="Times New Roman" panose="02020603050405020304" pitchFamily="18" charset="0"/>
                <a:sym typeface="+mn-ea"/>
              </a:rPr>
              <a:t>detect the disease</a:t>
            </a:r>
            <a:r>
              <a:rPr lang="en-US" altLang="zh-CN" sz="3200" dirty="0">
                <a:ea typeface="宋体" pitchFamily="2" charset="-122"/>
                <a:cs typeface="Times New Roman" panose="02020603050405020304" pitchFamily="18" charset="0"/>
                <a:sym typeface="+mn-ea"/>
              </a:rPr>
              <a:t> early</a:t>
            </a:r>
            <a:r>
              <a:rPr lang="en-US" altLang="zh-CN" sz="3200" dirty="0" smtClean="0">
                <a:ea typeface="宋体" pitchFamily="2" charset="-122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sz="3200" dirty="0" smtClean="0"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-450850" eaLnBrk="1" fontAlgn="auto" hangingPunct="1">
              <a:lnSpc>
                <a:spcPct val="120000"/>
              </a:lnSpc>
              <a:tabLst>
                <a:tab pos="92075" algn="l"/>
                <a:tab pos="92075" algn="l"/>
              </a:tabLst>
            </a:pPr>
            <a:r>
              <a:rPr lang="en-US" altLang="zh-CN" sz="3200" dirty="0" smtClean="0">
                <a:ea typeface="宋体" pitchFamily="2" charset="-122"/>
                <a:cs typeface="Times New Roman" panose="02020603050405020304" pitchFamily="18" charset="0"/>
                <a:sym typeface="+mn-ea"/>
              </a:rPr>
              <a:t>The </a:t>
            </a:r>
            <a:r>
              <a:rPr lang="en-US" altLang="zh-CN" sz="3200" dirty="0">
                <a:ea typeface="宋体" pitchFamily="2" charset="-122"/>
                <a:cs typeface="Times New Roman" panose="02020603050405020304" pitchFamily="18" charset="0"/>
                <a:sym typeface="+mn-ea"/>
              </a:rPr>
              <a:t>test is used to </a:t>
            </a:r>
            <a:r>
              <a:rPr lang="en-US" altLang="zh-CN" sz="3200" dirty="0">
                <a:solidFill>
                  <a:srgbClr val="FF0000"/>
                </a:solidFill>
                <a:ea typeface="宋体" pitchFamily="2" charset="-122"/>
                <a:cs typeface="Times New Roman" panose="02020603050405020304" pitchFamily="18" charset="0"/>
                <a:sym typeface="+mn-ea"/>
              </a:rPr>
              <a:t>detect the presence of alcohol</a:t>
            </a:r>
            <a:r>
              <a:rPr lang="en-US" altLang="zh-CN" sz="3200" dirty="0">
                <a:ea typeface="宋体" pitchFamily="2" charset="-122"/>
                <a:cs typeface="Times New Roman" panose="02020603050405020304" pitchFamily="18" charset="0"/>
                <a:sym typeface="+mn-ea"/>
              </a:rPr>
              <a:t> in the blood.</a:t>
            </a:r>
            <a:endParaRPr lang="zh-CN" altLang="en-US" sz="3200" dirty="0" smtClean="0"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7"/>
          <p:cNvSpPr txBox="1">
            <a:spLocks noChangeArrowheads="1"/>
          </p:cNvSpPr>
          <p:nvPr/>
        </p:nvSpPr>
        <p:spPr bwMode="auto">
          <a:xfrm>
            <a:off x="249497" y="3531840"/>
            <a:ext cx="8952741" cy="2584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6405" indent="-446405" eaLnBrk="0" hangingPunct="0"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1pPr>
            <a:lvl2pPr marL="742950" indent="-285750" eaLnBrk="0" hangingPunct="0"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2pPr>
            <a:lvl3pPr marL="1143000" indent="-228600" eaLnBrk="0" hangingPunct="0"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3pPr>
            <a:lvl4pPr marL="1600200" indent="-228600" eaLnBrk="0" hangingPunct="0"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4pPr>
            <a:lvl5pPr marL="2057400" indent="-228600" eaLnBrk="0" hangingPunct="0"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30000"/>
              </a:lnSpc>
              <a:buFont typeface="Arial" panose="020B0704020202020204" pitchFamily="34" charset="0"/>
              <a:buChar char="•"/>
            </a:pPr>
            <a:r>
              <a:rPr lang="en-US" altLang="zh-CN" sz="3200" dirty="0" smtClean="0">
                <a:solidFill>
                  <a:srgbClr val="FF0000"/>
                </a:solidFill>
                <a:ea typeface="宋体" pitchFamily="2" charset="-122"/>
                <a:cs typeface="Times New Roman" panose="02020603050405020304" pitchFamily="18" charset="0"/>
              </a:rPr>
              <a:t>detectable </a:t>
            </a:r>
            <a:r>
              <a:rPr lang="en-US" altLang="zh-CN" sz="3200" i="1" dirty="0">
                <a:solidFill>
                  <a:srgbClr val="FF0000"/>
                </a:solidFill>
                <a:ea typeface="宋体" pitchFamily="2" charset="-122"/>
                <a:cs typeface="Times New Roman" panose="02020603050405020304" pitchFamily="18" charset="0"/>
              </a:rPr>
              <a:t>adj</a:t>
            </a:r>
            <a:r>
              <a:rPr lang="en-US" altLang="zh-CN" sz="3200" dirty="0">
                <a:solidFill>
                  <a:srgbClr val="FF0000"/>
                </a:solidFill>
                <a:ea typeface="宋体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3200" dirty="0">
                <a:solidFill>
                  <a:srgbClr val="FF0000"/>
                </a:solidFill>
                <a:ea typeface="宋体" pitchFamily="2" charset="-122"/>
                <a:cs typeface="Times New Roman" panose="02020603050405020304" pitchFamily="18" charset="0"/>
              </a:rPr>
              <a:t> </a:t>
            </a:r>
            <a:r>
              <a:rPr lang="zh-CN" altLang="en-US" sz="3200" dirty="0">
                <a:ea typeface="宋体" pitchFamily="2" charset="-122"/>
                <a:cs typeface="Times New Roman" panose="02020603050405020304" pitchFamily="18" charset="0"/>
              </a:rPr>
              <a:t>可觉察的</a:t>
            </a:r>
            <a:r>
              <a:rPr lang="en-US" altLang="zh-CN" sz="3200" dirty="0">
                <a:ea typeface="宋体" pitchFamily="2" charset="-122"/>
                <a:cs typeface="Times New Roman" panose="02020603050405020304" pitchFamily="18" charset="0"/>
              </a:rPr>
              <a:t>;</a:t>
            </a:r>
            <a:r>
              <a:rPr lang="zh-CN" altLang="en-US" sz="3200" dirty="0">
                <a:ea typeface="宋体" pitchFamily="2" charset="-122"/>
                <a:cs typeface="Times New Roman" panose="02020603050405020304" pitchFamily="18" charset="0"/>
              </a:rPr>
              <a:t>可发现的</a:t>
            </a:r>
            <a:r>
              <a:rPr lang="en-US" altLang="zh-CN" sz="3200" dirty="0">
                <a:ea typeface="宋体" pitchFamily="2" charset="-122"/>
                <a:cs typeface="Times New Roman" panose="02020603050405020304" pitchFamily="18" charset="0"/>
              </a:rPr>
              <a:t>;</a:t>
            </a:r>
            <a:r>
              <a:rPr lang="zh-CN" altLang="en-US" sz="3200" dirty="0">
                <a:ea typeface="宋体" pitchFamily="2" charset="-122"/>
                <a:cs typeface="Times New Roman" panose="02020603050405020304" pitchFamily="18" charset="0"/>
              </a:rPr>
              <a:t>可查出</a:t>
            </a:r>
            <a:endParaRPr lang="en-US" altLang="zh-CN" sz="3200" dirty="0">
              <a:ea typeface="宋体" pitchFamily="2" charset="-122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30000"/>
              </a:lnSpc>
              <a:buFont typeface="Arial" panose="020B0704020202020204" pitchFamily="34" charset="0"/>
              <a:buChar char="•"/>
            </a:pPr>
            <a:r>
              <a:rPr lang="en-US" altLang="zh-CN" sz="3200" dirty="0">
                <a:solidFill>
                  <a:srgbClr val="FF0000"/>
                </a:solidFill>
                <a:ea typeface="宋体" pitchFamily="2" charset="-122"/>
                <a:cs typeface="Times New Roman" panose="02020603050405020304" pitchFamily="18" charset="0"/>
              </a:rPr>
              <a:t>detector    </a:t>
            </a:r>
            <a:r>
              <a:rPr lang="en-US" altLang="zh-CN" sz="3200" i="1" dirty="0">
                <a:solidFill>
                  <a:srgbClr val="FF0000"/>
                </a:solidFill>
                <a:ea typeface="宋体" pitchFamily="2" charset="-122"/>
                <a:cs typeface="Times New Roman" panose="02020603050405020304" pitchFamily="18" charset="0"/>
              </a:rPr>
              <a:t>n.</a:t>
            </a:r>
            <a:r>
              <a:rPr lang="en-US" altLang="zh-CN" sz="3200" dirty="0">
                <a:solidFill>
                  <a:srgbClr val="FF0000"/>
                </a:solidFill>
                <a:ea typeface="宋体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3200" dirty="0">
                <a:ea typeface="宋体" pitchFamily="2" charset="-122"/>
                <a:cs typeface="Times New Roman" panose="02020603050405020304" pitchFamily="18" charset="0"/>
              </a:rPr>
              <a:t>探测器，检测器</a:t>
            </a:r>
            <a:endParaRPr lang="en-US" altLang="zh-CN" sz="3200" dirty="0">
              <a:ea typeface="宋体" pitchFamily="2" charset="-122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30000"/>
              </a:lnSpc>
              <a:buFont typeface="Arial" panose="020B0704020202020204" pitchFamily="34" charset="0"/>
              <a:buChar char="•"/>
            </a:pPr>
            <a:r>
              <a:rPr lang="en-US" altLang="zh-CN" sz="3200" dirty="0">
                <a:solidFill>
                  <a:srgbClr val="FF0000"/>
                </a:solidFill>
                <a:ea typeface="宋体" pitchFamily="2" charset="-122"/>
                <a:cs typeface="Times New Roman" panose="02020603050405020304" pitchFamily="18" charset="0"/>
              </a:rPr>
              <a:t>detective   </a:t>
            </a:r>
            <a:r>
              <a:rPr lang="en-US" altLang="zh-CN" sz="3200" i="1" dirty="0">
                <a:solidFill>
                  <a:srgbClr val="FF0000"/>
                </a:solidFill>
                <a:ea typeface="宋体" pitchFamily="2" charset="-122"/>
                <a:cs typeface="Times New Roman" panose="02020603050405020304" pitchFamily="18" charset="0"/>
              </a:rPr>
              <a:t>n.</a:t>
            </a:r>
            <a:r>
              <a:rPr lang="en-US" altLang="zh-CN" sz="3200" dirty="0">
                <a:solidFill>
                  <a:srgbClr val="FF0000"/>
                </a:solidFill>
                <a:ea typeface="宋体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3200" dirty="0">
                <a:ea typeface="宋体" pitchFamily="2" charset="-122"/>
                <a:cs typeface="Times New Roman" panose="02020603050405020304" pitchFamily="18" charset="0"/>
              </a:rPr>
              <a:t>侦探，警探</a:t>
            </a:r>
            <a:endParaRPr lang="en-US" altLang="zh-CN" sz="3200" dirty="0">
              <a:ea typeface="宋体" pitchFamily="2" charset="-122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30000"/>
              </a:lnSpc>
              <a:buFont typeface="Arial" panose="020B0704020202020204" pitchFamily="34" charset="0"/>
              <a:buChar char="•"/>
            </a:pPr>
            <a:r>
              <a:rPr lang="en-US" altLang="zh-CN" sz="3200" dirty="0">
                <a:solidFill>
                  <a:srgbClr val="FF0000"/>
                </a:solidFill>
                <a:ea typeface="宋体" pitchFamily="2" charset="-122"/>
                <a:cs typeface="Times New Roman" panose="02020603050405020304" pitchFamily="18" charset="0"/>
              </a:rPr>
              <a:t>detection   </a:t>
            </a:r>
            <a:r>
              <a:rPr lang="en-US" altLang="zh-CN" sz="3200" i="1" dirty="0">
                <a:solidFill>
                  <a:srgbClr val="FF0000"/>
                </a:solidFill>
                <a:ea typeface="宋体" pitchFamily="2" charset="-122"/>
                <a:cs typeface="Times New Roman" panose="02020603050405020304" pitchFamily="18" charset="0"/>
              </a:rPr>
              <a:t>n.   </a:t>
            </a:r>
            <a:r>
              <a:rPr lang="zh-CN" altLang="en-US" sz="3200" dirty="0">
                <a:ea typeface="宋体" pitchFamily="2" charset="-122"/>
                <a:cs typeface="Times New Roman" panose="02020603050405020304" pitchFamily="18" charset="0"/>
              </a:rPr>
              <a:t>察觉，发现</a:t>
            </a:r>
            <a:r>
              <a:rPr lang="en-US" altLang="zh-CN" sz="3200" dirty="0">
                <a:ea typeface="宋体" pitchFamily="2" charset="-122"/>
                <a:cs typeface="Times New Roman" panose="02020603050405020304" pitchFamily="18" charset="0"/>
              </a:rPr>
              <a:t>; </a:t>
            </a:r>
            <a:r>
              <a:rPr lang="zh-CN" altLang="en-US" sz="3200" dirty="0">
                <a:ea typeface="宋体" pitchFamily="2" charset="-122"/>
                <a:cs typeface="Times New Roman" panose="02020603050405020304" pitchFamily="18" charset="0"/>
              </a:rPr>
              <a:t>侦察</a:t>
            </a:r>
            <a:endParaRPr lang="en-US" altLang="zh-CN" sz="3200" dirty="0"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本框 7"/>
          <p:cNvSpPr txBox="1">
            <a:spLocks noChangeArrowheads="1"/>
          </p:cNvSpPr>
          <p:nvPr/>
        </p:nvSpPr>
        <p:spPr bwMode="auto">
          <a:xfrm>
            <a:off x="0" y="0"/>
            <a:ext cx="12192000" cy="5406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6405" indent="-446405" eaLnBrk="0" hangingPunct="0"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1pPr>
            <a:lvl2pPr marL="742950" indent="-285750" eaLnBrk="0" hangingPunct="0"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2pPr>
            <a:lvl3pPr marL="1143000" indent="-228600" eaLnBrk="0" hangingPunct="0"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3pPr>
            <a:lvl4pPr marL="1600200" indent="-228600" eaLnBrk="0" hangingPunct="0"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4pPr>
            <a:lvl5pPr marL="2057400" indent="-228600" eaLnBrk="0" hangingPunct="0"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</a:tabLst>
              <a:defRPr sz="3400" b="1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</a:defRPr>
            </a:lvl9pPr>
          </a:lstStyle>
          <a:p>
            <a:pPr marL="0" indent="-450850" eaLnBrk="1" fontAlgn="auto" hangingPunct="1">
              <a:lnSpc>
                <a:spcPct val="120000"/>
              </a:lnSpc>
              <a:tabLst>
                <a:tab pos="92075" algn="l"/>
                <a:tab pos="92075" algn="l"/>
              </a:tabLst>
            </a:pPr>
            <a:r>
              <a:rPr lang="en-US" sz="3200" dirty="0" smtClean="0">
                <a:solidFill>
                  <a:srgbClr val="FF0000"/>
                </a:solidFill>
                <a:ea typeface="宋体" pitchFamily="2" charset="-122"/>
                <a:cs typeface="Times New Roman" panose="02020603050405020304" pitchFamily="18" charset="0"/>
              </a:rPr>
              <a:t>complex</a:t>
            </a:r>
            <a:endParaRPr lang="en-US" sz="3200" dirty="0" smtClean="0">
              <a:solidFill>
                <a:srgbClr val="FF0000"/>
              </a:solidFill>
              <a:ea typeface="宋体" pitchFamily="2" charset="-122"/>
              <a:cs typeface="Times New Roman" panose="02020603050405020304" pitchFamily="18" charset="0"/>
            </a:endParaRPr>
          </a:p>
          <a:p>
            <a:pPr marL="0" indent="-450850" eaLnBrk="1" fontAlgn="auto" hangingPunct="1">
              <a:lnSpc>
                <a:spcPct val="120000"/>
              </a:lnSpc>
              <a:tabLst>
                <a:tab pos="92075" algn="l"/>
                <a:tab pos="92075" algn="l"/>
              </a:tabLst>
            </a:pPr>
            <a:r>
              <a:rPr lang="en-US" sz="3200" dirty="0" smtClean="0">
                <a:solidFill>
                  <a:schemeClr val="tx1"/>
                </a:solidFill>
                <a:ea typeface="宋体" pitchFamily="2" charset="-122"/>
                <a:cs typeface="Times New Roman" panose="02020603050405020304" pitchFamily="18" charset="0"/>
              </a:rPr>
              <a:t>1) </a:t>
            </a:r>
            <a:r>
              <a:rPr lang="en-US" sz="3200" i="1" dirty="0" smtClean="0">
                <a:solidFill>
                  <a:srgbClr val="FF0000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adj. </a:t>
            </a:r>
            <a:r>
              <a:rPr lang="en-US" sz="3200" i="1" dirty="0" smtClean="0">
                <a:solidFill>
                  <a:srgbClr val="0000FF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complicated</a:t>
            </a:r>
            <a:endParaRPr lang="en-US" sz="3200" i="1" dirty="0" smtClean="0">
              <a:solidFill>
                <a:srgbClr val="0000FF"/>
              </a:solidFill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</a:endParaRPr>
          </a:p>
          <a:p>
            <a:pPr marL="0" indent="-450850" eaLnBrk="1" fontAlgn="auto" hangingPunct="1">
              <a:lnSpc>
                <a:spcPct val="120000"/>
              </a:lnSpc>
              <a:tabLst>
                <a:tab pos="92075" algn="l"/>
                <a:tab pos="92075" algn="l"/>
              </a:tabLst>
            </a:pPr>
            <a:r>
              <a:rPr lang="en-US" altLang="en-US" sz="3200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2) </a:t>
            </a:r>
            <a:r>
              <a:rPr lang="en-US" altLang="en-US" sz="3200" i="1" dirty="0" smtClean="0">
                <a:solidFill>
                  <a:srgbClr val="FF0000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n. </a:t>
            </a:r>
            <a:r>
              <a:rPr lang="en-US" altLang="en-US" sz="3200" i="1" dirty="0" smtClean="0">
                <a:solidFill>
                  <a:schemeClr val="tx1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a group of buildings </a:t>
            </a:r>
            <a:r>
              <a:rPr lang="zh-CN" altLang="en-US" sz="3200" dirty="0" smtClean="0">
                <a:solidFill>
                  <a:schemeClr val="tx1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综合体，建筑群</a:t>
            </a:r>
            <a:endParaRPr lang="zh-CN" altLang="en-US" sz="3200" dirty="0" smtClean="0">
              <a:solidFill>
                <a:schemeClr val="tx1"/>
              </a:solidFill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</a:endParaRPr>
          </a:p>
          <a:p>
            <a:pPr marL="0" indent="-450850" eaLnBrk="1" fontAlgn="auto" hangingPunct="1">
              <a:lnSpc>
                <a:spcPct val="120000"/>
              </a:lnSpc>
              <a:tabLst>
                <a:tab pos="92075" algn="l"/>
                <a:tab pos="92075" algn="l"/>
              </a:tabLst>
            </a:pPr>
            <a:r>
              <a:rPr lang="en-US" altLang="zh-CN" sz="3200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a new shopping complex/a sports complex/a leisure complex</a:t>
            </a:r>
            <a:endParaRPr lang="en-US" altLang="zh-CN" sz="3200" dirty="0" smtClean="0">
              <a:solidFill>
                <a:srgbClr val="FF0000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 marL="0" indent="-450850" eaLnBrk="1" fontAlgn="auto" hangingPunct="1">
              <a:lnSpc>
                <a:spcPct val="120000"/>
              </a:lnSpc>
              <a:tabLst>
                <a:tab pos="92075" algn="l"/>
                <a:tab pos="92075" algn="l"/>
              </a:tabLst>
            </a:pPr>
            <a:r>
              <a:rPr lang="en-US" altLang="en-US" sz="3200" dirty="0" smtClean="0"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3) </a:t>
            </a:r>
            <a:r>
              <a:rPr lang="en-US" altLang="en-US" sz="3200" i="1" dirty="0" smtClean="0">
                <a:solidFill>
                  <a:srgbClr val="FF0000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n. </a:t>
            </a:r>
            <a:r>
              <a:rPr lang="en-US" altLang="en-US" sz="3200" i="1" dirty="0" smtClean="0"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a mental state </a:t>
            </a:r>
            <a:r>
              <a:rPr lang="zh-CN" altLang="en-US" sz="3200" dirty="0" smtClean="0"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情结</a:t>
            </a:r>
            <a:r>
              <a:rPr lang="en-US" altLang="zh-CN" sz="3200" dirty="0" smtClean="0"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，</a:t>
            </a:r>
            <a:r>
              <a:rPr lang="zh-CN" altLang="en-US" sz="3200" dirty="0" smtClean="0"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忧虑</a:t>
            </a:r>
            <a:endParaRPr lang="zh-CN" altLang="en-US" sz="3200" dirty="0" smtClean="0">
              <a:solidFill>
                <a:schemeClr val="tx1"/>
              </a:solidFill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</a:endParaRPr>
          </a:p>
          <a:p>
            <a:pPr marL="0" indent="-450850" eaLnBrk="1" fontAlgn="auto" hangingPunct="1">
              <a:lnSpc>
                <a:spcPct val="120000"/>
              </a:lnSpc>
              <a:tabLst>
                <a:tab pos="92075" algn="l"/>
                <a:tab pos="92075" algn="l"/>
              </a:tabLst>
            </a:pPr>
            <a:r>
              <a:rPr lang="en-US" altLang="zh-CN" sz="3200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She </a:t>
            </a:r>
            <a:r>
              <a:rPr lang="en-US" altLang="zh-CN" sz="3200" u="sng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has a complex about </a:t>
            </a:r>
            <a:r>
              <a:rPr lang="en-US" altLang="zh-CN" sz="3200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weight.</a:t>
            </a:r>
            <a:endParaRPr lang="en-US" altLang="zh-CN" sz="3200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 marL="0" indent="-450850" eaLnBrk="1" fontAlgn="auto" hangingPunct="1">
              <a:lnSpc>
                <a:spcPct val="120000"/>
              </a:lnSpc>
              <a:tabLst>
                <a:tab pos="92075" algn="l"/>
                <a:tab pos="92075" algn="l"/>
              </a:tabLst>
            </a:pPr>
            <a:r>
              <a:rPr lang="zh-CN" altLang="en-US" sz="3200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她因为体重而有心理负担。</a:t>
            </a:r>
            <a:endParaRPr lang="zh-CN" altLang="en-US" sz="3200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 marL="0" indent="-450850" eaLnBrk="1" fontAlgn="auto" hangingPunct="1">
              <a:lnSpc>
                <a:spcPct val="120000"/>
              </a:lnSpc>
              <a:tabLst>
                <a:tab pos="92075" algn="l"/>
                <a:tab pos="92075" algn="l"/>
              </a:tabLst>
            </a:pPr>
            <a:endParaRPr lang="en-US" altLang="zh-CN" sz="3200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 marL="0" indent="-450850" eaLnBrk="1" fontAlgn="auto" hangingPunct="1">
              <a:lnSpc>
                <a:spcPct val="120000"/>
              </a:lnSpc>
              <a:tabLst>
                <a:tab pos="92075" algn="l"/>
                <a:tab pos="92075" algn="l"/>
              </a:tabLst>
            </a:pPr>
            <a:endParaRPr lang="zh-CN" altLang="en-US" sz="3200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89857" y="972532"/>
            <a:ext cx="1112520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-450850" eaLnBrk="1" fontAlgn="auto" hangingPunct="1">
              <a:lnSpc>
                <a:spcPct val="120000"/>
              </a:lnSpc>
              <a:tabLst>
                <a:tab pos="92075" algn="l"/>
                <a:tab pos="92075" algn="l"/>
              </a:tabLst>
            </a:pPr>
            <a:r>
              <a:rPr lang="en-US" altLang="zh-CN" sz="3200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contradictory </a:t>
            </a:r>
            <a:r>
              <a:rPr lang="en-US" altLang="zh-CN" sz="3200" i="1" dirty="0" smtClean="0">
                <a:solidFill>
                  <a:srgbClr val="FF0000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adj. </a:t>
            </a:r>
            <a:r>
              <a:rPr lang="en-US" altLang="zh-CN" sz="3200" i="1" dirty="0" smtClean="0">
                <a:solidFill>
                  <a:srgbClr val="0000FF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conflicting</a:t>
            </a:r>
            <a:r>
              <a:rPr lang="en-US" altLang="zh-CN" sz="3200" dirty="0" smtClean="0"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 </a:t>
            </a:r>
            <a:r>
              <a:rPr lang="zh-CN" altLang="en-US" sz="3200" dirty="0" smtClean="0"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相互矛盾的</a:t>
            </a:r>
            <a:endParaRPr lang="zh-CN" altLang="en-US" sz="3200" dirty="0" smtClean="0">
              <a:solidFill>
                <a:schemeClr val="tx1"/>
              </a:solidFill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Harry has </a:t>
            </a:r>
            <a:r>
              <a:rPr lang="en-US" altLang="zh-CN" sz="3200" b="1" dirty="0">
                <a:solidFill>
                  <a:srgbClr val="FF0000"/>
                </a:solidFill>
              </a:rPr>
              <a:t>contradictory </a:t>
            </a:r>
            <a:r>
              <a:rPr lang="en-US" altLang="zh-CN" sz="3200" b="1" dirty="0">
                <a:solidFill>
                  <a:schemeClr val="tx1"/>
                </a:solidFill>
              </a:rPr>
              <a:t>feelings about his new life.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互相矛盾的信念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What he did </a:t>
            </a:r>
            <a:r>
              <a:rPr lang="en-US" altLang="zh-CN" sz="3200" b="1" u="sng" dirty="0">
                <a:solidFill>
                  <a:srgbClr val="FF0000"/>
                </a:solidFill>
              </a:rPr>
              <a:t>is</a:t>
            </a:r>
            <a:r>
              <a:rPr lang="en-US" altLang="zh-CN" sz="3200" b="1" dirty="0">
                <a:solidFill>
                  <a:schemeClr val="tx1"/>
                </a:solidFill>
              </a:rPr>
              <a:t> actually </a:t>
            </a:r>
            <a:r>
              <a:rPr lang="en-US" altLang="zh-CN" sz="3200" b="1" u="sng" dirty="0">
                <a:solidFill>
                  <a:srgbClr val="FF0000"/>
                </a:solidFill>
              </a:rPr>
              <a:t>contradictory to</a:t>
            </a:r>
            <a:r>
              <a:rPr lang="en-US" altLang="zh-CN" sz="3200" b="1" dirty="0">
                <a:solidFill>
                  <a:schemeClr val="tx1"/>
                </a:solidFill>
              </a:rPr>
              <a:t> what they believed.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</a:endParaRPr>
          </a:p>
          <a:p>
            <a:pPr marL="0" indent="-450850" eaLnBrk="1" fontAlgn="auto" hangingPunct="1">
              <a:lnSpc>
                <a:spcPct val="120000"/>
              </a:lnSpc>
              <a:tabLst>
                <a:tab pos="92075" algn="l"/>
                <a:tab pos="92075" algn="l"/>
              </a:tabLst>
            </a:pPr>
            <a:r>
              <a:rPr lang="en-US" altLang="zh-CN" sz="3200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contradict </a:t>
            </a:r>
            <a:r>
              <a:rPr lang="en-US" altLang="zh-CN" sz="3200" i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vt.</a:t>
            </a:r>
            <a:r>
              <a:rPr lang="en-US" altLang="zh-CN" sz="3200" i="1" dirty="0" smtClean="0"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  </a:t>
            </a:r>
            <a:r>
              <a:rPr lang="zh-CN" altLang="en-US" sz="3200" b="1" dirty="0" smtClean="0"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反驳；相矛盾</a:t>
            </a:r>
            <a:endParaRPr lang="zh-CN" altLang="en-US" sz="3200" b="1" dirty="0" smtClean="0">
              <a:solidFill>
                <a:schemeClr val="tx1"/>
              </a:solidFill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</a:endParaRPr>
          </a:p>
          <a:p>
            <a:pPr marL="0" indent="-450850" eaLnBrk="1" fontAlgn="auto" hangingPunct="1">
              <a:lnSpc>
                <a:spcPct val="120000"/>
              </a:lnSpc>
              <a:tabLst>
                <a:tab pos="92075" algn="l"/>
                <a:tab pos="92075" algn="l"/>
              </a:tabLst>
            </a:pPr>
            <a:r>
              <a:rPr lang="zh-CN" altLang="en-US" sz="3200" b="1" dirty="0" smtClean="0"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这两种说法相互抵触。</a:t>
            </a:r>
            <a:endParaRPr lang="en-US" altLang="zh-CN" sz="3200" b="1" dirty="0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>
            <p:custDataLst>
              <p:tags r:id="rId1"/>
            </p:custDataLst>
          </p:nvPr>
        </p:nvSpPr>
        <p:spPr>
          <a:xfrm>
            <a:off x="4719320" y="4460240"/>
            <a:ext cx="854202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-450850" eaLnBrk="1" fontAlgn="auto" hangingPunct="1">
              <a:lnSpc>
                <a:spcPct val="120000"/>
              </a:lnSpc>
              <a:tabLst>
                <a:tab pos="92075" algn="l"/>
                <a:tab pos="92075" algn="l"/>
              </a:tabLst>
            </a:pPr>
            <a:r>
              <a:rPr lang="zh-CN" altLang="en-US" sz="3200" dirty="0" smtClean="0"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The two </a:t>
            </a:r>
            <a:r>
              <a:rPr lang="en-US" altLang="zh-CN" sz="3200" dirty="0" smtClean="0"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arguments</a:t>
            </a:r>
            <a:r>
              <a:rPr lang="en-US" altLang="zh-CN" sz="3200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 </a:t>
            </a:r>
            <a:r>
              <a:rPr lang="zh-CN" altLang="en-US" sz="3200" u="sng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contradict each other</a:t>
            </a:r>
            <a:r>
              <a:rPr lang="zh-CN" altLang="en-US" sz="3200" dirty="0" smtClean="0"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.</a:t>
            </a:r>
            <a:endParaRPr lang="zh-CN" altLang="en-US" sz="3200" dirty="0" smtClean="0"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670935" y="211836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(mutually) contradictory beliefs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86962" y="1393406"/>
            <a:ext cx="11125200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仿写</a:t>
            </a:r>
            <a:r>
              <a:rPr lang="en-US" altLang="zh-CN" sz="3200" b="1" dirty="0" smtClean="0">
                <a:solidFill>
                  <a:srgbClr val="0000FF"/>
                </a:solidFill>
              </a:rPr>
              <a:t>】</a:t>
            </a:r>
            <a:endParaRPr lang="en-US" altLang="zh-CN" sz="3200" b="1" dirty="0" smtClean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当你阅读这篇文章时，你会被某些情景触动，这些情景会让你想起你父亲。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1262" y="3258532"/>
            <a:ext cx="11125200" cy="1222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As you read the article, you will be moved by some situations that remind you of your father.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31775" y="178435"/>
            <a:ext cx="11960225" cy="5327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17907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dig up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  <a:p>
            <a:pPr indent="-1790700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1)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discover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sth</a:t>
            </a:r>
            <a:r>
              <a:rPr lang="en-US" altLang="zh-CN" sz="3200" b="1" dirty="0">
                <a:sym typeface="+mn-ea"/>
              </a:rPr>
              <a:t>   </a:t>
            </a:r>
            <a:r>
              <a:rPr lang="zh-CN" altLang="en-US" sz="3200" b="1" dirty="0" smtClean="0">
                <a:solidFill>
                  <a:srgbClr val="FF0000"/>
                </a:solidFill>
                <a:sym typeface="+mn-ea"/>
              </a:rPr>
              <a:t>发现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，搜集，</a:t>
            </a:r>
            <a:r>
              <a:rPr lang="zh-CN" altLang="en-US" sz="3200" b="1" dirty="0" smtClean="0">
                <a:solidFill>
                  <a:srgbClr val="FF0000"/>
                </a:solidFill>
                <a:sym typeface="+mn-ea"/>
              </a:rPr>
              <a:t>查明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b="1" i="1" dirty="0" smtClean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(uncover)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indent="-1790700" fontAlgn="auto">
              <a:lnSpc>
                <a:spcPct val="120000"/>
              </a:lnSpc>
            </a:pPr>
            <a:r>
              <a:rPr lang="en-US" altLang="zh-CN" sz="3200" b="1" dirty="0" smtClean="0">
                <a:sym typeface="+mn-ea"/>
              </a:rPr>
              <a:t>2</a:t>
            </a:r>
            <a:r>
              <a:rPr lang="en-US" altLang="zh-CN" sz="3200" b="1" dirty="0">
                <a:sym typeface="+mn-ea"/>
              </a:rPr>
              <a:t>)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to remove the surface of an area of ground</a:t>
            </a:r>
            <a:r>
              <a:rPr lang="en-US" altLang="zh-CN" sz="3200" b="1" i="1" dirty="0" smtClean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</a:t>
            </a:r>
            <a:r>
              <a:rPr lang="en-US" altLang="zh-CN" sz="3200" b="1" dirty="0" smtClean="0">
                <a:sym typeface="+mn-ea"/>
              </a:rPr>
              <a:t>  </a:t>
            </a:r>
            <a:r>
              <a:rPr lang="zh-CN" altLang="en-US" sz="3200" b="1" dirty="0" smtClean="0">
                <a:solidFill>
                  <a:srgbClr val="FF0000"/>
                </a:solidFill>
                <a:sym typeface="+mn-ea"/>
              </a:rPr>
              <a:t>掘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地；挖洞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unearth)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-98742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I've been doing some research on our family history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and I've </a:t>
            </a:r>
            <a:endParaRPr lang="en-US" altLang="zh-CN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-987425" fontAlgn="auto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________________________________.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发现了一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些有趣的信息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They're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digging up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road just outside my flat.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2068" y="3748258"/>
            <a:ext cx="9752804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[Synonym]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dig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 into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探查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，探究，</a:t>
            </a:r>
            <a:r>
              <a:rPr lang="zh-CN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探寻</a:t>
            </a:r>
            <a:endParaRPr lang="zh-CN" alt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31775" y="2562860"/>
            <a:ext cx="89211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dug up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some interesting information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8905" y="0"/>
            <a:ext cx="1188783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1655" indent="-54165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clue</a:t>
            </a:r>
            <a:r>
              <a:rPr lang="en-US" altLang="zh-CN" sz="3200" b="1" dirty="0">
                <a:sym typeface="+mn-ea"/>
              </a:rPr>
              <a:t> </a:t>
            </a:r>
            <a:r>
              <a:rPr lang="en-US" altLang="zh-CN" sz="3200" b="1" dirty="0" smtClean="0">
                <a:sym typeface="+mn-ea"/>
              </a:rPr>
              <a:t> </a:t>
            </a:r>
            <a:r>
              <a:rPr lang="en-US" altLang="zh-CN" sz="3200" b="1" i="1" dirty="0" smtClean="0">
                <a:solidFill>
                  <a:srgbClr val="FF0000"/>
                </a:solidFill>
                <a:sym typeface="+mn-ea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.</a:t>
            </a:r>
            <a:r>
              <a:rPr lang="en-US" altLang="zh-CN" sz="3200" b="1" dirty="0">
                <a:sym typeface="+mn-ea"/>
              </a:rPr>
              <a:t> </a:t>
            </a:r>
            <a:r>
              <a:rPr lang="en-US" altLang="zh-CN" sz="3200" b="1" dirty="0" smtClean="0">
                <a:sym typeface="+mn-ea"/>
              </a:rPr>
              <a:t> </a:t>
            </a:r>
            <a:r>
              <a:rPr lang="en-US" altLang="zh-CN" sz="3200" b="1" i="1" dirty="0" smtClean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a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fact or a piece of evidence that helps you discover the answer to a problem  </a:t>
            </a:r>
            <a:r>
              <a:rPr lang="en-US" altLang="zh-CN" sz="3200" b="1" dirty="0" smtClean="0">
                <a:sym typeface="+mn-ea"/>
              </a:rPr>
              <a:t> </a:t>
            </a:r>
            <a:r>
              <a:rPr lang="en-US" altLang="zh-CN" sz="3200" b="1" dirty="0" err="1" smtClean="0">
                <a:solidFill>
                  <a:srgbClr val="FF0000"/>
                </a:solidFill>
                <a:sym typeface="+mn-ea"/>
              </a:rPr>
              <a:t>线索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 sz="3200" b="1" dirty="0" err="1">
                <a:solidFill>
                  <a:srgbClr val="FF0000"/>
                </a:solidFill>
                <a:sym typeface="+mn-ea"/>
              </a:rPr>
              <a:t>提示</a:t>
            </a:r>
            <a:endParaRPr lang="en-US" altLang="zh-CN" sz="3200" b="1" dirty="0" err="1">
              <a:solidFill>
                <a:srgbClr val="FF0000"/>
              </a:solidFill>
              <a:sym typeface="+mn-ea"/>
            </a:endParaRPr>
          </a:p>
          <a:p>
            <a:pPr marL="541655" indent="-541655" fontAlgn="auto">
              <a:lnSpc>
                <a:spcPct val="120000"/>
              </a:lnSpc>
            </a:pPr>
            <a:r>
              <a:rPr lang="en-US" altLang="zh-CN" sz="3200" b="1" dirty="0" smtClean="0"/>
              <a:t>Give </a:t>
            </a:r>
            <a:r>
              <a:rPr lang="en-US" altLang="zh-CN" sz="3200" b="1" dirty="0"/>
              <a:t>me</a:t>
            </a:r>
            <a:r>
              <a:rPr lang="en-US" altLang="zh-CN" sz="3200" b="1" dirty="0">
                <a:solidFill>
                  <a:srgbClr val="FF0000"/>
                </a:solidFill>
              </a:rPr>
              <a:t> a clue.</a:t>
            </a:r>
            <a:r>
              <a:rPr lang="en-US" altLang="zh-CN" sz="3200" b="1" dirty="0"/>
              <a:t> What does the word begin with?</a:t>
            </a:r>
            <a:endParaRPr lang="en-US" altLang="zh-CN" sz="3200" b="1" dirty="0"/>
          </a:p>
          <a:p>
            <a:pPr marL="541655" indent="-541655" fontAlgn="auto">
              <a:lnSpc>
                <a:spcPct val="120000"/>
              </a:lnSpc>
            </a:pPr>
            <a:r>
              <a:rPr lang="en-US" altLang="zh-CN" sz="3200" b="1" dirty="0" smtClean="0"/>
              <a:t>I </a:t>
            </a:r>
            <a:r>
              <a:rPr lang="en-US" altLang="zh-CN" sz="3200" b="1" dirty="0">
                <a:solidFill>
                  <a:schemeClr val="tx1"/>
                </a:solidFill>
              </a:rPr>
              <a:t>didn't </a:t>
            </a:r>
            <a:r>
              <a:rPr lang="en-US" altLang="zh-CN" sz="3200" b="1" u="sng" dirty="0">
                <a:solidFill>
                  <a:srgbClr val="FF0000"/>
                </a:solidFill>
              </a:rPr>
              <a:t>have a clue about/as to</a:t>
            </a:r>
            <a:r>
              <a:rPr lang="en-US" altLang="zh-CN" sz="3200" b="1" dirty="0"/>
              <a:t> this </a:t>
            </a:r>
            <a:r>
              <a:rPr lang="en-US" altLang="zh-CN" sz="3200" b="1" dirty="0" smtClean="0"/>
              <a:t>problem.</a:t>
            </a:r>
            <a:endParaRPr lang="en-US" altLang="zh-CN" sz="3200" b="1" dirty="0"/>
          </a:p>
          <a:p>
            <a:pPr marL="541655" indent="-541655" fontAlgn="auto">
              <a:lnSpc>
                <a:spcPct val="120000"/>
              </a:lnSpc>
            </a:pPr>
            <a:r>
              <a:rPr lang="en-US" altLang="zh-CN" sz="3200" b="1" dirty="0" err="1" smtClean="0"/>
              <a:t>关于这个问题</a:t>
            </a:r>
            <a:r>
              <a:rPr lang="zh-CN" altLang="en-US" sz="3200" b="1" dirty="0" smtClean="0"/>
              <a:t>，</a:t>
            </a:r>
            <a:r>
              <a:rPr lang="en-US" altLang="zh-CN" sz="3200" b="1" dirty="0" err="1" smtClean="0"/>
              <a:t>我</a:t>
            </a:r>
            <a:r>
              <a:rPr lang="en-US" altLang="zh-CN" sz="3200" b="1" dirty="0" err="1" smtClean="0">
                <a:solidFill>
                  <a:schemeClr val="tx1"/>
                </a:solidFill>
              </a:rPr>
              <a:t>一无所知</a:t>
            </a:r>
            <a:r>
              <a:rPr lang="en-US" altLang="zh-CN" sz="3200" b="1" dirty="0" smtClean="0"/>
              <a:t>。</a:t>
            </a:r>
            <a:endParaRPr lang="en-US" altLang="zh-CN" sz="3200" b="1" dirty="0" smtClean="0"/>
          </a:p>
          <a:p>
            <a:pPr marL="541655" indent="-541655" fontAlgn="auto">
              <a:lnSpc>
                <a:spcPct val="120000"/>
              </a:lnSpc>
            </a:pPr>
            <a:r>
              <a:rPr lang="zh-CN" altLang="en-US" sz="3200" b="1" dirty="0" smtClean="0"/>
              <a:t>我们对</a:t>
            </a:r>
            <a:r>
              <a:rPr lang="zh-CN" altLang="en-US" sz="3200" b="1" dirty="0" smtClean="0"/>
              <a:t>她离家后去往何处毫无线索。</a:t>
            </a:r>
            <a:endParaRPr lang="zh-CN" altLang="en-US" sz="3200" b="1" dirty="0" smtClean="0"/>
          </a:p>
          <a:p>
            <a:pPr marL="541655" indent="-54165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We have no clue as to where she went after she left home.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marL="541655" indent="-541655" fontAlgn="auto">
              <a:lnSpc>
                <a:spcPct val="120000"/>
              </a:lnSpc>
            </a:pPr>
            <a:r>
              <a:rPr lang="en-US" altLang="zh-CN" sz="3200" b="1" dirty="0"/>
              <a:t>Diet may </a:t>
            </a:r>
            <a:r>
              <a:rPr lang="en-US" altLang="zh-CN" sz="3200" b="1" u="sng" dirty="0">
                <a:solidFill>
                  <a:srgbClr val="FF0000"/>
                </a:solidFill>
              </a:rPr>
              <a:t>hold the clue to</a:t>
            </a:r>
            <a:r>
              <a:rPr lang="en-US" altLang="zh-CN" sz="3200" b="1" dirty="0"/>
              <a:t> the causes of </a:t>
            </a:r>
            <a:r>
              <a:rPr lang="en-US" altLang="zh-CN" sz="3200" b="1" dirty="0"/>
              <a:t>headache.</a:t>
            </a:r>
            <a:endParaRPr lang="en-US" altLang="zh-CN" sz="3200" b="1" dirty="0"/>
          </a:p>
          <a:p>
            <a:pPr marL="541655" indent="-541655" fontAlgn="auto">
              <a:lnSpc>
                <a:spcPct val="120000"/>
              </a:lnSpc>
            </a:pPr>
            <a:r>
              <a:rPr lang="zh-CN" altLang="en-US" sz="3200" b="1" dirty="0"/>
              <a:t>有……的</a:t>
            </a:r>
            <a:r>
              <a:rPr lang="zh-CN" altLang="en-US" sz="3200" b="1" dirty="0"/>
              <a:t>线索</a:t>
            </a:r>
            <a:endParaRPr lang="zh-CN" altLang="en-US" sz="3200" b="1" dirty="0"/>
          </a:p>
          <a:p>
            <a:pPr marL="541655" indent="-541655" fontAlgn="auto">
              <a:lnSpc>
                <a:spcPct val="120000"/>
              </a:lnSpc>
            </a:pPr>
            <a:r>
              <a:rPr lang="zh-CN" altLang="en-US" sz="3200" b="1" dirty="0"/>
              <a:t>追踪线索</a:t>
            </a:r>
            <a:r>
              <a:rPr lang="en-US" altLang="zh-CN" sz="3200" b="1" dirty="0"/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trace a clue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20251" y="116911"/>
            <a:ext cx="1146111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120000"/>
              </a:lnSpc>
            </a:pPr>
            <a:r>
              <a:rPr lang="en-US" altLang="zh-CN" sz="3200" b="1" dirty="0"/>
              <a:t>struggle to </a:t>
            </a:r>
            <a:r>
              <a:rPr lang="en-US" altLang="zh-CN" sz="3200" b="1" dirty="0">
                <a:solidFill>
                  <a:srgbClr val="FF0000"/>
                </a:solidFill>
              </a:rPr>
              <a:t>interpret</a:t>
            </a:r>
            <a:r>
              <a:rPr lang="en-US" altLang="zh-CN" sz="3200" b="1" dirty="0"/>
              <a:t> the meaning of a poem</a:t>
            </a:r>
            <a:endParaRPr lang="en-US" altLang="zh-CN" sz="32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20040" y="627380"/>
            <a:ext cx="11461115" cy="5996940"/>
          </a:xfrm>
          <a:prstGeom prst="rect">
            <a:avLst/>
          </a:pr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indent="-2692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interpret </a:t>
            </a:r>
            <a:r>
              <a:rPr lang="en-US" altLang="zh-CN" sz="3200" b="1" i="1" dirty="0" err="1">
                <a:solidFill>
                  <a:srgbClr val="FF0000"/>
                </a:solidFill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/ɪnˈtəːprɪt/</a:t>
            </a:r>
            <a:endParaRPr lang="en-US" altLang="zh-CN" sz="3200" b="1" dirty="0">
              <a:solidFill>
                <a:srgbClr val="0000FF"/>
              </a:solidFill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  <a:p>
            <a:pPr marL="1828800" lvl="4" indent="457200" fontAlgn="auto">
              <a:lnSpc>
                <a:spcPct val="120000"/>
              </a:lnSpc>
            </a:pPr>
            <a:r>
              <a:rPr lang="en-US" altLang="zh-CN" sz="3200" b="1" dirty="0"/>
              <a:t>1)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explain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the meaning of </a:t>
            </a:r>
            <a:r>
              <a:rPr lang="en-US" altLang="zh-CN" sz="3200" b="1" i="1" dirty="0" err="1">
                <a:latin typeface="Times New Roman Bold Italic" panose="02020603050405020304" charset="0"/>
                <a:cs typeface="Times New Roman Bold Italic" panose="02020603050405020304" charset="0"/>
              </a:rPr>
              <a:t>sth</a:t>
            </a:r>
            <a:r>
              <a:rPr lang="en-US" altLang="zh-CN" sz="3200" b="1" dirty="0"/>
              <a:t>  </a:t>
            </a:r>
            <a:r>
              <a:rPr lang="en-US" altLang="zh-CN" sz="3200" b="1" dirty="0" smtClean="0"/>
              <a:t>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解释</a:t>
            </a:r>
            <a:r>
              <a:rPr lang="zh-CN" altLang="en-US" sz="3200" b="1" dirty="0">
                <a:solidFill>
                  <a:srgbClr val="FF0000"/>
                </a:solidFill>
              </a:rPr>
              <a:t>，阐释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indent="-2692400" fontAlgn="auto">
              <a:lnSpc>
                <a:spcPct val="120000"/>
              </a:lnSpc>
            </a:pPr>
            <a:r>
              <a:rPr lang="en-US" altLang="zh-CN" sz="3200" b="1" dirty="0" smtClean="0"/>
              <a:t>                      2</a:t>
            </a:r>
            <a:r>
              <a:rPr lang="en-US" altLang="zh-CN" sz="3200" b="1" dirty="0"/>
              <a:t>)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to understand sth in a way</a:t>
            </a:r>
            <a:r>
              <a:rPr lang="en-US" altLang="zh-CN" sz="3200" b="1" dirty="0"/>
              <a:t> </a:t>
            </a:r>
            <a:r>
              <a:rPr lang="zh-CN" altLang="en-US" sz="3200" b="1" dirty="0" smtClean="0">
                <a:solidFill>
                  <a:srgbClr val="FF0000"/>
                </a:solidFill>
                <a:latin typeface="+mj-ea"/>
                <a:ea typeface="+mj-ea"/>
              </a:rPr>
              <a:t>把</a:t>
            </a:r>
            <a:r>
              <a:rPr lang="en-US" altLang="zh-CN" sz="3200" b="1" dirty="0">
                <a:solidFill>
                  <a:srgbClr val="FF0000"/>
                </a:solidFill>
                <a:latin typeface="+mj-ea"/>
                <a:ea typeface="+mj-ea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理解为，领会</a:t>
            </a:r>
            <a:endParaRPr lang="en-US" altLang="zh-CN" sz="32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indent="-2692400" fontAlgn="auto">
              <a:lnSpc>
                <a:spcPct val="120000"/>
              </a:lnSpc>
            </a:pPr>
            <a:r>
              <a:rPr lang="en-US" altLang="zh-CN" sz="3200" b="1" dirty="0" smtClean="0"/>
              <a:t>                      3</a:t>
            </a:r>
            <a:r>
              <a:rPr lang="en-US" altLang="zh-CN" sz="3200" b="1" dirty="0"/>
              <a:t>)</a:t>
            </a:r>
            <a:r>
              <a:rPr lang="en-US" altLang="zh-CN" sz="3200" b="1" i="1" dirty="0"/>
              <a:t> 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perform</a:t>
            </a:r>
            <a:r>
              <a:rPr lang="en-US" altLang="zh-CN" sz="3200" b="1" i="1" dirty="0"/>
              <a:t> a piece of music, a role in a play, etc. in 				a way that shows your feelings about its meaning</a:t>
            </a:r>
            <a:r>
              <a:rPr lang="en-US" altLang="zh-CN" sz="3200" b="1" dirty="0"/>
              <a:t> 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演绎</a:t>
            </a:r>
            <a:endParaRPr lang="zh-CN" altLang="en-US" sz="3200" b="1" dirty="0" smtClean="0">
              <a:solidFill>
                <a:srgbClr val="FF0000"/>
              </a:solidFill>
            </a:endParaRPr>
          </a:p>
          <a:p>
            <a:pPr indent="-723900" fontAlgn="auto">
              <a:lnSpc>
                <a:spcPct val="120000"/>
              </a:lnSpc>
            </a:pPr>
            <a:r>
              <a:rPr lang="en-US" altLang="zh-CN" sz="3200" b="1" dirty="0" smtClean="0">
                <a:sym typeface="+mn-ea"/>
              </a:rPr>
              <a:t>The </a:t>
            </a:r>
            <a:r>
              <a:rPr lang="en-US" altLang="zh-CN" sz="3200" b="1" dirty="0">
                <a:sym typeface="+mn-ea"/>
              </a:rPr>
              <a:t>students were asked to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interpret</a:t>
            </a:r>
            <a:r>
              <a:rPr lang="en-US" altLang="zh-CN" sz="3200" b="1" dirty="0">
                <a:sym typeface="+mn-ea"/>
              </a:rPr>
              <a:t> the poem.</a:t>
            </a:r>
            <a:endParaRPr lang="en-US" altLang="zh-CN" sz="3200" b="1" dirty="0">
              <a:sym typeface="+mn-ea"/>
            </a:endParaRPr>
          </a:p>
          <a:p>
            <a:pPr indent="-723900" fontAlgn="auto">
              <a:lnSpc>
                <a:spcPct val="120000"/>
              </a:lnSpc>
            </a:pPr>
            <a:r>
              <a:rPr lang="en-US" altLang="zh-CN" sz="3200" b="1" dirty="0"/>
              <a:t>学生们被要求诠释那首诗的意义。</a:t>
            </a:r>
            <a:endParaRPr lang="en-US" altLang="zh-CN" sz="3200" b="1" dirty="0"/>
          </a:p>
          <a:p>
            <a:pPr indent="-990600" fontAlgn="auto">
              <a:lnSpc>
                <a:spcPct val="120000"/>
              </a:lnSpc>
            </a:pPr>
            <a:r>
              <a:rPr lang="en-US" altLang="zh-CN" sz="3200" b="1" dirty="0" smtClean="0">
                <a:sym typeface="+mn-ea"/>
              </a:rPr>
              <a:t>I </a:t>
            </a:r>
            <a:r>
              <a:rPr lang="en-US" altLang="zh-CN" sz="3200" b="1" dirty="0">
                <a:sym typeface="+mn-ea"/>
              </a:rPr>
              <a:t>didn't know whether to </a:t>
            </a:r>
            <a:r>
              <a:rPr lang="en-US" altLang="zh-CN" sz="3200" b="1" u="sng" dirty="0">
                <a:solidFill>
                  <a:srgbClr val="FF0000"/>
                </a:solidFill>
                <a:sym typeface="+mn-ea"/>
              </a:rPr>
              <a:t>interpret</a:t>
            </a:r>
            <a:r>
              <a:rPr lang="en-US" altLang="zh-CN" sz="3200" b="1" u="sng" dirty="0">
                <a:sym typeface="+mn-ea"/>
              </a:rPr>
              <a:t> her silence </a:t>
            </a:r>
            <a:r>
              <a:rPr lang="en-US" altLang="zh-CN" sz="3200" b="1" u="sng" dirty="0">
                <a:solidFill>
                  <a:srgbClr val="FF0000"/>
                </a:solidFill>
                <a:sym typeface="+mn-ea"/>
              </a:rPr>
              <a:t>as</a:t>
            </a:r>
            <a:r>
              <a:rPr lang="en-US" altLang="zh-CN" sz="3200" b="1" dirty="0">
                <a:sym typeface="+mn-ea"/>
              </a:rPr>
              <a:t> acceptance or refusal. </a:t>
            </a:r>
            <a:r>
              <a:rPr lang="zh-CN" altLang="en-US" sz="3200" b="1" dirty="0">
                <a:sym typeface="+mn-ea"/>
              </a:rPr>
              <a:t>把……</a:t>
            </a:r>
            <a:r>
              <a:rPr lang="zh-CN" altLang="en-US" sz="3200" b="1" dirty="0">
                <a:sym typeface="+mn-ea"/>
              </a:rPr>
              <a:t>解读为</a:t>
            </a:r>
            <a:endParaRPr lang="en-US" altLang="zh-CN" sz="3200" b="1" dirty="0"/>
          </a:p>
          <a:p>
            <a:pPr indent="-723900" fontAlgn="auto">
              <a:lnSpc>
                <a:spcPct val="120000"/>
              </a:lnSpc>
            </a:pPr>
            <a:r>
              <a:rPr lang="en-US" altLang="zh-CN" sz="3200" b="1" dirty="0" smtClean="0">
                <a:sym typeface="+mn-ea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interpreted the role</a:t>
            </a:r>
            <a:r>
              <a:rPr lang="en-US" altLang="zh-CN" sz="3200" b="1" dirty="0">
                <a:sym typeface="+mn-ea"/>
              </a:rPr>
              <a:t> with a lot of </a:t>
            </a:r>
            <a:r>
              <a:rPr lang="en-US" altLang="zh-CN" sz="3200" b="1" dirty="0" err="1">
                <a:sym typeface="+mn-ea"/>
              </a:rPr>
              <a:t>humour</a:t>
            </a:r>
            <a:r>
              <a:rPr lang="en-US" altLang="zh-CN" sz="3200" b="1" dirty="0">
                <a:sym typeface="+mn-ea"/>
              </a:rPr>
              <a:t>. </a:t>
            </a:r>
            <a:r>
              <a:rPr lang="zh-CN" altLang="en-US" sz="3200" b="1" dirty="0">
                <a:sym typeface="+mn-ea"/>
              </a:rPr>
              <a:t>演绎</a:t>
            </a:r>
            <a:r>
              <a:rPr lang="zh-CN" altLang="en-US" sz="3200" b="1" dirty="0">
                <a:sym typeface="+mn-ea"/>
              </a:rPr>
              <a:t>这个角色</a:t>
            </a:r>
            <a:endParaRPr lang="zh-CN" altLang="en-US" sz="3200" b="1"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uiExpand="1" build="allAtOnce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1219200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interpret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b="1" i="1" dirty="0" smtClean="0">
                <a:solidFill>
                  <a:srgbClr val="FF0000"/>
                </a:solidFill>
                <a:sym typeface="+mn-ea"/>
              </a:rPr>
              <a:t>vi</a:t>
            </a:r>
            <a:r>
              <a:rPr lang="en-US" altLang="zh-CN" sz="3200" b="1" i="1" dirty="0">
                <a:solidFill>
                  <a:srgbClr val="FF0000"/>
                </a:solidFill>
                <a:sym typeface="+mn-ea"/>
              </a:rPr>
              <a:t>.  </a:t>
            </a:r>
            <a:r>
              <a:rPr lang="en-US" altLang="zh-CN" sz="3200" b="1" dirty="0">
                <a:sym typeface="+mn-ea"/>
              </a:rPr>
              <a:t>to translate one language into another as you hear it </a:t>
            </a:r>
            <a:r>
              <a:rPr lang="en-US" altLang="zh-CN" sz="3200" b="1" dirty="0" smtClean="0">
                <a:sym typeface="+mn-ea"/>
              </a:rPr>
              <a:t> </a:t>
            </a:r>
            <a:r>
              <a:rPr lang="zh-CN" altLang="en-US" sz="3200" b="1" dirty="0" smtClean="0">
                <a:solidFill>
                  <a:srgbClr val="FF0000"/>
                </a:solidFill>
                <a:sym typeface="+mn-ea"/>
              </a:rPr>
              <a:t>口译</a:t>
            </a:r>
            <a:endParaRPr lang="en-US" altLang="zh-CN" sz="3200" b="1" dirty="0" smtClean="0"/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/>
              <a:t>They </a:t>
            </a:r>
            <a:r>
              <a:rPr lang="en-US" altLang="zh-CN" sz="3200" b="1" dirty="0"/>
              <a:t>spoke good Spanish and promised to</a:t>
            </a:r>
            <a:r>
              <a:rPr lang="en-US" altLang="zh-CN" sz="3200" b="1" dirty="0">
                <a:solidFill>
                  <a:srgbClr val="FF0000"/>
                </a:solidFill>
              </a:rPr>
              <a:t> interpret</a:t>
            </a:r>
            <a:r>
              <a:rPr lang="en-US" altLang="zh-CN" sz="3200" b="1" dirty="0"/>
              <a:t> for me.</a:t>
            </a:r>
            <a:endParaRPr lang="en-US" altLang="zh-CN" sz="3200" b="1" dirty="0"/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err="1" smtClean="0"/>
              <a:t>他们西班牙语说得很好</a:t>
            </a:r>
            <a:r>
              <a:rPr lang="zh-CN" altLang="en-US" sz="3200" b="1" dirty="0" smtClean="0"/>
              <a:t>，</a:t>
            </a:r>
            <a:r>
              <a:rPr lang="en-US" altLang="zh-CN" sz="3200" b="1" dirty="0" err="1" smtClean="0"/>
              <a:t>答应替我</a:t>
            </a:r>
            <a:r>
              <a:rPr lang="en-US" altLang="zh-CN" sz="3200" b="1" dirty="0" err="1" smtClean="0">
                <a:solidFill>
                  <a:srgbClr val="FF0000"/>
                </a:solidFill>
              </a:rPr>
              <a:t>翻译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。</a:t>
            </a:r>
            <a:endParaRPr lang="zh-CN" altLang="en-US" sz="3200" b="1" dirty="0" smtClean="0">
              <a:solidFill>
                <a:srgbClr val="FF0000"/>
              </a:solidFill>
            </a:endParaRPr>
          </a:p>
          <a:p>
            <a:pPr indent="0" fontAlgn="auto">
              <a:lnSpc>
                <a:spcPct val="120000"/>
              </a:lnSpc>
            </a:pPr>
            <a:endParaRPr lang="zh-CN" altLang="en-US" sz="3200" b="1" dirty="0" smtClean="0">
              <a:solidFill>
                <a:srgbClr val="FF0000"/>
              </a:solidFill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interpreter </a:t>
            </a:r>
            <a:r>
              <a:rPr lang="en-US" altLang="zh-CN" sz="3200" b="1" dirty="0">
                <a:solidFill>
                  <a:srgbClr val="0000FF"/>
                </a:solidFill>
              </a:rPr>
              <a:t>/ɪnˈtəːprɪtə/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口译员</a:t>
            </a:r>
            <a:r>
              <a:rPr lang="en-US" altLang="zh-CN" sz="3200" b="1" dirty="0">
                <a:solidFill>
                  <a:schemeClr val="tx1"/>
                </a:solidFill>
              </a:rPr>
              <a:t>；</a:t>
            </a:r>
            <a:r>
              <a:rPr lang="zh-CN" altLang="en-US" sz="3200" b="1" dirty="0">
                <a:solidFill>
                  <a:schemeClr val="tx1"/>
                </a:solidFill>
              </a:rPr>
              <a:t>演绎的人</a:t>
            </a:r>
            <a:endParaRPr lang="zh-CN" altLang="en-US" sz="3200" b="1" dirty="0">
              <a:solidFill>
                <a:srgbClr val="FF0000"/>
              </a:solidFill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interpretation </a:t>
            </a:r>
            <a:r>
              <a:rPr lang="en-US" altLang="zh-CN" sz="3200" b="1" dirty="0">
                <a:solidFill>
                  <a:srgbClr val="0000FF"/>
                </a:solidFill>
              </a:rPr>
              <a:t>/ɪnˌtəːprɪˈteɪʃn/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解释；演绎</a:t>
            </a:r>
            <a:endParaRPr lang="zh-CN" altLang="en-US" sz="3200" b="1" dirty="0">
              <a:solidFill>
                <a:schemeClr val="tx1"/>
              </a:solidFill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她的证据</a:t>
            </a:r>
            <a:r>
              <a:rPr lang="zh-CN" altLang="en-US" sz="3200" b="1" dirty="0">
                <a:solidFill>
                  <a:schemeClr val="tx1"/>
                </a:solidFill>
              </a:rPr>
              <a:t>暗示这些事件可能有另外一种解释。</a:t>
            </a:r>
            <a:endParaRPr lang="zh-CN" altLang="en-US" sz="3200" b="1" dirty="0">
              <a:solidFill>
                <a:schemeClr val="tx1"/>
              </a:solidFill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Her evidence suggests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/implies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 a different interpretation of the events.</a:t>
            </a:r>
            <a:endParaRPr lang="zh-CN" altLang="en-US" sz="3200" b="1" dirty="0">
              <a:solidFill>
                <a:srgbClr val="FF0000"/>
              </a:solidFill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Dreams are open to interpretation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.</a:t>
            </a:r>
            <a:endParaRPr lang="en-US" altLang="zh-CN" sz="3200" b="1" dirty="0">
              <a:solidFill>
                <a:schemeClr val="tx1"/>
              </a:solidFill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梦可以做各种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诠释。</a:t>
            </a:r>
            <a:endParaRPr lang="zh-CN" altLang="en-US" sz="3200" b="1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64066" y="27900"/>
            <a:ext cx="11461115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3900" indent="-7239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have</a:t>
            </a:r>
            <a:r>
              <a:rPr lang="en-US" altLang="zh-CN" sz="3200" b="1" dirty="0"/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(no) patience with... </a:t>
            </a:r>
            <a:r>
              <a:rPr lang="zh-CN" altLang="en-US" sz="3200" b="1" dirty="0">
                <a:solidFill>
                  <a:schemeClr val="tx1"/>
                </a:solidFill>
              </a:rPr>
              <a:t>对……没有耐心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723900" indent="-7239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run out of / lose patience with ... </a:t>
            </a:r>
            <a:r>
              <a:rPr lang="zh-CN" altLang="en-US" sz="3200" b="1" dirty="0">
                <a:solidFill>
                  <a:schemeClr val="tx1"/>
                </a:solidFill>
              </a:rPr>
              <a:t>对……失去耐心</a:t>
            </a:r>
            <a:endParaRPr lang="en-US" altLang="zh-CN" sz="3200" b="1" dirty="0" smtClean="0">
              <a:solidFill>
                <a:schemeClr val="tx1"/>
              </a:solidFill>
            </a:endParaRPr>
          </a:p>
          <a:p>
            <a:pPr marL="723900" indent="-723900">
              <a:lnSpc>
                <a:spcPct val="120000"/>
              </a:lnSpc>
            </a:pPr>
            <a:r>
              <a:rPr lang="en-US" altLang="zh-CN" sz="3200" b="1" i="1" dirty="0" smtClean="0">
                <a:latin typeface="Times New Roman Bold Italic" panose="02020603050405020304" charset="0"/>
                <a:cs typeface="Times New Roman Bold Italic" panose="02020603050405020304" charset="0"/>
              </a:rPr>
              <a:t>adj.</a:t>
            </a:r>
            <a:r>
              <a:rPr lang="en-US" altLang="zh-CN" sz="3200" b="1" dirty="0" smtClean="0"/>
              <a:t> 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patient / </a:t>
            </a:r>
            <a:r>
              <a:rPr lang="en-US" altLang="zh-CN" sz="3200" b="1" i="1" dirty="0" smtClean="0">
                <a:solidFill>
                  <a:srgbClr val="FF0000"/>
                </a:solidFill>
                <a:sym typeface="+mn-ea"/>
              </a:rPr>
              <a:t>n</a:t>
            </a:r>
            <a:r>
              <a:rPr lang="en-US" altLang="zh-CN" sz="3200" b="1" i="1" dirty="0">
                <a:solidFill>
                  <a:srgbClr val="FF0000"/>
                </a:solidFill>
                <a:sym typeface="+mn-ea"/>
              </a:rPr>
              <a:t>.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sz="3200" b="1" dirty="0">
                <a:sym typeface="+mn-ea"/>
              </a:rPr>
              <a:t>病人</a:t>
            </a:r>
            <a:endParaRPr lang="en-US" altLang="zh-CN" sz="3200" b="1" dirty="0" smtClean="0"/>
          </a:p>
          <a:p>
            <a:pPr marL="723900" indent="-723900">
              <a:lnSpc>
                <a:spcPct val="120000"/>
              </a:lnSpc>
            </a:pPr>
            <a:r>
              <a:rPr lang="en-US" altLang="zh-CN" sz="3200" b="1" i="1" dirty="0" smtClean="0">
                <a:latin typeface="Times New Roman Bold Italic" panose="02020603050405020304" charset="0"/>
                <a:cs typeface="Times New Roman Bold Italic" panose="02020603050405020304" charset="0"/>
              </a:rPr>
              <a:t>opp</a:t>
            </a:r>
            <a:r>
              <a:rPr lang="en-US" altLang="zh-CN" sz="3200" b="1" dirty="0" smtClean="0"/>
              <a:t>. 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impatient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marL="723900" indent="-723900">
              <a:lnSpc>
                <a:spcPct val="120000"/>
              </a:lnSpc>
            </a:pPr>
            <a:endParaRPr lang="en-US" altLang="zh-CN" sz="3200" b="1" dirty="0" smtClean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ym typeface="+mn-ea"/>
              </a:rPr>
              <a:t>He’s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impatient</a:t>
            </a:r>
            <a:r>
              <a:rPr lang="en-US" altLang="zh-CN" sz="3200" b="1" dirty="0">
                <a:sym typeface="+mn-ea"/>
              </a:rPr>
              <a:t> to know what happened.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zh-CN" altLang="en-US" sz="3200" b="1" dirty="0" smtClean="0">
                <a:sym typeface="+mn-ea"/>
              </a:rPr>
              <a:t>他</a:t>
            </a:r>
            <a:r>
              <a:rPr lang="zh-CN" altLang="en-US" sz="3200" b="1" dirty="0">
                <a:sym typeface="+mn-ea"/>
              </a:rPr>
              <a:t>急于想知道发生了什么事。</a:t>
            </a:r>
            <a:endParaRPr lang="en-US" altLang="zh-CN" sz="3200" b="1" dirty="0" smtClean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38644" y="963719"/>
            <a:ext cx="11267934" cy="4819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</a:rPr>
              <a:t>【</a:t>
            </a:r>
            <a:r>
              <a:rPr lang="zh-CN" altLang="en-US" sz="3200" b="1" dirty="0" smtClean="0">
                <a:solidFill>
                  <a:srgbClr val="0000FF"/>
                </a:solidFill>
              </a:rPr>
              <a:t>语境应用</a:t>
            </a:r>
            <a:r>
              <a:rPr lang="en-US" altLang="zh-CN" sz="3200" b="1" dirty="0" smtClean="0">
                <a:solidFill>
                  <a:srgbClr val="0000FF"/>
                </a:solidFill>
              </a:rPr>
              <a:t>】</a:t>
            </a:r>
            <a:r>
              <a:rPr lang="en-US" altLang="zh-CN" sz="3200" b="1" dirty="0">
                <a:solidFill>
                  <a:srgbClr val="0000FF"/>
                </a:solidFill>
              </a:rPr>
              <a:t>翻译句子</a:t>
            </a:r>
            <a:endParaRPr lang="en-US" altLang="zh-CN" sz="3200" b="1" dirty="0">
              <a:solidFill>
                <a:srgbClr val="0000FF"/>
              </a:solidFill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 smtClean="0"/>
              <a:t>1) </a:t>
            </a:r>
            <a:r>
              <a:rPr lang="en-US" altLang="zh-CN" sz="3200" b="1" dirty="0">
                <a:sym typeface="+mn-ea"/>
              </a:rPr>
              <a:t>警方仍在寻找能帮助搜索失踪女孩的线索。</a:t>
            </a:r>
            <a:endParaRPr lang="en-US" altLang="zh-CN" sz="3200" b="1" dirty="0">
              <a:sym typeface="+mn-ea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 smtClean="0">
                <a:sym typeface="+mn-ea"/>
              </a:rPr>
              <a:t>    Police </a:t>
            </a:r>
            <a:r>
              <a:rPr lang="en-US" altLang="zh-CN" sz="3200" b="1" dirty="0">
                <a:sym typeface="+mn-ea"/>
              </a:rPr>
              <a:t>are still looking for </a:t>
            </a:r>
            <a:r>
              <a:rPr lang="en-US" altLang="zh-CN" sz="3200" b="1" dirty="0" smtClean="0">
                <a:sym typeface="+mn-ea"/>
              </a:rPr>
              <a:t>_________</a:t>
            </a:r>
            <a:r>
              <a:rPr lang="en-US" altLang="zh-CN" sz="3200" b="1" dirty="0">
                <a:sym typeface="+mn-ea"/>
              </a:rPr>
              <a:t> in their search for the missing girl.</a:t>
            </a:r>
            <a:endParaRPr lang="en-US" altLang="zh-CN" sz="3200" b="1" dirty="0"/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 smtClean="0"/>
              <a:t>2) </a:t>
            </a:r>
            <a:r>
              <a:rPr lang="en-US" altLang="zh-CN" sz="3200" b="1" dirty="0" err="1" smtClean="0">
                <a:sym typeface="+mn-ea"/>
              </a:rPr>
              <a:t>这份资料可以从多方面解读</a:t>
            </a:r>
            <a:r>
              <a:rPr lang="en-US" altLang="zh-CN" sz="3200" b="1" dirty="0">
                <a:sym typeface="+mn-ea"/>
              </a:rPr>
              <a:t>。  </a:t>
            </a:r>
            <a:endParaRPr lang="en-US" altLang="zh-CN" sz="3200" b="1" dirty="0" smtClean="0"/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 smtClean="0">
                <a:sym typeface="+mn-ea"/>
              </a:rPr>
              <a:t>    The </a:t>
            </a:r>
            <a:r>
              <a:rPr lang="en-US" altLang="zh-CN" sz="3200" b="1" dirty="0">
                <a:sym typeface="+mn-ea"/>
              </a:rPr>
              <a:t>data can be </a:t>
            </a:r>
            <a:r>
              <a:rPr lang="en-US" altLang="zh-CN" sz="3200" b="1" dirty="0" smtClean="0">
                <a:sym typeface="+mn-ea"/>
              </a:rPr>
              <a:t>_____________________________________</a:t>
            </a:r>
            <a:r>
              <a:rPr lang="en-US" altLang="zh-CN" sz="3200" b="1" dirty="0">
                <a:sym typeface="+mn-ea"/>
              </a:rPr>
              <a:t>. </a:t>
            </a:r>
            <a:endParaRPr lang="en-US" altLang="zh-CN" sz="3200" b="1" dirty="0">
              <a:sym typeface="+mn-ea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 smtClean="0"/>
              <a:t>3) </a:t>
            </a:r>
            <a:r>
              <a:rPr lang="en-US" altLang="zh-CN" sz="3200" b="1" dirty="0">
                <a:sym typeface="+mn-ea"/>
              </a:rPr>
              <a:t>我要把那棵植物挖出来，挪个地方。</a:t>
            </a:r>
            <a:endParaRPr lang="en-US" altLang="zh-CN" sz="3200" b="1" dirty="0">
              <a:sym typeface="+mn-ea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 smtClean="0">
                <a:sym typeface="+mn-ea"/>
              </a:rPr>
              <a:t>     I'll _________________</a:t>
            </a:r>
            <a:r>
              <a:rPr lang="en-US" altLang="zh-CN" sz="3200" b="1" dirty="0">
                <a:sym typeface="+mn-ea"/>
              </a:rPr>
              <a:t>and move it.</a:t>
            </a:r>
            <a:endParaRPr lang="en-US" altLang="zh-CN" sz="3200" b="1" dirty="0"/>
          </a:p>
        </p:txBody>
      </p:sp>
      <p:sp>
        <p:nvSpPr>
          <p:cNvPr id="6" name="矩形 5"/>
          <p:cNvSpPr/>
          <p:nvPr/>
        </p:nvSpPr>
        <p:spPr>
          <a:xfrm>
            <a:off x="5705344" y="2141810"/>
            <a:ext cx="1257075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clues 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032567" y="3883731"/>
            <a:ext cx="6788150" cy="631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interpreted in many different ways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07819" y="5061822"/>
            <a:ext cx="3449603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dig up that plant 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38644" y="963719"/>
            <a:ext cx="11267934" cy="4819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3900" indent="-723900"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</a:rPr>
              <a:t>根据括号内所给的汉语提示完成下列句子。</a:t>
            </a:r>
            <a:endParaRPr lang="zh-CN" altLang="en-US" sz="3200" b="1" dirty="0">
              <a:solidFill>
                <a:srgbClr val="0000FF"/>
              </a:solidFill>
            </a:endParaRPr>
          </a:p>
          <a:p>
            <a:pPr marL="355600" indent="-355600">
              <a:lnSpc>
                <a:spcPct val="120000"/>
              </a:lnSpc>
            </a:pPr>
            <a:r>
              <a:rPr lang="en-US" altLang="zh-CN" sz="3200" b="1" dirty="0" smtClean="0"/>
              <a:t>1) _____________________ </a:t>
            </a:r>
            <a:r>
              <a:rPr lang="en-US" altLang="zh-CN" sz="3200" b="1" dirty="0"/>
              <a:t>(</a:t>
            </a:r>
            <a:r>
              <a:rPr lang="zh-CN" altLang="en-US" sz="3200" b="1" dirty="0"/>
              <a:t>需要极大的耐心</a:t>
            </a:r>
            <a:r>
              <a:rPr lang="en-US" altLang="zh-CN" sz="3200" b="1" dirty="0"/>
              <a:t>) for Annie to teach me to speak French. </a:t>
            </a:r>
            <a:endParaRPr lang="en-US" altLang="zh-CN" sz="3200" b="1" dirty="0"/>
          </a:p>
          <a:p>
            <a:pPr marL="355600" indent="-355600">
              <a:lnSpc>
                <a:spcPct val="120000"/>
              </a:lnSpc>
            </a:pPr>
            <a:r>
              <a:rPr lang="en-US" altLang="zh-CN" sz="3200" b="1" dirty="0" smtClean="0"/>
              <a:t>2) He </a:t>
            </a:r>
            <a:r>
              <a:rPr lang="en-US" altLang="zh-CN" sz="3200" b="1" dirty="0"/>
              <a:t>walked so slowly that his brother </a:t>
            </a:r>
            <a:r>
              <a:rPr lang="en-US" altLang="zh-CN" sz="3200" b="1" dirty="0" smtClean="0"/>
              <a:t>______________________________________ </a:t>
            </a:r>
            <a:r>
              <a:rPr lang="en-US" altLang="zh-CN" sz="3200" b="1" dirty="0"/>
              <a:t>(</a:t>
            </a:r>
            <a:r>
              <a:rPr lang="zh-CN" altLang="en-US" sz="3200" b="1" dirty="0"/>
              <a:t>对他不耐烦了</a:t>
            </a:r>
            <a:r>
              <a:rPr lang="en-US" altLang="zh-CN" sz="3200" b="1" dirty="0"/>
              <a:t>). </a:t>
            </a:r>
            <a:endParaRPr lang="zh-CN" altLang="en-US" sz="3200" b="1" dirty="0"/>
          </a:p>
          <a:p>
            <a:pPr marL="355600" indent="-355600">
              <a:lnSpc>
                <a:spcPct val="120000"/>
              </a:lnSpc>
            </a:pPr>
            <a:r>
              <a:rPr lang="en-US" altLang="zh-CN" sz="3200" b="1" dirty="0" smtClean="0"/>
              <a:t>3) </a:t>
            </a:r>
            <a:r>
              <a:rPr lang="en-US" altLang="zh-CN" sz="3200" b="1" dirty="0"/>
              <a:t>She was a lively young woman </a:t>
            </a:r>
            <a:r>
              <a:rPr lang="en-US" altLang="zh-CN" sz="3200" b="1" dirty="0" smtClean="0"/>
              <a:t>__________________________ </a:t>
            </a:r>
            <a:r>
              <a:rPr lang="en-US" altLang="zh-CN" sz="3200" b="1" dirty="0"/>
              <a:t>(</a:t>
            </a:r>
            <a:r>
              <a:rPr lang="zh-CN" altLang="en-US" sz="3200" b="1" dirty="0"/>
              <a:t>富有耐心和想象力</a:t>
            </a:r>
            <a:r>
              <a:rPr lang="en-US" altLang="zh-CN" sz="3200" b="1" dirty="0"/>
              <a:t>).</a:t>
            </a:r>
            <a:endParaRPr lang="zh-CN" altLang="en-US" sz="3200" b="1" dirty="0"/>
          </a:p>
        </p:txBody>
      </p:sp>
      <p:sp>
        <p:nvSpPr>
          <p:cNvPr id="8" name="矩形 7"/>
          <p:cNvSpPr/>
          <p:nvPr/>
        </p:nvSpPr>
        <p:spPr>
          <a:xfrm>
            <a:off x="984567" y="1478706"/>
            <a:ext cx="4372287" cy="6317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It </a:t>
            </a:r>
            <a:r>
              <a:rPr lang="en-US" altLang="zh-CN" sz="3200" b="1" dirty="0">
                <a:solidFill>
                  <a:srgbClr val="FF0000"/>
                </a:solidFill>
              </a:rPr>
              <a:t>takes great patience   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832167" y="3315247"/>
            <a:ext cx="7738016" cy="6317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lost </a:t>
            </a:r>
            <a:r>
              <a:rPr lang="en-US" altLang="zh-CN" sz="3200" b="1" dirty="0">
                <a:solidFill>
                  <a:srgbClr val="FF0000"/>
                </a:solidFill>
              </a:rPr>
              <a:t>patience / ran out of patience with him 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25590" y="4431177"/>
            <a:ext cx="5480988" cy="6317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with </a:t>
            </a:r>
            <a:r>
              <a:rPr lang="en-US" altLang="zh-CN" sz="3200" b="1" dirty="0">
                <a:solidFill>
                  <a:srgbClr val="FF0000"/>
                </a:solidFill>
              </a:rPr>
              <a:t>patience and imagination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08610" y="213360"/>
            <a:ext cx="1171448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 smtClean="0"/>
              <a:t>So </a:t>
            </a:r>
            <a:r>
              <a:rPr lang="en-US" altLang="zh-CN" sz="3200" b="1" dirty="0"/>
              <a:t>if you do not </a:t>
            </a:r>
            <a:r>
              <a:rPr lang="en-US" altLang="zh-CN" sz="3200" b="1" dirty="0">
                <a:solidFill>
                  <a:srgbClr val="FF0000"/>
                </a:solidFill>
              </a:rPr>
              <a:t>get </a:t>
            </a:r>
            <a:r>
              <a:rPr lang="en-US" altLang="zh-CN" sz="3200" b="1" dirty="0"/>
              <a:t>it, </a:t>
            </a:r>
            <a:r>
              <a:rPr lang="en-US" altLang="zh-CN" sz="3200" b="1" dirty="0">
                <a:solidFill>
                  <a:srgbClr val="FF0000"/>
                </a:solidFill>
              </a:rPr>
              <a:t>set</a:t>
            </a:r>
            <a:r>
              <a:rPr lang="en-US" altLang="zh-CN" sz="3200" b="1" dirty="0"/>
              <a:t> the poem </a:t>
            </a:r>
            <a:r>
              <a:rPr lang="en-US" altLang="zh-CN" sz="3200" b="1" dirty="0">
                <a:solidFill>
                  <a:srgbClr val="FF0000"/>
                </a:solidFill>
              </a:rPr>
              <a:t>aside </a:t>
            </a:r>
            <a:r>
              <a:rPr lang="en-US" altLang="zh-CN" sz="3200" b="1" dirty="0"/>
              <a:t>and come back to it later. </a:t>
            </a:r>
            <a:endParaRPr lang="en-US" altLang="zh-CN" sz="3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308610" y="895350"/>
            <a:ext cx="1171448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Try to 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set aside</a:t>
            </a:r>
            <a:r>
              <a:rPr lang="en-US" altLang="zh-CN" sz="3200" b="1" dirty="0">
                <a:sym typeface="+mn-ea"/>
              </a:rPr>
              <a:t> a few hours a week for exercise.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(spare)</a:t>
            </a:r>
            <a:endParaRPr lang="en-US" altLang="zh-CN" sz="3200" b="1" dirty="0" smtClean="0">
              <a:sym typeface="+mn-ea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 smtClean="0">
                <a:sym typeface="+mn-ea"/>
              </a:rPr>
              <a:t>She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pulled </a:t>
            </a:r>
            <a:r>
              <a:rPr lang="en-US" altLang="zh-CN" sz="3200" b="1" dirty="0">
                <a:sym typeface="+mn-ea"/>
              </a:rPr>
              <a:t>the curtain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aside</a:t>
            </a:r>
            <a:r>
              <a:rPr lang="en-US" altLang="zh-CN" sz="3200" b="1" dirty="0" smtClean="0">
                <a:sym typeface="+mn-ea"/>
              </a:rPr>
              <a:t>.</a:t>
            </a:r>
            <a:endParaRPr lang="en-US" altLang="zh-CN" sz="3200" b="1" dirty="0" smtClean="0"/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She wants to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put </a:t>
            </a:r>
            <a:r>
              <a:rPr lang="en-US" altLang="zh-CN" sz="3200" b="1" dirty="0">
                <a:sym typeface="+mn-ea"/>
              </a:rPr>
              <a:t>her pocket-money 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aside</a:t>
            </a:r>
            <a:r>
              <a:rPr lang="en-US" altLang="zh-CN" sz="3200" b="1" dirty="0">
                <a:sym typeface="+mn-ea"/>
              </a:rPr>
              <a:t> for holidays.</a:t>
            </a:r>
            <a:endParaRPr lang="en-US" altLang="zh-CN" sz="3200" b="1" dirty="0"/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Joe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stepped aside </a:t>
            </a:r>
            <a:r>
              <a:rPr lang="en-US" altLang="zh-CN" sz="3200" b="1" dirty="0">
                <a:sym typeface="+mn-ea"/>
              </a:rPr>
              <a:t>to let Jane go in first.</a:t>
            </a:r>
            <a:endParaRPr lang="en-US" altLang="zh-CN" sz="3200" b="1" dirty="0">
              <a:sym typeface="+mn-ea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She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took me aside</a:t>
            </a:r>
            <a:r>
              <a:rPr lang="en-US" altLang="zh-CN" sz="3200" b="1" dirty="0">
                <a:sym typeface="+mn-ea"/>
              </a:rPr>
              <a:t> to tell me the exciting news.</a:t>
            </a:r>
            <a:endParaRPr lang="en-US" altLang="zh-CN" sz="3200" b="1" dirty="0">
              <a:sym typeface="+mn-ea"/>
            </a:endParaRPr>
          </a:p>
          <a:p>
            <a:pPr marL="358775" indent="-358775">
              <a:lnSpc>
                <a:spcPct val="120000"/>
              </a:lnSpc>
            </a:pPr>
            <a:endParaRPr lang="en-US" altLang="zh-CN" sz="3200" b="1" dirty="0" smtClean="0">
              <a:sym typeface="+mn-ea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 smtClean="0">
                <a:sym typeface="+mn-ea"/>
              </a:rPr>
              <a:t>*I didn’t accept the job because it was badly paid and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aside from that</a:t>
            </a:r>
            <a:r>
              <a:rPr lang="en-US" altLang="zh-CN" sz="3200" b="1" dirty="0" smtClean="0">
                <a:sym typeface="+mn-ea"/>
              </a:rPr>
              <a:t>, it wasn’t interesting.</a:t>
            </a:r>
            <a:r>
              <a:rPr lang="en-US" altLang="zh-CN" sz="3200" b="1" dirty="0">
                <a:sym typeface="+mn-ea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(apart from)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603050405020304" charset="0"/>
              <a:ea typeface="+mj-ea"/>
              <a:cs typeface="Times New Roman Bold Italic" panose="0202060305040502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68489" y="893753"/>
            <a:ext cx="11040533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完成句子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Einstein liked Bose’s paper so much that he _____________ his own work and translated it into German. 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indent="-444500"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爱因斯坦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特别喜欢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Bose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的论文，于是他把自己的工作放在一边，把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Bose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的论文译成了德语。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___________________ time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do some mending jobs.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设法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留出时间做一些修修补补的活儿。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837788" y="1480383"/>
            <a:ext cx="2198512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aside   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8088" y="3791783"/>
            <a:ext cx="4179712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 and set aside   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6055" y="148590"/>
            <a:ext cx="12006580" cy="6348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224790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remote  </a:t>
            </a:r>
            <a:r>
              <a:rPr lang="en-US" altLang="zh-CN" sz="3200" b="1" i="1" dirty="0" smtClean="0">
                <a:solidFill>
                  <a:srgbClr val="FF0000"/>
                </a:solidFill>
                <a:sym typeface="+mn-ea"/>
              </a:rPr>
              <a:t>adj</a:t>
            </a:r>
            <a:r>
              <a:rPr lang="en-US" altLang="zh-CN" sz="3200" b="1" i="1" dirty="0">
                <a:solidFill>
                  <a:srgbClr val="FF0000"/>
                </a:solidFill>
                <a:sym typeface="+mn-ea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b="1" dirty="0">
                <a:sym typeface="+mn-ea"/>
              </a:rPr>
              <a:t>1)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far away from places where other people live</a:t>
            </a:r>
            <a:r>
              <a:rPr lang="en-US" altLang="zh-CN" sz="3200" b="1" dirty="0">
                <a:sym typeface="+mn-ea"/>
              </a:rPr>
              <a:t> </a:t>
            </a:r>
            <a:endParaRPr lang="en-US" altLang="zh-CN" sz="3200" b="1" dirty="0"/>
          </a:p>
          <a:p>
            <a:pPr indent="-2247900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             </a:t>
            </a:r>
            <a:r>
              <a:rPr lang="en-US" altLang="zh-CN" sz="3200" b="1" dirty="0" smtClean="0">
                <a:sym typeface="+mn-ea"/>
              </a:rPr>
              <a:t>             </a:t>
            </a:r>
            <a:r>
              <a:rPr lang="en-US" altLang="zh-CN" sz="3200" b="1" dirty="0" err="1" smtClean="0">
                <a:solidFill>
                  <a:srgbClr val="FF0000"/>
                </a:solidFill>
                <a:sym typeface="+mn-ea"/>
              </a:rPr>
              <a:t>偏远的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 sz="3200" b="1" dirty="0" err="1">
                <a:solidFill>
                  <a:srgbClr val="FF0000"/>
                </a:solidFill>
                <a:sym typeface="+mn-ea"/>
              </a:rPr>
              <a:t>偏僻的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indent="-2247900" fontAlgn="auto">
              <a:lnSpc>
                <a:spcPct val="120000"/>
              </a:lnSpc>
            </a:pPr>
            <a:r>
              <a:rPr lang="en-US" altLang="zh-CN" sz="3200" b="1" dirty="0" smtClean="0">
                <a:sym typeface="+mn-ea"/>
              </a:rPr>
              <a:t>                      2</a:t>
            </a:r>
            <a:r>
              <a:rPr lang="en-US" altLang="zh-CN" sz="3200" b="1" dirty="0">
                <a:sym typeface="+mn-ea"/>
              </a:rPr>
              <a:t>)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far away in time</a:t>
            </a:r>
            <a:r>
              <a:rPr lang="en-US" altLang="zh-CN" sz="3200" b="1" dirty="0">
                <a:sym typeface="+mn-ea"/>
              </a:rPr>
              <a:t> 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遥远的，久远的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indent="-2247900" fontAlgn="auto">
              <a:lnSpc>
                <a:spcPct val="120000"/>
              </a:lnSpc>
            </a:pPr>
            <a:r>
              <a:rPr lang="en-US" altLang="zh-CN" sz="3200" b="1" dirty="0" smtClean="0">
                <a:sym typeface="+mn-ea"/>
              </a:rPr>
              <a:t>                      3</a:t>
            </a:r>
            <a:r>
              <a:rPr lang="en-US" altLang="zh-CN" sz="3200" b="1" dirty="0">
                <a:sym typeface="+mn-ea"/>
              </a:rPr>
              <a:t>)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(of people) not closely related</a:t>
            </a:r>
            <a:r>
              <a:rPr lang="en-US" altLang="zh-CN" sz="3200" b="1" dirty="0">
                <a:sym typeface="+mn-ea"/>
              </a:rPr>
              <a:t> </a:t>
            </a:r>
            <a:r>
              <a:rPr lang="en-US" altLang="zh-CN" sz="3200" b="1" dirty="0" smtClean="0">
                <a:sym typeface="+mn-ea"/>
              </a:rPr>
              <a:t> </a:t>
            </a:r>
            <a:r>
              <a:rPr lang="zh-CN" altLang="en-US" sz="3200" b="1" dirty="0" smtClean="0">
                <a:solidFill>
                  <a:srgbClr val="FF0000"/>
                </a:solidFill>
                <a:sym typeface="+mn-ea"/>
              </a:rPr>
              <a:t>远亲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的</a:t>
            </a:r>
            <a:endParaRPr lang="zh-CN" altLang="en-US" sz="3200" b="1" dirty="0">
              <a:solidFill>
                <a:srgbClr val="FF0000"/>
              </a:solidFill>
              <a:sym typeface="+mn-ea"/>
            </a:endParaRPr>
          </a:p>
          <a:p>
            <a:pPr indent="-723900" fontAlgn="auto">
              <a:lnSpc>
                <a:spcPct val="120000"/>
              </a:lnSpc>
            </a:pPr>
            <a:r>
              <a:rPr lang="en-US" altLang="zh-CN" sz="3200" b="1" dirty="0" smtClean="0">
                <a:sym typeface="+mn-ea"/>
              </a:rPr>
              <a:t>The </a:t>
            </a:r>
            <a:r>
              <a:rPr lang="en-US" altLang="zh-CN" sz="3200" b="1" dirty="0">
                <a:sym typeface="+mn-ea"/>
              </a:rPr>
              <a:t>farmhouse is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remote from </a:t>
            </a:r>
            <a:r>
              <a:rPr lang="en-US" altLang="zh-CN" sz="3200" b="1" dirty="0">
                <a:sym typeface="+mn-ea"/>
              </a:rPr>
              <a:t>any other buildings</a:t>
            </a:r>
            <a:r>
              <a:rPr lang="en-US" altLang="zh-CN" sz="3200" b="1" dirty="0" smtClean="0">
                <a:sym typeface="+mn-ea"/>
              </a:rPr>
              <a:t>.</a:t>
            </a:r>
            <a:endParaRPr lang="en-US" altLang="zh-CN" sz="3200" b="1" dirty="0" smtClean="0"/>
          </a:p>
          <a:p>
            <a:pPr indent="-901700" fontAlgn="auto">
              <a:lnSpc>
                <a:spcPct val="120000"/>
              </a:lnSpc>
            </a:pPr>
            <a:r>
              <a:rPr lang="en-US" altLang="zh-CN" sz="3200" b="1" dirty="0" smtClean="0">
                <a:sym typeface="+mn-ea"/>
              </a:rPr>
              <a:t>It </a:t>
            </a:r>
            <a:r>
              <a:rPr lang="en-US" altLang="zh-CN" sz="3200" b="1" dirty="0">
                <a:sym typeface="+mn-ea"/>
              </a:rPr>
              <a:t>happened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in the remote past</a:t>
            </a:r>
            <a:r>
              <a:rPr lang="en-US" altLang="zh-CN" sz="3200" b="1" dirty="0">
                <a:sym typeface="+mn-ea"/>
              </a:rPr>
              <a:t>, so no one worries about it any more. </a:t>
            </a:r>
            <a:endParaRPr lang="en-US" altLang="zh-CN" sz="3200" b="1" dirty="0" smtClean="0"/>
          </a:p>
          <a:p>
            <a:pPr indent="-723900" fontAlgn="auto">
              <a:lnSpc>
                <a:spcPct val="120000"/>
              </a:lnSpc>
            </a:pPr>
            <a:r>
              <a:rPr lang="en-US" altLang="zh-CN" sz="3200" b="1" dirty="0" smtClean="0">
                <a:sym typeface="+mn-ea"/>
              </a:rPr>
              <a:t>a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remote</a:t>
            </a:r>
            <a:r>
              <a:rPr lang="en-US" altLang="zh-CN" sz="3200" b="1" dirty="0">
                <a:sym typeface="+mn-ea"/>
              </a:rPr>
              <a:t> cousin</a:t>
            </a:r>
            <a:endParaRPr lang="en-US" altLang="zh-CN" sz="3200" b="1" dirty="0" smtClean="0"/>
          </a:p>
          <a:p>
            <a:pPr indent="-723900" fontAlgn="auto">
              <a:lnSpc>
                <a:spcPct val="120000"/>
              </a:lnSpc>
            </a:pPr>
            <a:endParaRPr lang="en-US" altLang="zh-CN" sz="3200" b="1" dirty="0" smtClean="0"/>
          </a:p>
          <a:p>
            <a:pPr indent="-723900" fontAlgn="auto">
              <a:lnSpc>
                <a:spcPct val="120000"/>
              </a:lnSpc>
            </a:pPr>
            <a:endParaRPr lang="en-US" altLang="zh-CN" sz="3200" b="1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28600" y="210608"/>
            <a:ext cx="11305258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rgbClr val="FF0000"/>
                </a:solidFill>
              </a:rPr>
              <a:t>make (your) great discovery</a:t>
            </a:r>
            <a:r>
              <a:rPr lang="en-US" altLang="zh-CN" sz="3200" b="1" dirty="0"/>
              <a:t> </a:t>
            </a:r>
            <a:r>
              <a:rPr lang="zh-CN" altLang="en-US" sz="3200" b="1" dirty="0"/>
              <a:t>有重大发现</a:t>
            </a:r>
            <a:endParaRPr lang="zh-CN" altLang="en-US" sz="3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228882" y="1089958"/>
            <a:ext cx="11097613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reward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b="1" i="1" dirty="0" err="1" smtClean="0">
                <a:solidFill>
                  <a:srgbClr val="FF0000"/>
                </a:solidFill>
                <a:sym typeface="+mn-ea"/>
              </a:rPr>
              <a:t>vt</a:t>
            </a:r>
            <a:r>
              <a:rPr lang="en-US" altLang="zh-CN" sz="3200" b="1" i="1" dirty="0" err="1">
                <a:solidFill>
                  <a:srgbClr val="FF0000"/>
                </a:solidFill>
                <a:sym typeface="+mn-ea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to give </a:t>
            </a:r>
            <a:r>
              <a:rPr lang="en-US" altLang="zh-CN" sz="3200" b="1" i="1" dirty="0" err="1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sth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to </a:t>
            </a:r>
            <a:r>
              <a:rPr lang="en-US" altLang="zh-CN" sz="3200" b="1" i="1" dirty="0" err="1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sb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because they have done </a:t>
            </a:r>
            <a:r>
              <a:rPr lang="en-US" altLang="zh-CN" sz="3200" b="1" i="1" dirty="0" err="1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sth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good, worked hard, </a:t>
            </a:r>
            <a:r>
              <a:rPr lang="en-US" altLang="zh-CN" sz="3200" b="1" i="1" dirty="0" err="1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etc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</a:t>
            </a:r>
            <a:r>
              <a:rPr lang="zh-CN" altLang="en-US" sz="3200" b="1" dirty="0" smtClean="0">
                <a:solidFill>
                  <a:srgbClr val="FF0000"/>
                </a:solidFill>
                <a:sym typeface="+mn-ea"/>
              </a:rPr>
              <a:t>奖励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，奖赏</a:t>
            </a:r>
            <a:endParaRPr lang="zh-CN" altLang="en-US" sz="3200" b="1" dirty="0">
              <a:solidFill>
                <a:srgbClr val="FF0000"/>
              </a:solidFill>
              <a:sym typeface="+mn-ea"/>
            </a:endParaRPr>
          </a:p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reward </a:t>
            </a:r>
            <a:r>
              <a:rPr lang="en-US" altLang="zh-CN" sz="3200" b="1" dirty="0" err="1" smtClean="0">
                <a:solidFill>
                  <a:srgbClr val="FF0000"/>
                </a:solidFill>
                <a:sym typeface="+mn-ea"/>
              </a:rPr>
              <a:t>sb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 with sth for (doing) </a:t>
            </a:r>
            <a:r>
              <a:rPr lang="en-US" altLang="zh-CN" sz="3200" b="1" dirty="0" err="1" smtClean="0">
                <a:solidFill>
                  <a:srgbClr val="FF0000"/>
                </a:solidFill>
                <a:sym typeface="+mn-ea"/>
              </a:rPr>
              <a:t>sth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sz="3200" b="1" dirty="0" smtClean="0">
                <a:solidFill>
                  <a:schemeClr val="tx1"/>
                </a:solidFill>
                <a:sym typeface="+mn-ea"/>
              </a:rPr>
              <a:t>用……为……而奖赏某人</a:t>
            </a:r>
            <a:endParaRPr lang="en-US" altLang="zh-CN" sz="3200" b="1" dirty="0" smtClean="0"/>
          </a:p>
          <a:p>
            <a:pPr marL="901700" indent="-9017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 smtClean="0"/>
              <a:t>She </a:t>
            </a:r>
            <a:r>
              <a:rPr lang="en-US" altLang="zh-CN" sz="3200" b="1" dirty="0"/>
              <a:t>started singing to the baby and was </a:t>
            </a:r>
            <a:r>
              <a:rPr lang="en-US" altLang="zh-CN" sz="3200" b="1" dirty="0">
                <a:solidFill>
                  <a:srgbClr val="FF0000"/>
                </a:solidFill>
              </a:rPr>
              <a:t>rewarded with </a:t>
            </a:r>
            <a:r>
              <a:rPr lang="en-US" altLang="zh-CN" sz="3200" b="1" dirty="0"/>
              <a:t>a smile</a:t>
            </a:r>
            <a:r>
              <a:rPr lang="en-US" altLang="zh-CN" sz="3200" b="1" dirty="0" smtClean="0"/>
              <a:t>.</a:t>
            </a:r>
            <a:endParaRPr lang="en-US" altLang="zh-CN" sz="3200" b="1" dirty="0" smtClean="0"/>
          </a:p>
          <a:p>
            <a:pPr marL="723900" indent="-7239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 smtClean="0">
                <a:sym typeface="+mn-ea"/>
              </a:rPr>
              <a:t>He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rewarded</a:t>
            </a:r>
            <a:r>
              <a:rPr lang="en-US" altLang="zh-CN" sz="3200" b="1" dirty="0" smtClean="0">
                <a:sym typeface="+mn-ea"/>
              </a:rPr>
              <a:t> us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for helping </a:t>
            </a:r>
            <a:r>
              <a:rPr lang="en-US" altLang="zh-CN" sz="3200" b="1" dirty="0" smtClean="0">
                <a:sym typeface="+mn-ea"/>
              </a:rPr>
              <a:t>him.</a:t>
            </a:r>
            <a:endParaRPr lang="en-US" altLang="zh-CN" sz="3200" b="1" dirty="0" smtClean="0">
              <a:sym typeface="+mn-ea"/>
            </a:endParaRPr>
          </a:p>
          <a:p>
            <a:pPr marL="723900" indent="-7239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sym typeface="+mn-ea"/>
              </a:rPr>
              <a:t>慷慨的人被报以更多的</a:t>
            </a:r>
            <a:r>
              <a:rPr lang="zh-CN" altLang="en-US" sz="3200" b="1" dirty="0">
                <a:sym typeface="+mn-ea"/>
              </a:rPr>
              <a:t>快乐。</a:t>
            </a:r>
            <a:endParaRPr lang="zh-CN" altLang="en-US" sz="3200" b="1" dirty="0">
              <a:sym typeface="+mn-ea"/>
            </a:endParaRPr>
          </a:p>
          <a:p>
            <a:pPr marL="723900" indent="-7239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Generous people are rewarded with more happiness.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7635" y="207010"/>
            <a:ext cx="12064365" cy="3654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marL="723900" indent="-723900">
              <a:lnSpc>
                <a:spcPct val="120000"/>
              </a:lnSpc>
              <a:defRPr sz="3200" b="1"/>
            </a:lvl1pPr>
          </a:lstStyle>
          <a:p>
            <a:pPr marL="0" indent="-24257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reward 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i="1" dirty="0" smtClean="0">
                <a:solidFill>
                  <a:srgbClr val="FF0000"/>
                </a:solidFill>
                <a:sym typeface="+mn-ea"/>
              </a:rPr>
              <a:t>n.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dirty="0">
                <a:sym typeface="+mn-ea"/>
              </a:rPr>
              <a:t> </a:t>
            </a:r>
            <a:r>
              <a:rPr lang="en-US" altLang="zh-CN" dirty="0" smtClean="0">
                <a:sym typeface="+mn-ea"/>
              </a:rPr>
              <a:t>1)  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奖励，回报</a:t>
            </a:r>
            <a:endParaRPr lang="en-US" altLang="zh-CN" b="1" dirty="0" smtClean="0">
              <a:solidFill>
                <a:srgbClr val="FF0000"/>
              </a:solidFill>
              <a:sym typeface="+mn-ea"/>
            </a:endParaRPr>
          </a:p>
          <a:p>
            <a:pPr marL="0" indent="-24257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>
                <a:sym typeface="+mn-ea"/>
              </a:rPr>
              <a:t>                    2)  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悬赏金</a:t>
            </a:r>
            <a:endParaRPr lang="en-US" altLang="zh-CN" dirty="0" smtClean="0"/>
          </a:p>
          <a:p>
            <a:pPr marL="0" indent="-990600" fontAlgn="auto"/>
            <a:r>
              <a:rPr lang="en-US" altLang="zh-CN" dirty="0" smtClean="0"/>
              <a:t>Several </a:t>
            </a:r>
            <a:r>
              <a:rPr lang="en-US" altLang="zh-CN" dirty="0"/>
              <a:t>of the parents were </a:t>
            </a:r>
            <a:r>
              <a:rPr lang="en-US" altLang="zh-CN" u="sng" dirty="0">
                <a:solidFill>
                  <a:srgbClr val="FF0000"/>
                </a:solidFill>
              </a:rPr>
              <a:t>giving their children rewards for</a:t>
            </a:r>
            <a:r>
              <a:rPr lang="en-US" altLang="zh-CN" dirty="0"/>
              <a:t> passing exams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marL="0" indent="-990600" fontAlgn="auto"/>
            <a:r>
              <a:rPr lang="en-US" altLang="zh-CN" dirty="0" smtClean="0"/>
              <a:t>A </a:t>
            </a:r>
            <a:r>
              <a:rPr lang="en-US" altLang="zh-CN" dirty="0"/>
              <a:t>£100 </a:t>
            </a:r>
            <a:r>
              <a:rPr lang="en-US" altLang="zh-CN" dirty="0">
                <a:solidFill>
                  <a:srgbClr val="FF0000"/>
                </a:solidFill>
              </a:rPr>
              <a:t>reward</a:t>
            </a:r>
            <a:r>
              <a:rPr lang="en-US" altLang="zh-CN" dirty="0"/>
              <a:t> has been offered for the return of the necklace.</a:t>
            </a:r>
            <a:endParaRPr lang="en-US" altLang="zh-CN" dirty="0"/>
          </a:p>
          <a:p>
            <a:pPr marL="0" indent="-990600" fontAlgn="auto"/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give/offer a reward to sb for sth </a:t>
            </a:r>
            <a:r>
              <a:rPr lang="zh-CN" altLang="en-US" dirty="0">
                <a:solidFill>
                  <a:schemeClr val="tx1"/>
                </a:solidFill>
              </a:rPr>
              <a:t>为某事而给某人报酬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-990600" fontAlgn="auto"/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in reward for sth = as a reward for sth </a:t>
            </a:r>
            <a:r>
              <a:rPr lang="zh-CN" altLang="en-US" dirty="0">
                <a:solidFill>
                  <a:schemeClr val="tx1"/>
                </a:solidFill>
              </a:rPr>
              <a:t>作为（对……）奖励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20195" y="1110003"/>
            <a:ext cx="10934771" cy="681990"/>
          </a:xfrm>
          <a:prstGeom prst="rect">
            <a:avLst/>
          </a:pr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2425700" indent="-24257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re</a:t>
            </a:r>
            <a:r>
              <a:rPr lang="en-US" sz="3200" b="1" dirty="0">
                <a:solidFill>
                  <a:srgbClr val="FF0000"/>
                </a:solidFill>
                <a:sym typeface="+mn-ea"/>
              </a:rPr>
              <a:t>warding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adj. </a:t>
            </a:r>
            <a:r>
              <a:rPr lang="en-US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sth worth doing.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值得做的，有益的；报酬高的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  <a:sym typeface="+mn-ea"/>
            </a:endParaRPr>
          </a:p>
        </p:txBody>
      </p:sp>
      <p:sp>
        <p:nvSpPr>
          <p:cNvPr id="2" name="文本框 3"/>
          <p:cNvSpPr txBox="1"/>
          <p:nvPr/>
        </p:nvSpPr>
        <p:spPr>
          <a:xfrm>
            <a:off x="627027" y="2018946"/>
            <a:ext cx="11305258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723900" indent="-723900">
              <a:lnSpc>
                <a:spcPct val="120000"/>
              </a:lnSpc>
              <a:defRPr sz="3200" b="1"/>
            </a:lvl1pPr>
          </a:lstStyle>
          <a:p>
            <a:pPr marL="990600" indent="-990600"/>
            <a:r>
              <a:rPr lang="zh-CN" altLang="en-US" dirty="0">
                <a:solidFill>
                  <a:schemeClr val="tx1"/>
                </a:solidFill>
              </a:rPr>
              <a:t>当被问及对教学工作的看法时，菲利普说它既</a:t>
            </a:r>
            <a:r>
              <a:rPr lang="zh-CN" altLang="en-US" dirty="0">
                <a:solidFill>
                  <a:schemeClr val="tx1"/>
                </a:solidFill>
              </a:rPr>
              <a:t>有趣又有</a:t>
            </a:r>
            <a:r>
              <a:rPr lang="zh-CN" altLang="en-US" dirty="0">
                <a:solidFill>
                  <a:schemeClr val="tx1"/>
                </a:solidFill>
              </a:rPr>
              <a:t>意义。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 fontAlgn="auto"/>
            <a:r>
              <a:rPr lang="en-US" altLang="zh-CN" dirty="0">
                <a:solidFill>
                  <a:schemeClr val="tx1"/>
                </a:solidFill>
              </a:rPr>
              <a:t>When ______ for his views about his teaching job, Philip said he found it very ________________________.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854200" y="2658110"/>
            <a:ext cx="117665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asked</a:t>
            </a:r>
            <a:endParaRPr lang="en-US" altLang="zh-CN" sz="3200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122295" y="3137535"/>
            <a:ext cx="469836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interesting and rewarding</a:t>
            </a:r>
            <a:endParaRPr lang="en-US" altLang="zh-CN" sz="3200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5" grpId="1"/>
      <p:bldP spid="6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91770" y="380365"/>
            <a:ext cx="11696065" cy="5502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汉译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英。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警方正在出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美元赏金悬赏有关那起抢劫案的消息</a:t>
            </a:r>
            <a:r>
              <a:rPr lang="zh-CN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作为对他通过考试的</a:t>
            </a:r>
            <a:r>
              <a:rPr lang="zh-CN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奖赏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父母亲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送给他一块新的手表</a:t>
            </a:r>
            <a:r>
              <a:rPr lang="zh-CN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对于他的</a:t>
            </a:r>
            <a:r>
              <a:rPr lang="zh-CN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帮助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我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会酬谢他的</a:t>
            </a:r>
            <a:r>
              <a:rPr lang="zh-CN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我不指望得到任何东西作为报酬</a:t>
            </a:r>
            <a:r>
              <a:rPr lang="zh-CN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599" y="1492444"/>
            <a:ext cx="11277601" cy="4961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police are offering a $300 reward for information about the robbery.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reward for his passing the examination, his parents gave him a new watch.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shall reward him for his help.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don’t expect anything in reward.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48403" y="144"/>
            <a:ext cx="10934771" cy="681990"/>
          </a:xfrm>
          <a:prstGeom prst="rect">
            <a:avLst/>
          </a:pr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constantly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b="1" i="1" dirty="0" smtClean="0">
                <a:solidFill>
                  <a:srgbClr val="FF0000"/>
                </a:solidFill>
                <a:sym typeface="+mn-ea"/>
              </a:rPr>
              <a:t>adv</a:t>
            </a:r>
            <a:r>
              <a:rPr lang="en-US" altLang="zh-CN" sz="3200" b="1" i="1" dirty="0">
                <a:solidFill>
                  <a:srgbClr val="FF0000"/>
                </a:solidFill>
                <a:sym typeface="+mn-ea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all the time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; repeatedly</a:t>
            </a:r>
            <a:r>
              <a:rPr lang="en-US" altLang="zh-CN" sz="3200" b="1" dirty="0"/>
              <a:t>  </a:t>
            </a:r>
            <a:r>
              <a:rPr lang="en-US" altLang="zh-CN" sz="3200" b="1" dirty="0" err="1" smtClean="0">
                <a:solidFill>
                  <a:srgbClr val="FF0000"/>
                </a:solidFill>
                <a:sym typeface="+mn-ea"/>
              </a:rPr>
              <a:t>始终</a:t>
            </a:r>
            <a:r>
              <a:rPr lang="zh-CN" altLang="en-US" sz="3200" b="1" dirty="0" smtClean="0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 sz="3200" b="1" dirty="0" err="1" smtClean="0">
                <a:solidFill>
                  <a:srgbClr val="FF0000"/>
                </a:solidFill>
                <a:sym typeface="+mn-ea"/>
              </a:rPr>
              <a:t>一直</a:t>
            </a:r>
            <a:endParaRPr lang="en-US" altLang="zh-CN" sz="3200" b="1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8615" y="681990"/>
            <a:ext cx="1150048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723900" indent="-723900">
              <a:lnSpc>
                <a:spcPct val="120000"/>
              </a:lnSpc>
              <a:defRPr sz="3200" b="1"/>
            </a:lvl1pPr>
          </a:lstStyle>
          <a:p>
            <a:pPr marL="0" fontAlgn="auto"/>
            <a:r>
              <a:rPr lang="en-US" altLang="zh-CN" dirty="0" smtClean="0"/>
              <a:t>Fashion </a:t>
            </a:r>
            <a:r>
              <a:rPr lang="en-US" altLang="zh-CN" dirty="0"/>
              <a:t>is </a:t>
            </a:r>
            <a:r>
              <a:rPr lang="en-US" altLang="zh-CN" dirty="0">
                <a:solidFill>
                  <a:srgbClr val="FF0000"/>
                </a:solidFill>
              </a:rPr>
              <a:t>constantly</a:t>
            </a:r>
            <a:r>
              <a:rPr lang="en-US" altLang="zh-CN" dirty="0"/>
              <a:t> changing.</a:t>
            </a:r>
            <a:endParaRPr lang="en-US" altLang="zh-CN" dirty="0"/>
          </a:p>
          <a:p>
            <a:pPr marL="0" fontAlgn="auto"/>
            <a:r>
              <a:rPr lang="en-US" altLang="zh-CN" dirty="0" smtClean="0"/>
              <a:t>He </a:t>
            </a:r>
            <a:r>
              <a:rPr lang="en-US" altLang="zh-CN" dirty="0"/>
              <a:t>talked </a:t>
            </a:r>
            <a:r>
              <a:rPr lang="en-US" altLang="zh-CN" dirty="0">
                <a:solidFill>
                  <a:srgbClr val="FF0000"/>
                </a:solidFill>
              </a:rPr>
              <a:t>constantly</a:t>
            </a:r>
            <a:r>
              <a:rPr lang="en-US" altLang="zh-CN" dirty="0"/>
              <a:t> about his work.</a:t>
            </a:r>
            <a:endParaRPr lang="en-US" altLang="zh-CN" dirty="0"/>
          </a:p>
          <a:p>
            <a:pPr marL="0" fontAlgn="auto"/>
            <a:endParaRPr lang="zh-CN" altLang="en-US" dirty="0"/>
          </a:p>
          <a:p>
            <a:pPr marL="0" indent="-450850" fontAlgn="auto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constant 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i="1" dirty="0" smtClean="0">
                <a:solidFill>
                  <a:srgbClr val="FF0000"/>
                </a:solidFill>
                <a:sym typeface="+mn-ea"/>
              </a:rPr>
              <a:t>adj</a:t>
            </a:r>
            <a:r>
              <a:rPr lang="en-US" altLang="zh-CN" i="1" dirty="0">
                <a:solidFill>
                  <a:srgbClr val="FF0000"/>
                </a:solidFill>
                <a:sym typeface="+mn-ea"/>
              </a:rPr>
              <a:t>.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pPr marL="0" indent="-450850" fontAlgn="auto">
              <a:lnSpc>
                <a:spcPct val="120000"/>
              </a:lnSpc>
            </a:pPr>
            <a:r>
              <a:rPr lang="en-US" altLang="zh-CN" dirty="0">
                <a:sym typeface="+mn-ea"/>
              </a:rPr>
              <a:t>1) </a:t>
            </a:r>
            <a:r>
              <a:rPr lang="en-US" altLang="zh-CN" i="1" dirty="0" smtClean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happening </a:t>
            </a:r>
            <a:r>
              <a:rPr lang="en-US" altLang="zh-CN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all the time or repeatedly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 smtClean="0">
                <a:solidFill>
                  <a:srgbClr val="FF0000"/>
                </a:solidFill>
                <a:sym typeface="+mn-ea"/>
              </a:rPr>
              <a:t>连续发生的；不断的</a:t>
            </a:r>
            <a:endParaRPr lang="en-US" altLang="zh-CN" dirty="0" err="1" smtClean="0">
              <a:solidFill>
                <a:srgbClr val="FF0000"/>
              </a:solidFill>
              <a:sym typeface="+mn-ea"/>
            </a:endParaRPr>
          </a:p>
          <a:p>
            <a:pPr marL="0" indent="-450850" fontAlgn="auto">
              <a:lnSpc>
                <a:spcPct val="120000"/>
              </a:lnSpc>
            </a:pPr>
            <a:r>
              <a:rPr lang="en-US" altLang="zh-CN" dirty="0" smtClean="0">
                <a:sym typeface="+mn-ea"/>
              </a:rPr>
              <a:t>2) </a:t>
            </a:r>
            <a:r>
              <a:rPr lang="en-US" altLang="zh-CN" i="1" dirty="0" smtClean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that </a:t>
            </a:r>
            <a:r>
              <a:rPr lang="en-US" altLang="zh-CN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does </a:t>
            </a:r>
            <a:r>
              <a:rPr lang="en-US" altLang="zh-CN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not change</a:t>
            </a:r>
            <a:r>
              <a:rPr lang="en-US" altLang="zh-CN" dirty="0">
                <a:sym typeface="+mn-ea"/>
              </a:rPr>
              <a:t>  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始终如一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的，恒久不变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的</a:t>
            </a:r>
            <a:endParaRPr lang="zh-CN" altLang="en-US" dirty="0" smtClean="0">
              <a:solidFill>
                <a:srgbClr val="FF0000"/>
              </a:solidFill>
              <a:sym typeface="+mn-ea"/>
            </a:endParaRPr>
          </a:p>
          <a:p>
            <a:pPr marL="0" indent="-987425" fontAlgn="auto"/>
            <a:r>
              <a:rPr lang="en-US" altLang="zh-CN" dirty="0" smtClean="0">
                <a:sym typeface="+mn-ea"/>
              </a:rPr>
              <a:t>He </a:t>
            </a:r>
            <a:r>
              <a:rPr lang="en-US" altLang="zh-CN" dirty="0">
                <a:sym typeface="+mn-ea"/>
              </a:rPr>
              <a:t>kept in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constant</a:t>
            </a:r>
            <a:r>
              <a:rPr lang="en-US" altLang="zh-CN" dirty="0">
                <a:sym typeface="+mn-ea"/>
              </a:rPr>
              <a:t> contact with his family while he was in Australia</a:t>
            </a:r>
            <a:r>
              <a:rPr lang="en-US" altLang="zh-CN" dirty="0" smtClean="0">
                <a:sym typeface="+mn-ea"/>
              </a:rPr>
              <a:t>.</a:t>
            </a:r>
            <a:endParaRPr lang="en-US" altLang="zh-CN" dirty="0" smtClean="0"/>
          </a:p>
          <a:p>
            <a:pPr marL="0" indent="-450850" fontAlgn="auto">
              <a:lnSpc>
                <a:spcPct val="120000"/>
              </a:lnSpc>
            </a:pPr>
            <a:r>
              <a:rPr lang="en-US" altLang="zh-CN" dirty="0" smtClean="0">
                <a:sym typeface="+mn-ea"/>
              </a:rPr>
              <a:t>The </a:t>
            </a:r>
            <a:r>
              <a:rPr lang="en-US" altLang="zh-CN" dirty="0">
                <a:sym typeface="+mn-ea"/>
              </a:rPr>
              <a:t>fridge keeps food at a 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constant</a:t>
            </a:r>
            <a:r>
              <a:rPr lang="en-US" altLang="zh-CN" dirty="0">
                <a:sym typeface="+mn-ea"/>
              </a:rPr>
              <a:t> temperature</a:t>
            </a:r>
            <a:r>
              <a:rPr lang="en-US" altLang="zh-CN" dirty="0" smtClean="0">
                <a:sym typeface="+mn-ea"/>
              </a:rPr>
              <a:t>.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28838" y="1523506"/>
            <a:ext cx="10548762" cy="2456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  <a:ea typeface="宋体" pitchFamily="2" charset="-122"/>
              </a:rPr>
              <a:t>【</a:t>
            </a:r>
            <a:r>
              <a:rPr lang="zh-CN" altLang="en-US" sz="3200" b="1" dirty="0" smtClean="0">
                <a:solidFill>
                  <a:srgbClr val="0000FF"/>
                </a:solidFill>
                <a:ea typeface="宋体" pitchFamily="2" charset="-122"/>
              </a:rPr>
              <a:t>语境应用</a:t>
            </a:r>
            <a:r>
              <a:rPr lang="en-US" altLang="zh-CN" sz="3200" b="1" dirty="0" smtClean="0">
                <a:solidFill>
                  <a:srgbClr val="0000FF"/>
                </a:solidFill>
                <a:ea typeface="宋体" pitchFamily="2" charset="-122"/>
              </a:rPr>
              <a:t>】</a:t>
            </a:r>
            <a:r>
              <a:rPr lang="zh-CN" altLang="en-US" sz="3200" b="1" dirty="0" smtClean="0">
                <a:solidFill>
                  <a:srgbClr val="0000FF"/>
                </a:solidFill>
                <a:ea typeface="宋体" pitchFamily="2" charset="-122"/>
              </a:rPr>
              <a:t>单句语法填空。</a:t>
            </a:r>
            <a:endParaRPr lang="en-US" altLang="zh-CN" sz="3200" b="1" dirty="0" smtClean="0">
              <a:solidFill>
                <a:srgbClr val="0000FF"/>
              </a:solidFill>
              <a:ea typeface="宋体" pitchFamily="2" charset="-122"/>
            </a:endParaRP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en-US" altLang="zh-CN" sz="3200" b="1" dirty="0" smtClean="0">
                <a:ea typeface="宋体" pitchFamily="2" charset="-122"/>
                <a:sym typeface="+mn-ea"/>
              </a:rPr>
              <a:t>The direction of the wind is ____________ (constant) changing.</a:t>
            </a:r>
            <a:endParaRPr lang="en-US" altLang="zh-CN" sz="3200" b="1" dirty="0" smtClean="0">
              <a:ea typeface="宋体" pitchFamily="2" charset="-122"/>
              <a:sym typeface="+mn-ea"/>
            </a:endParaRP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en-US" altLang="zh-CN" sz="3200" b="1" dirty="0">
                <a:ea typeface="宋体" pitchFamily="2" charset="-122"/>
              </a:rPr>
              <a:t>Babies need </a:t>
            </a:r>
            <a:r>
              <a:rPr lang="en-US" altLang="zh-CN" sz="3200" b="1" dirty="0" smtClean="0">
                <a:ea typeface="宋体" pitchFamily="2" charset="-122"/>
              </a:rPr>
              <a:t>___________ </a:t>
            </a:r>
            <a:r>
              <a:rPr lang="en-US" altLang="zh-CN" sz="3200" b="1" dirty="0">
                <a:ea typeface="宋体" pitchFamily="2" charset="-122"/>
                <a:sym typeface="+mn-ea"/>
              </a:rPr>
              <a:t>(constant) </a:t>
            </a:r>
            <a:r>
              <a:rPr lang="en-US" altLang="zh-CN" sz="3200" b="1" dirty="0">
                <a:ea typeface="宋体" pitchFamily="2" charset="-122"/>
              </a:rPr>
              <a:t>attention.</a:t>
            </a:r>
            <a:endParaRPr lang="en-US" altLang="zh-CN" sz="3200" b="1" dirty="0">
              <a:ea typeface="宋体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02147" y="2050937"/>
            <a:ext cx="2030654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 smtClean="0">
                <a:solidFill>
                  <a:srgbClr val="FF0000"/>
                </a:solidFill>
              </a:rPr>
              <a:t>constantly</a:t>
            </a:r>
            <a:endParaRPr sz="32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728121" y="3246252"/>
            <a:ext cx="2030654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 smtClean="0">
                <a:solidFill>
                  <a:srgbClr val="FF0000"/>
                </a:solidFill>
              </a:rPr>
              <a:t>constant</a:t>
            </a:r>
            <a:endParaRPr sz="3200" b="1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12192000" cy="6729095"/>
          </a:xfrm>
          <a:prstGeom prst="rect">
            <a:avLst/>
          </a:pr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rgbClr val="FF0000"/>
                </a:solidFill>
              </a:rPr>
              <a:t>perceive </a:t>
            </a:r>
            <a:r>
              <a:rPr lang="en-US" altLang="zh-CN" sz="3200" b="1" i="1" dirty="0" err="1">
                <a:solidFill>
                  <a:srgbClr val="FF0000"/>
                </a:solidFill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3200" b="1" dirty="0"/>
              <a:t>1)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notice or become aware of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 </a:t>
            </a:r>
            <a:r>
              <a:rPr lang="en-US" altLang="zh-CN" sz="3200" b="1" i="1" dirty="0" err="1">
                <a:latin typeface="Times New Roman Bold Italic" panose="02020603050405020304" charset="0"/>
                <a:cs typeface="Times New Roman Bold Italic" panose="02020603050405020304" charset="0"/>
              </a:rPr>
              <a:t>sth</a:t>
            </a:r>
            <a:r>
              <a:rPr lang="en-US" altLang="zh-CN" sz="3200" b="1" dirty="0"/>
              <a:t> </a:t>
            </a:r>
            <a:endParaRPr lang="en-US" altLang="zh-CN" sz="3200" b="1" dirty="0"/>
          </a:p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 smtClean="0">
                <a:solidFill>
                  <a:srgbClr val="FF0000"/>
                </a:solidFill>
              </a:rPr>
              <a:t>                         注意</a:t>
            </a:r>
            <a:r>
              <a:rPr lang="zh-CN" altLang="en-US" sz="3200" b="1" dirty="0">
                <a:solidFill>
                  <a:srgbClr val="FF0000"/>
                </a:solidFill>
              </a:rPr>
              <a:t>到，意识到，察觉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到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marL="2514600" indent="-25146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 smtClean="0"/>
              <a:t>                     2</a:t>
            </a:r>
            <a:r>
              <a:rPr lang="en-US" altLang="zh-CN" sz="3200" b="1" dirty="0"/>
              <a:t>) </a:t>
            </a:r>
            <a:r>
              <a:rPr lang="en-US" altLang="zh-CN" sz="3200" b="1" i="1" dirty="0" err="1">
                <a:latin typeface="Times New Roman Bold Italic" panose="02020603050405020304" charset="0"/>
                <a:cs typeface="Times New Roman Bold Italic" panose="02020603050405020304" charset="0"/>
              </a:rPr>
              <a:t>to </a:t>
            </a:r>
            <a:r>
              <a:rPr lang="en-US" altLang="zh-CN" sz="3200" b="1" i="1" dirty="0" err="1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understand or see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 </a:t>
            </a:r>
            <a:r>
              <a:rPr lang="en-US" altLang="zh-CN" sz="3200" b="1" i="1" dirty="0" err="1">
                <a:latin typeface="Times New Roman Bold Italic" panose="02020603050405020304" charset="0"/>
                <a:cs typeface="Times New Roman Bold Italic" panose="02020603050405020304" charset="0"/>
              </a:rPr>
              <a:t>sb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/</a:t>
            </a:r>
            <a:r>
              <a:rPr lang="en-US" altLang="zh-CN" sz="3200" b="1" i="1" dirty="0" err="1">
                <a:latin typeface="Times New Roman Bold Italic" panose="02020603050405020304" charset="0"/>
                <a:cs typeface="Times New Roman Bold Italic" panose="02020603050405020304" charset="0"/>
              </a:rPr>
              <a:t>sth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 in a particular way</a:t>
            </a:r>
            <a:r>
              <a:rPr lang="en-US" altLang="zh-CN" sz="3200" b="1" dirty="0"/>
              <a:t>  </a:t>
            </a:r>
            <a:r>
              <a:rPr lang="en-US" altLang="zh-CN" sz="3200" b="1" dirty="0" smtClean="0"/>
              <a:t>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将</a:t>
            </a:r>
            <a:r>
              <a:rPr lang="en-US" altLang="zh-CN" sz="3200" b="1" dirty="0">
                <a:solidFill>
                  <a:srgbClr val="FF0000"/>
                </a:solidFill>
                <a:latin typeface="+mj-ea"/>
                <a:ea typeface="+mj-ea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理解为，将</a:t>
            </a:r>
            <a:r>
              <a:rPr lang="en-US" altLang="zh-CN" sz="3200" b="1" dirty="0">
                <a:solidFill>
                  <a:srgbClr val="FF0000"/>
                </a:solidFill>
                <a:latin typeface="+mj-ea"/>
                <a:ea typeface="+mj-ea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视为</a:t>
            </a:r>
            <a:endParaRPr lang="zh-CN" altLang="en-US" sz="32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 smtClean="0">
                <a:sym typeface="+mn-ea"/>
              </a:rPr>
              <a:t>Cats </a:t>
            </a:r>
            <a:r>
              <a:rPr lang="en-US" altLang="zh-CN" sz="3200" b="1" dirty="0">
                <a:sym typeface="+mn-ea"/>
              </a:rPr>
              <a:t>are not able to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perceive</a:t>
            </a:r>
            <a:r>
              <a:rPr lang="en-US" altLang="zh-CN" sz="3200" b="1" dirty="0">
                <a:sym typeface="+mn-ea"/>
              </a:rPr>
              <a:t> </a:t>
            </a:r>
            <a:r>
              <a:rPr lang="en-US" altLang="zh-CN" sz="3200" b="1" dirty="0" err="1">
                <a:sym typeface="+mn-ea"/>
              </a:rPr>
              <a:t>colour</a:t>
            </a:r>
            <a:r>
              <a:rPr lang="en-US" altLang="zh-CN" sz="3200" b="1" dirty="0">
                <a:sym typeface="+mn-ea"/>
              </a:rPr>
              <a:t>.</a:t>
            </a:r>
            <a:endParaRPr lang="en-US" altLang="zh-CN" sz="3200" b="1" dirty="0"/>
          </a:p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 smtClean="0">
                <a:sym typeface="+mn-ea"/>
              </a:rPr>
              <a:t>I</a:t>
            </a:r>
            <a:r>
              <a:rPr lang="en-US" altLang="zh-CN" sz="3200" b="1" dirty="0">
                <a:sym typeface="+mn-ea"/>
              </a:rPr>
              <a:t> 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perceived</a:t>
            </a:r>
            <a:r>
              <a:rPr lang="en-US" altLang="zh-CN" sz="3200" b="1" dirty="0">
                <a:sym typeface="+mn-ea"/>
              </a:rPr>
              <a:t> a note of unhappiness in her voice</a:t>
            </a:r>
            <a:r>
              <a:rPr lang="en-US" altLang="zh-CN" sz="3200" b="1" dirty="0" smtClean="0">
                <a:sym typeface="+mn-ea"/>
              </a:rPr>
              <a:t>.</a:t>
            </a:r>
            <a:endParaRPr lang="en-US" altLang="zh-CN" sz="3200" b="1" dirty="0" smtClean="0">
              <a:sym typeface="+mn-ea"/>
            </a:endParaRPr>
          </a:p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ea typeface="+mj-ea"/>
                <a:cs typeface="Times New Roman Bold" panose="02020603050405020304" charset="0"/>
                <a:sym typeface="+mn-ea"/>
              </a:rPr>
              <a:t>perceive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ea typeface="+mj-ea"/>
                <a:cs typeface="Times New Roman Bold" panose="02020603050405020304" charset="0"/>
                <a:sym typeface="+mn-ea"/>
              </a:rPr>
              <a:t> sb/sth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ea typeface="+mj-ea"/>
                <a:cs typeface="Times New Roman Bold" panose="02020603050405020304" charset="0"/>
                <a:sym typeface="+mn-ea"/>
              </a:rPr>
              <a:t>as sth</a:t>
            </a:r>
            <a:endParaRPr lang="en-US" altLang="zh-CN" sz="3200" b="1" dirty="0">
              <a:solidFill>
                <a:srgbClr val="FF0000"/>
              </a:solidFill>
              <a:latin typeface="Times New Roman Bold" panose="02020603050405020304" charset="0"/>
              <a:ea typeface="+mj-ea"/>
              <a:cs typeface="Times New Roman Bold" panose="02020603050405020304" charset="0"/>
              <a:sym typeface="+mn-ea"/>
            </a:endParaRPr>
          </a:p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ea typeface="+mj-ea"/>
                <a:cs typeface="Times New Roman Bold" panose="02020603050405020304" charset="0"/>
                <a:sym typeface="+mn-ea"/>
              </a:rPr>
              <a:t>perceive sb/sth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ea typeface="+mj-ea"/>
                <a:cs typeface="Times New Roman Bold" panose="02020603050405020304" charset="0"/>
                <a:sym typeface="+mn-ea"/>
              </a:rPr>
              <a:t>to be/have sth</a:t>
            </a:r>
            <a:endParaRPr lang="en-US" altLang="zh-CN" sz="3200" b="1" dirty="0" smtClean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 smtClean="0">
                <a:sym typeface="+mn-ea"/>
              </a:rPr>
              <a:t>This </a:t>
            </a:r>
            <a:r>
              <a:rPr lang="en-US" altLang="zh-CN" sz="3200" b="1" dirty="0">
                <a:sym typeface="+mn-ea"/>
              </a:rPr>
              <a:t>discovery </a:t>
            </a:r>
            <a:r>
              <a:rPr lang="en-US" altLang="zh-CN" sz="3200" b="1" u="sng" dirty="0">
                <a:solidFill>
                  <a:srgbClr val="FF0000"/>
                </a:solidFill>
                <a:sym typeface="+mn-ea"/>
              </a:rPr>
              <a:t>was perceived as </a:t>
            </a:r>
            <a:r>
              <a:rPr lang="en-US" altLang="zh-CN" sz="3200" b="1" dirty="0">
                <a:sym typeface="+mn-ea"/>
              </a:rPr>
              <a:t>a major breakthrough.</a:t>
            </a:r>
            <a:endParaRPr lang="en-US" altLang="zh-CN" sz="3200" b="1" dirty="0">
              <a:sym typeface="+mn-ea"/>
            </a:endParaRPr>
          </a:p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chemeClr val="tx1"/>
                </a:solidFill>
                <a:latin typeface="+mj-ea"/>
                <a:ea typeface="+mj-ea"/>
              </a:rPr>
              <a:t>这一发现被视为一项重大突破。</a:t>
            </a:r>
            <a:endParaRPr lang="zh-CN" altLang="en-US" sz="32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chemeClr val="tx1"/>
                </a:solidFill>
                <a:latin typeface="+mj-ea"/>
                <a:ea typeface="+mj-ea"/>
              </a:rPr>
              <a:t>人们普遍认为</a:t>
            </a:r>
            <a:r>
              <a:rPr lang="zh-CN" altLang="en-US" sz="3200" b="1" dirty="0">
                <a:solidFill>
                  <a:schemeClr val="tx1"/>
                </a:solidFill>
                <a:latin typeface="+mj-ea"/>
                <a:ea typeface="+mj-ea"/>
              </a:rPr>
              <a:t>国足的运气不佳。</a:t>
            </a:r>
            <a:endParaRPr lang="zh-CN" altLang="en-US" sz="3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752465" y="5520690"/>
            <a:ext cx="620839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ea typeface="+mj-ea"/>
                <a:cs typeface="Times New Roman Bold" panose="02020603050405020304" charset="0"/>
                <a:sym typeface="+mn-ea"/>
              </a:rPr>
              <a:t>National football team is widely perceived to be unlucky.</a:t>
            </a:r>
            <a:endParaRPr lang="en-US" altLang="zh-CN" sz="3200" b="1" dirty="0">
              <a:solidFill>
                <a:srgbClr val="FF0000"/>
              </a:solidFill>
              <a:latin typeface="Times New Roman Bold" panose="02020603050405020304" charset="0"/>
              <a:ea typeface="+mj-ea"/>
              <a:cs typeface="Times New Roman Bold" panose="0202060305040502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88696" y="324402"/>
            <a:ext cx="10934771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/>
              <a:t>perceive + </a:t>
            </a:r>
            <a:r>
              <a:rPr lang="zh-CN" altLang="en-US" sz="3200" b="1" dirty="0"/>
              <a:t>宾语</a:t>
            </a:r>
            <a:r>
              <a:rPr lang="en-US" altLang="zh-CN" sz="3200" b="1" dirty="0"/>
              <a:t> + </a:t>
            </a:r>
            <a:r>
              <a:rPr lang="zh-CN" altLang="en-US" sz="3200" b="1" dirty="0"/>
              <a:t>宾语补足语</a:t>
            </a:r>
            <a:endParaRPr lang="zh-CN" altLang="en-US" sz="3200" b="1" dirty="0"/>
          </a:p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/>
              <a:t>								</a:t>
            </a:r>
            <a:r>
              <a:rPr lang="en-US" altLang="zh-CN" sz="3200" b="1" dirty="0">
                <a:solidFill>
                  <a:srgbClr val="FF0000"/>
                </a:solidFill>
              </a:rPr>
              <a:t>do </a:t>
            </a:r>
            <a:r>
              <a:rPr lang="zh-CN" altLang="en-US" sz="3200" b="1" dirty="0">
                <a:solidFill>
                  <a:srgbClr val="FF0000"/>
                </a:solidFill>
              </a:rPr>
              <a:t>察觉……（强调结果）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rgbClr val="FF0000"/>
                </a:solidFill>
              </a:rPr>
              <a:t>								doing </a:t>
            </a:r>
            <a:r>
              <a:rPr lang="zh-CN" altLang="en-US" sz="3200" b="1" dirty="0">
                <a:solidFill>
                  <a:srgbClr val="FF0000"/>
                </a:solidFill>
              </a:rPr>
              <a:t>察觉……正在发生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rgbClr val="FF0000"/>
                </a:solidFill>
              </a:rPr>
              <a:t>								to be / as sth</a:t>
            </a:r>
            <a:r>
              <a:rPr lang="en-US" altLang="zh-CN" sz="3200" b="1" dirty="0"/>
              <a:t> </a:t>
            </a:r>
            <a:endParaRPr lang="zh-CN" altLang="en-US" sz="3200" b="1" dirty="0"/>
          </a:p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/>
              <a:t>被动句型：</a:t>
            </a:r>
            <a:r>
              <a:rPr lang="en-US" altLang="zh-CN" sz="3200" b="1" dirty="0"/>
              <a:t> sb/sth be perceived to do</a:t>
            </a:r>
            <a:endParaRPr lang="en-US" altLang="zh-CN" sz="3200" b="1" dirty="0"/>
          </a:p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/>
              <a:t>没人察觉他进仓库。</a:t>
            </a:r>
            <a:endParaRPr lang="en-US" altLang="zh-CN" sz="3200" b="1" dirty="0"/>
          </a:p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rgbClr val="FF0000"/>
                </a:solidFill>
              </a:rPr>
              <a:t>Nobody perceived him entering the warehouse.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/>
              <a:t>有人发现病人呼吸</a:t>
            </a:r>
            <a:r>
              <a:rPr lang="zh-CN" altLang="en-US" sz="3200" b="1" dirty="0"/>
              <a:t>困难。</a:t>
            </a:r>
            <a:endParaRPr lang="zh-CN" altLang="en-US" sz="3200" b="1" dirty="0"/>
          </a:p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chemeClr val="tx1"/>
                </a:solidFill>
              </a:rPr>
              <a:t>The patient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483485" y="4978400"/>
            <a:ext cx="946785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was perceived to have difficulty in breathing.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90738" y="1167906"/>
            <a:ext cx="10548762" cy="422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  <a:ea typeface="宋体" pitchFamily="2" charset="-122"/>
              </a:rPr>
              <a:t>【</a:t>
            </a:r>
            <a:r>
              <a:rPr lang="zh-CN" altLang="en-US" sz="3200" b="1" dirty="0" smtClean="0">
                <a:solidFill>
                  <a:srgbClr val="0000FF"/>
                </a:solidFill>
                <a:ea typeface="宋体" pitchFamily="2" charset="-122"/>
              </a:rPr>
              <a:t>语境应用</a:t>
            </a:r>
            <a:r>
              <a:rPr lang="en-US" altLang="zh-CN" sz="3200" b="1" dirty="0" smtClean="0">
                <a:solidFill>
                  <a:srgbClr val="0000FF"/>
                </a:solidFill>
                <a:ea typeface="宋体" pitchFamily="2" charset="-122"/>
              </a:rPr>
              <a:t>】</a:t>
            </a:r>
            <a:r>
              <a:rPr lang="zh-CN" altLang="en-US" sz="3200" b="1" dirty="0" smtClean="0">
                <a:solidFill>
                  <a:srgbClr val="0000FF"/>
                </a:solidFill>
                <a:ea typeface="宋体" pitchFamily="2" charset="-122"/>
              </a:rPr>
              <a:t>单句语法填空。</a:t>
            </a:r>
            <a:endParaRPr lang="en-US" altLang="zh-CN" sz="3200" b="1" dirty="0" smtClean="0">
              <a:solidFill>
                <a:srgbClr val="0000FF"/>
              </a:solidFill>
              <a:ea typeface="宋体" pitchFamily="2" charset="-122"/>
            </a:endParaRP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en-US" altLang="zh-CN" sz="3200" b="1" dirty="0" smtClean="0">
                <a:ea typeface="宋体" pitchFamily="2" charset="-122"/>
                <a:sym typeface="+mn-ea"/>
              </a:rPr>
              <a:t>When in senior high school, he ____________ (perceive) the relationship between success and effort.</a:t>
            </a:r>
            <a:endParaRPr lang="en-US" altLang="zh-CN" sz="3200" b="1" dirty="0" smtClean="0">
              <a:ea typeface="宋体" pitchFamily="2" charset="-122"/>
              <a:sym typeface="+mn-ea"/>
            </a:endParaRP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en-US" altLang="zh-CN" sz="3200" b="1" i="0" dirty="0" smtClean="0">
                <a:solidFill>
                  <a:schemeClr val="tx1"/>
                </a:solidFill>
                <a:effectLst/>
                <a:ea typeface="宋体" pitchFamily="2" charset="-122"/>
                <a:sym typeface="+mn-ea"/>
              </a:rPr>
              <a:t>Most blind people, even if they don’t have any sight, are still able _____________ (perceive) light.</a:t>
            </a:r>
            <a:endParaRPr lang="en-US" altLang="zh-CN" sz="3200" b="1" i="0" dirty="0" smtClean="0">
              <a:solidFill>
                <a:schemeClr val="tx1"/>
              </a:solidFill>
              <a:effectLst/>
              <a:ea typeface="宋体" pitchFamily="2" charset="-122"/>
              <a:sym typeface="+mn-ea"/>
            </a:endParaRP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zh-CN" altLang="en-US" sz="3200" b="1" i="0" dirty="0">
                <a:solidFill>
                  <a:schemeClr val="tx1"/>
                </a:solidFill>
                <a:effectLst/>
              </a:rPr>
              <a:t>压力被广泛认为是导致疾病的</a:t>
            </a:r>
            <a:r>
              <a:rPr lang="zh-CN" altLang="en-US" sz="3200" b="1" i="0" dirty="0">
                <a:solidFill>
                  <a:schemeClr val="tx1"/>
                </a:solidFill>
                <a:effectLst/>
              </a:rPr>
              <a:t>一个因素。</a:t>
            </a:r>
            <a:endParaRPr lang="zh-CN" altLang="en-US" sz="3200" b="1" i="0" dirty="0">
              <a:solidFill>
                <a:schemeClr val="tx1"/>
              </a:solidFill>
              <a:effectLst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i="0" dirty="0">
                <a:solidFill>
                  <a:srgbClr val="FF0000"/>
                </a:solidFill>
                <a:effectLst/>
              </a:rPr>
              <a:t>Stress is widely perceived as a factor resulting in illness.</a:t>
            </a:r>
            <a:endParaRPr lang="en-US" altLang="zh-CN" sz="3200" b="1" i="0" dirty="0">
              <a:solidFill>
                <a:srgbClr val="FF0000"/>
              </a:solidFill>
              <a:effectLst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95847" y="1758837"/>
            <a:ext cx="2030654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 smtClean="0">
                <a:solidFill>
                  <a:srgbClr val="FF0000"/>
                </a:solidFill>
              </a:rPr>
              <a:t>perceived</a:t>
            </a:r>
            <a:r>
              <a:rPr lang="en-US" altLang="zh-CN" sz="3200" b="1" dirty="0"/>
              <a:t> </a:t>
            </a:r>
            <a:endParaRPr sz="32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3011246" y="3518930"/>
            <a:ext cx="2779953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 smtClean="0">
                <a:solidFill>
                  <a:srgbClr val="FF0000"/>
                </a:solidFill>
              </a:rPr>
              <a:t>to perceive</a:t>
            </a:r>
            <a:r>
              <a:rPr lang="en-US" altLang="zh-CN" sz="3200" b="1" dirty="0"/>
              <a:t> </a:t>
            </a:r>
            <a:endParaRPr sz="3200" b="1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commondata" val="eyJoZGlkIjoiMmZiYWZlYTIzNGZiMjFhNTBkNTdkY2IwNzZiNDZhMjM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6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5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6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7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8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9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0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9224</Words>
  <Application>WPS Presentation</Application>
  <PresentationFormat>宽屏</PresentationFormat>
  <Paragraphs>336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51" baseType="lpstr">
      <vt:lpstr>Arial</vt:lpstr>
      <vt:lpstr>宋体</vt:lpstr>
      <vt:lpstr>Wingdings</vt:lpstr>
      <vt:lpstr>Times New Roman Bold Italic</vt:lpstr>
      <vt:lpstr>Times New Roman</vt:lpstr>
      <vt:lpstr>等线</vt:lpstr>
      <vt:lpstr>汉仪中等线KW</vt:lpstr>
      <vt:lpstr>汉仪书宋二KW</vt:lpstr>
      <vt:lpstr>Times New Roman Bold</vt:lpstr>
      <vt:lpstr>宋体-简</vt:lpstr>
      <vt:lpstr>微软雅黑</vt:lpstr>
      <vt:lpstr>汉仪旗黑</vt:lpstr>
      <vt:lpstr>宋体</vt:lpstr>
      <vt:lpstr>Arial Unicode MS</vt:lpstr>
      <vt:lpstr>Calibri</vt:lpstr>
      <vt:lpstr>Helvetica Neue</vt:lpstr>
      <vt:lpstr>Apple Color Emoji</vt:lpstr>
      <vt:lpstr>等线</vt:lpstr>
      <vt:lpstr>Times New Roman Regular</vt:lpstr>
      <vt:lpstr>Helvetica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Elsssie</cp:lastModifiedBy>
  <cp:revision>451</cp:revision>
  <dcterms:created xsi:type="dcterms:W3CDTF">2024-09-06T01:43:24Z</dcterms:created>
  <dcterms:modified xsi:type="dcterms:W3CDTF">2024-09-06T01:43:24Z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1033-6.10.1.8873</vt:lpwstr>
  </property>
  <property fmtid="{D5CDD505-2E9C-101B-9397-08002B2CF9AE}" pid="3" name="ICV">
    <vt:lpwstr>5399721D5EFF887F005675646AEB964B_42</vt:lpwstr>
  </property>
</Properties>
</file>