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464" r:id="rId2"/>
    <p:sldId id="465" r:id="rId3"/>
    <p:sldId id="487" r:id="rId4"/>
    <p:sldId id="488" r:id="rId5"/>
    <p:sldId id="347" r:id="rId6"/>
    <p:sldId id="519" r:id="rId7"/>
    <p:sldId id="360" r:id="rId8"/>
    <p:sldId id="561" r:id="rId9"/>
    <p:sldId id="564" r:id="rId10"/>
    <p:sldId id="490" r:id="rId11"/>
    <p:sldId id="515" r:id="rId12"/>
    <p:sldId id="512" r:id="rId13"/>
    <p:sldId id="521" r:id="rId14"/>
    <p:sldId id="492" r:id="rId15"/>
    <p:sldId id="493" r:id="rId16"/>
    <p:sldId id="494" r:id="rId17"/>
    <p:sldId id="562" r:id="rId18"/>
    <p:sldId id="513" r:id="rId19"/>
    <p:sldId id="516" r:id="rId20"/>
    <p:sldId id="563" r:id="rId21"/>
    <p:sldId id="495" r:id="rId22"/>
    <p:sldId id="496" r:id="rId23"/>
    <p:sldId id="565" r:id="rId24"/>
    <p:sldId id="453" r:id="rId25"/>
    <p:sldId id="523" r:id="rId26"/>
    <p:sldId id="524" r:id="rId27"/>
    <p:sldId id="361" r:id="rId28"/>
    <p:sldId id="525" r:id="rId29"/>
    <p:sldId id="566" r:id="rId30"/>
    <p:sldId id="499" r:id="rId31"/>
    <p:sldId id="567" r:id="rId32"/>
    <p:sldId id="479" r:id="rId33"/>
    <p:sldId id="527" r:id="rId34"/>
    <p:sldId id="568" r:id="rId35"/>
    <p:sldId id="526" r:id="rId36"/>
    <p:sldId id="514" r:id="rId37"/>
    <p:sldId id="517" r:id="rId38"/>
    <p:sldId id="569" r:id="rId39"/>
    <p:sldId id="570" r:id="rId40"/>
    <p:sldId id="480" r:id="rId41"/>
    <p:sldId id="529" r:id="rId42"/>
    <p:sldId id="481" r:id="rId43"/>
    <p:sldId id="508" r:id="rId44"/>
    <p:sldId id="505" r:id="rId45"/>
    <p:sldId id="507" r:id="rId46"/>
    <p:sldId id="509" r:id="rId47"/>
    <p:sldId id="572" r:id="rId48"/>
    <p:sldId id="531" r:id="rId49"/>
    <p:sldId id="536" r:id="rId50"/>
    <p:sldId id="538" r:id="rId51"/>
    <p:sldId id="535" r:id="rId52"/>
    <p:sldId id="534" r:id="rId53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A508"/>
    <a:srgbClr val="FF00FF"/>
    <a:srgbClr val="002086"/>
    <a:srgbClr val="990000"/>
    <a:srgbClr val="FF9933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26" autoAdjust="0"/>
    <p:restoredTop sz="95494" autoAdjust="0"/>
  </p:normalViewPr>
  <p:slideViewPr>
    <p:cSldViewPr showGuides="1">
      <p:cViewPr varScale="1">
        <p:scale>
          <a:sx n="109" d="100"/>
          <a:sy n="109" d="100"/>
        </p:scale>
        <p:origin x="664" y="184"/>
      </p:cViewPr>
      <p:guideLst>
        <p:guide orient="horz" pos="2268"/>
        <p:guide pos="3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90204" pitchFamily="34" charset="0"/>
              <a:buNone/>
              <a:defRPr sz="1200"/>
            </a:lvl1pPr>
          </a:lstStyle>
          <a:p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90204" pitchFamily="34" charset="0"/>
              <a:buNone/>
              <a:defRPr sz="1200"/>
            </a:lvl1pPr>
          </a:lstStyle>
          <a:p>
            <a:fld id="{7AEE9EB2-A453-4109-BFDE-56425E5F0F2A}" type="datetimeFigureOut">
              <a:rPr lang="zh-CN" altLang="en-US"/>
              <a:t>2026/7/23</a:t>
            </a:fld>
            <a:endParaRPr lang="en-US" altLang="zh-CN"/>
          </a:p>
        </p:txBody>
      </p:sp>
      <p:sp>
        <p:nvSpPr>
          <p:cNvPr id="73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3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90204" pitchFamily="34" charset="0"/>
              <a:buNone/>
              <a:defRPr sz="1200"/>
            </a:lvl1pPr>
          </a:lstStyle>
          <a:p>
            <a:endParaRPr lang="en-US" altLang="zh-CN"/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90204" pitchFamily="34" charset="0"/>
              <a:buNone/>
              <a:defRPr sz="1200"/>
            </a:lvl1pPr>
          </a:lstStyle>
          <a:p>
            <a:fld id="{55E016B2-C0AF-404B-B240-82F4C7A25663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作文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Monday morning blues</a:t>
            </a:r>
          </a:p>
          <a:p>
            <a:r>
              <a:rPr lang="en-US"/>
              <a:t>星期一早晨的郁闷情绪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1A2B5-D1EF-4726-9775-DB5DE73068A6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6BCFC-260D-419E-B2CB-58F69ACA30DB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97447-4832-4C0D-9642-56D7B9F420F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7D3C8-6CC6-43F2-A697-5E06E8B42FA1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88FCB-F59B-4C46-909D-B2BCAC42666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DC188-CA15-426A-92C7-05E61479088F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2903E-2F9C-4DE7-9747-963DFB81CB44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077D1-D52E-4473-AAAE-35FC324DB7B8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4F50E-5DF5-4225-BE23-DB003FDA0E8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F916F-FF23-4A66-A8CC-9827735AE702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82F7E-50DE-490D-BE7A-9DBC5E0EC935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5C505-58B1-4EA7-A85C-38DCF65250C8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3CAF6-0B3E-4B4E-8742-91C446BB171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AE92-E55E-4DD7-8F99-0D5DD245D033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C1D4-EE76-4B26-82D3-CEDEFBBB482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46C6E-EA07-4265-BD53-715B2CC94EAA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6C074-3C76-4FDE-A764-58227FD9B911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DD7-A66B-4BBC-9DBA-74BAD7746D8D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638D-1B8C-412C-BC4D-58EB40DF0878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146E-763B-47FE-8081-F80F7842FDC4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40FF3-0622-467E-8F88-E04820D50F96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AFFF-2EB8-48A0-86DF-2BADEDB9EFDE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F10A-3A1A-4A70-9695-D6C44BC10BA7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DC238-EC4E-49C0-AB7F-CD86245E79D1}" type="datetimeFigureOut">
              <a:rPr lang="zh-CN" altLang="en-US" smtClean="0"/>
              <a:t>2026/7/23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89A8D-F7FD-4CDD-9DE2-3D2E153A77AF}" type="slidenum">
              <a:rPr lang="zh-CN" altLang="en-US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7005" y="607695"/>
            <a:ext cx="11974830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-450850" defTabSz="1482725" latinLnBrk="0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</a:rPr>
              <a:t>1. Last night, I watched a performance of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Butterfly Lovers</a:t>
            </a:r>
            <a:r>
              <a:rPr lang="en-US" altLang="zh-CN" sz="3200" b="1" dirty="0">
                <a:latin typeface="Times New Roman" panose="02020503050405090304" pitchFamily="18" charset="0"/>
              </a:rPr>
              <a:t>, a beautiful violin concerto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composed</a:t>
            </a:r>
            <a:r>
              <a:rPr lang="en-US" altLang="zh-CN" sz="3200" b="1" dirty="0">
                <a:latin typeface="Times New Roman" panose="02020503050405090304" pitchFamily="18" charset="0"/>
              </a:rPr>
              <a:t> by He </a:t>
            </a:r>
            <a:r>
              <a:rPr lang="en-US" altLang="zh-CN" sz="3200" b="1" dirty="0" err="1">
                <a:latin typeface="Times New Roman" panose="02020503050405090304" pitchFamily="18" charset="0"/>
              </a:rPr>
              <a:t>Zhanhao</a:t>
            </a:r>
            <a:r>
              <a:rPr lang="en-US" altLang="zh-CN" sz="3200" b="1" dirty="0">
                <a:latin typeface="Times New Roman" panose="02020503050405090304" pitchFamily="18" charset="0"/>
              </a:rPr>
              <a:t> and Chen Gang.  </a:t>
            </a:r>
          </a:p>
          <a:p>
            <a:pPr marL="0" indent="-2873375" eaLnBrk="0" latin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compose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.&amp;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write music/letter...</a:t>
            </a:r>
            <a:r>
              <a:rPr lang="zh-CN" altLang="en-US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作曲；创作（诗歌，文章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0" indent="-287337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She began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compose songs/poems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at an early age.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0" indent="-287337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组成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made up of / consist of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0" indent="-287337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Water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is composed of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hydrogen and oxygen.</a:t>
            </a:r>
          </a:p>
          <a:p>
            <a:pPr marL="0" indent="-287337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3)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calm/collect oneself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使镇静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0" indent="-287337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Lynn took several deep breaths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compose herself/compose her thoughts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0" indent="-2873375" eaLnBrk="0" latinLnBrk="0" hangingPunct="0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450850" defTabSz="1482725" latinLnBrk="0">
              <a:lnSpc>
                <a:spcPct val="120000"/>
              </a:lnSpc>
              <a:buClr>
                <a:srgbClr val="CC0000"/>
              </a:buClr>
            </a:pPr>
            <a:endParaRPr lang="en-US" altLang="zh-CN" sz="3200" b="1" dirty="0"/>
          </a:p>
        </p:txBody>
      </p:sp>
      <p:sp>
        <p:nvSpPr>
          <p:cNvPr id="3" name="圆角矩形标注 2"/>
          <p:cNvSpPr/>
          <p:nvPr/>
        </p:nvSpPr>
        <p:spPr>
          <a:xfrm>
            <a:off x="2819164" y="75935"/>
            <a:ext cx="4081359" cy="533386"/>
          </a:xfrm>
          <a:prstGeom prst="wedgeRoundRectCallout">
            <a:avLst>
              <a:gd name="adj1" fmla="val -4886"/>
              <a:gd name="adj2" fmla="val 84541"/>
              <a:gd name="adj3" fmla="val 16667"/>
            </a:avLst>
          </a:prstGeom>
          <a:noFill/>
          <a:ln w="25400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过去分词短语作定语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5005413" y="1752644"/>
            <a:ext cx="6172038" cy="0"/>
          </a:xfrm>
          <a:prstGeom prst="line">
            <a:avLst/>
          </a:prstGeom>
          <a:ln w="28575">
            <a:solidFill>
              <a:srgbClr val="FFA5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85942" y="1409788"/>
            <a:ext cx="10896314" cy="4225290"/>
          </a:xfrm>
          <a:prstGeom prst="rect">
            <a:avLst/>
          </a:prstGeom>
          <a:noFill/>
          <a:ln w="28575">
            <a:solidFill>
              <a:srgbClr val="FFA508"/>
            </a:solidFill>
            <a:miter lim="800000"/>
          </a:ln>
        </p:spPr>
        <p:txBody>
          <a:bodyPr wrap="square">
            <a:spAutoFit/>
          </a:bodyPr>
          <a:lstStyle/>
          <a:p>
            <a:pPr marL="2600325" indent="-2600325">
              <a:lnSpc>
                <a:spcPct val="120000"/>
              </a:lnSpc>
            </a:pPr>
            <a:r>
              <a:rPr lang="fr-FR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composer  </a:t>
            </a:r>
            <a:r>
              <a:rPr lang="fr-FR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fr-FR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 </a:t>
            </a:r>
            <a:r>
              <a:rPr lang="zh-CN" altLang="fr-FR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作曲家</a:t>
            </a:r>
          </a:p>
          <a:p>
            <a:pPr marL="2600325" indent="-2600325">
              <a:lnSpc>
                <a:spcPct val="120000"/>
              </a:lnSpc>
            </a:pPr>
            <a:r>
              <a:rPr lang="fr-FR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composition </a:t>
            </a:r>
            <a:r>
              <a:rPr lang="fr-FR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</a:p>
          <a:p>
            <a:pPr marL="2600325" indent="-2600325">
              <a:lnSpc>
                <a:spcPct val="120000"/>
              </a:lnSpc>
            </a:pPr>
            <a:r>
              <a:rPr lang="zh-CN" altLang="fr-FR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chemical composition of the soil</a:t>
            </a:r>
          </a:p>
          <a:p>
            <a:pPr marL="2600325" indent="-2600325">
              <a:lnSpc>
                <a:spcPct val="120000"/>
              </a:lnSpc>
            </a:pPr>
            <a:r>
              <a:rPr lang="zh-CN" altLang="fr-FR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土壤的化学成分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make-up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)</a:t>
            </a:r>
            <a:endParaRPr lang="zh-CN" altLang="fr-FR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600325" indent="-2600325">
              <a:lnSpc>
                <a:spcPct val="120000"/>
              </a:lnSpc>
            </a:pPr>
            <a:r>
              <a:rPr lang="zh-CN" altLang="fr-FR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one of Beethoven's finest </a:t>
            </a:r>
            <a:r>
              <a:rPr lang="zh-CN" altLang="fr-FR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composition</a:t>
            </a:r>
            <a:r>
              <a:rPr lang="zh-CN" altLang="fr-FR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endParaRPr lang="zh-CN" altLang="fr-FR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600325" indent="-2600325">
              <a:lnSpc>
                <a:spcPct val="120000"/>
              </a:lnSpc>
            </a:pPr>
            <a:r>
              <a:rPr lang="zh-CN" altLang="fr-FR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贝多芬最优美的音乐</a:t>
            </a:r>
            <a:r>
              <a:rPr lang="zh-CN" altLang="fr-FR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作品</a:t>
            </a:r>
            <a:r>
              <a:rPr lang="zh-CN" altLang="fr-FR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之一</a:t>
            </a:r>
          </a:p>
          <a:p>
            <a:pPr marL="2600325" indent="-26003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write a composition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写作文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50" y="457278"/>
            <a:ext cx="1700911" cy="952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81150" y="228684"/>
            <a:ext cx="11353502" cy="4228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624205" indent="-624205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</a:t>
            </a:r>
            <a:r>
              <a:rPr lang="zh-CN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句子。</a:t>
            </a:r>
          </a:p>
          <a:p>
            <a:pPr marL="449580" indent="-44958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Mozart _____________________ (</a:t>
            </a:r>
            <a:r>
              <a:rPr lang="zh-CN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创作了他的最后一部歌剧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shortly before he died.</a:t>
            </a:r>
            <a:endParaRPr lang="zh-CN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9580" indent="-44958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audience who _________________________________ (</a:t>
            </a:r>
            <a:r>
              <a:rPr lang="zh-CN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主要由年轻人组成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crowded the concert hall.</a:t>
            </a:r>
          </a:p>
          <a:p>
            <a:pPr marL="449580" indent="-44958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____________________________________ (</a:t>
            </a:r>
            <a:r>
              <a:rPr lang="zh-CN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给当地政府写封信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stating your views on an issue of your choice.</a:t>
            </a:r>
            <a:endParaRPr lang="zh-CN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100" y="769491"/>
            <a:ext cx="467948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composed</a:t>
            </a:r>
            <a:r>
              <a:rPr lang="en-US" altLang="zh-CN" sz="3200" kern="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last opera 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114852" y="1961559"/>
            <a:ext cx="6781622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composed mostly of young people</a:t>
            </a:r>
            <a:endParaRPr lang="zh-CN" altLang="zh-CN" sz="3200" dirty="0"/>
          </a:p>
        </p:txBody>
      </p:sp>
      <p:sp>
        <p:nvSpPr>
          <p:cNvPr id="5" name="矩形 4"/>
          <p:cNvSpPr/>
          <p:nvPr/>
        </p:nvSpPr>
        <p:spPr>
          <a:xfrm>
            <a:off x="762140" y="3129008"/>
            <a:ext cx="7953972" cy="6311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Compose a letter to your local government </a:t>
            </a:r>
            <a:r>
              <a:rPr lang="en-US" altLang="zh-CN" sz="3200" dirty="0"/>
              <a:t>  </a:t>
            </a:r>
            <a:endParaRPr lang="zh-CN" altLang="zh-CN" sz="3200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48599" y="4261027"/>
            <a:ext cx="11258402" cy="2456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49580" indent="-44958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The engineers at the Massachusetts Institute of Technology (MIT) have taken it a step further— changing the actual ___________(compose) of plants in order to get them to perform diverse, even unusual functions. (2020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全国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5847" y="5436459"/>
            <a:ext cx="251460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composition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304952" y="439557"/>
            <a:ext cx="11124908" cy="6587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indent="-45085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2. It’s a piece that really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deserves to be heard</a:t>
            </a:r>
            <a:r>
              <a:rPr lang="en-US" altLang="zh-CN" sz="3200" b="1" dirty="0">
                <a:latin typeface="Times New Roman" panose="02020503050405090304" pitchFamily="18" charset="0"/>
              </a:rPr>
              <a:t>.</a:t>
            </a:r>
          </a:p>
          <a:p>
            <a:pPr marL="0" indent="-45085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这部作品真的值得一听。</a:t>
            </a:r>
          </a:p>
          <a:p>
            <a:pPr marL="0" indent="-45085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  <a:sym typeface="+mn-ea"/>
              </a:rPr>
              <a:t>deserve  </a:t>
            </a:r>
            <a:r>
              <a:rPr lang="en-US" altLang="zh-CN" sz="3200" b="1" i="1" dirty="0" err="1">
                <a:solidFill>
                  <a:srgbClr val="FF0000"/>
                </a:solidFill>
                <a:latin typeface="+mn-lt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+mn-lt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+mn-lt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sym typeface="+mn-ea"/>
              </a:rPr>
              <a:t>值得；应得</a:t>
            </a:r>
          </a:p>
          <a:p>
            <a:pPr marL="0" indent="-45085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It’s true that she made a mistake but she hardly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deserves</a:t>
            </a:r>
            <a:r>
              <a:rPr lang="en-US" altLang="zh-CN" sz="3200" b="1" u="sng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to lose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her job. </a:t>
            </a:r>
            <a:r>
              <a:rPr lang="zh-CN" altLang="en-US" sz="3200" b="1" dirty="0">
                <a:latin typeface="+mn-lt"/>
                <a:sym typeface="+mn-ea"/>
              </a:rPr>
              <a:t>应该做</a:t>
            </a:r>
            <a:r>
              <a:rPr lang="en-US" altLang="zh-CN" sz="3200" b="1" dirty="0">
                <a:latin typeface="+mn-lt"/>
                <a:sym typeface="+mn-ea"/>
              </a:rPr>
              <a:t>/</a:t>
            </a:r>
            <a:r>
              <a:rPr lang="zh-CN" altLang="en-US" sz="3200" b="1" dirty="0">
                <a:latin typeface="+mn-ea"/>
                <a:ea typeface="+mn-ea"/>
                <a:sym typeface="+mn-ea"/>
              </a:rPr>
              <a:t>值得做某事</a:t>
            </a:r>
            <a:endParaRPr lang="en-US" altLang="zh-CN" sz="3200" b="1" dirty="0">
              <a:latin typeface="+mn-ea"/>
              <a:ea typeface="+mn-ea"/>
              <a:sym typeface="+mn-ea"/>
            </a:endParaRPr>
          </a:p>
          <a:p>
            <a:pPr marL="0" indent="-45085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  <a:sym typeface="+mn-ea"/>
              </a:rPr>
              <a:t>deserve to be done = deserve doing </a:t>
            </a:r>
            <a:r>
              <a:rPr lang="zh-CN" altLang="en-US" sz="3200" b="1" dirty="0">
                <a:latin typeface="+mj-ea"/>
                <a:ea typeface="+mj-ea"/>
                <a:sym typeface="+mn-ea"/>
              </a:rPr>
              <a:t>应该</a:t>
            </a:r>
            <a:r>
              <a:rPr lang="en-US" altLang="zh-CN" sz="3200" b="1" dirty="0">
                <a:latin typeface="+mj-ea"/>
                <a:ea typeface="+mj-ea"/>
                <a:sym typeface="+mn-ea"/>
              </a:rPr>
              <a:t>/</a:t>
            </a:r>
            <a:r>
              <a:rPr lang="zh-CN" altLang="en-US" sz="3200" b="1" dirty="0">
                <a:latin typeface="+mj-ea"/>
                <a:ea typeface="+mj-ea"/>
                <a:sym typeface="+mn-ea"/>
              </a:rPr>
              <a:t>值得被做</a:t>
            </a:r>
            <a:r>
              <a:rPr lang="en-US" altLang="zh-CN" sz="3200" b="1" dirty="0">
                <a:latin typeface="+mj-ea"/>
                <a:ea typeface="+mj-ea"/>
                <a:sym typeface="+mn-ea"/>
              </a:rPr>
              <a:t>……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0" indent="-45085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他们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值得被更好地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对待。</a:t>
            </a:r>
          </a:p>
          <a:p>
            <a:pPr marL="0" indent="-45085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deserve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treating/to be treated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a better way.</a:t>
            </a:r>
          </a:p>
          <a:p>
            <a:pPr marL="0" indent="-45085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 thought 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deserved the praise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 </a:t>
            </a:r>
          </a:p>
          <a:p>
            <a:pPr marL="0" indent="-450850" eaLnBrk="1" latinLnBrk="0" hangingPunct="1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值得一提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deserve a mention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-450850" eaLnBrk="1" latinLnBrk="0" hangingPunct="1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2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2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74782" y="541824"/>
            <a:ext cx="1140363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1pPr>
            <a:lvl2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2pPr>
            <a:lvl3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3pPr>
            <a:lvl4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4pPr>
            <a:lvl5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5pPr>
            <a:lvl6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6pPr>
            <a:lvl7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7pPr>
            <a:lvl8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8pPr>
            <a:lvl9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0000FF"/>
                </a:solidFill>
              </a:rPr>
              <a:t>【</a:t>
            </a:r>
            <a:r>
              <a:rPr lang="zh-CN" altLang="en-US" dirty="0">
                <a:solidFill>
                  <a:srgbClr val="0000FF"/>
                </a:solidFill>
              </a:rPr>
              <a:t>语境应用</a:t>
            </a:r>
            <a:r>
              <a:rPr lang="en-US" altLang="zh-CN" dirty="0">
                <a:solidFill>
                  <a:srgbClr val="0000FF"/>
                </a:solidFill>
              </a:rPr>
              <a:t>】</a:t>
            </a:r>
            <a:r>
              <a:rPr lang="zh-CN" altLang="en-US" dirty="0">
                <a:solidFill>
                  <a:srgbClr val="0000FF"/>
                </a:solidFill>
              </a:rPr>
              <a:t>单句语法填空。</a:t>
            </a:r>
          </a:p>
          <a:p>
            <a:pPr marL="450850" indent="-450850"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1) Maria is constantly making efforts; she deserves ___________ (achieve) the goal of entering the key university.</a:t>
            </a:r>
          </a:p>
          <a:p>
            <a:pPr marL="450850" indent="-450850" eaLnBrk="1" hangingPunct="1">
              <a:lnSpc>
                <a:spcPct val="120000"/>
              </a:lnSpc>
              <a:buFontTx/>
              <a:buNone/>
            </a:pPr>
            <a:r>
              <a:rPr lang="en-US" altLang="zh-CN" dirty="0"/>
              <a:t>2) It is those who are willing to give rather than receive that deserve ___________________________ (respect)</a:t>
            </a:r>
            <a:r>
              <a:rPr lang="zh-CN" altLang="en-US" dirty="0"/>
              <a:t>．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9302150" y="1119818"/>
            <a:ext cx="192873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achieve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259414" y="2891815"/>
            <a:ext cx="2092817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respecting/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189582" y="2917481"/>
            <a:ext cx="2799741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be respected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359652" y="3789617"/>
            <a:ext cx="10441160" cy="265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1pPr>
            <a:lvl2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2pPr>
            <a:lvl3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3pPr>
            <a:lvl4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4pPr>
            <a:lvl5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5pPr>
            <a:lvl6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6pPr>
            <a:lvl7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7pPr>
            <a:lvl8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8pPr>
            <a:lvl9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dirty="0">
                <a:solidFill>
                  <a:srgbClr val="0000FF"/>
                </a:solidFill>
              </a:rPr>
              <a:t>一句多译。</a:t>
            </a:r>
          </a:p>
          <a:p>
            <a:pPr eaLnBrk="1" hangingPunct="1"/>
            <a:r>
              <a:rPr lang="zh-CN" altLang="en-US" dirty="0"/>
              <a:t>你如果做错事， 应当受罚。</a:t>
            </a:r>
            <a:endParaRPr lang="en-US" altLang="zh-CN" dirty="0"/>
          </a:p>
          <a:p>
            <a:pPr marL="457200" indent="-457200" eaLnBrk="1" hangingPunct="1">
              <a:buFont typeface="Arial" panose="020B0604020202090204" pitchFamily="34" charset="0"/>
              <a:buChar char="•"/>
            </a:pPr>
            <a:r>
              <a:rPr lang="en-US" altLang="zh-CN" dirty="0"/>
              <a:t>If you do wrong, ____________________________.</a:t>
            </a:r>
          </a:p>
          <a:p>
            <a:pPr marL="457200" indent="-457200" eaLnBrk="1" hangingPunct="1">
              <a:buFont typeface="Arial" panose="020B0604020202090204" pitchFamily="34" charset="0"/>
              <a:buChar char="•"/>
            </a:pPr>
            <a:r>
              <a:rPr lang="en-US" altLang="zh-CN" dirty="0"/>
              <a:t>If you do wrong, ____________________________.</a:t>
            </a:r>
            <a:endParaRPr lang="zh-CN" altLang="en-US" dirty="0"/>
          </a:p>
          <a:p>
            <a:pPr marL="457200" indent="-457200" eaLnBrk="1" hangingPunct="1">
              <a:buFont typeface="Arial" panose="020B0604020202090204" pitchFamily="34" charset="0"/>
              <a:buChar char="•"/>
            </a:pPr>
            <a:r>
              <a:rPr lang="en-US" altLang="zh-CN" dirty="0"/>
              <a:t>If you do wrong, ____________________________.</a:t>
            </a:r>
            <a:endParaRPr lang="zh-CN" altLang="en-US" dirty="0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4019198" y="4831067"/>
            <a:ext cx="5282952" cy="166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1pPr>
            <a:lvl2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2pPr>
            <a:lvl3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3pPr>
            <a:lvl4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4pPr>
            <a:lvl5pPr eaLnBrk="0" hangingPunct="0"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5pPr>
            <a:lvl6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6pPr>
            <a:lvl7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7pPr>
            <a:lvl8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8pPr>
            <a:lvl9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tabLst>
                <a:tab pos="2628900" algn="l"/>
              </a:tabLst>
              <a:defRPr sz="32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sym typeface="Arial" panose="020B060402020209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you deserve punishment.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you deserve punishing.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you deserve to be punished.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266852" y="776956"/>
            <a:ext cx="11467799" cy="540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0850" indent="-450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</a:rPr>
              <a:t>3. The music took me through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twists and turns </a:t>
            </a:r>
            <a:r>
              <a:rPr lang="en-US" altLang="zh-CN" sz="3200" b="1" dirty="0">
                <a:latin typeface="Times New Roman" panose="02020503050405090304" pitchFamily="18" charset="0"/>
              </a:rPr>
              <a:t>of a classic story about a young couple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torn apart </a:t>
            </a:r>
            <a:r>
              <a:rPr lang="en-US" altLang="zh-CN" sz="3200" b="1" dirty="0">
                <a:latin typeface="Times New Roman" panose="02020503050405090304" pitchFamily="18" charset="0"/>
              </a:rPr>
              <a:t>by their families. (</a:t>
            </a:r>
            <a:r>
              <a:rPr lang="zh-CN" altLang="en-US" sz="3200" b="1" dirty="0">
                <a:latin typeface="Times New Roman" panose="02020503050405090304" pitchFamily="18" charset="0"/>
              </a:rPr>
              <a:t>翻译</a:t>
            </a:r>
            <a:r>
              <a:rPr lang="en-US" altLang="zh-CN" sz="3200" b="1" dirty="0">
                <a:latin typeface="Times New Roman" panose="02020503050405090304" pitchFamily="18" charset="0"/>
              </a:rPr>
              <a:t>)</a:t>
            </a:r>
          </a:p>
          <a:p>
            <a:pPr marL="450850" indent="-450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乐曲带我进入了一个</a:t>
            </a:r>
            <a:r>
              <a:rPr lang="zh-CN" altLang="en-US" sz="3200" b="1" u="sng" dirty="0">
                <a:latin typeface="Times New Roman" panose="02020503050405090304" pitchFamily="18" charset="0"/>
              </a:rPr>
              <a:t>跌宕起伏</a:t>
            </a:r>
            <a:r>
              <a:rPr lang="zh-CN" altLang="en-US" sz="3200" b="1" dirty="0">
                <a:latin typeface="Times New Roman" panose="02020503050405090304" pitchFamily="18" charset="0"/>
              </a:rPr>
              <a:t>的经典故事，讲述的是一对年轻情侣被他们的家庭</a:t>
            </a:r>
            <a:r>
              <a:rPr lang="zh-CN" altLang="en-US" sz="3200" b="1" u="sng" dirty="0">
                <a:latin typeface="Times New Roman" panose="02020503050405090304" pitchFamily="18" charset="0"/>
              </a:rPr>
              <a:t>拆散</a:t>
            </a:r>
            <a:r>
              <a:rPr lang="zh-CN" altLang="en-US" sz="3200" b="1" dirty="0">
                <a:latin typeface="Times New Roman" panose="02020503050405090304" pitchFamily="18" charset="0"/>
              </a:rPr>
              <a:t>的遭遇。</a:t>
            </a:r>
          </a:p>
          <a:p>
            <a:pPr marL="450850" indent="-450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  <a:sym typeface="+mn-ea"/>
              </a:rPr>
              <a:t>twists and turns: </a:t>
            </a:r>
            <a:r>
              <a:rPr lang="en-US" altLang="zh-CN" sz="3200" b="1" i="1" dirty="0">
                <a:latin typeface="+mn-lt"/>
                <a:sym typeface="+mn-ea"/>
              </a:rPr>
              <a:t>complicated dealings or circumstances</a:t>
            </a:r>
            <a:endParaRPr lang="en-US" altLang="zh-CN" sz="3200" b="1" i="1" dirty="0">
              <a:latin typeface="+mn-lt"/>
            </a:endParaRPr>
          </a:p>
          <a:p>
            <a:pPr marL="3051175" indent="-30511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+mn-lt"/>
                <a:sym typeface="+mn-ea"/>
              </a:rPr>
              <a:t>                             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sym typeface="+mn-ea"/>
              </a:rPr>
              <a:t>转折，突然变化</a:t>
            </a:r>
            <a:endParaRPr lang="zh-CN" altLang="en-US" sz="3200" b="1" dirty="0">
              <a:solidFill>
                <a:schemeClr val="tx1"/>
              </a:solidFill>
              <a:latin typeface="+mn-lt"/>
            </a:endParaRPr>
          </a:p>
          <a:p>
            <a:pPr marL="3051175" indent="-30511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story has many unexpected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twists and turns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  <a:p>
            <a:pPr marL="3051175" indent="-30511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</a:rPr>
              <a:t>You always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twist </a:t>
            </a:r>
            <a:r>
              <a:rPr lang="en-US" altLang="zh-CN" sz="3200" b="1" dirty="0">
                <a:latin typeface="Times New Roman" panose="02020503050405090304" pitchFamily="18" charset="0"/>
              </a:rPr>
              <a:t>everything I say.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</a:t>
            </a:r>
            <a:r>
              <a:rPr lang="en-US" altLang="zh-CN" sz="3200" b="1" dirty="0">
                <a:latin typeface="Times New Roman" panose="02020503050405090304" pitchFamily="18" charset="0"/>
              </a:rPr>
              <a:t>)</a:t>
            </a:r>
          </a:p>
          <a:p>
            <a:pPr marL="3051175" indent="-30511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latin typeface="Times New Roman" panose="02020503050405090304" pitchFamily="18" charset="0"/>
              </a:rPr>
              <a:t>你总是</a:t>
            </a:r>
            <a:r>
              <a:rPr lang="en-US" altLang="zh-CN" sz="3200" b="1" u="sng" dirty="0">
                <a:latin typeface="Times New Roman" panose="02020503050405090304" pitchFamily="18" charset="0"/>
              </a:rPr>
              <a:t>歪曲</a:t>
            </a:r>
            <a:r>
              <a:rPr lang="en-US" altLang="zh-CN" sz="3200" b="1" dirty="0">
                <a:latin typeface="Times New Roman" panose="02020503050405090304" pitchFamily="18" charset="0"/>
              </a:rPr>
              <a:t>我说的每一句话。</a:t>
            </a:r>
          </a:p>
        </p:txBody>
      </p:sp>
      <p:sp>
        <p:nvSpPr>
          <p:cNvPr id="3" name="矩形 2"/>
          <p:cNvSpPr/>
          <p:nvPr/>
        </p:nvSpPr>
        <p:spPr>
          <a:xfrm>
            <a:off x="5486416" y="1522784"/>
            <a:ext cx="4952870" cy="457188"/>
          </a:xfrm>
          <a:prstGeom prst="rect">
            <a:avLst/>
          </a:prstGeom>
          <a:noFill/>
          <a:ln w="28575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3352872" y="251897"/>
            <a:ext cx="3581306" cy="548272"/>
          </a:xfrm>
          <a:prstGeom prst="wedgeRoundRectCallout">
            <a:avLst>
              <a:gd name="adj1" fmla="val 40883"/>
              <a:gd name="adj2" fmla="val 157802"/>
              <a:gd name="adj3" fmla="val 16667"/>
            </a:avLst>
          </a:prstGeom>
          <a:noFill/>
          <a:ln w="25400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过去分词短语作定语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7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7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7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/>
          <p:nvPr/>
        </p:nvSpPr>
        <p:spPr>
          <a:xfrm>
            <a:off x="381000" y="381000"/>
            <a:ext cx="1147318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tear apart (tear-tore-torn)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撕碎；使分崩离析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Racial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conflict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tearing our country apart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种族冲突把我们国家搞得四分五裂。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tear the paper in two / tear the package open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fabric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tears easily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tore up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letter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angrily.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撕碎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tore a hole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my jeans.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war-torn country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一个饱受战争的国家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(be affected)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4"/>
          <p:cNvSpPr/>
          <p:nvPr/>
        </p:nvSpPr>
        <p:spPr>
          <a:xfrm>
            <a:off x="381000" y="381000"/>
            <a:ext cx="1147318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were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tearing down the old building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order to build a new apartment.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拆除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torn between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my love of dancing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fear of performing in front of the audience.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在……难以选择，左右为难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8762" y="1534849"/>
            <a:ext cx="1150589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0850" indent="-45085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4. When the two lovers, Liang </a:t>
            </a:r>
            <a:r>
              <a:rPr lang="en-US" altLang="zh-CN" sz="3200" b="1" dirty="0" err="1">
                <a:latin typeface="Times New Roman" panose="02020503050405090304" pitchFamily="18" charset="0"/>
              </a:rPr>
              <a:t>Shanbo</a:t>
            </a:r>
            <a:r>
              <a:rPr lang="en-US" altLang="zh-CN" sz="3200" b="1" dirty="0">
                <a:latin typeface="Times New Roman" panose="02020503050405090304" pitchFamily="18" charset="0"/>
              </a:rPr>
              <a:t> and Zhu </a:t>
            </a:r>
            <a:r>
              <a:rPr lang="en-US" altLang="zh-CN" sz="3200" b="1" dirty="0" err="1">
                <a:latin typeface="Times New Roman" panose="02020503050405090304" pitchFamily="18" charset="0"/>
              </a:rPr>
              <a:t>Yingtai</a:t>
            </a:r>
            <a:r>
              <a:rPr lang="en-US" altLang="zh-CN" sz="3200" b="1" dirty="0">
                <a:latin typeface="Times New Roman" panose="02020503050405090304" pitchFamily="18" charset="0"/>
              </a:rPr>
              <a:t>, first meet, the music is light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pleasant</a:t>
            </a:r>
            <a:r>
              <a:rPr lang="en-US" altLang="zh-CN" sz="3200" b="1" dirty="0">
                <a:latin typeface="Times New Roman" panose="02020503050405090304" pitchFamily="18" charset="0"/>
              </a:rPr>
              <a:t>, as if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whispering</a:t>
            </a:r>
            <a:r>
              <a:rPr lang="en-US" altLang="zh-CN" sz="3200" b="1" dirty="0">
                <a:latin typeface="Times New Roman" panose="02020503050405090304" pitchFamily="18" charset="0"/>
              </a:rPr>
              <a:t> to the audience.</a:t>
            </a:r>
          </a:p>
          <a:p>
            <a:pPr marL="450850" indent="-450850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</a:rPr>
              <a:t>    当这两位恋人，梁山伯和祝英台初次见面时，音乐轻柔愉悦，像是在和观众低声耳语。</a:t>
            </a:r>
            <a:endParaRPr lang="en-US" altLang="zh-CN" sz="3200" b="1" dirty="0">
              <a:latin typeface="Times New Roman" panose="02020503050405090304" pitchFamily="18" charset="0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323885" y="834182"/>
            <a:ext cx="4190882" cy="548271"/>
          </a:xfrm>
          <a:prstGeom prst="wedgeRoundRectCallout">
            <a:avLst>
              <a:gd name="adj1" fmla="val -31584"/>
              <a:gd name="adj2" fmla="val 85515"/>
              <a:gd name="adj3" fmla="val 16667"/>
            </a:avLst>
          </a:prstGeom>
          <a:noFill/>
          <a:ln w="25400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</a:t>
            </a:r>
            <a:r>
              <a:rPr lang="zh-CN" altLang="en-US" sz="2800" b="1" dirty="0">
                <a:solidFill>
                  <a:schemeClr val="tx1"/>
                </a:solidFill>
              </a:rPr>
              <a:t>引导时间状语从句</a:t>
            </a:r>
          </a:p>
        </p:txBody>
      </p:sp>
      <p:sp>
        <p:nvSpPr>
          <p:cNvPr id="2" name="上弧形箭头 1"/>
          <p:cNvSpPr/>
          <p:nvPr/>
        </p:nvSpPr>
        <p:spPr>
          <a:xfrm rot="10800000" flipV="1">
            <a:off x="3200484" y="1230057"/>
            <a:ext cx="1904950" cy="432638"/>
          </a:xfrm>
          <a:prstGeom prst="curvedDownArrow">
            <a:avLst/>
          </a:prstGeom>
          <a:solidFill>
            <a:srgbClr val="FFA508"/>
          </a:solidFill>
          <a:ln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19652" y="1662695"/>
            <a:ext cx="5562454" cy="457188"/>
          </a:xfrm>
          <a:prstGeom prst="rect">
            <a:avLst/>
          </a:prstGeom>
          <a:noFill/>
          <a:ln w="28575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标注 9"/>
          <p:cNvSpPr/>
          <p:nvPr/>
        </p:nvSpPr>
        <p:spPr>
          <a:xfrm>
            <a:off x="5029228" y="883516"/>
            <a:ext cx="4571880" cy="476160"/>
          </a:xfrm>
          <a:prstGeom prst="wedgeRoundRectCallout">
            <a:avLst>
              <a:gd name="adj1" fmla="val -31584"/>
              <a:gd name="adj2" fmla="val 85515"/>
              <a:gd name="adj3" fmla="val 16667"/>
            </a:avLst>
          </a:prstGeom>
          <a:noFill/>
          <a:ln w="25400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two lovers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的同位语</a:t>
            </a:r>
          </a:p>
        </p:txBody>
      </p:sp>
      <p:sp>
        <p:nvSpPr>
          <p:cNvPr id="3" name="矩形 2"/>
          <p:cNvSpPr/>
          <p:nvPr/>
        </p:nvSpPr>
        <p:spPr>
          <a:xfrm>
            <a:off x="339839" y="4336738"/>
            <a:ext cx="11429700" cy="2062103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as if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引导省略形式的状语从句，省略了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the music/it is</a:t>
            </a:r>
            <a:r>
              <a:rPr lang="zh-CN" altLang="en-US" sz="3200" b="1" dirty="0">
                <a:latin typeface="Times New Roman" panose="02020503050405090304" pitchFamily="18" charset="0"/>
              </a:rPr>
              <a:t>。如果</a:t>
            </a:r>
            <a:r>
              <a:rPr lang="en-US" altLang="zh-CN" sz="3200" b="1" dirty="0">
                <a:latin typeface="Times New Roman" panose="02020503050405090304" pitchFamily="18" charset="0"/>
              </a:rPr>
              <a:t>as if</a:t>
            </a:r>
            <a:r>
              <a:rPr lang="zh-CN" altLang="en-US" sz="3200" b="1" dirty="0">
                <a:latin typeface="Times New Roman" panose="02020503050405090304" pitchFamily="18" charset="0"/>
              </a:rPr>
              <a:t>引导的从句是“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主语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系动词</a:t>
            </a:r>
            <a:r>
              <a:rPr lang="zh-CN" altLang="en-US" sz="3200" b="1" dirty="0">
                <a:latin typeface="Times New Roman" panose="02020503050405090304" pitchFamily="18" charset="0"/>
              </a:rPr>
              <a:t>”结构，且主语与主句的主语一样，系动词是</a:t>
            </a:r>
            <a:r>
              <a:rPr lang="en-US" altLang="zh-CN" sz="3200" b="1" dirty="0">
                <a:latin typeface="Times New Roman" panose="02020503050405090304" pitchFamily="18" charset="0"/>
              </a:rPr>
              <a:t>be</a:t>
            </a:r>
            <a:r>
              <a:rPr lang="zh-CN" altLang="en-US" sz="3200" b="1" dirty="0">
                <a:latin typeface="Times New Roman" panose="02020503050405090304" pitchFamily="18" charset="0"/>
              </a:rPr>
              <a:t>的某种形式时，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可以省略主语和系动词</a:t>
            </a:r>
            <a:r>
              <a:rPr lang="zh-CN" altLang="en-US" sz="3200" b="1" dirty="0">
                <a:latin typeface="Times New Roman" panose="02020503050405090304" pitchFamily="18" charset="0"/>
              </a:rPr>
              <a:t>。如：</a:t>
            </a:r>
            <a:r>
              <a:rPr lang="en-US" altLang="zh-CN" sz="3200" b="1" dirty="0">
                <a:latin typeface="Times New Roman" panose="02020503050405090304" pitchFamily="18" charset="0"/>
              </a:rPr>
              <a:t>He acts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as if </a:t>
            </a:r>
            <a:r>
              <a:rPr lang="en-US" altLang="zh-CN" sz="3200" b="1" dirty="0">
                <a:latin typeface="Times New Roman" panose="02020503050405090304" pitchFamily="18" charset="0"/>
              </a:rPr>
              <a:t>(he was) a fool.</a:t>
            </a:r>
            <a:endParaRPr lang="zh-CN" altLang="en-US" sz="32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9" grpId="0" animBg="1"/>
      <p:bldP spid="10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4536" y="914466"/>
            <a:ext cx="10515324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当两名表演者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Jack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Lucy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走上舞台，观众顿时安静下来，就像等待已久一样。</a:t>
            </a:r>
          </a:p>
        </p:txBody>
      </p:sp>
      <p:sp>
        <p:nvSpPr>
          <p:cNvPr id="5" name="矩形 4"/>
          <p:cNvSpPr/>
          <p:nvPr/>
        </p:nvSpPr>
        <p:spPr>
          <a:xfrm>
            <a:off x="914536" y="2927325"/>
            <a:ext cx="10275824" cy="1813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 the two performers, Jack and Lucy, stepped onto the stage, the audience became silent, as if waiting for a long time.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2057506" y="2894348"/>
            <a:ext cx="9639590" cy="3046988"/>
          </a:xfrm>
          <a:prstGeom prst="rect">
            <a:avLst/>
          </a:prstGeom>
          <a:noFill/>
          <a:ln w="28575">
            <a:solidFill>
              <a:srgbClr val="FFA50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pleasant to sb./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某物是友善的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pleasant to the eye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赏心悦目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pleasant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乐意做某事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pleasant for sb.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对某人来说做某事是令人愉快的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370" y="652661"/>
            <a:ext cx="11142726" cy="1863090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pleasant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  <a:r>
              <a:rPr lang="en-US" altLang="zh-CN" sz="3200" b="1" i="1" dirty="0">
                <a:solidFill>
                  <a:schemeClr val="bg2">
                    <a:lumMod val="1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enjoyable or attractive and making you feel happy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令人愉快的；友好的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photographs brought back many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pleasant memories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48" y="2723165"/>
            <a:ext cx="1387805" cy="77717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57400" y="534035"/>
            <a:ext cx="9832975" cy="5406390"/>
          </a:xfrm>
          <a:prstGeom prst="rect">
            <a:avLst/>
          </a:prstGeom>
          <a:noFill/>
          <a:ln w="28575">
            <a:solidFill>
              <a:srgbClr val="FFA508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happy or satisfied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快乐的，高兴的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满意的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不用在名词前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pleased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开心做某事 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pleased with sb./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某事感到满意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content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pleasure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高兴；荣幸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pleasure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愉快地，高兴地；没问题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my/a pleasure.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不客气。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不用谢。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pleasure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做某事是一件愉快的事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54" y="914466"/>
            <a:ext cx="1700911" cy="952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62140" y="990664"/>
            <a:ext cx="10820116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pleased/pleasant/pleasure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We’re _________ with what he has done. 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weather in our city is very _________. </a:t>
            </a:r>
          </a:p>
          <a:p>
            <a:pPr marL="446405" indent="-446405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Did you have a _________ holiday in London?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_________ to see you again,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Mr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Zhang.</a:t>
            </a:r>
          </a:p>
          <a:p>
            <a:pPr marL="450850" indent="-45085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Only when you love reading and begin reading good books will you taste the ___________ of reading.</a:t>
            </a:r>
          </a:p>
        </p:txBody>
      </p:sp>
      <p:sp>
        <p:nvSpPr>
          <p:cNvPr id="5" name="矩形 4"/>
          <p:cNvSpPr/>
          <p:nvPr/>
        </p:nvSpPr>
        <p:spPr>
          <a:xfrm>
            <a:off x="2601825" y="1575677"/>
            <a:ext cx="1665515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pleased</a:t>
            </a:r>
          </a:p>
        </p:txBody>
      </p:sp>
      <p:sp>
        <p:nvSpPr>
          <p:cNvPr id="6" name="矩形 5"/>
          <p:cNvSpPr/>
          <p:nvPr/>
        </p:nvSpPr>
        <p:spPr>
          <a:xfrm>
            <a:off x="6803709" y="2168970"/>
            <a:ext cx="1915886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pleasant</a:t>
            </a:r>
          </a:p>
        </p:txBody>
      </p:sp>
      <p:sp>
        <p:nvSpPr>
          <p:cNvPr id="7" name="矩形 6"/>
          <p:cNvSpPr/>
          <p:nvPr/>
        </p:nvSpPr>
        <p:spPr>
          <a:xfrm>
            <a:off x="4049624" y="2751163"/>
            <a:ext cx="1981200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pleasant</a:t>
            </a:r>
          </a:p>
        </p:txBody>
      </p:sp>
      <p:sp>
        <p:nvSpPr>
          <p:cNvPr id="8" name="矩形 7"/>
          <p:cNvSpPr/>
          <p:nvPr/>
        </p:nvSpPr>
        <p:spPr>
          <a:xfrm>
            <a:off x="1447922" y="3351870"/>
            <a:ext cx="1698172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Pleased</a:t>
            </a:r>
          </a:p>
        </p:txBody>
      </p:sp>
      <p:sp>
        <p:nvSpPr>
          <p:cNvPr id="9" name="矩形 8"/>
          <p:cNvSpPr/>
          <p:nvPr/>
        </p:nvSpPr>
        <p:spPr>
          <a:xfrm>
            <a:off x="4572040" y="4462200"/>
            <a:ext cx="1981200" cy="631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pleasure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8600" y="457835"/>
            <a:ext cx="11697335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eaLnBrk="0" latin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whisper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耳语；私下说；低语</a:t>
            </a:r>
          </a:p>
          <a:p>
            <a:pPr marL="0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saw Tom and Mary talk to each other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whispers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I wanted to know what they were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whispering about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whispered to Lisa 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 would try to find it out.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whispers= in a whisper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小声地，悄悄地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whisper about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低声说某事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whisper to sb.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跟某人低语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722630" eaLnBrk="0" latinLnBrk="0" hangingPunct="0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722630" eaLnBrk="0" latinLnBrk="0" hangingPunct="0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whispered that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would soon die and he did.</a:t>
            </a:r>
          </a:p>
          <a:p>
            <a:pPr marL="0" indent="-722630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有人私下说.../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悄声暗示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3546" y="761416"/>
            <a:ext cx="10896314" cy="541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0850" indent="-450850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</a:p>
          <a:p>
            <a:pPr marL="450850" indent="-45085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这是他悄声说的，所以我没有听清说的是什么。</a:t>
            </a:r>
          </a:p>
          <a:p>
            <a:pPr marL="450850" indent="-45085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He said it ________ ________ ________, so I couldn’t hear.</a:t>
            </a:r>
          </a:p>
          <a:p>
            <a:pPr marL="450850" indent="-45085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今天早上她对我悄悄说了这个消息。</a:t>
            </a:r>
          </a:p>
          <a:p>
            <a:pPr marL="450850" indent="-45085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She _________ ________ ________ ________ ________ this morning.</a:t>
            </a:r>
          </a:p>
          <a:p>
            <a:pPr marL="450850" indent="-45085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小女孩小声对我说她觉得很害怕。</a:t>
            </a:r>
          </a:p>
          <a:p>
            <a:pPr marL="450850" indent="-450850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The girl _________ ________ ________ ________ she felt very afraid.</a:t>
            </a:r>
          </a:p>
        </p:txBody>
      </p:sp>
      <p:sp>
        <p:nvSpPr>
          <p:cNvPr id="2" name="矩形 1"/>
          <p:cNvSpPr/>
          <p:nvPr/>
        </p:nvSpPr>
        <p:spPr>
          <a:xfrm>
            <a:off x="3352872" y="1905040"/>
            <a:ext cx="6096000" cy="63171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             a         whisper </a:t>
            </a:r>
          </a:p>
        </p:txBody>
      </p:sp>
      <p:sp>
        <p:nvSpPr>
          <p:cNvPr id="5" name="矩形 4"/>
          <p:cNvSpPr/>
          <p:nvPr/>
        </p:nvSpPr>
        <p:spPr>
          <a:xfrm>
            <a:off x="1676356" y="3112839"/>
            <a:ext cx="9067722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whispered      the          news            to            me</a:t>
            </a:r>
          </a:p>
        </p:txBody>
      </p:sp>
      <p:sp>
        <p:nvSpPr>
          <p:cNvPr id="6" name="矩形 5"/>
          <p:cNvSpPr/>
          <p:nvPr/>
        </p:nvSpPr>
        <p:spPr>
          <a:xfrm>
            <a:off x="2438496" y="4876935"/>
            <a:ext cx="7391206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whispered        to             me         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2400" y="381635"/>
            <a:ext cx="11774805" cy="17799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get dramatic with heavier notes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在沉重的音调中变得激烈起来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dramatic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exciting and impressive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激动人心的，引人注目的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dramatic victory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激动人心的胜利</a:t>
            </a:r>
          </a:p>
          <a:p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They watched dramatic pictures of the police raid on TV.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他们在电视上看到了警察突击搜捕的激动人心的画面。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dramatically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adv.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4952" y="940150"/>
            <a:ext cx="11505898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Angry and sad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Liang falls sick and dies.</a:t>
            </a:r>
          </a:p>
          <a:p>
            <a:pPr marL="0" indent="354330" eaLnBrk="1" latinLnBrk="0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梁山伯悲愤交加，染病而亡。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eaLnBrk="1" latinLnBrk="0" hangingPunct="1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eaLnBrk="1" latinLnBrk="0" hangingPunct="1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Now she was back,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eager to see her friends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Greatly interested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I asked how he played these new works.</a:t>
            </a: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Helpless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I decided to leave the place.</a:t>
            </a: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waited,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breathless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for the result.</a:t>
            </a:r>
          </a:p>
          <a:p>
            <a:pPr marL="35433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他们屏住呼吸等待结果。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eaLnBrk="1" latinLnBrk="0" hangingPunct="1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762000" y="457200"/>
            <a:ext cx="2464435" cy="482600"/>
          </a:xfrm>
          <a:prstGeom prst="wedgeRoundRectCallout">
            <a:avLst>
              <a:gd name="adj1" fmla="val -31584"/>
              <a:gd name="adj2" fmla="val 85515"/>
              <a:gd name="adj3" fmla="val 16667"/>
            </a:avLst>
          </a:prstGeom>
          <a:noFill/>
          <a:ln w="25400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形容词作状语</a:t>
            </a:r>
          </a:p>
        </p:txBody>
      </p:sp>
      <p:sp>
        <p:nvSpPr>
          <p:cNvPr id="2" name="矩形 1"/>
          <p:cNvSpPr/>
          <p:nvPr/>
        </p:nvSpPr>
        <p:spPr>
          <a:xfrm>
            <a:off x="746418" y="2133634"/>
            <a:ext cx="10972512" cy="1274195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形容词作状语侧重说明动作执行者的状态、特性等。形容词作状语，常和句子的其他部分用逗号隔开。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130" y="1828842"/>
            <a:ext cx="9829542" cy="1649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疲惫不堪并且心不在焉，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Mary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听不进去老师在说什么。</a:t>
            </a:r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43130" y="3120734"/>
            <a:ext cx="9829542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Tired and absent-minded, Mary could not follow what the teacher was saying.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60045" y="305435"/>
            <a:ext cx="1175258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weep </a:t>
            </a:r>
            <a:r>
              <a:rPr lang="en-US" sz="3200" b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vi. &amp; vt.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over sth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为……而哭</a:t>
            </a:r>
            <a:endParaRPr lang="en-US" sz="3200" b="1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endParaRPr lang="en-US" sz="3200" b="1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weep uncontrollably/bitterly</a:t>
            </a: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weep</a:t>
            </a:r>
            <a:r>
              <a:rPr lang="en-US" sz="3200" b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for joy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高兴地流泪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=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wept tears of joy.</a:t>
            </a: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weep bitter tears of disappointment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失望得痛哭流涕</a:t>
            </a:r>
            <a:endParaRPr 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sz="3200" b="1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have a good weep</a:t>
            </a:r>
            <a:r>
              <a:rPr lang="en-US" sz="3200" b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大哭一场</a:t>
            </a:r>
            <a:r>
              <a:rPr lang="en-US" altLang="zh-CN" sz="3200" b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(n.)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551180"/>
            <a:ext cx="11353800" cy="6522085"/>
          </a:xfrm>
          <a:noFill/>
          <a:ln w="9525" algn="ctr">
            <a:noFill/>
            <a:miter lim="800000"/>
          </a:ln>
          <a:effectLst/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kern="1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6. </a:t>
            </a:r>
            <a:r>
              <a:rPr lang="en-US" altLang="zh-CN" sz="3200" b="1" kern="1200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Overcome</a:t>
            </a:r>
            <a:r>
              <a:rPr lang="en-US" altLang="zh-CN" sz="3200" b="1" kern="1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with sorrow, she jumps into his grave.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她不胜伤悲，跳进了梁山伯的坟墓。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overcome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if an emotion overcomes someone, they cannot behave normally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受到</a:t>
            </a:r>
            <a:r>
              <a:rPr lang="en-US" altLang="zh-CN" sz="3200" b="1" dirty="0">
                <a:solidFill>
                  <a:schemeClr val="tx1"/>
                </a:solidFill>
                <a:latin typeface="+mj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的极大影响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overwhelm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Charles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overcome with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grief at the funeral.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successfully control a feeling or problem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克服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struggled to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overcome his shyness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overcome difficulties/ shortcomings/weaknesses/fear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克服困难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缺点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弱点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恐惧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defeat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sb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战胜</a:t>
            </a:r>
            <a:endParaRPr lang="zh-CN" altLang="en-US" sz="32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 the final game Sweden easily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overcame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France.</a:t>
            </a:r>
            <a:r>
              <a:rPr lang="en-US" altLang="zh-CN" sz="3200" b="1" kern="1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1143130" y="2968"/>
            <a:ext cx="4319471" cy="548272"/>
          </a:xfrm>
          <a:prstGeom prst="wedgeRoundRectCallout">
            <a:avLst>
              <a:gd name="adj1" fmla="val -30013"/>
              <a:gd name="adj2" fmla="val 91692"/>
              <a:gd name="adj3" fmla="val 16667"/>
            </a:avLst>
          </a:prstGeom>
          <a:noFill/>
          <a:ln w="25400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过去分词短语作原因状语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4035"/>
            <a:ext cx="10962005" cy="5763895"/>
          </a:xfrm>
        </p:spPr>
        <p:txBody>
          <a:bodyPr>
            <a:noAutofit/>
          </a:bodyPr>
          <a:lstStyle/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翻译句子。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找出办法战胜困难。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Find a way to overcome your difficulties.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考试前的晚上，恐惧和绝望让我内心无比惊慌。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night before the test I was overcome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fear and despair.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她显然兴奋不已。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was obviously overcome with excitement.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中国队在这场扣人心弦的比赛中，战胜了荷兰队。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China overcame Netherland in this thrilling match.</a:t>
            </a:r>
            <a:endParaRPr lang="en-US" altLang="zh-CN" sz="3200" b="1" dirty="0">
              <a:solidFill>
                <a:srgbClr val="FF0000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04800"/>
            <a:ext cx="10962005" cy="5763895"/>
          </a:xfrm>
        </p:spPr>
        <p:txBody>
          <a:bodyPr>
            <a:noAutofit/>
          </a:bodyPr>
          <a:lstStyle/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grave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very serious and important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giving you a reason to feel worried 严重的；重大的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police have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expressed grave concern about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missing child's safety.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consequences 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will be very 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grave 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nothing is done.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如果不采取任何措施，后果将会是非常严重的。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were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grave danger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我们处于极大的危险之中。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looked very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grave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he entered the room.</a:t>
            </a:r>
          </a:p>
          <a:p>
            <a:pPr marL="0" indent="-446405" fontAlgn="auto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他进入房间时表情非常严肃。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304952" y="152486"/>
            <a:ext cx="1142986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7. Finally, during the most exciting part, the music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takes a softer turn</a:t>
            </a:r>
            <a:r>
              <a:rPr lang="en-US" altLang="zh-CN" sz="3200" b="1" dirty="0">
                <a:latin typeface="Times New Roman" panose="02020503050405090304" pitchFamily="18" charset="0"/>
              </a:rPr>
              <a:t>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ends on a bittersweet note</a:t>
            </a:r>
            <a:r>
              <a:rPr lang="en-US" altLang="zh-CN" sz="3200" b="1" dirty="0">
                <a:latin typeface="Times New Roman" panose="02020503050405090304" pitchFamily="18" charset="0"/>
              </a:rPr>
              <a:t>, telling us how the couple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transform</a:t>
            </a:r>
            <a:r>
              <a:rPr lang="en-US" altLang="zh-CN" sz="3200" b="1" dirty="0">
                <a:latin typeface="Times New Roman" panose="02020503050405090304" pitchFamily="18" charset="0"/>
              </a:rPr>
              <a:t> into butterflies and fly away to be together forever.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最后，在最激昂的部分，乐曲转而柔缓，以凄美的曲调收尾，它告诉我们，这对情侣化蝶而去，永世不再分离。</a:t>
            </a: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5"/>
          <p:cNvSpPr txBox="1"/>
          <p:nvPr>
            <p:custDataLst>
              <p:tags r:id="rId1"/>
            </p:custDataLst>
          </p:nvPr>
        </p:nvSpPr>
        <p:spPr>
          <a:xfrm>
            <a:off x="838200" y="1856740"/>
            <a:ext cx="11107420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72263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This was an event that would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transform my life</a:t>
            </a:r>
            <a:r>
              <a:rPr lang="en-US" altLang="zh-CN" sz="3200" b="1" dirty="0">
                <a:latin typeface="Times New Roman" panose="02020503050405090304" pitchFamily="18" charset="0"/>
              </a:rPr>
              <a:t>.</a:t>
            </a:r>
          </a:p>
          <a:p>
            <a:pPr marL="0" indent="-722630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The film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transformed</a:t>
            </a:r>
            <a:r>
              <a:rPr lang="en-US" altLang="zh-CN" sz="3200" b="1" u="sng" dirty="0">
                <a:latin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him from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</a:rPr>
              <a:t>an unknown schoolboy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into</a:t>
            </a:r>
            <a:r>
              <a:rPr lang="en-US" altLang="zh-CN" sz="3200" b="1" u="sng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</a:rPr>
              <a:t>a star almost overnight.</a:t>
            </a:r>
          </a:p>
          <a:p>
            <a:pPr marL="0" indent="-722630" eaLnBrk="1" latinLnBrk="0" hangingPunct="1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0" indent="-72263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transformation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    </a:t>
            </a:r>
            <a:r>
              <a:rPr lang="zh-CN" altLang="en-US" sz="3200" b="1" dirty="0">
                <a:sym typeface="+mn-ea"/>
              </a:rPr>
              <a:t>改观，改变</a:t>
            </a:r>
            <a:endParaRPr lang="en-US" altLang="zh-CN" sz="3200" b="1" dirty="0"/>
          </a:p>
          <a:p>
            <a:pPr marL="0" indent="-722630" eaLnBrk="1" latinLnBrk="0" hangingPunct="1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</a:endParaRPr>
          </a:p>
        </p:txBody>
      </p:sp>
      <p:sp>
        <p:nvSpPr>
          <p:cNvPr id="4" name="矩形 1"/>
          <p:cNvSpPr/>
          <p:nvPr>
            <p:custDataLst>
              <p:tags r:id="rId2"/>
            </p:custDataLst>
          </p:nvPr>
        </p:nvSpPr>
        <p:spPr>
          <a:xfrm>
            <a:off x="533550" y="457162"/>
            <a:ext cx="11429860" cy="1274195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 marL="3313430" indent="-3313430" eaLnBrk="0" hangingPunc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transform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.&amp;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. 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to completely change the appearance or character of something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变形，改观，转化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35359" y="836712"/>
            <a:ext cx="11500325" cy="53285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kern="0" dirty="0">
                <a:solidFill>
                  <a:srgbClr val="0000FF"/>
                </a:solidFill>
              </a:rPr>
              <a:t>【</a:t>
            </a:r>
            <a:r>
              <a:rPr lang="zh-CN" altLang="en-US" b="1" kern="0" dirty="0">
                <a:solidFill>
                  <a:srgbClr val="0000FF"/>
                </a:solidFill>
              </a:rPr>
              <a:t>语境应用</a:t>
            </a:r>
            <a:r>
              <a:rPr lang="en-US" altLang="zh-CN" b="1" kern="0" dirty="0">
                <a:solidFill>
                  <a:srgbClr val="0000FF"/>
                </a:solidFill>
              </a:rPr>
              <a:t>】</a:t>
            </a:r>
            <a:r>
              <a:rPr lang="zh-CN" altLang="en-US" b="1" kern="0" dirty="0">
                <a:solidFill>
                  <a:srgbClr val="0000FF"/>
                </a:solidFill>
                <a:cs typeface="Times New Roman" panose="02020503050405090304" pitchFamily="18" charset="0"/>
              </a:rPr>
              <a:t>单句语法填空。</a:t>
            </a:r>
          </a:p>
          <a:p>
            <a:pPr marL="450850" indent="-45085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kern="0" dirty="0"/>
              <a:t>1) Fatherhood transformed him ________ a more responsible person.</a:t>
            </a:r>
          </a:p>
          <a:p>
            <a:pPr marL="450850" indent="-45085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kern="0" dirty="0"/>
              <a:t>2) The movie transformed her almost overnight _______ an unknown girl to a superstar.</a:t>
            </a:r>
          </a:p>
          <a:p>
            <a:pPr marL="450850" indent="-45085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kern="0" dirty="0"/>
              <a:t>3) The way we work has undergone a complete ______________ (transform) in the past decade.</a:t>
            </a:r>
          </a:p>
          <a:p>
            <a:pPr marL="450850" indent="-450850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b="1" kern="0" dirty="0"/>
              <a:t>4) Up to now email ________________ (transform) the way that people communicate.</a:t>
            </a:r>
            <a:endParaRPr lang="zh-CN" altLang="en-US" b="1" kern="0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337631" y="1409282"/>
            <a:ext cx="1277915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</a:rPr>
              <a:t>into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</a:rPr>
              <a:t>　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8892381" y="2611136"/>
            <a:ext cx="1042851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</a:rPr>
              <a:t>from</a:t>
            </a:r>
            <a:endParaRPr lang="zh-CN" altLang="en-US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8471462" y="3789040"/>
            <a:ext cx="3365024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</a:rPr>
              <a:t> transformation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</a:rPr>
              <a:t>　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3791744" y="4915392"/>
            <a:ext cx="3068468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FB56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</a:rPr>
              <a:t>has transformed</a:t>
            </a:r>
            <a:endParaRPr lang="zh-CN" altLang="en-US" sz="3200" b="1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33554" y="4038383"/>
            <a:ext cx="11726631" cy="6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631825" eaLnBrk="0" latinLnBrk="0" hangingPunct="0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64770" y="304800"/>
            <a:ext cx="12124690" cy="127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0850" indent="-450850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</a:rPr>
              <a:t>8.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Butterfly Lovers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combines</a:t>
            </a:r>
            <a:r>
              <a:rPr lang="en-US" altLang="zh-CN" sz="3200" b="1" dirty="0">
                <a:latin typeface="Times New Roman" panose="02020503050405090304" pitchFamily="18" charset="0"/>
              </a:rPr>
              <a:t> Chinese and Western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musical elements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</a:rPr>
              <a:t>  《</a:t>
            </a:r>
            <a:r>
              <a:rPr lang="zh-CN" altLang="en-US" sz="3200" b="1" dirty="0">
                <a:latin typeface="Times New Roman" panose="02020503050405090304" pitchFamily="18" charset="0"/>
              </a:rPr>
              <a:t>梁祝</a:t>
            </a:r>
            <a:r>
              <a:rPr lang="en-US" altLang="zh-CN" sz="3200" b="1" dirty="0">
                <a:latin typeface="Times New Roman" panose="02020503050405090304" pitchFamily="18" charset="0"/>
              </a:rPr>
              <a:t>》</a:t>
            </a:r>
            <a:r>
              <a:rPr lang="zh-CN" altLang="en-US" sz="3200" b="1" dirty="0">
                <a:latin typeface="Times New Roman" panose="02020503050405090304" pitchFamily="18" charset="0"/>
              </a:rPr>
              <a:t>融合了中西方的音乐元素</a:t>
            </a:r>
            <a:r>
              <a:rPr lang="en-US" altLang="zh-CN" sz="3200" b="1" dirty="0">
                <a:latin typeface="+mj-ea"/>
                <a:ea typeface="+mj-ea"/>
              </a:rPr>
              <a:t>……</a:t>
            </a:r>
            <a:endParaRPr lang="zh-CN" altLang="en-US" sz="3200" b="1" dirty="0"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3542" y="1752636"/>
            <a:ext cx="10896314" cy="2256155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combine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. &amp;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. 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to join two or more things or groups </a:t>
            </a:r>
          </a:p>
          <a:p>
            <a:pPr eaLnBrk="0" hangingPunct="0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                     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融合，结合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eaLnBrk="0" hangingPunct="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                       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together to form a single one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合并；混合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marL="450850" indent="-450850">
              <a:lnSpc>
                <a:spcPct val="110000"/>
              </a:lnSpc>
              <a:buClr>
                <a:srgbClr val="CC0000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combine ... with/and ... </a:t>
            </a:r>
            <a:r>
              <a:rPr lang="zh-CN" altLang="en-US" sz="3200" b="1" dirty="0">
                <a:latin typeface="+mj-ea"/>
              </a:rPr>
              <a:t>与</a:t>
            </a:r>
            <a:r>
              <a:rPr lang="en-US" altLang="zh-CN" sz="3200" b="1" dirty="0">
                <a:latin typeface="+mj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</a:rPr>
              <a:t>相结合</a:t>
            </a:r>
            <a:endParaRPr lang="en-US" altLang="zh-CN" sz="3200" b="1" dirty="0">
              <a:latin typeface="+mj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4800" y="305435"/>
            <a:ext cx="11609070" cy="1127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-63182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Hydrogen and oxygen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combine to form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water.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63182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氢与氧化合成水。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63182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combined against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common enemy.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631825" eaLnBrk="0" latin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他们联手对付共同的敌人。</a:t>
            </a:r>
            <a:endParaRPr 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We are still looking for someone who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combines all the necessary qualities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我们仍在寻觅</a:t>
            </a:r>
            <a:r>
              <a:rPr lang="en-US" sz="3200" b="1" u="sng">
                <a:latin typeface="Times New Roman Regular" panose="02020503050405090304" charset="0"/>
                <a:cs typeface="Times New Roman Regular" panose="02020503050405090304" charset="0"/>
              </a:rPr>
              <a:t>兼具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所有必要才能的人选。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4800" y="305435"/>
            <a:ext cx="11609070" cy="1127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combination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联合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化合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What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 unusual combination of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flavours!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多么与众不同的</a:t>
            </a:r>
            <a:r>
              <a:rPr lang="en-US" sz="3200" b="1" u="sng">
                <a:latin typeface="Times New Roman Regular" panose="02020503050405090304" charset="0"/>
                <a:cs typeface="Times New Roman Regular" panose="02020503050405090304" charset="0"/>
              </a:rPr>
              <a:t>混合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风味啊！(</a:t>
            </a:r>
            <a:r>
              <a:rPr lang="en-US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mix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These paints can be used individually or </a:t>
            </a:r>
            <a:r>
              <a:rPr lang="en-US" sz="3200" b="1" u="sng">
                <a:latin typeface="Times New Roman Bold" panose="02020503050405090304" charset="0"/>
                <a:cs typeface="Times New Roman Bold" panose="02020503050405090304" charset="0"/>
              </a:rPr>
              <a:t>in combination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这些涂料可单独或</a:t>
            </a:r>
            <a:r>
              <a:rPr lang="en-US" sz="3200" b="1" u="sng">
                <a:latin typeface="Times New Roman Regular" panose="02020503050405090304" charset="0"/>
                <a:cs typeface="Times New Roman Regular" panose="02020503050405090304" charset="0"/>
              </a:rPr>
              <a:t>混合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使用。(</a:t>
            </a:r>
            <a:r>
              <a:rPr lang="en-US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togerther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The firm is working on a new product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combination with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several overseas partners.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这家公司与几家海外合伙人在</a:t>
            </a:r>
            <a:r>
              <a:rPr lang="en-US" sz="3200" b="1" u="sng">
                <a:latin typeface="Times New Roman Regular" panose="02020503050405090304" charset="0"/>
                <a:cs typeface="Times New Roman Regular" panose="02020503050405090304" charset="0"/>
              </a:rPr>
              <a:t>联合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开发新产品。(</a:t>
            </a:r>
            <a:r>
              <a:rPr lang="en-US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in association with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combined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联合的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共同的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combined effect/effects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共同作用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效果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922" y="1143060"/>
            <a:ext cx="8229600" cy="42672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翻译句子。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两个小店合并成了一个大商店。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 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把鸡蛋和少量面粉混合起来。</a:t>
            </a: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粉红色是红色与白色的混合色。</a:t>
            </a:r>
          </a:p>
        </p:txBody>
      </p:sp>
      <p:sp>
        <p:nvSpPr>
          <p:cNvPr id="228357" name="Rectangle 5"/>
          <p:cNvSpPr>
            <a:spLocks noChangeArrowheads="1"/>
          </p:cNvSpPr>
          <p:nvPr/>
        </p:nvSpPr>
        <p:spPr bwMode="auto">
          <a:xfrm>
            <a:off x="1981308" y="2332676"/>
            <a:ext cx="868666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Two small shops combined to make a large one.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Combine the eggs with a little flour.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Pink is a combination of red and white.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8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8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8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6200" y="153035"/>
            <a:ext cx="11877675" cy="3431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universal </a:t>
            </a:r>
            <a:r>
              <a:rPr lang="en-US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普遍的，共同的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(</a:t>
            </a:r>
            <a:r>
              <a:rPr lang="en-US" altLang="zh-CN" sz="3200" b="1" i="1">
                <a:latin typeface="Times New Roman Bold Italic" panose="02020503050405090304" charset="0"/>
                <a:cs typeface="Times New Roman Bold Italic" panose="02020503050405090304" charset="0"/>
              </a:rPr>
              <a:t>involve all the people, 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general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endParaRPr 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Such problems are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universal feature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of old age.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这类问题是老年人的</a:t>
            </a:r>
            <a:r>
              <a:rPr lang="en-US" sz="3200" b="1" u="sng">
                <a:latin typeface="Times New Roman Regular" panose="02020503050405090304" charset="0"/>
                <a:cs typeface="Times New Roman Regular" panose="02020503050405090304" charset="0"/>
              </a:rPr>
              <a:t>通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病。</a:t>
            </a: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The incidents caused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universal concern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这些事件引起了</a:t>
            </a:r>
            <a:r>
              <a:rPr lang="en-US" sz="3200" b="1" u="sng">
                <a:latin typeface="Times New Roman Bold" panose="02020503050405090304" charset="0"/>
                <a:cs typeface="Times New Roman Bold" panose="02020503050405090304" charset="0"/>
              </a:rPr>
              <a:t>普遍关注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。</a:t>
            </a:r>
          </a:p>
          <a:p>
            <a:endParaRPr 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I have been amazed at the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universality 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of all of our experiences, whatever our origins, sex or age.</a:t>
            </a: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尽管我们的身世、性别和年龄各不相同，但令我惊讶的是我们都有着共同的经历。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228754" y="609674"/>
            <a:ext cx="11353502" cy="1863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61950" indent="-361950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</a:rPr>
              <a:t>9. I can always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rely on </a:t>
            </a:r>
            <a:r>
              <a:rPr lang="en-US" altLang="zh-CN" sz="3200" b="1" dirty="0">
                <a:latin typeface="Times New Roman" panose="02020503050405090304" pitchFamily="18" charset="0"/>
              </a:rPr>
              <a:t>them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introduce me to</a:t>
            </a:r>
            <a:r>
              <a:rPr lang="en-US" altLang="zh-CN" sz="3200" b="1" dirty="0">
                <a:latin typeface="Times New Roman" panose="02020503050405090304" pitchFamily="18" charset="0"/>
              </a:rPr>
              <a:t> some great songs.</a:t>
            </a:r>
          </a:p>
          <a:p>
            <a:pPr marL="361950" indent="-361950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+mn-ea"/>
                <a:ea typeface="+mn-ea"/>
              </a:rPr>
              <a:t>  </a:t>
            </a:r>
            <a:r>
              <a:rPr lang="zh-CN" altLang="en-US" sz="3200" b="1" dirty="0">
                <a:latin typeface="+mn-ea"/>
                <a:ea typeface="+mn-ea"/>
              </a:rPr>
              <a:t>我</a:t>
            </a:r>
            <a:r>
              <a:rPr lang="en-US" altLang="zh-CN" sz="3200" b="1" dirty="0">
                <a:latin typeface="+mn-ea"/>
                <a:ea typeface="+mn-ea"/>
              </a:rPr>
              <a:t>(</a:t>
            </a:r>
            <a:r>
              <a:rPr lang="zh-CN" altLang="en-US" sz="3200" b="1" dirty="0">
                <a:latin typeface="+mn-ea"/>
                <a:ea typeface="+mn-ea"/>
              </a:rPr>
              <a:t>寄宿</a:t>
            </a:r>
            <a:r>
              <a:rPr lang="en-US" altLang="zh-CN" sz="3200" b="1" dirty="0">
                <a:latin typeface="+mn-ea"/>
                <a:ea typeface="+mn-ea"/>
              </a:rPr>
              <a:t>)</a:t>
            </a:r>
            <a:r>
              <a:rPr lang="zh-CN" altLang="en-US" sz="3200" b="1" dirty="0">
                <a:latin typeface="+mn-ea"/>
                <a:ea typeface="+mn-ea"/>
              </a:rPr>
              <a:t>的主人全家是乡村音乐的“铁杆粉丝”，所以我一直相信他们能</a:t>
            </a:r>
            <a:r>
              <a:rPr lang="zh-CN" altLang="en-US" sz="3200" b="1" u="sng" dirty="0">
                <a:latin typeface="+mn-ea"/>
                <a:ea typeface="+mn-ea"/>
              </a:rPr>
              <a:t>给我介绍</a:t>
            </a:r>
            <a:r>
              <a:rPr lang="zh-CN" altLang="en-US" sz="3200" b="1" dirty="0">
                <a:latin typeface="+mn-ea"/>
                <a:ea typeface="+mn-ea"/>
              </a:rPr>
              <a:t>一些很棒的歌曲。</a:t>
            </a:r>
            <a:endParaRPr lang="en-US" altLang="zh-CN" sz="3200" b="1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9820" y="2666951"/>
            <a:ext cx="10743806" cy="1274195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 marL="1437005" indent="-1437005" eaLnBrk="0" hangingPunc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rely on: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to trust/depend on someone/something to do what you need/expect them to do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依赖，依靠，信任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4035" y="4267200"/>
            <a:ext cx="1114869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-631825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His humor is always made clear through a series of simple and funny acts that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rely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purely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on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body language that is universal.</a:t>
            </a:r>
          </a:p>
          <a:p>
            <a:pPr marL="0" indent="-631825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他的幽默总是通过一系列简单而有趣的行为来表达，这些行为完全依赖于普遍的肢体语言。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52400" y="135255"/>
            <a:ext cx="11931650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rely on sb/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依赖某人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某物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rely on sb/s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rely on sb/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依靠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依赖某人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某物做某事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rely on it that… </a:t>
            </a:r>
            <a:r>
              <a:rPr lang="zh-CN" altLang="en-US" sz="3200" b="1" dirty="0">
                <a:latin typeface="+mj-ea"/>
                <a:cs typeface="Times New Roman" panose="02020503050405090304" pitchFamily="18" charset="0"/>
                <a:sym typeface="+mn-ea"/>
              </a:rPr>
              <a:t>相信</a:t>
            </a:r>
            <a:r>
              <a:rPr lang="en-US" altLang="zh-CN" sz="3200" b="1" dirty="0">
                <a:latin typeface="+mj-ea"/>
                <a:cs typeface="Times New Roman" panose="02020503050405090304" pitchFamily="18" charset="0"/>
                <a:sym typeface="+mn-ea"/>
              </a:rPr>
              <a:t>……, </a:t>
            </a:r>
            <a:r>
              <a:rPr lang="zh-CN" altLang="en-US" sz="3200" b="1" dirty="0">
                <a:latin typeface="+mj-ea"/>
                <a:cs typeface="Times New Roman" panose="02020503050405090304" pitchFamily="18" charset="0"/>
                <a:sym typeface="+mn-ea"/>
              </a:rPr>
              <a:t>指望</a:t>
            </a:r>
            <a:r>
              <a:rPr lang="en-US" altLang="zh-CN" sz="3200" b="1" dirty="0">
                <a:latin typeface="+mj-ea"/>
                <a:cs typeface="Times New Roman" panose="02020503050405090304" pitchFamily="18" charset="0"/>
                <a:sym typeface="+mn-ea"/>
              </a:rPr>
              <a:t>……</a:t>
            </a:r>
            <a:endParaRPr lang="en-US" altLang="zh-CN" sz="3200" b="1" dirty="0">
              <a:latin typeface="+mj-ea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(rely on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后面跟从句时，先接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再接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reliable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可信赖的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/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reliant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依赖性的，依靠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dependent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unreliable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可信赖的</a:t>
            </a:r>
          </a:p>
          <a:p>
            <a:pPr>
              <a:lnSpc>
                <a:spcPct val="120000"/>
              </a:lnSpc>
            </a:pP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reliable man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一个可靠的人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/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self-reliant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自力更生的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(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independent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reliability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可靠性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/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reliance on 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依赖</a:t>
            </a:r>
          </a:p>
          <a:p>
            <a:pPr>
              <a:lnSpc>
                <a:spcPct val="120000"/>
              </a:lnSpc>
            </a:pP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 am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reliably 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informed that the concert has been cnacelled due to the coming storm.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我得到可靠消息……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04800" y="305435"/>
            <a:ext cx="11614150" cy="6398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Heavy reliance on 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one client is risky when you are building up a business.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创业时过分依赖某一个客户是有风险的。(</a:t>
            </a:r>
            <a:r>
              <a:rPr lang="en-US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dependence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Most companies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are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now </a:t>
            </a:r>
            <a:r>
              <a:rPr lang="en-US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reliant on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computer technology for innovation. (</a:t>
            </a:r>
            <a:r>
              <a:rPr lang="en-US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rely on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4" name="Text Box 4"/>
          <p:cNvSpPr txBox="1">
            <a:spLocks noChangeArrowheads="1"/>
          </p:cNvSpPr>
          <p:nvPr/>
        </p:nvSpPr>
        <p:spPr bwMode="auto">
          <a:xfrm>
            <a:off x="457348" y="673507"/>
            <a:ext cx="5791200" cy="62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翻译句子。</a:t>
            </a:r>
          </a:p>
        </p:txBody>
      </p:sp>
      <p:sp>
        <p:nvSpPr>
          <p:cNvPr id="225285" name="Text Box 5"/>
          <p:cNvSpPr txBox="1">
            <a:spLocks noChangeArrowheads="1"/>
          </p:cNvSpPr>
          <p:nvPr/>
        </p:nvSpPr>
        <p:spPr bwMode="auto">
          <a:xfrm>
            <a:off x="625674" y="1356772"/>
            <a:ext cx="10657184" cy="4819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/>
              <a:t>许多职业母亲依靠亲戚来帮她们照看孩子。</a:t>
            </a:r>
            <a:endParaRPr lang="en-US" altLang="zh-CN" sz="3200" b="1" dirty="0"/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Many working mothers rely on relatives to help take care of their children.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我们应该相信一切都会顺利的。</a:t>
            </a:r>
            <a:endParaRPr lang="en-US" altLang="zh-CN" sz="3200" b="1" dirty="0"/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We should rely on it that everything will go well.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I made up my mind to follow their examples to take my own responsibility to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________ (rely) person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the future. (2020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天津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5749672" y="4950316"/>
            <a:ext cx="2231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reliable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5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8754" y="856415"/>
            <a:ext cx="11582096" cy="27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2300" indent="-6223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turns out that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country music became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spread across the nation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622300" indent="-622300"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2300" indent="-6223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turns out that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tickets have been sold up.</a:t>
            </a:r>
          </a:p>
          <a:p>
            <a:pPr marL="622300" indent="-6223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tickets turns out 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have been sold up.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1447922" y="246831"/>
            <a:ext cx="3124118" cy="609584"/>
          </a:xfrm>
          <a:prstGeom prst="wedgeRoundRectCallout">
            <a:avLst>
              <a:gd name="adj1" fmla="val -31584"/>
              <a:gd name="adj2" fmla="val 85515"/>
              <a:gd name="adj3" fmla="val 16667"/>
            </a:avLst>
          </a:prstGeom>
          <a:noFill/>
          <a:ln w="25400">
            <a:solidFill>
              <a:srgbClr val="FFA5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结果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证明是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endParaRPr lang="zh-CN" altLang="en-US" sz="2800" b="1" dirty="0">
              <a:solidFill>
                <a:schemeClr val="tx1"/>
              </a:solidFill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5569" y="3886431"/>
            <a:ext cx="10667720" cy="1673150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turns out that…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主语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系动词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表语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turn out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可看作系动词，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可省略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引导表语从句。同义句型有：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sb./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turn(s) out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130" y="1219258"/>
            <a:ext cx="9981938" cy="201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3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结果是，越来越多的人选择公共交通出行，慢慢地公共交通成为绿色出行的首选。</a:t>
            </a:r>
          </a:p>
        </p:txBody>
      </p:sp>
      <p:sp>
        <p:nvSpPr>
          <p:cNvPr id="3" name="矩形 2"/>
          <p:cNvSpPr/>
          <p:nvPr/>
        </p:nvSpPr>
        <p:spPr>
          <a:xfrm>
            <a:off x="1143130" y="3163252"/>
            <a:ext cx="9905740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turns out that more and more people choose public transport and it has gradually become the first choice for green travel.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8600" y="153035"/>
            <a:ext cx="11718925" cy="6328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tune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曲调，曲子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was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humming a familiar tune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他低声哼着一支熟悉的小曲。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catchy tune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(= song).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这是一首悦耳易记的曲子。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play/compose a tune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演奏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写曲子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theme tune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主题曲</a:t>
            </a:r>
          </a:p>
          <a:p>
            <a:pPr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None of them could sing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tune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/ 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piano is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 of tune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These proposals are perfectly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tune with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our own thoughts on the subject.</a:t>
            </a:r>
          </a:p>
          <a:p>
            <a:pPr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President is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 of tune with</a:t>
            </a: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public opinion.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与……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协调一致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8600" y="153035"/>
            <a:ext cx="11718925" cy="6328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tune v.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调音；调频道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tune a guitar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给吉他调弦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radio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tuned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(in)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BBC World Service.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收音机调到了英国广播公司国际广播电台。</a:t>
            </a:r>
          </a:p>
          <a:p>
            <a:pPr>
              <a:lnSpc>
                <a:spcPct val="12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Stay tuned for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news coming up next.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别换台，下面的新闻马上就来。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His speech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tuned to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what the audience wanted to hear.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他在演讲中专讲听众爱听的话。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11835" y="4267200"/>
            <a:ext cx="11235055" cy="186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631825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paid 8,000 yuan for the computer, with a printer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thrown in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0" indent="-631825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can have the cellphone for 4,000 yuan, and I’ll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throw in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earpiece. 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28754" y="228684"/>
            <a:ext cx="11429700" cy="24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622300" indent="-622300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</a:rPr>
              <a:t>11. Most of the songs are about hardship and heartbreak, but also about hope—with plenty of humor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thrown in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for good measure</a:t>
            </a:r>
            <a:r>
              <a:rPr lang="en-US" altLang="zh-CN" sz="3200" b="1" dirty="0">
                <a:latin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</a:rPr>
              <a:t>大部分歌曲唱的是艰难与心碎，但也有希望</a:t>
            </a:r>
            <a:r>
              <a:rPr lang="en-US" altLang="zh-CN" sz="3200" b="1" dirty="0">
                <a:latin typeface="Times New Roman" panose="02020503050405090304" pitchFamily="18" charset="0"/>
              </a:rPr>
              <a:t>——</a:t>
            </a:r>
            <a:r>
              <a:rPr lang="zh-CN" altLang="en-US" sz="3200" b="1" dirty="0">
                <a:latin typeface="Times New Roman" panose="02020503050405090304" pitchFamily="18" charset="0"/>
              </a:rPr>
              <a:t>其中还附加了很多幽默元素。</a:t>
            </a:r>
            <a:endParaRPr lang="zh-CN" altLang="en-US" sz="3200" b="1" dirty="0"/>
          </a:p>
        </p:txBody>
      </p:sp>
      <p:sp>
        <p:nvSpPr>
          <p:cNvPr id="2" name="矩形 1"/>
          <p:cNvSpPr/>
          <p:nvPr/>
        </p:nvSpPr>
        <p:spPr>
          <a:xfrm>
            <a:off x="711644" y="2838862"/>
            <a:ext cx="11235431" cy="1274195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 marL="1698625" indent="-1698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throw in: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to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include something with what you are selling/ offering, without increasing the price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奉送；额外赠送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4952" y="3733792"/>
            <a:ext cx="1158209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+mn-lt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+mn-lt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+mn-lt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+mn-lt"/>
                <a:cs typeface="Times New Roman" panose="02020503050405090304" pitchFamily="18" charset="0"/>
              </a:rPr>
              <a:t>完成句子</a:t>
            </a:r>
            <a:endParaRPr lang="en-US" altLang="zh-CN" sz="3200" b="1" dirty="0">
              <a:solidFill>
                <a:srgbClr val="0000FF"/>
              </a:solidFill>
              <a:latin typeface="+mn-lt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+mn-lt"/>
              </a:rPr>
              <a:t>1) You can have the piano for </a:t>
            </a:r>
            <a:r>
              <a:rPr lang="zh-CN" altLang="en-US" sz="3200" b="1" dirty="0">
                <a:latin typeface="+mn-lt"/>
                <a:cs typeface="Times New Roman" panose="02020503050405090304" pitchFamily="18" charset="0"/>
              </a:rPr>
              <a:t>$</a:t>
            </a:r>
            <a:r>
              <a:rPr lang="en-US" altLang="zh-CN" sz="3200" b="1" dirty="0">
                <a:latin typeface="+mn-lt"/>
                <a:cs typeface="Times New Roman" panose="02020503050405090304" pitchFamily="18" charset="0"/>
              </a:rPr>
              <a:t>200, and I’ll ___________(</a:t>
            </a:r>
            <a:r>
              <a:rPr lang="zh-CN" altLang="en-US" sz="3200" b="1" dirty="0">
                <a:latin typeface="+mn-lt"/>
                <a:cs typeface="Times New Roman" panose="02020503050405090304" pitchFamily="18" charset="0"/>
              </a:rPr>
              <a:t>奉送</a:t>
            </a:r>
            <a:r>
              <a:rPr lang="en-US" altLang="zh-CN" sz="3200" b="1" dirty="0">
                <a:latin typeface="+mn-lt"/>
                <a:cs typeface="Times New Roman" panose="02020503050405090304" pitchFamily="18" charset="0"/>
              </a:rPr>
              <a:t>) the stool as well.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+mn-lt"/>
              </a:rPr>
              <a:t>2) ___________(</a:t>
            </a:r>
            <a:r>
              <a:rPr lang="zh-CN" altLang="en-US" sz="3200" b="1" dirty="0">
                <a:latin typeface="+mn-lt"/>
              </a:rPr>
              <a:t>扔掉</a:t>
            </a:r>
            <a:r>
              <a:rPr lang="en-US" altLang="zh-CN" sz="3200" b="1" dirty="0">
                <a:latin typeface="+mn-lt"/>
              </a:rPr>
              <a:t>) those you don’t need and file those you do.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+mn-lt"/>
              </a:rPr>
              <a:t>3) The boy jumped up and ___________(</a:t>
            </a:r>
            <a:r>
              <a:rPr lang="zh-CN" altLang="en-US" sz="3200" b="1" dirty="0">
                <a:latin typeface="+mn-lt"/>
              </a:rPr>
              <a:t>把</a:t>
            </a:r>
            <a:r>
              <a:rPr lang="en-US" altLang="zh-CN" sz="3200" b="1" dirty="0">
                <a:latin typeface="+mn-ea"/>
                <a:ea typeface="+mn-ea"/>
              </a:rPr>
              <a:t>……</a:t>
            </a:r>
            <a:r>
              <a:rPr lang="zh-CN" altLang="en-US" sz="3200" b="1" dirty="0">
                <a:latin typeface="+mn-lt"/>
              </a:rPr>
              <a:t>扔在一旁</a:t>
            </a:r>
            <a:r>
              <a:rPr lang="en-US" altLang="zh-CN" sz="3200" b="1" dirty="0">
                <a:latin typeface="+mn-lt"/>
              </a:rPr>
              <a:t>) his cap.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077148" y="4339958"/>
            <a:ext cx="184023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</a:rPr>
              <a:t>throw in</a:t>
            </a:r>
            <a:endParaRPr lang="zh-CN" altLang="en-US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5942" y="5496947"/>
            <a:ext cx="244401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</a:rPr>
              <a:t>Throw away</a:t>
            </a:r>
            <a:endParaRPr lang="zh-CN" altLang="en-US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47298" y="6098448"/>
            <a:ext cx="2297430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n-lt"/>
              </a:rPr>
              <a:t>threw aside</a:t>
            </a:r>
            <a:endParaRPr lang="zh-CN" altLang="en-US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042213" y="594834"/>
            <a:ext cx="8107574" cy="3046988"/>
          </a:xfrm>
          <a:prstGeom prst="rect">
            <a:avLst/>
          </a:prstGeom>
          <a:noFill/>
          <a:ln w="28575">
            <a:solidFill>
              <a:srgbClr val="FFA50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628650" indent="-6286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410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50177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1008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775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495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3215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935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655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throw sb. out (of)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撵走，轰走，逐出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throw aside  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把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扔在一旁</a:t>
            </a: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throw away   </a:t>
            </a: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扔掉</a:t>
            </a: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throw up    </a:t>
            </a: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呕吐</a:t>
            </a:r>
            <a:endParaRPr lang="en-US" altLang="zh-CN" sz="3200" b="1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throw over    </a:t>
            </a: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放弃</a:t>
            </a:r>
            <a:endParaRPr lang="en-US" altLang="zh-CN" sz="3200" b="1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throw oneself into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投身于</a:t>
            </a: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60" y="381080"/>
            <a:ext cx="1625661" cy="910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09600" y="2590800"/>
            <a:ext cx="11353800" cy="363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631825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Use 80g of flour per person and an extra spoonful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for good measure</a:t>
            </a:r>
            <a:r>
              <a:rPr lang="en-US" altLang="zh-CN" sz="3200" b="1" dirty="0">
                <a:latin typeface="Times New Roman" panose="02020503050405090304" pitchFamily="18" charset="0"/>
              </a:rPr>
              <a:t>.</a:t>
            </a:r>
          </a:p>
          <a:p>
            <a:pPr marL="0" indent="-631825" eaLnBrk="1" latinLnBrk="0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按每人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80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克面粉的分量，另外再多加一勺。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0" indent="-631825" eaLnBrk="1" latinLnBrk="0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Why don’t you try phoning John one more time,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for good measure</a:t>
            </a:r>
            <a:r>
              <a:rPr lang="en-US" altLang="zh-CN" sz="3200" b="1" dirty="0">
                <a:latin typeface="Times New Roman" panose="02020503050405090304" pitchFamily="18" charset="0"/>
              </a:rPr>
              <a:t>?</a:t>
            </a:r>
          </a:p>
          <a:p>
            <a:pPr marL="0" indent="-631825" eaLnBrk="1" latinLnBrk="0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</a:rPr>
              <a:t>你为什么不再给</a:t>
            </a:r>
            <a:r>
              <a:rPr lang="en-US" altLang="zh-CN" sz="3200" b="1" dirty="0">
                <a:latin typeface="Times New Roman" panose="02020503050405090304" pitchFamily="18" charset="0"/>
              </a:rPr>
              <a:t>John</a:t>
            </a:r>
            <a:r>
              <a:rPr lang="zh-CN" altLang="en-US" sz="3200" b="1" dirty="0">
                <a:latin typeface="Times New Roman" panose="02020503050405090304" pitchFamily="18" charset="0"/>
              </a:rPr>
              <a:t>多打个电话试试呢？</a:t>
            </a:r>
            <a:endParaRPr lang="en-US" altLang="zh-CN" sz="3200" b="1" dirty="0">
              <a:latin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5942" y="1219258"/>
            <a:ext cx="10439126" cy="1274195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for good measure: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as an extra amount of something in addition to what has already been done/given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作为额外增添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24042" y="5057272"/>
            <a:ext cx="10972512" cy="127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He switched on the light and examined his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surroundings</a:t>
            </a:r>
            <a:r>
              <a:rPr lang="en-US" altLang="zh-CN" sz="3200" b="1" dirty="0">
                <a:latin typeface="Times New Roman" panose="02020503050405090304" pitchFamily="18" charset="0"/>
              </a:rPr>
              <a:t>.</a:t>
            </a:r>
            <a:r>
              <a:rPr lang="zh-CN" altLang="en-US" sz="3200" b="1" dirty="0">
                <a:latin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I need to work in pleasant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surroundings</a:t>
            </a:r>
            <a:r>
              <a:rPr lang="en-US" altLang="zh-CN" sz="3200" b="1" dirty="0">
                <a:latin typeface="Times New Roman" panose="02020503050405090304" pitchFamily="18" charset="0"/>
              </a:rPr>
              <a:t>.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28754" y="600213"/>
            <a:ext cx="11277304" cy="2456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631825" indent="-631825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</a:rPr>
              <a:t>12. The simple tunes and beautiful natural images are often very suggestive of countryside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surroundings</a:t>
            </a:r>
            <a:r>
              <a:rPr lang="en-US" altLang="zh-CN" sz="3200" b="1" dirty="0">
                <a:latin typeface="Times New Roman" panose="02020503050405090304" pitchFamily="18" charset="0"/>
              </a:rPr>
              <a:t>.</a:t>
            </a:r>
          </a:p>
          <a:p>
            <a:pPr marL="631825" indent="-631825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</a:rPr>
              <a:t>      </a:t>
            </a:r>
            <a:r>
              <a:rPr lang="zh-CN" altLang="en-US" sz="3200" b="1" dirty="0">
                <a:latin typeface="Times New Roman" panose="02020503050405090304" pitchFamily="18" charset="0"/>
              </a:rPr>
              <a:t>简单的曲调和唯美的大自然的画面很容易让人联想到乡村的环境。</a:t>
            </a:r>
            <a:endParaRPr lang="zh-CN" altLang="en-US" sz="3200" b="1" dirty="0"/>
          </a:p>
        </p:txBody>
      </p:sp>
      <p:sp>
        <p:nvSpPr>
          <p:cNvPr id="2" name="矩形 1"/>
          <p:cNvSpPr/>
          <p:nvPr/>
        </p:nvSpPr>
        <p:spPr>
          <a:xfrm>
            <a:off x="838339" y="3124208"/>
            <a:ext cx="10858216" cy="1865126"/>
          </a:xfrm>
          <a:prstGeom prst="rect">
            <a:avLst/>
          </a:prstGeom>
          <a:ln w="28575">
            <a:solidFill>
              <a:srgbClr val="FFA508"/>
            </a:solidFill>
          </a:ln>
        </p:spPr>
        <p:txBody>
          <a:bodyPr wrap="square">
            <a:spAutoFit/>
          </a:bodyPr>
          <a:lstStyle/>
          <a:p>
            <a:pPr marL="2873375" indent="-28733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surroundings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i="1" dirty="0">
                <a:latin typeface="Times New Roman" panose="02020503050405090304" pitchFamily="18" charset="0"/>
              </a:rPr>
              <a:t>the objects, buildings, natural things etc. that are around a person/thing at a particular time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环境；周围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600318" y="838268"/>
            <a:ext cx="9448552" cy="2514534"/>
          </a:xfrm>
          <a:prstGeom prst="rect">
            <a:avLst/>
          </a:prstGeom>
          <a:noFill/>
          <a:ln w="28575" algn="ctr">
            <a:solidFill>
              <a:srgbClr val="FFA50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surrounding  </a:t>
            </a:r>
            <a:r>
              <a:rPr lang="en-US" altLang="zh-CN" sz="3200" b="1" i="1" dirty="0">
                <a:solidFill>
                  <a:srgbClr val="FF0000"/>
                </a:solidFill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</a:rPr>
              <a:t>. </a:t>
            </a:r>
            <a:r>
              <a:rPr lang="zh-CN" altLang="en-US" sz="3200" b="1" dirty="0"/>
              <a:t>周围的；附近的 </a:t>
            </a:r>
            <a:r>
              <a:rPr lang="en-US" altLang="zh-CN" sz="3200" b="1" dirty="0"/>
              <a:t>(</a:t>
            </a:r>
            <a:r>
              <a:rPr lang="zh-CN" altLang="en-US" sz="3200" b="1" dirty="0"/>
              <a:t>只用在名词前</a:t>
            </a:r>
            <a:r>
              <a:rPr lang="en-US" altLang="zh-CN" sz="3200" b="1" dirty="0"/>
              <a:t>)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surround</a:t>
            </a:r>
            <a:r>
              <a:rPr lang="en-US" altLang="zh-CN" sz="3200" b="1" dirty="0">
                <a:solidFill>
                  <a:srgbClr val="000000"/>
                </a:solidFill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(</a:t>
            </a:r>
            <a:r>
              <a:rPr lang="zh-CN" altLang="en-US" sz="3200" b="1" dirty="0"/>
              <a:t>使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包围</a:t>
            </a:r>
            <a:r>
              <a:rPr lang="en-US" altLang="zh-CN" sz="3200" b="1" dirty="0"/>
              <a:t>, </a:t>
            </a:r>
            <a:r>
              <a:rPr lang="zh-CN" altLang="en-US" sz="3200" b="1" dirty="0"/>
              <a:t>环绕</a:t>
            </a:r>
            <a:r>
              <a:rPr lang="en-US" altLang="zh-CN" sz="3200" b="1" dirty="0"/>
              <a:t>; </a:t>
            </a:r>
            <a:r>
              <a:rPr lang="zh-CN" altLang="en-US" sz="3200" b="1" dirty="0"/>
              <a:t>围绕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surround ... with …  </a:t>
            </a:r>
            <a:r>
              <a:rPr lang="zh-CN" altLang="en-US" sz="3200" b="1" dirty="0">
                <a:solidFill>
                  <a:srgbClr val="000000"/>
                </a:solidFill>
              </a:rPr>
              <a:t>用</a:t>
            </a:r>
            <a:r>
              <a:rPr lang="en-US" altLang="zh-CN" sz="3200" b="1" dirty="0">
                <a:solidFill>
                  <a:srgbClr val="000000"/>
                </a:solidFill>
                <a:latin typeface="+mj-ea"/>
                <a:ea typeface="+mj-ea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latin typeface="+mj-ea"/>
                <a:ea typeface="+mj-ea"/>
              </a:rPr>
              <a:t>包围</a:t>
            </a:r>
            <a:r>
              <a:rPr lang="en-US" altLang="zh-CN" sz="3200" b="1" dirty="0">
                <a:solidFill>
                  <a:srgbClr val="000000"/>
                </a:solidFill>
                <a:latin typeface="+mj-ea"/>
                <a:ea typeface="+mj-ea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be surrounded by/ with </a:t>
            </a:r>
            <a:r>
              <a:rPr lang="en-US" altLang="zh-CN" sz="3200" b="1" dirty="0" err="1">
                <a:solidFill>
                  <a:srgbClr val="FF0000"/>
                </a:solidFill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</a:rPr>
              <a:t>./ sb. </a:t>
            </a:r>
            <a:r>
              <a:rPr lang="zh-CN" altLang="en-US" sz="3200" b="1" dirty="0">
                <a:solidFill>
                  <a:srgbClr val="000000"/>
                </a:solidFill>
              </a:rPr>
              <a:t>被某物</a:t>
            </a:r>
            <a:r>
              <a:rPr lang="en-US" altLang="zh-CN" sz="3200" b="1" dirty="0">
                <a:solidFill>
                  <a:srgbClr val="000000"/>
                </a:solidFill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</a:rPr>
              <a:t>某人所包围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43" y="838268"/>
            <a:ext cx="1428775" cy="80011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4" name="Text Box 4"/>
          <p:cNvSpPr txBox="1">
            <a:spLocks noChangeArrowheads="1"/>
          </p:cNvSpPr>
          <p:nvPr/>
        </p:nvSpPr>
        <p:spPr bwMode="auto">
          <a:xfrm>
            <a:off x="609744" y="1219258"/>
            <a:ext cx="1043912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surround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适当形式完成句子。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1) Lucy was sitting on the floor ____________ by toys.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2) We decided to explore the _____________ countryside.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3) When he came back to life, he found himself __________ by enemy soldiers.</a:t>
            </a:r>
          </a:p>
        </p:txBody>
      </p:sp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6248396" y="1823732"/>
            <a:ext cx="2317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surrounded </a:t>
            </a: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5791208" y="2403170"/>
            <a:ext cx="2351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surrounding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  <p:sp>
        <p:nvSpPr>
          <p:cNvPr id="194567" name="Rectangle 7"/>
          <p:cNvSpPr>
            <a:spLocks noChangeArrowheads="1"/>
          </p:cNvSpPr>
          <p:nvPr/>
        </p:nvSpPr>
        <p:spPr bwMode="auto">
          <a:xfrm>
            <a:off x="8839128" y="3078156"/>
            <a:ext cx="2317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surrounded 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09744" y="4219602"/>
            <a:ext cx="10439126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4) Why do the hikers take no notice of the ____________ (surround) during the journey? 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924752" y="4238952"/>
            <a:ext cx="2509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surroundings</a:t>
            </a:r>
            <a:endParaRPr lang="en-US" altLang="zh-CN" sz="32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5" grpId="0"/>
      <p:bldP spid="194566" grpId="0"/>
      <p:bldP spid="194567" grpId="0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28600" y="270510"/>
            <a:ext cx="11685270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indent="-631825" eaLnBrk="1" latinLnBrk="0" hangingPunct="1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</a:rPr>
              <a:t>13.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guarantee</a:t>
            </a:r>
            <a:r>
              <a:rPr lang="en-US" altLang="zh-CN" sz="3200" b="1" dirty="0">
                <a:latin typeface="Times New Roman" panose="02020503050405090304" pitchFamily="18" charset="0"/>
              </a:rPr>
              <a:t> you’ll enjoy it!   </a:t>
            </a:r>
            <a:r>
              <a:rPr lang="zh-CN" altLang="en-US" sz="3200" b="1" dirty="0">
                <a:latin typeface="Times New Roman" panose="02020503050405090304" pitchFamily="18" charset="0"/>
              </a:rPr>
              <a:t>我保证你会喜欢的！</a:t>
            </a:r>
          </a:p>
          <a:p>
            <a:pPr marL="0" indent="-631825" eaLnBrk="1" latinLnBrk="0" hangingPunct="1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guarantee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promise to do something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保证；确保；为提供保修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31825" lvl="0" indent="-631825">
              <a:lnSpc>
                <a:spcPct val="120000"/>
              </a:lnSpc>
              <a:buClr>
                <a:srgbClr val="CC0000"/>
              </a:buClr>
              <a:tabLst>
                <a:tab pos="7439025" algn="l"/>
              </a:tabLs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Buying a train ticket doesn’t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guarantee you a seat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.</a:t>
            </a:r>
          </a:p>
          <a:p>
            <a:pPr marL="631825" lvl="0" indent="-631825">
              <a:lnSpc>
                <a:spcPct val="120000"/>
              </a:lnSpc>
              <a:buClr>
                <a:srgbClr val="CC0000"/>
              </a:buClr>
              <a:tabLst>
                <a:tab pos="7439025" algn="l"/>
              </a:tabLs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sym typeface="+mn-ea"/>
              </a:rPr>
              <a:t>保证某人得到某物</a:t>
            </a:r>
          </a:p>
          <a:p>
            <a:pPr marL="631825" lvl="0" indent="-631825">
              <a:lnSpc>
                <a:spcPct val="120000"/>
              </a:lnSpc>
              <a:buClr>
                <a:srgbClr val="CC0000"/>
              </a:buClr>
              <a:tabLst>
                <a:tab pos="7439025" algn="l"/>
              </a:tabLs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sym typeface="+mn-ea"/>
              </a:rPr>
              <a:t>这家航空公司保证为乘客提供最好的服务。</a:t>
            </a:r>
          </a:p>
          <a:p>
            <a:pPr marL="631825" lvl="0" indent="-631825">
              <a:lnSpc>
                <a:spcPct val="120000"/>
              </a:lnSpc>
              <a:buClr>
                <a:srgbClr val="CC0000"/>
              </a:buClr>
              <a:tabLst>
                <a:tab pos="743902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This airline guarantee its customers the top-quality service.</a:t>
            </a:r>
          </a:p>
          <a:p>
            <a:pPr marL="631825" lvl="0" indent="-631825">
              <a:lnSpc>
                <a:spcPct val="120000"/>
              </a:lnSpc>
              <a:buClr>
                <a:srgbClr val="CC0000"/>
              </a:buClr>
              <a:tabLst>
                <a:tab pos="7439025" algn="l"/>
              </a:tabLst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I cannot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</a:rPr>
              <a:t>guarantee to work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 for more than half a year.</a:t>
            </a:r>
          </a:p>
          <a:p>
            <a:pPr marL="631825" lvl="0" indent="-631825">
              <a:lnSpc>
                <a:spcPct val="120000"/>
              </a:lnSpc>
              <a:buClr>
                <a:srgbClr val="CC0000"/>
              </a:buClr>
              <a:tabLst>
                <a:tab pos="7439025" algn="l"/>
              </a:tabLst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保证做某事</a:t>
            </a:r>
          </a:p>
          <a:p>
            <a:pPr marL="631825" lvl="0" indent="-631825">
              <a:lnSpc>
                <a:spcPct val="120000"/>
              </a:lnSpc>
              <a:buClr>
                <a:srgbClr val="CC0000"/>
              </a:buClr>
              <a:tabLst>
                <a:tab pos="743902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be guaranteed to do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肯定会，必定会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sure/bound/certain to do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  <a:p>
            <a:pPr marL="631825" lvl="0" indent="-631825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That kind of behavior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is guaranteed to make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 him angry.</a:t>
            </a:r>
            <a:endParaRPr lang="zh-CN" altLang="en-US" sz="32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28600" y="270510"/>
            <a:ext cx="11685270" cy="6587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0" indent="-631825" eaLnBrk="1" latinLnBrk="0" hangingPunct="1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All our products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are guaranteed for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 three years.</a:t>
            </a:r>
          </a:p>
          <a:p>
            <a:pPr marL="0" lvl="0" indent="-631825" eaLnBrk="1" latinLnBrk="0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sym typeface="+mn-ea"/>
              </a:rPr>
              <a:t>保修</a:t>
            </a:r>
          </a:p>
          <a:p>
            <a:pPr marL="0" lvl="0" indent="-631825" eaLnBrk="1" latinLnBrk="0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You can guarantee (that)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the children will start being naughty as soon as they have to go to bed.</a:t>
            </a:r>
          </a:p>
          <a:p>
            <a:pPr marL="0" lvl="0" indent="-631825" eaLnBrk="1" latinLnBrk="0" hangingPunct="1">
              <a:lnSpc>
                <a:spcPct val="120000"/>
              </a:lnSpc>
              <a:buClr>
                <a:srgbClr val="CC0000"/>
              </a:buClr>
            </a:pPr>
            <a:r>
              <a:rPr lang="zh-CN" altLang="en-US" sz="3200" b="1" dirty="0"/>
              <a:t>可以肯定</a:t>
            </a:r>
            <a:r>
              <a:rPr lang="en-US" altLang="zh-CN" sz="3200" b="1" dirty="0"/>
              <a:t>...</a:t>
            </a:r>
          </a:p>
          <a:p>
            <a:pPr marL="0" lvl="0" indent="-631825" eaLnBrk="1" latinLnBrk="0" hangingPunct="1">
              <a:lnSpc>
                <a:spcPct val="120000"/>
              </a:lnSpc>
              <a:buClr>
                <a:srgbClr val="CC0000"/>
              </a:buClr>
            </a:pPr>
            <a:endParaRPr lang="en-US" altLang="zh-CN" sz="3200" b="1" dirty="0"/>
          </a:p>
          <a:p>
            <a:pPr marL="631825" indent="-631825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guarantee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</a:t>
            </a:r>
          </a:p>
          <a:p>
            <a:pPr marL="631825" indent="-631825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gave me a guarantee that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it would never happen again.</a:t>
            </a:r>
          </a:p>
          <a:p>
            <a:pPr marL="631825" indent="-631825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Career success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is no guarantee of 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happiness.</a:t>
            </a:r>
          </a:p>
          <a:p>
            <a:pPr marL="631825" indent="-631825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事业成功并不是幸福的保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证。</a:t>
            </a:r>
          </a:p>
          <a:p>
            <a:pPr marL="631825" indent="-631825">
              <a:lnSpc>
                <a:spcPct val="120000"/>
              </a:lnSpc>
              <a:buClr>
                <a:srgbClr val="CC0000"/>
              </a:buClr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watch is still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under guarantee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761881" y="305435"/>
            <a:ext cx="10620493" cy="508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 algn="l"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148080" indent="-342900" algn="l"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612900" indent="-342900" algn="l"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2021205" indent="-342900" algn="l"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530475" indent="-342900" algn="l"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987675" indent="-342900" fontAlgn="base">
              <a:spcBef>
                <a:spcPct val="0"/>
              </a:spcBef>
              <a:spcAft>
                <a:spcPct val="0"/>
              </a:spcAft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444875" indent="-342900" fontAlgn="base">
              <a:spcBef>
                <a:spcPct val="0"/>
              </a:spcBef>
              <a:spcAft>
                <a:spcPct val="0"/>
              </a:spcAft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902075" indent="-342900" fontAlgn="base">
              <a:spcBef>
                <a:spcPct val="0"/>
              </a:spcBef>
              <a:spcAft>
                <a:spcPct val="0"/>
              </a:spcAft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359275" indent="-342900" fontAlgn="base">
              <a:spcBef>
                <a:spcPct val="0"/>
              </a:spcBef>
              <a:spcAft>
                <a:spcPct val="0"/>
              </a:spcAft>
              <a:tabLst>
                <a:tab pos="3763645" algn="l"/>
              </a:tabLs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完成句子。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当我到达那儿的时候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你能保证给我一个房间吗？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Can you ___________________ when I get there?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我不能保证可以工作一年多。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I cannot _________________ for more than a year.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3)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他们所有的电子商品都有两年的保修期。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     They offer ___________________ on all their electrical goods.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</a:rPr>
              <a:t>4)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sym typeface="+mn-ea"/>
              </a:rPr>
              <a:t>如果我们试图保密，她肯定会发现。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If we try to keep it a secret, she's guaranteed to find out.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1750695" y="1372235"/>
            <a:ext cx="8077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148080" indent="-342900"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612900" indent="-342900"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2021205" indent="-342900"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454275" indent="-342900"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9114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3686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8258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2830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1">
              <a:solidFill>
                <a:srgbClr val="00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1826895" y="3048635"/>
            <a:ext cx="7772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148080" indent="-342900"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612900" indent="-342900"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2021205" indent="-342900"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454275" indent="-342900" algn="l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9114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3686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8258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28307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1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106504" name="Rectangle 8"/>
          <p:cNvSpPr>
            <a:spLocks noChangeArrowheads="1"/>
          </p:cNvSpPr>
          <p:nvPr/>
        </p:nvSpPr>
        <p:spPr bwMode="auto">
          <a:xfrm>
            <a:off x="2802981" y="1447640"/>
            <a:ext cx="3875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rgbClr val="808080">
                      <a:alpha val="8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guarantee me a room</a:t>
            </a:r>
          </a:p>
        </p:txBody>
      </p:sp>
      <p:sp>
        <p:nvSpPr>
          <p:cNvPr id="106505" name="Rectangle 9"/>
          <p:cNvSpPr>
            <a:spLocks noChangeArrowheads="1"/>
          </p:cNvSpPr>
          <p:nvPr/>
        </p:nvSpPr>
        <p:spPr bwMode="auto">
          <a:xfrm>
            <a:off x="2802981" y="2606516"/>
            <a:ext cx="3367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rgbClr val="808080">
                      <a:alpha val="8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guarantee to work</a:t>
            </a:r>
          </a:p>
        </p:txBody>
      </p:sp>
      <p:sp>
        <p:nvSpPr>
          <p:cNvPr id="106506" name="Rectangle 10"/>
          <p:cNvSpPr>
            <a:spLocks noChangeArrowheads="1"/>
          </p:cNvSpPr>
          <p:nvPr/>
        </p:nvSpPr>
        <p:spPr bwMode="auto">
          <a:xfrm>
            <a:off x="3095064" y="3783373"/>
            <a:ext cx="417766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rgbClr val="808080">
                      <a:alpha val="8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 two-year guarantee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a guarantee for 2 years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06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4" grpId="0" bldLvl="0" animBg="1"/>
      <p:bldP spid="106505" grpId="0" bldLvl="0" animBg="1"/>
      <p:bldP spid="10650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981310" y="381070"/>
            <a:ext cx="8850630" cy="2453640"/>
          </a:xfrm>
          <a:prstGeom prst="rect">
            <a:avLst/>
          </a:prstGeom>
          <a:noFill/>
          <a:ln w="28575">
            <a:solidFill>
              <a:srgbClr val="FFA508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 of  = be composed of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组成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 in                  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存在于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在于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 with               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一致；并存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consistent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一致的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连贯的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16" y="228674"/>
            <a:ext cx="1584325" cy="887222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88595" y="3048000"/>
            <a:ext cx="11928475" cy="2772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The beauty of the city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consists in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its magnificent buildings.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这座城市的美就在于它那些宏伟的建筑。</a:t>
            </a: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consistent with sth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与某事物相符</a:t>
            </a:r>
          </a:p>
          <a:p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The results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are entirely consistent with 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our earlier research.</a:t>
            </a:r>
          </a:p>
          <a:p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这些结果与我们早些时候的研究完全吻合。</a:t>
            </a: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consistent approach</a:t>
            </a:r>
            <a:r>
              <a:rPr lang="en-US" sz="3200" b="1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一贯方法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12920" y="429303"/>
            <a:ext cx="10762800" cy="6011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根据汉语意思补全下面句子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每空一词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1)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一年由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365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天组成。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One year ________ ________ 365 days.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2)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汽车由许多不同部件组成。</a:t>
            </a:r>
          </a:p>
          <a:p>
            <a:pPr marL="628650" indent="-628650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A car ________ ________ ________ ________ many different parts.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3)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他的工作包括帮助独居的老人。</a:t>
            </a:r>
          </a:p>
          <a:p>
            <a:pPr marL="628650" indent="-628650">
              <a:lnSpc>
                <a:spcPct val="110000"/>
              </a:lnSpc>
              <a:tabLst>
                <a:tab pos="628650" algn="l"/>
              </a:tabLst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His job ________ ________ helping old people who live alone.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4) 20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名医生组成了这个医疗队。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Twenty doctors ________ ________ the medical team.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6320" y="1547248"/>
            <a:ext cx="28985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consists       of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46320" y="2588020"/>
            <a:ext cx="58031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          made          up             of </a:t>
            </a:r>
          </a:p>
        </p:txBody>
      </p:sp>
      <p:sp>
        <p:nvSpPr>
          <p:cNvPr id="6" name="矩形 5"/>
          <p:cNvSpPr/>
          <p:nvPr/>
        </p:nvSpPr>
        <p:spPr>
          <a:xfrm>
            <a:off x="2897730" y="4213568"/>
            <a:ext cx="26933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consists        of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75827" y="5791785"/>
            <a:ext cx="28679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made         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73999" y="2863917"/>
            <a:ext cx="8523786" cy="2259080"/>
          </a:xfrm>
          <a:prstGeom prst="rect">
            <a:avLst/>
          </a:prstGeom>
          <a:noFill/>
          <a:ln w="19050">
            <a:solidFill>
              <a:srgbClr val="FFA508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防御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保卫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辩护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of        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</a:rPr>
              <a:t>为了保卫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sb.’s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为某人辩护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defensive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防御的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保护的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保卫的</a:t>
            </a:r>
          </a:p>
        </p:txBody>
      </p:sp>
      <p:sp>
        <p:nvSpPr>
          <p:cNvPr id="4" name="Rectangle 2"/>
          <p:cNvSpPr>
            <a:spLocks noGrp="1" noChangeArrowheads="1"/>
          </p:cNvSpPr>
          <p:nvPr/>
        </p:nvSpPr>
        <p:spPr bwMode="auto">
          <a:xfrm>
            <a:off x="2362298" y="1371654"/>
            <a:ext cx="8535486" cy="1242853"/>
          </a:xfrm>
          <a:prstGeom prst="rect">
            <a:avLst/>
          </a:prstGeom>
          <a:noFill/>
          <a:ln w="28575">
            <a:solidFill>
              <a:srgbClr val="FFA508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defend oneself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为自己辩护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自卫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defend sb. 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from/against …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保卫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免于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19" y="2743218"/>
            <a:ext cx="1574337" cy="8816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07" y="1365746"/>
            <a:ext cx="1447762" cy="81074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52900" y="577893"/>
            <a:ext cx="10762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5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When the dog attacked me, I _________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自卫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with a stick.</a:t>
            </a:r>
          </a:p>
          <a:p>
            <a:pPr marL="446405" indent="-446405">
              <a:lnSpc>
                <a:spcPct val="125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You should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保护自己以免受伤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 marL="446405" indent="-446405">
              <a:lnSpc>
                <a:spcPct val="125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 town walls were built ________ ________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作为屏障以防御敌人袭击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 marL="446405" indent="-446405">
              <a:lnSpc>
                <a:spcPct val="125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The soldiers fought ________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为保卫祖国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77809" y="4922823"/>
            <a:ext cx="43444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   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of </a:t>
            </a:r>
          </a:p>
        </p:txBody>
      </p:sp>
      <p:sp>
        <p:nvSpPr>
          <p:cNvPr id="7" name="矩形 6"/>
          <p:cNvSpPr/>
          <p:nvPr/>
        </p:nvSpPr>
        <p:spPr>
          <a:xfrm>
            <a:off x="6150979" y="1254030"/>
            <a:ext cx="34323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defended     myself</a:t>
            </a:r>
          </a:p>
        </p:txBody>
      </p:sp>
      <p:sp>
        <p:nvSpPr>
          <p:cNvPr id="8" name="矩形 7"/>
          <p:cNvSpPr/>
          <p:nvPr/>
        </p:nvSpPr>
        <p:spPr>
          <a:xfrm>
            <a:off x="3106362" y="2469400"/>
            <a:ext cx="66688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defend      yourself   against      injury</a:t>
            </a:r>
          </a:p>
        </p:txBody>
      </p:sp>
      <p:sp>
        <p:nvSpPr>
          <p:cNvPr id="9" name="矩形 8"/>
          <p:cNvSpPr/>
          <p:nvPr/>
        </p:nvSpPr>
        <p:spPr>
          <a:xfrm>
            <a:off x="5729097" y="3713696"/>
            <a:ext cx="50529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as             a           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  <p:sp>
        <p:nvSpPr>
          <p:cNvPr id="10" name="矩形 9"/>
          <p:cNvSpPr/>
          <p:nvPr/>
        </p:nvSpPr>
        <p:spPr>
          <a:xfrm>
            <a:off x="1339196" y="5495875"/>
            <a:ext cx="30033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their      country</a:t>
            </a:r>
          </a:p>
        </p:txBody>
      </p:sp>
      <p:sp>
        <p:nvSpPr>
          <p:cNvPr id="11" name="矩形 10"/>
          <p:cNvSpPr/>
          <p:nvPr/>
        </p:nvSpPr>
        <p:spPr>
          <a:xfrm>
            <a:off x="1146104" y="4275025"/>
            <a:ext cx="5062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against      enemy      attacks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3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4125</Words>
  <Application>Microsoft Macintosh PowerPoint</Application>
  <PresentationFormat>Widescreen</PresentationFormat>
  <Paragraphs>407</Paragraphs>
  <Slides>52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宋体</vt:lpstr>
      <vt:lpstr>Times New Roman Bold</vt:lpstr>
      <vt:lpstr>Times New Roman Bold Italic</vt:lpstr>
      <vt:lpstr>Times New Roman Regular</vt:lpstr>
      <vt:lpstr>Arial</vt:lpstr>
      <vt:lpstr>Calibri</vt:lpstr>
      <vt:lpstr>Tahoma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 </dc:creator>
  <cp:lastModifiedBy>Qing NI</cp:lastModifiedBy>
  <cp:revision>496</cp:revision>
  <dcterms:created xsi:type="dcterms:W3CDTF">2024-06-05T02:17:11Z</dcterms:created>
  <dcterms:modified xsi:type="dcterms:W3CDTF">2026-07-23T00:51:50Z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1033-6.7.1.8828</vt:lpwstr>
  </property>
  <property fmtid="{D5CDD505-2E9C-101B-9397-08002B2CF9AE}" pid="4" name="ICV">
    <vt:lpwstr>A187F70CD4C09DD400475066D19DE0D6_42</vt:lpwstr>
  </property>
</Properties>
</file>