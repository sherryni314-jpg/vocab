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429" r:id="rId2"/>
    <p:sldId id="430" r:id="rId3"/>
    <p:sldId id="645" r:id="rId4"/>
    <p:sldId id="673" r:id="rId5"/>
    <p:sldId id="638" r:id="rId6"/>
    <p:sldId id="639" r:id="rId7"/>
    <p:sldId id="588" r:id="rId8"/>
    <p:sldId id="642" r:id="rId9"/>
    <p:sldId id="432" r:id="rId10"/>
    <p:sldId id="609" r:id="rId11"/>
    <p:sldId id="610" r:id="rId12"/>
    <p:sldId id="433" r:id="rId13"/>
    <p:sldId id="674" r:id="rId14"/>
    <p:sldId id="627" r:id="rId15"/>
    <p:sldId id="595" r:id="rId16"/>
    <p:sldId id="644" r:id="rId17"/>
    <p:sldId id="628" r:id="rId18"/>
    <p:sldId id="675" r:id="rId19"/>
    <p:sldId id="629" r:id="rId20"/>
    <p:sldId id="630" r:id="rId21"/>
    <p:sldId id="590" r:id="rId22"/>
    <p:sldId id="631" r:id="rId23"/>
    <p:sldId id="676" r:id="rId24"/>
    <p:sldId id="640" r:id="rId25"/>
    <p:sldId id="641" r:id="rId26"/>
    <p:sldId id="601" r:id="rId27"/>
    <p:sldId id="677" r:id="rId28"/>
    <p:sldId id="594" r:id="rId29"/>
    <p:sldId id="633" r:id="rId30"/>
    <p:sldId id="634" r:id="rId31"/>
    <p:sldId id="635" r:id="rId32"/>
    <p:sldId id="63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99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flow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3F30068C-EDD7-4401-A97F-0FDF280B5C62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There was a feeling of gloom and depression in the office when the news of the job cuts was announced.</a:t>
            </a:r>
          </a:p>
          <a:p>
            <a:r>
              <a:rPr lang="en-US"/>
              <a:t>裁员消息宣布时办公室里一片忧郁和沮丧的气氛。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费心做某事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main course was roast duck.</a:t>
            </a:r>
          </a:p>
          <a:p>
            <a:r>
              <a:rPr lang="en-US"/>
              <a:t>主菜是烤鸭。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be eager to do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6225" y="202565"/>
            <a:ext cx="11799570" cy="550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On 7 May 1824, a crowd of music lovers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streamed 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theatre in Vienna to hear the first-ever performance of ...</a:t>
            </a: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stream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move somewhere in large numbers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鱼贯而行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People streamed across the bridge.</a:t>
            </a: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桥上行人川流不息。</a:t>
            </a: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stared out of the window at the cars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streaming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along the street.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1887855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move or pour out in a continuous flow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流动；流出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Tears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streamed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down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his face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 indent="-45085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眼泪顺着他的脸往下流。</a:t>
            </a:r>
            <a:endParaRPr 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3030" y="162560"/>
            <a:ext cx="12078970" cy="6585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stream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小溪；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continuous flow of people or vehicles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人流；车流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Cars filed past in an endless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stream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  <a:endParaRPr lang="en-US" altLang="zh-CN" sz="3200" dirty="0"/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constant stream of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enquiries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接连不断的询问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I’ve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steady stream 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visitors.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steady stream of work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接连不断的工作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]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you visit their website, you can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stream the whole album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流播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advocates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streaming children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and educating them according to their needs.</a:t>
            </a:r>
          </a:p>
          <a:p>
            <a:pPr indent="-3053080" fontAlgn="auto">
              <a:lnSpc>
                <a:spcPct val="110000"/>
              </a:lnSpc>
              <a:tabLst>
                <a:tab pos="3052445" algn="l"/>
              </a:tabLs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按能力分班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5885" y="104775"/>
            <a:ext cx="11845290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into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begin laughing, singing, etc. suddenly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突然开始（笑、唱等）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 the President's car drew up, the crowd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into loud applause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总统的座驾停下时，人群中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爆发出热烈的掌声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into cheers/laughter/a smile/a song...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enthusiastic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enthusiastically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enthusiasm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enthusiast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lover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爱好者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8791" y="1374929"/>
            <a:ext cx="11415131" cy="1813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Beethoven,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was almost completely deaf at this point in his life, was unaware of the audience's response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until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one of the singers turned him around to face the crowd. 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2331463" y="739310"/>
            <a:ext cx="5504242" cy="635619"/>
          </a:xfrm>
          <a:prstGeom prst="wedgeRoundRectCallout">
            <a:avLst>
              <a:gd name="adj1" fmla="val -29778"/>
              <a:gd name="adj2" fmla="val 73566"/>
              <a:gd name="adj3" fmla="val 16667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引导的非限制性定语从句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869807" y="1955409"/>
            <a:ext cx="8801571" cy="2813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872197" y="2535889"/>
            <a:ext cx="703385" cy="2443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693835" y="2560319"/>
            <a:ext cx="251811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72197" y="3137093"/>
            <a:ext cx="7821638" cy="741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标注 14"/>
          <p:cNvSpPr/>
          <p:nvPr/>
        </p:nvSpPr>
        <p:spPr>
          <a:xfrm>
            <a:off x="8772779" y="2862208"/>
            <a:ext cx="2932199" cy="549770"/>
          </a:xfrm>
          <a:prstGeom prst="wedgeRoundRectCallout">
            <a:avLst>
              <a:gd name="adj1" fmla="val -30738"/>
              <a:gd name="adj2" fmla="val -95317"/>
              <a:gd name="adj3" fmla="val 16667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时间状语从句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72197" y="3840480"/>
            <a:ext cx="1069144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当时贝多芬已近全聋，直到一位领唱扶他转过身来，面向观众，他才发觉反响之热烈。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0221" y="1305169"/>
            <a:ext cx="10977489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史密斯夫妇当时正在吃午饭，听到有人敲门，打开门才知道快递到了。</a:t>
            </a:r>
          </a:p>
        </p:txBody>
      </p:sp>
      <p:sp>
        <p:nvSpPr>
          <p:cNvPr id="3" name="矩形 2"/>
          <p:cNvSpPr/>
          <p:nvPr/>
        </p:nvSpPr>
        <p:spPr>
          <a:xfrm>
            <a:off x="600221" y="3170295"/>
            <a:ext cx="10682067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Smiths, who were having lunch, didn't know the arrival of a package until a knock on the door asked them to open it.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92806" y="131236"/>
            <a:ext cx="11194092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the time he was a teenager, he had already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enjoyed a reputation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wonderful young musician.  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十多岁的时候，他已经是有名的杰出少年音乐家了。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2100" y="2171065"/>
            <a:ext cx="1154557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reputation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名声，名誉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company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enjoys an international reputation for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quality of design.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a good/bad reputation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有美名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恶名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earn / win a reputation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赢得声誉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live up to one’s reputation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不负盛名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damage / ruin one’s reputation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损害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毁坏某人的名声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7307" y="1287539"/>
            <a:ext cx="11405791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company had a worldwide reputation ________ quality.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Your company has __________ good reputation in this area and I heard nothing but praise about it.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He really lives up __________ his reputation as a “walking dictionary”.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674068" y="1881899"/>
            <a:ext cx="136017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90738" y="2474787"/>
            <a:ext cx="91440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16418" y="3639175"/>
            <a:ext cx="109728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0666" y="371592"/>
            <a:ext cx="11490307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The loss of his hearing deeply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Beethoven.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dirty="0"/>
              <a:t>     </a:t>
            </a:r>
            <a:r>
              <a:rPr lang="zh-CN" altLang="en-US" sz="3200" b="1" dirty="0"/>
              <a:t>听力的丧失使贝多芬深感沮丧。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9270" y="1673860"/>
            <a:ext cx="11231880" cy="18630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1884680" indent="-1884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marL="1884680" indent="-1884680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make sb sad and without enthusiasm or hope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使抑郁，使沮丧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00225" indent="-180022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make trade, business, etc. less active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使萧条，使得不景气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8959" y="3546170"/>
            <a:ext cx="1082335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541655" indent="-541655">
              <a:lnSpc>
                <a:spcPct val="120000"/>
              </a:lnSpc>
            </a:pPr>
            <a:r>
              <a:rPr lang="en-US" altLang="zh-CN" dirty="0"/>
              <a:t>His bad news</a:t>
            </a:r>
            <a:r>
              <a:rPr lang="en-US" altLang="zh-CN" dirty="0">
                <a:solidFill>
                  <a:srgbClr val="FF0000"/>
                </a:solidFill>
              </a:rPr>
              <a:t> depressed me</a:t>
            </a:r>
            <a:r>
              <a:rPr lang="en-US" altLang="zh-CN" dirty="0"/>
              <a:t> all day.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u="sng" dirty="0">
                <a:solidFill>
                  <a:srgbClr val="FF0000"/>
                </a:solidFill>
              </a:rPr>
              <a:t>It depresses me to see</a:t>
            </a:r>
            <a:r>
              <a:rPr lang="en-US" altLang="zh-CN" dirty="0"/>
              <a:t> so many young girls smoking.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dirty="0"/>
              <a:t>看到这么多女孩抽烟令我感到很沮丧。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dirty="0"/>
              <a:t>The new highway </a:t>
            </a:r>
            <a:r>
              <a:rPr lang="en-US" altLang="zh-CN" dirty="0">
                <a:solidFill>
                  <a:srgbClr val="FF0000"/>
                </a:solidFill>
              </a:rPr>
              <a:t>depressed business </a:t>
            </a:r>
            <a:r>
              <a:rPr lang="en-US" altLang="zh-CN" dirty="0"/>
              <a:t>along the old one.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dirty="0"/>
              <a:t>新高速公路</a:t>
            </a:r>
            <a:r>
              <a:rPr lang="zh-CN" altLang="en-US" dirty="0"/>
              <a:t>让</a:t>
            </a:r>
            <a:r>
              <a:rPr lang="en-US" altLang="zh-CN" dirty="0"/>
              <a:t>旧高速公路沿线的生意</a:t>
            </a:r>
            <a:r>
              <a:rPr lang="zh-CN" altLang="en-US" dirty="0"/>
              <a:t>变得不景气</a:t>
            </a:r>
            <a:r>
              <a:rPr lang="en-US" altLang="zh-CN" dirty="0"/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6240" y="161925"/>
            <a:ext cx="1168146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0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depressed   </a:t>
            </a:r>
            <a:r>
              <a:rPr lang="en-US" altLang="zh-CN" i="1" dirty="0">
                <a:solidFill>
                  <a:srgbClr val="FF0000"/>
                </a:solidFill>
              </a:rPr>
              <a:t>adj. 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沮丧的，抑郁的；不景气的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depressing  </a:t>
            </a:r>
            <a:r>
              <a:rPr lang="en-US" altLang="zh-CN" i="1" dirty="0">
                <a:solidFill>
                  <a:srgbClr val="FF0000"/>
                </a:solidFill>
              </a:rPr>
              <a:t>adj</a:t>
            </a:r>
            <a:r>
              <a:rPr lang="en-US" altLang="zh-CN" dirty="0">
                <a:solidFill>
                  <a:srgbClr val="FF0000"/>
                </a:solidFill>
              </a:rPr>
              <a:t>.  </a:t>
            </a:r>
            <a:r>
              <a:rPr lang="zh-CN" altLang="en-US" dirty="0"/>
              <a:t>使人沮丧的</a:t>
            </a:r>
            <a:endParaRPr lang="en-US" altLang="zh-CN" dirty="0"/>
          </a:p>
          <a:p>
            <a:pPr marL="0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depression</a:t>
            </a:r>
            <a:r>
              <a:rPr lang="en-US" altLang="zh-CN" dirty="0"/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n.</a:t>
            </a:r>
            <a:r>
              <a:rPr lang="en-US" altLang="zh-CN" dirty="0"/>
              <a:t> </a:t>
            </a:r>
            <a:r>
              <a:rPr lang="zh-CN" altLang="en-US" dirty="0"/>
              <a:t>抑郁；沮丧；不景气</a:t>
            </a:r>
          </a:p>
          <a:p>
            <a:pPr marL="0" fontAlgn="auto">
              <a:lnSpc>
                <a:spcPct val="120000"/>
              </a:lnSpc>
            </a:pPr>
            <a:r>
              <a:rPr lang="zh-CN" altLang="en-US" dirty="0"/>
              <a:t>She </a:t>
            </a:r>
            <a:r>
              <a:rPr lang="zh-CN" altLang="en-US" u="sng" dirty="0">
                <a:solidFill>
                  <a:srgbClr val="FF0000"/>
                </a:solidFill>
              </a:rPr>
              <a:t>felt </a:t>
            </a:r>
            <a:r>
              <a:rPr lang="zh-CN" altLang="en-US" dirty="0"/>
              <a:t>very </a:t>
            </a:r>
            <a:r>
              <a:rPr lang="zh-CN" altLang="en-US" u="sng" dirty="0">
                <a:solidFill>
                  <a:srgbClr val="FF0000"/>
                </a:solidFill>
              </a:rPr>
              <a:t>depressed about</a:t>
            </a:r>
            <a:r>
              <a:rPr lang="zh-CN" altLang="en-US" dirty="0"/>
              <a:t> the future.</a:t>
            </a:r>
          </a:p>
          <a:p>
            <a:pPr marL="0" fontAlgn="auto">
              <a:lnSpc>
                <a:spcPct val="120000"/>
              </a:lnSpc>
            </a:pPr>
            <a:r>
              <a:rPr lang="zh-CN" altLang="en-US" dirty="0"/>
              <a:t>她感到前途无望。</a:t>
            </a:r>
            <a:endParaRPr lang="en-US" altLang="zh-CN" dirty="0"/>
          </a:p>
          <a:p>
            <a:pPr marL="0" indent="-717550" fontAlgn="auto">
              <a:lnSpc>
                <a:spcPct val="120000"/>
              </a:lnSpc>
            </a:pPr>
            <a:r>
              <a:rPr lang="en-US" altLang="zh-CN" dirty="0"/>
              <a:t>In a </a:t>
            </a:r>
            <a:r>
              <a:rPr lang="en-US" altLang="zh-CN" dirty="0">
                <a:solidFill>
                  <a:srgbClr val="FF0000"/>
                </a:solidFill>
              </a:rPr>
              <a:t>depressed</a:t>
            </a:r>
            <a:r>
              <a:rPr lang="en-US" altLang="zh-CN" dirty="0"/>
              <a:t> market, it’s difficult to sell goods unless you lower your prices.</a:t>
            </a:r>
          </a:p>
          <a:p>
            <a:pPr marL="0" indent="-717550" fontAlgn="auto">
              <a:lnSpc>
                <a:spcPct val="120000"/>
              </a:lnSpc>
            </a:pPr>
            <a:r>
              <a:rPr lang="en-US" altLang="zh-CN" dirty="0"/>
              <a:t>It’s </a:t>
            </a:r>
            <a:r>
              <a:rPr lang="en-US" altLang="zh-CN" dirty="0">
                <a:solidFill>
                  <a:srgbClr val="FF0000"/>
                </a:solidFill>
              </a:rPr>
              <a:t>depressing </a:t>
            </a:r>
            <a:r>
              <a:rPr lang="en-US" altLang="zh-CN" dirty="0"/>
              <a:t>that nobody seems to care.</a:t>
            </a:r>
          </a:p>
          <a:p>
            <a:pPr marL="0" indent="-717550" fontAlgn="auto">
              <a:lnSpc>
                <a:spcPct val="120000"/>
              </a:lnSpc>
            </a:pPr>
            <a:r>
              <a:rPr lang="en-US" altLang="zh-CN" dirty="0"/>
              <a:t>She suffered from severe </a:t>
            </a:r>
            <a:r>
              <a:rPr lang="en-US" altLang="zh-CN" dirty="0">
                <a:solidFill>
                  <a:srgbClr val="FF0000"/>
                </a:solidFill>
              </a:rPr>
              <a:t>depression </a:t>
            </a:r>
            <a:r>
              <a:rPr lang="en-US" altLang="zh-CN" dirty="0"/>
              <a:t>after losing her job.</a:t>
            </a:r>
          </a:p>
          <a:p>
            <a:pPr marL="0" indent="-717550" fontAlgn="auto">
              <a:lnSpc>
                <a:spcPct val="120000"/>
              </a:lnSpc>
            </a:pPr>
            <a:r>
              <a:rPr lang="en-US" altLang="zh-CN" dirty="0"/>
              <a:t>她失业后患了严重的抑郁症。</a:t>
            </a:r>
          </a:p>
          <a:p>
            <a:pPr marL="0" indent="-717550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economic depression</a:t>
            </a:r>
            <a:r>
              <a:rPr lang="en-US" altLang="zh-CN" dirty="0"/>
              <a:t> </a:t>
            </a:r>
            <a:r>
              <a:rPr lang="zh-CN" altLang="en-US" dirty="0"/>
              <a:t>经济衰退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64256" y="1405609"/>
            <a:ext cx="1084838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103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depress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的正确形式填空。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Alex is terribly __________ about losing his job.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It __________ me to listen to the bad news these days.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3) Looking for a job these days can be very __________.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4) He was suffering from ____________ (</a:t>
            </a:r>
            <a:r>
              <a:rPr lang="zh-CN" altLang="en-US" sz="3200" b="1" dirty="0">
                <a:latin typeface="Times New Roman" panose="02020503050405090304" pitchFamily="18" charset="0"/>
              </a:rPr>
              <a:t>抑郁症</a:t>
            </a:r>
            <a:r>
              <a:rPr lang="en-US" altLang="zh-CN" sz="3200" b="1" dirty="0">
                <a:latin typeface="Times New Roman" panose="02020503050405090304" pitchFamily="18" charset="0"/>
              </a:rPr>
              <a:t>).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121185" y="3134800"/>
            <a:ext cx="21099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depressing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85691" y="2591433"/>
            <a:ext cx="19267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depresses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50199" y="2006658"/>
            <a:ext cx="20809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depressed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105324" y="3741210"/>
            <a:ext cx="21099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depression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6885" y="934962"/>
            <a:ext cx="11219851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He was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upset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at first, he wanted to keep it a secret.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他非常难过，一开始，他想保守秘密。</a:t>
            </a:r>
          </a:p>
          <a:p>
            <a:pPr indent="-22415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upset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unhappy or disappointed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难过的，失望的</a:t>
            </a:r>
          </a:p>
          <a:p>
            <a:pPr indent="-22415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为此事难过没有意义。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2415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There's no point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(in)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getting upset about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15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使烦恼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155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decision is likely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upset a lot of people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224155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这项决定很可能会使许多人不快。</a:t>
            </a:r>
          </a:p>
          <a:p>
            <a:pPr indent="-224155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upset oneself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使自己烦恼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2178330" y="197501"/>
            <a:ext cx="5265091" cy="635619"/>
          </a:xfrm>
          <a:prstGeom prst="wedgeRoundRectCallout">
            <a:avLst>
              <a:gd name="adj1" fmla="val -39234"/>
              <a:gd name="adj2" fmla="val 104551"/>
              <a:gd name="adj3" fmla="val 16667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so…that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引导结果状语从句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85775" y="430530"/>
            <a:ext cx="1121981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41550" fontAlgn="auto"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upset him that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nobody had bothered to tell him about it.</a:t>
            </a:r>
          </a:p>
          <a:p>
            <a:pPr indent="-2241550" fontAlgn="auto">
              <a:lnSpc>
                <a:spcPct val="120000"/>
              </a:lnSpc>
            </a:pP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让他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心烦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的是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，谁也没把这件事告诉他。</a:t>
            </a:r>
          </a:p>
          <a:p>
            <a:pPr indent="-2241550" fontAlgn="auto"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upsets me to think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her all alone in that big house.</a:t>
            </a:r>
          </a:p>
          <a:p>
            <a:pPr indent="-224155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想到她孤身一人守着那所大房子，我就感到不舒服。</a:t>
            </a:r>
          </a:p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know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you’re upset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Mr. Wang is leaving.</a:t>
            </a:r>
          </a:p>
          <a:p>
            <a:pPr indent="-717550" fontAlgn="auto">
              <a:lnSpc>
                <a:spcPct val="120000"/>
              </a:lnSpc>
            </a:pPr>
            <a:endParaRPr 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717550" fontAlgn="auto"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arrived an hour late and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upset 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all our arrangements.</a:t>
            </a:r>
          </a:p>
          <a:p>
            <a:pPr indent="-717550" fontAlgn="auto"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他迟到了一个小时，把我们的一切安排都</a:t>
            </a:r>
            <a:r>
              <a:rPr lang="en-US" sz="3200" b="1" u="sng" dirty="0">
                <a:latin typeface="Times New Roman Bold" panose="02020503050405090304" charset="0"/>
                <a:cs typeface="Times New Roman Bold" panose="02020503050405090304" charset="0"/>
              </a:rPr>
              <a:t>打乱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了。(to make the plan go wrong)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/>
          <p:cNvSpPr txBox="1">
            <a:spLocks noChangeArrowheads="1"/>
          </p:cNvSpPr>
          <p:nvPr/>
        </p:nvSpPr>
        <p:spPr bwMode="auto">
          <a:xfrm>
            <a:off x="576183" y="590033"/>
            <a:ext cx="11163302" cy="6106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49580" indent="-44958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单句语法填空。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She was upset ____________ (know) that her plan was turned down.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You’re not still upset _______ (</a:t>
            </a:r>
            <a:r>
              <a:rPr lang="zh-CN" altLang="en-US" sz="3200" b="1" dirty="0">
                <a:latin typeface="Times New Roman" panose="02020503050405090304" pitchFamily="18" charset="0"/>
              </a:rPr>
              <a:t>填入介词</a:t>
            </a:r>
            <a:r>
              <a:rPr lang="en-US" altLang="zh-CN" sz="3200" b="1" dirty="0">
                <a:latin typeface="Times New Roman" panose="02020503050405090304" pitchFamily="18" charset="0"/>
              </a:rPr>
              <a:t>) me, are you?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单词拼写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The task was so hard, and Steve, angry and __________ (</a:t>
            </a:r>
            <a:r>
              <a:rPr lang="zh-CN" altLang="en-US" sz="3200" b="1" dirty="0">
                <a:latin typeface="Times New Roman" panose="02020503050405090304" pitchFamily="18" charset="0"/>
              </a:rPr>
              <a:t>心烦意乱的</a:t>
            </a:r>
            <a:r>
              <a:rPr lang="en-US" altLang="zh-CN" sz="3200" b="1" dirty="0">
                <a:latin typeface="Times New Roman" panose="02020503050405090304" pitchFamily="18" charset="0"/>
              </a:rPr>
              <a:t>), said he was quitting. (2019</a:t>
            </a:r>
            <a:r>
              <a:rPr lang="zh-CN" altLang="en-US" sz="3200" b="1" dirty="0">
                <a:latin typeface="Times New Roman" panose="02020503050405090304" pitchFamily="18" charset="0"/>
              </a:rPr>
              <a:t>江苏高考</a:t>
            </a:r>
            <a:r>
              <a:rPr lang="en-US" altLang="zh-CN" sz="3200" b="1" dirty="0">
                <a:latin typeface="Times New Roman" panose="0202050305040509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根据括号内所给汉语提示完成句子。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Tell me first ________________________ (</a:t>
            </a:r>
            <a:r>
              <a:rPr lang="zh-CN" altLang="en-US" sz="3200" b="1" dirty="0">
                <a:latin typeface="Times New Roman" panose="02020503050405090304" pitchFamily="18" charset="0"/>
              </a:rPr>
              <a:t>什么让你如此沮丧</a:t>
            </a:r>
            <a:r>
              <a:rPr lang="en-US" altLang="zh-CN" sz="3200" b="1" dirty="0">
                <a:latin typeface="Times New Roman" panose="02020503050405090304" pitchFamily="18" charset="0"/>
              </a:rPr>
              <a:t>).</a:t>
            </a:r>
          </a:p>
        </p:txBody>
      </p:sp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3847343" y="1161533"/>
            <a:ext cx="198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to know</a:t>
            </a:r>
          </a:p>
        </p:txBody>
      </p:sp>
      <p:sp>
        <p:nvSpPr>
          <p:cNvPr id="201732" name="Rectangle 4"/>
          <p:cNvSpPr>
            <a:spLocks noChangeArrowheads="1"/>
          </p:cNvSpPr>
          <p:nvPr/>
        </p:nvSpPr>
        <p:spPr bwMode="auto">
          <a:xfrm>
            <a:off x="4921974" y="2426399"/>
            <a:ext cx="1257963" cy="576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with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735028" y="3540062"/>
            <a:ext cx="1295400" cy="51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upset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23192" y="5238233"/>
            <a:ext cx="5410200" cy="66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what has upset you so much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/>
      <p:bldP spid="201732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7545" y="576931"/>
            <a:ext cx="1147973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 how could I possibly admit a weakness in the one sense which should be more perfect in me than in others, a sense which I once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possessed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greatest perfection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…”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这样</a:t>
            </a:r>
            <a:r>
              <a:rPr lang="zh-CN" altLang="en-US" sz="3200" b="1" dirty="0">
                <a:latin typeface="+mn-ea"/>
              </a:rPr>
              <a:t>一种在我身上本应比别人更加完美的感官，这样一种我曾经拥有绝顶禀赋的感官，如今怎能让我承认它有了缺陷</a:t>
            </a:r>
            <a:r>
              <a:rPr lang="en-US" altLang="zh-CN" sz="3200" b="1" dirty="0">
                <a:latin typeface="+mn-ea"/>
              </a:rPr>
              <a:t>……</a:t>
            </a:r>
            <a:r>
              <a:rPr lang="zh-CN" altLang="en-US" sz="3200" b="1" dirty="0">
                <a:latin typeface="+mn-ea"/>
              </a:rPr>
              <a:t>”</a:t>
            </a:r>
            <a:endParaRPr lang="en-US" sz="3200" b="1" dirty="0">
              <a:latin typeface="+mn-ea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7660" y="121285"/>
            <a:ext cx="1169860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possess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own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拥有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物品、特质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gallery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possesses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number of the artist's early works.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这家画廊藏有那位画家的一些早期作品。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possess a sense of humour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possessed of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exceptional power of concentration.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她有高超的专注能力。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 a powerful effect on sb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支配，控制</a:t>
            </a:r>
            <a:endParaRPr lang="zh-CN" altLang="en-US" sz="3200" b="1" i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wave of fear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possessed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her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seize sb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possessed by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desire to tell her everything.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8" name="Rectangle 4"/>
          <p:cNvSpPr>
            <a:spLocks noChangeArrowheads="1"/>
          </p:cNvSpPr>
          <p:nvPr/>
        </p:nvSpPr>
        <p:spPr bwMode="auto">
          <a:xfrm>
            <a:off x="262255" y="173355"/>
            <a:ext cx="11421110" cy="6587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possession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具有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拥有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the state of owning sth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manuscript is just one of the treasures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their possession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他们拥有的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gang was caught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possession of stolen goods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这伙人被逮住，人赃俱获。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possession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意为“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财产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复数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belongings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personal possessions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私人物品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ring is one of her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most treasured possessions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这只戒指是她最珍贵的财产之一。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8" name="Rectangle 4"/>
          <p:cNvSpPr>
            <a:spLocks noChangeArrowheads="1"/>
          </p:cNvSpPr>
          <p:nvPr/>
        </p:nvSpPr>
        <p:spPr bwMode="auto">
          <a:xfrm>
            <a:off x="262255" y="211455"/>
            <a:ext cx="1142111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Those documents are now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the possession of</a:t>
            </a:r>
            <a:r>
              <a:rPr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Guardian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卫报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in possession of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拥有某物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have sth in one’s possession = sth be in the possession of sb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在某人手中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由某人掌握</a:t>
            </a:r>
            <a:endParaRPr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</a:t>
            </a:r>
            <a:r>
              <a:rPr sz="3200" b="1" dirty="0">
                <a:latin typeface="Times New Roman Bold" panose="02020503050405090304" charset="0"/>
                <a:cs typeface="Times New Roman Bold" panose="02020503050405090304" charset="0"/>
              </a:rPr>
              <a:t>he book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came into my possession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为某人所得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She had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taken possession of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the sofa.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占有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A wave of fear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took possession of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247329" y="1173656"/>
            <a:ext cx="11106471" cy="442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单句语法填空。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When you get out of the taxi, make sure that none of your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__________ (possess) are left behind.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It seems that we value what we are trying to get more than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what we _________ (possess) right now.</a:t>
            </a:r>
          </a:p>
          <a:p>
            <a:pPr marL="450850" indent="-450850"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3) Right after Erin took _________ (possess) of my wallet on the bus, she posted a picture of my driver’s license to an online forum, trying to see if anyone knew me. (2019 </a:t>
            </a:r>
            <a:r>
              <a:rPr lang="zh-CN" altLang="en-US" sz="3200" b="1" dirty="0">
                <a:latin typeface="Times New Roman" panose="02020503050405090304" pitchFamily="18" charset="0"/>
              </a:rPr>
              <a:t>天津</a:t>
            </a:r>
            <a:r>
              <a:rPr lang="en-US" altLang="zh-CN" sz="3200" b="1" dirty="0">
                <a:latin typeface="Times New Roman" panose="02020503050405090304" pitchFamily="18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786341" y="2228180"/>
            <a:ext cx="2832157" cy="594778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possessions</a:t>
            </a:r>
            <a:endParaRPr lang="zh-CN" altLang="en-US" sz="3200" b="1" dirty="0">
              <a:latin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23572" y="3282704"/>
            <a:ext cx="1900220" cy="594778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possess</a:t>
            </a:r>
            <a:endParaRPr lang="zh-CN" altLang="en-US" sz="3200" b="1" dirty="0">
              <a:latin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90147" y="3855794"/>
            <a:ext cx="2620834" cy="594778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possession</a:t>
            </a:r>
            <a:endParaRPr lang="zh-CN" altLang="en-US" sz="32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596517" y="1032032"/>
            <a:ext cx="10841056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eaLnBrk="0" hangingPunct="0"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96989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一句多译。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</a:rPr>
              <a:t>据我所知， 他拥有一个大公司。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</a:rPr>
              <a:t>① </a:t>
            </a:r>
            <a:r>
              <a:rPr lang="en-US" altLang="zh-CN" sz="3200" b="1" dirty="0">
                <a:latin typeface="Times New Roman" panose="02020503050405090304" pitchFamily="18" charset="0"/>
              </a:rPr>
              <a:t>As far as I know, he is __________________ a large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 company.</a:t>
            </a:r>
          </a:p>
          <a:p>
            <a:pPr marL="542925" indent="-54292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② As far as I know, a large company is ________________ him.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③ As far as I know, he ________________ a large company.</a:t>
            </a:r>
          </a:p>
        </p:txBody>
      </p:sp>
      <p:sp>
        <p:nvSpPr>
          <p:cNvPr id="2" name="矩形 1"/>
          <p:cNvSpPr/>
          <p:nvPr/>
        </p:nvSpPr>
        <p:spPr>
          <a:xfrm>
            <a:off x="5320125" y="2215474"/>
            <a:ext cx="287610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in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possession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of</a:t>
            </a:r>
            <a:endParaRPr lang="zh-CN" altLang="en-US" sz="3200" b="1" dirty="0">
              <a:latin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00449" y="3391970"/>
            <a:ext cx="3621088" cy="584775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in the possession of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95874" y="4541961"/>
            <a:ext cx="1784464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possesses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80776" y="309"/>
            <a:ext cx="11722129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Even in his darkest moments, however, Beethoven never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abandoned hope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/>
              <a:t>然而，即使在那些最晦暗的时刻，贝多芬都不曾放弃希望。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</p:txBody>
      </p:sp>
      <p:sp>
        <p:nvSpPr>
          <p:cNvPr id="2" name="矩形 1"/>
          <p:cNvSpPr/>
          <p:nvPr/>
        </p:nvSpPr>
        <p:spPr>
          <a:xfrm>
            <a:off x="469265" y="1865630"/>
            <a:ext cx="1153350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abandoned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match because of rain.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因为下雨，他们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了比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赛。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don’t think that John would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abandon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his friends if they were in trouble.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我不认为约翰会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抛弃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他的朋友，如果他们遇到麻烦。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abandon oneself to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陷入，沉湎于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abandoned himself to despair.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他陷入绝望。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2"/>
          <p:cNvSpPr txBox="1">
            <a:spLocks noChangeArrowheads="1"/>
          </p:cNvSpPr>
          <p:nvPr/>
        </p:nvSpPr>
        <p:spPr bwMode="auto">
          <a:xfrm>
            <a:off x="190500" y="262890"/>
            <a:ext cx="11706225" cy="637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1325" indent="-4413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abandoned  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.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被抛弃的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废弃的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deserted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an abandoned car/house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90791" y="2171459"/>
            <a:ext cx="10599102" cy="314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Feeling frustrated, I found myself abandoning myself to __________ (play) computer games.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He owned a farm, which looked almost ____________ (abandon)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．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study showed a deep fear among the elderly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being abandoned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care of strangers.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54644" y="3313976"/>
            <a:ext cx="1819604" cy="63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playing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678228" y="4012379"/>
            <a:ext cx="2895600" cy="60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abandoned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4" grpId="0"/>
      <p:bldP spid="5" grpId="0" bldLvl="0" animBg="1"/>
      <p:bldP spid="6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338" y="1157766"/>
            <a:ext cx="11131827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听到这个坏消息，她沉浸在悲痛中。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3862" y="1888589"/>
            <a:ext cx="10760767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Hearing the bad news, she abandoned herself to sadness.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8746" y="1537253"/>
            <a:ext cx="11105322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composing music at the piano, he would put one end of a pencil in his mouth and place the other end against the instrument so that he could feel the notes.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737736" y="785373"/>
            <a:ext cx="9956768" cy="635619"/>
          </a:xfrm>
          <a:prstGeom prst="wedgeRoundRectCallout">
            <a:avLst>
              <a:gd name="adj1" fmla="val -39234"/>
              <a:gd name="adj2" fmla="val 85787"/>
              <a:gd name="adj3" fmla="val 16667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he was composing…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引导的时间状语从句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974746" y="2133600"/>
            <a:ext cx="6234437" cy="897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717407" y="3233530"/>
            <a:ext cx="5207393" cy="4210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标注 8"/>
          <p:cNvSpPr/>
          <p:nvPr/>
        </p:nvSpPr>
        <p:spPr>
          <a:xfrm>
            <a:off x="3089996" y="3518640"/>
            <a:ext cx="5252247" cy="635619"/>
          </a:xfrm>
          <a:prstGeom prst="wedgeRoundRectCallout">
            <a:avLst>
              <a:gd name="adj1" fmla="val -39044"/>
              <a:gd name="adj2" fmla="val -74753"/>
              <a:gd name="adj3" fmla="val 16667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引导的目的状语从句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7736" y="4688619"/>
            <a:ext cx="1069144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在钢琴上作曲时，他将铅笔的一端含在嘴里，另一端顶住钢琴，这样就能感受到音符。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338" y="1157766"/>
            <a:ext cx="11131827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读诗时，伊丽莎白会播放一些背景音乐，这样她能够跟着音乐曲调朗读。</a:t>
            </a:r>
          </a:p>
        </p:txBody>
      </p:sp>
      <p:sp>
        <p:nvSpPr>
          <p:cNvPr id="3" name="矩形 2"/>
          <p:cNvSpPr/>
          <p:nvPr/>
        </p:nvSpPr>
        <p:spPr>
          <a:xfrm>
            <a:off x="662607" y="3064609"/>
            <a:ext cx="10760767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reading a poem, Elizabeth would play some background music so that she could read it to the tunes of the music.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7739" y="1193598"/>
            <a:ext cx="11245608" cy="289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You can soon feel the determination— a quality Beethoven understood well because of his hearing difficulties —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coursing through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music.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很快你就能感受到这种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贯穿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在音乐中的决心，这是贝多芬因自己的听力问题而深刻体会到的品质。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7496" y="4092853"/>
            <a:ext cx="10273257" cy="68326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421255" indent="-24212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move or flow quickly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快速地流动，奔流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717135" y="4873767"/>
            <a:ext cx="10756212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turned around and tears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coursed down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cheeks.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new wave of fashion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coursing through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our schools.</a:t>
            </a:r>
          </a:p>
        </p:txBody>
      </p:sp>
      <p:sp>
        <p:nvSpPr>
          <p:cNvPr id="2" name="左中括号 1"/>
          <p:cNvSpPr/>
          <p:nvPr/>
        </p:nvSpPr>
        <p:spPr>
          <a:xfrm>
            <a:off x="7344743" y="1095948"/>
            <a:ext cx="371060" cy="689113"/>
          </a:xfrm>
          <a:prstGeom prst="leftBracket">
            <a:avLst/>
          </a:prstGeom>
          <a:ln w="38100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中括号 4"/>
          <p:cNvSpPr/>
          <p:nvPr/>
        </p:nvSpPr>
        <p:spPr>
          <a:xfrm>
            <a:off x="9183759" y="1698338"/>
            <a:ext cx="344556" cy="768626"/>
          </a:xfrm>
          <a:prstGeom prst="rightBracket">
            <a:avLst/>
          </a:prstGeom>
          <a:ln w="38100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2305878" y="304800"/>
            <a:ext cx="6944139" cy="791148"/>
          </a:xfrm>
          <a:prstGeom prst="wedgeRoundRectCallout">
            <a:avLst>
              <a:gd name="adj1" fmla="val 38709"/>
              <a:gd name="adj2" fmla="val 67525"/>
              <a:gd name="adj3" fmla="val 16667"/>
            </a:avLst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插入成分，对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determination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进行解释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14960" y="0"/>
            <a:ext cx="11600180" cy="4913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course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the way sth developes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进程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 event that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changed the course of history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改变了历史进程的事件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course of his life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在……的进程中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minor ailments the best thing is often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nature take its course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对于小病，往往最好是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听其自然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2941" y="366346"/>
            <a:ext cx="11426207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22300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The next two movements are full of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desperate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lows and uplifting highs which perhaps reflect both his suffering and his strong will to fight it.</a:t>
            </a:r>
          </a:p>
          <a:p>
            <a:pPr indent="-62230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接下来的两个乐章充满了绝望的低谷和令人振奋的高潮，这 也许反映了他的痛苦和他与之抗争的坚强意志。</a:t>
            </a:r>
          </a:p>
          <a:p>
            <a:pPr indent="-6223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have little hope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heard sounds of a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struggle in the next room.</a:t>
            </a:r>
          </a:p>
          <a:p>
            <a:pPr indent="-62230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拼命的，不顾一切的</a:t>
            </a:r>
          </a:p>
          <a:p>
            <a:pPr indent="-622300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increasing financial difficulties forced him to take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desperate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measures.</a:t>
            </a:r>
          </a:p>
          <a:p>
            <a:pPr indent="-622300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采取铤而走险的办法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1470" y="0"/>
            <a:ext cx="1144778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decided not to abandon John when he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desperate need of help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2) 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极其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需要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desperate shortage of clean water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want sth very much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极想，渴望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desperate for…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极度渴望得到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desperate to do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极度渴望做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was </a:t>
            </a:r>
            <a:r>
              <a:rPr lang="en-US" altLang="zh-CN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so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desperate for a job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 that</a:t>
            </a:r>
            <a:r>
              <a:rPr lang="en-US" altLang="zh-CN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 he would have done anything.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ill/unhappy/lonely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desperation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绝望；拼命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was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note of desperation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his voice.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2393" y="472939"/>
            <a:ext cx="11429132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music moves through technically difficult sections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ease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showing his genius as a composer.</a:t>
            </a:r>
          </a:p>
          <a:p>
            <a:pPr marL="542925" indent="-542925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这首乐曲将技术上棘手的部分处理得轻松自如，显示出他作为作曲家的天赋。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1248" y="2732019"/>
            <a:ext cx="10694260" cy="279717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1970405" indent="-197040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ease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1)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easily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容易，轻易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-1970405"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常用结构：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ease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轻而易举地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-1970405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state of feeling relaxed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舒适，安逸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-1970405"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常用结构：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ease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舒适，自由自在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comfortably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971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sb. at ease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使某人舒适，使某人自在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80975" y="335280"/>
            <a:ext cx="11542395" cy="643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That’s not difficult. I could do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ease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felt completely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ease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with my family.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75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put Mary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ease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during the thunderstorm by reading her stories.</a:t>
            </a:r>
          </a:p>
          <a:p>
            <a:pPr indent="-71755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1970405" indent="-197040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ease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become or to make sth less unpleasant, painful, </a:t>
            </a:r>
            <a:endParaRPr lang="en-US" altLang="zh-CN" sz="32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-1970405">
              <a:lnSpc>
                <a:spcPct val="11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severe, 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（使）减轻，缓解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knowledge that she wasn’t the only person in this situation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eased her nervousness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0405" indent="-1970405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755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314" y="983626"/>
            <a:ext cx="9710057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翻译下面句子。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He was very smart and passed the exam with ease.</a:t>
            </a: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 gave him some medicine to ease the pain.</a:t>
            </a: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He tried his best to appear at ease.</a:t>
            </a: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</a:t>
            </a:r>
          </a:p>
        </p:txBody>
      </p:sp>
      <p:sp>
        <p:nvSpPr>
          <p:cNvPr id="5" name="矩形 4"/>
          <p:cNvSpPr/>
          <p:nvPr/>
        </p:nvSpPr>
        <p:spPr>
          <a:xfrm>
            <a:off x="1287505" y="2155763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他很聪明，轻而易举地就通过了考试。</a:t>
            </a:r>
          </a:p>
        </p:txBody>
      </p:sp>
      <p:sp>
        <p:nvSpPr>
          <p:cNvPr id="6" name="矩形 5"/>
          <p:cNvSpPr/>
          <p:nvPr/>
        </p:nvSpPr>
        <p:spPr>
          <a:xfrm>
            <a:off x="1287505" y="3327900"/>
            <a:ext cx="56428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我给了他一些药以减轻疼痛。 </a:t>
            </a:r>
          </a:p>
        </p:txBody>
      </p:sp>
      <p:sp>
        <p:nvSpPr>
          <p:cNvPr id="7" name="矩形 6"/>
          <p:cNvSpPr/>
          <p:nvPr/>
        </p:nvSpPr>
        <p:spPr>
          <a:xfrm>
            <a:off x="1365724" y="4500037"/>
            <a:ext cx="48189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他尽力表现得轻松自在。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</Words>
  <Application>Microsoft Macintosh PowerPoint</Application>
  <PresentationFormat>Widescreen</PresentationFormat>
  <Paragraphs>246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微软雅黑</vt:lpstr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389</cp:revision>
  <dcterms:created xsi:type="dcterms:W3CDTF">2024-06-07T04:37:38Z</dcterms:created>
  <dcterms:modified xsi:type="dcterms:W3CDTF">2026-07-23T00:53:07Z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1033-6.7.1.8828</vt:lpwstr>
  </property>
  <property fmtid="{D5CDD505-2E9C-101B-9397-08002B2CF9AE}" pid="3" name="ICV">
    <vt:lpwstr>299B54514944D89816D58E6459B9475C_42</vt:lpwstr>
  </property>
</Properties>
</file>