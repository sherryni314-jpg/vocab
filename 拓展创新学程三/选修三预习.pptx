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332" r:id="rId2"/>
    <p:sldId id="344" r:id="rId3"/>
    <p:sldId id="345" r:id="rId4"/>
    <p:sldId id="346" r:id="rId5"/>
    <p:sldId id="347" r:id="rId6"/>
    <p:sldId id="348" r:id="rId7"/>
    <p:sldId id="349" r:id="rId8"/>
    <p:sldId id="350" r:id="rId9"/>
  </p:sldIdLst>
  <p:sldSz cx="13004800" cy="9753600"/>
  <p:notesSz cx="6858000" cy="9947275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82222" autoAdjust="0"/>
  </p:normalViewPr>
  <p:slideViewPr>
    <p:cSldViewPr snapToGrid="0">
      <p:cViewPr varScale="1">
        <p:scale>
          <a:sx n="62" d="100"/>
          <a:sy n="62" d="100"/>
        </p:scale>
        <p:origin x="2128" y="200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>
            <a:spLocks noGrp="1" noRot="1" noChangeAspect="1"/>
          </p:cNvSpPr>
          <p:nvPr>
            <p:ph type="sldImg"/>
          </p:nvPr>
        </p:nvSpPr>
        <p:spPr>
          <a:xfrm>
            <a:off x="942975" y="746125"/>
            <a:ext cx="4972050" cy="37306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3" name="Shape 133"/>
          <p:cNvSpPr>
            <a:spLocks noGrp="1"/>
          </p:cNvSpPr>
          <p:nvPr>
            <p:ph type="body" sz="quarter" idx="1"/>
          </p:nvPr>
        </p:nvSpPr>
        <p:spPr>
          <a:xfrm>
            <a:off x="914400" y="4724956"/>
            <a:ext cx="5029200" cy="4476274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水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110809_FamilyChineseOahu_EN_02390_2880x1921.jpeg"/>
          <p:cNvSpPr>
            <a:spLocks noGrp="1"/>
          </p:cNvSpPr>
          <p:nvPr>
            <p:ph type="pic" idx="21"/>
          </p:nvPr>
        </p:nvSpPr>
        <p:spPr>
          <a:xfrm>
            <a:off x="1606550" y="635000"/>
            <a:ext cx="9779000" cy="652272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标题文本"/>
          <p:cNvSpPr txBox="1"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2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3" name="01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文本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110809_FamilyChineseOahu_EN_00317_2040x1360.jpeg"/>
          <p:cNvSpPr>
            <a:spLocks noGrp="1"/>
          </p:cNvSpPr>
          <p:nvPr>
            <p:ph type="pic" idx="21"/>
          </p:nvPr>
        </p:nvSpPr>
        <p:spPr>
          <a:xfrm>
            <a:off x="2717800" y="635000"/>
            <a:ext cx="12357100" cy="82380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标题文本"/>
          <p:cNvSpPr txBox="1">
            <a:spLocks noGrp="1"/>
          </p:cNvSpPr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4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9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110809_FamilyChineseOahu_EN_00317_2040x1360.jpeg"/>
          <p:cNvSpPr>
            <a:spLocks noGrp="1"/>
          </p:cNvSpPr>
          <p:nvPr>
            <p:ph type="pic" idx="21"/>
          </p:nvPr>
        </p:nvSpPr>
        <p:spPr>
          <a:xfrm>
            <a:off x="4533900" y="2603500"/>
            <a:ext cx="942975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7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正文级别 1…"/>
          <p:cNvSpPr txBox="1">
            <a:spLocks noGrp="1"/>
          </p:cNvSpPr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6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110809_FamilyChineseOahu_EN_02390_2880x1921.jpeg"/>
          <p:cNvSpPr>
            <a:spLocks noGrp="1"/>
          </p:cNvSpPr>
          <p:nvPr>
            <p:ph type="pic" sz="quarter" idx="21"/>
          </p:nvPr>
        </p:nvSpPr>
        <p:spPr>
          <a:xfrm>
            <a:off x="6680200" y="5026947"/>
            <a:ext cx="6057901" cy="404070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110809_FamilyChineseOahu_EN_02016_981x654.jpeg"/>
          <p:cNvSpPr>
            <a:spLocks noGrp="1"/>
          </p:cNvSpPr>
          <p:nvPr>
            <p:ph type="pic" sz="quarter" idx="22"/>
          </p:nvPr>
        </p:nvSpPr>
        <p:spPr>
          <a:xfrm>
            <a:off x="6502400" y="886747"/>
            <a:ext cx="5867400" cy="3911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110809_FamilyChineseOahu_EN_00317_2040x1360.jpeg"/>
          <p:cNvSpPr>
            <a:spLocks noGrp="1"/>
          </p:cNvSpPr>
          <p:nvPr>
            <p:ph type="pic" idx="23"/>
          </p:nvPr>
        </p:nvSpPr>
        <p:spPr>
          <a:xfrm>
            <a:off x="-2374900" y="889000"/>
            <a:ext cx="11976100" cy="79840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21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–Johnny Appleseed</a:t>
            </a:r>
          </a:p>
        </p:txBody>
      </p:sp>
      <p:sp>
        <p:nvSpPr>
          <p:cNvPr id="94" name="“在此键入引文。”"/>
          <p:cNvSpPr>
            <a:spLocks noGrp="1"/>
          </p:cNvSpPr>
          <p:nvPr>
            <p:ph type="body" sz="quarter" idx="22"/>
          </p:nvPr>
        </p:nvSpPr>
        <p:spPr>
          <a:xfrm>
            <a:off x="1270000" y="4222750"/>
            <a:ext cx="10464800" cy="7747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r>
              <a:t>“在此键入引文。”</a:t>
            </a:r>
          </a:p>
        </p:txBody>
      </p:sp>
      <p:sp>
        <p:nvSpPr>
          <p:cNvPr id="95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110809_FamilyChineseOahu_EN_02390_2880x1921.jpeg"/>
          <p:cNvSpPr>
            <a:spLocks noGrp="1"/>
          </p:cNvSpPr>
          <p:nvPr>
            <p:ph type="pic" idx="21"/>
          </p:nvPr>
        </p:nvSpPr>
        <p:spPr>
          <a:xfrm>
            <a:off x="-812800" y="0"/>
            <a:ext cx="15232066" cy="10160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标题文本"/>
          <p:cNvSpPr txBox="1">
            <a:spLocks noGrp="1"/>
          </p:cNvSpPr>
          <p:nvPr>
            <p:ph type="title"/>
          </p:nvPr>
        </p:nvSpPr>
        <p:spPr>
          <a:xfrm>
            <a:off x="650239" y="130952"/>
            <a:ext cx="11704322" cy="2144888"/>
          </a:xfrm>
          <a:prstGeom prst="rect">
            <a:avLst/>
          </a:prstGeom>
        </p:spPr>
        <p:txBody>
          <a:bodyPr lIns="65023" tIns="65023" rIns="65023" bIns="65023">
            <a:noAutofit/>
          </a:bodyPr>
          <a:lstStyle>
            <a:lvl1pPr defTabSz="914400">
              <a:defRPr sz="6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标题文本</a:t>
            </a:r>
          </a:p>
        </p:txBody>
      </p:sp>
      <p:sp>
        <p:nvSpPr>
          <p:cNvPr id="125" name="正文级别 1…"/>
          <p:cNvSpPr txBox="1">
            <a:spLocks noGrp="1"/>
          </p:cNvSpPr>
          <p:nvPr>
            <p:ph type="body" idx="1"/>
          </p:nvPr>
        </p:nvSpPr>
        <p:spPr>
          <a:xfrm>
            <a:off x="650239" y="2275839"/>
            <a:ext cx="11704322" cy="7477761"/>
          </a:xfrm>
          <a:prstGeom prst="rect">
            <a:avLst/>
          </a:prstGeom>
        </p:spPr>
        <p:txBody>
          <a:bodyPr lIns="65023" tIns="65023" rIns="65023" bIns="65023" anchor="t">
            <a:noAutofit/>
          </a:bodyPr>
          <a:lstStyle>
            <a:lvl1pPr marL="471487" indent="-471487" defTabSz="914400">
              <a:spcBef>
                <a:spcPts val="700"/>
              </a:spcBef>
              <a:buSzPct val="100000"/>
              <a:defRPr sz="4400">
                <a:latin typeface="Arial"/>
                <a:ea typeface="Arial"/>
                <a:cs typeface="Arial"/>
                <a:sym typeface="Arial"/>
              </a:defRPr>
            </a:lvl1pPr>
            <a:lvl2pPr marL="906235" indent="-449035" defTabSz="914400">
              <a:spcBef>
                <a:spcPts val="700"/>
              </a:spcBef>
              <a:buSzPct val="100000"/>
              <a:buChar char="–"/>
              <a:defRPr sz="4400">
                <a:latin typeface="Arial"/>
                <a:ea typeface="Arial"/>
                <a:cs typeface="Arial"/>
                <a:sym typeface="Arial"/>
              </a:defRPr>
            </a:lvl2pPr>
            <a:lvl3pPr indent="-419100" defTabSz="914400">
              <a:spcBef>
                <a:spcPts val="700"/>
              </a:spcBef>
              <a:buSzPct val="100000"/>
              <a:defRPr sz="4400">
                <a:latin typeface="Arial"/>
                <a:ea typeface="Arial"/>
                <a:cs typeface="Arial"/>
                <a:sym typeface="Arial"/>
              </a:defRPr>
            </a:lvl3pPr>
            <a:lvl4pPr marL="1874520" indent="-502920" defTabSz="914400">
              <a:spcBef>
                <a:spcPts val="700"/>
              </a:spcBef>
              <a:buSzPct val="100000"/>
              <a:buChar char="–"/>
              <a:defRPr sz="4400">
                <a:latin typeface="Arial"/>
                <a:ea typeface="Arial"/>
                <a:cs typeface="Arial"/>
                <a:sym typeface="Arial"/>
              </a:defRPr>
            </a:lvl4pPr>
            <a:lvl5pPr marL="2331720" indent="-502920" defTabSz="914400">
              <a:spcBef>
                <a:spcPts val="700"/>
              </a:spcBef>
              <a:buSzPct val="100000"/>
              <a:buChar char="»"/>
              <a:defRPr sz="4400">
                <a:latin typeface="Arial"/>
                <a:ea typeface="Arial"/>
                <a:cs typeface="Arial"/>
                <a:sym typeface="Arial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6" name="01"/>
          <p:cNvSpPr txBox="1">
            <a:spLocks noGrp="1"/>
          </p:cNvSpPr>
          <p:nvPr>
            <p:ph type="sldNum" sz="quarter" idx="2"/>
          </p:nvPr>
        </p:nvSpPr>
        <p:spPr>
          <a:xfrm>
            <a:off x="9320107" y="8882098"/>
            <a:ext cx="3034454" cy="389270"/>
          </a:xfrm>
          <a:prstGeom prst="rect">
            <a:avLst/>
          </a:prstGeom>
        </p:spPr>
        <p:txBody>
          <a:bodyPr wrap="square" lIns="65023" tIns="65023" rIns="65023" bIns="65023"/>
          <a:lstStyle>
            <a:lvl1pPr algn="r" defTabSz="914400"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01"/>
          <p:cNvSpPr txBox="1"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2" r:id="rId10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C3526-9A76-521E-F2DF-D53358DDE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7EBB0855-7A56-8CA9-AC71-5F6560D564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9536798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504000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000" dirty="0">
                <a:solidFill>
                  <a:srgbClr val="FF0000"/>
                </a:solidFill>
              </a:rPr>
              <a:t>选修三 </a:t>
            </a:r>
            <a:r>
              <a:rPr lang="en-US" altLang="zh-CN" sz="3000" dirty="0">
                <a:solidFill>
                  <a:srgbClr val="FF0000"/>
                </a:solidFill>
              </a:rPr>
              <a:t>U1 Reading: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000" dirty="0"/>
              <a:t>I always practice a lot to </a:t>
            </a:r>
            <a:r>
              <a:rPr lang="en-US" altLang="zh-CN" sz="3000" u="sng" dirty="0"/>
              <a:t>excel </a:t>
            </a:r>
            <a:r>
              <a:rPr lang="en-US" altLang="zh-CN" sz="3000" dirty="0"/>
              <a:t>in what I set out to do.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000" dirty="0"/>
              <a:t>Sow a thought, </a:t>
            </a:r>
            <a:r>
              <a:rPr lang="en-US" altLang="zh-CN" sz="3000" u="sng" dirty="0"/>
              <a:t>reap</a:t>
            </a:r>
            <a:r>
              <a:rPr lang="en-US" altLang="zh-CN" sz="3000" dirty="0"/>
              <a:t> an action.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000" dirty="0"/>
              <a:t>We </a:t>
            </a:r>
            <a:r>
              <a:rPr lang="en-US" altLang="zh-CN" sz="3000" u="sng" dirty="0"/>
              <a:t>weave</a:t>
            </a:r>
            <a:r>
              <a:rPr lang="en-US" altLang="zh-CN" sz="3000" dirty="0"/>
              <a:t> a strand of it. (2</a:t>
            </a:r>
            <a:r>
              <a:rPr lang="zh-CN" altLang="en-US" sz="3000" dirty="0"/>
              <a:t>义分别造句，注意过去式</a:t>
            </a:r>
            <a:r>
              <a:rPr lang="en-US" altLang="zh-CN" sz="3000" dirty="0"/>
              <a:t>/</a:t>
            </a:r>
            <a:r>
              <a:rPr lang="zh-CN" altLang="en-US" sz="3000" dirty="0"/>
              <a:t>过去分词</a:t>
            </a:r>
            <a:r>
              <a:rPr lang="en-US" altLang="zh-CN" sz="30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000" dirty="0"/>
              <a:t>Superlatives were </a:t>
            </a:r>
            <a:r>
              <a:rPr lang="en-US" altLang="zh-CN" sz="3000" u="sng" dirty="0"/>
              <a:t>inadequate</a:t>
            </a:r>
            <a:r>
              <a:rPr lang="en-US" altLang="zh-CN" sz="3000" dirty="0"/>
              <a:t> to describe these </a:t>
            </a:r>
            <a:r>
              <a:rPr lang="en-US" altLang="zh-CN" sz="3000" u="sng" dirty="0"/>
              <a:t>eventful</a:t>
            </a:r>
            <a:r>
              <a:rPr lang="en-US" altLang="zh-CN" sz="3000" dirty="0"/>
              <a:t> days.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000" dirty="0"/>
              <a:t>Breaking deeply </a:t>
            </a:r>
            <a:r>
              <a:rPr lang="en-US" altLang="zh-CN" sz="3000" u="sng" dirty="0"/>
              <a:t>imbedded</a:t>
            </a:r>
            <a:r>
              <a:rPr lang="en-US" altLang="zh-CN" sz="3000" dirty="0"/>
              <a:t> habitual tendencies that </a:t>
            </a:r>
            <a:r>
              <a:rPr lang="en-US" altLang="zh-CN" sz="3000" u="sng" dirty="0"/>
              <a:t>violate</a:t>
            </a:r>
            <a:r>
              <a:rPr lang="en-US" altLang="zh-CN" sz="3000" dirty="0"/>
              <a:t> basic principles of human effectiveness involves more than a little </a:t>
            </a:r>
            <a:r>
              <a:rPr lang="en-US" altLang="zh-CN" sz="3000" u="sng" dirty="0"/>
              <a:t>willpower</a:t>
            </a:r>
            <a:r>
              <a:rPr lang="en-US" altLang="zh-CN" sz="3000" dirty="0"/>
              <a:t> and a few minor changes in our lives. (</a:t>
            </a:r>
            <a:r>
              <a:rPr lang="zh-CN" altLang="en-US" sz="3000" dirty="0"/>
              <a:t>遵守</a:t>
            </a:r>
            <a:r>
              <a:rPr lang="en-US" altLang="zh-CN" sz="3000" dirty="0"/>
              <a:t>/</a:t>
            </a:r>
            <a:r>
              <a:rPr lang="zh-CN" altLang="en-US" sz="3000" dirty="0"/>
              <a:t>违反规定；罗列</a:t>
            </a:r>
            <a:r>
              <a:rPr lang="en-US" altLang="zh-CN" sz="3000" dirty="0"/>
              <a:t>willpower</a:t>
            </a:r>
            <a:r>
              <a:rPr lang="zh-CN" altLang="en-US" sz="3000" dirty="0"/>
              <a:t>为例的人的优良品质</a:t>
            </a:r>
            <a:r>
              <a:rPr lang="en-US" altLang="zh-CN" sz="30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000" dirty="0"/>
              <a:t>take on a whole new </a:t>
            </a:r>
            <a:r>
              <a:rPr lang="en-US" altLang="zh-CN" sz="3000" u="sng" dirty="0"/>
              <a:t>dimension</a:t>
            </a:r>
            <a:r>
              <a:rPr lang="en-US" altLang="zh-CN" sz="3000" dirty="0"/>
              <a:t> (</a:t>
            </a:r>
            <a:r>
              <a:rPr lang="zh-CN" altLang="en-US" sz="3000" dirty="0"/>
              <a:t>给</a:t>
            </a:r>
            <a:r>
              <a:rPr lang="en-US" altLang="zh-CN" sz="3000" dirty="0"/>
              <a:t>…</a:t>
            </a:r>
            <a:r>
              <a:rPr lang="zh-CN" altLang="en-US" sz="3000" dirty="0"/>
              <a:t>增添新的内容；给</a:t>
            </a:r>
            <a:r>
              <a:rPr lang="en-US" altLang="zh-CN" sz="3000" dirty="0"/>
              <a:t>…</a:t>
            </a:r>
            <a:r>
              <a:rPr lang="zh-CN" altLang="en-US" sz="3000" dirty="0"/>
              <a:t>增添额外趣味；给</a:t>
            </a:r>
            <a:r>
              <a:rPr lang="en-US" altLang="zh-CN" sz="3000" dirty="0"/>
              <a:t>…</a:t>
            </a:r>
            <a:r>
              <a:rPr lang="zh-CN" altLang="en-US" sz="3000" dirty="0"/>
              <a:t>增添活力</a:t>
            </a:r>
            <a:r>
              <a:rPr lang="en-US" altLang="zh-CN" sz="30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000" dirty="0"/>
              <a:t>The being/seeing change is an </a:t>
            </a:r>
            <a:r>
              <a:rPr lang="en-US" altLang="zh-CN" sz="3000" u="sng" dirty="0"/>
              <a:t>upward</a:t>
            </a:r>
            <a:r>
              <a:rPr lang="en-US" altLang="zh-CN" sz="3000" dirty="0"/>
              <a:t> process. (/downward)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000" dirty="0"/>
              <a:t>It’s a change that has to be motivated by the willingness to </a:t>
            </a:r>
            <a:r>
              <a:rPr lang="en-US" altLang="zh-CN" sz="3000" u="sng" dirty="0"/>
              <a:t>subordinate</a:t>
            </a:r>
            <a:r>
              <a:rPr lang="en-US" altLang="zh-CN" sz="3000" dirty="0"/>
              <a:t> what you think you want now </a:t>
            </a:r>
            <a:r>
              <a:rPr lang="en-US" altLang="zh-CN" sz="3000" u="sng" dirty="0"/>
              <a:t>to</a:t>
            </a:r>
            <a:r>
              <a:rPr lang="en-US" altLang="zh-CN" sz="3000" dirty="0"/>
              <a:t> what you want later.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000" dirty="0"/>
              <a:t>The first of these is to be </a:t>
            </a:r>
            <a:r>
              <a:rPr lang="en-US" altLang="zh-CN" sz="3000" u="sng" dirty="0"/>
              <a:t>proactive</a:t>
            </a:r>
            <a:r>
              <a:rPr lang="en-US" altLang="zh-CN" sz="3000" dirty="0"/>
              <a:t>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000" dirty="0"/>
              <a:t>The third habit is to list your tasks in order of </a:t>
            </a:r>
            <a:r>
              <a:rPr lang="en-US" altLang="zh-CN" sz="3000" u="sng" dirty="0"/>
              <a:t>priority</a:t>
            </a:r>
            <a:r>
              <a:rPr lang="en-US" altLang="zh-CN" sz="3000" dirty="0"/>
              <a:t>. (n.</a:t>
            </a:r>
            <a:r>
              <a:rPr lang="zh-CN" altLang="en-US" sz="3000" dirty="0"/>
              <a:t>词组造句</a:t>
            </a:r>
            <a:r>
              <a:rPr lang="en-US" altLang="zh-CN" sz="3000" dirty="0"/>
              <a:t>;v.</a:t>
            </a:r>
            <a:r>
              <a:rPr lang="zh-CN" altLang="en-US" sz="3000" dirty="0"/>
              <a:t>造句</a:t>
            </a:r>
            <a:r>
              <a:rPr lang="en-US" altLang="zh-CN" sz="30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000" dirty="0"/>
              <a:t>We should develop the ability to </a:t>
            </a:r>
            <a:r>
              <a:rPr lang="en-US" altLang="zh-CN" sz="3000" u="sng" dirty="0"/>
              <a:t>empathize</a:t>
            </a:r>
            <a:r>
              <a:rPr lang="en-US" altLang="zh-CN" sz="3000" dirty="0"/>
              <a:t> with others. (</a:t>
            </a:r>
            <a:r>
              <a:rPr lang="zh-CN" altLang="en-US" sz="3000" dirty="0"/>
              <a:t>多个词组造句：同情</a:t>
            </a:r>
            <a:r>
              <a:rPr lang="en-US" altLang="zh-CN" sz="3000" dirty="0"/>
              <a:t>/</a:t>
            </a:r>
            <a:r>
              <a:rPr lang="zh-CN" altLang="en-US" sz="3000" dirty="0"/>
              <a:t>共情</a:t>
            </a:r>
            <a:r>
              <a:rPr lang="en-US" altLang="zh-CN" sz="3000" dirty="0"/>
              <a:t>/</a:t>
            </a:r>
            <a:r>
              <a:rPr lang="zh-CN" altLang="en-US" sz="3000" dirty="0"/>
              <a:t>产生共鸣</a:t>
            </a:r>
            <a:r>
              <a:rPr lang="en-US" altLang="zh-CN" sz="30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000" dirty="0"/>
              <a:t>It is about </a:t>
            </a:r>
            <a:r>
              <a:rPr lang="en-US" altLang="zh-CN" sz="3000" u="sng" dirty="0"/>
              <a:t>renew</a:t>
            </a:r>
            <a:r>
              <a:rPr lang="en-US" altLang="zh-CN" sz="3000" dirty="0"/>
              <a:t>ing and enhancing the greatest property we have. (renewed; newfound</a:t>
            </a:r>
            <a:r>
              <a:rPr lang="zh-CN" altLang="en-US" sz="3000" dirty="0"/>
              <a:t>造句</a:t>
            </a:r>
            <a:r>
              <a:rPr lang="en-US" altLang="zh-CN" sz="3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734633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023D7-A89A-7AEB-8D5E-EB43A28C0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9CD7C63C-A765-F3AD-EA2C-73EE23A50A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9536798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504000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选修三 </a:t>
            </a:r>
            <a:r>
              <a:rPr lang="en-US" altLang="zh-CN" sz="3200" dirty="0">
                <a:solidFill>
                  <a:srgbClr val="FF0000"/>
                </a:solidFill>
              </a:rPr>
              <a:t>U1 Grammar: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New models come onto the market at increasingly short </a:t>
            </a:r>
            <a:r>
              <a:rPr lang="en-US" altLang="zh-CN" sz="3200" u="sng" dirty="0"/>
              <a:t>interval</a:t>
            </a:r>
            <a:r>
              <a:rPr lang="en-US" altLang="zh-CN" sz="3200" dirty="0"/>
              <a:t>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We constantly expect to </a:t>
            </a:r>
            <a:r>
              <a:rPr lang="en-US" altLang="zh-CN" sz="3200" u="sng" dirty="0"/>
              <a:t>overtake</a:t>
            </a:r>
            <a:r>
              <a:rPr lang="en-US" altLang="zh-CN" sz="3200" dirty="0"/>
              <a:t> the car in front of us.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Our </a:t>
            </a:r>
            <a:r>
              <a:rPr lang="en-US" altLang="zh-CN" sz="3200" u="sng" dirty="0"/>
              <a:t>relentless </a:t>
            </a:r>
            <a:r>
              <a:rPr lang="en-US" altLang="zh-CN" sz="3200" dirty="0"/>
              <a:t>struggle to get things done brings with it problems.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Doing things for fun and relaxation </a:t>
            </a:r>
            <a:r>
              <a:rPr lang="en-US" altLang="zh-CN" sz="3200" u="sng" dirty="0"/>
              <a:t>directs our attention away from </a:t>
            </a:r>
            <a:r>
              <a:rPr lang="en-US" altLang="zh-CN" sz="3200" dirty="0"/>
              <a:t>things. (divert</a:t>
            </a:r>
            <a:r>
              <a:rPr lang="zh-CN" altLang="en-US" sz="3200" dirty="0"/>
              <a:t>造句；</a:t>
            </a:r>
            <a:r>
              <a:rPr lang="en-US" altLang="zh-CN" sz="3200" dirty="0"/>
              <a:t>distract</a:t>
            </a:r>
            <a:r>
              <a:rPr lang="zh-CN" altLang="en-US" sz="3200" dirty="0"/>
              <a:t>造句</a:t>
            </a:r>
            <a:r>
              <a:rPr lang="en-US" altLang="zh-CN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1708419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7055C-952F-6DD4-046C-6CA504886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3532EC28-7D8E-EC0A-7142-E3ECBFA3AE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9536798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504000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选修三</a:t>
            </a:r>
            <a:r>
              <a:rPr lang="en-US" altLang="zh-CN" sz="3200" dirty="0">
                <a:solidFill>
                  <a:srgbClr val="FF0000"/>
                </a:solidFill>
              </a:rPr>
              <a:t>U1 Inte: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Low self-confidence</a:t>
            </a:r>
            <a:r>
              <a:rPr lang="en-US" altLang="zh-CN" sz="3200" u="sng" dirty="0"/>
              <a:t>, in contrast, </a:t>
            </a:r>
            <a:r>
              <a:rPr lang="en-US" altLang="zh-CN" sz="3200" dirty="0"/>
              <a:t>will make you feel </a:t>
            </a:r>
            <a:r>
              <a:rPr lang="en-US" altLang="zh-CN" sz="3200" u="sng" dirty="0"/>
              <a:t>inferior to </a:t>
            </a:r>
            <a:r>
              <a:rPr lang="en-US" altLang="zh-CN" sz="3200" dirty="0"/>
              <a:t>others.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They </a:t>
            </a:r>
            <a:r>
              <a:rPr lang="en-US" altLang="zh-CN" sz="3200" u="sng" dirty="0"/>
              <a:t>fail to fulfil expectations</a:t>
            </a:r>
            <a:r>
              <a:rPr lang="en-US" altLang="zh-CN" sz="3200" dirty="0"/>
              <a:t>. (expectation</a:t>
            </a:r>
            <a:r>
              <a:rPr lang="zh-CN" altLang="en-US" sz="3200" dirty="0"/>
              <a:t>更多词组</a:t>
            </a:r>
            <a:r>
              <a:rPr lang="en-US" altLang="zh-CN" sz="32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Set realistic goals for yourself and </a:t>
            </a:r>
            <a:r>
              <a:rPr lang="en-US" altLang="zh-CN" sz="3200" u="sng" dirty="0"/>
              <a:t>visualize</a:t>
            </a:r>
            <a:r>
              <a:rPr lang="en-US" altLang="zh-CN" sz="3200" dirty="0"/>
              <a:t> yourself achieving these goals.</a:t>
            </a:r>
          </a:p>
        </p:txBody>
      </p:sp>
    </p:spTree>
    <p:extLst>
      <p:ext uri="{BB962C8B-B14F-4D97-AF65-F5344CB8AC3E}">
        <p14:creationId xmlns:p14="http://schemas.microsoft.com/office/powerpoint/2010/main" val="275314700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B751E-9E36-92E5-F9D7-567630157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F6E5ED6A-0F9F-5812-13E1-E5975B40EF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9536798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504000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选修三 </a:t>
            </a:r>
            <a:r>
              <a:rPr lang="en-US" altLang="zh-CN" sz="3200" dirty="0">
                <a:solidFill>
                  <a:srgbClr val="FF0000"/>
                </a:solidFill>
              </a:rPr>
              <a:t>U1 Ext: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These essential activities </a:t>
            </a:r>
            <a:r>
              <a:rPr lang="en-US" altLang="zh-CN" sz="3200" u="sng" dirty="0"/>
              <a:t>take up </a:t>
            </a:r>
            <a:r>
              <a:rPr lang="en-US" altLang="zh-CN" sz="3200" dirty="0"/>
              <a:t>an enormous part of your day. (occupy</a:t>
            </a:r>
            <a:r>
              <a:rPr lang="zh-CN" altLang="en-US" sz="3200" dirty="0"/>
              <a:t>多词组造句</a:t>
            </a:r>
            <a:r>
              <a:rPr lang="en-US" altLang="zh-CN" sz="32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u="sng" dirty="0"/>
              <a:t>pursue</a:t>
            </a:r>
            <a:r>
              <a:rPr lang="en-US" altLang="zh-CN" sz="3200" dirty="0"/>
              <a:t> a hobby (+n.</a:t>
            </a:r>
            <a:r>
              <a:rPr lang="zh-CN" altLang="en-US" sz="3200" dirty="0"/>
              <a:t>造句</a:t>
            </a:r>
            <a:r>
              <a:rPr lang="en-US" altLang="zh-CN" sz="32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It will keep your stress levels to a </a:t>
            </a:r>
            <a:r>
              <a:rPr lang="en-US" altLang="zh-CN" sz="3200" u="sng" dirty="0"/>
              <a:t>minimum</a:t>
            </a:r>
            <a:r>
              <a:rPr lang="en-US" altLang="zh-CN" sz="3200" dirty="0"/>
              <a:t>, leading to a more positive </a:t>
            </a:r>
            <a:r>
              <a:rPr lang="en-US" altLang="zh-CN" sz="3200" u="sng" dirty="0"/>
              <a:t>outlook </a:t>
            </a:r>
            <a:r>
              <a:rPr lang="en-US" altLang="zh-CN" sz="3200" dirty="0"/>
              <a:t>on life. (+maximize)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Get into the habit of thinking about </a:t>
            </a:r>
            <a:r>
              <a:rPr lang="en-US" altLang="zh-CN" sz="3200" u="sng" dirty="0"/>
              <a:t>upcoming</a:t>
            </a:r>
            <a:r>
              <a:rPr lang="en-US" altLang="zh-CN" sz="3200" dirty="0"/>
              <a:t> events. (+ongoing)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…so</a:t>
            </a:r>
            <a:r>
              <a:rPr lang="zh-CN" altLang="en-US" sz="3200" dirty="0"/>
              <a:t> </a:t>
            </a:r>
            <a:r>
              <a:rPr lang="en-US" altLang="zh-CN" sz="3200" dirty="0"/>
              <a:t>that</a:t>
            </a:r>
            <a:r>
              <a:rPr lang="zh-CN" altLang="en-US" sz="3200" dirty="0"/>
              <a:t> </a:t>
            </a:r>
            <a:r>
              <a:rPr lang="en-US" altLang="zh-CN" sz="3200" dirty="0"/>
              <a:t>you</a:t>
            </a:r>
            <a:r>
              <a:rPr lang="zh-CN" altLang="en-US" sz="3200" dirty="0"/>
              <a:t> </a:t>
            </a:r>
            <a:r>
              <a:rPr lang="en-US" altLang="zh-CN" sz="3200" dirty="0"/>
              <a:t>know</a:t>
            </a:r>
            <a:r>
              <a:rPr lang="zh-CN" altLang="en-US" sz="3200" dirty="0"/>
              <a:t> </a:t>
            </a:r>
            <a:r>
              <a:rPr lang="en-US" altLang="zh-CN" sz="3200" dirty="0"/>
              <a:t>all</a:t>
            </a:r>
            <a:r>
              <a:rPr lang="zh-CN" altLang="en-US" sz="3200" dirty="0"/>
              <a:t> </a:t>
            </a:r>
            <a:r>
              <a:rPr lang="en-US" altLang="zh-CN" sz="3200" dirty="0"/>
              <a:t>the</a:t>
            </a:r>
            <a:r>
              <a:rPr lang="zh-CN" altLang="en-US" sz="3200" dirty="0"/>
              <a:t> </a:t>
            </a:r>
            <a:r>
              <a:rPr lang="en-US" altLang="zh-CN" sz="3200" dirty="0"/>
              <a:t>dates and can prepare </a:t>
            </a:r>
            <a:r>
              <a:rPr lang="en-US" altLang="zh-CN" sz="3200" u="sng" dirty="0"/>
              <a:t>accordingly</a:t>
            </a:r>
            <a:r>
              <a:rPr lang="en-US" altLang="zh-CN" sz="3200" dirty="0"/>
              <a:t>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You are in a tidy place, </a:t>
            </a:r>
            <a:r>
              <a:rPr lang="en-US" altLang="zh-CN" sz="3200" u="sng" dirty="0"/>
              <a:t>free from distractions</a:t>
            </a:r>
            <a:r>
              <a:rPr lang="en-US" altLang="zh-CN" sz="3200" dirty="0"/>
              <a:t>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You should </a:t>
            </a:r>
            <a:r>
              <a:rPr lang="en-US" altLang="zh-CN" sz="3200" u="sng" dirty="0"/>
              <a:t>classify</a:t>
            </a:r>
            <a:r>
              <a:rPr lang="en-US" altLang="zh-CN" sz="3200" dirty="0"/>
              <a:t> the activities in the four areas. (</a:t>
            </a:r>
            <a:r>
              <a:rPr lang="zh-CN" altLang="en-US" sz="3200" dirty="0"/>
              <a:t>辨</a:t>
            </a:r>
            <a:r>
              <a:rPr lang="en-US" altLang="zh-CN" sz="3200" dirty="0"/>
              <a:t>clarify</a:t>
            </a:r>
            <a:r>
              <a:rPr lang="zh-CN" altLang="en-US" sz="3200" dirty="0"/>
              <a:t>造句</a:t>
            </a:r>
            <a:r>
              <a:rPr lang="en-US" altLang="zh-CN" sz="32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It is important not to let </a:t>
            </a:r>
            <a:r>
              <a:rPr lang="en-US" altLang="zh-CN" sz="3200" u="sng" dirty="0"/>
              <a:t>the quest for </a:t>
            </a:r>
            <a:r>
              <a:rPr lang="en-US" altLang="zh-CN" sz="3200" dirty="0"/>
              <a:t>short-term rewards influence you.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If you are willing to </a:t>
            </a:r>
            <a:r>
              <a:rPr lang="en-US" altLang="zh-CN" sz="3200" u="sng" dirty="0"/>
              <a:t>squeeze</a:t>
            </a:r>
            <a:r>
              <a:rPr lang="en-US" altLang="zh-CN" sz="3200" dirty="0"/>
              <a:t>, you will always get some.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A mind map is a diagram that consists of a central idea with related ideas </a:t>
            </a:r>
            <a:r>
              <a:rPr lang="en-US" altLang="zh-CN" sz="3200" u="sng" dirty="0"/>
              <a:t>branching out</a:t>
            </a:r>
            <a:r>
              <a:rPr lang="en-US" altLang="zh-CN" sz="3200" dirty="0"/>
              <a:t>, </a:t>
            </a:r>
            <a:r>
              <a:rPr lang="en-US" altLang="zh-CN" sz="3200" u="sng" dirty="0"/>
              <a:t>all arranged in an interconnected manner</a:t>
            </a:r>
            <a:r>
              <a:rPr lang="en-US" altLang="zh-CN" sz="3200" dirty="0"/>
              <a:t>. (all…</a:t>
            </a:r>
            <a:r>
              <a:rPr lang="zh-CN" altLang="en-US" sz="3200" dirty="0"/>
              <a:t>独立主格</a:t>
            </a:r>
            <a:r>
              <a:rPr lang="en-US" altLang="zh-CN" sz="3200" dirty="0"/>
              <a:t>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It is helpful </a:t>
            </a:r>
            <a:r>
              <a:rPr lang="en-US" altLang="zh-CN" sz="3200" u="sng" dirty="0"/>
              <a:t>as long as </a:t>
            </a:r>
            <a:r>
              <a:rPr lang="en-US" altLang="zh-CN" sz="3200" dirty="0"/>
              <a:t>there is information to organize. (+only if; if only; as if; </a:t>
            </a:r>
            <a:r>
              <a:rPr lang="zh-CN" altLang="en-US" sz="3200" dirty="0"/>
              <a:t>整理更多连词：时间</a:t>
            </a:r>
            <a:r>
              <a:rPr lang="en-US" altLang="zh-CN" sz="3200" dirty="0"/>
              <a:t>/</a:t>
            </a:r>
            <a:r>
              <a:rPr lang="zh-CN" altLang="en-US" sz="3200" dirty="0"/>
              <a:t>转折</a:t>
            </a:r>
            <a:r>
              <a:rPr lang="en-US" altLang="zh-CN" sz="3200" dirty="0"/>
              <a:t>/</a:t>
            </a:r>
            <a:r>
              <a:rPr lang="zh-CN" altLang="en-US" sz="3200" dirty="0"/>
              <a:t>对比</a:t>
            </a:r>
            <a:r>
              <a:rPr lang="en-US" altLang="zh-CN" sz="3200" dirty="0"/>
              <a:t>/</a:t>
            </a:r>
            <a:r>
              <a:rPr lang="zh-CN" altLang="en-US" sz="3200" dirty="0"/>
              <a:t>让步；副词：因果</a:t>
            </a:r>
            <a:r>
              <a:rPr lang="en-US" altLang="zh-CN" sz="3200" dirty="0"/>
              <a:t>/</a:t>
            </a:r>
            <a:r>
              <a:rPr lang="zh-CN" altLang="en-US" sz="3200" dirty="0"/>
              <a:t>递进</a:t>
            </a:r>
            <a:r>
              <a:rPr lang="en-US" altLang="zh-CN" sz="3200" dirty="0"/>
              <a:t>/</a:t>
            </a:r>
            <a:r>
              <a:rPr lang="zh-CN" altLang="en-US" sz="3200" dirty="0"/>
              <a:t>转折</a:t>
            </a:r>
            <a:r>
              <a:rPr lang="en-US" altLang="zh-CN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0689468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BCDB0-03E6-E23C-B7F5-D58358413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F662E4D7-5EB2-848E-0902-E7D2FC19E7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9536798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504000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000" dirty="0">
                <a:solidFill>
                  <a:srgbClr val="FF0000"/>
                </a:solidFill>
              </a:rPr>
              <a:t>选修三 </a:t>
            </a:r>
            <a:r>
              <a:rPr lang="en-US" altLang="zh-CN" sz="3000" dirty="0">
                <a:solidFill>
                  <a:srgbClr val="FF0000"/>
                </a:solidFill>
              </a:rPr>
              <a:t>U2 Reading: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3200" u="sng" dirty="0"/>
              <a:t>Imagining himself pursing</a:t>
            </a:r>
            <a:r>
              <a:rPr lang="en-GB" altLang="zh-CN" sz="3200" dirty="0"/>
              <a:t> a beam of light, …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3200" u="sng" dirty="0"/>
              <a:t>As</a:t>
            </a:r>
            <a:r>
              <a:rPr lang="en-GB" altLang="zh-CN" sz="3200" dirty="0"/>
              <a:t> we explore the world in greater depth, we may </a:t>
            </a:r>
            <a:r>
              <a:rPr lang="en-GB" altLang="zh-CN" sz="3200" u="sng" dirty="0"/>
              <a:t>reach a point where</a:t>
            </a:r>
            <a:r>
              <a:rPr lang="en-GB" altLang="zh-CN" sz="3200" dirty="0"/>
              <a:t> …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3200" dirty="0"/>
              <a:t>…, which </a:t>
            </a:r>
            <a:r>
              <a:rPr lang="en-GB" altLang="zh-CN" sz="3200" u="sng" dirty="0"/>
              <a:t>function as </a:t>
            </a:r>
            <a:r>
              <a:rPr lang="en-GB" altLang="zh-CN" sz="3200" dirty="0"/>
              <a:t>a valuable means to test the </a:t>
            </a:r>
            <a:r>
              <a:rPr lang="en-GB" altLang="zh-CN" sz="3200" u="sng" dirty="0"/>
              <a:t>limits</a:t>
            </a:r>
            <a:r>
              <a:rPr lang="en-GB" altLang="zh-CN" sz="3200" dirty="0"/>
              <a:t> of our knowledge and advance our understanding of the world.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3200" dirty="0"/>
              <a:t>…the use of thought experiments can be </a:t>
            </a:r>
            <a:r>
              <a:rPr lang="en-GB" altLang="zh-CN" sz="3200" u="sng" dirty="0"/>
              <a:t>trace</a:t>
            </a:r>
            <a:r>
              <a:rPr lang="en-GB" altLang="zh-CN" sz="3200" dirty="0"/>
              <a:t>d much further back, …(+ n.)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3200" u="sng" dirty="0"/>
              <a:t>Doubtful</a:t>
            </a:r>
            <a:r>
              <a:rPr lang="en-GB" altLang="zh-CN" sz="3200" dirty="0"/>
              <a:t>, Galileo asked what would happen …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3200" dirty="0"/>
              <a:t>Galileo was able to </a:t>
            </a:r>
            <a:r>
              <a:rPr lang="en-GB" altLang="zh-CN" sz="3200" u="sng" dirty="0"/>
              <a:t>expose</a:t>
            </a:r>
            <a:r>
              <a:rPr lang="en-GB" altLang="zh-CN" sz="3200" dirty="0"/>
              <a:t> the paradox. 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3200" dirty="0"/>
              <a:t>…, thought experiments can </a:t>
            </a:r>
            <a:r>
              <a:rPr lang="en-GB" altLang="zh-CN" sz="3200" u="sng" dirty="0"/>
              <a:t>stimulate</a:t>
            </a:r>
            <a:r>
              <a:rPr lang="en-GB" altLang="zh-CN" sz="3200" dirty="0"/>
              <a:t> debate and lead to …/the Ship of Theseus still </a:t>
            </a:r>
            <a:r>
              <a:rPr lang="en-GB" altLang="zh-CN" sz="3200" u="sng" dirty="0"/>
              <a:t>spark</a:t>
            </a:r>
            <a:r>
              <a:rPr lang="en-GB" altLang="zh-CN" sz="3200" dirty="0"/>
              <a:t>s intense debate …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3200" dirty="0"/>
              <a:t>They also help us </a:t>
            </a:r>
            <a:r>
              <a:rPr lang="en-GB" altLang="zh-CN" sz="3200" u="sng" dirty="0"/>
              <a:t>stretch</a:t>
            </a:r>
            <a:r>
              <a:rPr lang="en-GB" altLang="zh-CN" sz="3200" dirty="0"/>
              <a:t> our minds by </a:t>
            </a:r>
            <a:r>
              <a:rPr lang="en-GB" altLang="zh-CN" sz="3200" u="sng" dirty="0"/>
              <a:t>confront</a:t>
            </a:r>
            <a:r>
              <a:rPr lang="en-GB" altLang="zh-CN" sz="3200" dirty="0"/>
              <a:t>ing and considering difficult questions. 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GB" altLang="zh-CN" sz="3000" dirty="0"/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GB" altLang="zh-CN" sz="3000" dirty="0"/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GB" altLang="zh-CN" sz="3000" dirty="0"/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GB" altLang="zh-CN" sz="3000" dirty="0"/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GB" altLang="zh-CN" sz="3000" dirty="0"/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GB" altLang="zh-CN" sz="3000" dirty="0"/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000" dirty="0"/>
          </a:p>
        </p:txBody>
      </p:sp>
    </p:spTree>
    <p:extLst>
      <p:ext uri="{BB962C8B-B14F-4D97-AF65-F5344CB8AC3E}">
        <p14:creationId xmlns:p14="http://schemas.microsoft.com/office/powerpoint/2010/main" val="216544219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0AD15-1F64-F9BE-A53D-1BF1390AD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6696CACE-5749-B4B9-34B0-95B4FC60E8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9536798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504000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选修三 </a:t>
            </a:r>
            <a:r>
              <a:rPr lang="en-US" altLang="zh-CN" sz="3200" dirty="0">
                <a:solidFill>
                  <a:srgbClr val="FF0000"/>
                </a:solidFill>
              </a:rPr>
              <a:t>U2 Grammar: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However, as modern technology has been </a:t>
            </a:r>
            <a:r>
              <a:rPr lang="en-US" altLang="zh-CN" sz="3200" u="sng" dirty="0"/>
              <a:t>advancing in leaps and bounds</a:t>
            </a:r>
            <a:r>
              <a:rPr lang="en-US" altLang="zh-CN" sz="3200" dirty="0"/>
              <a:t>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Making things together with other people not only adds an element of fun, but also allows makers to </a:t>
            </a:r>
            <a:r>
              <a:rPr lang="en-US" altLang="zh-CN" sz="3200" u="sng" dirty="0"/>
              <a:t>bounce ideas off one another</a:t>
            </a:r>
            <a:r>
              <a:rPr lang="en-US" altLang="zh-CN" sz="3200" dirty="0"/>
              <a:t>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u="sng" dirty="0"/>
              <a:t>Whatever</a:t>
            </a:r>
            <a:r>
              <a:rPr lang="en-US" altLang="zh-CN" sz="3200" dirty="0"/>
              <a:t> the level of equipment, all makerspaces are devoted to bringing young people together in the spirit of collaboration, motivating them to experiment with different crafts and technologies. (Whatever</a:t>
            </a:r>
            <a:r>
              <a:rPr lang="zh-CN" altLang="en-US" sz="3200" dirty="0"/>
              <a:t>让步状语从句、名词性从句分别造句</a:t>
            </a:r>
            <a:r>
              <a:rPr lang="en-GB" altLang="zh-CN" sz="3200" dirty="0"/>
              <a:t>)</a:t>
            </a:r>
            <a:endParaRPr lang="en-US" altLang="zh-CN" sz="3200" dirty="0"/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Failure is </a:t>
            </a:r>
            <a:r>
              <a:rPr lang="en-US" altLang="zh-CN" sz="3200" u="sng" dirty="0"/>
              <a:t>part and parcel </a:t>
            </a:r>
            <a:r>
              <a:rPr lang="en-US" altLang="zh-CN" sz="3200" dirty="0"/>
              <a:t>of the maker experience.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My first attempts were a bit of a disaster, so I had to </a:t>
            </a:r>
            <a:r>
              <a:rPr lang="en-US" altLang="zh-CN" sz="3200" u="sng" dirty="0"/>
              <a:t>start</a:t>
            </a:r>
            <a:r>
              <a:rPr lang="en-US" altLang="zh-CN" sz="3200" dirty="0"/>
              <a:t> again </a:t>
            </a:r>
            <a:r>
              <a:rPr lang="en-US" altLang="zh-CN" sz="3200" u="sng" dirty="0"/>
              <a:t>from scratch</a:t>
            </a:r>
            <a:r>
              <a:rPr lang="en-US" altLang="zh-CN" sz="3200" dirty="0"/>
              <a:t>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109881829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8A13-4F99-B368-94C6-582E17D57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8E842F00-2976-5F5B-E4EE-9B6F82CA9B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9536798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504000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选修三</a:t>
            </a:r>
            <a:r>
              <a:rPr lang="en-US" altLang="zh-CN" sz="3200" dirty="0">
                <a:solidFill>
                  <a:srgbClr val="FF0000"/>
                </a:solidFill>
              </a:rPr>
              <a:t>U2 Inte: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3200" dirty="0"/>
              <a:t>Indeed, the value of creativity </a:t>
            </a:r>
            <a:r>
              <a:rPr lang="en-GB" altLang="zh-CN" sz="3200" u="sng" dirty="0"/>
              <a:t>can never be overstated</a:t>
            </a:r>
            <a:r>
              <a:rPr lang="en-GB" altLang="zh-CN" sz="3200" dirty="0"/>
              <a:t>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3200" dirty="0"/>
              <a:t>In </a:t>
            </a:r>
            <a:r>
              <a:rPr lang="en-GB" altLang="zh-CN" sz="3200" u="sng" dirty="0"/>
              <a:t>recognition</a:t>
            </a:r>
            <a:r>
              <a:rPr lang="en-GB" altLang="zh-CN" sz="3200" dirty="0"/>
              <a:t> of the important role that creativity and innovation play in all aspects of human development, …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3200" dirty="0"/>
              <a:t>As different people have different </a:t>
            </a:r>
            <a:r>
              <a:rPr lang="en-GB" altLang="zh-CN" sz="3200" u="sng" dirty="0"/>
              <a:t>mindsets</a:t>
            </a:r>
            <a:r>
              <a:rPr lang="en-GB" altLang="zh-CN" sz="3200" dirty="0"/>
              <a:t>, skills</a:t>
            </a:r>
            <a:r>
              <a:rPr lang="zh-CN" altLang="en-US" sz="3200" dirty="0"/>
              <a:t> </a:t>
            </a:r>
            <a:r>
              <a:rPr lang="en-GB" altLang="zh-CN" sz="3200" dirty="0"/>
              <a:t>and abilities, </a:t>
            </a:r>
            <a:r>
              <a:rPr lang="en-US" altLang="zh-CN" sz="3200" dirty="0"/>
              <a:t>…</a:t>
            </a:r>
            <a:endParaRPr lang="en-GB" altLang="zh-CN" sz="3200" dirty="0"/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GB" altLang="zh-CN" sz="3200" dirty="0"/>
              <a:t>Last but not least, you must be ready to fight the fear of failure, which is often believed to be one of the biggest </a:t>
            </a:r>
            <a:r>
              <a:rPr lang="en-GB" altLang="zh-CN" sz="3200" u="sng" dirty="0"/>
              <a:t>obstacles to </a:t>
            </a:r>
            <a:r>
              <a:rPr lang="en-GB" altLang="zh-CN" sz="3200" dirty="0"/>
              <a:t>creativity.</a:t>
            </a:r>
          </a:p>
        </p:txBody>
      </p:sp>
    </p:spTree>
    <p:extLst>
      <p:ext uri="{BB962C8B-B14F-4D97-AF65-F5344CB8AC3E}">
        <p14:creationId xmlns:p14="http://schemas.microsoft.com/office/powerpoint/2010/main" val="289899736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9B21B-6522-B4C8-8FA9-5E7BC6CC4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在面试过程中…">
            <a:extLst>
              <a:ext uri="{FF2B5EF4-FFF2-40B4-BE49-F238E27FC236}">
                <a16:creationId xmlns:a16="http://schemas.microsoft.com/office/drawing/2014/main" id="{3A2A90B3-E26E-01E8-0935-4CC47F6482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" y="64402"/>
            <a:ext cx="13004799" cy="9536798"/>
          </a:xfrm>
          <a:prstGeom prst="rect">
            <a:avLst/>
          </a:prstGeom>
        </p:spPr>
        <p:txBody>
          <a:bodyPr numCol="1" spcCol="457200">
            <a:noAutofit/>
          </a:bodyPr>
          <a:lstStyle/>
          <a:p>
            <a:pPr marL="0" indent="0" defTabSz="504000">
              <a:spcBef>
                <a:spcPts val="0"/>
              </a:spcBef>
              <a:buNone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zh-CN" altLang="en-US" sz="3200" dirty="0">
                <a:solidFill>
                  <a:srgbClr val="FF0000"/>
                </a:solidFill>
              </a:rPr>
              <a:t>选修三 </a:t>
            </a:r>
            <a:r>
              <a:rPr lang="en-US" altLang="zh-CN" sz="3200" dirty="0">
                <a:solidFill>
                  <a:srgbClr val="FF0000"/>
                </a:solidFill>
              </a:rPr>
              <a:t>U2 Ext: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…, </a:t>
            </a:r>
            <a:r>
              <a:rPr lang="en-US" altLang="zh-CN" sz="3200" u="sng" dirty="0"/>
              <a:t>whether</a:t>
            </a:r>
            <a:r>
              <a:rPr lang="en-US" altLang="zh-CN" sz="3200" dirty="0"/>
              <a:t> you’re trying to put together a set of building blocks </a:t>
            </a:r>
            <a:r>
              <a:rPr lang="en-US" altLang="zh-CN" sz="3200" u="sng" dirty="0"/>
              <a:t>or</a:t>
            </a:r>
            <a:r>
              <a:rPr lang="en-US" altLang="zh-CN" sz="3200" dirty="0"/>
              <a:t> read your </a:t>
            </a:r>
            <a:r>
              <a:rPr lang="en-US" altLang="zh-CN" sz="3200" dirty="0" err="1"/>
              <a:t>favourite</a:t>
            </a:r>
            <a:r>
              <a:rPr lang="en-US" altLang="zh-CN" sz="3200" dirty="0"/>
              <a:t> book.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u="sng" dirty="0"/>
              <a:t>Considering that</a:t>
            </a:r>
            <a:r>
              <a:rPr lang="en-US" altLang="zh-CN" sz="3200" dirty="0"/>
              <a:t> many people in the world suffer from poor vision, …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Once the technology was available, spectacles </a:t>
            </a:r>
            <a:r>
              <a:rPr lang="en-US" altLang="zh-CN" sz="3200" u="sng" dirty="0"/>
              <a:t>caught on </a:t>
            </a:r>
            <a:r>
              <a:rPr lang="en-US" altLang="zh-CN" sz="3200" dirty="0"/>
              <a:t>quickly.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People made many </a:t>
            </a:r>
            <a:r>
              <a:rPr lang="en-US" altLang="zh-CN" sz="3200" u="sng" dirty="0"/>
              <a:t>attempts</a:t>
            </a:r>
            <a:r>
              <a:rPr lang="en-US" altLang="zh-CN" sz="3200" dirty="0"/>
              <a:t> to overcome this problem, some stranger than others.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Weights were sometimes tied to the ends of the threads to </a:t>
            </a:r>
            <a:r>
              <a:rPr lang="en-US" altLang="zh-CN" sz="3200" u="sng" dirty="0"/>
              <a:t>counterbalance</a:t>
            </a:r>
            <a:r>
              <a:rPr lang="en-US" altLang="zh-CN" sz="3200" dirty="0"/>
              <a:t> the weight of the glasses to keep them from </a:t>
            </a:r>
            <a:r>
              <a:rPr lang="en-US" altLang="zh-CN" sz="3200" u="sng" dirty="0"/>
              <a:t>slip</a:t>
            </a:r>
            <a:r>
              <a:rPr lang="en-US" altLang="zh-CN" sz="3200" dirty="0"/>
              <a:t>ping off.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Others </a:t>
            </a:r>
            <a:r>
              <a:rPr lang="en-US" altLang="zh-CN" sz="3200" u="sng" dirty="0"/>
              <a:t>attached</a:t>
            </a:r>
            <a:r>
              <a:rPr lang="en-US" altLang="zh-CN" sz="3200" dirty="0"/>
              <a:t> them to straps tied around the forehead or </a:t>
            </a:r>
            <a:r>
              <a:rPr lang="en-US" altLang="zh-CN" sz="3200" u="sng" dirty="0"/>
              <a:t>threaded</a:t>
            </a:r>
            <a:r>
              <a:rPr lang="en-US" altLang="zh-CN" sz="3200" dirty="0"/>
              <a:t> them into their hair. 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Still other designs simply perched </a:t>
            </a:r>
            <a:r>
              <a:rPr lang="en-US" altLang="zh-CN" sz="3200" u="sng" dirty="0"/>
              <a:t>uneasily</a:t>
            </a:r>
            <a:r>
              <a:rPr lang="en-US" altLang="zh-CN" sz="3200" dirty="0"/>
              <a:t> on the bridge of the nose.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Even though we have become used to the </a:t>
            </a:r>
            <a:r>
              <a:rPr lang="en-US" altLang="zh-CN" sz="3200" u="sng" dirty="0"/>
              <a:t>marvels</a:t>
            </a:r>
            <a:r>
              <a:rPr lang="en-US" altLang="zh-CN" sz="3200" dirty="0"/>
              <a:t> of modern technology, we still need to </a:t>
            </a:r>
            <a:r>
              <a:rPr lang="en-US" altLang="zh-CN" sz="3200" u="sng" dirty="0"/>
              <a:t>pause and think</a:t>
            </a:r>
            <a:r>
              <a:rPr lang="en-US" altLang="zh-CN" sz="3200" dirty="0"/>
              <a:t> about the potential negative impact of this new invention.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…in other words, if their usefulness would </a:t>
            </a:r>
            <a:r>
              <a:rPr lang="en-US" altLang="zh-CN" sz="3200" u="sng" dirty="0"/>
              <a:t>outweigh</a:t>
            </a:r>
            <a:r>
              <a:rPr lang="en-US" altLang="zh-CN" sz="3200" dirty="0"/>
              <a:t> potential problems.</a:t>
            </a:r>
          </a:p>
          <a:p>
            <a:pPr marL="360000" indent="-360000" defTabSz="504000">
              <a:spcBef>
                <a:spcPts val="0"/>
              </a:spcBef>
              <a:buFont typeface="+mj-lt"/>
              <a:buAutoNum type="arabicPeriod"/>
              <a:defRPr sz="282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altLang="zh-CN" sz="3200" dirty="0"/>
              <a:t>Time-consuming to make </a:t>
            </a:r>
            <a:r>
              <a:rPr lang="en-US" altLang="zh-CN" sz="3200" u="sng" dirty="0"/>
              <a:t>engraved</a:t>
            </a:r>
            <a:r>
              <a:rPr lang="en-US" altLang="zh-CN" sz="3200" dirty="0"/>
              <a:t> blocks</a:t>
            </a:r>
          </a:p>
        </p:txBody>
      </p:sp>
    </p:spTree>
    <p:extLst>
      <p:ext uri="{BB962C8B-B14F-4D97-AF65-F5344CB8AC3E}">
        <p14:creationId xmlns:p14="http://schemas.microsoft.com/office/powerpoint/2010/main" val="12495630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13485</TotalTime>
  <Words>1020</Words>
  <Application>Microsoft Macintosh PowerPoint</Application>
  <PresentationFormat>Custom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Helvetica</vt:lpstr>
      <vt:lpstr>Helvetica Light</vt:lpstr>
      <vt:lpstr>Helvetica Neue</vt:lpstr>
      <vt:lpstr>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Qing NI</cp:lastModifiedBy>
  <cp:revision>96</cp:revision>
  <cp:lastPrinted>2025-09-04T23:06:53Z</cp:lastPrinted>
  <dcterms:modified xsi:type="dcterms:W3CDTF">2026-04-13T05:37:57Z</dcterms:modified>
</cp:coreProperties>
</file>