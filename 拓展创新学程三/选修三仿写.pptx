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6"/>
  </p:notesMasterIdLst>
  <p:sldIdLst>
    <p:sldId id="332" r:id="rId2"/>
    <p:sldId id="350" r:id="rId3"/>
    <p:sldId id="348" r:id="rId4"/>
    <p:sldId id="349" r:id="rId5"/>
    <p:sldId id="351" r:id="rId6"/>
    <p:sldId id="355" r:id="rId7"/>
    <p:sldId id="352" r:id="rId8"/>
    <p:sldId id="354" r:id="rId9"/>
    <p:sldId id="353" r:id="rId10"/>
    <p:sldId id="347" r:id="rId11"/>
    <p:sldId id="344" r:id="rId12"/>
    <p:sldId id="356" r:id="rId13"/>
    <p:sldId id="357" r:id="rId14"/>
    <p:sldId id="345" r:id="rId15"/>
    <p:sldId id="346" r:id="rId16"/>
    <p:sldId id="358" r:id="rId17"/>
    <p:sldId id="361" r:id="rId18"/>
    <p:sldId id="365" r:id="rId19"/>
    <p:sldId id="364" r:id="rId20"/>
    <p:sldId id="359" r:id="rId21"/>
    <p:sldId id="362" r:id="rId22"/>
    <p:sldId id="366" r:id="rId23"/>
    <p:sldId id="360" r:id="rId24"/>
    <p:sldId id="363" r:id="rId25"/>
    <p:sldId id="367" r:id="rId26"/>
    <p:sldId id="368" r:id="rId27"/>
    <p:sldId id="369" r:id="rId28"/>
    <p:sldId id="375" r:id="rId29"/>
    <p:sldId id="371" r:id="rId30"/>
    <p:sldId id="376" r:id="rId31"/>
    <p:sldId id="372" r:id="rId32"/>
    <p:sldId id="373" r:id="rId33"/>
    <p:sldId id="374" r:id="rId34"/>
    <p:sldId id="370" r:id="rId35"/>
    <p:sldId id="377" r:id="rId36"/>
    <p:sldId id="378" r:id="rId37"/>
    <p:sldId id="379" r:id="rId38"/>
    <p:sldId id="380" r:id="rId39"/>
    <p:sldId id="381" r:id="rId40"/>
    <p:sldId id="382" r:id="rId41"/>
    <p:sldId id="383" r:id="rId42"/>
    <p:sldId id="384" r:id="rId43"/>
    <p:sldId id="385" r:id="rId44"/>
    <p:sldId id="386" r:id="rId45"/>
  </p:sldIdLst>
  <p:sldSz cx="13004800" cy="9753600"/>
  <p:notesSz cx="6858000" cy="9947275"/>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1pPr>
    <a:lvl2pPr marL="0" marR="0" indent="2286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884"/>
    <p:restoredTop sz="82222" autoAdjust="0"/>
  </p:normalViewPr>
  <p:slideViewPr>
    <p:cSldViewPr snapToGrid="0">
      <p:cViewPr varScale="1">
        <p:scale>
          <a:sx n="62" d="100"/>
          <a:sy n="62" d="100"/>
        </p:scale>
        <p:origin x="656" y="200"/>
      </p:cViewPr>
      <p:guideLst/>
    </p:cSldViewPr>
  </p:slideViewPr>
  <p:notesTextViewPr>
    <p:cViewPr>
      <p:scale>
        <a:sx n="110" d="100"/>
        <a:sy n="11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2" name="Shape 132"/>
          <p:cNvSpPr>
            <a:spLocks noGrp="1" noRot="1" noChangeAspect="1"/>
          </p:cNvSpPr>
          <p:nvPr>
            <p:ph type="sldImg"/>
          </p:nvPr>
        </p:nvSpPr>
        <p:spPr>
          <a:xfrm>
            <a:off x="942975" y="746125"/>
            <a:ext cx="4972050" cy="3730625"/>
          </a:xfrm>
          <a:prstGeom prst="rect">
            <a:avLst/>
          </a:prstGeom>
        </p:spPr>
        <p:txBody>
          <a:bodyPr/>
          <a:lstStyle/>
          <a:p>
            <a:endParaRPr/>
          </a:p>
        </p:txBody>
      </p:sp>
      <p:sp>
        <p:nvSpPr>
          <p:cNvPr id="133" name="Shape 133"/>
          <p:cNvSpPr>
            <a:spLocks noGrp="1"/>
          </p:cNvSpPr>
          <p:nvPr>
            <p:ph type="body" sz="quarter" idx="1"/>
          </p:nvPr>
        </p:nvSpPr>
        <p:spPr>
          <a:xfrm>
            <a:off x="914400" y="4724956"/>
            <a:ext cx="5029200" cy="4476274"/>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defTabSz="504000">
              <a:spcBef>
                <a:spcPts val="0"/>
              </a:spcBef>
              <a:buNone/>
              <a:defRPr sz="2820" b="1">
                <a:latin typeface="Times New Roman"/>
                <a:ea typeface="Times New Roman"/>
                <a:cs typeface="Times New Roman"/>
                <a:sym typeface="Times New Roman"/>
              </a:defRPr>
            </a:pPr>
            <a:r>
              <a:rPr lang="en-US" altLang="zh-CN" sz="7200" dirty="0"/>
              <a:t>memories wove a bond</a:t>
            </a:r>
          </a:p>
          <a:p>
            <a:r>
              <a:rPr lang="en-GB" sz="7200" b="1" dirty="0"/>
              <a:t>Through countless shared memories and hardships, time gradually wove our lives together into a bond stronger than we had ever imagined.</a:t>
            </a:r>
            <a:endParaRPr lang="en-GB" sz="7200" dirty="0"/>
          </a:p>
          <a:p>
            <a:r>
              <a:rPr lang="zh-CN" altLang="en-US" sz="7200" dirty="0"/>
              <a:t>通过无数共同的回忆与困难，时光渐渐将我们的生命交织成一段比想象更牢固的纽带。</a:t>
            </a:r>
            <a:endParaRPr lang="en-GB" altLang="zh-CN" sz="7200" dirty="0"/>
          </a:p>
          <a:p>
            <a:r>
              <a:rPr lang="en-GB" sz="7200" dirty="0"/>
              <a:t>What began as a simple friendship eventually wove our fates together, turning us into lifelong companions.</a:t>
            </a:r>
            <a:endParaRPr lang="zh-CN" altLang="en-US" sz="7200" dirty="0"/>
          </a:p>
          <a:p>
            <a:pPr marL="0" indent="0" defTabSz="504000">
              <a:spcBef>
                <a:spcPts val="0"/>
              </a:spcBef>
              <a:buNone/>
              <a:defRPr sz="2820" b="1">
                <a:latin typeface="Times New Roman"/>
                <a:ea typeface="Times New Roman"/>
                <a:cs typeface="Times New Roman"/>
                <a:sym typeface="Times New Roman"/>
              </a:defRPr>
            </a:pPr>
            <a:r>
              <a:rPr lang="zh-CN" altLang="en-US" sz="2820" b="0" dirty="0">
                <a:latin typeface="Helvetica Neue"/>
                <a:ea typeface="Helvetica Neue"/>
                <a:cs typeface="Helvetica Neue"/>
                <a:sym typeface="Times New Roman"/>
              </a:rPr>
              <a:t>最初只是简单的友谊，最终却将我们的命运交织在一起，让我们成为一生的伙伴。</a:t>
            </a:r>
            <a:endParaRPr lang="en-US" altLang="zh-CN" sz="7200" dirty="0"/>
          </a:p>
          <a:p>
            <a:pPr marL="0" indent="0" defTabSz="504000">
              <a:spcBef>
                <a:spcPts val="0"/>
              </a:spcBef>
              <a:buNone/>
              <a:defRPr sz="2820" b="1">
                <a:latin typeface="Times New Roman"/>
                <a:ea typeface="Times New Roman"/>
                <a:cs typeface="Times New Roman"/>
                <a:sym typeface="Times New Roman"/>
              </a:defRPr>
            </a:pPr>
            <a:r>
              <a:rPr lang="en-US" altLang="zh-CN" sz="7200" dirty="0"/>
              <a:t>activities wove their lives/paths together</a:t>
            </a:r>
          </a:p>
          <a:p>
            <a:pPr marL="0" indent="0" defTabSz="504000">
              <a:spcBef>
                <a:spcPts val="0"/>
              </a:spcBef>
              <a:buNone/>
              <a:defRPr sz="2820" b="1">
                <a:latin typeface="Times New Roman"/>
                <a:ea typeface="Times New Roman"/>
                <a:cs typeface="Times New Roman"/>
                <a:sym typeface="Times New Roman"/>
              </a:defRPr>
            </a:pPr>
            <a:r>
              <a:rPr lang="en-US" altLang="zh-CN" sz="7200" dirty="0"/>
              <a:t>shared laughter wove their friendship</a:t>
            </a:r>
          </a:p>
          <a:p>
            <a:pPr marL="0" indent="0" defTabSz="504000">
              <a:spcBef>
                <a:spcPts val="0"/>
              </a:spcBef>
              <a:buNone/>
              <a:defRPr sz="2820" b="1">
                <a:latin typeface="Times New Roman"/>
                <a:ea typeface="Times New Roman"/>
                <a:cs typeface="Times New Roman"/>
                <a:sym typeface="Times New Roman"/>
              </a:defRPr>
            </a:pPr>
            <a:endParaRPr lang="en-US" altLang="zh-CN" sz="7200" dirty="0"/>
          </a:p>
          <a:p>
            <a:pPr marL="0" indent="0" defTabSz="504000">
              <a:spcBef>
                <a:spcPts val="0"/>
              </a:spcBef>
              <a:buNone/>
              <a:defRPr sz="2820" b="1">
                <a:latin typeface="Times New Roman"/>
                <a:ea typeface="Times New Roman"/>
                <a:cs typeface="Times New Roman"/>
                <a:sym typeface="Times New Roman"/>
              </a:defRPr>
            </a:pPr>
            <a:r>
              <a:rPr lang="en-GB" sz="2820" b="1" dirty="0">
                <a:latin typeface="Helvetica Neue"/>
                <a:ea typeface="Helvetica Neue"/>
                <a:cs typeface="Helvetica Neue"/>
                <a:sym typeface="Times New Roman"/>
              </a:rPr>
              <a:t>Little did we know that those simple moments of laughter were weaving our fates together into a lifelong friendship.</a:t>
            </a:r>
            <a:endParaRPr lang="en-US" altLang="zh-CN" sz="7200" dirty="0"/>
          </a:p>
          <a:p>
            <a:endParaRPr lang="en-US" sz="3200" dirty="0"/>
          </a:p>
        </p:txBody>
      </p:sp>
    </p:spTree>
    <p:extLst>
      <p:ext uri="{BB962C8B-B14F-4D97-AF65-F5344CB8AC3E}">
        <p14:creationId xmlns:p14="http://schemas.microsoft.com/office/powerpoint/2010/main" val="16171552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weighed down by/sinking into/sliding into/dwelling on</a:t>
            </a:r>
          </a:p>
        </p:txBody>
      </p:sp>
    </p:spTree>
    <p:extLst>
      <p:ext uri="{BB962C8B-B14F-4D97-AF65-F5344CB8AC3E}">
        <p14:creationId xmlns:p14="http://schemas.microsoft.com/office/powerpoint/2010/main" val="3100400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trapped in/be engulfed in/be seized by, find herself in …/be plunged into </a:t>
            </a:r>
          </a:p>
        </p:txBody>
      </p:sp>
    </p:spTree>
    <p:extLst>
      <p:ext uri="{BB962C8B-B14F-4D97-AF65-F5344CB8AC3E}">
        <p14:creationId xmlns:p14="http://schemas.microsoft.com/office/powerpoint/2010/main" val="10107961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AABFC-237A-E84C-3CB1-32B74A7E71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4F1D31-A40E-AA7C-9828-F95E96D955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87F53B-D6EA-B76D-5E61-6DC1252A82E9}"/>
              </a:ext>
            </a:extLst>
          </p:cNvPr>
          <p:cNvSpPr>
            <a:spLocks noGrp="1"/>
          </p:cNvSpPr>
          <p:nvPr>
            <p:ph type="body" idx="1"/>
          </p:nvPr>
        </p:nvSpPr>
        <p:spPr/>
        <p:txBody>
          <a:bodyPr/>
          <a:lstStyle/>
          <a:p>
            <a:r>
              <a:rPr lang="en-US" dirty="0"/>
              <a:t>Be trapped in/be engulfed in/be seized by, find herself in …/be plunged into </a:t>
            </a:r>
          </a:p>
        </p:txBody>
      </p:sp>
    </p:spTree>
    <p:extLst>
      <p:ext uri="{BB962C8B-B14F-4D97-AF65-F5344CB8AC3E}">
        <p14:creationId xmlns:p14="http://schemas.microsoft.com/office/powerpoint/2010/main" val="17307249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Resolved to threw himself into practice, driven by relentless determination.</a:t>
            </a:r>
          </a:p>
          <a:p>
            <a:r>
              <a:rPr lang="en-GB" dirty="0"/>
              <a:t>he practiced with unwavering focus and relentless determination.</a:t>
            </a:r>
            <a:endParaRPr lang="en-US" dirty="0"/>
          </a:p>
        </p:txBody>
      </p:sp>
    </p:spTree>
    <p:extLst>
      <p:ext uri="{BB962C8B-B14F-4D97-AF65-F5344CB8AC3E}">
        <p14:creationId xmlns:p14="http://schemas.microsoft.com/office/powerpoint/2010/main" val="41663649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Press on/push forward	</a:t>
            </a:r>
          </a:p>
        </p:txBody>
      </p:sp>
    </p:spTree>
    <p:extLst>
      <p:ext uri="{BB962C8B-B14F-4D97-AF65-F5344CB8AC3E}">
        <p14:creationId xmlns:p14="http://schemas.microsoft.com/office/powerpoint/2010/main" val="25436856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Exhaust the last of his strength</a:t>
            </a:r>
          </a:p>
          <a:p>
            <a:r>
              <a:rPr lang="en-US" dirty="0"/>
              <a:t>Every step seemed to test …</a:t>
            </a:r>
          </a:p>
        </p:txBody>
      </p:sp>
    </p:spTree>
    <p:extLst>
      <p:ext uri="{BB962C8B-B14F-4D97-AF65-F5344CB8AC3E}">
        <p14:creationId xmlns:p14="http://schemas.microsoft.com/office/powerpoint/2010/main" val="30046426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照片 - 水平">
    <p:spTree>
      <p:nvGrpSpPr>
        <p:cNvPr id="1" name=""/>
        <p:cNvGrpSpPr/>
        <p:nvPr/>
      </p:nvGrpSpPr>
      <p:grpSpPr>
        <a:xfrm>
          <a:off x="0" y="0"/>
          <a:ext cx="0" cy="0"/>
          <a:chOff x="0" y="0"/>
          <a:chExt cx="0" cy="0"/>
        </a:xfrm>
      </p:grpSpPr>
      <p:sp>
        <p:nvSpPr>
          <p:cNvPr id="20" name="110809_FamilyChineseOahu_EN_02390_2880x1921.jpeg"/>
          <p:cNvSpPr>
            <a:spLocks noGrp="1"/>
          </p:cNvSpPr>
          <p:nvPr>
            <p:ph type="pic" idx="21"/>
          </p:nvPr>
        </p:nvSpPr>
        <p:spPr>
          <a:xfrm>
            <a:off x="1606550" y="635000"/>
            <a:ext cx="9779000" cy="6522729"/>
          </a:xfrm>
          <a:prstGeom prst="rect">
            <a:avLst/>
          </a:prstGeom>
        </p:spPr>
        <p:txBody>
          <a:bodyPr lIns="91439" tIns="45719" rIns="91439" bIns="45719" anchor="t">
            <a:noAutofit/>
          </a:bodyPr>
          <a:lstStyle/>
          <a:p>
            <a:endParaRPr/>
          </a:p>
        </p:txBody>
      </p:sp>
      <p:sp>
        <p:nvSpPr>
          <p:cNvPr id="21" name="标题文本"/>
          <p:cNvSpPr txBox="1">
            <a:spLocks noGrp="1"/>
          </p:cNvSpPr>
          <p:nvPr>
            <p:ph type="title"/>
          </p:nvPr>
        </p:nvSpPr>
        <p:spPr>
          <a:xfrm>
            <a:off x="1270000" y="6718300"/>
            <a:ext cx="10464800" cy="1422400"/>
          </a:xfrm>
          <a:prstGeom prst="rect">
            <a:avLst/>
          </a:prstGeom>
        </p:spPr>
        <p:txBody>
          <a:bodyPr anchor="b"/>
          <a:lstStyle/>
          <a:p>
            <a:r>
              <a:t>标题文本</a:t>
            </a:r>
          </a:p>
        </p:txBody>
      </p:sp>
      <p:sp>
        <p:nvSpPr>
          <p:cNvPr id="22" name="正文级别 1…"/>
          <p:cNvSpPr txBox="1">
            <a:spLocks noGrp="1"/>
          </p:cNvSpPr>
          <p:nvPr>
            <p:ph type="body" sz="quarter" idx="1"/>
          </p:nvPr>
        </p:nvSpPr>
        <p:spPr>
          <a:xfrm>
            <a:off x="1270000" y="8191500"/>
            <a:ext cx="10464800" cy="1130300"/>
          </a:xfrm>
          <a:prstGeom prst="rect">
            <a:avLst/>
          </a:prstGeom>
        </p:spPr>
        <p:txBody>
          <a:bodyPr anchor="t"/>
          <a:lstStyle>
            <a:lvl1pPr marL="0" indent="0" algn="ctr">
              <a:spcBef>
                <a:spcPts val="0"/>
              </a:spcBef>
              <a:buSzTx/>
              <a:buNone/>
              <a:defRPr sz="3200"/>
            </a:lvl1pPr>
            <a:lvl2pPr marL="0" indent="228600" algn="ctr">
              <a:spcBef>
                <a:spcPts val="0"/>
              </a:spcBef>
              <a:buSzTx/>
              <a:buNone/>
              <a:defRPr sz="3200"/>
            </a:lvl2pPr>
            <a:lvl3pPr marL="0" indent="457200" algn="ctr">
              <a:spcBef>
                <a:spcPts val="0"/>
              </a:spcBef>
              <a:buSzTx/>
              <a:buNone/>
              <a:defRPr sz="3200"/>
            </a:lvl3pPr>
            <a:lvl4pPr marL="0" indent="685800" algn="ctr">
              <a:spcBef>
                <a:spcPts val="0"/>
              </a:spcBef>
              <a:buSzTx/>
              <a:buNone/>
              <a:defRPr sz="3200"/>
            </a:lvl4pPr>
            <a:lvl5pPr marL="0" indent="914400" algn="ctr">
              <a:spcBef>
                <a:spcPts val="0"/>
              </a:spcBef>
              <a:buSzTx/>
              <a:buNone/>
              <a:defRPr sz="3200"/>
            </a:lvl5pPr>
          </a:lstStyle>
          <a:p>
            <a:r>
              <a:t>正文级别 1</a:t>
            </a:r>
          </a:p>
          <a:p>
            <a:pPr lvl="1"/>
            <a:r>
              <a:t>正文级别 2</a:t>
            </a:r>
          </a:p>
          <a:p>
            <a:pPr lvl="2"/>
            <a:r>
              <a:t>正文级别 3</a:t>
            </a:r>
          </a:p>
          <a:p>
            <a:pPr lvl="3"/>
            <a:r>
              <a:t>正文级别 4</a:t>
            </a:r>
          </a:p>
          <a:p>
            <a:pPr lvl="4"/>
            <a:r>
              <a:t>正文级别 5</a:t>
            </a:r>
          </a:p>
        </p:txBody>
      </p:sp>
      <p:sp>
        <p:nvSpPr>
          <p:cNvPr id="23" name="01"/>
          <p:cNvSpPr txBox="1">
            <a:spLocks noGrp="1"/>
          </p:cNvSpPr>
          <p:nvPr>
            <p:ph type="sldNum" sz="quarter" idx="2"/>
          </p:nvPr>
        </p:nvSpPr>
        <p:spPr>
          <a:xfrm>
            <a:off x="6311798" y="9245600"/>
            <a:ext cx="368504" cy="3810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标题 - 居中">
    <p:spTree>
      <p:nvGrpSpPr>
        <p:cNvPr id="1" name=""/>
        <p:cNvGrpSpPr/>
        <p:nvPr/>
      </p:nvGrpSpPr>
      <p:grpSpPr>
        <a:xfrm>
          <a:off x="0" y="0"/>
          <a:ext cx="0" cy="0"/>
          <a:chOff x="0" y="0"/>
          <a:chExt cx="0" cy="0"/>
        </a:xfrm>
      </p:grpSpPr>
      <p:sp>
        <p:nvSpPr>
          <p:cNvPr id="30" name="标题文本"/>
          <p:cNvSpPr txBox="1">
            <a:spLocks noGrp="1"/>
          </p:cNvSpPr>
          <p:nvPr>
            <p:ph type="title"/>
          </p:nvPr>
        </p:nvSpPr>
        <p:spPr>
          <a:xfrm>
            <a:off x="1270000" y="3225800"/>
            <a:ext cx="10464800" cy="3302000"/>
          </a:xfrm>
          <a:prstGeom prst="rect">
            <a:avLst/>
          </a:prstGeom>
        </p:spPr>
        <p:txBody>
          <a:bodyPr/>
          <a:lstStyle/>
          <a:p>
            <a:r>
              <a:t>标题文本</a:t>
            </a:r>
          </a:p>
        </p:txBody>
      </p:sp>
      <p:sp>
        <p:nvSpPr>
          <p:cNvPr id="31" name="01"/>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照片 - 垂直">
    <p:spTree>
      <p:nvGrpSpPr>
        <p:cNvPr id="1" name=""/>
        <p:cNvGrpSpPr/>
        <p:nvPr/>
      </p:nvGrpSpPr>
      <p:grpSpPr>
        <a:xfrm>
          <a:off x="0" y="0"/>
          <a:ext cx="0" cy="0"/>
          <a:chOff x="0" y="0"/>
          <a:chExt cx="0" cy="0"/>
        </a:xfrm>
      </p:grpSpPr>
      <p:sp>
        <p:nvSpPr>
          <p:cNvPr id="38" name="110809_FamilyChineseOahu_EN_00317_2040x1360.jpeg"/>
          <p:cNvSpPr>
            <a:spLocks noGrp="1"/>
          </p:cNvSpPr>
          <p:nvPr>
            <p:ph type="pic" idx="21"/>
          </p:nvPr>
        </p:nvSpPr>
        <p:spPr>
          <a:xfrm>
            <a:off x="2717800" y="635000"/>
            <a:ext cx="12357100" cy="8238067"/>
          </a:xfrm>
          <a:prstGeom prst="rect">
            <a:avLst/>
          </a:prstGeom>
        </p:spPr>
        <p:txBody>
          <a:bodyPr lIns="91439" tIns="45719" rIns="91439" bIns="45719" anchor="t">
            <a:noAutofit/>
          </a:bodyPr>
          <a:lstStyle/>
          <a:p>
            <a:endParaRPr/>
          </a:p>
        </p:txBody>
      </p:sp>
      <p:sp>
        <p:nvSpPr>
          <p:cNvPr id="39" name="标题文本"/>
          <p:cNvSpPr txBox="1">
            <a:spLocks noGrp="1"/>
          </p:cNvSpPr>
          <p:nvPr>
            <p:ph type="title"/>
          </p:nvPr>
        </p:nvSpPr>
        <p:spPr>
          <a:xfrm>
            <a:off x="952500" y="635000"/>
            <a:ext cx="5334000" cy="3987800"/>
          </a:xfrm>
          <a:prstGeom prst="rect">
            <a:avLst/>
          </a:prstGeom>
        </p:spPr>
        <p:txBody>
          <a:bodyPr anchor="b"/>
          <a:lstStyle>
            <a:lvl1pPr>
              <a:defRPr sz="6000"/>
            </a:lvl1pPr>
          </a:lstStyle>
          <a:p>
            <a:r>
              <a:t>标题文本</a:t>
            </a:r>
          </a:p>
        </p:txBody>
      </p:sp>
      <p:sp>
        <p:nvSpPr>
          <p:cNvPr id="40" name="正文级别 1…"/>
          <p:cNvSpPr txBox="1">
            <a:spLocks noGrp="1"/>
          </p:cNvSpPr>
          <p:nvPr>
            <p:ph type="body" sz="quarter" idx="1"/>
          </p:nvPr>
        </p:nvSpPr>
        <p:spPr>
          <a:xfrm>
            <a:off x="952500" y="4762500"/>
            <a:ext cx="5334000" cy="4102100"/>
          </a:xfrm>
          <a:prstGeom prst="rect">
            <a:avLst/>
          </a:prstGeom>
        </p:spPr>
        <p:txBody>
          <a:bodyPr anchor="t"/>
          <a:lstStyle>
            <a:lvl1pPr marL="0" indent="0" algn="ctr">
              <a:spcBef>
                <a:spcPts val="0"/>
              </a:spcBef>
              <a:buSzTx/>
              <a:buNone/>
              <a:defRPr sz="3200"/>
            </a:lvl1pPr>
            <a:lvl2pPr marL="0" indent="228600" algn="ctr">
              <a:spcBef>
                <a:spcPts val="0"/>
              </a:spcBef>
              <a:buSzTx/>
              <a:buNone/>
              <a:defRPr sz="3200"/>
            </a:lvl2pPr>
            <a:lvl3pPr marL="0" indent="457200" algn="ctr">
              <a:spcBef>
                <a:spcPts val="0"/>
              </a:spcBef>
              <a:buSzTx/>
              <a:buNone/>
              <a:defRPr sz="3200"/>
            </a:lvl3pPr>
            <a:lvl4pPr marL="0" indent="685800" algn="ctr">
              <a:spcBef>
                <a:spcPts val="0"/>
              </a:spcBef>
              <a:buSzTx/>
              <a:buNone/>
              <a:defRPr sz="3200"/>
            </a:lvl4pPr>
            <a:lvl5pPr marL="0" indent="914400" algn="ctr">
              <a:spcBef>
                <a:spcPts val="0"/>
              </a:spcBef>
              <a:buSzTx/>
              <a:buNone/>
              <a:defRPr sz="3200"/>
            </a:lvl5pPr>
          </a:lstStyle>
          <a:p>
            <a:r>
              <a:t>正文级别 1</a:t>
            </a:r>
          </a:p>
          <a:p>
            <a:pPr lvl="1"/>
            <a:r>
              <a:t>正文级别 2</a:t>
            </a:r>
          </a:p>
          <a:p>
            <a:pPr lvl="2"/>
            <a:r>
              <a:t>正文级别 3</a:t>
            </a:r>
          </a:p>
          <a:p>
            <a:pPr lvl="3"/>
            <a:r>
              <a:t>正文级别 4</a:t>
            </a:r>
          </a:p>
          <a:p>
            <a:pPr lvl="4"/>
            <a:r>
              <a:t>正文级别 5</a:t>
            </a:r>
          </a:p>
        </p:txBody>
      </p:sp>
      <p:sp>
        <p:nvSpPr>
          <p:cNvPr id="41" name="01"/>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标题 - 顶部对齐">
    <p:spTree>
      <p:nvGrpSpPr>
        <p:cNvPr id="1" name=""/>
        <p:cNvGrpSpPr/>
        <p:nvPr/>
      </p:nvGrpSpPr>
      <p:grpSpPr>
        <a:xfrm>
          <a:off x="0" y="0"/>
          <a:ext cx="0" cy="0"/>
          <a:chOff x="0" y="0"/>
          <a:chExt cx="0" cy="0"/>
        </a:xfrm>
      </p:grpSpPr>
      <p:sp>
        <p:nvSpPr>
          <p:cNvPr id="48" name="标题文本"/>
          <p:cNvSpPr txBox="1">
            <a:spLocks noGrp="1"/>
          </p:cNvSpPr>
          <p:nvPr>
            <p:ph type="title"/>
          </p:nvPr>
        </p:nvSpPr>
        <p:spPr>
          <a:prstGeom prst="rect">
            <a:avLst/>
          </a:prstGeom>
        </p:spPr>
        <p:txBody>
          <a:bodyPr/>
          <a:lstStyle/>
          <a:p>
            <a:r>
              <a:t>标题文本</a:t>
            </a:r>
          </a:p>
        </p:txBody>
      </p:sp>
      <p:sp>
        <p:nvSpPr>
          <p:cNvPr id="49" name="01"/>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标题、项目符号与照片">
    <p:spTree>
      <p:nvGrpSpPr>
        <p:cNvPr id="1" name=""/>
        <p:cNvGrpSpPr/>
        <p:nvPr/>
      </p:nvGrpSpPr>
      <p:grpSpPr>
        <a:xfrm>
          <a:off x="0" y="0"/>
          <a:ext cx="0" cy="0"/>
          <a:chOff x="0" y="0"/>
          <a:chExt cx="0" cy="0"/>
        </a:xfrm>
      </p:grpSpPr>
      <p:sp>
        <p:nvSpPr>
          <p:cNvPr id="65" name="110809_FamilyChineseOahu_EN_00317_2040x1360.jpeg"/>
          <p:cNvSpPr>
            <a:spLocks noGrp="1"/>
          </p:cNvSpPr>
          <p:nvPr>
            <p:ph type="pic" idx="21"/>
          </p:nvPr>
        </p:nvSpPr>
        <p:spPr>
          <a:xfrm>
            <a:off x="4533900" y="2603500"/>
            <a:ext cx="9429750" cy="6286500"/>
          </a:xfrm>
          <a:prstGeom prst="rect">
            <a:avLst/>
          </a:prstGeom>
        </p:spPr>
        <p:txBody>
          <a:bodyPr lIns="91439" tIns="45719" rIns="91439" bIns="45719" anchor="t">
            <a:noAutofit/>
          </a:bodyPr>
          <a:lstStyle/>
          <a:p>
            <a:endParaRPr/>
          </a:p>
        </p:txBody>
      </p:sp>
      <p:sp>
        <p:nvSpPr>
          <p:cNvPr id="66" name="标题文本"/>
          <p:cNvSpPr txBox="1">
            <a:spLocks noGrp="1"/>
          </p:cNvSpPr>
          <p:nvPr>
            <p:ph type="title"/>
          </p:nvPr>
        </p:nvSpPr>
        <p:spPr>
          <a:prstGeom prst="rect">
            <a:avLst/>
          </a:prstGeom>
        </p:spPr>
        <p:txBody>
          <a:bodyPr/>
          <a:lstStyle/>
          <a:p>
            <a:r>
              <a:t>标题文本</a:t>
            </a:r>
          </a:p>
        </p:txBody>
      </p:sp>
      <p:sp>
        <p:nvSpPr>
          <p:cNvPr id="67" name="正文级别 1…"/>
          <p:cNvSpPr txBox="1">
            <a:spLocks noGrp="1"/>
          </p:cNvSpPr>
          <p:nvPr>
            <p:ph type="body" sz="half" idx="1"/>
          </p:nvPr>
        </p:nvSpPr>
        <p:spPr>
          <a:xfrm>
            <a:off x="952500" y="2603500"/>
            <a:ext cx="5334000" cy="6286500"/>
          </a:xfrm>
          <a:prstGeom prst="rect">
            <a:avLst/>
          </a:prstGeom>
        </p:spPr>
        <p:txBody>
          <a:bodyPr/>
          <a:lstStyle>
            <a:lvl1pPr marL="342900" indent="-342900">
              <a:spcBef>
                <a:spcPts val="3200"/>
              </a:spcBef>
              <a:defRPr sz="2800"/>
            </a:lvl1pPr>
            <a:lvl2pPr marL="685800" indent="-342900">
              <a:spcBef>
                <a:spcPts val="3200"/>
              </a:spcBef>
              <a:defRPr sz="2800"/>
            </a:lvl2pPr>
            <a:lvl3pPr marL="1028700" indent="-342900">
              <a:spcBef>
                <a:spcPts val="3200"/>
              </a:spcBef>
              <a:defRPr sz="2800"/>
            </a:lvl3pPr>
            <a:lvl4pPr marL="1371600" indent="-342900">
              <a:spcBef>
                <a:spcPts val="3200"/>
              </a:spcBef>
              <a:defRPr sz="2800"/>
            </a:lvl4pPr>
            <a:lvl5pPr marL="1714500" indent="-342900">
              <a:spcBef>
                <a:spcPts val="3200"/>
              </a:spcBef>
              <a:defRPr sz="2800"/>
            </a:lvl5pPr>
          </a:lstStyle>
          <a:p>
            <a:r>
              <a:t>正文级别 1</a:t>
            </a:r>
          </a:p>
          <a:p>
            <a:pPr lvl="1"/>
            <a:r>
              <a:t>正文级别 2</a:t>
            </a:r>
          </a:p>
          <a:p>
            <a:pPr lvl="2"/>
            <a:r>
              <a:t>正文级别 3</a:t>
            </a:r>
          </a:p>
          <a:p>
            <a:pPr lvl="3"/>
            <a:r>
              <a:t>正文级别 4</a:t>
            </a:r>
          </a:p>
          <a:p>
            <a:pPr lvl="4"/>
            <a:r>
              <a:t>正文级别 5</a:t>
            </a:r>
          </a:p>
        </p:txBody>
      </p:sp>
      <p:sp>
        <p:nvSpPr>
          <p:cNvPr id="68" name="01"/>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项目符号">
    <p:spTree>
      <p:nvGrpSpPr>
        <p:cNvPr id="1" name=""/>
        <p:cNvGrpSpPr/>
        <p:nvPr/>
      </p:nvGrpSpPr>
      <p:grpSpPr>
        <a:xfrm>
          <a:off x="0" y="0"/>
          <a:ext cx="0" cy="0"/>
          <a:chOff x="0" y="0"/>
          <a:chExt cx="0" cy="0"/>
        </a:xfrm>
      </p:grpSpPr>
      <p:sp>
        <p:nvSpPr>
          <p:cNvPr id="75" name="正文级别 1…"/>
          <p:cNvSpPr txBox="1">
            <a:spLocks noGrp="1"/>
          </p:cNvSpPr>
          <p:nvPr>
            <p:ph type="body" idx="1"/>
          </p:nvPr>
        </p:nvSpPr>
        <p:spPr>
          <a:xfrm>
            <a:off x="952500" y="1270000"/>
            <a:ext cx="11099800" cy="7213600"/>
          </a:xfrm>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76" name="01"/>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照片 - 3 联">
    <p:spTree>
      <p:nvGrpSpPr>
        <p:cNvPr id="1" name=""/>
        <p:cNvGrpSpPr/>
        <p:nvPr/>
      </p:nvGrpSpPr>
      <p:grpSpPr>
        <a:xfrm>
          <a:off x="0" y="0"/>
          <a:ext cx="0" cy="0"/>
          <a:chOff x="0" y="0"/>
          <a:chExt cx="0" cy="0"/>
        </a:xfrm>
      </p:grpSpPr>
      <p:sp>
        <p:nvSpPr>
          <p:cNvPr id="83" name="110809_FamilyChineseOahu_EN_02390_2880x1921.jpeg"/>
          <p:cNvSpPr>
            <a:spLocks noGrp="1"/>
          </p:cNvSpPr>
          <p:nvPr>
            <p:ph type="pic" sz="quarter" idx="21"/>
          </p:nvPr>
        </p:nvSpPr>
        <p:spPr>
          <a:xfrm>
            <a:off x="6680200" y="5026947"/>
            <a:ext cx="6057901" cy="4040705"/>
          </a:xfrm>
          <a:prstGeom prst="rect">
            <a:avLst/>
          </a:prstGeom>
        </p:spPr>
        <p:txBody>
          <a:bodyPr lIns="91439" tIns="45719" rIns="91439" bIns="45719" anchor="t">
            <a:noAutofit/>
          </a:bodyPr>
          <a:lstStyle/>
          <a:p>
            <a:endParaRPr/>
          </a:p>
        </p:txBody>
      </p:sp>
      <p:sp>
        <p:nvSpPr>
          <p:cNvPr id="84" name="110809_FamilyChineseOahu_EN_02016_981x654.jpeg"/>
          <p:cNvSpPr>
            <a:spLocks noGrp="1"/>
          </p:cNvSpPr>
          <p:nvPr>
            <p:ph type="pic" sz="quarter" idx="22"/>
          </p:nvPr>
        </p:nvSpPr>
        <p:spPr>
          <a:xfrm>
            <a:off x="6502400" y="886747"/>
            <a:ext cx="5867400" cy="3911601"/>
          </a:xfrm>
          <a:prstGeom prst="rect">
            <a:avLst/>
          </a:prstGeom>
        </p:spPr>
        <p:txBody>
          <a:bodyPr lIns="91439" tIns="45719" rIns="91439" bIns="45719" anchor="t">
            <a:noAutofit/>
          </a:bodyPr>
          <a:lstStyle/>
          <a:p>
            <a:endParaRPr/>
          </a:p>
        </p:txBody>
      </p:sp>
      <p:sp>
        <p:nvSpPr>
          <p:cNvPr id="85" name="110809_FamilyChineseOahu_EN_00317_2040x1360.jpeg"/>
          <p:cNvSpPr>
            <a:spLocks noGrp="1"/>
          </p:cNvSpPr>
          <p:nvPr>
            <p:ph type="pic" idx="23"/>
          </p:nvPr>
        </p:nvSpPr>
        <p:spPr>
          <a:xfrm>
            <a:off x="-2374900" y="889000"/>
            <a:ext cx="11976100" cy="7984067"/>
          </a:xfrm>
          <a:prstGeom prst="rect">
            <a:avLst/>
          </a:prstGeom>
        </p:spPr>
        <p:txBody>
          <a:bodyPr lIns="91439" tIns="45719" rIns="91439" bIns="45719" anchor="t">
            <a:noAutofit/>
          </a:bodyPr>
          <a:lstStyle/>
          <a:p>
            <a:endParaRPr/>
          </a:p>
        </p:txBody>
      </p:sp>
      <p:sp>
        <p:nvSpPr>
          <p:cNvPr id="86" name="01"/>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引文">
    <p:spTree>
      <p:nvGrpSpPr>
        <p:cNvPr id="1" name=""/>
        <p:cNvGrpSpPr/>
        <p:nvPr/>
      </p:nvGrpSpPr>
      <p:grpSpPr>
        <a:xfrm>
          <a:off x="0" y="0"/>
          <a:ext cx="0" cy="0"/>
          <a:chOff x="0" y="0"/>
          <a:chExt cx="0" cy="0"/>
        </a:xfrm>
      </p:grpSpPr>
      <p:sp>
        <p:nvSpPr>
          <p:cNvPr id="93" name="–Johnny Appleseed"/>
          <p:cNvSpPr>
            <a:spLocks noGrp="1"/>
          </p:cNvSpPr>
          <p:nvPr>
            <p:ph type="body" sz="quarter" idx="21"/>
          </p:nvPr>
        </p:nvSpPr>
        <p:spPr>
          <a:xfrm>
            <a:off x="1270000" y="6362700"/>
            <a:ext cx="10464800" cy="469900"/>
          </a:xfrm>
          <a:prstGeom prst="rect">
            <a:avLst/>
          </a:prstGeom>
        </p:spPr>
        <p:txBody>
          <a:bodyPr anchor="t">
            <a:spAutoFit/>
          </a:bodyPr>
          <a:lstStyle>
            <a:lvl1pPr marL="0" indent="0" algn="ctr">
              <a:spcBef>
                <a:spcPts val="0"/>
              </a:spcBef>
              <a:buSzTx/>
              <a:buNone/>
              <a:defRPr sz="2400">
                <a:latin typeface="Helvetica"/>
                <a:ea typeface="Helvetica"/>
                <a:cs typeface="Helvetica"/>
                <a:sym typeface="Helvetica"/>
              </a:defRPr>
            </a:lvl1pPr>
          </a:lstStyle>
          <a:p>
            <a:r>
              <a:t>–Johnny Appleseed</a:t>
            </a:r>
          </a:p>
        </p:txBody>
      </p:sp>
      <p:sp>
        <p:nvSpPr>
          <p:cNvPr id="94" name="“在此键入引文。”"/>
          <p:cNvSpPr>
            <a:spLocks noGrp="1"/>
          </p:cNvSpPr>
          <p:nvPr>
            <p:ph type="body" sz="quarter" idx="22"/>
          </p:nvPr>
        </p:nvSpPr>
        <p:spPr>
          <a:xfrm>
            <a:off x="1270000" y="4222750"/>
            <a:ext cx="10464800" cy="774701"/>
          </a:xfrm>
          <a:prstGeom prst="rect">
            <a:avLst/>
          </a:prstGeom>
        </p:spPr>
        <p:txBody>
          <a:bodyPr>
            <a:spAutoFit/>
          </a:bodyPr>
          <a:lstStyle>
            <a:lvl1pPr marL="0" indent="0" algn="ctr">
              <a:spcBef>
                <a:spcPts val="0"/>
              </a:spcBef>
              <a:buSzTx/>
              <a:buNone/>
              <a:defRPr sz="3800"/>
            </a:lvl1pPr>
          </a:lstStyle>
          <a:p>
            <a:r>
              <a:t>“在此键入引文。”</a:t>
            </a:r>
          </a:p>
        </p:txBody>
      </p:sp>
      <p:sp>
        <p:nvSpPr>
          <p:cNvPr id="95" name="01"/>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照片">
    <p:spTree>
      <p:nvGrpSpPr>
        <p:cNvPr id="1" name=""/>
        <p:cNvGrpSpPr/>
        <p:nvPr/>
      </p:nvGrpSpPr>
      <p:grpSpPr>
        <a:xfrm>
          <a:off x="0" y="0"/>
          <a:ext cx="0" cy="0"/>
          <a:chOff x="0" y="0"/>
          <a:chExt cx="0" cy="0"/>
        </a:xfrm>
      </p:grpSpPr>
      <p:sp>
        <p:nvSpPr>
          <p:cNvPr id="102" name="110809_FamilyChineseOahu_EN_02390_2880x1921.jpeg"/>
          <p:cNvSpPr>
            <a:spLocks noGrp="1"/>
          </p:cNvSpPr>
          <p:nvPr>
            <p:ph type="pic" idx="21"/>
          </p:nvPr>
        </p:nvSpPr>
        <p:spPr>
          <a:xfrm>
            <a:off x="-812800" y="0"/>
            <a:ext cx="15232066" cy="10160000"/>
          </a:xfrm>
          <a:prstGeom prst="rect">
            <a:avLst/>
          </a:prstGeom>
        </p:spPr>
        <p:txBody>
          <a:bodyPr lIns="91439" tIns="45719" rIns="91439" bIns="45719" anchor="t">
            <a:noAutofit/>
          </a:bodyPr>
          <a:lstStyle/>
          <a:p>
            <a:endParaRPr/>
          </a:p>
        </p:txBody>
      </p:sp>
      <p:sp>
        <p:nvSpPr>
          <p:cNvPr id="103" name="01"/>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标题和内容">
    <p:spTree>
      <p:nvGrpSpPr>
        <p:cNvPr id="1" name=""/>
        <p:cNvGrpSpPr/>
        <p:nvPr/>
      </p:nvGrpSpPr>
      <p:grpSpPr>
        <a:xfrm>
          <a:off x="0" y="0"/>
          <a:ext cx="0" cy="0"/>
          <a:chOff x="0" y="0"/>
          <a:chExt cx="0" cy="0"/>
        </a:xfrm>
      </p:grpSpPr>
      <p:sp>
        <p:nvSpPr>
          <p:cNvPr id="124" name="标题文本"/>
          <p:cNvSpPr txBox="1">
            <a:spLocks noGrp="1"/>
          </p:cNvSpPr>
          <p:nvPr>
            <p:ph type="title"/>
          </p:nvPr>
        </p:nvSpPr>
        <p:spPr>
          <a:xfrm>
            <a:off x="650239" y="130952"/>
            <a:ext cx="11704322" cy="2144888"/>
          </a:xfrm>
          <a:prstGeom prst="rect">
            <a:avLst/>
          </a:prstGeom>
        </p:spPr>
        <p:txBody>
          <a:bodyPr lIns="65023" tIns="65023" rIns="65023" bIns="65023">
            <a:noAutofit/>
          </a:bodyPr>
          <a:lstStyle>
            <a:lvl1pPr defTabSz="914400">
              <a:defRPr sz="6200">
                <a:latin typeface="Arial"/>
                <a:ea typeface="Arial"/>
                <a:cs typeface="Arial"/>
                <a:sym typeface="Arial"/>
              </a:defRPr>
            </a:lvl1pPr>
          </a:lstStyle>
          <a:p>
            <a:r>
              <a:t>标题文本</a:t>
            </a:r>
          </a:p>
        </p:txBody>
      </p:sp>
      <p:sp>
        <p:nvSpPr>
          <p:cNvPr id="125" name="正文级别 1…"/>
          <p:cNvSpPr txBox="1">
            <a:spLocks noGrp="1"/>
          </p:cNvSpPr>
          <p:nvPr>
            <p:ph type="body" idx="1"/>
          </p:nvPr>
        </p:nvSpPr>
        <p:spPr>
          <a:xfrm>
            <a:off x="650239" y="2275839"/>
            <a:ext cx="11704322" cy="7477761"/>
          </a:xfrm>
          <a:prstGeom prst="rect">
            <a:avLst/>
          </a:prstGeom>
        </p:spPr>
        <p:txBody>
          <a:bodyPr lIns="65023" tIns="65023" rIns="65023" bIns="65023" anchor="t">
            <a:noAutofit/>
          </a:bodyPr>
          <a:lstStyle>
            <a:lvl1pPr marL="471487" indent="-471487" defTabSz="914400">
              <a:spcBef>
                <a:spcPts val="700"/>
              </a:spcBef>
              <a:buSzPct val="100000"/>
              <a:defRPr sz="4400">
                <a:latin typeface="Arial"/>
                <a:ea typeface="Arial"/>
                <a:cs typeface="Arial"/>
                <a:sym typeface="Arial"/>
              </a:defRPr>
            </a:lvl1pPr>
            <a:lvl2pPr marL="906235" indent="-449035" defTabSz="914400">
              <a:spcBef>
                <a:spcPts val="700"/>
              </a:spcBef>
              <a:buSzPct val="100000"/>
              <a:buChar char="–"/>
              <a:defRPr sz="4400">
                <a:latin typeface="Arial"/>
                <a:ea typeface="Arial"/>
                <a:cs typeface="Arial"/>
                <a:sym typeface="Arial"/>
              </a:defRPr>
            </a:lvl2pPr>
            <a:lvl3pPr indent="-419100" defTabSz="914400">
              <a:spcBef>
                <a:spcPts val="700"/>
              </a:spcBef>
              <a:buSzPct val="100000"/>
              <a:defRPr sz="4400">
                <a:latin typeface="Arial"/>
                <a:ea typeface="Arial"/>
                <a:cs typeface="Arial"/>
                <a:sym typeface="Arial"/>
              </a:defRPr>
            </a:lvl3pPr>
            <a:lvl4pPr marL="1874520" indent="-502920" defTabSz="914400">
              <a:spcBef>
                <a:spcPts val="700"/>
              </a:spcBef>
              <a:buSzPct val="100000"/>
              <a:buChar char="–"/>
              <a:defRPr sz="4400">
                <a:latin typeface="Arial"/>
                <a:ea typeface="Arial"/>
                <a:cs typeface="Arial"/>
                <a:sym typeface="Arial"/>
              </a:defRPr>
            </a:lvl4pPr>
            <a:lvl5pPr marL="2331720" indent="-502920" defTabSz="914400">
              <a:spcBef>
                <a:spcPts val="700"/>
              </a:spcBef>
              <a:buSzPct val="100000"/>
              <a:buChar char="»"/>
              <a:defRPr sz="4400">
                <a:latin typeface="Arial"/>
                <a:ea typeface="Arial"/>
                <a:cs typeface="Arial"/>
                <a:sym typeface="Arial"/>
              </a:defRPr>
            </a:lvl5pPr>
          </a:lstStyle>
          <a:p>
            <a:r>
              <a:t>正文级别 1</a:t>
            </a:r>
          </a:p>
          <a:p>
            <a:pPr lvl="1"/>
            <a:r>
              <a:t>正文级别 2</a:t>
            </a:r>
          </a:p>
          <a:p>
            <a:pPr lvl="2"/>
            <a:r>
              <a:t>正文级别 3</a:t>
            </a:r>
          </a:p>
          <a:p>
            <a:pPr lvl="3"/>
            <a:r>
              <a:t>正文级别 4</a:t>
            </a:r>
          </a:p>
          <a:p>
            <a:pPr lvl="4"/>
            <a:r>
              <a:t>正文级别 5</a:t>
            </a:r>
          </a:p>
        </p:txBody>
      </p:sp>
      <p:sp>
        <p:nvSpPr>
          <p:cNvPr id="126" name="01"/>
          <p:cNvSpPr txBox="1">
            <a:spLocks noGrp="1"/>
          </p:cNvSpPr>
          <p:nvPr>
            <p:ph type="sldNum" sz="quarter" idx="2"/>
          </p:nvPr>
        </p:nvSpPr>
        <p:spPr>
          <a:xfrm>
            <a:off x="9320107" y="8882098"/>
            <a:ext cx="3034454" cy="389270"/>
          </a:xfrm>
          <a:prstGeom prst="rect">
            <a:avLst/>
          </a:prstGeom>
        </p:spPr>
        <p:txBody>
          <a:bodyPr wrap="square" lIns="65023" tIns="65023" rIns="65023" bIns="65023"/>
          <a:lstStyle>
            <a:lvl1pPr algn="r" defTabSz="914400">
              <a:defRPr>
                <a:latin typeface="Arial"/>
                <a:ea typeface="Arial"/>
                <a:cs typeface="Arial"/>
                <a:sym typeface="Arial"/>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文本"/>
          <p:cNvSpPr txBox="1">
            <a:spLocks noGrp="1"/>
          </p:cNvSpPr>
          <p:nvPr>
            <p:ph type="title"/>
          </p:nvPr>
        </p:nvSpPr>
        <p:spPr>
          <a:xfrm>
            <a:off x="952500" y="444500"/>
            <a:ext cx="11099800" cy="2159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p>
            <a:r>
              <a:t>标题文本</a:t>
            </a:r>
          </a:p>
        </p:txBody>
      </p:sp>
      <p:sp>
        <p:nvSpPr>
          <p:cNvPr id="3" name="正文级别 1…"/>
          <p:cNvSpPr txBox="1">
            <a:spLocks noGrp="1"/>
          </p:cNvSpPr>
          <p:nvPr>
            <p:ph type="body" idx="1"/>
          </p:nvPr>
        </p:nvSpPr>
        <p:spPr>
          <a:xfrm>
            <a:off x="952500" y="2603500"/>
            <a:ext cx="11099800" cy="6286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p>
            <a:r>
              <a:t>正文级别 1</a:t>
            </a:r>
          </a:p>
          <a:p>
            <a:pPr lvl="1"/>
            <a:r>
              <a:t>正文级别 2</a:t>
            </a:r>
          </a:p>
          <a:p>
            <a:pPr lvl="2"/>
            <a:r>
              <a:t>正文级别 3</a:t>
            </a:r>
          </a:p>
          <a:p>
            <a:pPr lvl="3"/>
            <a:r>
              <a:t>正文级别 4</a:t>
            </a:r>
          </a:p>
          <a:p>
            <a:pPr lvl="4"/>
            <a:r>
              <a:t>正文级别 5</a:t>
            </a:r>
          </a:p>
        </p:txBody>
      </p:sp>
      <p:sp>
        <p:nvSpPr>
          <p:cNvPr id="4" name="01"/>
          <p:cNvSpPr txBox="1">
            <a:spLocks noGrp="1"/>
          </p:cNvSpPr>
          <p:nvPr>
            <p:ph type="sldNum" sz="quarter" idx="2"/>
          </p:nvPr>
        </p:nvSpPr>
        <p:spPr>
          <a:xfrm>
            <a:off x="6311798" y="9251950"/>
            <a:ext cx="368504" cy="381000"/>
          </a:xfrm>
          <a:prstGeom prst="rect">
            <a:avLst/>
          </a:prstGeom>
          <a:ln w="12700">
            <a:miter lim="400000"/>
          </a:ln>
        </p:spPr>
        <p:txBody>
          <a:bodyPr wrap="none" lIns="50800" tIns="50800" rIns="50800" bIns="50800">
            <a:spAutoFit/>
          </a:bodyPr>
          <a:lstStyle>
            <a:lvl1pPr>
              <a:defRPr sz="18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5" r:id="rId5"/>
    <p:sldLayoutId id="2147483656" r:id="rId6"/>
    <p:sldLayoutId id="2147483657" r:id="rId7"/>
    <p:sldLayoutId id="2147483658" r:id="rId8"/>
    <p:sldLayoutId id="2147483659" r:id="rId9"/>
    <p:sldLayoutId id="2147483662" r:id="rId10"/>
  </p:sldLayoutIdLst>
  <p:transition spd="med"/>
  <p:txStyles>
    <p:titleStyle>
      <a:lvl1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Light"/>
        </a:defRPr>
      </a:lvl1pPr>
      <a:lvl2pPr marL="0" marR="0" indent="22860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Light"/>
        </a:defRPr>
      </a:lvl2pPr>
      <a:lvl3pPr marL="0" marR="0" indent="45720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Light"/>
        </a:defRPr>
      </a:lvl3pPr>
      <a:lvl4pPr marL="0" marR="0" indent="68580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Light"/>
        </a:defRPr>
      </a:lvl4pPr>
      <a:lvl5pPr marL="0" marR="0" indent="91440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Light"/>
        </a:defRPr>
      </a:lvl5pPr>
      <a:lvl6pPr marL="0" marR="0" indent="114300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Light"/>
        </a:defRPr>
      </a:lvl6pPr>
      <a:lvl7pPr marL="0" marR="0" indent="137160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Light"/>
        </a:defRPr>
      </a:lvl7pPr>
      <a:lvl8pPr marL="0" marR="0" indent="160020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Light"/>
        </a:defRPr>
      </a:lvl8pPr>
      <a:lvl9pPr marL="0" marR="0" indent="182880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Light"/>
        </a:defRPr>
      </a:lvl9pPr>
    </p:titleStyle>
    <p:bodyStyle>
      <a:lvl1pPr marL="444500" marR="0" indent="-444500" algn="l" defTabSz="584200" rtl="0" latinLnBrk="0">
        <a:lnSpc>
          <a:spcPct val="100000"/>
        </a:lnSpc>
        <a:spcBef>
          <a:spcPts val="4200"/>
        </a:spcBef>
        <a:spcAft>
          <a:spcPts val="0"/>
        </a:spcAft>
        <a:buClrTx/>
        <a:buSzPct val="75000"/>
        <a:buFontTx/>
        <a:buChar char="•"/>
        <a:tabLst/>
        <a:defRPr sz="3600" b="0" i="0" u="none" strike="noStrike" cap="none" spc="0" baseline="0">
          <a:solidFill>
            <a:srgbClr val="000000"/>
          </a:solidFill>
          <a:uFillTx/>
          <a:latin typeface="+mn-lt"/>
          <a:ea typeface="+mn-ea"/>
          <a:cs typeface="+mn-cs"/>
          <a:sym typeface="Helvetica Light"/>
        </a:defRPr>
      </a:lvl1pPr>
      <a:lvl2pPr marL="889000" marR="0" indent="-444500" algn="l" defTabSz="584200" rtl="0" latinLnBrk="0">
        <a:lnSpc>
          <a:spcPct val="100000"/>
        </a:lnSpc>
        <a:spcBef>
          <a:spcPts val="4200"/>
        </a:spcBef>
        <a:spcAft>
          <a:spcPts val="0"/>
        </a:spcAft>
        <a:buClrTx/>
        <a:buSzPct val="75000"/>
        <a:buFontTx/>
        <a:buChar char="•"/>
        <a:tabLst/>
        <a:defRPr sz="3600" b="0" i="0" u="none" strike="noStrike" cap="none" spc="0" baseline="0">
          <a:solidFill>
            <a:srgbClr val="000000"/>
          </a:solidFill>
          <a:uFillTx/>
          <a:latin typeface="+mn-lt"/>
          <a:ea typeface="+mn-ea"/>
          <a:cs typeface="+mn-cs"/>
          <a:sym typeface="Helvetica Light"/>
        </a:defRPr>
      </a:lvl2pPr>
      <a:lvl3pPr marL="1333500" marR="0" indent="-444500" algn="l" defTabSz="584200" rtl="0" latinLnBrk="0">
        <a:lnSpc>
          <a:spcPct val="100000"/>
        </a:lnSpc>
        <a:spcBef>
          <a:spcPts val="4200"/>
        </a:spcBef>
        <a:spcAft>
          <a:spcPts val="0"/>
        </a:spcAft>
        <a:buClrTx/>
        <a:buSzPct val="75000"/>
        <a:buFontTx/>
        <a:buChar char="•"/>
        <a:tabLst/>
        <a:defRPr sz="3600" b="0" i="0" u="none" strike="noStrike" cap="none" spc="0" baseline="0">
          <a:solidFill>
            <a:srgbClr val="000000"/>
          </a:solidFill>
          <a:uFillTx/>
          <a:latin typeface="+mn-lt"/>
          <a:ea typeface="+mn-ea"/>
          <a:cs typeface="+mn-cs"/>
          <a:sym typeface="Helvetica Light"/>
        </a:defRPr>
      </a:lvl3pPr>
      <a:lvl4pPr marL="1778000" marR="0" indent="-444500" algn="l" defTabSz="584200" rtl="0" latinLnBrk="0">
        <a:lnSpc>
          <a:spcPct val="100000"/>
        </a:lnSpc>
        <a:spcBef>
          <a:spcPts val="4200"/>
        </a:spcBef>
        <a:spcAft>
          <a:spcPts val="0"/>
        </a:spcAft>
        <a:buClrTx/>
        <a:buSzPct val="75000"/>
        <a:buFontTx/>
        <a:buChar char="•"/>
        <a:tabLst/>
        <a:defRPr sz="3600" b="0" i="0" u="none" strike="noStrike" cap="none" spc="0" baseline="0">
          <a:solidFill>
            <a:srgbClr val="000000"/>
          </a:solidFill>
          <a:uFillTx/>
          <a:latin typeface="+mn-lt"/>
          <a:ea typeface="+mn-ea"/>
          <a:cs typeface="+mn-cs"/>
          <a:sym typeface="Helvetica Light"/>
        </a:defRPr>
      </a:lvl4pPr>
      <a:lvl5pPr marL="2222500" marR="0" indent="-444500" algn="l" defTabSz="584200" rtl="0" latinLnBrk="0">
        <a:lnSpc>
          <a:spcPct val="100000"/>
        </a:lnSpc>
        <a:spcBef>
          <a:spcPts val="4200"/>
        </a:spcBef>
        <a:spcAft>
          <a:spcPts val="0"/>
        </a:spcAft>
        <a:buClrTx/>
        <a:buSzPct val="75000"/>
        <a:buFontTx/>
        <a:buChar char="•"/>
        <a:tabLst/>
        <a:defRPr sz="3600" b="0" i="0" u="none" strike="noStrike" cap="none" spc="0" baseline="0">
          <a:solidFill>
            <a:srgbClr val="000000"/>
          </a:solidFill>
          <a:uFillTx/>
          <a:latin typeface="+mn-lt"/>
          <a:ea typeface="+mn-ea"/>
          <a:cs typeface="+mn-cs"/>
          <a:sym typeface="Helvetica Light"/>
        </a:defRPr>
      </a:lvl5pPr>
      <a:lvl6pPr marL="2667000" marR="0" indent="-444500" algn="l" defTabSz="584200" rtl="0" latinLnBrk="0">
        <a:lnSpc>
          <a:spcPct val="100000"/>
        </a:lnSpc>
        <a:spcBef>
          <a:spcPts val="4200"/>
        </a:spcBef>
        <a:spcAft>
          <a:spcPts val="0"/>
        </a:spcAft>
        <a:buClrTx/>
        <a:buSzPct val="75000"/>
        <a:buFontTx/>
        <a:buChar char="•"/>
        <a:tabLst/>
        <a:defRPr sz="3600" b="0" i="0" u="none" strike="noStrike" cap="none" spc="0" baseline="0">
          <a:solidFill>
            <a:srgbClr val="000000"/>
          </a:solidFill>
          <a:uFillTx/>
          <a:latin typeface="+mn-lt"/>
          <a:ea typeface="+mn-ea"/>
          <a:cs typeface="+mn-cs"/>
          <a:sym typeface="Helvetica Light"/>
        </a:defRPr>
      </a:lvl6pPr>
      <a:lvl7pPr marL="3111500" marR="0" indent="-444500" algn="l" defTabSz="584200" rtl="0" latinLnBrk="0">
        <a:lnSpc>
          <a:spcPct val="100000"/>
        </a:lnSpc>
        <a:spcBef>
          <a:spcPts val="4200"/>
        </a:spcBef>
        <a:spcAft>
          <a:spcPts val="0"/>
        </a:spcAft>
        <a:buClrTx/>
        <a:buSzPct val="75000"/>
        <a:buFontTx/>
        <a:buChar char="•"/>
        <a:tabLst/>
        <a:defRPr sz="3600" b="0" i="0" u="none" strike="noStrike" cap="none" spc="0" baseline="0">
          <a:solidFill>
            <a:srgbClr val="000000"/>
          </a:solidFill>
          <a:uFillTx/>
          <a:latin typeface="+mn-lt"/>
          <a:ea typeface="+mn-ea"/>
          <a:cs typeface="+mn-cs"/>
          <a:sym typeface="Helvetica Light"/>
        </a:defRPr>
      </a:lvl7pPr>
      <a:lvl8pPr marL="3556000" marR="0" indent="-444500" algn="l" defTabSz="584200" rtl="0" latinLnBrk="0">
        <a:lnSpc>
          <a:spcPct val="100000"/>
        </a:lnSpc>
        <a:spcBef>
          <a:spcPts val="4200"/>
        </a:spcBef>
        <a:spcAft>
          <a:spcPts val="0"/>
        </a:spcAft>
        <a:buClrTx/>
        <a:buSzPct val="75000"/>
        <a:buFontTx/>
        <a:buChar char="•"/>
        <a:tabLst/>
        <a:defRPr sz="3600" b="0" i="0" u="none" strike="noStrike" cap="none" spc="0" baseline="0">
          <a:solidFill>
            <a:srgbClr val="000000"/>
          </a:solidFill>
          <a:uFillTx/>
          <a:latin typeface="+mn-lt"/>
          <a:ea typeface="+mn-ea"/>
          <a:cs typeface="+mn-cs"/>
          <a:sym typeface="Helvetica Light"/>
        </a:defRPr>
      </a:lvl8pPr>
      <a:lvl9pPr marL="4000500" marR="0" indent="-444500" algn="l" defTabSz="584200" rtl="0" latinLnBrk="0">
        <a:lnSpc>
          <a:spcPct val="100000"/>
        </a:lnSpc>
        <a:spcBef>
          <a:spcPts val="4200"/>
        </a:spcBef>
        <a:spcAft>
          <a:spcPts val="0"/>
        </a:spcAft>
        <a:buClrTx/>
        <a:buSzPct val="75000"/>
        <a:buFontTx/>
        <a:buChar char="•"/>
        <a:tabLst/>
        <a:defRPr sz="3600" b="0" i="0" u="none" strike="noStrike" cap="none" spc="0" baseline="0">
          <a:solidFill>
            <a:srgbClr val="000000"/>
          </a:solidFill>
          <a:uFillTx/>
          <a:latin typeface="+mn-lt"/>
          <a:ea typeface="+mn-ea"/>
          <a:cs typeface="+mn-cs"/>
          <a:sym typeface="Helvetica Light"/>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Light"/>
        </a:defRPr>
      </a:lvl1pPr>
      <a:lvl2pPr marL="0" marR="0" indent="228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Light"/>
        </a:defRPr>
      </a:lvl2pPr>
      <a:lvl3pPr marL="0" marR="0" indent="457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Light"/>
        </a:defRPr>
      </a:lvl3pPr>
      <a:lvl4pPr marL="0" marR="0" indent="6858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Light"/>
        </a:defRPr>
      </a:lvl4pPr>
      <a:lvl5pPr marL="0" marR="0" indent="9144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Light"/>
        </a:defRPr>
      </a:lvl5pPr>
      <a:lvl6pPr marL="0" marR="0" indent="11430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Light"/>
        </a:defRPr>
      </a:lvl6pPr>
      <a:lvl7pPr marL="0" marR="0" indent="1371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Light"/>
        </a:defRPr>
      </a:lvl7pPr>
      <a:lvl8pPr marL="0" marR="0" indent="1600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Light"/>
        </a:defRPr>
      </a:lvl8pPr>
      <a:lvl9pPr marL="0" marR="0" indent="18288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C3526-9A76-521E-F2DF-D53358DDE632}"/>
            </a:ext>
          </a:extLst>
        </p:cNvPr>
        <p:cNvGrpSpPr/>
        <p:nvPr/>
      </p:nvGrpSpPr>
      <p:grpSpPr>
        <a:xfrm>
          <a:off x="0" y="0"/>
          <a:ext cx="0" cy="0"/>
          <a:chOff x="0" y="0"/>
          <a:chExt cx="0" cy="0"/>
        </a:xfrm>
      </p:grpSpPr>
      <p:sp>
        <p:nvSpPr>
          <p:cNvPr id="156" name="在面试过程中…">
            <a:extLst>
              <a:ext uri="{FF2B5EF4-FFF2-40B4-BE49-F238E27FC236}">
                <a16:creationId xmlns:a16="http://schemas.microsoft.com/office/drawing/2014/main" id="{7EBB0855-7A56-8CA9-AC71-5F6560D56410}"/>
              </a:ext>
            </a:extLst>
          </p:cNvPr>
          <p:cNvSpPr txBox="1">
            <a:spLocks noGrp="1"/>
          </p:cNvSpPr>
          <p:nvPr>
            <p:ph type="body" idx="1"/>
          </p:nvPr>
        </p:nvSpPr>
        <p:spPr>
          <a:xfrm>
            <a:off x="1" y="64402"/>
            <a:ext cx="13004799" cy="9536798"/>
          </a:xfrm>
          <a:prstGeom prst="rect">
            <a:avLst/>
          </a:prstGeom>
        </p:spPr>
        <p:txBody>
          <a:bodyPr numCol="1" spcCol="457200">
            <a:noAutofit/>
          </a:bodyPr>
          <a:lstStyle/>
          <a:p>
            <a:pPr marL="0" indent="0" defTabSz="504000">
              <a:spcBef>
                <a:spcPts val="0"/>
              </a:spcBef>
              <a:buNone/>
              <a:defRPr sz="2820" b="1">
                <a:latin typeface="Times New Roman"/>
                <a:ea typeface="Times New Roman"/>
                <a:cs typeface="Times New Roman"/>
                <a:sym typeface="Times New Roman"/>
              </a:defRPr>
            </a:pPr>
            <a:r>
              <a:rPr lang="zh-CN" altLang="en-US" sz="3200" dirty="0">
                <a:solidFill>
                  <a:srgbClr val="FF0000"/>
                </a:solidFill>
              </a:rPr>
              <a:t>选修三 </a:t>
            </a:r>
            <a:r>
              <a:rPr lang="en-US" altLang="zh-CN" sz="3200" dirty="0">
                <a:solidFill>
                  <a:srgbClr val="FF0000"/>
                </a:solidFill>
              </a:rPr>
              <a:t>U1 Reading:</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r>
              <a:rPr lang="en-US" altLang="zh-CN" sz="3200" dirty="0"/>
              <a:t>I always practice a lot to </a:t>
            </a:r>
            <a:r>
              <a:rPr lang="en-US" altLang="zh-CN" sz="3200" u="sng" dirty="0"/>
              <a:t>excel </a:t>
            </a:r>
            <a:r>
              <a:rPr lang="en-US" altLang="zh-CN" sz="3200" dirty="0"/>
              <a:t>in what I set out to do.</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r>
              <a:rPr lang="en-US" altLang="zh-CN" sz="3200" dirty="0"/>
              <a:t>Sow a thought, </a:t>
            </a:r>
            <a:r>
              <a:rPr lang="en-US" altLang="zh-CN" sz="3200" u="sng" dirty="0"/>
              <a:t>reap</a:t>
            </a:r>
            <a:r>
              <a:rPr lang="en-US" altLang="zh-CN" sz="3200" dirty="0"/>
              <a:t> an action.</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Mozart had excelled in music from a young age, which enabled him to achieve remarkable musical accomplishments. (Ma </a:t>
            </a:r>
            <a:r>
              <a:rPr lang="en-US" altLang="zh-CN" sz="3200" dirty="0" err="1"/>
              <a:t>Zhijie</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Sow a seed of kindness, and you may reap the fruit of a warm heart. (Yu Yunxi)</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The next few weeks witnessed Judy's tireless/relentless/unrelenting efforts and dedication, so it came as/was no surprise when she finally reaped the rewards of her persistence in the final round of the competition. (Zhou </a:t>
            </a:r>
            <a:r>
              <a:rPr lang="en-US" altLang="zh-CN" sz="3200" dirty="0" err="1"/>
              <a:t>Jingru</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What we reaped from the experience was more than the crops — it was the lasting and unwavering friendship forged through the physical labor and mental fulfillment we shared. (Jiang Xinyue)</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p:txBody>
      </p:sp>
    </p:spTree>
    <p:extLst>
      <p:ext uri="{BB962C8B-B14F-4D97-AF65-F5344CB8AC3E}">
        <p14:creationId xmlns:p14="http://schemas.microsoft.com/office/powerpoint/2010/main" val="34734633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6">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6">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6">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7C146-EB9E-AA07-711E-EEE6372F72CB}"/>
            </a:ext>
          </a:extLst>
        </p:cNvPr>
        <p:cNvGrpSpPr/>
        <p:nvPr/>
      </p:nvGrpSpPr>
      <p:grpSpPr>
        <a:xfrm>
          <a:off x="0" y="0"/>
          <a:ext cx="0" cy="0"/>
          <a:chOff x="0" y="0"/>
          <a:chExt cx="0" cy="0"/>
        </a:xfrm>
      </p:grpSpPr>
      <p:sp>
        <p:nvSpPr>
          <p:cNvPr id="156" name="在面试过程中…">
            <a:extLst>
              <a:ext uri="{FF2B5EF4-FFF2-40B4-BE49-F238E27FC236}">
                <a16:creationId xmlns:a16="http://schemas.microsoft.com/office/drawing/2014/main" id="{280EA5DE-1B07-F6CE-86F8-DD2EE02870B5}"/>
              </a:ext>
            </a:extLst>
          </p:cNvPr>
          <p:cNvSpPr txBox="1">
            <a:spLocks noGrp="1"/>
          </p:cNvSpPr>
          <p:nvPr>
            <p:ph type="body" idx="1"/>
          </p:nvPr>
        </p:nvSpPr>
        <p:spPr>
          <a:xfrm>
            <a:off x="1" y="64402"/>
            <a:ext cx="13004799" cy="9536798"/>
          </a:xfrm>
          <a:prstGeom prst="rect">
            <a:avLst/>
          </a:prstGeom>
        </p:spPr>
        <p:txBody>
          <a:bodyPr numCol="1" spcCol="457200">
            <a:noAutofit/>
          </a:bodyPr>
          <a:lstStyle/>
          <a:p>
            <a:pPr marL="0" indent="0" defTabSz="504000">
              <a:spcBef>
                <a:spcPts val="0"/>
              </a:spcBef>
              <a:buNone/>
              <a:defRPr sz="2820" b="1">
                <a:latin typeface="Times New Roman"/>
                <a:ea typeface="Times New Roman"/>
                <a:cs typeface="Times New Roman"/>
                <a:sym typeface="Times New Roman"/>
              </a:defRPr>
            </a:pPr>
            <a:r>
              <a:rPr lang="en-US" altLang="zh-CN" sz="3200" dirty="0"/>
              <a:t>3.</a:t>
            </a:r>
            <a:r>
              <a:rPr lang="zh-CN" altLang="en-US" sz="3200" dirty="0"/>
              <a:t> </a:t>
            </a:r>
            <a:r>
              <a:rPr lang="en-US" altLang="zh-CN" sz="3200" dirty="0"/>
              <a:t>We </a:t>
            </a:r>
            <a:r>
              <a:rPr lang="en-US" altLang="zh-CN" sz="3200" u="sng" dirty="0"/>
              <a:t>weave</a:t>
            </a:r>
            <a:r>
              <a:rPr lang="en-US" altLang="zh-CN" sz="3200" dirty="0"/>
              <a:t> a strand of it. </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Those carefree summer days of childhood wove our fates together into a lifelong friendship.</a:t>
            </a:r>
            <a:r>
              <a:rPr lang="zh-CN" altLang="en-US" sz="3200" dirty="0"/>
              <a:t> </a:t>
            </a:r>
            <a:r>
              <a:rPr lang="en-GB" altLang="zh-CN" sz="3200" dirty="0"/>
              <a:t>(Zhou </a:t>
            </a:r>
            <a:r>
              <a:rPr lang="en-GB" altLang="zh-CN" sz="3200" dirty="0" err="1"/>
              <a:t>Jingru</a:t>
            </a:r>
            <a:r>
              <a:rPr lang="en-GB" altLang="zh-CN" sz="3200" dirty="0"/>
              <a:t>)</a:t>
            </a:r>
          </a:p>
          <a:p>
            <a:pPr marL="0" indent="0" defTabSz="504000">
              <a:spcBef>
                <a:spcPts val="0"/>
              </a:spcBef>
              <a:buNone/>
              <a:defRPr sz="2820" b="1">
                <a:latin typeface="Times New Roman"/>
                <a:ea typeface="Times New Roman"/>
                <a:cs typeface="Times New Roman"/>
                <a:sym typeface="Times New Roman"/>
              </a:defRPr>
            </a:pPr>
            <a:endParaRPr lang="en-GB" altLang="zh-CN" sz="3200" dirty="0"/>
          </a:p>
          <a:p>
            <a:pPr marL="0" indent="0" defTabSz="504000">
              <a:spcBef>
                <a:spcPts val="0"/>
              </a:spcBef>
              <a:buNone/>
              <a:defRPr sz="2820" b="1">
                <a:latin typeface="Times New Roman"/>
                <a:ea typeface="Times New Roman"/>
                <a:cs typeface="Times New Roman"/>
                <a:sym typeface="Times New Roman"/>
              </a:defRPr>
            </a:pPr>
            <a:r>
              <a:rPr lang="en-GB" altLang="zh-CN" sz="3200" dirty="0"/>
              <a:t>A thread of hope wove its way through my mind as a helicopter flew over me/overhead. (Yu </a:t>
            </a:r>
            <a:r>
              <a:rPr lang="en-GB" altLang="zh-CN" sz="3200" dirty="0" err="1"/>
              <a:t>Jiayun</a:t>
            </a:r>
            <a:r>
              <a:rPr lang="en-GB" altLang="zh-CN" sz="3200" dirty="0"/>
              <a:t>)</a:t>
            </a:r>
          </a:p>
          <a:p>
            <a:pPr marL="0" indent="0" defTabSz="504000">
              <a:spcBef>
                <a:spcPts val="0"/>
              </a:spcBef>
              <a:buNone/>
              <a:defRPr sz="2820" b="1">
                <a:latin typeface="Times New Roman"/>
                <a:ea typeface="Times New Roman"/>
                <a:cs typeface="Times New Roman"/>
                <a:sym typeface="Times New Roman"/>
              </a:defRPr>
            </a:pPr>
            <a:endParaRPr lang="en-GB" altLang="zh-CN" sz="3200" dirty="0"/>
          </a:p>
          <a:p>
            <a:pPr marL="0" indent="0" defTabSz="504000">
              <a:spcBef>
                <a:spcPts val="0"/>
              </a:spcBef>
              <a:buNone/>
              <a:defRPr sz="2820" b="1">
                <a:latin typeface="Times New Roman"/>
                <a:ea typeface="Times New Roman"/>
                <a:cs typeface="Times New Roman"/>
                <a:sym typeface="Times New Roman"/>
              </a:defRPr>
            </a:pPr>
            <a:r>
              <a:rPr lang="en-GB" altLang="zh-CN" sz="3200" dirty="0"/>
              <a:t>She stroked the soft threads of the hand-woven scarf, picturing her grandmother knitting it stitch by stitch on a peaceful afternoon, golden sunlight falling/spilling on her grey hair. (Yang </a:t>
            </a:r>
            <a:r>
              <a:rPr lang="en-GB" altLang="zh-CN" sz="3200" dirty="0" err="1"/>
              <a:t>Ruixin</a:t>
            </a:r>
            <a:r>
              <a:rPr lang="en-GB" altLang="zh-CN" sz="3200" dirty="0"/>
              <a:t>)</a:t>
            </a:r>
          </a:p>
          <a:p>
            <a:pPr marL="0" indent="0" defTabSz="504000">
              <a:spcBef>
                <a:spcPts val="0"/>
              </a:spcBef>
              <a:buNone/>
              <a:defRPr sz="2820" b="1">
                <a:latin typeface="Times New Roman"/>
                <a:ea typeface="Times New Roman"/>
                <a:cs typeface="Times New Roman"/>
                <a:sym typeface="Times New Roman"/>
              </a:defRPr>
            </a:pPr>
            <a:endParaRPr lang="en-GB" altLang="zh-CN" sz="3200" dirty="0"/>
          </a:p>
          <a:p>
            <a:pPr marL="0" indent="0" defTabSz="504000">
              <a:spcBef>
                <a:spcPts val="0"/>
              </a:spcBef>
              <a:buNone/>
              <a:defRPr sz="2820" b="1">
                <a:latin typeface="Times New Roman"/>
                <a:ea typeface="Times New Roman"/>
                <a:cs typeface="Times New Roman"/>
                <a:sym typeface="Times New Roman"/>
              </a:defRPr>
            </a:pPr>
            <a:endParaRPr lang="en-GB" altLang="zh-CN" sz="3200" dirty="0"/>
          </a:p>
          <a:p>
            <a:pPr marL="0" indent="0" defTabSz="504000">
              <a:spcBef>
                <a:spcPts val="0"/>
              </a:spcBef>
              <a:buNone/>
              <a:defRPr sz="2820" b="1">
                <a:latin typeface="Times New Roman"/>
                <a:ea typeface="Times New Roman"/>
                <a:cs typeface="Times New Roman"/>
                <a:sym typeface="Times New Roman"/>
              </a:defRPr>
            </a:pPr>
            <a:endParaRPr lang="en-US" altLang="zh-CN" sz="3200" dirty="0"/>
          </a:p>
        </p:txBody>
      </p:sp>
    </p:spTree>
    <p:extLst>
      <p:ext uri="{BB962C8B-B14F-4D97-AF65-F5344CB8AC3E}">
        <p14:creationId xmlns:p14="http://schemas.microsoft.com/office/powerpoint/2010/main" val="394934390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6">
                                            <p:txEl>
                                              <p:pRg st="2" end="2"/>
                                            </p:txEl>
                                          </p:spTgt>
                                        </p:tgtEl>
                                        <p:attrNameLst>
                                          <p:attrName>style.visibility</p:attrName>
                                        </p:attrNameLst>
                                      </p:cBhvr>
                                      <p:to>
                                        <p:strVal val="visible"/>
                                      </p:to>
                                    </p:set>
                                    <p:animEffect transition="in" filter="blinds(horizontal)">
                                      <p:cBhvr>
                                        <p:cTn id="7" dur="500"/>
                                        <p:tgtEl>
                                          <p:spTgt spid="15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6">
                                            <p:txEl>
                                              <p:pRg st="4" end="4"/>
                                            </p:txEl>
                                          </p:spTgt>
                                        </p:tgtEl>
                                        <p:attrNameLst>
                                          <p:attrName>style.visibility</p:attrName>
                                        </p:attrNameLst>
                                      </p:cBhvr>
                                      <p:to>
                                        <p:strVal val="visible"/>
                                      </p:to>
                                    </p:set>
                                    <p:animEffect transition="in" filter="blinds(horizontal)">
                                      <p:cBhvr>
                                        <p:cTn id="12" dur="500"/>
                                        <p:tgtEl>
                                          <p:spTgt spid="156">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6">
                                            <p:txEl>
                                              <p:pRg st="6" end="6"/>
                                            </p:txEl>
                                          </p:spTgt>
                                        </p:tgtEl>
                                        <p:attrNameLst>
                                          <p:attrName>style.visibility</p:attrName>
                                        </p:attrNameLst>
                                      </p:cBhvr>
                                      <p:to>
                                        <p:strVal val="visible"/>
                                      </p:to>
                                    </p:set>
                                    <p:animEffect transition="in" filter="blinds(horizontal)">
                                      <p:cBhvr>
                                        <p:cTn id="17" dur="500"/>
                                        <p:tgtEl>
                                          <p:spTgt spid="15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FC9EC-D5E9-6B6B-EB38-E7123CFF0058}"/>
            </a:ext>
          </a:extLst>
        </p:cNvPr>
        <p:cNvGrpSpPr/>
        <p:nvPr/>
      </p:nvGrpSpPr>
      <p:grpSpPr>
        <a:xfrm>
          <a:off x="0" y="0"/>
          <a:ext cx="0" cy="0"/>
          <a:chOff x="0" y="0"/>
          <a:chExt cx="0" cy="0"/>
        </a:xfrm>
      </p:grpSpPr>
      <p:sp>
        <p:nvSpPr>
          <p:cNvPr id="156" name="在面试过程中…">
            <a:extLst>
              <a:ext uri="{FF2B5EF4-FFF2-40B4-BE49-F238E27FC236}">
                <a16:creationId xmlns:a16="http://schemas.microsoft.com/office/drawing/2014/main" id="{99D3DC72-83B1-9E04-E95C-615CDC778CE3}"/>
              </a:ext>
            </a:extLst>
          </p:cNvPr>
          <p:cNvSpPr txBox="1">
            <a:spLocks noGrp="1"/>
          </p:cNvSpPr>
          <p:nvPr>
            <p:ph type="body" idx="1"/>
          </p:nvPr>
        </p:nvSpPr>
        <p:spPr>
          <a:xfrm>
            <a:off x="1" y="64402"/>
            <a:ext cx="13004799" cy="9536798"/>
          </a:xfrm>
          <a:prstGeom prst="rect">
            <a:avLst/>
          </a:prstGeom>
        </p:spPr>
        <p:txBody>
          <a:bodyPr numCol="1" spcCol="457200">
            <a:noAutofit/>
          </a:bodyPr>
          <a:lstStyle/>
          <a:p>
            <a:pPr marL="0" indent="0" defTabSz="504000">
              <a:spcBef>
                <a:spcPts val="0"/>
              </a:spcBef>
              <a:buNone/>
              <a:defRPr sz="2820" b="1">
                <a:latin typeface="Times New Roman"/>
                <a:ea typeface="Times New Roman"/>
                <a:cs typeface="Times New Roman"/>
                <a:sym typeface="Times New Roman"/>
              </a:defRPr>
            </a:pPr>
            <a:r>
              <a:rPr lang="en-US" altLang="zh-CN" sz="3200" dirty="0"/>
              <a:t>4.</a:t>
            </a:r>
            <a:r>
              <a:rPr lang="zh-CN" altLang="en-US" sz="3200" dirty="0"/>
              <a:t> </a:t>
            </a:r>
            <a:r>
              <a:rPr lang="en-US" altLang="zh-CN" sz="3200" dirty="0"/>
              <a:t>Superlatives were </a:t>
            </a:r>
            <a:r>
              <a:rPr lang="en-US" altLang="zh-CN" sz="3200" u="sng" dirty="0"/>
              <a:t>inadequate</a:t>
            </a:r>
            <a:r>
              <a:rPr lang="en-US" altLang="zh-CN" sz="3200" dirty="0"/>
              <a:t> to describe these </a:t>
            </a:r>
            <a:r>
              <a:rPr lang="en-US" altLang="zh-CN" sz="3200" u="sng" dirty="0"/>
              <a:t>eventful</a:t>
            </a:r>
            <a:r>
              <a:rPr lang="en-US" altLang="zh-CN" sz="3200" dirty="0"/>
              <a:t> days.</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GB" altLang="zh-CN" sz="3200" dirty="0"/>
              <a:t>Standing on the stage, hands trembling with tension, they realized that they were inadequately </a:t>
            </a:r>
            <a:r>
              <a:rPr lang="en-GB" altLang="zh-CN" sz="3200" dirty="0" err="1"/>
              <a:t>prepaxred</a:t>
            </a:r>
            <a:r>
              <a:rPr lang="en-GB" altLang="zh-CN" sz="3200" dirty="0"/>
              <a:t>. </a:t>
            </a:r>
            <a:r>
              <a:rPr lang="en-US" altLang="zh-CN" sz="3200" dirty="0"/>
              <a:t>(Ma </a:t>
            </a:r>
            <a:r>
              <a:rPr lang="en-US" altLang="zh-CN" sz="3200" dirty="0" err="1"/>
              <a:t>Zhijie</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Totally soaked in the frustration/dejection of his failed attempt, John felt utterly inadequate as a group leader. (Zhou </a:t>
            </a:r>
            <a:r>
              <a:rPr lang="en-US" altLang="zh-CN" sz="3200" dirty="0" err="1"/>
              <a:t>Jingru</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endParaRPr lang="en-US" altLang="zh-CN" sz="3200" dirty="0"/>
          </a:p>
        </p:txBody>
      </p:sp>
    </p:spTree>
    <p:extLst>
      <p:ext uri="{BB962C8B-B14F-4D97-AF65-F5344CB8AC3E}">
        <p14:creationId xmlns:p14="http://schemas.microsoft.com/office/powerpoint/2010/main" val="284950159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6C223-CFAB-1A7F-5D71-4046A6957D47}"/>
            </a:ext>
          </a:extLst>
        </p:cNvPr>
        <p:cNvGrpSpPr/>
        <p:nvPr/>
      </p:nvGrpSpPr>
      <p:grpSpPr>
        <a:xfrm>
          <a:off x="0" y="0"/>
          <a:ext cx="0" cy="0"/>
          <a:chOff x="0" y="0"/>
          <a:chExt cx="0" cy="0"/>
        </a:xfrm>
      </p:grpSpPr>
      <p:sp>
        <p:nvSpPr>
          <p:cNvPr id="156" name="在面试过程中…">
            <a:extLst>
              <a:ext uri="{FF2B5EF4-FFF2-40B4-BE49-F238E27FC236}">
                <a16:creationId xmlns:a16="http://schemas.microsoft.com/office/drawing/2014/main" id="{A4DD2A53-7E71-E5E1-3BA5-9CEBF251BCD5}"/>
              </a:ext>
            </a:extLst>
          </p:cNvPr>
          <p:cNvSpPr txBox="1">
            <a:spLocks noGrp="1"/>
          </p:cNvSpPr>
          <p:nvPr>
            <p:ph type="body" idx="1"/>
          </p:nvPr>
        </p:nvSpPr>
        <p:spPr>
          <a:xfrm>
            <a:off x="1" y="64402"/>
            <a:ext cx="13004799" cy="9536798"/>
          </a:xfrm>
          <a:prstGeom prst="rect">
            <a:avLst/>
          </a:prstGeom>
        </p:spPr>
        <p:txBody>
          <a:bodyPr numCol="1" spcCol="457200">
            <a:noAutofit/>
          </a:bodyPr>
          <a:lstStyle/>
          <a:p>
            <a:pPr marL="0" indent="0" defTabSz="504000">
              <a:spcBef>
                <a:spcPts val="0"/>
              </a:spcBef>
              <a:buNone/>
              <a:defRPr sz="2820" b="1">
                <a:latin typeface="Times New Roman"/>
                <a:ea typeface="Times New Roman"/>
                <a:cs typeface="Times New Roman"/>
                <a:sym typeface="Times New Roman"/>
              </a:defRPr>
            </a:pPr>
            <a:r>
              <a:rPr lang="en-US" altLang="zh-CN" sz="3200" dirty="0"/>
              <a:t>4.</a:t>
            </a:r>
            <a:r>
              <a:rPr lang="zh-CN" altLang="en-US" sz="3200" dirty="0"/>
              <a:t> </a:t>
            </a:r>
            <a:r>
              <a:rPr lang="en-US" altLang="zh-CN" sz="3200" dirty="0"/>
              <a:t>Superlatives were </a:t>
            </a:r>
            <a:r>
              <a:rPr lang="en-US" altLang="zh-CN" sz="3200" u="sng" dirty="0"/>
              <a:t>inadequate</a:t>
            </a:r>
            <a:r>
              <a:rPr lang="en-US" altLang="zh-CN" sz="3200" dirty="0"/>
              <a:t> to describe these </a:t>
            </a:r>
            <a:r>
              <a:rPr lang="en-US" altLang="zh-CN" sz="3200" u="sng" dirty="0"/>
              <a:t>eventful</a:t>
            </a:r>
            <a:r>
              <a:rPr lang="en-US" altLang="zh-CN" sz="3200" dirty="0"/>
              <a:t> days.</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Not until that fateful moment did it dawn on him that sportsmanship was more than victory alone</a:t>
            </a:r>
            <a:r>
              <a:rPr lang="zh-CN" altLang="en-US" sz="3200" dirty="0"/>
              <a:t> </a:t>
            </a:r>
            <a:r>
              <a:rPr lang="en-US" altLang="zh-CN" sz="3200" dirty="0"/>
              <a:t>—</a:t>
            </a:r>
            <a:r>
              <a:rPr lang="zh-CN" altLang="en-US" sz="3200" dirty="0"/>
              <a:t> </a:t>
            </a:r>
            <a:r>
              <a:rPr lang="en-GB" altLang="zh-CN" sz="3200" dirty="0"/>
              <a:t>it was </a:t>
            </a:r>
            <a:r>
              <a:rPr lang="en-US" altLang="zh-CN" sz="3200" dirty="0"/>
              <a:t>perseverance in the face of adversity and the courage to accept failure. (Ma </a:t>
            </a:r>
            <a:r>
              <a:rPr lang="en-US" altLang="zh-CN" sz="3200" dirty="0" err="1"/>
              <a:t>Zhijie</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the eventful journey/day(s)</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All words were inadequate to describe my feelings for the eventful day</a:t>
            </a:r>
            <a:r>
              <a:rPr lang="zh-CN" altLang="en-US" sz="3200" dirty="0"/>
              <a:t> </a:t>
            </a:r>
            <a:r>
              <a:rPr lang="en-US" altLang="zh-CN" sz="3200" dirty="0"/>
              <a:t>— …(Jiang Xinyue)</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endParaRPr lang="en-US" altLang="zh-CN" sz="3200" dirty="0"/>
          </a:p>
        </p:txBody>
      </p:sp>
    </p:spTree>
    <p:extLst>
      <p:ext uri="{BB962C8B-B14F-4D97-AF65-F5344CB8AC3E}">
        <p14:creationId xmlns:p14="http://schemas.microsoft.com/office/powerpoint/2010/main" val="170387590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6">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08F72-79BA-7BD3-5DFA-3FC47FA90C53}"/>
            </a:ext>
          </a:extLst>
        </p:cNvPr>
        <p:cNvGrpSpPr/>
        <p:nvPr/>
      </p:nvGrpSpPr>
      <p:grpSpPr>
        <a:xfrm>
          <a:off x="0" y="0"/>
          <a:ext cx="0" cy="0"/>
          <a:chOff x="0" y="0"/>
          <a:chExt cx="0" cy="0"/>
        </a:xfrm>
      </p:grpSpPr>
      <p:sp>
        <p:nvSpPr>
          <p:cNvPr id="156" name="在面试过程中…">
            <a:extLst>
              <a:ext uri="{FF2B5EF4-FFF2-40B4-BE49-F238E27FC236}">
                <a16:creationId xmlns:a16="http://schemas.microsoft.com/office/drawing/2014/main" id="{BAF7D1A4-CD06-0F09-BFA5-C775E0330F44}"/>
              </a:ext>
            </a:extLst>
          </p:cNvPr>
          <p:cNvSpPr txBox="1">
            <a:spLocks noGrp="1"/>
          </p:cNvSpPr>
          <p:nvPr>
            <p:ph type="body" idx="1"/>
          </p:nvPr>
        </p:nvSpPr>
        <p:spPr>
          <a:xfrm>
            <a:off x="1" y="64402"/>
            <a:ext cx="13004799" cy="9536798"/>
          </a:xfrm>
          <a:prstGeom prst="rect">
            <a:avLst/>
          </a:prstGeom>
        </p:spPr>
        <p:txBody>
          <a:bodyPr numCol="1" spcCol="457200">
            <a:noAutofit/>
          </a:bodyPr>
          <a:lstStyle/>
          <a:p>
            <a:pPr marL="0" indent="0" defTabSz="504000">
              <a:spcBef>
                <a:spcPts val="0"/>
              </a:spcBef>
              <a:buNone/>
              <a:defRPr sz="2820" b="1">
                <a:latin typeface="Times New Roman"/>
                <a:ea typeface="Times New Roman"/>
                <a:cs typeface="Times New Roman"/>
                <a:sym typeface="Times New Roman"/>
              </a:defRPr>
            </a:pPr>
            <a:r>
              <a:rPr lang="en-US" altLang="zh-CN" sz="3200" dirty="0"/>
              <a:t>7. The being/seeing change is an </a:t>
            </a:r>
            <a:r>
              <a:rPr lang="en-US" altLang="zh-CN" sz="3200" u="sng" dirty="0"/>
              <a:t>upward</a:t>
            </a:r>
            <a:r>
              <a:rPr lang="en-US" altLang="zh-CN" sz="3200" dirty="0"/>
              <a:t> process. (/downward)</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Paralyzed on the ground, she found herself sliding/sinking into a downward spiral of despair, her eyes dimmed/dull and her face drained of all color. (Ma </a:t>
            </a:r>
            <a:r>
              <a:rPr lang="en-US" altLang="zh-CN" sz="3200" dirty="0" err="1"/>
              <a:t>Zhijie</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She was caught in a downward spiral of panic and despair, totally at a loss about what to do. (Yu </a:t>
            </a:r>
            <a:r>
              <a:rPr lang="en-US" altLang="zh-CN" sz="3200" dirty="0" err="1"/>
              <a:t>Jiayun</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endParaRPr lang="en-US" altLang="zh-CN" sz="3200" dirty="0"/>
          </a:p>
        </p:txBody>
      </p:sp>
    </p:spTree>
    <p:extLst>
      <p:ext uri="{BB962C8B-B14F-4D97-AF65-F5344CB8AC3E}">
        <p14:creationId xmlns:p14="http://schemas.microsoft.com/office/powerpoint/2010/main" val="9647744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5DE44-977E-97F1-4090-A1A52E4FFDF7}"/>
            </a:ext>
          </a:extLst>
        </p:cNvPr>
        <p:cNvGrpSpPr/>
        <p:nvPr/>
      </p:nvGrpSpPr>
      <p:grpSpPr>
        <a:xfrm>
          <a:off x="0" y="0"/>
          <a:ext cx="0" cy="0"/>
          <a:chOff x="0" y="0"/>
          <a:chExt cx="0" cy="0"/>
        </a:xfrm>
      </p:grpSpPr>
      <p:sp>
        <p:nvSpPr>
          <p:cNvPr id="156" name="在面试过程中…">
            <a:extLst>
              <a:ext uri="{FF2B5EF4-FFF2-40B4-BE49-F238E27FC236}">
                <a16:creationId xmlns:a16="http://schemas.microsoft.com/office/drawing/2014/main" id="{BB4B2FD9-B00F-51BC-A234-6F6C29C9758A}"/>
              </a:ext>
            </a:extLst>
          </p:cNvPr>
          <p:cNvSpPr txBox="1">
            <a:spLocks noGrp="1"/>
          </p:cNvSpPr>
          <p:nvPr>
            <p:ph type="body" idx="1"/>
          </p:nvPr>
        </p:nvSpPr>
        <p:spPr>
          <a:xfrm>
            <a:off x="1" y="64402"/>
            <a:ext cx="13004799" cy="9536798"/>
          </a:xfrm>
          <a:prstGeom prst="rect">
            <a:avLst/>
          </a:prstGeom>
        </p:spPr>
        <p:txBody>
          <a:bodyPr numCol="1" spcCol="457200">
            <a:noAutofit/>
          </a:bodyPr>
          <a:lstStyle/>
          <a:p>
            <a:pPr marL="0" indent="0" defTabSz="504000">
              <a:spcBef>
                <a:spcPts val="0"/>
              </a:spcBef>
              <a:buNone/>
              <a:defRPr sz="2820" b="1">
                <a:latin typeface="Times New Roman"/>
                <a:ea typeface="Times New Roman"/>
                <a:cs typeface="Times New Roman"/>
                <a:sym typeface="Times New Roman"/>
              </a:defRPr>
            </a:pPr>
            <a:r>
              <a:rPr lang="en-US" altLang="zh-CN" sz="3200" dirty="0"/>
              <a:t>8.</a:t>
            </a:r>
            <a:r>
              <a:rPr lang="zh-CN" altLang="en-US" sz="3200" dirty="0"/>
              <a:t> </a:t>
            </a:r>
            <a:r>
              <a:rPr lang="en-US" altLang="zh-CN" sz="3200" dirty="0"/>
              <a:t>It’s a change that has to be motivated by the willingness to </a:t>
            </a:r>
            <a:r>
              <a:rPr lang="en-US" altLang="zh-CN" sz="3200" u="sng" dirty="0"/>
              <a:t>subordinate</a:t>
            </a:r>
            <a:r>
              <a:rPr lang="en-US" altLang="zh-CN" sz="3200" dirty="0"/>
              <a:t> what you think you want now </a:t>
            </a:r>
            <a:r>
              <a:rPr lang="en-US" altLang="zh-CN" sz="3200" u="sng" dirty="0"/>
              <a:t>to</a:t>
            </a:r>
            <a:r>
              <a:rPr lang="en-US" altLang="zh-CN" sz="3200" dirty="0"/>
              <a:t> what you want later.</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Personal happiness should never be subordinate to social status or material</a:t>
            </a:r>
            <a:r>
              <a:rPr lang="en-GB" altLang="zh-CN" sz="3200" dirty="0"/>
              <a:t>.</a:t>
            </a:r>
            <a:r>
              <a:rPr lang="en-US" altLang="zh-CN" sz="3200" dirty="0"/>
              <a:t> </a:t>
            </a:r>
            <a:r>
              <a:rPr lang="en-GB" altLang="zh-CN" sz="3200" dirty="0"/>
              <a:t>(Gao</a:t>
            </a:r>
            <a:r>
              <a:rPr lang="en-US" altLang="zh-CN" sz="3200" dirty="0"/>
              <a:t> </a:t>
            </a:r>
            <a:r>
              <a:rPr lang="en-GB" altLang="zh-CN" sz="3200" dirty="0"/>
              <a:t>Yuxin)</a:t>
            </a:r>
            <a:endParaRPr lang="en-US" altLang="zh-CN" sz="3200" dirty="0"/>
          </a:p>
          <a:p>
            <a:pPr marL="0" indent="0" defTabSz="504000">
              <a:spcBef>
                <a:spcPts val="0"/>
              </a:spcBef>
              <a:buNone/>
              <a:defRPr sz="2820" b="1">
                <a:latin typeface="Times New Roman"/>
                <a:ea typeface="Times New Roman"/>
                <a:cs typeface="Times New Roman"/>
                <a:sym typeface="Times New Roman"/>
              </a:defRPr>
            </a:pPr>
            <a:endParaRPr lang="en-US" altLang="zh-CN" sz="3200" dirty="0"/>
          </a:p>
        </p:txBody>
      </p:sp>
    </p:spTree>
    <p:extLst>
      <p:ext uri="{BB962C8B-B14F-4D97-AF65-F5344CB8AC3E}">
        <p14:creationId xmlns:p14="http://schemas.microsoft.com/office/powerpoint/2010/main" val="111260516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15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 grpId="1"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93417-EDC4-18D4-178C-DE04AEDAEA8F}"/>
            </a:ext>
          </a:extLst>
        </p:cNvPr>
        <p:cNvGrpSpPr/>
        <p:nvPr/>
      </p:nvGrpSpPr>
      <p:grpSpPr>
        <a:xfrm>
          <a:off x="0" y="0"/>
          <a:ext cx="0" cy="0"/>
          <a:chOff x="0" y="0"/>
          <a:chExt cx="0" cy="0"/>
        </a:xfrm>
      </p:grpSpPr>
      <p:sp>
        <p:nvSpPr>
          <p:cNvPr id="156" name="在面试过程中…">
            <a:extLst>
              <a:ext uri="{FF2B5EF4-FFF2-40B4-BE49-F238E27FC236}">
                <a16:creationId xmlns:a16="http://schemas.microsoft.com/office/drawing/2014/main" id="{AA5246AF-B628-9508-DAD1-1F60C676A801}"/>
              </a:ext>
            </a:extLst>
          </p:cNvPr>
          <p:cNvSpPr txBox="1">
            <a:spLocks noGrp="1"/>
          </p:cNvSpPr>
          <p:nvPr>
            <p:ph type="body" idx="1"/>
          </p:nvPr>
        </p:nvSpPr>
        <p:spPr>
          <a:xfrm>
            <a:off x="1" y="64402"/>
            <a:ext cx="13004799" cy="9536798"/>
          </a:xfrm>
          <a:prstGeom prst="rect">
            <a:avLst/>
          </a:prstGeom>
        </p:spPr>
        <p:txBody>
          <a:bodyPr numCol="1" spcCol="457200">
            <a:noAutofit/>
          </a:bodyPr>
          <a:lstStyle/>
          <a:p>
            <a:pPr marL="0" indent="0" defTabSz="504000">
              <a:spcBef>
                <a:spcPts val="0"/>
              </a:spcBef>
              <a:buNone/>
              <a:defRPr sz="2820" b="1">
                <a:latin typeface="Times New Roman"/>
                <a:ea typeface="Times New Roman"/>
                <a:cs typeface="Times New Roman"/>
                <a:sym typeface="Times New Roman"/>
              </a:defRPr>
            </a:pPr>
            <a:r>
              <a:rPr lang="en-US" altLang="zh-CN" sz="3200" dirty="0"/>
              <a:t>9. The first of these is to be </a:t>
            </a:r>
            <a:r>
              <a:rPr lang="en-US" altLang="zh-CN" sz="3200" u="sng" dirty="0"/>
              <a:t>proactive</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GB" sz="3200" b="1" dirty="0">
                <a:sym typeface="Times New Roman"/>
              </a:rPr>
              <a:t>Sometimes a proactive strategy can work wonders when your team is struggling in the face of adversity during a game.</a:t>
            </a:r>
            <a:r>
              <a:rPr lang="en-US" altLang="zh-CN" sz="3200" dirty="0"/>
              <a:t> (Ma </a:t>
            </a:r>
            <a:r>
              <a:rPr lang="en-US" altLang="zh-CN" sz="3200" dirty="0" err="1"/>
              <a:t>Zhijie</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My</a:t>
            </a:r>
            <a:r>
              <a:rPr lang="zh-CN" altLang="en-US" sz="3200" dirty="0"/>
              <a:t> </a:t>
            </a:r>
            <a:r>
              <a:rPr lang="en-GB" altLang="zh-CN" sz="3200" dirty="0"/>
              <a:t>recipe for success is be well-prepared at any time and be proactive when opportunities arise/knock. (Zhou </a:t>
            </a:r>
            <a:r>
              <a:rPr lang="en-GB" altLang="zh-CN" sz="3200" dirty="0" err="1"/>
              <a:t>Jingru</a:t>
            </a:r>
            <a:r>
              <a:rPr lang="en-GB" altLang="zh-CN" sz="3200" dirty="0"/>
              <a:t>)</a:t>
            </a:r>
            <a:endParaRPr lang="en-US" altLang="zh-CN" sz="3200" dirty="0"/>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endParaRPr lang="en-US" altLang="zh-CN" sz="3200" dirty="0"/>
          </a:p>
        </p:txBody>
      </p:sp>
    </p:spTree>
    <p:extLst>
      <p:ext uri="{BB962C8B-B14F-4D97-AF65-F5344CB8AC3E}">
        <p14:creationId xmlns:p14="http://schemas.microsoft.com/office/powerpoint/2010/main" val="55231566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DBD72-4A1C-8065-C2DA-6868078F2670}"/>
            </a:ext>
          </a:extLst>
        </p:cNvPr>
        <p:cNvGrpSpPr/>
        <p:nvPr/>
      </p:nvGrpSpPr>
      <p:grpSpPr>
        <a:xfrm>
          <a:off x="0" y="0"/>
          <a:ext cx="0" cy="0"/>
          <a:chOff x="0" y="0"/>
          <a:chExt cx="0" cy="0"/>
        </a:xfrm>
      </p:grpSpPr>
      <p:sp>
        <p:nvSpPr>
          <p:cNvPr id="156" name="在面试过程中…">
            <a:extLst>
              <a:ext uri="{FF2B5EF4-FFF2-40B4-BE49-F238E27FC236}">
                <a16:creationId xmlns:a16="http://schemas.microsoft.com/office/drawing/2014/main" id="{B7CD0CFE-A23E-9B1B-2A95-03D6C2B72E5B}"/>
              </a:ext>
            </a:extLst>
          </p:cNvPr>
          <p:cNvSpPr txBox="1">
            <a:spLocks noGrp="1"/>
          </p:cNvSpPr>
          <p:nvPr>
            <p:ph type="body" idx="1"/>
          </p:nvPr>
        </p:nvSpPr>
        <p:spPr>
          <a:xfrm>
            <a:off x="1" y="64402"/>
            <a:ext cx="13004799" cy="9536798"/>
          </a:xfrm>
          <a:prstGeom prst="rect">
            <a:avLst/>
          </a:prstGeom>
        </p:spPr>
        <p:txBody>
          <a:bodyPr numCol="1" spcCol="457200">
            <a:noAutofit/>
          </a:bodyPr>
          <a:lstStyle/>
          <a:p>
            <a:pPr marL="0" indent="0" defTabSz="504000">
              <a:spcBef>
                <a:spcPts val="0"/>
              </a:spcBef>
              <a:buNone/>
              <a:defRPr sz="2820" b="1">
                <a:latin typeface="Times New Roman"/>
                <a:ea typeface="Times New Roman"/>
                <a:cs typeface="Times New Roman"/>
                <a:sym typeface="Times New Roman"/>
              </a:defRPr>
            </a:pPr>
            <a:r>
              <a:rPr lang="en-US" altLang="zh-CN" sz="3200" dirty="0"/>
              <a:t>10. The third habit is to list your tasks in order of </a:t>
            </a:r>
            <a:r>
              <a:rPr lang="en-US" altLang="zh-CN" sz="3200" u="sng" dirty="0"/>
              <a:t>priority</a:t>
            </a:r>
            <a:r>
              <a:rPr lang="en-US" altLang="zh-CN" sz="3200" dirty="0"/>
              <a:t>. (n.</a:t>
            </a:r>
            <a:r>
              <a:rPr lang="zh-CN" altLang="en-US" sz="3200" dirty="0"/>
              <a:t>词组造句</a:t>
            </a:r>
            <a:r>
              <a:rPr lang="en-US" altLang="zh-CN" sz="3200" dirty="0"/>
              <a:t>;v.</a:t>
            </a:r>
            <a:r>
              <a:rPr lang="zh-CN" altLang="en-US" sz="3200" dirty="0"/>
              <a:t>造句</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r>
              <a:rPr lang="en-US" altLang="zh-CN" sz="3200" dirty="0"/>
              <a:t>give priority to/prioritize</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GB" sz="3200" b="1" dirty="0">
                <a:sym typeface="Times New Roman"/>
              </a:rPr>
              <a:t>What deserves priority is …</a:t>
            </a:r>
          </a:p>
          <a:p>
            <a:pPr marL="0" indent="0" defTabSz="504000">
              <a:spcBef>
                <a:spcPts val="0"/>
              </a:spcBef>
              <a:buNone/>
              <a:defRPr sz="2820" b="1">
                <a:latin typeface="Times New Roman"/>
                <a:ea typeface="Times New Roman"/>
                <a:cs typeface="Times New Roman"/>
                <a:sym typeface="Times New Roman"/>
              </a:defRPr>
            </a:pPr>
            <a:r>
              <a:rPr lang="en-GB" altLang="zh-CN" sz="3200" b="1" dirty="0">
                <a:sym typeface="Times New Roman"/>
              </a:rPr>
              <a:t>Top priority should be given to … / </a:t>
            </a:r>
            <a:r>
              <a:rPr lang="en-GB" altLang="zh-CN" sz="3200" b="1" dirty="0" err="1">
                <a:sym typeface="Times New Roman"/>
              </a:rPr>
              <a:t>sth</a:t>
            </a:r>
            <a:r>
              <a:rPr lang="en-GB" altLang="zh-CN" sz="3200" b="1" dirty="0">
                <a:sym typeface="Times New Roman"/>
              </a:rPr>
              <a:t> should be the top priority.</a:t>
            </a:r>
            <a:endParaRPr lang="en-US" altLang="zh-CN" sz="3200" dirty="0"/>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endParaRPr lang="en-US" altLang="zh-CN" sz="3200" dirty="0"/>
          </a:p>
        </p:txBody>
      </p:sp>
    </p:spTree>
    <p:extLst>
      <p:ext uri="{BB962C8B-B14F-4D97-AF65-F5344CB8AC3E}">
        <p14:creationId xmlns:p14="http://schemas.microsoft.com/office/powerpoint/2010/main" val="203717403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45062-B11C-CFDA-561C-A7B9978015F1}"/>
            </a:ext>
          </a:extLst>
        </p:cNvPr>
        <p:cNvGrpSpPr/>
        <p:nvPr/>
      </p:nvGrpSpPr>
      <p:grpSpPr>
        <a:xfrm>
          <a:off x="0" y="0"/>
          <a:ext cx="0" cy="0"/>
          <a:chOff x="0" y="0"/>
          <a:chExt cx="0" cy="0"/>
        </a:xfrm>
      </p:grpSpPr>
      <p:sp>
        <p:nvSpPr>
          <p:cNvPr id="156" name="在面试过程中…">
            <a:extLst>
              <a:ext uri="{FF2B5EF4-FFF2-40B4-BE49-F238E27FC236}">
                <a16:creationId xmlns:a16="http://schemas.microsoft.com/office/drawing/2014/main" id="{08AFD2C5-07CC-7612-2285-BBFEF17F6973}"/>
              </a:ext>
            </a:extLst>
          </p:cNvPr>
          <p:cNvSpPr txBox="1">
            <a:spLocks noGrp="1"/>
          </p:cNvSpPr>
          <p:nvPr>
            <p:ph type="body" idx="1"/>
          </p:nvPr>
        </p:nvSpPr>
        <p:spPr>
          <a:xfrm>
            <a:off x="1" y="64402"/>
            <a:ext cx="13004799" cy="9536798"/>
          </a:xfrm>
          <a:prstGeom prst="rect">
            <a:avLst/>
          </a:prstGeom>
        </p:spPr>
        <p:txBody>
          <a:bodyPr numCol="1" spcCol="457200">
            <a:noAutofit/>
          </a:bodyPr>
          <a:lstStyle/>
          <a:p>
            <a:pPr marL="0" indent="0" defTabSz="504000">
              <a:spcBef>
                <a:spcPts val="0"/>
              </a:spcBef>
              <a:buNone/>
              <a:defRPr sz="2820" b="1">
                <a:latin typeface="Times New Roman"/>
                <a:ea typeface="Times New Roman"/>
                <a:cs typeface="Times New Roman"/>
                <a:sym typeface="Times New Roman"/>
              </a:defRPr>
            </a:pPr>
            <a:r>
              <a:rPr lang="en-US" altLang="zh-CN" sz="3200" dirty="0"/>
              <a:t>12. It is about </a:t>
            </a:r>
            <a:r>
              <a:rPr lang="en-US" altLang="zh-CN" sz="3200" u="sng" dirty="0"/>
              <a:t>renew</a:t>
            </a:r>
            <a:r>
              <a:rPr lang="en-US" altLang="zh-CN" sz="3200" dirty="0"/>
              <a:t>ing and enhancing the greatest property we have. (renewed; newfound</a:t>
            </a:r>
            <a:r>
              <a:rPr lang="zh-CN" altLang="en-US" sz="3200" dirty="0"/>
              <a:t>造句</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GB" sz="3200" b="1" dirty="0">
                <a:sym typeface="Times New Roman"/>
              </a:rPr>
              <a:t>With newfound passion, he scrambled to his feet and summoned/plucked up all his strength to sprint toward the finish line.</a:t>
            </a:r>
            <a:r>
              <a:rPr lang="en-US" altLang="zh-CN" sz="3200" dirty="0"/>
              <a:t> (Ma </a:t>
            </a:r>
            <a:r>
              <a:rPr lang="en-US" altLang="zh-CN" sz="3200" dirty="0" err="1"/>
              <a:t>Zhijie</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endParaRPr lang="en-US" altLang="zh-CN" sz="3200" dirty="0"/>
          </a:p>
        </p:txBody>
      </p:sp>
    </p:spTree>
    <p:extLst>
      <p:ext uri="{BB962C8B-B14F-4D97-AF65-F5344CB8AC3E}">
        <p14:creationId xmlns:p14="http://schemas.microsoft.com/office/powerpoint/2010/main" val="77425636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FCC81DE-6963-2405-F473-CFEE633F1747}"/>
            </a:ext>
          </a:extLst>
        </p:cNvPr>
        <p:cNvGrpSpPr/>
        <p:nvPr/>
      </p:nvGrpSpPr>
      <p:grpSpPr>
        <a:xfrm>
          <a:off x="0" y="0"/>
          <a:ext cx="0" cy="0"/>
          <a:chOff x="0" y="0"/>
          <a:chExt cx="0" cy="0"/>
        </a:xfrm>
      </p:grpSpPr>
      <p:sp>
        <p:nvSpPr>
          <p:cNvPr id="156" name="在面试过程中…">
            <a:extLst>
              <a:ext uri="{FF2B5EF4-FFF2-40B4-BE49-F238E27FC236}">
                <a16:creationId xmlns:a16="http://schemas.microsoft.com/office/drawing/2014/main" id="{35F9294B-D101-24C1-D948-068D460461DE}"/>
              </a:ext>
            </a:extLst>
          </p:cNvPr>
          <p:cNvSpPr txBox="1">
            <a:spLocks noGrp="1"/>
          </p:cNvSpPr>
          <p:nvPr>
            <p:ph type="body" idx="1"/>
          </p:nvPr>
        </p:nvSpPr>
        <p:spPr>
          <a:xfrm>
            <a:off x="1" y="64402"/>
            <a:ext cx="13004799" cy="9536798"/>
          </a:xfrm>
          <a:prstGeom prst="rect">
            <a:avLst/>
          </a:prstGeom>
        </p:spPr>
        <p:txBody>
          <a:bodyPr numCol="1" spcCol="457200">
            <a:noAutofit/>
          </a:bodyPr>
          <a:lstStyle/>
          <a:p>
            <a:pPr marL="0" indent="0" defTabSz="504000">
              <a:spcBef>
                <a:spcPts val="0"/>
              </a:spcBef>
              <a:buNone/>
              <a:defRPr sz="2820" b="1">
                <a:latin typeface="Times New Roman"/>
                <a:ea typeface="Times New Roman"/>
                <a:cs typeface="Times New Roman"/>
                <a:sym typeface="Times New Roman"/>
              </a:defRPr>
            </a:pPr>
            <a:r>
              <a:rPr lang="zh-CN" altLang="en-US" sz="3000" dirty="0">
                <a:solidFill>
                  <a:srgbClr val="FF0000"/>
                </a:solidFill>
              </a:rPr>
              <a:t>选修三 </a:t>
            </a:r>
            <a:r>
              <a:rPr lang="en-US" altLang="zh-CN" sz="3000" dirty="0">
                <a:solidFill>
                  <a:srgbClr val="FF0000"/>
                </a:solidFill>
              </a:rPr>
              <a:t>U1 Reading:</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r>
              <a:rPr lang="en-US" altLang="zh-CN" sz="3000" dirty="0"/>
              <a:t>I always practice a lot to </a:t>
            </a:r>
            <a:r>
              <a:rPr lang="en-US" altLang="zh-CN" sz="3000" u="sng" dirty="0"/>
              <a:t>excel </a:t>
            </a:r>
            <a:r>
              <a:rPr lang="en-US" altLang="zh-CN" sz="3000" dirty="0"/>
              <a:t>in what I set out to do.</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r>
              <a:rPr lang="en-US" altLang="zh-CN" sz="3000" dirty="0"/>
              <a:t>Sow a thought, </a:t>
            </a:r>
            <a:r>
              <a:rPr lang="en-US" altLang="zh-CN" sz="3000" u="sng" dirty="0"/>
              <a:t>reap</a:t>
            </a:r>
            <a:r>
              <a:rPr lang="en-US" altLang="zh-CN" sz="3000" dirty="0"/>
              <a:t> an action.</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r>
              <a:rPr lang="en-US" altLang="zh-CN" sz="3000" dirty="0"/>
              <a:t>We </a:t>
            </a:r>
            <a:r>
              <a:rPr lang="en-US" altLang="zh-CN" sz="3000" u="sng" dirty="0"/>
              <a:t>weave</a:t>
            </a:r>
            <a:r>
              <a:rPr lang="en-US" altLang="zh-CN" sz="3000" dirty="0"/>
              <a:t> a strand of it. (2</a:t>
            </a:r>
            <a:r>
              <a:rPr lang="zh-CN" altLang="en-US" sz="3000" dirty="0"/>
              <a:t>义分别造句，注意过去式</a:t>
            </a:r>
            <a:r>
              <a:rPr lang="en-US" altLang="zh-CN" sz="3000" dirty="0"/>
              <a:t>/</a:t>
            </a:r>
            <a:r>
              <a:rPr lang="zh-CN" altLang="en-US" sz="3000" dirty="0"/>
              <a:t>过去分词</a:t>
            </a:r>
            <a:r>
              <a:rPr lang="en-US" altLang="zh-CN" sz="3000" dirty="0"/>
              <a:t>)</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r>
              <a:rPr lang="en-US" altLang="zh-CN" sz="3000" dirty="0"/>
              <a:t>Superlatives were </a:t>
            </a:r>
            <a:r>
              <a:rPr lang="en-US" altLang="zh-CN" sz="3000" u="sng" dirty="0"/>
              <a:t>inadequate</a:t>
            </a:r>
            <a:r>
              <a:rPr lang="en-US" altLang="zh-CN" sz="3000" dirty="0"/>
              <a:t> to describe these </a:t>
            </a:r>
            <a:r>
              <a:rPr lang="en-US" altLang="zh-CN" sz="3000" u="sng" dirty="0"/>
              <a:t>eventful</a:t>
            </a:r>
            <a:r>
              <a:rPr lang="en-US" altLang="zh-CN" sz="3000" dirty="0"/>
              <a:t> days.</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r>
              <a:rPr lang="en-US" altLang="zh-CN" sz="3000" dirty="0"/>
              <a:t>Breaking deeply </a:t>
            </a:r>
            <a:r>
              <a:rPr lang="en-US" altLang="zh-CN" sz="3000" u="sng" dirty="0"/>
              <a:t>imbedded</a:t>
            </a:r>
            <a:r>
              <a:rPr lang="en-US" altLang="zh-CN" sz="3000" dirty="0"/>
              <a:t> habitual tendencies that </a:t>
            </a:r>
            <a:r>
              <a:rPr lang="en-US" altLang="zh-CN" sz="3000" u="sng" dirty="0"/>
              <a:t>violate</a:t>
            </a:r>
            <a:r>
              <a:rPr lang="en-US" altLang="zh-CN" sz="3000" dirty="0"/>
              <a:t> basic principles of human effectiveness involves more than a little </a:t>
            </a:r>
            <a:r>
              <a:rPr lang="en-US" altLang="zh-CN" sz="3000" u="sng" dirty="0"/>
              <a:t>willpower</a:t>
            </a:r>
            <a:r>
              <a:rPr lang="en-US" altLang="zh-CN" sz="3000" dirty="0"/>
              <a:t> and a few minor changes in our lives. (</a:t>
            </a:r>
            <a:r>
              <a:rPr lang="zh-CN" altLang="en-US" sz="3000" dirty="0"/>
              <a:t>遵守</a:t>
            </a:r>
            <a:r>
              <a:rPr lang="en-US" altLang="zh-CN" sz="3000" dirty="0"/>
              <a:t>/</a:t>
            </a:r>
            <a:r>
              <a:rPr lang="zh-CN" altLang="en-US" sz="3000" dirty="0"/>
              <a:t>违反规定；罗列</a:t>
            </a:r>
            <a:r>
              <a:rPr lang="en-US" altLang="zh-CN" sz="3000" dirty="0"/>
              <a:t>willpower</a:t>
            </a:r>
            <a:r>
              <a:rPr lang="zh-CN" altLang="en-US" sz="3000" dirty="0"/>
              <a:t>为例的人的优良品质</a:t>
            </a:r>
            <a:r>
              <a:rPr lang="en-US" altLang="zh-CN" sz="3000" dirty="0"/>
              <a:t>)</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r>
              <a:rPr lang="en-US" altLang="zh-CN" sz="3000" dirty="0"/>
              <a:t>take on a whole new </a:t>
            </a:r>
            <a:r>
              <a:rPr lang="en-US" altLang="zh-CN" sz="3000" u="sng" dirty="0"/>
              <a:t>dimension</a:t>
            </a:r>
            <a:r>
              <a:rPr lang="en-US" altLang="zh-CN" sz="3000" dirty="0"/>
              <a:t> (</a:t>
            </a:r>
            <a:r>
              <a:rPr lang="zh-CN" altLang="en-US" sz="3000" dirty="0"/>
              <a:t>给</a:t>
            </a:r>
            <a:r>
              <a:rPr lang="en-US" altLang="zh-CN" sz="3000" dirty="0"/>
              <a:t>…</a:t>
            </a:r>
            <a:r>
              <a:rPr lang="zh-CN" altLang="en-US" sz="3000" dirty="0"/>
              <a:t>增添新的内容；给</a:t>
            </a:r>
            <a:r>
              <a:rPr lang="en-US" altLang="zh-CN" sz="3000" dirty="0"/>
              <a:t>…</a:t>
            </a:r>
            <a:r>
              <a:rPr lang="zh-CN" altLang="en-US" sz="3000" dirty="0"/>
              <a:t>增添额外趣味；给</a:t>
            </a:r>
            <a:r>
              <a:rPr lang="en-US" altLang="zh-CN" sz="3000" dirty="0"/>
              <a:t>…</a:t>
            </a:r>
            <a:r>
              <a:rPr lang="zh-CN" altLang="en-US" sz="3000" dirty="0"/>
              <a:t>增添活力</a:t>
            </a:r>
            <a:r>
              <a:rPr lang="en-US" altLang="zh-CN" sz="3000" dirty="0"/>
              <a:t>)</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r>
              <a:rPr lang="en-US" altLang="zh-CN" sz="3000" dirty="0"/>
              <a:t>The being/seeing change is an </a:t>
            </a:r>
            <a:r>
              <a:rPr lang="en-US" altLang="zh-CN" sz="3000" u="sng" dirty="0"/>
              <a:t>upward</a:t>
            </a:r>
            <a:r>
              <a:rPr lang="en-US" altLang="zh-CN" sz="3000" dirty="0"/>
              <a:t> process. (/downward)</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r>
              <a:rPr lang="en-US" altLang="zh-CN" sz="3000" dirty="0"/>
              <a:t>It’s a change that has to be motivated by the willingness to </a:t>
            </a:r>
            <a:r>
              <a:rPr lang="en-US" altLang="zh-CN" sz="3000" u="sng" dirty="0"/>
              <a:t>subordinate</a:t>
            </a:r>
            <a:r>
              <a:rPr lang="en-US" altLang="zh-CN" sz="3000" dirty="0"/>
              <a:t> what you think you want now </a:t>
            </a:r>
            <a:r>
              <a:rPr lang="en-US" altLang="zh-CN" sz="3000" u="sng" dirty="0"/>
              <a:t>to</a:t>
            </a:r>
            <a:r>
              <a:rPr lang="en-US" altLang="zh-CN" sz="3000" dirty="0"/>
              <a:t> what you want later.</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r>
              <a:rPr lang="en-US" altLang="zh-CN" sz="3000" dirty="0"/>
              <a:t>The first of these is to be </a:t>
            </a:r>
            <a:r>
              <a:rPr lang="en-US" altLang="zh-CN" sz="3000" u="sng" dirty="0"/>
              <a:t>proactive</a:t>
            </a:r>
            <a:r>
              <a:rPr lang="en-US" altLang="zh-CN" sz="3000" dirty="0"/>
              <a:t>.</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r>
              <a:rPr lang="en-US" altLang="zh-CN" sz="3000" dirty="0"/>
              <a:t>The third habit is to list your tasks in order of </a:t>
            </a:r>
            <a:r>
              <a:rPr lang="en-US" altLang="zh-CN" sz="3000" u="sng" dirty="0"/>
              <a:t>priority</a:t>
            </a:r>
            <a:r>
              <a:rPr lang="en-US" altLang="zh-CN" sz="3000" dirty="0"/>
              <a:t>. (n.</a:t>
            </a:r>
            <a:r>
              <a:rPr lang="zh-CN" altLang="en-US" sz="3000" dirty="0"/>
              <a:t>词组造句</a:t>
            </a:r>
            <a:r>
              <a:rPr lang="en-US" altLang="zh-CN" sz="3000" dirty="0"/>
              <a:t>;v.</a:t>
            </a:r>
            <a:r>
              <a:rPr lang="zh-CN" altLang="en-US" sz="3000" dirty="0"/>
              <a:t>造句</a:t>
            </a:r>
            <a:r>
              <a:rPr lang="en-US" altLang="zh-CN" sz="3000" dirty="0"/>
              <a:t>)</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r>
              <a:rPr lang="en-US" altLang="zh-CN" sz="3000" dirty="0"/>
              <a:t>We should develop the ability to </a:t>
            </a:r>
            <a:r>
              <a:rPr lang="en-US" altLang="zh-CN" sz="3000" u="sng" dirty="0"/>
              <a:t>empathize</a:t>
            </a:r>
            <a:r>
              <a:rPr lang="en-US" altLang="zh-CN" sz="3000" dirty="0"/>
              <a:t> with others. (</a:t>
            </a:r>
            <a:r>
              <a:rPr lang="zh-CN" altLang="en-US" sz="3000" dirty="0"/>
              <a:t>多个词组造句：同情</a:t>
            </a:r>
            <a:r>
              <a:rPr lang="en-US" altLang="zh-CN" sz="3000" dirty="0"/>
              <a:t>/</a:t>
            </a:r>
            <a:r>
              <a:rPr lang="zh-CN" altLang="en-US" sz="3000" dirty="0"/>
              <a:t>共情</a:t>
            </a:r>
            <a:r>
              <a:rPr lang="en-US" altLang="zh-CN" sz="3000" dirty="0"/>
              <a:t>/</a:t>
            </a:r>
            <a:r>
              <a:rPr lang="zh-CN" altLang="en-US" sz="3000" dirty="0"/>
              <a:t>产生共鸣</a:t>
            </a:r>
            <a:r>
              <a:rPr lang="en-US" altLang="zh-CN" sz="3000" dirty="0"/>
              <a:t>)</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r>
              <a:rPr lang="en-US" altLang="zh-CN" sz="3000" dirty="0"/>
              <a:t>It is about </a:t>
            </a:r>
            <a:r>
              <a:rPr lang="en-US" altLang="zh-CN" sz="3000" u="sng" dirty="0"/>
              <a:t>renew</a:t>
            </a:r>
            <a:r>
              <a:rPr lang="en-US" altLang="zh-CN" sz="3000" dirty="0"/>
              <a:t>ing and enhancing the greatest property we have. (renewed; newfound</a:t>
            </a:r>
            <a:r>
              <a:rPr lang="zh-CN" altLang="en-US" sz="3000" dirty="0"/>
              <a:t>造句</a:t>
            </a:r>
            <a:r>
              <a:rPr lang="en-US" altLang="zh-CN" sz="3000" dirty="0"/>
              <a:t>)</a:t>
            </a:r>
          </a:p>
        </p:txBody>
      </p:sp>
    </p:spTree>
    <p:extLst>
      <p:ext uri="{BB962C8B-B14F-4D97-AF65-F5344CB8AC3E}">
        <p14:creationId xmlns:p14="http://schemas.microsoft.com/office/powerpoint/2010/main" val="1321767735"/>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5A023D7-A89A-7AEB-8D5E-EB43A28C0733}"/>
            </a:ext>
          </a:extLst>
        </p:cNvPr>
        <p:cNvGrpSpPr/>
        <p:nvPr/>
      </p:nvGrpSpPr>
      <p:grpSpPr>
        <a:xfrm>
          <a:off x="0" y="0"/>
          <a:ext cx="0" cy="0"/>
          <a:chOff x="0" y="0"/>
          <a:chExt cx="0" cy="0"/>
        </a:xfrm>
      </p:grpSpPr>
      <p:sp>
        <p:nvSpPr>
          <p:cNvPr id="156" name="在面试过程中…">
            <a:extLst>
              <a:ext uri="{FF2B5EF4-FFF2-40B4-BE49-F238E27FC236}">
                <a16:creationId xmlns:a16="http://schemas.microsoft.com/office/drawing/2014/main" id="{9CD7C63C-A765-F3AD-EA2C-73EE23A50A60}"/>
              </a:ext>
            </a:extLst>
          </p:cNvPr>
          <p:cNvSpPr txBox="1">
            <a:spLocks noGrp="1"/>
          </p:cNvSpPr>
          <p:nvPr>
            <p:ph type="body" idx="1"/>
          </p:nvPr>
        </p:nvSpPr>
        <p:spPr>
          <a:xfrm>
            <a:off x="1" y="64402"/>
            <a:ext cx="13004799" cy="9536798"/>
          </a:xfrm>
          <a:prstGeom prst="rect">
            <a:avLst/>
          </a:prstGeom>
        </p:spPr>
        <p:txBody>
          <a:bodyPr numCol="1" spcCol="457200">
            <a:noAutofit/>
          </a:bodyPr>
          <a:lstStyle/>
          <a:p>
            <a:pPr marL="0" indent="0" defTabSz="504000">
              <a:spcBef>
                <a:spcPts val="0"/>
              </a:spcBef>
              <a:buNone/>
              <a:defRPr sz="2820" b="1">
                <a:latin typeface="Times New Roman"/>
                <a:ea typeface="Times New Roman"/>
                <a:cs typeface="Times New Roman"/>
                <a:sym typeface="Times New Roman"/>
              </a:defRPr>
            </a:pPr>
            <a:r>
              <a:rPr lang="zh-CN" altLang="en-US" sz="3200" dirty="0">
                <a:solidFill>
                  <a:srgbClr val="FF0000"/>
                </a:solidFill>
              </a:rPr>
              <a:t>选修三 </a:t>
            </a:r>
            <a:r>
              <a:rPr lang="en-US" altLang="zh-CN" sz="3200" dirty="0">
                <a:solidFill>
                  <a:srgbClr val="FF0000"/>
                </a:solidFill>
              </a:rPr>
              <a:t>U1 Grammar:</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r>
              <a:rPr lang="en-US" altLang="zh-CN" sz="3200" dirty="0"/>
              <a:t>New models come onto the market at increasingly short </a:t>
            </a:r>
            <a:r>
              <a:rPr lang="en-US" altLang="zh-CN" sz="3200" u="sng" dirty="0"/>
              <a:t>interval</a:t>
            </a:r>
            <a:r>
              <a:rPr lang="en-US" altLang="zh-CN" sz="3200" dirty="0"/>
              <a:t>s.</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r>
              <a:rPr lang="en-US" altLang="zh-CN" sz="3200" dirty="0"/>
              <a:t>We constantly expect to </a:t>
            </a:r>
            <a:r>
              <a:rPr lang="en-US" altLang="zh-CN" sz="3200" u="sng" dirty="0"/>
              <a:t>overtake</a:t>
            </a:r>
            <a:r>
              <a:rPr lang="en-US" altLang="zh-CN" sz="3200" dirty="0"/>
              <a:t> the car in front of us.</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r>
              <a:rPr lang="en-US" altLang="zh-CN" sz="3200" dirty="0"/>
              <a:t>Our </a:t>
            </a:r>
            <a:r>
              <a:rPr lang="en-US" altLang="zh-CN" sz="3200" u="sng" dirty="0"/>
              <a:t>relentless </a:t>
            </a:r>
            <a:r>
              <a:rPr lang="en-US" altLang="zh-CN" sz="3200" dirty="0"/>
              <a:t>struggle to get things done brings with it problems.</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r>
              <a:rPr lang="en-US" altLang="zh-CN" sz="3200" dirty="0"/>
              <a:t>Doing things for fun and relaxation </a:t>
            </a:r>
            <a:r>
              <a:rPr lang="en-US" altLang="zh-CN" sz="3200" u="sng" dirty="0"/>
              <a:t>directs our attention away from </a:t>
            </a:r>
            <a:r>
              <a:rPr lang="en-US" altLang="zh-CN" sz="3200" dirty="0"/>
              <a:t>things. (divert</a:t>
            </a:r>
            <a:r>
              <a:rPr lang="zh-CN" altLang="en-US" sz="3200" dirty="0"/>
              <a:t>造句；</a:t>
            </a:r>
            <a:r>
              <a:rPr lang="en-US" altLang="zh-CN" sz="3200" dirty="0"/>
              <a:t>distract</a:t>
            </a:r>
            <a:r>
              <a:rPr lang="zh-CN" altLang="en-US" sz="3200" dirty="0"/>
              <a:t>造句</a:t>
            </a:r>
            <a:r>
              <a:rPr lang="en-US" altLang="zh-CN" sz="3200" dirty="0"/>
              <a:t>)</a:t>
            </a:r>
          </a:p>
        </p:txBody>
      </p:sp>
    </p:spTree>
    <p:extLst>
      <p:ext uri="{BB962C8B-B14F-4D97-AF65-F5344CB8AC3E}">
        <p14:creationId xmlns:p14="http://schemas.microsoft.com/office/powerpoint/2010/main" val="2817084194"/>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10E81-9946-FB59-A8A3-4A87AE0A90A5}"/>
            </a:ext>
          </a:extLst>
        </p:cNvPr>
        <p:cNvGrpSpPr/>
        <p:nvPr/>
      </p:nvGrpSpPr>
      <p:grpSpPr>
        <a:xfrm>
          <a:off x="0" y="0"/>
          <a:ext cx="0" cy="0"/>
          <a:chOff x="0" y="0"/>
          <a:chExt cx="0" cy="0"/>
        </a:xfrm>
      </p:grpSpPr>
      <p:sp>
        <p:nvSpPr>
          <p:cNvPr id="156" name="在面试过程中…">
            <a:extLst>
              <a:ext uri="{FF2B5EF4-FFF2-40B4-BE49-F238E27FC236}">
                <a16:creationId xmlns:a16="http://schemas.microsoft.com/office/drawing/2014/main" id="{783AC744-D24E-C95D-EB7D-7CF5853CCE0D}"/>
              </a:ext>
            </a:extLst>
          </p:cNvPr>
          <p:cNvSpPr txBox="1">
            <a:spLocks noGrp="1"/>
          </p:cNvSpPr>
          <p:nvPr>
            <p:ph type="body" idx="1"/>
          </p:nvPr>
        </p:nvSpPr>
        <p:spPr>
          <a:xfrm>
            <a:off x="1" y="64402"/>
            <a:ext cx="13004799" cy="9536798"/>
          </a:xfrm>
          <a:prstGeom prst="rect">
            <a:avLst/>
          </a:prstGeom>
        </p:spPr>
        <p:txBody>
          <a:bodyPr numCol="1" spcCol="457200">
            <a:noAutofit/>
          </a:bodyPr>
          <a:lstStyle/>
          <a:p>
            <a:pPr marL="0" indent="0" defTabSz="504000">
              <a:spcBef>
                <a:spcPts val="0"/>
              </a:spcBef>
              <a:buNone/>
              <a:defRPr sz="2820" b="1">
                <a:latin typeface="Times New Roman"/>
                <a:ea typeface="Times New Roman"/>
                <a:cs typeface="Times New Roman"/>
                <a:sym typeface="Times New Roman"/>
              </a:defRPr>
            </a:pPr>
            <a:r>
              <a:rPr lang="zh-CN" altLang="en-US" sz="3200" dirty="0">
                <a:solidFill>
                  <a:srgbClr val="FF0000"/>
                </a:solidFill>
              </a:rPr>
              <a:t>选修三 </a:t>
            </a:r>
            <a:r>
              <a:rPr lang="en-US" altLang="zh-CN" sz="3200" dirty="0">
                <a:solidFill>
                  <a:srgbClr val="FF0000"/>
                </a:solidFill>
              </a:rPr>
              <a:t>U1 Grammar:</a:t>
            </a: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3. Our </a:t>
            </a:r>
            <a:r>
              <a:rPr lang="en-US" altLang="zh-CN" sz="3200" u="sng" dirty="0"/>
              <a:t>relentless </a:t>
            </a:r>
            <a:r>
              <a:rPr lang="en-US" altLang="zh-CN" sz="3200" dirty="0"/>
              <a:t>struggle to get things done brings with it problems.</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Her relentless pursuit of perfection earned her the first prize at the music festival. (Xu Zhe)</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Fully conscious of his predicament, he set his mind to practice harder with relentless determination. (Yu </a:t>
            </a:r>
            <a:r>
              <a:rPr lang="en-US" altLang="zh-CN" sz="3200" dirty="0" err="1"/>
              <a:t>Jiayun</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r>
              <a:rPr lang="en-US" altLang="zh-CN" sz="3200" dirty="0"/>
              <a:t>resolved to/committed himself to…/threw himself into</a:t>
            </a:r>
          </a:p>
          <a:p>
            <a:pPr marL="0" indent="0" defTabSz="504000">
              <a:spcBef>
                <a:spcPts val="0"/>
              </a:spcBef>
              <a:buNone/>
              <a:defRPr sz="2820" b="1">
                <a:latin typeface="Times New Roman"/>
                <a:ea typeface="Times New Roman"/>
                <a:cs typeface="Times New Roman"/>
                <a:sym typeface="Times New Roman"/>
              </a:defRPr>
            </a:pPr>
            <a:r>
              <a:rPr lang="en-US" altLang="zh-CN" sz="3200" dirty="0"/>
              <a:t>with unwavering focus and relentless determination</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For most of the year, my days were filled with intensive training and relentless repetition — yet there were joyful moments that remain engraved in my heart. (Zhou </a:t>
            </a:r>
            <a:r>
              <a:rPr lang="en-US" altLang="zh-CN" sz="3200" dirty="0" err="1"/>
              <a:t>Jinru</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p:txBody>
      </p:sp>
    </p:spTree>
    <p:extLst>
      <p:ext uri="{BB962C8B-B14F-4D97-AF65-F5344CB8AC3E}">
        <p14:creationId xmlns:p14="http://schemas.microsoft.com/office/powerpoint/2010/main" val="382423956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6">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6">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6">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6">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F8B92-08EE-3515-3FD6-0978E02B0AEE}"/>
            </a:ext>
          </a:extLst>
        </p:cNvPr>
        <p:cNvGrpSpPr/>
        <p:nvPr/>
      </p:nvGrpSpPr>
      <p:grpSpPr>
        <a:xfrm>
          <a:off x="0" y="0"/>
          <a:ext cx="0" cy="0"/>
          <a:chOff x="0" y="0"/>
          <a:chExt cx="0" cy="0"/>
        </a:xfrm>
      </p:grpSpPr>
      <p:sp>
        <p:nvSpPr>
          <p:cNvPr id="156" name="在面试过程中…">
            <a:extLst>
              <a:ext uri="{FF2B5EF4-FFF2-40B4-BE49-F238E27FC236}">
                <a16:creationId xmlns:a16="http://schemas.microsoft.com/office/drawing/2014/main" id="{7C582D72-063F-8A5D-CDE7-510C8E80688C}"/>
              </a:ext>
            </a:extLst>
          </p:cNvPr>
          <p:cNvSpPr txBox="1">
            <a:spLocks noGrp="1"/>
          </p:cNvSpPr>
          <p:nvPr>
            <p:ph type="body" idx="1"/>
          </p:nvPr>
        </p:nvSpPr>
        <p:spPr>
          <a:xfrm>
            <a:off x="1" y="64402"/>
            <a:ext cx="13004799" cy="9536798"/>
          </a:xfrm>
          <a:prstGeom prst="rect">
            <a:avLst/>
          </a:prstGeom>
        </p:spPr>
        <p:txBody>
          <a:bodyPr numCol="1" spcCol="457200">
            <a:noAutofit/>
          </a:bodyPr>
          <a:lstStyle/>
          <a:p>
            <a:pPr marL="0" indent="0" defTabSz="504000">
              <a:spcBef>
                <a:spcPts val="0"/>
              </a:spcBef>
              <a:buNone/>
              <a:defRPr sz="2820" b="1">
                <a:latin typeface="Times New Roman"/>
                <a:ea typeface="Times New Roman"/>
                <a:cs typeface="Times New Roman"/>
                <a:sym typeface="Times New Roman"/>
              </a:defRPr>
            </a:pPr>
            <a:r>
              <a:rPr lang="en-US" altLang="zh-CN" sz="3200" dirty="0"/>
              <a:t>4. Doing things for fun and relaxation </a:t>
            </a:r>
            <a:r>
              <a:rPr lang="en-US" altLang="zh-CN" sz="3200" u="sng" dirty="0"/>
              <a:t>directs our attention away from </a:t>
            </a:r>
            <a:r>
              <a:rPr lang="en-US" altLang="zh-CN" sz="3200" dirty="0"/>
              <a:t>things. (divert</a:t>
            </a:r>
            <a:r>
              <a:rPr lang="zh-CN" altLang="en-US" sz="3200" dirty="0"/>
              <a:t>造句；</a:t>
            </a:r>
            <a:r>
              <a:rPr lang="en-US" altLang="zh-CN" sz="3200" dirty="0"/>
              <a:t>distract</a:t>
            </a:r>
            <a:r>
              <a:rPr lang="zh-CN" altLang="en-US" sz="3200" dirty="0"/>
              <a:t>造句</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Filming short videos to capture enjoyable moments, although meaningful, is likely to divert our attention from/distract us from our schoolwork. (Yu Yunxi)</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Struggling to sit through the boring lecture, I can’t help filling my mind with distracting thoughts. (Zhou </a:t>
            </a:r>
            <a:r>
              <a:rPr lang="en-US" altLang="zh-CN" sz="3200" dirty="0" err="1"/>
              <a:t>Jinru</a:t>
            </a:r>
            <a:r>
              <a:rPr lang="en-US" altLang="zh-CN" sz="3200" dirty="0"/>
              <a:t>)</a:t>
            </a:r>
          </a:p>
        </p:txBody>
      </p:sp>
    </p:spTree>
    <p:extLst>
      <p:ext uri="{BB962C8B-B14F-4D97-AF65-F5344CB8AC3E}">
        <p14:creationId xmlns:p14="http://schemas.microsoft.com/office/powerpoint/2010/main" val="128948885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6">
                                            <p:txEl>
                                              <p:pRg st="2" end="2"/>
                                            </p:txEl>
                                          </p:spTgt>
                                        </p:tgtEl>
                                        <p:attrNameLst>
                                          <p:attrName>style.visibility</p:attrName>
                                        </p:attrNameLst>
                                      </p:cBhvr>
                                      <p:to>
                                        <p:strVal val="visible"/>
                                      </p:to>
                                    </p:set>
                                    <p:animEffect transition="in" filter="blinds(horizontal)">
                                      <p:cBhvr>
                                        <p:cTn id="7" dur="500"/>
                                        <p:tgtEl>
                                          <p:spTgt spid="15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6">
                                            <p:txEl>
                                              <p:pRg st="4" end="4"/>
                                            </p:txEl>
                                          </p:spTgt>
                                        </p:tgtEl>
                                        <p:attrNameLst>
                                          <p:attrName>style.visibility</p:attrName>
                                        </p:attrNameLst>
                                      </p:cBhvr>
                                      <p:to>
                                        <p:strVal val="visible"/>
                                      </p:to>
                                    </p:set>
                                    <p:animEffect transition="in" filter="blinds(horizontal)">
                                      <p:cBhvr>
                                        <p:cTn id="12" dur="500"/>
                                        <p:tgtEl>
                                          <p:spTgt spid="15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7055C-952F-6DD4-046C-6CA504886309}"/>
            </a:ext>
          </a:extLst>
        </p:cNvPr>
        <p:cNvGrpSpPr/>
        <p:nvPr/>
      </p:nvGrpSpPr>
      <p:grpSpPr>
        <a:xfrm>
          <a:off x="0" y="0"/>
          <a:ext cx="0" cy="0"/>
          <a:chOff x="0" y="0"/>
          <a:chExt cx="0" cy="0"/>
        </a:xfrm>
      </p:grpSpPr>
      <p:sp>
        <p:nvSpPr>
          <p:cNvPr id="156" name="在面试过程中…">
            <a:extLst>
              <a:ext uri="{FF2B5EF4-FFF2-40B4-BE49-F238E27FC236}">
                <a16:creationId xmlns:a16="http://schemas.microsoft.com/office/drawing/2014/main" id="{3532EC28-7D8E-EC0A-7142-E3ECBFA3AE8A}"/>
              </a:ext>
            </a:extLst>
          </p:cNvPr>
          <p:cNvSpPr txBox="1">
            <a:spLocks noGrp="1"/>
          </p:cNvSpPr>
          <p:nvPr>
            <p:ph type="body" idx="1"/>
          </p:nvPr>
        </p:nvSpPr>
        <p:spPr>
          <a:xfrm>
            <a:off x="1" y="64402"/>
            <a:ext cx="13004799" cy="9536798"/>
          </a:xfrm>
          <a:prstGeom prst="rect">
            <a:avLst/>
          </a:prstGeom>
        </p:spPr>
        <p:txBody>
          <a:bodyPr numCol="1" spcCol="457200">
            <a:noAutofit/>
          </a:bodyPr>
          <a:lstStyle/>
          <a:p>
            <a:pPr marL="0" indent="0" defTabSz="504000">
              <a:spcBef>
                <a:spcPts val="0"/>
              </a:spcBef>
              <a:buNone/>
              <a:defRPr sz="2820" b="1">
                <a:latin typeface="Times New Roman"/>
                <a:ea typeface="Times New Roman"/>
                <a:cs typeface="Times New Roman"/>
                <a:sym typeface="Times New Roman"/>
              </a:defRPr>
            </a:pPr>
            <a:r>
              <a:rPr lang="zh-CN" altLang="en-US" sz="3200" dirty="0">
                <a:solidFill>
                  <a:srgbClr val="FF0000"/>
                </a:solidFill>
              </a:rPr>
              <a:t>选修三</a:t>
            </a:r>
            <a:r>
              <a:rPr lang="en-US" altLang="zh-CN" sz="3200" dirty="0">
                <a:solidFill>
                  <a:srgbClr val="FF0000"/>
                </a:solidFill>
              </a:rPr>
              <a:t>U1 Inte:</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r>
              <a:rPr lang="en-US" altLang="zh-CN" sz="3200" dirty="0"/>
              <a:t>Low self-confidence</a:t>
            </a:r>
            <a:r>
              <a:rPr lang="en-US" altLang="zh-CN" sz="3200" u="sng" dirty="0"/>
              <a:t>, in contrast, </a:t>
            </a:r>
            <a:r>
              <a:rPr lang="en-US" altLang="zh-CN" sz="3200" dirty="0"/>
              <a:t>will make you feel </a:t>
            </a:r>
            <a:r>
              <a:rPr lang="en-US" altLang="zh-CN" sz="3200" u="sng" dirty="0"/>
              <a:t>inferior to </a:t>
            </a:r>
            <a:r>
              <a:rPr lang="en-US" altLang="zh-CN" sz="3200" dirty="0"/>
              <a:t>others.</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r>
              <a:rPr lang="en-US" altLang="zh-CN" sz="3200" dirty="0"/>
              <a:t>They </a:t>
            </a:r>
            <a:r>
              <a:rPr lang="en-US" altLang="zh-CN" sz="3200" u="sng" dirty="0"/>
              <a:t>fail to fulfil expectations</a:t>
            </a:r>
            <a:r>
              <a:rPr lang="en-US" altLang="zh-CN" sz="3200" dirty="0"/>
              <a:t>. (expectation</a:t>
            </a:r>
            <a:r>
              <a:rPr lang="zh-CN" altLang="en-US" sz="3200" dirty="0"/>
              <a:t>更多词组</a:t>
            </a:r>
            <a:r>
              <a:rPr lang="en-US" altLang="zh-CN" sz="3200" dirty="0"/>
              <a:t>)</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r>
              <a:rPr lang="en-US" altLang="zh-CN" sz="3200" dirty="0"/>
              <a:t>Set realistic goals for yourself and </a:t>
            </a:r>
            <a:r>
              <a:rPr lang="en-US" altLang="zh-CN" sz="3200" u="sng" dirty="0"/>
              <a:t>visualize</a:t>
            </a:r>
            <a:r>
              <a:rPr lang="en-US" altLang="zh-CN" sz="3200" dirty="0"/>
              <a:t> yourself achieving these goals.</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I had imagined the worst outcome, but the results far exceeded our expectations. (Zhou </a:t>
            </a:r>
            <a:r>
              <a:rPr lang="en-US" altLang="zh-CN" sz="3200" dirty="0" err="1"/>
              <a:t>Jinru</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He couldn’t even visualize himself learning the alphabet in this classroom, just like the scenario he had been hoping for over the past decades. (Zhou </a:t>
            </a:r>
            <a:r>
              <a:rPr lang="en-US" altLang="zh-CN" sz="3200" dirty="0" err="1"/>
              <a:t>Jinru</a:t>
            </a:r>
            <a:r>
              <a:rPr lang="en-US" altLang="zh-CN" sz="3200" dirty="0"/>
              <a:t>)</a:t>
            </a:r>
          </a:p>
        </p:txBody>
      </p:sp>
    </p:spTree>
    <p:extLst>
      <p:ext uri="{BB962C8B-B14F-4D97-AF65-F5344CB8AC3E}">
        <p14:creationId xmlns:p14="http://schemas.microsoft.com/office/powerpoint/2010/main" val="275314700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6">
                                            <p:txEl>
                                              <p:pRg st="5" end="5"/>
                                            </p:txEl>
                                          </p:spTgt>
                                        </p:tgtEl>
                                        <p:attrNameLst>
                                          <p:attrName>style.visibility</p:attrName>
                                        </p:attrNameLst>
                                      </p:cBhvr>
                                      <p:to>
                                        <p:strVal val="visible"/>
                                      </p:to>
                                    </p:set>
                                    <p:animEffect transition="in" filter="blinds(horizontal)">
                                      <p:cBhvr>
                                        <p:cTn id="7" dur="500"/>
                                        <p:tgtEl>
                                          <p:spTgt spid="156">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6">
                                            <p:txEl>
                                              <p:pRg st="7" end="7"/>
                                            </p:txEl>
                                          </p:spTgt>
                                        </p:tgtEl>
                                        <p:attrNameLst>
                                          <p:attrName>style.visibility</p:attrName>
                                        </p:attrNameLst>
                                      </p:cBhvr>
                                      <p:to>
                                        <p:strVal val="visible"/>
                                      </p:to>
                                    </p:set>
                                    <p:animEffect transition="in" filter="blinds(horizontal)">
                                      <p:cBhvr>
                                        <p:cTn id="12" dur="500"/>
                                        <p:tgtEl>
                                          <p:spTgt spid="15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4AB751E-9E36-92E5-F9D7-567630157123}"/>
            </a:ext>
          </a:extLst>
        </p:cNvPr>
        <p:cNvGrpSpPr/>
        <p:nvPr/>
      </p:nvGrpSpPr>
      <p:grpSpPr>
        <a:xfrm>
          <a:off x="0" y="0"/>
          <a:ext cx="0" cy="0"/>
          <a:chOff x="0" y="0"/>
          <a:chExt cx="0" cy="0"/>
        </a:xfrm>
      </p:grpSpPr>
      <p:sp>
        <p:nvSpPr>
          <p:cNvPr id="156" name="在面试过程中…">
            <a:extLst>
              <a:ext uri="{FF2B5EF4-FFF2-40B4-BE49-F238E27FC236}">
                <a16:creationId xmlns:a16="http://schemas.microsoft.com/office/drawing/2014/main" id="{F6E5ED6A-0F9F-5812-13E1-E5975B40EFF8}"/>
              </a:ext>
            </a:extLst>
          </p:cNvPr>
          <p:cNvSpPr txBox="1">
            <a:spLocks noGrp="1"/>
          </p:cNvSpPr>
          <p:nvPr>
            <p:ph type="body" idx="1"/>
          </p:nvPr>
        </p:nvSpPr>
        <p:spPr>
          <a:xfrm>
            <a:off x="1" y="64402"/>
            <a:ext cx="13004799" cy="9536798"/>
          </a:xfrm>
          <a:prstGeom prst="rect">
            <a:avLst/>
          </a:prstGeom>
        </p:spPr>
        <p:txBody>
          <a:bodyPr numCol="1" spcCol="457200">
            <a:noAutofit/>
          </a:bodyPr>
          <a:lstStyle/>
          <a:p>
            <a:pPr marL="0" indent="0" defTabSz="504000">
              <a:spcBef>
                <a:spcPts val="0"/>
              </a:spcBef>
              <a:buNone/>
              <a:defRPr sz="2820" b="1">
                <a:latin typeface="Times New Roman"/>
                <a:ea typeface="Times New Roman"/>
                <a:cs typeface="Times New Roman"/>
                <a:sym typeface="Times New Roman"/>
              </a:defRPr>
            </a:pPr>
            <a:r>
              <a:rPr lang="zh-CN" altLang="en-US" sz="3200" dirty="0">
                <a:solidFill>
                  <a:srgbClr val="FF0000"/>
                </a:solidFill>
              </a:rPr>
              <a:t>选修三 </a:t>
            </a:r>
            <a:r>
              <a:rPr lang="en-US" altLang="zh-CN" sz="3200" dirty="0">
                <a:solidFill>
                  <a:srgbClr val="FF0000"/>
                </a:solidFill>
              </a:rPr>
              <a:t>U1 Ext:</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r>
              <a:rPr lang="en-US" altLang="zh-CN" sz="3200" dirty="0"/>
              <a:t>These essential activities </a:t>
            </a:r>
            <a:r>
              <a:rPr lang="en-US" altLang="zh-CN" sz="3200" u="sng" dirty="0"/>
              <a:t>take up </a:t>
            </a:r>
            <a:r>
              <a:rPr lang="en-US" altLang="zh-CN" sz="3200" dirty="0"/>
              <a:t>an enormous part of your day. (occupy</a:t>
            </a:r>
            <a:r>
              <a:rPr lang="zh-CN" altLang="en-US" sz="3200" dirty="0"/>
              <a:t>多词组造句</a:t>
            </a:r>
            <a:r>
              <a:rPr lang="en-US" altLang="zh-CN" sz="3200" dirty="0"/>
              <a:t>)</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r>
              <a:rPr lang="en-US" altLang="zh-CN" sz="3200" u="sng" dirty="0"/>
              <a:t>pursue</a:t>
            </a:r>
            <a:r>
              <a:rPr lang="en-US" altLang="zh-CN" sz="3200" dirty="0"/>
              <a:t> a hobby (+n.</a:t>
            </a:r>
            <a:r>
              <a:rPr lang="zh-CN" altLang="en-US" sz="3200" dirty="0"/>
              <a:t>造句</a:t>
            </a:r>
            <a:r>
              <a:rPr lang="en-US" altLang="zh-CN" sz="3200" dirty="0"/>
              <a:t>)</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r>
              <a:rPr lang="en-US" altLang="zh-CN" sz="3200" dirty="0"/>
              <a:t>It will keep your stress levels to a </a:t>
            </a:r>
            <a:r>
              <a:rPr lang="en-US" altLang="zh-CN" sz="3200" u="sng" dirty="0"/>
              <a:t>minimum</a:t>
            </a:r>
            <a:r>
              <a:rPr lang="en-US" altLang="zh-CN" sz="3200" dirty="0"/>
              <a:t>, leading to a more positive </a:t>
            </a:r>
            <a:r>
              <a:rPr lang="en-US" altLang="zh-CN" sz="3200" u="sng" dirty="0"/>
              <a:t>outlook </a:t>
            </a:r>
            <a:r>
              <a:rPr lang="en-US" altLang="zh-CN" sz="3200" dirty="0"/>
              <a:t>on life. (+maximize)</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r>
              <a:rPr lang="en-US" altLang="zh-CN" sz="3200" dirty="0"/>
              <a:t>Get into the habit of thinking about </a:t>
            </a:r>
            <a:r>
              <a:rPr lang="en-US" altLang="zh-CN" sz="3200" u="sng" dirty="0"/>
              <a:t>upcoming</a:t>
            </a:r>
            <a:r>
              <a:rPr lang="en-US" altLang="zh-CN" sz="3200" dirty="0"/>
              <a:t> events. (+ongoing)</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r>
              <a:rPr lang="en-US" altLang="zh-CN" sz="3200" dirty="0"/>
              <a:t>…so</a:t>
            </a:r>
            <a:r>
              <a:rPr lang="zh-CN" altLang="en-US" sz="3200" dirty="0"/>
              <a:t> </a:t>
            </a:r>
            <a:r>
              <a:rPr lang="en-US" altLang="zh-CN" sz="3200" dirty="0"/>
              <a:t>that</a:t>
            </a:r>
            <a:r>
              <a:rPr lang="zh-CN" altLang="en-US" sz="3200" dirty="0"/>
              <a:t> </a:t>
            </a:r>
            <a:r>
              <a:rPr lang="en-US" altLang="zh-CN" sz="3200" dirty="0"/>
              <a:t>you</a:t>
            </a:r>
            <a:r>
              <a:rPr lang="zh-CN" altLang="en-US" sz="3200" dirty="0"/>
              <a:t> </a:t>
            </a:r>
            <a:r>
              <a:rPr lang="en-US" altLang="zh-CN" sz="3200" dirty="0"/>
              <a:t>know</a:t>
            </a:r>
            <a:r>
              <a:rPr lang="zh-CN" altLang="en-US" sz="3200" dirty="0"/>
              <a:t> </a:t>
            </a:r>
            <a:r>
              <a:rPr lang="en-US" altLang="zh-CN" sz="3200" dirty="0"/>
              <a:t>all</a:t>
            </a:r>
            <a:r>
              <a:rPr lang="zh-CN" altLang="en-US" sz="3200" dirty="0"/>
              <a:t> </a:t>
            </a:r>
            <a:r>
              <a:rPr lang="en-US" altLang="zh-CN" sz="3200" dirty="0"/>
              <a:t>the</a:t>
            </a:r>
            <a:r>
              <a:rPr lang="zh-CN" altLang="en-US" sz="3200" dirty="0"/>
              <a:t> </a:t>
            </a:r>
            <a:r>
              <a:rPr lang="en-US" altLang="zh-CN" sz="3200" dirty="0"/>
              <a:t>dates and can prepare </a:t>
            </a:r>
            <a:r>
              <a:rPr lang="en-US" altLang="zh-CN" sz="3200" u="sng" dirty="0"/>
              <a:t>accordingly</a:t>
            </a:r>
            <a:r>
              <a:rPr lang="en-US" altLang="zh-CN" sz="3200" dirty="0"/>
              <a:t>.</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r>
              <a:rPr lang="en-US" altLang="zh-CN" sz="3200" dirty="0"/>
              <a:t>You are in a tidy place, </a:t>
            </a:r>
            <a:r>
              <a:rPr lang="en-US" altLang="zh-CN" sz="3200" u="sng" dirty="0"/>
              <a:t>free from distractions</a:t>
            </a:r>
            <a:r>
              <a:rPr lang="en-US" altLang="zh-CN" sz="3200" dirty="0"/>
              <a:t>.</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r>
              <a:rPr lang="en-US" altLang="zh-CN" sz="3200" dirty="0"/>
              <a:t>You should </a:t>
            </a:r>
            <a:r>
              <a:rPr lang="en-US" altLang="zh-CN" sz="3200" u="sng" dirty="0"/>
              <a:t>classify</a:t>
            </a:r>
            <a:r>
              <a:rPr lang="en-US" altLang="zh-CN" sz="3200" dirty="0"/>
              <a:t> the activities in the four areas. (</a:t>
            </a:r>
            <a:r>
              <a:rPr lang="zh-CN" altLang="en-US" sz="3200" dirty="0"/>
              <a:t>辨</a:t>
            </a:r>
            <a:r>
              <a:rPr lang="en-US" altLang="zh-CN" sz="3200" dirty="0"/>
              <a:t>clarify</a:t>
            </a:r>
            <a:r>
              <a:rPr lang="zh-CN" altLang="en-US" sz="3200" dirty="0"/>
              <a:t>造句</a:t>
            </a:r>
            <a:r>
              <a:rPr lang="en-US" altLang="zh-CN" sz="3200" dirty="0"/>
              <a:t>)</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r>
              <a:rPr lang="en-US" altLang="zh-CN" sz="3200" dirty="0"/>
              <a:t>It is important not to let </a:t>
            </a:r>
            <a:r>
              <a:rPr lang="en-US" altLang="zh-CN" sz="3200" u="sng" dirty="0"/>
              <a:t>the quest for </a:t>
            </a:r>
            <a:r>
              <a:rPr lang="en-US" altLang="zh-CN" sz="3200" dirty="0"/>
              <a:t>short-term rewards influence you.</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r>
              <a:rPr lang="en-US" altLang="zh-CN" sz="3200" dirty="0"/>
              <a:t>If you are willing to </a:t>
            </a:r>
            <a:r>
              <a:rPr lang="en-US" altLang="zh-CN" sz="3200" u="sng" dirty="0"/>
              <a:t>squeeze</a:t>
            </a:r>
            <a:r>
              <a:rPr lang="en-US" altLang="zh-CN" sz="3200" dirty="0"/>
              <a:t>, you will always get some.</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r>
              <a:rPr lang="en-US" altLang="zh-CN" sz="3200" dirty="0"/>
              <a:t>A mind map is a diagram that consists of a central idea with related ideas </a:t>
            </a:r>
            <a:r>
              <a:rPr lang="en-US" altLang="zh-CN" sz="3200" u="sng" dirty="0"/>
              <a:t>branching out</a:t>
            </a:r>
            <a:r>
              <a:rPr lang="en-US" altLang="zh-CN" sz="3200" dirty="0"/>
              <a:t>, </a:t>
            </a:r>
            <a:r>
              <a:rPr lang="en-US" altLang="zh-CN" sz="3200" u="sng" dirty="0"/>
              <a:t>all arranged in an interconnected manner</a:t>
            </a:r>
            <a:r>
              <a:rPr lang="en-US" altLang="zh-CN" sz="3200" dirty="0"/>
              <a:t>. (all…</a:t>
            </a:r>
            <a:r>
              <a:rPr lang="zh-CN" altLang="en-US" sz="3200" dirty="0"/>
              <a:t>独立主格</a:t>
            </a:r>
            <a:r>
              <a:rPr lang="en-US" altLang="zh-CN" sz="3200" dirty="0"/>
              <a:t>)</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r>
              <a:rPr lang="en-US" altLang="zh-CN" sz="3200" dirty="0"/>
              <a:t>It is helpful </a:t>
            </a:r>
            <a:r>
              <a:rPr lang="en-US" altLang="zh-CN" sz="3200" u="sng" dirty="0"/>
              <a:t>as long as </a:t>
            </a:r>
            <a:r>
              <a:rPr lang="en-US" altLang="zh-CN" sz="3200" dirty="0"/>
              <a:t>there is information to organize. (+only if; if only; as if; </a:t>
            </a:r>
            <a:r>
              <a:rPr lang="zh-CN" altLang="en-US" sz="3200" dirty="0"/>
              <a:t>整理更多连词：时间</a:t>
            </a:r>
            <a:r>
              <a:rPr lang="en-US" altLang="zh-CN" sz="3200" dirty="0"/>
              <a:t>/</a:t>
            </a:r>
            <a:r>
              <a:rPr lang="zh-CN" altLang="en-US" sz="3200" dirty="0"/>
              <a:t>转折</a:t>
            </a:r>
            <a:r>
              <a:rPr lang="en-US" altLang="zh-CN" sz="3200" dirty="0"/>
              <a:t>/</a:t>
            </a:r>
            <a:r>
              <a:rPr lang="zh-CN" altLang="en-US" sz="3200" dirty="0"/>
              <a:t>对比</a:t>
            </a:r>
            <a:r>
              <a:rPr lang="en-US" altLang="zh-CN" sz="3200" dirty="0"/>
              <a:t>/</a:t>
            </a:r>
            <a:r>
              <a:rPr lang="zh-CN" altLang="en-US" sz="3200" dirty="0"/>
              <a:t>让步；副词：因果</a:t>
            </a:r>
            <a:r>
              <a:rPr lang="en-US" altLang="zh-CN" sz="3200" dirty="0"/>
              <a:t>/</a:t>
            </a:r>
            <a:r>
              <a:rPr lang="zh-CN" altLang="en-US" sz="3200" dirty="0"/>
              <a:t>递进</a:t>
            </a:r>
            <a:r>
              <a:rPr lang="en-US" altLang="zh-CN" sz="3200" dirty="0"/>
              <a:t>/</a:t>
            </a:r>
            <a:r>
              <a:rPr lang="zh-CN" altLang="en-US" sz="3200" dirty="0"/>
              <a:t>转折</a:t>
            </a:r>
            <a:r>
              <a:rPr lang="en-US" altLang="zh-CN" sz="3200" dirty="0"/>
              <a:t>)</a:t>
            </a:r>
          </a:p>
        </p:txBody>
      </p:sp>
    </p:spTree>
    <p:extLst>
      <p:ext uri="{BB962C8B-B14F-4D97-AF65-F5344CB8AC3E}">
        <p14:creationId xmlns:p14="http://schemas.microsoft.com/office/powerpoint/2010/main" val="3906894688"/>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5DCB6-8773-8653-96D7-E6C112B34F6C}"/>
            </a:ext>
          </a:extLst>
        </p:cNvPr>
        <p:cNvGrpSpPr/>
        <p:nvPr/>
      </p:nvGrpSpPr>
      <p:grpSpPr>
        <a:xfrm>
          <a:off x="0" y="0"/>
          <a:ext cx="0" cy="0"/>
          <a:chOff x="0" y="0"/>
          <a:chExt cx="0" cy="0"/>
        </a:xfrm>
      </p:grpSpPr>
      <p:sp>
        <p:nvSpPr>
          <p:cNvPr id="156" name="在面试过程中…">
            <a:extLst>
              <a:ext uri="{FF2B5EF4-FFF2-40B4-BE49-F238E27FC236}">
                <a16:creationId xmlns:a16="http://schemas.microsoft.com/office/drawing/2014/main" id="{49F44419-CBC5-DE34-F311-A3CEAEF2D363}"/>
              </a:ext>
            </a:extLst>
          </p:cNvPr>
          <p:cNvSpPr txBox="1">
            <a:spLocks noGrp="1"/>
          </p:cNvSpPr>
          <p:nvPr>
            <p:ph type="body" idx="1"/>
          </p:nvPr>
        </p:nvSpPr>
        <p:spPr>
          <a:xfrm>
            <a:off x="1" y="64402"/>
            <a:ext cx="13004799" cy="9536798"/>
          </a:xfrm>
          <a:prstGeom prst="rect">
            <a:avLst/>
          </a:prstGeom>
        </p:spPr>
        <p:txBody>
          <a:bodyPr numCol="1" spcCol="457200">
            <a:noAutofit/>
          </a:bodyPr>
          <a:lstStyle/>
          <a:p>
            <a:pPr marL="0" indent="0" defTabSz="504000">
              <a:spcBef>
                <a:spcPts val="0"/>
              </a:spcBef>
              <a:buNone/>
              <a:defRPr sz="2820" b="1">
                <a:latin typeface="Times New Roman"/>
                <a:ea typeface="Times New Roman"/>
                <a:cs typeface="Times New Roman"/>
                <a:sym typeface="Times New Roman"/>
              </a:defRPr>
            </a:pPr>
            <a:r>
              <a:rPr lang="zh-CN" altLang="en-US" sz="3200" dirty="0">
                <a:solidFill>
                  <a:srgbClr val="FF0000"/>
                </a:solidFill>
              </a:rPr>
              <a:t>选修三 </a:t>
            </a:r>
            <a:r>
              <a:rPr lang="en-US" altLang="zh-CN" sz="3200" dirty="0">
                <a:solidFill>
                  <a:srgbClr val="FF0000"/>
                </a:solidFill>
              </a:rPr>
              <a:t>U1 Ext:</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r>
              <a:rPr lang="en-US" altLang="zh-CN" sz="3200" dirty="0"/>
              <a:t>These essential activities </a:t>
            </a:r>
            <a:r>
              <a:rPr lang="en-US" altLang="zh-CN" sz="3200" u="sng" dirty="0"/>
              <a:t>take up </a:t>
            </a:r>
            <a:r>
              <a:rPr lang="en-US" altLang="zh-CN" sz="3200" dirty="0"/>
              <a:t>an enormous part of your day. (occupy</a:t>
            </a:r>
            <a:r>
              <a:rPr lang="zh-CN" altLang="en-US" sz="3200" dirty="0"/>
              <a:t>多词组造句</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For weeks, I was occupied with guilt, visualizing how satisfied she would be if I had trained harder. (Zhou </a:t>
            </a:r>
            <a:r>
              <a:rPr lang="en-US" altLang="zh-CN" sz="3200" dirty="0" err="1"/>
              <a:t>Jingru</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r>
              <a:rPr lang="en-US" altLang="zh-CN" sz="3200" dirty="0"/>
              <a:t>He occupied himself with countless tasks to avoid thinking about the painful truth. (Ren Sitong)</a:t>
            </a:r>
          </a:p>
          <a:p>
            <a:pPr marL="0" indent="0" defTabSz="504000">
              <a:spcBef>
                <a:spcPts val="0"/>
              </a:spcBef>
              <a:buNone/>
              <a:defRPr sz="2820" b="1">
                <a:latin typeface="Times New Roman"/>
                <a:ea typeface="Times New Roman"/>
                <a:cs typeface="Times New Roman"/>
                <a:sym typeface="Times New Roman"/>
              </a:defRPr>
            </a:pPr>
            <a:r>
              <a:rPr lang="en-US" altLang="zh-CN" sz="3200" dirty="0"/>
              <a:t>He decided to take up photography during the summer break, simply to see the world through a different lens/from a fresh perspective.</a:t>
            </a:r>
            <a:r>
              <a:rPr lang="zh-CN" altLang="en-US" sz="3200" dirty="0"/>
              <a:t> </a:t>
            </a:r>
            <a:r>
              <a:rPr lang="en-GB" altLang="zh-CN" sz="3200" dirty="0"/>
              <a:t>(Xu </a:t>
            </a:r>
            <a:r>
              <a:rPr lang="en-GB" altLang="zh-CN" sz="3200" dirty="0" err="1"/>
              <a:t>Kejia</a:t>
            </a:r>
            <a:r>
              <a:rPr lang="en-GB" altLang="zh-CN" sz="3200" dirty="0"/>
              <a:t>)</a:t>
            </a:r>
          </a:p>
          <a:p>
            <a:pPr marL="0" indent="0" defTabSz="504000">
              <a:spcBef>
                <a:spcPts val="0"/>
              </a:spcBef>
              <a:buNone/>
              <a:defRPr sz="2820" b="1">
                <a:latin typeface="Times New Roman"/>
                <a:ea typeface="Times New Roman"/>
                <a:cs typeface="Times New Roman"/>
                <a:sym typeface="Times New Roman"/>
              </a:defRPr>
            </a:pPr>
            <a:r>
              <a:rPr lang="en-US" altLang="zh-CN" sz="3200" dirty="0"/>
              <a:t>The exam </a:t>
            </a:r>
            <a:r>
              <a:rPr lang="en-US" altLang="zh-CN" sz="3200" dirty="0">
                <a:solidFill>
                  <a:srgbClr val="FF0000"/>
                </a:solidFill>
              </a:rPr>
              <a:t>preoccupied my thoughts/mind</a:t>
            </a:r>
            <a:r>
              <a:rPr lang="en-US" altLang="zh-CN" sz="3200" dirty="0"/>
              <a:t> to such an extent that I could focus on nothing. (Yu </a:t>
            </a:r>
            <a:r>
              <a:rPr lang="en-US" altLang="zh-CN" sz="3200" dirty="0" err="1"/>
              <a:t>Jiayun</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r>
              <a:rPr lang="en-US" altLang="zh-CN" sz="3200" dirty="0"/>
              <a:t>be preoccupied with …</a:t>
            </a:r>
          </a:p>
        </p:txBody>
      </p:sp>
    </p:spTree>
    <p:extLst>
      <p:ext uri="{BB962C8B-B14F-4D97-AF65-F5344CB8AC3E}">
        <p14:creationId xmlns:p14="http://schemas.microsoft.com/office/powerpoint/2010/main" val="41730959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6">
                                            <p:bg/>
                                          </p:spTgt>
                                        </p:tgtEl>
                                        <p:attrNameLst>
                                          <p:attrName>style.visibility</p:attrName>
                                        </p:attrNameLst>
                                      </p:cBhvr>
                                      <p:to>
                                        <p:strVal val="visible"/>
                                      </p:to>
                                    </p:set>
                                    <p:animEffect transition="in" filter="blinds(horizontal)">
                                      <p:cBhvr>
                                        <p:cTn id="7" dur="500"/>
                                        <p:tgtEl>
                                          <p:spTgt spid="156">
                                            <p:bg/>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6">
                                            <p:txEl>
                                              <p:pRg st="0" end="0"/>
                                            </p:txEl>
                                          </p:spTgt>
                                        </p:tgtEl>
                                        <p:attrNameLst>
                                          <p:attrName>style.visibility</p:attrName>
                                        </p:attrNameLst>
                                      </p:cBhvr>
                                      <p:to>
                                        <p:strVal val="visible"/>
                                      </p:to>
                                    </p:set>
                                    <p:animEffect transition="in" filter="blinds(horizontal)">
                                      <p:cBhvr>
                                        <p:cTn id="12" dur="500"/>
                                        <p:tgtEl>
                                          <p:spTgt spid="15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6">
                                            <p:txEl>
                                              <p:pRg st="1" end="1"/>
                                            </p:txEl>
                                          </p:spTgt>
                                        </p:tgtEl>
                                        <p:attrNameLst>
                                          <p:attrName>style.visibility</p:attrName>
                                        </p:attrNameLst>
                                      </p:cBhvr>
                                      <p:to>
                                        <p:strVal val="visible"/>
                                      </p:to>
                                    </p:set>
                                    <p:animEffect transition="in" filter="blinds(horizontal)">
                                      <p:cBhvr>
                                        <p:cTn id="17" dur="500"/>
                                        <p:tgtEl>
                                          <p:spTgt spid="15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56">
                                            <p:txEl>
                                              <p:pRg st="3" end="3"/>
                                            </p:txEl>
                                          </p:spTgt>
                                        </p:tgtEl>
                                        <p:attrNameLst>
                                          <p:attrName>style.visibility</p:attrName>
                                        </p:attrNameLst>
                                      </p:cBhvr>
                                      <p:to>
                                        <p:strVal val="visible"/>
                                      </p:to>
                                    </p:set>
                                    <p:animEffect transition="in" filter="blinds(horizontal)">
                                      <p:cBhvr>
                                        <p:cTn id="22" dur="500"/>
                                        <p:tgtEl>
                                          <p:spTgt spid="15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56">
                                            <p:txEl>
                                              <p:pRg st="4" end="4"/>
                                            </p:txEl>
                                          </p:spTgt>
                                        </p:tgtEl>
                                        <p:attrNameLst>
                                          <p:attrName>style.visibility</p:attrName>
                                        </p:attrNameLst>
                                      </p:cBhvr>
                                      <p:to>
                                        <p:strVal val="visible"/>
                                      </p:to>
                                    </p:set>
                                    <p:animEffect transition="in" filter="blinds(horizontal)">
                                      <p:cBhvr>
                                        <p:cTn id="27" dur="500"/>
                                        <p:tgtEl>
                                          <p:spTgt spid="15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56">
                                            <p:txEl>
                                              <p:pRg st="5" end="5"/>
                                            </p:txEl>
                                          </p:spTgt>
                                        </p:tgtEl>
                                        <p:attrNameLst>
                                          <p:attrName>style.visibility</p:attrName>
                                        </p:attrNameLst>
                                      </p:cBhvr>
                                      <p:to>
                                        <p:strVal val="visible"/>
                                      </p:to>
                                    </p:set>
                                    <p:animEffect transition="in" filter="blinds(horizontal)">
                                      <p:cBhvr>
                                        <p:cTn id="32" dur="500"/>
                                        <p:tgtEl>
                                          <p:spTgt spid="15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56">
                                            <p:txEl>
                                              <p:pRg st="6" end="6"/>
                                            </p:txEl>
                                          </p:spTgt>
                                        </p:tgtEl>
                                        <p:attrNameLst>
                                          <p:attrName>style.visibility</p:attrName>
                                        </p:attrNameLst>
                                      </p:cBhvr>
                                      <p:to>
                                        <p:strVal val="visible"/>
                                      </p:to>
                                    </p:set>
                                    <p:animEffect transition="in" filter="blinds(horizontal)">
                                      <p:cBhvr>
                                        <p:cTn id="37" dur="500"/>
                                        <p:tgtEl>
                                          <p:spTgt spid="15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56">
                                            <p:txEl>
                                              <p:pRg st="7" end="7"/>
                                            </p:txEl>
                                          </p:spTgt>
                                        </p:tgtEl>
                                        <p:attrNameLst>
                                          <p:attrName>style.visibility</p:attrName>
                                        </p:attrNameLst>
                                      </p:cBhvr>
                                      <p:to>
                                        <p:strVal val="visible"/>
                                      </p:to>
                                    </p:set>
                                    <p:animEffect transition="in" filter="blinds(horizontal)">
                                      <p:cBhvr>
                                        <p:cTn id="42" dur="500"/>
                                        <p:tgtEl>
                                          <p:spTgt spid="15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 grpId="0" uiExpand="1" build="p"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0ED3F-D06B-3588-202C-F563E641D06C}"/>
            </a:ext>
          </a:extLst>
        </p:cNvPr>
        <p:cNvGrpSpPr/>
        <p:nvPr/>
      </p:nvGrpSpPr>
      <p:grpSpPr>
        <a:xfrm>
          <a:off x="0" y="0"/>
          <a:ext cx="0" cy="0"/>
          <a:chOff x="0" y="0"/>
          <a:chExt cx="0" cy="0"/>
        </a:xfrm>
      </p:grpSpPr>
      <p:sp>
        <p:nvSpPr>
          <p:cNvPr id="156" name="在面试过程中…">
            <a:extLst>
              <a:ext uri="{FF2B5EF4-FFF2-40B4-BE49-F238E27FC236}">
                <a16:creationId xmlns:a16="http://schemas.microsoft.com/office/drawing/2014/main" id="{74BB0435-E7CE-66C7-7899-ABD112A5CCB5}"/>
              </a:ext>
            </a:extLst>
          </p:cNvPr>
          <p:cNvSpPr txBox="1">
            <a:spLocks noGrp="1"/>
          </p:cNvSpPr>
          <p:nvPr>
            <p:ph type="body" idx="1"/>
          </p:nvPr>
        </p:nvSpPr>
        <p:spPr>
          <a:xfrm>
            <a:off x="1" y="64402"/>
            <a:ext cx="13004799" cy="9536798"/>
          </a:xfrm>
          <a:prstGeom prst="rect">
            <a:avLst/>
          </a:prstGeom>
        </p:spPr>
        <p:txBody>
          <a:bodyPr numCol="1" spcCol="457200">
            <a:noAutofit/>
          </a:bodyPr>
          <a:lstStyle/>
          <a:p>
            <a:pPr marL="0" indent="0" defTabSz="504000">
              <a:spcBef>
                <a:spcPts val="0"/>
              </a:spcBef>
              <a:buNone/>
              <a:defRPr sz="2820" b="1">
                <a:latin typeface="Times New Roman"/>
                <a:ea typeface="Times New Roman"/>
                <a:cs typeface="Times New Roman"/>
                <a:sym typeface="Times New Roman"/>
              </a:defRPr>
            </a:pPr>
            <a:r>
              <a:rPr lang="en-US" altLang="zh-CN" sz="3200" dirty="0"/>
              <a:t>2. </a:t>
            </a:r>
            <a:r>
              <a:rPr lang="en-US" altLang="zh-CN" sz="3200" u="sng" dirty="0"/>
              <a:t>pursue</a:t>
            </a:r>
            <a:r>
              <a:rPr lang="en-US" altLang="zh-CN" sz="3200" dirty="0"/>
              <a:t> a hobby (+n.</a:t>
            </a:r>
            <a:r>
              <a:rPr lang="zh-CN" altLang="en-US" sz="3200" dirty="0"/>
              <a:t>造句</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A positive outlook on life guided/carried him through the darkest gloom, contributing to his achievements today. (Ren Sitong)</a:t>
            </a:r>
          </a:p>
          <a:p>
            <a:pPr marL="0" indent="0" defTabSz="504000">
              <a:spcBef>
                <a:spcPts val="0"/>
              </a:spcBef>
              <a:buNone/>
              <a:defRPr sz="2820" b="1">
                <a:latin typeface="Times New Roman"/>
                <a:ea typeface="Times New Roman"/>
                <a:cs typeface="Times New Roman"/>
                <a:sym typeface="Times New Roman"/>
              </a:defRPr>
            </a:pPr>
            <a:r>
              <a:rPr lang="en-US" altLang="zh-CN" sz="3200" dirty="0"/>
              <a:t>She chose to pursue a career in environmental science, driven by a deep desire to leave the Earth a little better than she found it. (Xu </a:t>
            </a:r>
            <a:r>
              <a:rPr lang="en-US" altLang="zh-CN" sz="3200" dirty="0" err="1"/>
              <a:t>Kejia</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r>
              <a:rPr lang="en-US" altLang="zh-CN" sz="3200" dirty="0"/>
              <a:t>Despite setbacks, she remained determined/</a:t>
            </a:r>
            <a:r>
              <a:rPr lang="en-US" altLang="zh-CN" sz="3200" dirty="0">
                <a:solidFill>
                  <a:srgbClr val="FF0000"/>
                </a:solidFill>
              </a:rPr>
              <a:t>persisted</a:t>
            </a:r>
            <a:r>
              <a:rPr lang="en-US" altLang="zh-CN" sz="3200" dirty="0"/>
              <a:t> in her pursuit of her dream, her eyes burning with unyielding resolve. (Yu </a:t>
            </a:r>
            <a:r>
              <a:rPr lang="en-US" altLang="zh-CN" sz="3200" dirty="0" err="1"/>
              <a:t>Jiayun</a:t>
            </a:r>
            <a:r>
              <a:rPr lang="en-US" altLang="zh-CN" sz="3200" dirty="0"/>
              <a:t>)</a:t>
            </a:r>
          </a:p>
        </p:txBody>
      </p:sp>
    </p:spTree>
    <p:extLst>
      <p:ext uri="{BB962C8B-B14F-4D97-AF65-F5344CB8AC3E}">
        <p14:creationId xmlns:p14="http://schemas.microsoft.com/office/powerpoint/2010/main" val="85274565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6">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 grpId="0" build="p"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2FCB0-0EBD-148C-41B3-F66788BF4865}"/>
            </a:ext>
          </a:extLst>
        </p:cNvPr>
        <p:cNvGrpSpPr/>
        <p:nvPr/>
      </p:nvGrpSpPr>
      <p:grpSpPr>
        <a:xfrm>
          <a:off x="0" y="0"/>
          <a:ext cx="0" cy="0"/>
          <a:chOff x="0" y="0"/>
          <a:chExt cx="0" cy="0"/>
        </a:xfrm>
      </p:grpSpPr>
      <p:sp>
        <p:nvSpPr>
          <p:cNvPr id="156" name="在面试过程中…">
            <a:extLst>
              <a:ext uri="{FF2B5EF4-FFF2-40B4-BE49-F238E27FC236}">
                <a16:creationId xmlns:a16="http://schemas.microsoft.com/office/drawing/2014/main" id="{11382C07-EB5B-E1D2-8159-18BFA61F5FE2}"/>
              </a:ext>
            </a:extLst>
          </p:cNvPr>
          <p:cNvSpPr txBox="1">
            <a:spLocks noGrp="1"/>
          </p:cNvSpPr>
          <p:nvPr>
            <p:ph type="body" idx="1"/>
          </p:nvPr>
        </p:nvSpPr>
        <p:spPr>
          <a:xfrm>
            <a:off x="1" y="64402"/>
            <a:ext cx="13004799" cy="9536798"/>
          </a:xfrm>
          <a:prstGeom prst="rect">
            <a:avLst/>
          </a:prstGeom>
        </p:spPr>
        <p:txBody>
          <a:bodyPr numCol="1" spcCol="457200">
            <a:noAutofit/>
          </a:bodyPr>
          <a:lstStyle/>
          <a:p>
            <a:pPr marL="0" indent="0" defTabSz="504000">
              <a:spcBef>
                <a:spcPts val="0"/>
              </a:spcBef>
              <a:buNone/>
              <a:defRPr sz="2820" b="1">
                <a:latin typeface="Times New Roman"/>
                <a:ea typeface="Times New Roman"/>
                <a:cs typeface="Times New Roman"/>
                <a:sym typeface="Times New Roman"/>
              </a:defRPr>
            </a:pPr>
            <a:r>
              <a:rPr lang="en-US" altLang="zh-CN" sz="3200" dirty="0"/>
              <a:t>3. It will keep your stress levels to a </a:t>
            </a:r>
            <a:r>
              <a:rPr lang="en-US" altLang="zh-CN" sz="3200" u="sng" dirty="0"/>
              <a:t>minimum</a:t>
            </a:r>
            <a:r>
              <a:rPr lang="en-US" altLang="zh-CN" sz="3200" dirty="0"/>
              <a:t>, leading to a more positive </a:t>
            </a:r>
            <a:r>
              <a:rPr lang="en-US" altLang="zh-CN" sz="3200" u="sng" dirty="0"/>
              <a:t>outlook </a:t>
            </a:r>
            <a:r>
              <a:rPr lang="en-US" altLang="zh-CN" sz="3200" dirty="0"/>
              <a:t>on life. (+maximize)</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When confronted with difficult situations, it is sensible to cultivate a positive outlook on life, even from small joys such as enjoying a meal, which can add structure to your otherwise chaotic moments. (Ma </a:t>
            </a:r>
            <a:r>
              <a:rPr lang="en-US" altLang="zh-CN" sz="3200" dirty="0" err="1"/>
              <a:t>Zhijie</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r>
              <a:rPr lang="en-US" altLang="zh-CN" sz="3200" dirty="0"/>
              <a:t>As the performance drew near, she felt her anxiety rise to an almost unbearable level, but recalling her teacher’s encouraging words, her fear gradually faded/subsided. (Yu </a:t>
            </a:r>
            <a:r>
              <a:rPr lang="en-US" altLang="zh-CN" sz="3200" dirty="0" err="1"/>
              <a:t>Jiayun</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r>
              <a:rPr lang="en-US" altLang="zh-CN" sz="3200" dirty="0"/>
              <a:t>Keeping your stress levels to a minimum is crucial for mental health, yet to maximize your learning efficiency and optimize your learning outcomes, you should set achievable goals and organize your time accordingly.</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p:txBody>
      </p:sp>
    </p:spTree>
    <p:extLst>
      <p:ext uri="{BB962C8B-B14F-4D97-AF65-F5344CB8AC3E}">
        <p14:creationId xmlns:p14="http://schemas.microsoft.com/office/powerpoint/2010/main" val="382342748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6">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 grpId="0" build="p"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056B2-2C4A-9AA0-4C16-69A8193680D3}"/>
            </a:ext>
          </a:extLst>
        </p:cNvPr>
        <p:cNvGrpSpPr/>
        <p:nvPr/>
      </p:nvGrpSpPr>
      <p:grpSpPr>
        <a:xfrm>
          <a:off x="0" y="0"/>
          <a:ext cx="0" cy="0"/>
          <a:chOff x="0" y="0"/>
          <a:chExt cx="0" cy="0"/>
        </a:xfrm>
      </p:grpSpPr>
      <p:sp>
        <p:nvSpPr>
          <p:cNvPr id="156" name="在面试过程中…">
            <a:extLst>
              <a:ext uri="{FF2B5EF4-FFF2-40B4-BE49-F238E27FC236}">
                <a16:creationId xmlns:a16="http://schemas.microsoft.com/office/drawing/2014/main" id="{6BF2BCCA-E9F9-9B1B-666F-8447C5AB2AB1}"/>
              </a:ext>
            </a:extLst>
          </p:cNvPr>
          <p:cNvSpPr txBox="1">
            <a:spLocks noGrp="1"/>
          </p:cNvSpPr>
          <p:nvPr>
            <p:ph type="body" idx="1"/>
          </p:nvPr>
        </p:nvSpPr>
        <p:spPr>
          <a:xfrm>
            <a:off x="1" y="64402"/>
            <a:ext cx="13004799" cy="9536798"/>
          </a:xfrm>
          <a:prstGeom prst="rect">
            <a:avLst/>
          </a:prstGeom>
        </p:spPr>
        <p:txBody>
          <a:bodyPr numCol="1" spcCol="457200">
            <a:noAutofit/>
          </a:bodyPr>
          <a:lstStyle/>
          <a:p>
            <a:pPr marL="0" indent="0" defTabSz="504000">
              <a:spcBef>
                <a:spcPts val="0"/>
              </a:spcBef>
              <a:buNone/>
              <a:defRPr sz="2820" b="1">
                <a:latin typeface="Times New Roman"/>
                <a:ea typeface="Times New Roman"/>
                <a:cs typeface="Times New Roman"/>
                <a:sym typeface="Times New Roman"/>
              </a:defRPr>
            </a:pPr>
            <a:r>
              <a:rPr lang="en-US" altLang="zh-CN" sz="3200" dirty="0"/>
              <a:t>4. Get into the habit of thinking about </a:t>
            </a:r>
            <a:r>
              <a:rPr lang="en-US" altLang="zh-CN" sz="3200" u="sng" dirty="0"/>
              <a:t>upcoming</a:t>
            </a:r>
            <a:r>
              <a:rPr lang="en-US" altLang="zh-CN" sz="3200" dirty="0"/>
              <a:t> events. (+ongoing)</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She spent the weekend preparing for the upcoming exams, as she wanted to tackle them with confidence. (Xu </a:t>
            </a:r>
            <a:r>
              <a:rPr lang="en-US" altLang="zh-CN" sz="3200" dirty="0" err="1"/>
              <a:t>Kejia</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r>
              <a:rPr lang="en-US" altLang="zh-CN" sz="3200" dirty="0"/>
              <a:t>The ongoing conversation about climate change is no longer just a topic for scientists</a:t>
            </a:r>
            <a:r>
              <a:rPr lang="zh-CN" altLang="en-US" sz="3200" dirty="0"/>
              <a:t> </a:t>
            </a:r>
            <a:r>
              <a:rPr lang="en-US" altLang="zh-CN" sz="3200" dirty="0"/>
              <a:t>— it has become a pressing issue for every citizen on the planet. (Xu </a:t>
            </a:r>
            <a:r>
              <a:rPr lang="en-US" altLang="zh-CN" sz="3200" dirty="0" err="1"/>
              <a:t>Kejia</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r>
              <a:rPr lang="en-US" altLang="zh-CN" sz="3200" dirty="0"/>
              <a:t>The key to being well-prepared lies in foreseeing upcoming challenges while maintaining focus on ongoing tasks. (Ma </a:t>
            </a:r>
            <a:r>
              <a:rPr lang="en-US" altLang="zh-CN" sz="3200" dirty="0" err="1"/>
              <a:t>Zhijie</a:t>
            </a:r>
            <a:r>
              <a:rPr lang="en-US" altLang="zh-CN" sz="3200" dirty="0"/>
              <a:t>)</a:t>
            </a:r>
          </a:p>
        </p:txBody>
      </p:sp>
    </p:spTree>
    <p:extLst>
      <p:ext uri="{BB962C8B-B14F-4D97-AF65-F5344CB8AC3E}">
        <p14:creationId xmlns:p14="http://schemas.microsoft.com/office/powerpoint/2010/main" val="16869274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6">
                                            <p:bg/>
                                          </p:spTgt>
                                        </p:tgtEl>
                                        <p:attrNameLst>
                                          <p:attrName>style.visibility</p:attrName>
                                        </p:attrNameLst>
                                      </p:cBhvr>
                                      <p:to>
                                        <p:strVal val="visible"/>
                                      </p:to>
                                    </p:set>
                                    <p:animEffect transition="in" filter="blinds(horizontal)">
                                      <p:cBhvr>
                                        <p:cTn id="7" dur="500"/>
                                        <p:tgtEl>
                                          <p:spTgt spid="156">
                                            <p:bg/>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6">
                                            <p:txEl>
                                              <p:pRg st="0" end="0"/>
                                            </p:txEl>
                                          </p:spTgt>
                                        </p:tgtEl>
                                        <p:attrNameLst>
                                          <p:attrName>style.visibility</p:attrName>
                                        </p:attrNameLst>
                                      </p:cBhvr>
                                      <p:to>
                                        <p:strVal val="visible"/>
                                      </p:to>
                                    </p:set>
                                    <p:animEffect transition="in" filter="blinds(horizontal)">
                                      <p:cBhvr>
                                        <p:cTn id="12" dur="500"/>
                                        <p:tgtEl>
                                          <p:spTgt spid="15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6">
                                            <p:txEl>
                                              <p:pRg st="2" end="2"/>
                                            </p:txEl>
                                          </p:spTgt>
                                        </p:tgtEl>
                                        <p:attrNameLst>
                                          <p:attrName>style.visibility</p:attrName>
                                        </p:attrNameLst>
                                      </p:cBhvr>
                                      <p:to>
                                        <p:strVal val="visible"/>
                                      </p:to>
                                    </p:set>
                                    <p:animEffect transition="in" filter="blinds(horizontal)">
                                      <p:cBhvr>
                                        <p:cTn id="17" dur="500"/>
                                        <p:tgtEl>
                                          <p:spTgt spid="15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56">
                                            <p:txEl>
                                              <p:pRg st="3" end="3"/>
                                            </p:txEl>
                                          </p:spTgt>
                                        </p:tgtEl>
                                        <p:attrNameLst>
                                          <p:attrName>style.visibility</p:attrName>
                                        </p:attrNameLst>
                                      </p:cBhvr>
                                      <p:to>
                                        <p:strVal val="visible"/>
                                      </p:to>
                                    </p:set>
                                    <p:animEffect transition="in" filter="blinds(horizontal)">
                                      <p:cBhvr>
                                        <p:cTn id="22" dur="500"/>
                                        <p:tgtEl>
                                          <p:spTgt spid="15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56">
                                            <p:txEl>
                                              <p:pRg st="4" end="4"/>
                                            </p:txEl>
                                          </p:spTgt>
                                        </p:tgtEl>
                                        <p:attrNameLst>
                                          <p:attrName>style.visibility</p:attrName>
                                        </p:attrNameLst>
                                      </p:cBhvr>
                                      <p:to>
                                        <p:strVal val="visible"/>
                                      </p:to>
                                    </p:set>
                                    <p:animEffect transition="in" filter="blinds(horizontal)">
                                      <p:cBhvr>
                                        <p:cTn id="27" dur="500"/>
                                        <p:tgtEl>
                                          <p:spTgt spid="15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 grpId="0" build="p"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9981B-CB4E-DBBA-7B61-044290574B76}"/>
            </a:ext>
          </a:extLst>
        </p:cNvPr>
        <p:cNvGrpSpPr/>
        <p:nvPr/>
      </p:nvGrpSpPr>
      <p:grpSpPr>
        <a:xfrm>
          <a:off x="0" y="0"/>
          <a:ext cx="0" cy="0"/>
          <a:chOff x="0" y="0"/>
          <a:chExt cx="0" cy="0"/>
        </a:xfrm>
      </p:grpSpPr>
      <p:sp>
        <p:nvSpPr>
          <p:cNvPr id="156" name="在面试过程中…">
            <a:extLst>
              <a:ext uri="{FF2B5EF4-FFF2-40B4-BE49-F238E27FC236}">
                <a16:creationId xmlns:a16="http://schemas.microsoft.com/office/drawing/2014/main" id="{94E5DD39-E793-D1C7-0396-A16D6E07C38D}"/>
              </a:ext>
            </a:extLst>
          </p:cNvPr>
          <p:cNvSpPr txBox="1">
            <a:spLocks noGrp="1"/>
          </p:cNvSpPr>
          <p:nvPr>
            <p:ph type="body" idx="1"/>
          </p:nvPr>
        </p:nvSpPr>
        <p:spPr>
          <a:xfrm>
            <a:off x="1" y="64402"/>
            <a:ext cx="13004799" cy="9536798"/>
          </a:xfrm>
          <a:prstGeom prst="rect">
            <a:avLst/>
          </a:prstGeom>
        </p:spPr>
        <p:txBody>
          <a:bodyPr numCol="1" spcCol="457200">
            <a:noAutofit/>
          </a:bodyPr>
          <a:lstStyle/>
          <a:p>
            <a:pPr marL="0" indent="0" defTabSz="504000">
              <a:spcBef>
                <a:spcPts val="0"/>
              </a:spcBef>
              <a:buNone/>
              <a:defRPr sz="2820" b="1">
                <a:latin typeface="Times New Roman"/>
                <a:ea typeface="Times New Roman"/>
                <a:cs typeface="Times New Roman"/>
                <a:sym typeface="Times New Roman"/>
              </a:defRPr>
            </a:pPr>
            <a:r>
              <a:rPr lang="en-US" altLang="zh-CN" sz="3200" dirty="0"/>
              <a:t>5. …so</a:t>
            </a:r>
            <a:r>
              <a:rPr lang="zh-CN" altLang="en-US" sz="3200" dirty="0"/>
              <a:t> </a:t>
            </a:r>
            <a:r>
              <a:rPr lang="en-US" altLang="zh-CN" sz="3200" dirty="0"/>
              <a:t>that</a:t>
            </a:r>
            <a:r>
              <a:rPr lang="zh-CN" altLang="en-US" sz="3200" dirty="0"/>
              <a:t> </a:t>
            </a:r>
            <a:r>
              <a:rPr lang="en-US" altLang="zh-CN" sz="3200" dirty="0"/>
              <a:t>you</a:t>
            </a:r>
            <a:r>
              <a:rPr lang="zh-CN" altLang="en-US" sz="3200" dirty="0"/>
              <a:t> </a:t>
            </a:r>
            <a:r>
              <a:rPr lang="en-US" altLang="zh-CN" sz="3200" dirty="0"/>
              <a:t>know</a:t>
            </a:r>
            <a:r>
              <a:rPr lang="zh-CN" altLang="en-US" sz="3200" dirty="0"/>
              <a:t> </a:t>
            </a:r>
            <a:r>
              <a:rPr lang="en-US" altLang="zh-CN" sz="3200" dirty="0"/>
              <a:t>all</a:t>
            </a:r>
            <a:r>
              <a:rPr lang="zh-CN" altLang="en-US" sz="3200" dirty="0"/>
              <a:t> </a:t>
            </a:r>
            <a:r>
              <a:rPr lang="en-US" altLang="zh-CN" sz="3200" dirty="0"/>
              <a:t>the</a:t>
            </a:r>
            <a:r>
              <a:rPr lang="zh-CN" altLang="en-US" sz="3200" dirty="0"/>
              <a:t> </a:t>
            </a:r>
            <a:r>
              <a:rPr lang="en-US" altLang="zh-CN" sz="3200" dirty="0"/>
              <a:t>dates and can prepare </a:t>
            </a:r>
            <a:r>
              <a:rPr lang="en-US" altLang="zh-CN" sz="3200" u="sng" dirty="0"/>
              <a:t>accordingly</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If we recognize that education should focus on character building, not just test scores, we must accordingly reform how we evaluate both students and teachers. (Zhou </a:t>
            </a:r>
            <a:r>
              <a:rPr lang="en-US" altLang="zh-CN" sz="3200" dirty="0" err="1"/>
              <a:t>Jingru</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r>
              <a:rPr lang="en-US" altLang="zh-CN" sz="3200" dirty="0">
                <a:solidFill>
                  <a:srgbClr val="FF0000"/>
                </a:solidFill>
              </a:rPr>
              <a:t>prioritize</a:t>
            </a:r>
            <a:r>
              <a:rPr lang="en-US" altLang="zh-CN" sz="3200" dirty="0"/>
              <a:t> character building </a:t>
            </a:r>
            <a:r>
              <a:rPr lang="en-US" altLang="zh-CN" sz="3200" dirty="0">
                <a:solidFill>
                  <a:srgbClr val="FF0000"/>
                </a:solidFill>
              </a:rPr>
              <a:t>over</a:t>
            </a:r>
            <a:r>
              <a:rPr lang="en-US" altLang="zh-CN" sz="3200" dirty="0"/>
              <a:t> merely test scores</a:t>
            </a:r>
          </a:p>
          <a:p>
            <a:pPr marL="0" indent="0" defTabSz="504000">
              <a:spcBef>
                <a:spcPts val="0"/>
              </a:spcBef>
              <a:buNone/>
              <a:defRPr sz="2820" b="1">
                <a:latin typeface="Times New Roman"/>
                <a:ea typeface="Times New Roman"/>
                <a:cs typeface="Times New Roman"/>
                <a:sym typeface="Times New Roman"/>
              </a:defRPr>
            </a:pPr>
            <a:r>
              <a:rPr lang="en-US" altLang="zh-CN" sz="3200" dirty="0">
                <a:solidFill>
                  <a:srgbClr val="FF0000"/>
                </a:solidFill>
              </a:rPr>
              <a:t>attach greater importance to A than B</a:t>
            </a:r>
          </a:p>
          <a:p>
            <a:pPr marL="0" indent="0" defTabSz="504000">
              <a:spcBef>
                <a:spcPts val="0"/>
              </a:spcBef>
              <a:buNone/>
              <a:defRPr sz="2820" b="1">
                <a:latin typeface="Times New Roman"/>
                <a:ea typeface="Times New Roman"/>
                <a:cs typeface="Times New Roman"/>
                <a:sym typeface="Times New Roman"/>
              </a:defRPr>
            </a:pPr>
            <a:r>
              <a:rPr lang="en-US" altLang="zh-CN" sz="3200" dirty="0">
                <a:solidFill>
                  <a:srgbClr val="FF0000"/>
                </a:solidFill>
              </a:rPr>
              <a:t>subordinate B to A</a:t>
            </a:r>
          </a:p>
          <a:p>
            <a:pPr marL="0" indent="0" defTabSz="504000">
              <a:spcBef>
                <a:spcPts val="0"/>
              </a:spcBef>
              <a:buNone/>
              <a:defRPr sz="2820" b="1">
                <a:latin typeface="Times New Roman"/>
                <a:ea typeface="Times New Roman"/>
                <a:cs typeface="Times New Roman"/>
                <a:sym typeface="Times New Roman"/>
              </a:defRPr>
            </a:pPr>
            <a:r>
              <a:rPr lang="en-US" altLang="zh-CN" sz="3200" dirty="0">
                <a:solidFill>
                  <a:srgbClr val="FF0000"/>
                </a:solidFill>
              </a:rPr>
              <a:t>A outweighs B</a:t>
            </a:r>
          </a:p>
          <a:p>
            <a:pPr marL="0" indent="0" defTabSz="504000">
              <a:spcBef>
                <a:spcPts val="0"/>
              </a:spcBef>
              <a:buNone/>
              <a:defRPr sz="2820" b="1">
                <a:latin typeface="Times New Roman"/>
                <a:ea typeface="Times New Roman"/>
                <a:cs typeface="Times New Roman"/>
                <a:sym typeface="Times New Roman"/>
              </a:defRPr>
            </a:pPr>
            <a:r>
              <a:rPr lang="en-US" altLang="zh-CN" sz="3200" dirty="0">
                <a:solidFill>
                  <a:srgbClr val="FF0000"/>
                </a:solidFill>
              </a:rPr>
              <a:t>While B may seem important, it is A that truly …</a:t>
            </a:r>
          </a:p>
          <a:p>
            <a:pPr marL="0" indent="0" defTabSz="504000">
              <a:spcBef>
                <a:spcPts val="0"/>
              </a:spcBef>
              <a:buNone/>
              <a:defRPr sz="2820" b="1">
                <a:latin typeface="Times New Roman"/>
                <a:ea typeface="Times New Roman"/>
                <a:cs typeface="Times New Roman"/>
                <a:sym typeface="Times New Roman"/>
              </a:defRPr>
            </a:pPr>
            <a:endParaRPr lang="en-US" altLang="zh-CN" sz="3200" dirty="0">
              <a:solidFill>
                <a:srgbClr val="FF0000"/>
              </a:solidFill>
            </a:endParaRPr>
          </a:p>
          <a:p>
            <a:pPr marL="0" indent="0" defTabSz="504000">
              <a:spcBef>
                <a:spcPts val="0"/>
              </a:spcBef>
              <a:buNone/>
              <a:defRPr sz="2820" b="1">
                <a:latin typeface="Times New Roman"/>
                <a:ea typeface="Times New Roman"/>
                <a:cs typeface="Times New Roman"/>
                <a:sym typeface="Times New Roman"/>
              </a:defRPr>
            </a:pPr>
            <a:r>
              <a:rPr lang="en-US" altLang="zh-CN" sz="3200" dirty="0">
                <a:solidFill>
                  <a:schemeClr val="tx1"/>
                </a:solidFill>
              </a:rPr>
              <a:t>Considering various conditions of her students, the teacher adjusted her teaching methods accordingly. (Ren Sitong)</a:t>
            </a:r>
          </a:p>
          <a:p>
            <a:pPr marL="0" indent="0" defTabSz="504000">
              <a:spcBef>
                <a:spcPts val="0"/>
              </a:spcBef>
              <a:buNone/>
              <a:defRPr sz="2820" b="1">
                <a:latin typeface="Times New Roman"/>
                <a:ea typeface="Times New Roman"/>
                <a:cs typeface="Times New Roman"/>
                <a:sym typeface="Times New Roman"/>
              </a:defRPr>
            </a:pPr>
            <a:r>
              <a:rPr lang="en-US" altLang="zh-CN" sz="3200" dirty="0">
                <a:solidFill>
                  <a:schemeClr val="tx1"/>
                </a:solidFill>
              </a:rPr>
              <a:t>Remember to conceive your plan and prepare for it accordingly, so that you can remain calm and collected when facing the situation. (Ma </a:t>
            </a:r>
            <a:r>
              <a:rPr lang="en-US" altLang="zh-CN" sz="3200" dirty="0" err="1">
                <a:solidFill>
                  <a:schemeClr val="tx1"/>
                </a:solidFill>
              </a:rPr>
              <a:t>Zhijie</a:t>
            </a:r>
            <a:r>
              <a:rPr lang="en-US" altLang="zh-CN" sz="3200" dirty="0">
                <a:solidFill>
                  <a:schemeClr val="tx1"/>
                </a:solidFill>
              </a:rPr>
              <a:t>)</a:t>
            </a:r>
          </a:p>
          <a:p>
            <a:pPr marL="0" indent="0" defTabSz="504000">
              <a:spcBef>
                <a:spcPts val="0"/>
              </a:spcBef>
              <a:buNone/>
              <a:defRPr sz="2820" b="1">
                <a:latin typeface="Times New Roman"/>
                <a:ea typeface="Times New Roman"/>
                <a:cs typeface="Times New Roman"/>
                <a:sym typeface="Times New Roman"/>
              </a:defRPr>
            </a:pPr>
            <a:r>
              <a:rPr lang="en-US" altLang="zh-CN" sz="3200" dirty="0">
                <a:solidFill>
                  <a:schemeClr val="tx1"/>
                </a:solidFill>
              </a:rPr>
              <a:t>If you find yourself struggling with time management, you should adjust your schedule accordingly, prioritizing the most urgent tasks. (Yu </a:t>
            </a:r>
            <a:r>
              <a:rPr lang="en-US" altLang="zh-CN" sz="3200" dirty="0" err="1">
                <a:solidFill>
                  <a:schemeClr val="tx1"/>
                </a:solidFill>
              </a:rPr>
              <a:t>Jiayun</a:t>
            </a:r>
            <a:r>
              <a:rPr lang="en-US" altLang="zh-CN" sz="3200" dirty="0">
                <a:solidFill>
                  <a:schemeClr val="tx1"/>
                </a:solidFill>
              </a:rPr>
              <a:t>)</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p:txBody>
      </p:sp>
    </p:spTree>
    <p:extLst>
      <p:ext uri="{BB962C8B-B14F-4D97-AF65-F5344CB8AC3E}">
        <p14:creationId xmlns:p14="http://schemas.microsoft.com/office/powerpoint/2010/main" val="111105469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6">
                                            <p:bg/>
                                          </p:spTgt>
                                        </p:tgtEl>
                                        <p:attrNameLst>
                                          <p:attrName>style.visibility</p:attrName>
                                        </p:attrNameLst>
                                      </p:cBhvr>
                                      <p:to>
                                        <p:strVal val="visible"/>
                                      </p:to>
                                    </p:set>
                                    <p:animEffect transition="in" filter="blinds(horizontal)">
                                      <p:cBhvr>
                                        <p:cTn id="7" dur="500"/>
                                        <p:tgtEl>
                                          <p:spTgt spid="156">
                                            <p:bg/>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6">
                                            <p:txEl>
                                              <p:pRg st="0" end="0"/>
                                            </p:txEl>
                                          </p:spTgt>
                                        </p:tgtEl>
                                        <p:attrNameLst>
                                          <p:attrName>style.visibility</p:attrName>
                                        </p:attrNameLst>
                                      </p:cBhvr>
                                      <p:to>
                                        <p:strVal val="visible"/>
                                      </p:to>
                                    </p:set>
                                    <p:animEffect transition="in" filter="blinds(horizontal)">
                                      <p:cBhvr>
                                        <p:cTn id="12" dur="500"/>
                                        <p:tgtEl>
                                          <p:spTgt spid="15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6">
                                            <p:txEl>
                                              <p:pRg st="2" end="2"/>
                                            </p:txEl>
                                          </p:spTgt>
                                        </p:tgtEl>
                                        <p:attrNameLst>
                                          <p:attrName>style.visibility</p:attrName>
                                        </p:attrNameLst>
                                      </p:cBhvr>
                                      <p:to>
                                        <p:strVal val="visible"/>
                                      </p:to>
                                    </p:set>
                                    <p:animEffect transition="in" filter="blinds(horizontal)">
                                      <p:cBhvr>
                                        <p:cTn id="17" dur="500"/>
                                        <p:tgtEl>
                                          <p:spTgt spid="15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56">
                                            <p:txEl>
                                              <p:pRg st="3" end="3"/>
                                            </p:txEl>
                                          </p:spTgt>
                                        </p:tgtEl>
                                        <p:attrNameLst>
                                          <p:attrName>style.visibility</p:attrName>
                                        </p:attrNameLst>
                                      </p:cBhvr>
                                      <p:to>
                                        <p:strVal val="visible"/>
                                      </p:to>
                                    </p:set>
                                    <p:animEffect transition="in" filter="blinds(horizontal)">
                                      <p:cBhvr>
                                        <p:cTn id="22" dur="500"/>
                                        <p:tgtEl>
                                          <p:spTgt spid="15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56">
                                            <p:txEl>
                                              <p:pRg st="4" end="4"/>
                                            </p:txEl>
                                          </p:spTgt>
                                        </p:tgtEl>
                                        <p:attrNameLst>
                                          <p:attrName>style.visibility</p:attrName>
                                        </p:attrNameLst>
                                      </p:cBhvr>
                                      <p:to>
                                        <p:strVal val="visible"/>
                                      </p:to>
                                    </p:set>
                                    <p:animEffect transition="in" filter="blinds(horizontal)">
                                      <p:cBhvr>
                                        <p:cTn id="27" dur="500"/>
                                        <p:tgtEl>
                                          <p:spTgt spid="15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56">
                                            <p:txEl>
                                              <p:pRg st="5" end="5"/>
                                            </p:txEl>
                                          </p:spTgt>
                                        </p:tgtEl>
                                        <p:attrNameLst>
                                          <p:attrName>style.visibility</p:attrName>
                                        </p:attrNameLst>
                                      </p:cBhvr>
                                      <p:to>
                                        <p:strVal val="visible"/>
                                      </p:to>
                                    </p:set>
                                    <p:animEffect transition="in" filter="blinds(horizontal)">
                                      <p:cBhvr>
                                        <p:cTn id="32" dur="500"/>
                                        <p:tgtEl>
                                          <p:spTgt spid="15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56">
                                            <p:txEl>
                                              <p:pRg st="6" end="6"/>
                                            </p:txEl>
                                          </p:spTgt>
                                        </p:tgtEl>
                                        <p:attrNameLst>
                                          <p:attrName>style.visibility</p:attrName>
                                        </p:attrNameLst>
                                      </p:cBhvr>
                                      <p:to>
                                        <p:strVal val="visible"/>
                                      </p:to>
                                    </p:set>
                                    <p:animEffect transition="in" filter="blinds(horizontal)">
                                      <p:cBhvr>
                                        <p:cTn id="37" dur="500"/>
                                        <p:tgtEl>
                                          <p:spTgt spid="15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56">
                                            <p:txEl>
                                              <p:pRg st="7" end="7"/>
                                            </p:txEl>
                                          </p:spTgt>
                                        </p:tgtEl>
                                        <p:attrNameLst>
                                          <p:attrName>style.visibility</p:attrName>
                                        </p:attrNameLst>
                                      </p:cBhvr>
                                      <p:to>
                                        <p:strVal val="visible"/>
                                      </p:to>
                                    </p:set>
                                    <p:animEffect transition="in" filter="blinds(horizontal)">
                                      <p:cBhvr>
                                        <p:cTn id="42" dur="500"/>
                                        <p:tgtEl>
                                          <p:spTgt spid="15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56">
                                            <p:txEl>
                                              <p:pRg st="9" end="9"/>
                                            </p:txEl>
                                          </p:spTgt>
                                        </p:tgtEl>
                                        <p:attrNameLst>
                                          <p:attrName>style.visibility</p:attrName>
                                        </p:attrNameLst>
                                      </p:cBhvr>
                                      <p:to>
                                        <p:strVal val="visible"/>
                                      </p:to>
                                    </p:set>
                                    <p:animEffect transition="in" filter="blinds(horizontal)">
                                      <p:cBhvr>
                                        <p:cTn id="47" dur="500"/>
                                        <p:tgtEl>
                                          <p:spTgt spid="156">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56">
                                            <p:txEl>
                                              <p:pRg st="10" end="10"/>
                                            </p:txEl>
                                          </p:spTgt>
                                        </p:tgtEl>
                                        <p:attrNameLst>
                                          <p:attrName>style.visibility</p:attrName>
                                        </p:attrNameLst>
                                      </p:cBhvr>
                                      <p:to>
                                        <p:strVal val="visible"/>
                                      </p:to>
                                    </p:set>
                                    <p:animEffect transition="in" filter="blinds(horizontal)">
                                      <p:cBhvr>
                                        <p:cTn id="52" dur="500"/>
                                        <p:tgtEl>
                                          <p:spTgt spid="156">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56">
                                            <p:txEl>
                                              <p:pRg st="11" end="11"/>
                                            </p:txEl>
                                          </p:spTgt>
                                        </p:tgtEl>
                                        <p:attrNameLst>
                                          <p:attrName>style.visibility</p:attrName>
                                        </p:attrNameLst>
                                      </p:cBhvr>
                                      <p:to>
                                        <p:strVal val="visible"/>
                                      </p:to>
                                    </p:set>
                                    <p:animEffect transition="in" filter="blinds(horizontal)">
                                      <p:cBhvr>
                                        <p:cTn id="57" dur="500"/>
                                        <p:tgtEl>
                                          <p:spTgt spid="156">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 grpId="0" build="p"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09539-1A9E-11FE-76A6-8D7029B09341}"/>
            </a:ext>
          </a:extLst>
        </p:cNvPr>
        <p:cNvGrpSpPr/>
        <p:nvPr/>
      </p:nvGrpSpPr>
      <p:grpSpPr>
        <a:xfrm>
          <a:off x="0" y="0"/>
          <a:ext cx="0" cy="0"/>
          <a:chOff x="0" y="0"/>
          <a:chExt cx="0" cy="0"/>
        </a:xfrm>
      </p:grpSpPr>
      <p:sp>
        <p:nvSpPr>
          <p:cNvPr id="156" name="在面试过程中…">
            <a:extLst>
              <a:ext uri="{FF2B5EF4-FFF2-40B4-BE49-F238E27FC236}">
                <a16:creationId xmlns:a16="http://schemas.microsoft.com/office/drawing/2014/main" id="{C891D6C7-E897-0B21-C0A4-6014A52C1E07}"/>
              </a:ext>
            </a:extLst>
          </p:cNvPr>
          <p:cNvSpPr txBox="1">
            <a:spLocks noGrp="1"/>
          </p:cNvSpPr>
          <p:nvPr>
            <p:ph type="body" idx="1"/>
          </p:nvPr>
        </p:nvSpPr>
        <p:spPr>
          <a:xfrm>
            <a:off x="1" y="64402"/>
            <a:ext cx="13004799" cy="9536798"/>
          </a:xfrm>
          <a:prstGeom prst="rect">
            <a:avLst/>
          </a:prstGeom>
        </p:spPr>
        <p:txBody>
          <a:bodyPr numCol="1" spcCol="457200">
            <a:noAutofit/>
          </a:bodyPr>
          <a:lstStyle/>
          <a:p>
            <a:pPr marL="0" indent="0" defTabSz="504000">
              <a:spcBef>
                <a:spcPts val="0"/>
              </a:spcBef>
              <a:buNone/>
              <a:defRPr sz="2820" b="1">
                <a:latin typeface="Times New Roman"/>
                <a:ea typeface="Times New Roman"/>
                <a:cs typeface="Times New Roman"/>
                <a:sym typeface="Times New Roman"/>
              </a:defRPr>
            </a:pPr>
            <a:r>
              <a:rPr lang="en-US" altLang="zh-CN" sz="3200" dirty="0"/>
              <a:t>6. You are in a tidy place, </a:t>
            </a:r>
            <a:r>
              <a:rPr lang="en-US" altLang="zh-CN" sz="3200" u="sng" dirty="0"/>
              <a:t>free from distractions</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She locked herself in a cabin free of distractions, a place that allowed her to escape from chaos and dive into nature and her inner world. (Ren Sitong)</a:t>
            </a:r>
          </a:p>
          <a:p>
            <a:pPr marL="0" indent="0" defTabSz="504000">
              <a:spcBef>
                <a:spcPts val="0"/>
              </a:spcBef>
              <a:buNone/>
              <a:defRPr sz="2820" b="1">
                <a:latin typeface="Times New Roman"/>
                <a:ea typeface="Times New Roman"/>
                <a:cs typeface="Times New Roman"/>
                <a:sym typeface="Times New Roman"/>
              </a:defRPr>
            </a:pPr>
            <a:r>
              <a:rPr lang="en-US" altLang="zh-CN" sz="3200" dirty="0"/>
              <a:t>To free yourself from phone distractions, you could set up a corner in your room and put your phone beyond your reach, then fully immerse yourself in the peace of reading. (Zhu Xinyue)</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p:txBody>
      </p:sp>
    </p:spTree>
    <p:extLst>
      <p:ext uri="{BB962C8B-B14F-4D97-AF65-F5344CB8AC3E}">
        <p14:creationId xmlns:p14="http://schemas.microsoft.com/office/powerpoint/2010/main" val="281427195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6">
                                            <p:bg/>
                                          </p:spTgt>
                                        </p:tgtEl>
                                        <p:attrNameLst>
                                          <p:attrName>style.visibility</p:attrName>
                                        </p:attrNameLst>
                                      </p:cBhvr>
                                      <p:to>
                                        <p:strVal val="visible"/>
                                      </p:to>
                                    </p:set>
                                    <p:animEffect transition="in" filter="blinds(horizontal)">
                                      <p:cBhvr>
                                        <p:cTn id="7" dur="500"/>
                                        <p:tgtEl>
                                          <p:spTgt spid="156">
                                            <p:bg/>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6">
                                            <p:txEl>
                                              <p:pRg st="0" end="0"/>
                                            </p:txEl>
                                          </p:spTgt>
                                        </p:tgtEl>
                                        <p:attrNameLst>
                                          <p:attrName>style.visibility</p:attrName>
                                        </p:attrNameLst>
                                      </p:cBhvr>
                                      <p:to>
                                        <p:strVal val="visible"/>
                                      </p:to>
                                    </p:set>
                                    <p:animEffect transition="in" filter="blinds(horizontal)">
                                      <p:cBhvr>
                                        <p:cTn id="12" dur="500"/>
                                        <p:tgtEl>
                                          <p:spTgt spid="15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6">
                                            <p:txEl>
                                              <p:pRg st="2" end="2"/>
                                            </p:txEl>
                                          </p:spTgt>
                                        </p:tgtEl>
                                        <p:attrNameLst>
                                          <p:attrName>style.visibility</p:attrName>
                                        </p:attrNameLst>
                                      </p:cBhvr>
                                      <p:to>
                                        <p:strVal val="visible"/>
                                      </p:to>
                                    </p:set>
                                    <p:animEffect transition="in" filter="blinds(horizontal)">
                                      <p:cBhvr>
                                        <p:cTn id="17" dur="500"/>
                                        <p:tgtEl>
                                          <p:spTgt spid="15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56">
                                            <p:txEl>
                                              <p:pRg st="3" end="3"/>
                                            </p:txEl>
                                          </p:spTgt>
                                        </p:tgtEl>
                                        <p:attrNameLst>
                                          <p:attrName>style.visibility</p:attrName>
                                        </p:attrNameLst>
                                      </p:cBhvr>
                                      <p:to>
                                        <p:strVal val="visible"/>
                                      </p:to>
                                    </p:set>
                                    <p:animEffect transition="in" filter="blinds(horizontal)">
                                      <p:cBhvr>
                                        <p:cTn id="22" dur="500"/>
                                        <p:tgtEl>
                                          <p:spTgt spid="15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 grpId="0" build="p"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321B9-F269-AB8C-759C-59BF053C3EE7}"/>
            </a:ext>
          </a:extLst>
        </p:cNvPr>
        <p:cNvGrpSpPr/>
        <p:nvPr/>
      </p:nvGrpSpPr>
      <p:grpSpPr>
        <a:xfrm>
          <a:off x="0" y="0"/>
          <a:ext cx="0" cy="0"/>
          <a:chOff x="0" y="0"/>
          <a:chExt cx="0" cy="0"/>
        </a:xfrm>
      </p:grpSpPr>
      <p:sp>
        <p:nvSpPr>
          <p:cNvPr id="156" name="在面试过程中…">
            <a:extLst>
              <a:ext uri="{FF2B5EF4-FFF2-40B4-BE49-F238E27FC236}">
                <a16:creationId xmlns:a16="http://schemas.microsoft.com/office/drawing/2014/main" id="{125F9BA9-15F2-7452-AA8E-692596EA4AE2}"/>
              </a:ext>
            </a:extLst>
          </p:cNvPr>
          <p:cNvSpPr txBox="1">
            <a:spLocks noGrp="1"/>
          </p:cNvSpPr>
          <p:nvPr>
            <p:ph type="body" idx="1"/>
          </p:nvPr>
        </p:nvSpPr>
        <p:spPr>
          <a:xfrm>
            <a:off x="1" y="64402"/>
            <a:ext cx="13004799" cy="9536798"/>
          </a:xfrm>
          <a:prstGeom prst="rect">
            <a:avLst/>
          </a:prstGeom>
        </p:spPr>
        <p:txBody>
          <a:bodyPr numCol="1" spcCol="457200">
            <a:noAutofit/>
          </a:bodyPr>
          <a:lstStyle/>
          <a:p>
            <a:pPr marL="0" indent="0" defTabSz="504000">
              <a:spcBef>
                <a:spcPts val="0"/>
              </a:spcBef>
              <a:buNone/>
              <a:defRPr sz="2820" b="1">
                <a:latin typeface="Times New Roman"/>
                <a:ea typeface="Times New Roman"/>
                <a:cs typeface="Times New Roman"/>
                <a:sym typeface="Times New Roman"/>
              </a:defRPr>
            </a:pPr>
            <a:r>
              <a:rPr lang="en-US" altLang="zh-CN" sz="3200" dirty="0"/>
              <a:t>7. You should </a:t>
            </a:r>
            <a:r>
              <a:rPr lang="en-US" altLang="zh-CN" sz="3200" u="sng" dirty="0"/>
              <a:t>classify</a:t>
            </a:r>
            <a:r>
              <a:rPr lang="en-US" altLang="zh-CN" sz="3200" dirty="0"/>
              <a:t> the activities in the four areas. (</a:t>
            </a:r>
            <a:r>
              <a:rPr lang="zh-CN" altLang="en-US" sz="3200" dirty="0"/>
              <a:t>辨</a:t>
            </a:r>
            <a:r>
              <a:rPr lang="en-US" altLang="zh-CN" sz="3200" dirty="0"/>
              <a:t>clarify</a:t>
            </a:r>
            <a:r>
              <a:rPr lang="zh-CN" altLang="en-US" sz="3200" dirty="0"/>
              <a:t>造句</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To better our environment and reduce cost of waste disposal, it is highly recommended to classify rubbish into at least two categories</a:t>
            </a:r>
            <a:r>
              <a:rPr lang="zh-CN" altLang="en-US" sz="3200" dirty="0"/>
              <a:t> </a:t>
            </a:r>
            <a:r>
              <a:rPr lang="en-US" altLang="zh-CN" sz="3200" dirty="0"/>
              <a:t>— recyclable and non-recyclable. (Ma </a:t>
            </a:r>
            <a:r>
              <a:rPr lang="en-US" altLang="zh-CN" sz="3200" dirty="0" err="1"/>
              <a:t>Zhijie</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r>
              <a:rPr lang="en-US" altLang="zh-CN" sz="3200" dirty="0"/>
              <a:t>After a long silence, he summoned his courage and spoke up, clarifying his intentions and assuring her that he had never meant to hurt her feelings. (Yu </a:t>
            </a:r>
            <a:r>
              <a:rPr lang="en-US" altLang="zh-CN" sz="3200" dirty="0" err="1"/>
              <a:t>Jiayun</a:t>
            </a:r>
            <a:r>
              <a:rPr lang="en-US" altLang="zh-CN" sz="3200" dirty="0"/>
              <a:t>)</a:t>
            </a:r>
          </a:p>
        </p:txBody>
      </p:sp>
    </p:spTree>
    <p:extLst>
      <p:ext uri="{BB962C8B-B14F-4D97-AF65-F5344CB8AC3E}">
        <p14:creationId xmlns:p14="http://schemas.microsoft.com/office/powerpoint/2010/main" val="289115804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6">
                                            <p:bg/>
                                          </p:spTgt>
                                        </p:tgtEl>
                                        <p:attrNameLst>
                                          <p:attrName>style.visibility</p:attrName>
                                        </p:attrNameLst>
                                      </p:cBhvr>
                                      <p:to>
                                        <p:strVal val="visible"/>
                                      </p:to>
                                    </p:set>
                                    <p:animEffect transition="in" filter="blinds(horizontal)">
                                      <p:cBhvr>
                                        <p:cTn id="7" dur="500"/>
                                        <p:tgtEl>
                                          <p:spTgt spid="156">
                                            <p:bg/>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6">
                                            <p:txEl>
                                              <p:pRg st="0" end="0"/>
                                            </p:txEl>
                                          </p:spTgt>
                                        </p:tgtEl>
                                        <p:attrNameLst>
                                          <p:attrName>style.visibility</p:attrName>
                                        </p:attrNameLst>
                                      </p:cBhvr>
                                      <p:to>
                                        <p:strVal val="visible"/>
                                      </p:to>
                                    </p:set>
                                    <p:animEffect transition="in" filter="blinds(horizontal)">
                                      <p:cBhvr>
                                        <p:cTn id="12" dur="500"/>
                                        <p:tgtEl>
                                          <p:spTgt spid="15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6">
                                            <p:txEl>
                                              <p:pRg st="2" end="2"/>
                                            </p:txEl>
                                          </p:spTgt>
                                        </p:tgtEl>
                                        <p:attrNameLst>
                                          <p:attrName>style.visibility</p:attrName>
                                        </p:attrNameLst>
                                      </p:cBhvr>
                                      <p:to>
                                        <p:strVal val="visible"/>
                                      </p:to>
                                    </p:set>
                                    <p:animEffect transition="in" filter="blinds(horizontal)">
                                      <p:cBhvr>
                                        <p:cTn id="17" dur="500"/>
                                        <p:tgtEl>
                                          <p:spTgt spid="15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56">
                                            <p:txEl>
                                              <p:pRg st="3" end="3"/>
                                            </p:txEl>
                                          </p:spTgt>
                                        </p:tgtEl>
                                        <p:attrNameLst>
                                          <p:attrName>style.visibility</p:attrName>
                                        </p:attrNameLst>
                                      </p:cBhvr>
                                      <p:to>
                                        <p:strVal val="visible"/>
                                      </p:to>
                                    </p:set>
                                    <p:animEffect transition="in" filter="blinds(horizontal)">
                                      <p:cBhvr>
                                        <p:cTn id="22" dur="500"/>
                                        <p:tgtEl>
                                          <p:spTgt spid="15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 grpId="0" build="p"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A7E46-3235-4158-82C3-4D66220AFF90}"/>
            </a:ext>
          </a:extLst>
        </p:cNvPr>
        <p:cNvGrpSpPr/>
        <p:nvPr/>
      </p:nvGrpSpPr>
      <p:grpSpPr>
        <a:xfrm>
          <a:off x="0" y="0"/>
          <a:ext cx="0" cy="0"/>
          <a:chOff x="0" y="0"/>
          <a:chExt cx="0" cy="0"/>
        </a:xfrm>
      </p:grpSpPr>
      <p:sp>
        <p:nvSpPr>
          <p:cNvPr id="156" name="在面试过程中…">
            <a:extLst>
              <a:ext uri="{FF2B5EF4-FFF2-40B4-BE49-F238E27FC236}">
                <a16:creationId xmlns:a16="http://schemas.microsoft.com/office/drawing/2014/main" id="{13CBF3D4-588B-1220-DD99-A8F22F4F2E54}"/>
              </a:ext>
            </a:extLst>
          </p:cNvPr>
          <p:cNvSpPr txBox="1">
            <a:spLocks noGrp="1"/>
          </p:cNvSpPr>
          <p:nvPr>
            <p:ph type="body" idx="1"/>
          </p:nvPr>
        </p:nvSpPr>
        <p:spPr>
          <a:xfrm>
            <a:off x="1" y="64402"/>
            <a:ext cx="13004799" cy="9536798"/>
          </a:xfrm>
          <a:prstGeom prst="rect">
            <a:avLst/>
          </a:prstGeom>
        </p:spPr>
        <p:txBody>
          <a:bodyPr numCol="1" spcCol="457200">
            <a:noAutofit/>
          </a:bodyPr>
          <a:lstStyle/>
          <a:p>
            <a:pPr marL="0" indent="0" defTabSz="504000">
              <a:spcBef>
                <a:spcPts val="0"/>
              </a:spcBef>
              <a:buNone/>
              <a:defRPr sz="2820" b="1">
                <a:latin typeface="Times New Roman"/>
                <a:ea typeface="Times New Roman"/>
                <a:cs typeface="Times New Roman"/>
                <a:sym typeface="Times New Roman"/>
              </a:defRPr>
            </a:pPr>
            <a:r>
              <a:rPr lang="en-US" altLang="zh-CN" sz="3200" dirty="0"/>
              <a:t>8. It is important not to let </a:t>
            </a:r>
            <a:r>
              <a:rPr lang="en-US" altLang="zh-CN" sz="3200" u="sng" dirty="0"/>
              <a:t>the quest for </a:t>
            </a:r>
            <a:r>
              <a:rPr lang="en-US" altLang="zh-CN" sz="3200" dirty="0"/>
              <a:t>short-term rewards influence you.</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The quest for success is not defined by the trophies we hold, but by the moments that shape us—the early mornings, the sleepless nights, and the countless times we rose after falling. (Zhou </a:t>
            </a:r>
            <a:r>
              <a:rPr lang="en-US" altLang="zh-CN" sz="3200" dirty="0" err="1"/>
              <a:t>Jingru</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His quest for perfection often left him exhausted and rarely satisfied with his own achievements. (Xu </a:t>
            </a:r>
            <a:r>
              <a:rPr lang="en-US" altLang="zh-CN" sz="3200" dirty="0" err="1"/>
              <a:t>Kejia</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r>
              <a:rPr lang="en-US" altLang="zh-CN" sz="3200" dirty="0"/>
              <a:t>relentless/unrelenting/continuous</a:t>
            </a:r>
          </a:p>
        </p:txBody>
      </p:sp>
    </p:spTree>
    <p:extLst>
      <p:ext uri="{BB962C8B-B14F-4D97-AF65-F5344CB8AC3E}">
        <p14:creationId xmlns:p14="http://schemas.microsoft.com/office/powerpoint/2010/main" val="152654642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6">
                                            <p:bg/>
                                          </p:spTgt>
                                        </p:tgtEl>
                                        <p:attrNameLst>
                                          <p:attrName>style.visibility</p:attrName>
                                        </p:attrNameLst>
                                      </p:cBhvr>
                                      <p:to>
                                        <p:strVal val="visible"/>
                                      </p:to>
                                    </p:set>
                                    <p:animEffect transition="in" filter="blinds(horizontal)">
                                      <p:cBhvr>
                                        <p:cTn id="7" dur="500"/>
                                        <p:tgtEl>
                                          <p:spTgt spid="156">
                                            <p:bg/>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6">
                                            <p:txEl>
                                              <p:pRg st="0" end="0"/>
                                            </p:txEl>
                                          </p:spTgt>
                                        </p:tgtEl>
                                        <p:attrNameLst>
                                          <p:attrName>style.visibility</p:attrName>
                                        </p:attrNameLst>
                                      </p:cBhvr>
                                      <p:to>
                                        <p:strVal val="visible"/>
                                      </p:to>
                                    </p:set>
                                    <p:animEffect transition="in" filter="blinds(horizontal)">
                                      <p:cBhvr>
                                        <p:cTn id="12" dur="500"/>
                                        <p:tgtEl>
                                          <p:spTgt spid="15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6">
                                            <p:txEl>
                                              <p:pRg st="2" end="2"/>
                                            </p:txEl>
                                          </p:spTgt>
                                        </p:tgtEl>
                                        <p:attrNameLst>
                                          <p:attrName>style.visibility</p:attrName>
                                        </p:attrNameLst>
                                      </p:cBhvr>
                                      <p:to>
                                        <p:strVal val="visible"/>
                                      </p:to>
                                    </p:set>
                                    <p:animEffect transition="in" filter="blinds(horizontal)">
                                      <p:cBhvr>
                                        <p:cTn id="17" dur="500"/>
                                        <p:tgtEl>
                                          <p:spTgt spid="15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56">
                                            <p:txEl>
                                              <p:pRg st="4" end="4"/>
                                            </p:txEl>
                                          </p:spTgt>
                                        </p:tgtEl>
                                        <p:attrNameLst>
                                          <p:attrName>style.visibility</p:attrName>
                                        </p:attrNameLst>
                                      </p:cBhvr>
                                      <p:to>
                                        <p:strVal val="visible"/>
                                      </p:to>
                                    </p:set>
                                    <p:animEffect transition="in" filter="blinds(horizontal)">
                                      <p:cBhvr>
                                        <p:cTn id="22" dur="500"/>
                                        <p:tgtEl>
                                          <p:spTgt spid="156">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56">
                                            <p:txEl>
                                              <p:pRg st="5" end="5"/>
                                            </p:txEl>
                                          </p:spTgt>
                                        </p:tgtEl>
                                        <p:attrNameLst>
                                          <p:attrName>style.visibility</p:attrName>
                                        </p:attrNameLst>
                                      </p:cBhvr>
                                      <p:to>
                                        <p:strVal val="visible"/>
                                      </p:to>
                                    </p:set>
                                    <p:animEffect transition="in" filter="blinds(horizontal)">
                                      <p:cBhvr>
                                        <p:cTn id="27" dur="500"/>
                                        <p:tgtEl>
                                          <p:spTgt spid="15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 grpId="0" build="p"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AAE1B-EAE0-A96C-405F-32A1784CA503}"/>
            </a:ext>
          </a:extLst>
        </p:cNvPr>
        <p:cNvGrpSpPr/>
        <p:nvPr/>
      </p:nvGrpSpPr>
      <p:grpSpPr>
        <a:xfrm>
          <a:off x="0" y="0"/>
          <a:ext cx="0" cy="0"/>
          <a:chOff x="0" y="0"/>
          <a:chExt cx="0" cy="0"/>
        </a:xfrm>
      </p:grpSpPr>
      <p:sp>
        <p:nvSpPr>
          <p:cNvPr id="156" name="在面试过程中…">
            <a:extLst>
              <a:ext uri="{FF2B5EF4-FFF2-40B4-BE49-F238E27FC236}">
                <a16:creationId xmlns:a16="http://schemas.microsoft.com/office/drawing/2014/main" id="{07702CF5-38C5-19AB-2EA5-C60BB4353FD8}"/>
              </a:ext>
            </a:extLst>
          </p:cNvPr>
          <p:cNvSpPr txBox="1">
            <a:spLocks noGrp="1"/>
          </p:cNvSpPr>
          <p:nvPr>
            <p:ph type="body" idx="1"/>
          </p:nvPr>
        </p:nvSpPr>
        <p:spPr>
          <a:xfrm>
            <a:off x="1" y="64402"/>
            <a:ext cx="13004799" cy="9536798"/>
          </a:xfrm>
          <a:prstGeom prst="rect">
            <a:avLst/>
          </a:prstGeom>
        </p:spPr>
        <p:txBody>
          <a:bodyPr numCol="1" spcCol="457200">
            <a:noAutofit/>
          </a:bodyPr>
          <a:lstStyle/>
          <a:p>
            <a:pPr marL="0" indent="0" defTabSz="504000">
              <a:spcBef>
                <a:spcPts val="0"/>
              </a:spcBef>
              <a:buNone/>
              <a:defRPr sz="2820" b="1">
                <a:latin typeface="Times New Roman"/>
                <a:ea typeface="Times New Roman"/>
                <a:cs typeface="Times New Roman"/>
                <a:sym typeface="Times New Roman"/>
              </a:defRPr>
            </a:pPr>
            <a:r>
              <a:rPr lang="en-US" altLang="zh-CN" sz="3200" dirty="0"/>
              <a:t>9. If you are willing to </a:t>
            </a:r>
            <a:r>
              <a:rPr lang="en-US" altLang="zh-CN" sz="3200" u="sng" dirty="0"/>
              <a:t>squeeze</a:t>
            </a:r>
            <a:r>
              <a:rPr lang="en-US" altLang="zh-CN" sz="3200" dirty="0"/>
              <a:t>, you will always get some.</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She squeezed the boy’s hand gently, offering a silent reassurance that everything would be alright. (Ren Sitong)</a:t>
            </a:r>
          </a:p>
          <a:p>
            <a:pPr marL="0" indent="0" defTabSz="504000">
              <a:spcBef>
                <a:spcPts val="0"/>
              </a:spcBef>
              <a:buNone/>
              <a:defRPr sz="2820" b="1">
                <a:latin typeface="Times New Roman"/>
                <a:ea typeface="Times New Roman"/>
                <a:cs typeface="Times New Roman"/>
                <a:sym typeface="Times New Roman"/>
              </a:defRPr>
            </a:pPr>
            <a:r>
              <a:rPr lang="en-US" altLang="zh-CN" sz="3200" dirty="0"/>
              <a:t>She knew the schedule was tight, but she managed to squeeze in a ten-minute call with her parents, which strengthened their emotional bond. (Xu </a:t>
            </a:r>
            <a:r>
              <a:rPr lang="en-US" altLang="zh-CN" sz="3200" dirty="0" err="1"/>
              <a:t>Kejia</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r>
              <a:rPr lang="en-US" altLang="zh-CN" sz="3200" dirty="0"/>
              <a:t>Squeezing time into your schedule to have meaningful conversations with parents can significantly improve your outlook on life, empowering you to face challenges ahead with renewed energy and a positive attitude. (Zhu Xinyue)</a:t>
            </a:r>
          </a:p>
          <a:p>
            <a:pPr marL="0" indent="0" defTabSz="504000">
              <a:spcBef>
                <a:spcPts val="0"/>
              </a:spcBef>
              <a:buNone/>
              <a:defRPr sz="2820" b="1">
                <a:latin typeface="Times New Roman"/>
                <a:ea typeface="Times New Roman"/>
                <a:cs typeface="Times New Roman"/>
                <a:sym typeface="Times New Roman"/>
              </a:defRPr>
            </a:pPr>
            <a:r>
              <a:rPr lang="en-GB" sz="3200" dirty="0"/>
              <a:t>To prepare for the upcoming exams, you need to </a:t>
            </a:r>
            <a:r>
              <a:rPr lang="en-GB" sz="3200" b="1" dirty="0"/>
              <a:t>squeeze every spare minute into review sessions</a:t>
            </a:r>
            <a:r>
              <a:rPr lang="en-GB" sz="3200" dirty="0"/>
              <a:t>, even during short breaks/brief intervals between classes/at recess/. (Yu </a:t>
            </a:r>
            <a:r>
              <a:rPr lang="en-GB" sz="3200" dirty="0" err="1"/>
              <a:t>Jiayun</a:t>
            </a:r>
            <a:r>
              <a:rPr lang="en-GB" sz="3200" dirty="0"/>
              <a:t>)</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p:txBody>
      </p:sp>
    </p:spTree>
    <p:extLst>
      <p:ext uri="{BB962C8B-B14F-4D97-AF65-F5344CB8AC3E}">
        <p14:creationId xmlns:p14="http://schemas.microsoft.com/office/powerpoint/2010/main" val="313105106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6">
                                            <p:bg/>
                                          </p:spTgt>
                                        </p:tgtEl>
                                        <p:attrNameLst>
                                          <p:attrName>style.visibility</p:attrName>
                                        </p:attrNameLst>
                                      </p:cBhvr>
                                      <p:to>
                                        <p:strVal val="visible"/>
                                      </p:to>
                                    </p:set>
                                    <p:animEffect transition="in" filter="blinds(horizontal)">
                                      <p:cBhvr>
                                        <p:cTn id="7" dur="500"/>
                                        <p:tgtEl>
                                          <p:spTgt spid="156">
                                            <p:bg/>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6">
                                            <p:txEl>
                                              <p:pRg st="0" end="0"/>
                                            </p:txEl>
                                          </p:spTgt>
                                        </p:tgtEl>
                                        <p:attrNameLst>
                                          <p:attrName>style.visibility</p:attrName>
                                        </p:attrNameLst>
                                      </p:cBhvr>
                                      <p:to>
                                        <p:strVal val="visible"/>
                                      </p:to>
                                    </p:set>
                                    <p:animEffect transition="in" filter="blinds(horizontal)">
                                      <p:cBhvr>
                                        <p:cTn id="12" dur="500"/>
                                        <p:tgtEl>
                                          <p:spTgt spid="15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6">
                                            <p:txEl>
                                              <p:pRg st="2" end="2"/>
                                            </p:txEl>
                                          </p:spTgt>
                                        </p:tgtEl>
                                        <p:attrNameLst>
                                          <p:attrName>style.visibility</p:attrName>
                                        </p:attrNameLst>
                                      </p:cBhvr>
                                      <p:to>
                                        <p:strVal val="visible"/>
                                      </p:to>
                                    </p:set>
                                    <p:animEffect transition="in" filter="blinds(horizontal)">
                                      <p:cBhvr>
                                        <p:cTn id="17" dur="500"/>
                                        <p:tgtEl>
                                          <p:spTgt spid="15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56">
                                            <p:txEl>
                                              <p:pRg st="3" end="3"/>
                                            </p:txEl>
                                          </p:spTgt>
                                        </p:tgtEl>
                                        <p:attrNameLst>
                                          <p:attrName>style.visibility</p:attrName>
                                        </p:attrNameLst>
                                      </p:cBhvr>
                                      <p:to>
                                        <p:strVal val="visible"/>
                                      </p:to>
                                    </p:set>
                                    <p:animEffect transition="in" filter="blinds(horizontal)">
                                      <p:cBhvr>
                                        <p:cTn id="22" dur="500"/>
                                        <p:tgtEl>
                                          <p:spTgt spid="15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56">
                                            <p:txEl>
                                              <p:pRg st="4" end="4"/>
                                            </p:txEl>
                                          </p:spTgt>
                                        </p:tgtEl>
                                        <p:attrNameLst>
                                          <p:attrName>style.visibility</p:attrName>
                                        </p:attrNameLst>
                                      </p:cBhvr>
                                      <p:to>
                                        <p:strVal val="visible"/>
                                      </p:to>
                                    </p:set>
                                    <p:animEffect transition="in" filter="blinds(horizontal)">
                                      <p:cBhvr>
                                        <p:cTn id="27" dur="500"/>
                                        <p:tgtEl>
                                          <p:spTgt spid="15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56">
                                            <p:txEl>
                                              <p:pRg st="5" end="5"/>
                                            </p:txEl>
                                          </p:spTgt>
                                        </p:tgtEl>
                                        <p:attrNameLst>
                                          <p:attrName>style.visibility</p:attrName>
                                        </p:attrNameLst>
                                      </p:cBhvr>
                                      <p:to>
                                        <p:strVal val="visible"/>
                                      </p:to>
                                    </p:set>
                                    <p:animEffect transition="in" filter="blinds(horizontal)">
                                      <p:cBhvr>
                                        <p:cTn id="32" dur="500"/>
                                        <p:tgtEl>
                                          <p:spTgt spid="15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 grpId="0" build="p"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86161-152F-5D13-4DD6-F70A98F6E6AA}"/>
            </a:ext>
          </a:extLst>
        </p:cNvPr>
        <p:cNvGrpSpPr/>
        <p:nvPr/>
      </p:nvGrpSpPr>
      <p:grpSpPr>
        <a:xfrm>
          <a:off x="0" y="0"/>
          <a:ext cx="0" cy="0"/>
          <a:chOff x="0" y="0"/>
          <a:chExt cx="0" cy="0"/>
        </a:xfrm>
      </p:grpSpPr>
      <p:sp>
        <p:nvSpPr>
          <p:cNvPr id="156" name="在面试过程中…">
            <a:extLst>
              <a:ext uri="{FF2B5EF4-FFF2-40B4-BE49-F238E27FC236}">
                <a16:creationId xmlns:a16="http://schemas.microsoft.com/office/drawing/2014/main" id="{31159D1D-7459-62D5-DBE4-4CE185BB3997}"/>
              </a:ext>
            </a:extLst>
          </p:cNvPr>
          <p:cNvSpPr txBox="1">
            <a:spLocks noGrp="1"/>
          </p:cNvSpPr>
          <p:nvPr>
            <p:ph type="body" idx="1"/>
          </p:nvPr>
        </p:nvSpPr>
        <p:spPr>
          <a:xfrm>
            <a:off x="1" y="64402"/>
            <a:ext cx="13004799" cy="9536798"/>
          </a:xfrm>
          <a:prstGeom prst="rect">
            <a:avLst/>
          </a:prstGeom>
        </p:spPr>
        <p:txBody>
          <a:bodyPr numCol="1" spcCol="457200">
            <a:noAutofit/>
          </a:bodyPr>
          <a:lstStyle/>
          <a:p>
            <a:pPr marL="0" indent="0" defTabSz="504000">
              <a:spcBef>
                <a:spcPts val="0"/>
              </a:spcBef>
              <a:buNone/>
              <a:defRPr sz="2820" b="1">
                <a:latin typeface="Times New Roman"/>
                <a:ea typeface="Times New Roman"/>
                <a:cs typeface="Times New Roman"/>
                <a:sym typeface="Times New Roman"/>
              </a:defRPr>
            </a:pPr>
            <a:r>
              <a:rPr lang="en-US" altLang="zh-CN" sz="3200" dirty="0"/>
              <a:t>10.</a:t>
            </a:r>
            <a:r>
              <a:rPr lang="zh-CN" altLang="en-US" sz="3200" dirty="0"/>
              <a:t> </a:t>
            </a:r>
            <a:r>
              <a:rPr lang="en-US" altLang="zh-CN" sz="3200" dirty="0"/>
              <a:t>A mind map is a diagram that consists of a central idea with related ideas </a:t>
            </a:r>
            <a:r>
              <a:rPr lang="en-US" altLang="zh-CN" sz="3200" u="sng" dirty="0"/>
              <a:t>branching out</a:t>
            </a:r>
            <a:r>
              <a:rPr lang="en-US" altLang="zh-CN" sz="3200" dirty="0"/>
              <a:t>, </a:t>
            </a:r>
            <a:r>
              <a:rPr lang="en-US" altLang="zh-CN" sz="3200" u="sng" dirty="0"/>
              <a:t>all arranged in an interconnected manner</a:t>
            </a:r>
            <a:r>
              <a:rPr lang="en-US" altLang="zh-CN" sz="3200" dirty="0"/>
              <a:t>. (all…</a:t>
            </a:r>
            <a:r>
              <a:rPr lang="zh-CN" altLang="en-US" sz="3200" dirty="0"/>
              <a:t>独立主格</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She stood there deep in thought</a:t>
            </a:r>
            <a:r>
              <a:rPr lang="en-US" altLang="zh-CN" sz="3200"/>
              <a:t>, </a:t>
            </a:r>
            <a:r>
              <a:rPr lang="en-US" altLang="zh-CN" sz="3200">
                <a:solidFill>
                  <a:srgbClr val="FF0000"/>
                </a:solidFill>
              </a:rPr>
              <a:t>possibilities/ideas </a:t>
            </a:r>
            <a:r>
              <a:rPr lang="en-US" altLang="zh-CN" sz="3200" dirty="0">
                <a:solidFill>
                  <a:srgbClr val="FF0000"/>
                </a:solidFill>
              </a:rPr>
              <a:t>branching out </a:t>
            </a:r>
            <a:r>
              <a:rPr lang="en-US" altLang="zh-CN" sz="3200" dirty="0"/>
              <a:t>in her mind, all leading her toward </a:t>
            </a:r>
            <a:r>
              <a:rPr lang="en-GB" altLang="zh-CN" sz="3200" dirty="0"/>
              <a:t>…</a:t>
            </a:r>
            <a:endParaRPr lang="en-US" altLang="zh-CN" sz="3200" dirty="0"/>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The team was completely burnt out/utterly drained on the ground/collapsed to the ground, gasping for breath, yet everyone beamed broad smiles with satisfaction and pride. (Ma </a:t>
            </a:r>
            <a:r>
              <a:rPr lang="en-US" altLang="zh-CN" sz="3200" dirty="0" err="1"/>
              <a:t>Zhijie</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r>
              <a:rPr lang="en-GB" altLang="zh-CN" sz="3200" dirty="0"/>
              <a:t>…yet</a:t>
            </a:r>
            <a:r>
              <a:rPr lang="en-US" altLang="zh-CN" sz="3200" dirty="0"/>
              <a:t> </a:t>
            </a:r>
            <a:r>
              <a:rPr lang="en-GB" altLang="zh-CN" sz="3200" dirty="0"/>
              <a:t>their</a:t>
            </a:r>
            <a:r>
              <a:rPr lang="en-US" altLang="zh-CN" sz="3200" dirty="0"/>
              <a:t> </a:t>
            </a:r>
            <a:r>
              <a:rPr lang="en-GB" altLang="zh-CN" sz="3200" dirty="0"/>
              <a:t>faces</a:t>
            </a:r>
            <a:r>
              <a:rPr lang="en-US" altLang="zh-CN" sz="3200" dirty="0"/>
              <a:t> </a:t>
            </a:r>
            <a:r>
              <a:rPr lang="en-GB" altLang="zh-CN" sz="3200" dirty="0"/>
              <a:t>radiated</a:t>
            </a:r>
            <a:r>
              <a:rPr lang="en-US" altLang="zh-CN" sz="3200" dirty="0"/>
              <a:t> </a:t>
            </a:r>
            <a:r>
              <a:rPr lang="en-GB" altLang="zh-CN" sz="3200" dirty="0"/>
              <a:t>broad smiles brimming with …</a:t>
            </a:r>
            <a:endParaRPr lang="en-US" altLang="zh-CN" sz="3200" dirty="0"/>
          </a:p>
        </p:txBody>
      </p:sp>
    </p:spTree>
    <p:extLst>
      <p:ext uri="{BB962C8B-B14F-4D97-AF65-F5344CB8AC3E}">
        <p14:creationId xmlns:p14="http://schemas.microsoft.com/office/powerpoint/2010/main" val="164875815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6">
                                            <p:bg/>
                                          </p:spTgt>
                                        </p:tgtEl>
                                        <p:attrNameLst>
                                          <p:attrName>style.visibility</p:attrName>
                                        </p:attrNameLst>
                                      </p:cBhvr>
                                      <p:to>
                                        <p:strVal val="visible"/>
                                      </p:to>
                                    </p:set>
                                    <p:animEffect transition="in" filter="blinds(horizontal)">
                                      <p:cBhvr>
                                        <p:cTn id="7" dur="500"/>
                                        <p:tgtEl>
                                          <p:spTgt spid="156">
                                            <p:bg/>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6">
                                            <p:txEl>
                                              <p:pRg st="0" end="0"/>
                                            </p:txEl>
                                          </p:spTgt>
                                        </p:tgtEl>
                                        <p:attrNameLst>
                                          <p:attrName>style.visibility</p:attrName>
                                        </p:attrNameLst>
                                      </p:cBhvr>
                                      <p:to>
                                        <p:strVal val="visible"/>
                                      </p:to>
                                    </p:set>
                                    <p:animEffect transition="in" filter="blinds(horizontal)">
                                      <p:cBhvr>
                                        <p:cTn id="12" dur="500"/>
                                        <p:tgtEl>
                                          <p:spTgt spid="15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6">
                                            <p:txEl>
                                              <p:pRg st="2" end="2"/>
                                            </p:txEl>
                                          </p:spTgt>
                                        </p:tgtEl>
                                        <p:attrNameLst>
                                          <p:attrName>style.visibility</p:attrName>
                                        </p:attrNameLst>
                                      </p:cBhvr>
                                      <p:to>
                                        <p:strVal val="visible"/>
                                      </p:to>
                                    </p:set>
                                    <p:animEffect transition="in" filter="blinds(horizontal)">
                                      <p:cBhvr>
                                        <p:cTn id="17" dur="500"/>
                                        <p:tgtEl>
                                          <p:spTgt spid="15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56">
                                            <p:txEl>
                                              <p:pRg st="4" end="4"/>
                                            </p:txEl>
                                          </p:spTgt>
                                        </p:tgtEl>
                                        <p:attrNameLst>
                                          <p:attrName>style.visibility</p:attrName>
                                        </p:attrNameLst>
                                      </p:cBhvr>
                                      <p:to>
                                        <p:strVal val="visible"/>
                                      </p:to>
                                    </p:set>
                                    <p:animEffect transition="in" filter="blinds(horizontal)">
                                      <p:cBhvr>
                                        <p:cTn id="22" dur="500"/>
                                        <p:tgtEl>
                                          <p:spTgt spid="156">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56">
                                            <p:txEl>
                                              <p:pRg st="5" end="5"/>
                                            </p:txEl>
                                          </p:spTgt>
                                        </p:tgtEl>
                                        <p:attrNameLst>
                                          <p:attrName>style.visibility</p:attrName>
                                        </p:attrNameLst>
                                      </p:cBhvr>
                                      <p:to>
                                        <p:strVal val="visible"/>
                                      </p:to>
                                    </p:set>
                                    <p:animEffect transition="in" filter="blinds(horizontal)">
                                      <p:cBhvr>
                                        <p:cTn id="27" dur="500"/>
                                        <p:tgtEl>
                                          <p:spTgt spid="15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 grpId="0" build="p"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49C84-1E17-FF1D-3E51-004DB0AFB643}"/>
            </a:ext>
          </a:extLst>
        </p:cNvPr>
        <p:cNvGrpSpPr/>
        <p:nvPr/>
      </p:nvGrpSpPr>
      <p:grpSpPr>
        <a:xfrm>
          <a:off x="0" y="0"/>
          <a:ext cx="0" cy="0"/>
          <a:chOff x="0" y="0"/>
          <a:chExt cx="0" cy="0"/>
        </a:xfrm>
      </p:grpSpPr>
      <p:sp>
        <p:nvSpPr>
          <p:cNvPr id="156" name="在面试过程中…">
            <a:extLst>
              <a:ext uri="{FF2B5EF4-FFF2-40B4-BE49-F238E27FC236}">
                <a16:creationId xmlns:a16="http://schemas.microsoft.com/office/drawing/2014/main" id="{DEF2F506-3741-7A14-AD31-127517997FD4}"/>
              </a:ext>
            </a:extLst>
          </p:cNvPr>
          <p:cNvSpPr txBox="1">
            <a:spLocks noGrp="1"/>
          </p:cNvSpPr>
          <p:nvPr>
            <p:ph type="body" idx="1"/>
          </p:nvPr>
        </p:nvSpPr>
        <p:spPr>
          <a:xfrm>
            <a:off x="1" y="64402"/>
            <a:ext cx="13004799" cy="9536798"/>
          </a:xfrm>
          <a:prstGeom prst="rect">
            <a:avLst/>
          </a:prstGeom>
        </p:spPr>
        <p:txBody>
          <a:bodyPr numCol="1" spcCol="457200">
            <a:noAutofit/>
          </a:bodyPr>
          <a:lstStyle/>
          <a:p>
            <a:pPr marL="0" indent="0" defTabSz="504000">
              <a:spcBef>
                <a:spcPts val="0"/>
              </a:spcBef>
              <a:buNone/>
              <a:defRPr sz="2820" b="1">
                <a:latin typeface="Times New Roman"/>
                <a:ea typeface="Times New Roman"/>
                <a:cs typeface="Times New Roman"/>
                <a:sym typeface="Times New Roman"/>
              </a:defRPr>
            </a:pPr>
            <a:r>
              <a:rPr lang="en-US" altLang="zh-CN" sz="3200" dirty="0"/>
              <a:t>11. It is helpful </a:t>
            </a:r>
            <a:r>
              <a:rPr lang="en-US" altLang="zh-CN" sz="3200" u="sng" dirty="0"/>
              <a:t>as long as </a:t>
            </a:r>
            <a:r>
              <a:rPr lang="en-US" altLang="zh-CN" sz="3200" dirty="0"/>
              <a:t>there is information to organize. (+only if; if only; as if; </a:t>
            </a:r>
            <a:r>
              <a:rPr lang="zh-CN" altLang="en-US" sz="3200" dirty="0"/>
              <a:t>整理更多连词：时间</a:t>
            </a:r>
            <a:r>
              <a:rPr lang="en-US" altLang="zh-CN" sz="3200" dirty="0"/>
              <a:t>/</a:t>
            </a:r>
            <a:r>
              <a:rPr lang="zh-CN" altLang="en-US" sz="3200" dirty="0"/>
              <a:t>转折</a:t>
            </a:r>
            <a:r>
              <a:rPr lang="en-US" altLang="zh-CN" sz="3200" dirty="0"/>
              <a:t>/</a:t>
            </a:r>
            <a:r>
              <a:rPr lang="zh-CN" altLang="en-US" sz="3200" dirty="0"/>
              <a:t>对比</a:t>
            </a:r>
            <a:r>
              <a:rPr lang="en-US" altLang="zh-CN" sz="3200" dirty="0"/>
              <a:t>/</a:t>
            </a:r>
            <a:r>
              <a:rPr lang="zh-CN" altLang="en-US" sz="3200" dirty="0"/>
              <a:t>让步；副词：因果</a:t>
            </a:r>
            <a:r>
              <a:rPr lang="en-US" altLang="zh-CN" sz="3200" dirty="0"/>
              <a:t>/</a:t>
            </a:r>
            <a:r>
              <a:rPr lang="zh-CN" altLang="en-US" sz="3200" dirty="0"/>
              <a:t>递进</a:t>
            </a:r>
            <a:r>
              <a:rPr lang="en-US" altLang="zh-CN" sz="3200" dirty="0"/>
              <a:t>/</a:t>
            </a:r>
            <a:r>
              <a:rPr lang="zh-CN" altLang="en-US" sz="3200" dirty="0"/>
              <a:t>转折</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As long as each of us makes small, conscious changes, such as turning off lights when leaving a room, we </a:t>
            </a:r>
            <a:r>
              <a:rPr lang="en-GB" sz="3200" b="1" dirty="0">
                <a:sym typeface="Times New Roman"/>
              </a:rPr>
              <a:t>collectively make a significant difference. (Yu </a:t>
            </a:r>
            <a:r>
              <a:rPr lang="en-GB" sz="3200" b="1" dirty="0" err="1">
                <a:sym typeface="Times New Roman"/>
              </a:rPr>
              <a:t>Jiayun</a:t>
            </a:r>
            <a:r>
              <a:rPr lang="en-GB" sz="3200" b="1" dirty="0">
                <a:sym typeface="Times New Roman"/>
              </a:rPr>
              <a:t>)</a:t>
            </a:r>
          </a:p>
          <a:p>
            <a:pPr marL="0" indent="0" defTabSz="504000">
              <a:spcBef>
                <a:spcPts val="0"/>
              </a:spcBef>
              <a:buNone/>
              <a:defRPr sz="2820" b="1">
                <a:latin typeface="Times New Roman"/>
                <a:ea typeface="Times New Roman"/>
                <a:cs typeface="Times New Roman"/>
                <a:sym typeface="Times New Roman"/>
              </a:defRPr>
            </a:pPr>
            <a:r>
              <a:rPr lang="en-US" altLang="zh-CN" sz="3200" dirty="0"/>
              <a:t>Acutely aware of her predicament, she thought bitterly to herself, “If only I had started preparing earlier.” (Yu </a:t>
            </a:r>
            <a:r>
              <a:rPr lang="en-US" altLang="zh-CN" sz="3200" dirty="0" err="1"/>
              <a:t>Jiayun</a:t>
            </a:r>
            <a:r>
              <a:rPr lang="en-US" altLang="zh-CN" sz="3200" dirty="0"/>
              <a:t>)</a:t>
            </a:r>
          </a:p>
        </p:txBody>
      </p:sp>
    </p:spTree>
    <p:extLst>
      <p:ext uri="{BB962C8B-B14F-4D97-AF65-F5344CB8AC3E}">
        <p14:creationId xmlns:p14="http://schemas.microsoft.com/office/powerpoint/2010/main" val="376104656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6">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 grpId="0" build="p" animBg="1"/>
    </p:bld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D2788D1-A27F-0166-7602-CC60BF2A9032}"/>
              </a:ext>
            </a:extLst>
          </p:cNvPr>
          <p:cNvSpPr txBox="1"/>
          <p:nvPr/>
        </p:nvSpPr>
        <p:spPr>
          <a:xfrm>
            <a:off x="-2308" y="0"/>
            <a:ext cx="13007108" cy="78483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indent="0" algn="l" defTabSz="504000">
              <a:spcBef>
                <a:spcPts val="0"/>
              </a:spcBef>
              <a:buNone/>
              <a:defRPr sz="2820" b="1">
                <a:latin typeface="Times New Roman"/>
                <a:ea typeface="Times New Roman"/>
                <a:cs typeface="Times New Roman"/>
                <a:sym typeface="Times New Roman"/>
              </a:defRPr>
            </a:pPr>
            <a:r>
              <a:rPr lang="zh-CN" altLang="en-US" sz="3600" dirty="0">
                <a:solidFill>
                  <a:srgbClr val="FF0000"/>
                </a:solidFill>
              </a:rPr>
              <a:t>选修三 </a:t>
            </a:r>
            <a:r>
              <a:rPr lang="en-US" altLang="zh-CN" sz="3600" dirty="0">
                <a:solidFill>
                  <a:srgbClr val="FF0000"/>
                </a:solidFill>
              </a:rPr>
              <a:t>U2 Reading:</a:t>
            </a:r>
          </a:p>
          <a:p>
            <a:pPr marL="360000" indent="-360000" algn="l" defTabSz="504000">
              <a:spcBef>
                <a:spcPts val="0"/>
              </a:spcBef>
              <a:buFont typeface="+mj-lt"/>
              <a:buAutoNum type="arabicPeriod"/>
              <a:defRPr sz="2820" b="1">
                <a:latin typeface="Times New Roman"/>
                <a:ea typeface="Times New Roman"/>
                <a:cs typeface="Times New Roman"/>
                <a:sym typeface="Times New Roman"/>
              </a:defRPr>
            </a:pPr>
            <a:r>
              <a:rPr lang="en-GB" altLang="zh-CN" sz="3600" u="sng" dirty="0"/>
              <a:t>Imagining himself pursing</a:t>
            </a:r>
            <a:r>
              <a:rPr lang="en-GB" altLang="zh-CN" sz="3600" dirty="0"/>
              <a:t> a beam of light, …</a:t>
            </a:r>
          </a:p>
          <a:p>
            <a:pPr marL="360000" indent="-360000" algn="l" defTabSz="504000">
              <a:spcBef>
                <a:spcPts val="0"/>
              </a:spcBef>
              <a:buFont typeface="+mj-lt"/>
              <a:buAutoNum type="arabicPeriod"/>
              <a:defRPr sz="2820" b="1">
                <a:latin typeface="Times New Roman"/>
                <a:ea typeface="Times New Roman"/>
                <a:cs typeface="Times New Roman"/>
                <a:sym typeface="Times New Roman"/>
              </a:defRPr>
            </a:pPr>
            <a:r>
              <a:rPr lang="en-GB" altLang="zh-CN" sz="3600" u="sng" dirty="0"/>
              <a:t>As</a:t>
            </a:r>
            <a:r>
              <a:rPr lang="en-GB" altLang="zh-CN" sz="3600" dirty="0"/>
              <a:t> we explore the world in greater depth, we may </a:t>
            </a:r>
            <a:r>
              <a:rPr lang="en-GB" altLang="zh-CN" sz="3600" u="sng" dirty="0"/>
              <a:t>reach a point where</a:t>
            </a:r>
            <a:r>
              <a:rPr lang="en-GB" altLang="zh-CN" sz="3600" dirty="0"/>
              <a:t> …</a:t>
            </a:r>
          </a:p>
          <a:p>
            <a:pPr marL="360000" indent="-360000" algn="l" defTabSz="504000">
              <a:spcBef>
                <a:spcPts val="0"/>
              </a:spcBef>
              <a:buFont typeface="+mj-lt"/>
              <a:buAutoNum type="arabicPeriod"/>
              <a:defRPr sz="2820" b="1">
                <a:latin typeface="Times New Roman"/>
                <a:ea typeface="Times New Roman"/>
                <a:cs typeface="Times New Roman"/>
                <a:sym typeface="Times New Roman"/>
              </a:defRPr>
            </a:pPr>
            <a:r>
              <a:rPr lang="en-GB" altLang="zh-CN" sz="3600" dirty="0"/>
              <a:t>…, which </a:t>
            </a:r>
            <a:r>
              <a:rPr lang="en-GB" altLang="zh-CN" sz="3600" u="sng" dirty="0"/>
              <a:t>function as </a:t>
            </a:r>
            <a:r>
              <a:rPr lang="en-GB" altLang="zh-CN" sz="3600" dirty="0"/>
              <a:t>a valuable means to test the </a:t>
            </a:r>
            <a:r>
              <a:rPr lang="en-GB" altLang="zh-CN" sz="3600" u="sng" dirty="0"/>
              <a:t>limits</a:t>
            </a:r>
            <a:r>
              <a:rPr lang="en-GB" altLang="zh-CN" sz="3600" dirty="0"/>
              <a:t> of our knowledge and advance our understanding of the world.</a:t>
            </a:r>
          </a:p>
          <a:p>
            <a:pPr marL="360000" indent="-360000" algn="l" defTabSz="504000">
              <a:spcBef>
                <a:spcPts val="0"/>
              </a:spcBef>
              <a:buFont typeface="+mj-lt"/>
              <a:buAutoNum type="arabicPeriod"/>
              <a:defRPr sz="2820" b="1">
                <a:latin typeface="Times New Roman"/>
                <a:ea typeface="Times New Roman"/>
                <a:cs typeface="Times New Roman"/>
                <a:sym typeface="Times New Roman"/>
              </a:defRPr>
            </a:pPr>
            <a:r>
              <a:rPr lang="en-GB" altLang="zh-CN" sz="3600" dirty="0"/>
              <a:t>…the use of thought experiments can be </a:t>
            </a:r>
            <a:r>
              <a:rPr lang="en-GB" altLang="zh-CN" sz="3600" u="sng" dirty="0"/>
              <a:t>trace</a:t>
            </a:r>
            <a:r>
              <a:rPr lang="en-GB" altLang="zh-CN" sz="3600" dirty="0"/>
              <a:t>d much further back, …(+ n.)</a:t>
            </a:r>
          </a:p>
          <a:p>
            <a:pPr marL="360000" indent="-360000" algn="l" defTabSz="504000">
              <a:spcBef>
                <a:spcPts val="0"/>
              </a:spcBef>
              <a:buFont typeface="+mj-lt"/>
              <a:buAutoNum type="arabicPeriod"/>
              <a:defRPr sz="2820" b="1">
                <a:latin typeface="Times New Roman"/>
                <a:ea typeface="Times New Roman"/>
                <a:cs typeface="Times New Roman"/>
                <a:sym typeface="Times New Roman"/>
              </a:defRPr>
            </a:pPr>
            <a:r>
              <a:rPr lang="en-GB" altLang="zh-CN" sz="3600" u="sng" dirty="0"/>
              <a:t>Doubtful</a:t>
            </a:r>
            <a:r>
              <a:rPr lang="en-GB" altLang="zh-CN" sz="3600" dirty="0"/>
              <a:t>, Galileo asked what would happen …</a:t>
            </a:r>
          </a:p>
          <a:p>
            <a:pPr marL="360000" indent="-360000" algn="l" defTabSz="504000">
              <a:spcBef>
                <a:spcPts val="0"/>
              </a:spcBef>
              <a:buFont typeface="+mj-lt"/>
              <a:buAutoNum type="arabicPeriod"/>
              <a:defRPr sz="2820" b="1">
                <a:latin typeface="Times New Roman"/>
                <a:ea typeface="Times New Roman"/>
                <a:cs typeface="Times New Roman"/>
                <a:sym typeface="Times New Roman"/>
              </a:defRPr>
            </a:pPr>
            <a:r>
              <a:rPr lang="en-GB" altLang="zh-CN" sz="3600" dirty="0"/>
              <a:t>Galileo was able to </a:t>
            </a:r>
            <a:r>
              <a:rPr lang="en-GB" altLang="zh-CN" sz="3600" u="sng" dirty="0"/>
              <a:t>expose</a:t>
            </a:r>
            <a:r>
              <a:rPr lang="en-GB" altLang="zh-CN" sz="3600" dirty="0"/>
              <a:t> the paradox. </a:t>
            </a:r>
          </a:p>
          <a:p>
            <a:pPr marL="360000" indent="-360000" algn="l" defTabSz="504000">
              <a:spcBef>
                <a:spcPts val="0"/>
              </a:spcBef>
              <a:buFont typeface="+mj-lt"/>
              <a:buAutoNum type="arabicPeriod"/>
              <a:defRPr sz="2820" b="1">
                <a:latin typeface="Times New Roman"/>
                <a:ea typeface="Times New Roman"/>
                <a:cs typeface="Times New Roman"/>
                <a:sym typeface="Times New Roman"/>
              </a:defRPr>
            </a:pPr>
            <a:r>
              <a:rPr lang="en-GB" altLang="zh-CN" sz="3600" dirty="0"/>
              <a:t>…, thought experiments can </a:t>
            </a:r>
            <a:r>
              <a:rPr lang="en-GB" altLang="zh-CN" sz="3600" u="sng" dirty="0"/>
              <a:t>stimulate</a:t>
            </a:r>
            <a:r>
              <a:rPr lang="en-GB" altLang="zh-CN" sz="3600" dirty="0"/>
              <a:t> debate and lead to …/the Ship of Theseus still </a:t>
            </a:r>
            <a:r>
              <a:rPr lang="en-GB" altLang="zh-CN" sz="3600" u="sng" dirty="0"/>
              <a:t>spark</a:t>
            </a:r>
            <a:r>
              <a:rPr lang="en-GB" altLang="zh-CN" sz="3600" dirty="0"/>
              <a:t>s intense debate …</a:t>
            </a:r>
          </a:p>
          <a:p>
            <a:pPr marL="360000" indent="-360000" algn="l" defTabSz="504000">
              <a:spcBef>
                <a:spcPts val="0"/>
              </a:spcBef>
              <a:buFont typeface="+mj-lt"/>
              <a:buAutoNum type="arabicPeriod"/>
              <a:defRPr sz="2820" b="1">
                <a:latin typeface="Times New Roman"/>
                <a:ea typeface="Times New Roman"/>
                <a:cs typeface="Times New Roman"/>
                <a:sym typeface="Times New Roman"/>
              </a:defRPr>
            </a:pPr>
            <a:r>
              <a:rPr lang="en-GB" altLang="zh-CN" sz="3600" dirty="0"/>
              <a:t>They also help us </a:t>
            </a:r>
            <a:r>
              <a:rPr lang="en-GB" altLang="zh-CN" sz="3600" u="sng" dirty="0"/>
              <a:t>stretch</a:t>
            </a:r>
            <a:r>
              <a:rPr lang="en-GB" altLang="zh-CN" sz="3600" dirty="0"/>
              <a:t> our minds by </a:t>
            </a:r>
            <a:r>
              <a:rPr lang="en-GB" altLang="zh-CN" sz="3600" u="sng" dirty="0"/>
              <a:t>confront</a:t>
            </a:r>
            <a:r>
              <a:rPr lang="en-GB" altLang="zh-CN" sz="3600" dirty="0"/>
              <a:t>ing and considering difficult questions. </a:t>
            </a:r>
          </a:p>
        </p:txBody>
      </p:sp>
    </p:spTree>
    <p:extLst>
      <p:ext uri="{BB962C8B-B14F-4D97-AF65-F5344CB8AC3E}">
        <p14:creationId xmlns:p14="http://schemas.microsoft.com/office/powerpoint/2010/main" val="1604631102"/>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4BD90-2FBC-E320-9C81-376A35EBBCB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6BBE0D3-A434-17AC-57AC-0CF02624D38D}"/>
              </a:ext>
            </a:extLst>
          </p:cNvPr>
          <p:cNvSpPr txBox="1"/>
          <p:nvPr/>
        </p:nvSpPr>
        <p:spPr>
          <a:xfrm>
            <a:off x="-2308" y="0"/>
            <a:ext cx="13007108" cy="40318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indent="0" algn="l" defTabSz="504000">
              <a:spcBef>
                <a:spcPts val="0"/>
              </a:spcBef>
              <a:buNone/>
              <a:defRPr sz="2820" b="1">
                <a:latin typeface="Times New Roman"/>
                <a:ea typeface="Times New Roman"/>
                <a:cs typeface="Times New Roman"/>
                <a:sym typeface="Times New Roman"/>
              </a:defRPr>
            </a:pPr>
            <a:r>
              <a:rPr lang="zh-CN" altLang="en-US" sz="3200" dirty="0">
                <a:solidFill>
                  <a:srgbClr val="FF0000"/>
                </a:solidFill>
              </a:rPr>
              <a:t>选修三 </a:t>
            </a:r>
            <a:r>
              <a:rPr lang="en-US" altLang="zh-CN" sz="3200" dirty="0">
                <a:solidFill>
                  <a:srgbClr val="FF0000"/>
                </a:solidFill>
              </a:rPr>
              <a:t>U2 Reading:</a:t>
            </a:r>
          </a:p>
          <a:p>
            <a:pPr marL="360000" indent="-360000" algn="l" defTabSz="504000">
              <a:spcBef>
                <a:spcPts val="0"/>
              </a:spcBef>
              <a:buFont typeface="+mj-lt"/>
              <a:buAutoNum type="arabicPeriod"/>
              <a:defRPr sz="2820" b="1">
                <a:latin typeface="Times New Roman"/>
                <a:ea typeface="Times New Roman"/>
                <a:cs typeface="Times New Roman"/>
                <a:sym typeface="Times New Roman"/>
              </a:defRPr>
            </a:pPr>
            <a:r>
              <a:rPr lang="en-GB" altLang="zh-CN" sz="3200" u="sng" dirty="0"/>
              <a:t>Imagining himself pursing</a:t>
            </a:r>
            <a:r>
              <a:rPr lang="en-GB" altLang="zh-CN" sz="3200" dirty="0"/>
              <a:t> a beam of light, …</a:t>
            </a:r>
          </a:p>
          <a:p>
            <a:pPr algn="l" defTabSz="504000">
              <a:spcBef>
                <a:spcPts val="0"/>
              </a:spcBef>
              <a:defRPr sz="2820" b="1">
                <a:latin typeface="Times New Roman"/>
                <a:ea typeface="Times New Roman"/>
                <a:cs typeface="Times New Roman"/>
                <a:sym typeface="Times New Roman"/>
              </a:defRPr>
            </a:pPr>
            <a:endParaRPr lang="en-GB" altLang="zh-CN" sz="3200" dirty="0"/>
          </a:p>
          <a:p>
            <a:pPr algn="l" defTabSz="504000">
              <a:defRPr sz="2820" b="1">
                <a:latin typeface="Times New Roman"/>
                <a:ea typeface="Times New Roman"/>
                <a:cs typeface="Times New Roman"/>
                <a:sym typeface="Times New Roman"/>
              </a:defRPr>
            </a:pPr>
            <a:r>
              <a:rPr lang="en-GB" altLang="zh-CN" sz="3200" dirty="0"/>
              <a:t>Imagining himself pursuing his dream with unwavering determination, he clenched his fists and resolved to ... </a:t>
            </a:r>
          </a:p>
          <a:p>
            <a:pPr algn="l" defTabSz="504000">
              <a:defRPr sz="2820" b="1">
                <a:latin typeface="Times New Roman"/>
                <a:ea typeface="Times New Roman"/>
                <a:cs typeface="Times New Roman"/>
                <a:sym typeface="Times New Roman"/>
              </a:defRPr>
            </a:pPr>
            <a:r>
              <a:rPr lang="en-GB" altLang="zh-CN" sz="3200" dirty="0"/>
              <a:t>(Yu </a:t>
            </a:r>
            <a:r>
              <a:rPr lang="en-GB" altLang="zh-CN" sz="3200" dirty="0" err="1"/>
              <a:t>Jiayun</a:t>
            </a:r>
            <a:r>
              <a:rPr lang="en-GB" altLang="zh-CN" sz="3200" dirty="0"/>
              <a:t>)</a:t>
            </a:r>
          </a:p>
          <a:p>
            <a:pPr algn="l" defTabSz="504000">
              <a:defRPr sz="2820" b="1">
                <a:latin typeface="Times New Roman"/>
                <a:ea typeface="Times New Roman"/>
                <a:cs typeface="Times New Roman"/>
                <a:sym typeface="Times New Roman"/>
              </a:defRPr>
            </a:pPr>
            <a:r>
              <a:rPr lang="zh-CN" altLang="en-GB" sz="3200" dirty="0">
                <a:solidFill>
                  <a:srgbClr val="0000FF"/>
                </a:solidFill>
              </a:rPr>
              <a:t>想象</a:t>
            </a:r>
            <a:r>
              <a:rPr lang="zh-CN" altLang="en-US" sz="3200" dirty="0">
                <a:solidFill>
                  <a:srgbClr val="0000FF"/>
                </a:solidFill>
              </a:rPr>
              <a:t>画面</a:t>
            </a:r>
            <a:r>
              <a:rPr lang="en-US" altLang="zh-CN" sz="3200" dirty="0">
                <a:solidFill>
                  <a:srgbClr val="0000FF"/>
                </a:solidFill>
              </a:rPr>
              <a:t>+</a:t>
            </a:r>
            <a:r>
              <a:rPr lang="zh-CN" altLang="en-US" sz="3200" dirty="0">
                <a:solidFill>
                  <a:srgbClr val="0000FF"/>
                </a:solidFill>
              </a:rPr>
              <a:t>后续动作</a:t>
            </a:r>
            <a:endParaRPr lang="en-GB" altLang="zh-CN" sz="3200" dirty="0">
              <a:solidFill>
                <a:srgbClr val="0000FF"/>
              </a:solidFill>
            </a:endParaRPr>
          </a:p>
          <a:p>
            <a:pPr algn="l" defTabSz="504000">
              <a:defRPr sz="2820" b="1">
                <a:latin typeface="Times New Roman"/>
                <a:ea typeface="Times New Roman"/>
                <a:cs typeface="Times New Roman"/>
                <a:sym typeface="Times New Roman"/>
              </a:defRPr>
            </a:pPr>
            <a:r>
              <a:rPr lang="en-GB" altLang="zh-CN" sz="3200" dirty="0">
                <a:solidFill>
                  <a:srgbClr val="FF0000"/>
                </a:solidFill>
              </a:rPr>
              <a:t>Imagining himself chasing a beam of light, he…</a:t>
            </a:r>
          </a:p>
        </p:txBody>
      </p:sp>
    </p:spTree>
    <p:extLst>
      <p:ext uri="{BB962C8B-B14F-4D97-AF65-F5344CB8AC3E}">
        <p14:creationId xmlns:p14="http://schemas.microsoft.com/office/powerpoint/2010/main" val="80788050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Effect transition="in" filter="blinds(horizontal)">
                                      <p:cBhvr>
                                        <p:cTn id="7" dur="500"/>
                                        <p:tgtEl>
                                          <p:spTgt spid="5">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4" end="4"/>
                                            </p:txEl>
                                          </p:spTgt>
                                        </p:tgtEl>
                                        <p:attrNameLst>
                                          <p:attrName>style.visibility</p:attrName>
                                        </p:attrNameLst>
                                      </p:cBhvr>
                                      <p:to>
                                        <p:strVal val="visible"/>
                                      </p:to>
                                    </p:set>
                                    <p:animEffect transition="in" filter="blinds(horizontal)">
                                      <p:cBhvr>
                                        <p:cTn id="12" dur="500"/>
                                        <p:tgtEl>
                                          <p:spTgt spid="5">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animEffect transition="in" filter="blinds(horizontal)">
                                      <p:cBhvr>
                                        <p:cTn id="17" dur="500"/>
                                        <p:tgtEl>
                                          <p:spTgt spid="5">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blinds(horizontal)">
                                      <p:cBhvr>
                                        <p:cTn id="22"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D16A3-7F78-33C3-92E4-71B2AA3ABC4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6AB94EF-889A-924C-3EFC-D1676B6A8549}"/>
              </a:ext>
            </a:extLst>
          </p:cNvPr>
          <p:cNvSpPr txBox="1"/>
          <p:nvPr/>
        </p:nvSpPr>
        <p:spPr>
          <a:xfrm>
            <a:off x="-2308" y="0"/>
            <a:ext cx="13007108" cy="452431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defTabSz="504000">
              <a:spcBef>
                <a:spcPts val="0"/>
              </a:spcBef>
              <a:defRPr sz="2820" b="1">
                <a:latin typeface="Times New Roman"/>
                <a:ea typeface="Times New Roman"/>
                <a:cs typeface="Times New Roman"/>
                <a:sym typeface="Times New Roman"/>
              </a:defRPr>
            </a:pPr>
            <a:r>
              <a:rPr lang="en-GB" altLang="zh-CN" sz="3200" dirty="0"/>
              <a:t>2. </a:t>
            </a:r>
            <a:r>
              <a:rPr lang="en-GB" altLang="zh-CN" sz="3200" u="sng" dirty="0"/>
              <a:t>As</a:t>
            </a:r>
            <a:r>
              <a:rPr lang="en-GB" altLang="zh-CN" sz="3200" dirty="0"/>
              <a:t> we explore the world in greater depth, we may </a:t>
            </a:r>
            <a:r>
              <a:rPr lang="en-GB" altLang="zh-CN" sz="3200" u="sng" dirty="0"/>
              <a:t>reach a point where</a:t>
            </a:r>
            <a:r>
              <a:rPr lang="en-GB" altLang="zh-CN" sz="3200" dirty="0"/>
              <a:t> …</a:t>
            </a:r>
          </a:p>
          <a:p>
            <a:pPr algn="l" defTabSz="504000">
              <a:spcBef>
                <a:spcPts val="0"/>
              </a:spcBef>
              <a:defRPr sz="2820" b="1">
                <a:latin typeface="Times New Roman"/>
                <a:ea typeface="Times New Roman"/>
                <a:cs typeface="Times New Roman"/>
                <a:sym typeface="Times New Roman"/>
              </a:defRPr>
            </a:pPr>
            <a:endParaRPr lang="en-GB" altLang="zh-CN" sz="3200" dirty="0"/>
          </a:p>
          <a:p>
            <a:pPr algn="l" defTabSz="504000">
              <a:defRPr sz="2820" b="1">
                <a:latin typeface="Times New Roman"/>
                <a:ea typeface="Times New Roman"/>
                <a:cs typeface="Times New Roman"/>
                <a:sym typeface="Times New Roman"/>
              </a:defRPr>
            </a:pPr>
            <a:r>
              <a:rPr lang="en-GB" altLang="zh-CN" sz="3200" dirty="0"/>
              <a:t>As we stretch our minds and imagine ourselves living in the future, we may reach a point where innovative ideas spring up continuously, opening up endless possibilities. (Jin Dian)</a:t>
            </a:r>
          </a:p>
          <a:p>
            <a:pPr algn="l" defTabSz="504000">
              <a:defRPr sz="2820" b="1">
                <a:latin typeface="Times New Roman"/>
                <a:ea typeface="Times New Roman"/>
                <a:cs typeface="Times New Roman"/>
                <a:sym typeface="Times New Roman"/>
              </a:defRPr>
            </a:pPr>
            <a:r>
              <a:rPr lang="zh-CN" altLang="en-GB" sz="3200" dirty="0">
                <a:solidFill>
                  <a:srgbClr val="0000FF"/>
                </a:solidFill>
              </a:rPr>
              <a:t>长时间</a:t>
            </a:r>
            <a:r>
              <a:rPr lang="zh-CN" altLang="en-US" sz="3200" dirty="0">
                <a:solidFill>
                  <a:srgbClr val="0000FF"/>
                </a:solidFill>
              </a:rPr>
              <a:t>做某事之后</a:t>
            </a:r>
            <a:r>
              <a:rPr lang="en-US" altLang="zh-CN" sz="3200" dirty="0">
                <a:solidFill>
                  <a:srgbClr val="0000FF"/>
                </a:solidFill>
              </a:rPr>
              <a:t>+</a:t>
            </a:r>
            <a:r>
              <a:rPr lang="zh-CN" altLang="en-US" sz="3200" dirty="0">
                <a:solidFill>
                  <a:srgbClr val="0000FF"/>
                </a:solidFill>
              </a:rPr>
              <a:t>到达极限</a:t>
            </a:r>
            <a:r>
              <a:rPr lang="en-US" altLang="zh-CN" sz="3200" dirty="0">
                <a:solidFill>
                  <a:srgbClr val="0000FF"/>
                </a:solidFill>
              </a:rPr>
              <a:t>+</a:t>
            </a:r>
            <a:r>
              <a:rPr lang="zh-CN" altLang="en-GB" sz="3200" dirty="0">
                <a:solidFill>
                  <a:srgbClr val="0000FF"/>
                </a:solidFill>
              </a:rPr>
              <a:t>但不放弃</a:t>
            </a:r>
            <a:endParaRPr lang="en-GB" altLang="zh-CN" sz="3200" dirty="0">
              <a:solidFill>
                <a:srgbClr val="0000FF"/>
              </a:solidFill>
            </a:endParaRPr>
          </a:p>
          <a:p>
            <a:pPr algn="l" defTabSz="504000">
              <a:defRPr sz="2820" b="1">
                <a:latin typeface="Times New Roman"/>
                <a:ea typeface="Times New Roman"/>
                <a:cs typeface="Times New Roman"/>
                <a:sym typeface="Times New Roman"/>
              </a:defRPr>
            </a:pPr>
            <a:r>
              <a:rPr lang="en-GB" altLang="zh-CN" sz="3200" dirty="0">
                <a:solidFill>
                  <a:srgbClr val="FF0000"/>
                </a:solidFill>
              </a:rPr>
              <a:t>After long hours of …, </a:t>
            </a:r>
            <a:r>
              <a:rPr lang="en-GB" altLang="zh-CN" sz="3200" dirty="0" err="1">
                <a:solidFill>
                  <a:srgbClr val="FF0000"/>
                </a:solidFill>
              </a:rPr>
              <a:t>sb</a:t>
            </a:r>
            <a:r>
              <a:rPr lang="en-GB" altLang="zh-CN" sz="3200" dirty="0">
                <a:solidFill>
                  <a:srgbClr val="FF0000"/>
                </a:solidFill>
              </a:rPr>
              <a:t> reached a point where hope seemed to fade and …, yet …</a:t>
            </a:r>
          </a:p>
        </p:txBody>
      </p:sp>
    </p:spTree>
    <p:extLst>
      <p:ext uri="{BB962C8B-B14F-4D97-AF65-F5344CB8AC3E}">
        <p14:creationId xmlns:p14="http://schemas.microsoft.com/office/powerpoint/2010/main" val="100541923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B72A1-911B-2D9E-D8EB-4E83D97E0AE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0502E8A-9E7A-5922-FAC1-E51CC07359D0}"/>
              </a:ext>
            </a:extLst>
          </p:cNvPr>
          <p:cNvSpPr txBox="1"/>
          <p:nvPr/>
        </p:nvSpPr>
        <p:spPr>
          <a:xfrm>
            <a:off x="-2308" y="0"/>
            <a:ext cx="13007108" cy="30469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defTabSz="504000">
              <a:spcBef>
                <a:spcPts val="0"/>
              </a:spcBef>
              <a:defRPr sz="2820" b="1">
                <a:latin typeface="Times New Roman"/>
                <a:ea typeface="Times New Roman"/>
                <a:cs typeface="Times New Roman"/>
                <a:sym typeface="Times New Roman"/>
              </a:defRPr>
            </a:pPr>
            <a:r>
              <a:rPr lang="en-GB" altLang="zh-CN" sz="3200" dirty="0"/>
              <a:t>3. …, which </a:t>
            </a:r>
            <a:r>
              <a:rPr lang="en-GB" altLang="zh-CN" sz="3200" u="sng" dirty="0"/>
              <a:t>function as </a:t>
            </a:r>
            <a:r>
              <a:rPr lang="en-GB" altLang="zh-CN" sz="3200" dirty="0"/>
              <a:t>a valuable means to test the </a:t>
            </a:r>
            <a:r>
              <a:rPr lang="en-GB" altLang="zh-CN" sz="3200" u="sng" dirty="0"/>
              <a:t>limits</a:t>
            </a:r>
            <a:r>
              <a:rPr lang="en-GB" altLang="zh-CN" sz="3200" dirty="0"/>
              <a:t> of our knowledge and advance our understanding of the world.</a:t>
            </a:r>
          </a:p>
          <a:p>
            <a:pPr algn="l" defTabSz="504000">
              <a:spcBef>
                <a:spcPts val="0"/>
              </a:spcBef>
              <a:defRPr sz="2820" b="1">
                <a:latin typeface="Times New Roman"/>
                <a:ea typeface="Times New Roman"/>
                <a:cs typeface="Times New Roman"/>
                <a:sym typeface="Times New Roman"/>
              </a:defRPr>
            </a:pPr>
            <a:endParaRPr lang="en-GB" altLang="zh-CN" sz="3200" dirty="0"/>
          </a:p>
          <a:p>
            <a:pPr algn="l" defTabSz="504000">
              <a:defRPr sz="2820" b="1">
                <a:latin typeface="Times New Roman"/>
                <a:ea typeface="Times New Roman"/>
                <a:cs typeface="Times New Roman"/>
                <a:sym typeface="Times New Roman"/>
              </a:defRPr>
            </a:pPr>
            <a:r>
              <a:rPr lang="en-GB" altLang="zh-CN" sz="3200" dirty="0"/>
              <a:t>Time management can function as an effective way to push ourselves to the limit, especially when we have little time for leisure. (Yu </a:t>
            </a:r>
            <a:r>
              <a:rPr lang="en-GB" altLang="zh-CN" sz="3200" dirty="0" err="1"/>
              <a:t>Jiayun</a:t>
            </a:r>
            <a:r>
              <a:rPr lang="en-GB" altLang="zh-CN" sz="3200" dirty="0"/>
              <a:t>)</a:t>
            </a:r>
          </a:p>
          <a:p>
            <a:pPr algn="l" defTabSz="504000">
              <a:defRPr sz="2820" b="1">
                <a:latin typeface="Times New Roman"/>
                <a:ea typeface="Times New Roman"/>
                <a:cs typeface="Times New Roman"/>
                <a:sym typeface="Times New Roman"/>
              </a:defRPr>
            </a:pPr>
            <a:r>
              <a:rPr lang="en-GB" altLang="zh-CN" sz="3200" dirty="0">
                <a:solidFill>
                  <a:srgbClr val="FF0000"/>
                </a:solidFill>
              </a:rPr>
              <a:t>test the limits of one’s strength/endurance</a:t>
            </a:r>
          </a:p>
        </p:txBody>
      </p:sp>
    </p:spTree>
    <p:extLst>
      <p:ext uri="{BB962C8B-B14F-4D97-AF65-F5344CB8AC3E}">
        <p14:creationId xmlns:p14="http://schemas.microsoft.com/office/powerpoint/2010/main" val="87535875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checkerboard(across)">
                                      <p:cBhvr>
                                        <p:cTn id="7" dur="500"/>
                                        <p:tgtEl>
                                          <p:spTgt spid="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checkerboard(across)">
                                      <p:cBhvr>
                                        <p:cTn id="1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00E45-F851-0BCC-B5CC-7A9DCA17FAE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4E82A1A-3E34-7A4C-87AD-B0B5D9D9601F}"/>
              </a:ext>
            </a:extLst>
          </p:cNvPr>
          <p:cNvSpPr txBox="1"/>
          <p:nvPr/>
        </p:nvSpPr>
        <p:spPr>
          <a:xfrm>
            <a:off x="-2308" y="0"/>
            <a:ext cx="13007108" cy="55092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defTabSz="504000">
              <a:spcBef>
                <a:spcPts val="0"/>
              </a:spcBef>
              <a:defRPr sz="2820" b="1">
                <a:latin typeface="Times New Roman"/>
                <a:ea typeface="Times New Roman"/>
                <a:cs typeface="Times New Roman"/>
                <a:sym typeface="Times New Roman"/>
              </a:defRPr>
            </a:pPr>
            <a:r>
              <a:rPr lang="en-GB" altLang="zh-CN" sz="3200" dirty="0"/>
              <a:t>4. …the use of thought experiments can be </a:t>
            </a:r>
            <a:r>
              <a:rPr lang="en-GB" altLang="zh-CN" sz="3200" u="sng" dirty="0"/>
              <a:t>trace</a:t>
            </a:r>
            <a:r>
              <a:rPr lang="en-GB" altLang="zh-CN" sz="3200" dirty="0"/>
              <a:t>d much further back, …(+ n.)</a:t>
            </a:r>
          </a:p>
          <a:p>
            <a:pPr algn="l" defTabSz="504000">
              <a:spcBef>
                <a:spcPts val="0"/>
              </a:spcBef>
              <a:defRPr sz="2820" b="1">
                <a:latin typeface="Times New Roman"/>
                <a:ea typeface="Times New Roman"/>
                <a:cs typeface="Times New Roman"/>
                <a:sym typeface="Times New Roman"/>
              </a:defRPr>
            </a:pPr>
            <a:endParaRPr lang="en-GB" altLang="zh-CN" sz="3200" dirty="0"/>
          </a:p>
          <a:p>
            <a:pPr algn="l" defTabSz="504000">
              <a:spcBef>
                <a:spcPts val="0"/>
              </a:spcBef>
              <a:defRPr sz="2820" b="1">
                <a:latin typeface="Times New Roman"/>
                <a:ea typeface="Times New Roman"/>
                <a:cs typeface="Times New Roman"/>
                <a:sym typeface="Times New Roman"/>
              </a:defRPr>
            </a:pPr>
            <a:r>
              <a:rPr lang="en-GB" altLang="zh-CN" sz="3200" dirty="0"/>
              <a:t>Be traced back to = date back to</a:t>
            </a:r>
          </a:p>
          <a:p>
            <a:pPr algn="l" defTabSz="504000">
              <a:spcBef>
                <a:spcPts val="0"/>
              </a:spcBef>
              <a:defRPr sz="2820" b="1">
                <a:latin typeface="Times New Roman"/>
                <a:ea typeface="Times New Roman"/>
                <a:cs typeface="Times New Roman"/>
                <a:sym typeface="Times New Roman"/>
              </a:defRPr>
            </a:pPr>
            <a:r>
              <a:rPr lang="en-GB" altLang="zh-CN" sz="3200" dirty="0"/>
              <a:t>trace </a:t>
            </a:r>
            <a:r>
              <a:rPr lang="en-GB" altLang="zh-CN" sz="3200" dirty="0" err="1"/>
              <a:t>sth</a:t>
            </a:r>
            <a:r>
              <a:rPr lang="en-GB" altLang="zh-CN" sz="3200" dirty="0"/>
              <a:t> back to …</a:t>
            </a:r>
            <a:r>
              <a:rPr lang="zh-CN" altLang="en-GB" sz="3200" dirty="0"/>
              <a:t>追踪</a:t>
            </a:r>
            <a:r>
              <a:rPr lang="en-GB" altLang="zh-CN" sz="3200" dirty="0"/>
              <a:t>(</a:t>
            </a:r>
            <a:r>
              <a:rPr lang="zh-CN" altLang="en-GB" sz="3200" dirty="0"/>
              <a:t>回</a:t>
            </a:r>
            <a:r>
              <a:rPr lang="en-GB" altLang="zh-CN" sz="3200" dirty="0"/>
              <a:t>)</a:t>
            </a:r>
            <a:r>
              <a:rPr lang="zh-CN" altLang="en-US" sz="3200" dirty="0"/>
              <a:t>至</a:t>
            </a:r>
            <a:r>
              <a:rPr lang="en-US" altLang="zh-CN" sz="3200" dirty="0"/>
              <a:t>……</a:t>
            </a:r>
          </a:p>
          <a:p>
            <a:pPr algn="l" defTabSz="504000">
              <a:spcBef>
                <a:spcPts val="0"/>
              </a:spcBef>
              <a:defRPr sz="2820" b="1">
                <a:latin typeface="Times New Roman"/>
                <a:ea typeface="Times New Roman"/>
                <a:cs typeface="Times New Roman"/>
                <a:sym typeface="Times New Roman"/>
              </a:defRPr>
            </a:pPr>
            <a:endParaRPr lang="en-GB" altLang="zh-CN" sz="3200" dirty="0"/>
          </a:p>
          <a:p>
            <a:pPr algn="l" defTabSz="504000">
              <a:defRPr sz="2820" b="1">
                <a:latin typeface="Times New Roman"/>
                <a:ea typeface="Times New Roman"/>
                <a:cs typeface="Times New Roman"/>
                <a:sym typeface="Times New Roman"/>
              </a:defRPr>
            </a:pPr>
            <a:r>
              <a:rPr lang="en-GB" altLang="zh-CN" sz="3200" dirty="0"/>
              <a:t>The traces in the bushes were the only clue, slowly guiding them towards the truth. (Jin Dian)</a:t>
            </a:r>
          </a:p>
          <a:p>
            <a:pPr algn="l" defTabSz="504000">
              <a:defRPr sz="2820" b="1">
                <a:latin typeface="Times New Roman"/>
                <a:ea typeface="Times New Roman"/>
                <a:cs typeface="Times New Roman"/>
                <a:sym typeface="Times New Roman"/>
              </a:defRPr>
            </a:pPr>
            <a:r>
              <a:rPr lang="en-GB" altLang="zh-CN" sz="3200" dirty="0"/>
              <a:t>Confronted with the utter/dead silence, they were totally at a loss what to do, and a trace of disappointment gradually crept into their hearts. (Yu </a:t>
            </a:r>
            <a:r>
              <a:rPr lang="en-GB" altLang="zh-CN" sz="3200" dirty="0" err="1"/>
              <a:t>Jiayun</a:t>
            </a:r>
            <a:r>
              <a:rPr lang="en-GB" altLang="zh-CN" sz="3200" dirty="0"/>
              <a:t>)</a:t>
            </a:r>
          </a:p>
        </p:txBody>
      </p:sp>
    </p:spTree>
    <p:extLst>
      <p:ext uri="{BB962C8B-B14F-4D97-AF65-F5344CB8AC3E}">
        <p14:creationId xmlns:p14="http://schemas.microsoft.com/office/powerpoint/2010/main" val="280304674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23FC0-2EC2-0AF4-5739-002C8C206B2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E56407-5756-7D52-B115-EFB42E6F1772}"/>
              </a:ext>
            </a:extLst>
          </p:cNvPr>
          <p:cNvSpPr txBox="1"/>
          <p:nvPr/>
        </p:nvSpPr>
        <p:spPr>
          <a:xfrm>
            <a:off x="-2308" y="0"/>
            <a:ext cx="13007108" cy="69865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defTabSz="504000">
              <a:spcBef>
                <a:spcPts val="0"/>
              </a:spcBef>
              <a:defRPr sz="2820" b="1">
                <a:latin typeface="Times New Roman"/>
                <a:ea typeface="Times New Roman"/>
                <a:cs typeface="Times New Roman"/>
                <a:sym typeface="Times New Roman"/>
              </a:defRPr>
            </a:pPr>
            <a:r>
              <a:rPr lang="en-GB" altLang="zh-CN" sz="3200" dirty="0"/>
              <a:t>5. </a:t>
            </a:r>
            <a:r>
              <a:rPr lang="en-GB" altLang="zh-CN" sz="3200" u="sng" dirty="0"/>
              <a:t>Doubtful</a:t>
            </a:r>
            <a:r>
              <a:rPr lang="en-GB" altLang="zh-CN" sz="3200" dirty="0"/>
              <a:t>, Galileo asked what would happen …</a:t>
            </a:r>
          </a:p>
          <a:p>
            <a:pPr algn="l" defTabSz="504000">
              <a:spcBef>
                <a:spcPts val="0"/>
              </a:spcBef>
              <a:defRPr sz="2820" b="1">
                <a:latin typeface="Times New Roman"/>
                <a:ea typeface="Times New Roman"/>
                <a:cs typeface="Times New Roman"/>
                <a:sym typeface="Times New Roman"/>
              </a:defRPr>
            </a:pPr>
            <a:endParaRPr lang="en-GB" altLang="zh-CN" sz="3200" dirty="0"/>
          </a:p>
          <a:p>
            <a:pPr algn="l" defTabSz="504000">
              <a:spcBef>
                <a:spcPts val="0"/>
              </a:spcBef>
              <a:defRPr sz="2820" b="1">
                <a:latin typeface="Times New Roman"/>
                <a:ea typeface="Times New Roman"/>
                <a:cs typeface="Times New Roman"/>
                <a:sym typeface="Times New Roman"/>
              </a:defRPr>
            </a:pPr>
            <a:r>
              <a:rPr lang="en-GB" altLang="zh-CN" sz="3200" dirty="0"/>
              <a:t>She was still doubtful whether she should extend a helping hand or simply … (Yu </a:t>
            </a:r>
            <a:r>
              <a:rPr lang="en-GB" altLang="zh-CN" sz="3200" dirty="0" err="1"/>
              <a:t>Jiayun</a:t>
            </a:r>
            <a:r>
              <a:rPr lang="en-GB" altLang="zh-CN" sz="3200" dirty="0"/>
              <a:t>)</a:t>
            </a:r>
          </a:p>
          <a:p>
            <a:pPr algn="l" defTabSz="504000">
              <a:spcBef>
                <a:spcPts val="0"/>
              </a:spcBef>
              <a:defRPr sz="2820" b="1">
                <a:latin typeface="Times New Roman"/>
                <a:ea typeface="Times New Roman"/>
                <a:cs typeface="Times New Roman"/>
                <a:sym typeface="Times New Roman"/>
              </a:defRPr>
            </a:pPr>
            <a:endParaRPr lang="en-GB" altLang="zh-CN" sz="3200" dirty="0"/>
          </a:p>
          <a:p>
            <a:pPr algn="l" defTabSz="504000">
              <a:spcBef>
                <a:spcPts val="0"/>
              </a:spcBef>
              <a:defRPr sz="2820" b="1">
                <a:latin typeface="Times New Roman"/>
                <a:ea typeface="Times New Roman"/>
                <a:cs typeface="Times New Roman"/>
                <a:sym typeface="Times New Roman"/>
              </a:defRPr>
            </a:pPr>
            <a:r>
              <a:rPr lang="en-GB" altLang="zh-CN" sz="3200" dirty="0"/>
              <a:t>I doubt </a:t>
            </a:r>
            <a:r>
              <a:rPr lang="en-GB" altLang="zh-CN" sz="3200" dirty="0">
                <a:solidFill>
                  <a:srgbClr val="FF0000"/>
                </a:solidFill>
              </a:rPr>
              <a:t>if/whether </a:t>
            </a:r>
            <a:r>
              <a:rPr lang="en-GB" altLang="zh-CN" sz="3200" dirty="0"/>
              <a:t>he is innocent.</a:t>
            </a:r>
          </a:p>
          <a:p>
            <a:pPr algn="l" defTabSz="504000">
              <a:defRPr sz="2820" b="1">
                <a:latin typeface="Times New Roman"/>
                <a:ea typeface="Times New Roman"/>
                <a:cs typeface="Times New Roman"/>
                <a:sym typeface="Times New Roman"/>
              </a:defRPr>
            </a:pPr>
            <a:r>
              <a:rPr lang="en-GB" altLang="zh-CN" sz="3200" dirty="0"/>
              <a:t>I don't doubt </a:t>
            </a:r>
            <a:r>
              <a:rPr lang="en-GB" altLang="zh-CN" sz="3200" dirty="0">
                <a:solidFill>
                  <a:srgbClr val="FF0000"/>
                </a:solidFill>
              </a:rPr>
              <a:t>that</a:t>
            </a:r>
            <a:r>
              <a:rPr lang="en-GB" altLang="zh-CN" sz="3200" dirty="0"/>
              <a:t> he will come.</a:t>
            </a:r>
          </a:p>
          <a:p>
            <a:pPr algn="l" defTabSz="504000">
              <a:defRPr sz="2820" b="1">
                <a:latin typeface="Times New Roman"/>
                <a:ea typeface="Times New Roman"/>
                <a:cs typeface="Times New Roman"/>
                <a:sym typeface="Times New Roman"/>
              </a:defRPr>
            </a:pPr>
            <a:r>
              <a:rPr lang="zh-CN" altLang="en-GB" sz="3200" dirty="0"/>
              <a:t>毫无疑问</a:t>
            </a:r>
            <a:r>
              <a:rPr lang="zh-CN" altLang="en-US" sz="3200" dirty="0"/>
              <a:t>的是</a:t>
            </a:r>
            <a:r>
              <a:rPr lang="en-US" altLang="zh-CN" sz="3200" dirty="0"/>
              <a:t>……</a:t>
            </a:r>
            <a:endParaRPr lang="en-GB" altLang="zh-CN" sz="3200" dirty="0"/>
          </a:p>
          <a:p>
            <a:pPr algn="l" defTabSz="504000">
              <a:defRPr sz="2820" b="1">
                <a:latin typeface="Times New Roman"/>
                <a:ea typeface="Times New Roman"/>
                <a:cs typeface="Times New Roman"/>
                <a:sym typeface="Times New Roman"/>
              </a:defRPr>
            </a:pPr>
            <a:r>
              <a:rPr lang="en-GB" altLang="zh-CN" sz="3200" dirty="0"/>
              <a:t>There is no doubt that …</a:t>
            </a:r>
          </a:p>
          <a:p>
            <a:pPr algn="l" defTabSz="504000">
              <a:defRPr sz="2820" b="1">
                <a:latin typeface="Times New Roman"/>
                <a:ea typeface="Times New Roman"/>
                <a:cs typeface="Times New Roman"/>
                <a:sym typeface="Times New Roman"/>
              </a:defRPr>
            </a:pPr>
            <a:r>
              <a:rPr lang="en-GB" altLang="zh-CN" sz="3200" dirty="0"/>
              <a:t>without/beyond doubt</a:t>
            </a:r>
          </a:p>
          <a:p>
            <a:pPr algn="l" defTabSz="504000">
              <a:defRPr sz="2820" b="1">
                <a:latin typeface="Times New Roman"/>
                <a:ea typeface="Times New Roman"/>
                <a:cs typeface="Times New Roman"/>
                <a:sym typeface="Times New Roman"/>
              </a:defRPr>
            </a:pPr>
            <a:r>
              <a:rPr lang="en-GB" altLang="zh-CN" sz="3200" dirty="0"/>
              <a:t>without/beyond question</a:t>
            </a:r>
          </a:p>
          <a:p>
            <a:pPr algn="l" defTabSz="504000">
              <a:defRPr sz="2820" b="1">
                <a:latin typeface="Times New Roman"/>
                <a:ea typeface="Times New Roman"/>
                <a:cs typeface="Times New Roman"/>
                <a:sym typeface="Times New Roman"/>
              </a:defRPr>
            </a:pPr>
            <a:endParaRPr lang="en-GB" altLang="zh-CN" sz="3200" dirty="0"/>
          </a:p>
          <a:p>
            <a:pPr algn="l" defTabSz="504000">
              <a:spcBef>
                <a:spcPts val="0"/>
              </a:spcBef>
              <a:defRPr sz="2820" b="1">
                <a:latin typeface="Times New Roman"/>
                <a:ea typeface="Times New Roman"/>
                <a:cs typeface="Times New Roman"/>
                <a:sym typeface="Times New Roman"/>
              </a:defRPr>
            </a:pPr>
            <a:r>
              <a:rPr lang="en-GB" altLang="zh-CN" sz="3200" dirty="0"/>
              <a:t>It is doubtful that/whether… </a:t>
            </a:r>
            <a:r>
              <a:rPr lang="zh-CN" altLang="en-US" sz="3200" dirty="0"/>
              <a:t>某事</a:t>
            </a:r>
            <a:r>
              <a:rPr lang="en-US" altLang="zh-CN" sz="3200" dirty="0"/>
              <a:t>/</a:t>
            </a:r>
            <a:r>
              <a:rPr lang="zh-CN" altLang="en-US" sz="3200" dirty="0"/>
              <a:t>某人是否会做某事</a:t>
            </a:r>
            <a:r>
              <a:rPr lang="zh-CN" altLang="en-GB" sz="3200" dirty="0"/>
              <a:t>不太可能的</a:t>
            </a:r>
            <a:endParaRPr lang="en-GB" altLang="zh-CN" sz="3200" dirty="0"/>
          </a:p>
          <a:p>
            <a:pPr algn="l" defTabSz="504000">
              <a:spcBef>
                <a:spcPts val="0"/>
              </a:spcBef>
              <a:defRPr sz="2820" b="1">
                <a:latin typeface="Times New Roman"/>
                <a:ea typeface="Times New Roman"/>
                <a:cs typeface="Times New Roman"/>
                <a:sym typeface="Times New Roman"/>
              </a:defRPr>
            </a:pPr>
            <a:r>
              <a:rPr lang="en-GB" altLang="zh-CN" sz="3200" dirty="0"/>
              <a:t>Sb be doubtful about </a:t>
            </a:r>
            <a:r>
              <a:rPr lang="en-GB" altLang="zh-CN" sz="3200" dirty="0" err="1"/>
              <a:t>sth</a:t>
            </a:r>
            <a:r>
              <a:rPr lang="zh-CN" altLang="en-US" sz="3200" dirty="0"/>
              <a:t> 对</a:t>
            </a:r>
            <a:r>
              <a:rPr lang="en-US" altLang="zh-CN" sz="3200" dirty="0"/>
              <a:t>……</a:t>
            </a:r>
            <a:r>
              <a:rPr lang="zh-CN" altLang="en-US" sz="3200" dirty="0"/>
              <a:t>不确定</a:t>
            </a:r>
            <a:endParaRPr lang="en-GB" altLang="zh-CN" sz="3200" dirty="0"/>
          </a:p>
        </p:txBody>
      </p:sp>
    </p:spTree>
    <p:extLst>
      <p:ext uri="{BB962C8B-B14F-4D97-AF65-F5344CB8AC3E}">
        <p14:creationId xmlns:p14="http://schemas.microsoft.com/office/powerpoint/2010/main" val="111745664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594D0-634A-F728-E809-8F81E9ED738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041F278-6F1E-285C-CB5B-5D0294BF593E}"/>
              </a:ext>
            </a:extLst>
          </p:cNvPr>
          <p:cNvSpPr txBox="1"/>
          <p:nvPr/>
        </p:nvSpPr>
        <p:spPr>
          <a:xfrm>
            <a:off x="-2308" y="0"/>
            <a:ext cx="13007108" cy="50167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defTabSz="504000">
              <a:spcBef>
                <a:spcPts val="0"/>
              </a:spcBef>
              <a:defRPr sz="2820" b="1">
                <a:latin typeface="Times New Roman"/>
                <a:ea typeface="Times New Roman"/>
                <a:cs typeface="Times New Roman"/>
                <a:sym typeface="Times New Roman"/>
              </a:defRPr>
            </a:pPr>
            <a:r>
              <a:rPr lang="en-GB" altLang="zh-CN" sz="3200" dirty="0"/>
              <a:t>6. Galileo was able to </a:t>
            </a:r>
            <a:r>
              <a:rPr lang="en-GB" altLang="zh-CN" sz="3200" u="sng" dirty="0"/>
              <a:t>expose</a:t>
            </a:r>
            <a:r>
              <a:rPr lang="en-GB" altLang="zh-CN" sz="3200" dirty="0"/>
              <a:t> the paradox. </a:t>
            </a:r>
          </a:p>
          <a:p>
            <a:pPr algn="l" defTabSz="504000">
              <a:spcBef>
                <a:spcPts val="0"/>
              </a:spcBef>
              <a:defRPr sz="2820" b="1">
                <a:latin typeface="Times New Roman"/>
                <a:ea typeface="Times New Roman"/>
                <a:cs typeface="Times New Roman"/>
                <a:sym typeface="Times New Roman"/>
              </a:defRPr>
            </a:pPr>
            <a:endParaRPr lang="en-GB" altLang="zh-CN" sz="3200" dirty="0"/>
          </a:p>
          <a:p>
            <a:pPr algn="l" defTabSz="504000">
              <a:spcBef>
                <a:spcPts val="0"/>
              </a:spcBef>
              <a:defRPr sz="2820" b="1">
                <a:latin typeface="Times New Roman"/>
                <a:ea typeface="Times New Roman"/>
                <a:cs typeface="Times New Roman"/>
                <a:sym typeface="Times New Roman"/>
              </a:defRPr>
            </a:pPr>
            <a:r>
              <a:rPr lang="en-GB" altLang="zh-CN" sz="3200" dirty="0"/>
              <a:t>Exposure to excessive/a massive(vast) amount of online information is/can act as a double-edged sword, as it broadens our horizons while also intensifying constant comparison with others. (Xu Zhe)</a:t>
            </a:r>
          </a:p>
          <a:p>
            <a:pPr algn="l" defTabSz="504000">
              <a:spcBef>
                <a:spcPts val="0"/>
              </a:spcBef>
              <a:defRPr sz="2820" b="1">
                <a:latin typeface="Times New Roman"/>
                <a:ea typeface="Times New Roman"/>
                <a:cs typeface="Times New Roman"/>
                <a:sym typeface="Times New Roman"/>
              </a:defRPr>
            </a:pPr>
            <a:r>
              <a:rPr lang="en-GB" altLang="zh-CN" sz="3200" dirty="0"/>
              <a:t>be exposed to criticism/ridicule, expose oneself to…</a:t>
            </a:r>
          </a:p>
          <a:p>
            <a:pPr algn="l" defTabSz="504000">
              <a:spcBef>
                <a:spcPts val="0"/>
              </a:spcBef>
              <a:defRPr sz="2820" b="1">
                <a:latin typeface="Times New Roman"/>
                <a:ea typeface="Times New Roman"/>
                <a:cs typeface="Times New Roman"/>
                <a:sym typeface="Times New Roman"/>
              </a:defRPr>
            </a:pPr>
            <a:endParaRPr lang="en-GB" altLang="zh-CN" sz="3200" dirty="0"/>
          </a:p>
          <a:p>
            <a:pPr algn="l" defTabSz="504000">
              <a:spcBef>
                <a:spcPts val="0"/>
              </a:spcBef>
              <a:defRPr sz="2820" b="1">
                <a:latin typeface="Times New Roman"/>
                <a:ea typeface="Times New Roman"/>
                <a:cs typeface="Times New Roman"/>
                <a:sym typeface="Times New Roman"/>
              </a:defRPr>
            </a:pPr>
            <a:r>
              <a:rPr lang="en-GB" altLang="zh-CN" sz="3200" dirty="0"/>
              <a:t>She suddenly smiled, exposing/revealing a set of white teeth that brightened her face. (Yu </a:t>
            </a:r>
            <a:r>
              <a:rPr lang="en-GB" altLang="zh-CN" sz="3200" dirty="0" err="1"/>
              <a:t>Jiayun</a:t>
            </a:r>
            <a:r>
              <a:rPr lang="en-GB" altLang="zh-CN" sz="3200" dirty="0"/>
              <a:t>)</a:t>
            </a:r>
          </a:p>
          <a:p>
            <a:pPr algn="l" defTabSz="504000">
              <a:spcBef>
                <a:spcPts val="0"/>
              </a:spcBef>
              <a:defRPr sz="2820" b="1">
                <a:latin typeface="Times New Roman"/>
                <a:ea typeface="Times New Roman"/>
                <a:cs typeface="Times New Roman"/>
                <a:sym typeface="Times New Roman"/>
              </a:defRPr>
            </a:pPr>
            <a:endParaRPr lang="en-GB" altLang="zh-CN" sz="3200" dirty="0"/>
          </a:p>
        </p:txBody>
      </p:sp>
    </p:spTree>
    <p:extLst>
      <p:ext uri="{BB962C8B-B14F-4D97-AF65-F5344CB8AC3E}">
        <p14:creationId xmlns:p14="http://schemas.microsoft.com/office/powerpoint/2010/main" val="417580095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blinds(horizontal)">
                                      <p:cBhvr>
                                        <p:cTn id="7" dur="500"/>
                                        <p:tgtEl>
                                          <p:spTgt spid="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blinds(horizontal)">
                                      <p:cBhvr>
                                        <p:cTn id="12" dur="500"/>
                                        <p:tgtEl>
                                          <p:spTgt spid="5">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animEffect transition="in" filter="blinds(horizontal)">
                                      <p:cBhvr>
                                        <p:cTn id="17"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93B7B-9A7B-4C6E-2111-C2910BE3E5B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7B68B1D-27DD-7059-FBFF-1206549BAE09}"/>
              </a:ext>
            </a:extLst>
          </p:cNvPr>
          <p:cNvSpPr txBox="1"/>
          <p:nvPr/>
        </p:nvSpPr>
        <p:spPr>
          <a:xfrm>
            <a:off x="-2308" y="0"/>
            <a:ext cx="13007108" cy="60016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defTabSz="504000">
              <a:spcBef>
                <a:spcPts val="0"/>
              </a:spcBef>
              <a:defRPr sz="2820" b="1">
                <a:latin typeface="Times New Roman"/>
                <a:ea typeface="Times New Roman"/>
                <a:cs typeface="Times New Roman"/>
                <a:sym typeface="Times New Roman"/>
              </a:defRPr>
            </a:pPr>
            <a:r>
              <a:rPr lang="en-GB" altLang="zh-CN" sz="3200" dirty="0"/>
              <a:t>7. …, thought experiments can </a:t>
            </a:r>
            <a:r>
              <a:rPr lang="en-GB" altLang="zh-CN" sz="3200" u="sng" dirty="0"/>
              <a:t>stimulate</a:t>
            </a:r>
            <a:r>
              <a:rPr lang="en-GB" altLang="zh-CN" sz="3200" dirty="0"/>
              <a:t> debate and lead to …/the Ship of Theseus still </a:t>
            </a:r>
            <a:r>
              <a:rPr lang="en-GB" altLang="zh-CN" sz="3200" u="sng" dirty="0"/>
              <a:t>spark</a:t>
            </a:r>
            <a:r>
              <a:rPr lang="en-GB" altLang="zh-CN" sz="3200" dirty="0"/>
              <a:t>s intense debate …</a:t>
            </a:r>
          </a:p>
          <a:p>
            <a:pPr algn="l" defTabSz="504000">
              <a:spcBef>
                <a:spcPts val="0"/>
              </a:spcBef>
              <a:defRPr sz="2820" b="1">
                <a:latin typeface="Times New Roman"/>
                <a:ea typeface="Times New Roman"/>
                <a:cs typeface="Times New Roman"/>
                <a:sym typeface="Times New Roman"/>
              </a:defRPr>
            </a:pPr>
            <a:endParaRPr lang="en-GB" altLang="zh-CN" sz="3200" dirty="0"/>
          </a:p>
          <a:p>
            <a:pPr algn="l" defTabSz="504000">
              <a:defRPr sz="2820" b="1">
                <a:latin typeface="Times New Roman"/>
                <a:ea typeface="Times New Roman"/>
                <a:cs typeface="Times New Roman"/>
                <a:sym typeface="Times New Roman"/>
              </a:defRPr>
            </a:pPr>
            <a:r>
              <a:rPr lang="en-GB" altLang="zh-CN" sz="3200" dirty="0"/>
              <a:t>Multimedia elements, when integrated properly into the class, can stimulate communication and brainstorming among students, thus cultivating broader perspectives. (Zhou </a:t>
            </a:r>
            <a:r>
              <a:rPr lang="en-GB" altLang="zh-CN" sz="3200" dirty="0" err="1"/>
              <a:t>Jinru</a:t>
            </a:r>
            <a:r>
              <a:rPr lang="en-GB" altLang="zh-CN" sz="3200" dirty="0"/>
              <a:t>)</a:t>
            </a:r>
          </a:p>
          <a:p>
            <a:pPr algn="l" defTabSz="504000">
              <a:defRPr sz="2820" b="1">
                <a:latin typeface="Times New Roman"/>
                <a:ea typeface="Times New Roman"/>
                <a:cs typeface="Times New Roman"/>
                <a:sym typeface="Times New Roman"/>
              </a:defRPr>
            </a:pPr>
            <a:endParaRPr lang="en-GB" altLang="zh-CN" sz="3200" dirty="0"/>
          </a:p>
          <a:p>
            <a:pPr algn="l" defTabSz="504000">
              <a:defRPr sz="2820" b="1">
                <a:latin typeface="Times New Roman"/>
                <a:ea typeface="Times New Roman"/>
                <a:cs typeface="Times New Roman"/>
                <a:sym typeface="Times New Roman"/>
              </a:defRPr>
            </a:pPr>
            <a:r>
              <a:rPr lang="en-GB" altLang="zh-CN" sz="3200" dirty="0"/>
              <a:t>Good teachers should ask questions to stimulate students to think/set students thinking. (Yu </a:t>
            </a:r>
            <a:r>
              <a:rPr lang="en-GB" altLang="zh-CN" sz="3200" dirty="0" err="1"/>
              <a:t>Jiayun</a:t>
            </a:r>
            <a:r>
              <a:rPr lang="en-GB" altLang="zh-CN" sz="3200" dirty="0"/>
              <a:t>)</a:t>
            </a:r>
          </a:p>
          <a:p>
            <a:pPr algn="l" defTabSz="504000">
              <a:defRPr sz="2820" b="1">
                <a:latin typeface="Times New Roman"/>
                <a:ea typeface="Times New Roman"/>
                <a:cs typeface="Times New Roman"/>
                <a:sym typeface="Times New Roman"/>
              </a:defRPr>
            </a:pPr>
            <a:r>
              <a:rPr lang="en-GB" altLang="zh-CN" sz="3200" dirty="0"/>
              <a:t>Good teachers should ask </a:t>
            </a:r>
            <a:r>
              <a:rPr lang="en-GB" altLang="zh-CN" sz="3200" dirty="0">
                <a:solidFill>
                  <a:srgbClr val="FF0000"/>
                </a:solidFill>
              </a:rPr>
              <a:t>thought-provoking</a:t>
            </a:r>
            <a:r>
              <a:rPr lang="en-GB" altLang="zh-CN" sz="3200" dirty="0"/>
              <a:t> questions to stimulate students to think </a:t>
            </a:r>
            <a:r>
              <a:rPr lang="en-GB" altLang="zh-CN" sz="3200" dirty="0">
                <a:solidFill>
                  <a:srgbClr val="FF0000"/>
                </a:solidFill>
              </a:rPr>
              <a:t>critically</a:t>
            </a:r>
            <a:r>
              <a:rPr lang="en-GB" altLang="zh-CN" sz="3200" dirty="0"/>
              <a:t>/</a:t>
            </a:r>
            <a:r>
              <a:rPr lang="en-GB" altLang="zh-CN" sz="3200" dirty="0">
                <a:solidFill>
                  <a:srgbClr val="FF0000"/>
                </a:solidFill>
              </a:rPr>
              <a:t>set students thinking and explore ideas more deeply</a:t>
            </a:r>
            <a:r>
              <a:rPr lang="en-GB" altLang="zh-CN" sz="3200" dirty="0"/>
              <a:t>.</a:t>
            </a:r>
          </a:p>
        </p:txBody>
      </p:sp>
    </p:spTree>
    <p:extLst>
      <p:ext uri="{BB962C8B-B14F-4D97-AF65-F5344CB8AC3E}">
        <p14:creationId xmlns:p14="http://schemas.microsoft.com/office/powerpoint/2010/main" val="355114614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220AD15-1F64-F9BE-A53D-1BF1390ADA16}"/>
            </a:ext>
          </a:extLst>
        </p:cNvPr>
        <p:cNvGrpSpPr/>
        <p:nvPr/>
      </p:nvGrpSpPr>
      <p:grpSpPr>
        <a:xfrm>
          <a:off x="0" y="0"/>
          <a:ext cx="0" cy="0"/>
          <a:chOff x="0" y="0"/>
          <a:chExt cx="0" cy="0"/>
        </a:xfrm>
      </p:grpSpPr>
      <p:sp>
        <p:nvSpPr>
          <p:cNvPr id="156" name="在面试过程中…">
            <a:extLst>
              <a:ext uri="{FF2B5EF4-FFF2-40B4-BE49-F238E27FC236}">
                <a16:creationId xmlns:a16="http://schemas.microsoft.com/office/drawing/2014/main" id="{6696CACE-5749-B4B9-34B0-95B4FC60E897}"/>
              </a:ext>
            </a:extLst>
          </p:cNvPr>
          <p:cNvSpPr txBox="1">
            <a:spLocks noGrp="1"/>
          </p:cNvSpPr>
          <p:nvPr>
            <p:ph type="body" idx="1"/>
          </p:nvPr>
        </p:nvSpPr>
        <p:spPr>
          <a:xfrm>
            <a:off x="1" y="64402"/>
            <a:ext cx="13004799" cy="9536798"/>
          </a:xfrm>
          <a:prstGeom prst="rect">
            <a:avLst/>
          </a:prstGeom>
        </p:spPr>
        <p:txBody>
          <a:bodyPr numCol="1" spcCol="457200">
            <a:noAutofit/>
          </a:bodyPr>
          <a:lstStyle/>
          <a:p>
            <a:pPr marL="0" indent="0" defTabSz="504000">
              <a:spcBef>
                <a:spcPts val="0"/>
              </a:spcBef>
              <a:buNone/>
              <a:defRPr sz="2820" b="1">
                <a:latin typeface="Times New Roman"/>
                <a:ea typeface="Times New Roman"/>
                <a:cs typeface="Times New Roman"/>
                <a:sym typeface="Times New Roman"/>
              </a:defRPr>
            </a:pPr>
            <a:r>
              <a:rPr lang="zh-CN" altLang="en-US" sz="3200" dirty="0">
                <a:solidFill>
                  <a:srgbClr val="FF0000"/>
                </a:solidFill>
              </a:rPr>
              <a:t>选修三 </a:t>
            </a:r>
            <a:r>
              <a:rPr lang="en-US" altLang="zh-CN" sz="3200" dirty="0">
                <a:solidFill>
                  <a:srgbClr val="FF0000"/>
                </a:solidFill>
              </a:rPr>
              <a:t>U2 Grammar:</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r>
              <a:rPr lang="en-US" altLang="zh-CN" sz="3200" dirty="0"/>
              <a:t>However, as modern technology has been </a:t>
            </a:r>
            <a:r>
              <a:rPr lang="en-US" altLang="zh-CN" sz="3200" u="sng" dirty="0"/>
              <a:t>advancing in leaps and bounds</a:t>
            </a:r>
            <a:r>
              <a:rPr lang="en-US" altLang="zh-CN" sz="3200" dirty="0"/>
              <a:t>.</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r>
              <a:rPr lang="en-US" altLang="zh-CN" sz="3200" dirty="0"/>
              <a:t>Making things together with other people not only adds an element of fun, but also allows makers to </a:t>
            </a:r>
            <a:r>
              <a:rPr lang="en-US" altLang="zh-CN" sz="3200" u="sng" dirty="0"/>
              <a:t>bounce ideas off one another</a:t>
            </a:r>
            <a:r>
              <a:rPr lang="en-US" altLang="zh-CN" sz="3200" dirty="0"/>
              <a:t>.</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r>
              <a:rPr lang="en-US" altLang="zh-CN" sz="3200" u="sng" dirty="0"/>
              <a:t>Whatever</a:t>
            </a:r>
            <a:r>
              <a:rPr lang="en-US" altLang="zh-CN" sz="3200" dirty="0"/>
              <a:t> the level of equipment, all makerspaces are devoted to bringing young people together in the spirit of collaboration, motivating them to experiment with different crafts and technologies. (Whatever</a:t>
            </a:r>
            <a:r>
              <a:rPr lang="zh-CN" altLang="en-US" sz="3200" dirty="0"/>
              <a:t>让步状语从句、名词性从句分别造句</a:t>
            </a:r>
            <a:r>
              <a:rPr lang="en-GB" altLang="zh-CN" sz="3200" dirty="0"/>
              <a:t>)</a:t>
            </a:r>
            <a:endParaRPr lang="en-US" altLang="zh-CN" sz="3200" dirty="0"/>
          </a:p>
          <a:p>
            <a:pPr marL="360000" indent="-360000" defTabSz="504000">
              <a:spcBef>
                <a:spcPts val="0"/>
              </a:spcBef>
              <a:buFont typeface="+mj-lt"/>
              <a:buAutoNum type="arabicPeriod"/>
              <a:defRPr sz="2820" b="1">
                <a:latin typeface="Times New Roman"/>
                <a:ea typeface="Times New Roman"/>
                <a:cs typeface="Times New Roman"/>
                <a:sym typeface="Times New Roman"/>
              </a:defRPr>
            </a:pPr>
            <a:r>
              <a:rPr lang="en-US" altLang="zh-CN" sz="3200" dirty="0"/>
              <a:t>Failure is </a:t>
            </a:r>
            <a:r>
              <a:rPr lang="en-US" altLang="zh-CN" sz="3200" u="sng" dirty="0"/>
              <a:t>part and parcel </a:t>
            </a:r>
            <a:r>
              <a:rPr lang="en-US" altLang="zh-CN" sz="3200" dirty="0"/>
              <a:t>of the maker experience.</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r>
              <a:rPr lang="en-US" altLang="zh-CN" sz="3200" dirty="0"/>
              <a:t>My first attempts were a bit of a disaster, so I had to </a:t>
            </a:r>
            <a:r>
              <a:rPr lang="en-US" altLang="zh-CN" sz="3200" u="sng" dirty="0"/>
              <a:t>start</a:t>
            </a:r>
            <a:r>
              <a:rPr lang="en-US" altLang="zh-CN" sz="3200" dirty="0"/>
              <a:t> again </a:t>
            </a:r>
            <a:r>
              <a:rPr lang="en-US" altLang="zh-CN" sz="3200" u="sng" dirty="0"/>
              <a:t>from scratch</a:t>
            </a:r>
            <a:r>
              <a:rPr lang="en-US" altLang="zh-CN" sz="3200" dirty="0"/>
              <a:t>.</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endParaRPr lang="en-US" altLang="zh-CN" sz="3200" dirty="0"/>
          </a:p>
        </p:txBody>
      </p:sp>
    </p:spTree>
    <p:extLst>
      <p:ext uri="{BB962C8B-B14F-4D97-AF65-F5344CB8AC3E}">
        <p14:creationId xmlns:p14="http://schemas.microsoft.com/office/powerpoint/2010/main" val="1098818294"/>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4844A-50CD-893E-53D8-E5871D656498}"/>
            </a:ext>
          </a:extLst>
        </p:cNvPr>
        <p:cNvGrpSpPr/>
        <p:nvPr/>
      </p:nvGrpSpPr>
      <p:grpSpPr>
        <a:xfrm>
          <a:off x="0" y="0"/>
          <a:ext cx="0" cy="0"/>
          <a:chOff x="0" y="0"/>
          <a:chExt cx="0" cy="0"/>
        </a:xfrm>
      </p:grpSpPr>
      <p:sp>
        <p:nvSpPr>
          <p:cNvPr id="156" name="在面试过程中…">
            <a:extLst>
              <a:ext uri="{FF2B5EF4-FFF2-40B4-BE49-F238E27FC236}">
                <a16:creationId xmlns:a16="http://schemas.microsoft.com/office/drawing/2014/main" id="{E3346F17-B849-6AC7-32C9-8515E214BEFD}"/>
              </a:ext>
            </a:extLst>
          </p:cNvPr>
          <p:cNvSpPr txBox="1">
            <a:spLocks noGrp="1"/>
          </p:cNvSpPr>
          <p:nvPr>
            <p:ph type="body" idx="1"/>
          </p:nvPr>
        </p:nvSpPr>
        <p:spPr>
          <a:xfrm>
            <a:off x="1" y="64402"/>
            <a:ext cx="13004799" cy="9536798"/>
          </a:xfrm>
          <a:prstGeom prst="rect">
            <a:avLst/>
          </a:prstGeom>
        </p:spPr>
        <p:txBody>
          <a:bodyPr numCol="1" spcCol="457200">
            <a:noAutofit/>
          </a:bodyPr>
          <a:lstStyle/>
          <a:p>
            <a:pPr marL="0" indent="0" defTabSz="504000">
              <a:spcBef>
                <a:spcPts val="0"/>
              </a:spcBef>
              <a:buNone/>
              <a:defRPr sz="2820" b="1">
                <a:latin typeface="Times New Roman"/>
                <a:ea typeface="Times New Roman"/>
                <a:cs typeface="Times New Roman"/>
                <a:sym typeface="Times New Roman"/>
              </a:defRPr>
            </a:pPr>
            <a:r>
              <a:rPr lang="zh-CN" altLang="en-US" sz="3200" dirty="0">
                <a:solidFill>
                  <a:srgbClr val="FF0000"/>
                </a:solidFill>
              </a:rPr>
              <a:t>选修三 </a:t>
            </a:r>
            <a:r>
              <a:rPr lang="en-US" altLang="zh-CN" sz="3200" dirty="0">
                <a:solidFill>
                  <a:srgbClr val="FF0000"/>
                </a:solidFill>
              </a:rPr>
              <a:t>U2 Grammar:</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r>
              <a:rPr lang="en-US" altLang="zh-CN" sz="3200" dirty="0"/>
              <a:t>However, as modern technology has been </a:t>
            </a:r>
            <a:r>
              <a:rPr lang="en-US" altLang="zh-CN" sz="3200" u="sng" dirty="0"/>
              <a:t>advancing in leaps and bounds</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Thanks to May’s thoughtful care, his health had </a:t>
            </a:r>
            <a:r>
              <a:rPr lang="en-US" altLang="zh-CN" sz="3200" dirty="0">
                <a:solidFill>
                  <a:srgbClr val="FF0000"/>
                </a:solidFill>
              </a:rPr>
              <a:t>improved in leaps and bounds</a:t>
            </a:r>
            <a:r>
              <a:rPr lang="en-US" altLang="zh-CN" sz="3200" dirty="0"/>
              <a:t>, which could be clearly seen in his entire being bursting with vitality. (Jiang Xinyue)</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To my great relief, my grandma’s health has improved in leaps and bounds, owing largely to her positive outlook on life. (Zhou </a:t>
            </a:r>
            <a:r>
              <a:rPr lang="en-US" altLang="zh-CN" sz="3200" dirty="0" err="1"/>
              <a:t>Jinru</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r>
              <a:rPr lang="en-US" altLang="zh-CN" sz="3200" dirty="0"/>
              <a:t>sb owe A</a:t>
            </a:r>
            <a:r>
              <a:rPr lang="zh-CN" altLang="en-US" sz="3200" dirty="0"/>
              <a:t> </a:t>
            </a:r>
            <a:r>
              <a:rPr lang="en-US" altLang="zh-CN" sz="3200" dirty="0"/>
              <a:t>to B </a:t>
            </a:r>
            <a:r>
              <a:rPr lang="zh-CN" altLang="en-US" sz="3200" dirty="0"/>
              <a:t>把</a:t>
            </a:r>
            <a:r>
              <a:rPr lang="en-US" altLang="zh-CN" sz="3200" dirty="0"/>
              <a:t>……</a:t>
            </a:r>
            <a:r>
              <a:rPr lang="zh-CN" altLang="en-US" sz="3200" dirty="0"/>
              <a:t>归因于</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r>
              <a:rPr lang="en-US" altLang="zh-CN" sz="3200" dirty="0">
                <a:solidFill>
                  <a:srgbClr val="FF0000"/>
                </a:solidFill>
              </a:rPr>
              <a:t>sb owe a big debt of gratitude to sb</a:t>
            </a:r>
            <a:r>
              <a:rPr lang="zh-CN" altLang="en-US" sz="3200" dirty="0">
                <a:solidFill>
                  <a:srgbClr val="FF0000"/>
                </a:solidFill>
              </a:rPr>
              <a:t> </a:t>
            </a:r>
            <a:r>
              <a:rPr lang="zh-CN" altLang="en-US" sz="3200" dirty="0"/>
              <a:t>对某人万分感激</a:t>
            </a:r>
            <a:endParaRPr lang="en-GB" altLang="zh-CN" sz="3200" dirty="0"/>
          </a:p>
          <a:p>
            <a:pPr marL="0" indent="0" defTabSz="504000">
              <a:spcBef>
                <a:spcPts val="0"/>
              </a:spcBef>
              <a:buNone/>
              <a:defRPr sz="2820" b="1">
                <a:latin typeface="Times New Roman"/>
                <a:ea typeface="Times New Roman"/>
                <a:cs typeface="Times New Roman"/>
                <a:sym typeface="Times New Roman"/>
              </a:defRPr>
            </a:pPr>
            <a:endParaRPr lang="en-GB" altLang="zh-CN" sz="3200" dirty="0"/>
          </a:p>
          <a:p>
            <a:pPr marL="0" indent="0" defTabSz="504000">
              <a:spcBef>
                <a:spcPts val="0"/>
              </a:spcBef>
              <a:buNone/>
              <a:defRPr sz="2820" b="1">
                <a:latin typeface="Times New Roman"/>
                <a:ea typeface="Times New Roman"/>
                <a:cs typeface="Times New Roman"/>
                <a:sym typeface="Times New Roman"/>
              </a:defRPr>
            </a:pPr>
            <a:r>
              <a:rPr lang="en-GB" altLang="zh-CN" sz="3200" dirty="0"/>
              <a:t>His research on renewable energy was advancing in leaps and bounds, attracting investors who had once dismissed his ideas. (Ren Sitong)</a:t>
            </a:r>
          </a:p>
          <a:p>
            <a:pPr marL="0" indent="0" defTabSz="504000">
              <a:spcBef>
                <a:spcPts val="0"/>
              </a:spcBef>
              <a:buNone/>
              <a:defRPr sz="2820" b="1">
                <a:latin typeface="Times New Roman"/>
                <a:ea typeface="Times New Roman"/>
                <a:cs typeface="Times New Roman"/>
                <a:sym typeface="Times New Roman"/>
              </a:defRPr>
            </a:pPr>
            <a:endParaRPr lang="en-GB" altLang="zh-CN" sz="3200" dirty="0"/>
          </a:p>
          <a:p>
            <a:pPr marL="0" indent="0" defTabSz="504000">
              <a:spcBef>
                <a:spcPts val="0"/>
              </a:spcBef>
              <a:buNone/>
              <a:defRPr sz="2820" b="1">
                <a:latin typeface="Times New Roman"/>
                <a:ea typeface="Times New Roman"/>
                <a:cs typeface="Times New Roman"/>
                <a:sym typeface="Times New Roman"/>
              </a:defRPr>
            </a:pPr>
            <a:r>
              <a:rPr lang="en-GB" altLang="zh-CN" sz="3200" dirty="0"/>
              <a:t>From knots to computing, from flames to nuclear power, our society has been advanced in leaps and bounds, owing to the innovation and application of tools. (Yang </a:t>
            </a:r>
            <a:r>
              <a:rPr lang="en-GB" altLang="zh-CN" sz="3200" dirty="0" err="1"/>
              <a:t>Ruixin</a:t>
            </a:r>
            <a:r>
              <a:rPr lang="en-GB" altLang="zh-CN" sz="3200" dirty="0"/>
              <a:t>)</a:t>
            </a:r>
          </a:p>
        </p:txBody>
      </p:sp>
    </p:spTree>
    <p:extLst>
      <p:ext uri="{BB962C8B-B14F-4D97-AF65-F5344CB8AC3E}">
        <p14:creationId xmlns:p14="http://schemas.microsoft.com/office/powerpoint/2010/main" val="425096578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6">
                                            <p:txEl>
                                              <p:pRg st="3" end="3"/>
                                            </p:txEl>
                                          </p:spTgt>
                                        </p:tgtEl>
                                        <p:attrNameLst>
                                          <p:attrName>style.visibility</p:attrName>
                                        </p:attrNameLst>
                                      </p:cBhvr>
                                      <p:to>
                                        <p:strVal val="visible"/>
                                      </p:to>
                                    </p:set>
                                    <p:animEffect transition="in" filter="blinds(horizontal)">
                                      <p:cBhvr>
                                        <p:cTn id="7" dur="500"/>
                                        <p:tgtEl>
                                          <p:spTgt spid="156">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6">
                                            <p:txEl>
                                              <p:pRg st="5" end="5"/>
                                            </p:txEl>
                                          </p:spTgt>
                                        </p:tgtEl>
                                        <p:attrNameLst>
                                          <p:attrName>style.visibility</p:attrName>
                                        </p:attrNameLst>
                                      </p:cBhvr>
                                      <p:to>
                                        <p:strVal val="visible"/>
                                      </p:to>
                                    </p:set>
                                    <p:animEffect transition="in" filter="blinds(horizontal)">
                                      <p:cBhvr>
                                        <p:cTn id="12" dur="500"/>
                                        <p:tgtEl>
                                          <p:spTgt spid="156">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56">
                                            <p:txEl>
                                              <p:pRg st="6" end="6"/>
                                            </p:txEl>
                                          </p:spTgt>
                                        </p:tgtEl>
                                        <p:attrNameLst>
                                          <p:attrName>style.visibility</p:attrName>
                                        </p:attrNameLst>
                                      </p:cBhvr>
                                      <p:to>
                                        <p:strVal val="visible"/>
                                      </p:to>
                                    </p:set>
                                    <p:animEffect transition="in" filter="blinds(horizontal)">
                                      <p:cBhvr>
                                        <p:cTn id="17" dur="500"/>
                                        <p:tgtEl>
                                          <p:spTgt spid="156">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56">
                                            <p:txEl>
                                              <p:pRg st="7" end="7"/>
                                            </p:txEl>
                                          </p:spTgt>
                                        </p:tgtEl>
                                        <p:attrNameLst>
                                          <p:attrName>style.visibility</p:attrName>
                                        </p:attrNameLst>
                                      </p:cBhvr>
                                      <p:to>
                                        <p:strVal val="visible"/>
                                      </p:to>
                                    </p:set>
                                    <p:animEffect transition="in" filter="blinds(horizontal)">
                                      <p:cBhvr>
                                        <p:cTn id="22" dur="500"/>
                                        <p:tgtEl>
                                          <p:spTgt spid="156">
                                            <p:txEl>
                                              <p:pRg st="7" end="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56">
                                            <p:txEl>
                                              <p:pRg st="9" end="9"/>
                                            </p:txEl>
                                          </p:spTgt>
                                        </p:tgtEl>
                                        <p:attrNameLst>
                                          <p:attrName>style.visibility</p:attrName>
                                        </p:attrNameLst>
                                      </p:cBhvr>
                                      <p:to>
                                        <p:strVal val="visible"/>
                                      </p:to>
                                    </p:set>
                                    <p:animEffect transition="in" filter="blinds(horizontal)">
                                      <p:cBhvr>
                                        <p:cTn id="27" dur="500"/>
                                        <p:tgtEl>
                                          <p:spTgt spid="156">
                                            <p:txEl>
                                              <p:pRg st="9" end="9"/>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56">
                                            <p:txEl>
                                              <p:pRg st="11" end="11"/>
                                            </p:txEl>
                                          </p:spTgt>
                                        </p:tgtEl>
                                        <p:attrNameLst>
                                          <p:attrName>style.visibility</p:attrName>
                                        </p:attrNameLst>
                                      </p:cBhvr>
                                      <p:to>
                                        <p:strVal val="visible"/>
                                      </p:to>
                                    </p:set>
                                    <p:animEffect transition="in" filter="blinds(horizontal)">
                                      <p:cBhvr>
                                        <p:cTn id="32" dur="500"/>
                                        <p:tgtEl>
                                          <p:spTgt spid="156">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D5E8C-2EC3-D336-D5C7-FD0BAA887FF2}"/>
            </a:ext>
          </a:extLst>
        </p:cNvPr>
        <p:cNvGrpSpPr/>
        <p:nvPr/>
      </p:nvGrpSpPr>
      <p:grpSpPr>
        <a:xfrm>
          <a:off x="0" y="0"/>
          <a:ext cx="0" cy="0"/>
          <a:chOff x="0" y="0"/>
          <a:chExt cx="0" cy="0"/>
        </a:xfrm>
      </p:grpSpPr>
      <p:sp>
        <p:nvSpPr>
          <p:cNvPr id="156" name="在面试过程中…">
            <a:extLst>
              <a:ext uri="{FF2B5EF4-FFF2-40B4-BE49-F238E27FC236}">
                <a16:creationId xmlns:a16="http://schemas.microsoft.com/office/drawing/2014/main" id="{9C1ECDB3-4FCD-6AA3-B514-4C7B681E582F}"/>
              </a:ext>
            </a:extLst>
          </p:cNvPr>
          <p:cNvSpPr txBox="1">
            <a:spLocks noGrp="1"/>
          </p:cNvSpPr>
          <p:nvPr>
            <p:ph type="body" idx="1"/>
          </p:nvPr>
        </p:nvSpPr>
        <p:spPr>
          <a:xfrm>
            <a:off x="1" y="64402"/>
            <a:ext cx="13004799" cy="9536798"/>
          </a:xfrm>
          <a:prstGeom prst="rect">
            <a:avLst/>
          </a:prstGeom>
        </p:spPr>
        <p:txBody>
          <a:bodyPr numCol="1" spcCol="457200">
            <a:noAutofit/>
          </a:bodyPr>
          <a:lstStyle/>
          <a:p>
            <a:pPr marL="0" indent="0" defTabSz="504000">
              <a:spcBef>
                <a:spcPts val="0"/>
              </a:spcBef>
              <a:buNone/>
              <a:defRPr sz="2820" b="1">
                <a:latin typeface="Times New Roman"/>
                <a:ea typeface="Times New Roman"/>
                <a:cs typeface="Times New Roman"/>
                <a:sym typeface="Times New Roman"/>
              </a:defRPr>
            </a:pPr>
            <a:r>
              <a:rPr lang="en-US" altLang="zh-CN" sz="3200" dirty="0"/>
              <a:t>2. Making things together with other people not only adds an element of fun, but also allows makers to </a:t>
            </a:r>
            <a:r>
              <a:rPr lang="en-US" altLang="zh-CN" sz="3200" u="sng" dirty="0"/>
              <a:t>bounce ideas off one another</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r>
              <a:rPr lang="en-US" altLang="zh-CN" sz="3200" dirty="0"/>
              <a:t>Not only did the vlog record moments when students were bouncing ideas off each other, but it also captured the beautiful scenery of the campus. (Jiang Xinyue)</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The most appealing part of the event is bound to be the final debate, which offers students a valuable platform to bounce ideas off one another. (Zhou </a:t>
            </a:r>
            <a:r>
              <a:rPr lang="en-US" altLang="zh-CN" sz="3200" dirty="0" err="1"/>
              <a:t>Jinru</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r>
              <a:rPr lang="en-US" altLang="zh-CN" sz="3200" dirty="0"/>
              <a:t>The team spent hours bouncing ideas off one another, eventually turning their wild imagination into a brilliant reality. (Ren Sitong)</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The workshop serves as a valuable platform for students to bounce ideas off each other, not only enhancing their critical thinking but also cultivating their coordination skills. (Xu </a:t>
            </a:r>
            <a:r>
              <a:rPr lang="en-US" altLang="zh-CN" sz="3200" dirty="0" err="1"/>
              <a:t>Kejia</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While social media allows us to bounce ideas off one another, messages and emojis cannot substitute for the depth and emotional resonance of face-to-face conversations. (Yang </a:t>
            </a:r>
            <a:r>
              <a:rPr lang="en-US" altLang="zh-CN" sz="3200" dirty="0" err="1"/>
              <a:t>Ruixin</a:t>
            </a:r>
            <a:r>
              <a:rPr lang="en-US" altLang="zh-CN" sz="3200" dirty="0"/>
              <a:t>)</a:t>
            </a:r>
          </a:p>
        </p:txBody>
      </p:sp>
    </p:spTree>
    <p:extLst>
      <p:ext uri="{BB962C8B-B14F-4D97-AF65-F5344CB8AC3E}">
        <p14:creationId xmlns:p14="http://schemas.microsoft.com/office/powerpoint/2010/main" val="191851845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56">
                                            <p:txEl>
                                              <p:pRg st="1" end="1"/>
                                            </p:txEl>
                                          </p:spTgt>
                                        </p:tgtEl>
                                        <p:attrNameLst>
                                          <p:attrName>style.visibility</p:attrName>
                                        </p:attrNameLst>
                                      </p:cBhvr>
                                      <p:to>
                                        <p:strVal val="visible"/>
                                      </p:to>
                                    </p:set>
                                    <p:animEffect transition="in" filter="checkerboard(across)">
                                      <p:cBhvr>
                                        <p:cTn id="7" dur="500"/>
                                        <p:tgtEl>
                                          <p:spTgt spid="15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56">
                                            <p:txEl>
                                              <p:pRg st="3" end="3"/>
                                            </p:txEl>
                                          </p:spTgt>
                                        </p:tgtEl>
                                        <p:attrNameLst>
                                          <p:attrName>style.visibility</p:attrName>
                                        </p:attrNameLst>
                                      </p:cBhvr>
                                      <p:to>
                                        <p:strVal val="visible"/>
                                      </p:to>
                                    </p:set>
                                    <p:animEffect transition="in" filter="checkerboard(across)">
                                      <p:cBhvr>
                                        <p:cTn id="12" dur="500"/>
                                        <p:tgtEl>
                                          <p:spTgt spid="156">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56">
                                            <p:txEl>
                                              <p:pRg st="4" end="4"/>
                                            </p:txEl>
                                          </p:spTgt>
                                        </p:tgtEl>
                                        <p:attrNameLst>
                                          <p:attrName>style.visibility</p:attrName>
                                        </p:attrNameLst>
                                      </p:cBhvr>
                                      <p:to>
                                        <p:strVal val="visible"/>
                                      </p:to>
                                    </p:set>
                                    <p:animEffect transition="in" filter="checkerboard(across)">
                                      <p:cBhvr>
                                        <p:cTn id="17" dur="500"/>
                                        <p:tgtEl>
                                          <p:spTgt spid="156">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56">
                                            <p:txEl>
                                              <p:pRg st="6" end="6"/>
                                            </p:txEl>
                                          </p:spTgt>
                                        </p:tgtEl>
                                        <p:attrNameLst>
                                          <p:attrName>style.visibility</p:attrName>
                                        </p:attrNameLst>
                                      </p:cBhvr>
                                      <p:to>
                                        <p:strVal val="visible"/>
                                      </p:to>
                                    </p:set>
                                    <p:animEffect transition="in" filter="checkerboard(across)">
                                      <p:cBhvr>
                                        <p:cTn id="22" dur="500"/>
                                        <p:tgtEl>
                                          <p:spTgt spid="156">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156">
                                            <p:txEl>
                                              <p:pRg st="8" end="8"/>
                                            </p:txEl>
                                          </p:spTgt>
                                        </p:tgtEl>
                                        <p:attrNameLst>
                                          <p:attrName>style.visibility</p:attrName>
                                        </p:attrNameLst>
                                      </p:cBhvr>
                                      <p:to>
                                        <p:strVal val="visible"/>
                                      </p:to>
                                    </p:set>
                                    <p:animEffect transition="in" filter="checkerboard(across)">
                                      <p:cBhvr>
                                        <p:cTn id="27" dur="500"/>
                                        <p:tgtEl>
                                          <p:spTgt spid="15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5D2BC-245B-D9DA-CD98-E978889E2A02}"/>
            </a:ext>
          </a:extLst>
        </p:cNvPr>
        <p:cNvGrpSpPr/>
        <p:nvPr/>
      </p:nvGrpSpPr>
      <p:grpSpPr>
        <a:xfrm>
          <a:off x="0" y="0"/>
          <a:ext cx="0" cy="0"/>
          <a:chOff x="0" y="0"/>
          <a:chExt cx="0" cy="0"/>
        </a:xfrm>
      </p:grpSpPr>
      <p:sp>
        <p:nvSpPr>
          <p:cNvPr id="156" name="在面试过程中…">
            <a:extLst>
              <a:ext uri="{FF2B5EF4-FFF2-40B4-BE49-F238E27FC236}">
                <a16:creationId xmlns:a16="http://schemas.microsoft.com/office/drawing/2014/main" id="{7811E62C-E041-F639-78E1-3B635FDD7E37}"/>
              </a:ext>
            </a:extLst>
          </p:cNvPr>
          <p:cNvSpPr txBox="1">
            <a:spLocks noGrp="1"/>
          </p:cNvSpPr>
          <p:nvPr>
            <p:ph type="body" idx="1"/>
          </p:nvPr>
        </p:nvSpPr>
        <p:spPr>
          <a:xfrm>
            <a:off x="1" y="64402"/>
            <a:ext cx="13004799" cy="9536798"/>
          </a:xfrm>
          <a:prstGeom prst="rect">
            <a:avLst/>
          </a:prstGeom>
        </p:spPr>
        <p:txBody>
          <a:bodyPr numCol="1" spcCol="457200">
            <a:noAutofit/>
          </a:bodyPr>
          <a:lstStyle/>
          <a:p>
            <a:pPr marL="0" indent="0" defTabSz="504000">
              <a:spcBef>
                <a:spcPts val="0"/>
              </a:spcBef>
              <a:buNone/>
              <a:defRPr sz="2820" b="1">
                <a:latin typeface="Times New Roman"/>
                <a:ea typeface="Times New Roman"/>
                <a:cs typeface="Times New Roman"/>
                <a:sym typeface="Times New Roman"/>
              </a:defRPr>
            </a:pPr>
            <a:r>
              <a:rPr lang="en-US" altLang="zh-CN" sz="3200" dirty="0"/>
              <a:t>3. </a:t>
            </a:r>
            <a:r>
              <a:rPr lang="en-US" altLang="zh-CN" sz="3200" u="sng" dirty="0"/>
              <a:t>Whatever</a:t>
            </a:r>
            <a:r>
              <a:rPr lang="en-US" altLang="zh-CN" sz="3200" dirty="0"/>
              <a:t> the level of equipment, all makerspaces are devoted to bringing young people together in the spirit of collaboration, motivating them to experiment with different crafts and technologies. (Whatever</a:t>
            </a:r>
            <a:r>
              <a:rPr lang="zh-CN" altLang="en-US" sz="3200" dirty="0"/>
              <a:t>让步状语从句、名词性从句分别造句</a:t>
            </a:r>
            <a:r>
              <a:rPr lang="en-GB" altLang="zh-CN" sz="3200" dirty="0"/>
              <a:t>)</a:t>
            </a:r>
            <a:endParaRPr lang="en-US" altLang="zh-CN" sz="3200" dirty="0"/>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Whatever the difficulty (was), our team always joined forces and rose to the challenge head-on, without the slightest hesitation. (Jiang Xinyue)</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Whatever difficulty lies ahead, I will always move forward with unwavering confidence. (Zhou </a:t>
            </a:r>
            <a:r>
              <a:rPr lang="en-US" altLang="zh-CN" sz="3200" dirty="0" err="1"/>
              <a:t>Jinru</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Whatever she had sacrificed seemed worthwhile the moment she saw her initiative brought to the world-class stage. (Ren Sitong)</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Whatever we face in the future, we should march ahead with unrelenting passion and courage. (Xu </a:t>
            </a:r>
            <a:r>
              <a:rPr lang="en-US" altLang="zh-CN" sz="3200" dirty="0" err="1"/>
              <a:t>Kejia</a:t>
            </a:r>
            <a:r>
              <a:rPr lang="en-US" altLang="zh-CN" sz="3200" dirty="0"/>
              <a:t>)</a:t>
            </a:r>
          </a:p>
        </p:txBody>
      </p:sp>
    </p:spTree>
    <p:extLst>
      <p:ext uri="{BB962C8B-B14F-4D97-AF65-F5344CB8AC3E}">
        <p14:creationId xmlns:p14="http://schemas.microsoft.com/office/powerpoint/2010/main" val="81166845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6">
                                            <p:txEl>
                                              <p:pRg st="2" end="2"/>
                                            </p:txEl>
                                          </p:spTgt>
                                        </p:tgtEl>
                                        <p:attrNameLst>
                                          <p:attrName>style.visibility</p:attrName>
                                        </p:attrNameLst>
                                      </p:cBhvr>
                                      <p:to>
                                        <p:strVal val="visible"/>
                                      </p:to>
                                    </p:set>
                                    <p:animEffect transition="in" filter="blinds(horizontal)">
                                      <p:cBhvr>
                                        <p:cTn id="7" dur="500"/>
                                        <p:tgtEl>
                                          <p:spTgt spid="15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6">
                                            <p:txEl>
                                              <p:pRg st="4" end="4"/>
                                            </p:txEl>
                                          </p:spTgt>
                                        </p:tgtEl>
                                        <p:attrNameLst>
                                          <p:attrName>style.visibility</p:attrName>
                                        </p:attrNameLst>
                                      </p:cBhvr>
                                      <p:to>
                                        <p:strVal val="visible"/>
                                      </p:to>
                                    </p:set>
                                    <p:animEffect transition="in" filter="blinds(horizontal)">
                                      <p:cBhvr>
                                        <p:cTn id="12" dur="500"/>
                                        <p:tgtEl>
                                          <p:spTgt spid="156">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56">
                                            <p:txEl>
                                              <p:pRg st="6" end="6"/>
                                            </p:txEl>
                                          </p:spTgt>
                                        </p:tgtEl>
                                        <p:attrNameLst>
                                          <p:attrName>style.visibility</p:attrName>
                                        </p:attrNameLst>
                                      </p:cBhvr>
                                      <p:to>
                                        <p:strVal val="visible"/>
                                      </p:to>
                                    </p:set>
                                    <p:animEffect transition="in" filter="blinds(horizontal)">
                                      <p:cBhvr>
                                        <p:cTn id="17" dur="500"/>
                                        <p:tgtEl>
                                          <p:spTgt spid="156">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56">
                                            <p:txEl>
                                              <p:pRg st="8" end="8"/>
                                            </p:txEl>
                                          </p:spTgt>
                                        </p:tgtEl>
                                        <p:attrNameLst>
                                          <p:attrName>style.visibility</p:attrName>
                                        </p:attrNameLst>
                                      </p:cBhvr>
                                      <p:to>
                                        <p:strVal val="visible"/>
                                      </p:to>
                                    </p:set>
                                    <p:animEffect transition="in" filter="blinds(horizontal)">
                                      <p:cBhvr>
                                        <p:cTn id="22" dur="500"/>
                                        <p:tgtEl>
                                          <p:spTgt spid="15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B4B5F-D698-117D-D5DC-4A3A270600CF}"/>
            </a:ext>
          </a:extLst>
        </p:cNvPr>
        <p:cNvGrpSpPr/>
        <p:nvPr/>
      </p:nvGrpSpPr>
      <p:grpSpPr>
        <a:xfrm>
          <a:off x="0" y="0"/>
          <a:ext cx="0" cy="0"/>
          <a:chOff x="0" y="0"/>
          <a:chExt cx="0" cy="0"/>
        </a:xfrm>
      </p:grpSpPr>
      <p:sp>
        <p:nvSpPr>
          <p:cNvPr id="156" name="在面试过程中…">
            <a:extLst>
              <a:ext uri="{FF2B5EF4-FFF2-40B4-BE49-F238E27FC236}">
                <a16:creationId xmlns:a16="http://schemas.microsoft.com/office/drawing/2014/main" id="{6A7EAAF3-B868-9728-DA9E-8DDE024D6897}"/>
              </a:ext>
            </a:extLst>
          </p:cNvPr>
          <p:cNvSpPr txBox="1">
            <a:spLocks noGrp="1"/>
          </p:cNvSpPr>
          <p:nvPr>
            <p:ph type="body" idx="1"/>
          </p:nvPr>
        </p:nvSpPr>
        <p:spPr>
          <a:xfrm>
            <a:off x="1" y="64402"/>
            <a:ext cx="13004799" cy="9536798"/>
          </a:xfrm>
          <a:prstGeom prst="rect">
            <a:avLst/>
          </a:prstGeom>
        </p:spPr>
        <p:txBody>
          <a:bodyPr numCol="1" spcCol="457200">
            <a:noAutofit/>
          </a:bodyPr>
          <a:lstStyle/>
          <a:p>
            <a:pPr marL="0" indent="0" defTabSz="504000">
              <a:spcBef>
                <a:spcPts val="0"/>
              </a:spcBef>
              <a:buNone/>
              <a:defRPr sz="2820" b="1">
                <a:latin typeface="Times New Roman"/>
                <a:ea typeface="Times New Roman"/>
                <a:cs typeface="Times New Roman"/>
                <a:sym typeface="Times New Roman"/>
              </a:defRPr>
            </a:pPr>
            <a:r>
              <a:rPr lang="en-US" altLang="zh-CN" sz="3200" dirty="0"/>
              <a:t>4. Failure is </a:t>
            </a:r>
            <a:r>
              <a:rPr lang="en-US" altLang="zh-CN" sz="3200" u="sng" dirty="0"/>
              <a:t>part and parcel </a:t>
            </a:r>
            <a:r>
              <a:rPr lang="en-US" altLang="zh-CN" sz="3200" dirty="0"/>
              <a:t>of the maker experience.</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It wasn’t until that moment that I realized challenges were part and parcel of the life journey, so we should take it easy no matter how difficult the problem may be. (Jiang Xinyue)</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Composure and organizational skills are part and parcel of leadership. (Zhou </a:t>
            </a:r>
            <a:r>
              <a:rPr lang="en-US" altLang="zh-CN" sz="3200" dirty="0" err="1"/>
              <a:t>Jinru</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endParaRPr lang="en-US" altLang="zh-CN" sz="3200" dirty="0"/>
          </a:p>
        </p:txBody>
      </p:sp>
    </p:spTree>
    <p:extLst>
      <p:ext uri="{BB962C8B-B14F-4D97-AF65-F5344CB8AC3E}">
        <p14:creationId xmlns:p14="http://schemas.microsoft.com/office/powerpoint/2010/main" val="355804289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6">
                                            <p:txEl>
                                              <p:pRg st="2" end="2"/>
                                            </p:txEl>
                                          </p:spTgt>
                                        </p:tgtEl>
                                        <p:attrNameLst>
                                          <p:attrName>style.visibility</p:attrName>
                                        </p:attrNameLst>
                                      </p:cBhvr>
                                      <p:to>
                                        <p:strVal val="visible"/>
                                      </p:to>
                                    </p:set>
                                    <p:animEffect transition="in" filter="blinds(horizontal)">
                                      <p:cBhvr>
                                        <p:cTn id="7" dur="500"/>
                                        <p:tgtEl>
                                          <p:spTgt spid="15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6">
                                            <p:txEl>
                                              <p:pRg st="4" end="4"/>
                                            </p:txEl>
                                          </p:spTgt>
                                        </p:tgtEl>
                                        <p:attrNameLst>
                                          <p:attrName>style.visibility</p:attrName>
                                        </p:attrNameLst>
                                      </p:cBhvr>
                                      <p:to>
                                        <p:strVal val="visible"/>
                                      </p:to>
                                    </p:set>
                                    <p:animEffect transition="in" filter="blinds(horizontal)">
                                      <p:cBhvr>
                                        <p:cTn id="12" dur="500"/>
                                        <p:tgtEl>
                                          <p:spTgt spid="15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DFB6C-8053-316D-11FF-01FEEDC7E9BC}"/>
            </a:ext>
          </a:extLst>
        </p:cNvPr>
        <p:cNvGrpSpPr/>
        <p:nvPr/>
      </p:nvGrpSpPr>
      <p:grpSpPr>
        <a:xfrm>
          <a:off x="0" y="0"/>
          <a:ext cx="0" cy="0"/>
          <a:chOff x="0" y="0"/>
          <a:chExt cx="0" cy="0"/>
        </a:xfrm>
      </p:grpSpPr>
      <p:sp>
        <p:nvSpPr>
          <p:cNvPr id="156" name="在面试过程中…">
            <a:extLst>
              <a:ext uri="{FF2B5EF4-FFF2-40B4-BE49-F238E27FC236}">
                <a16:creationId xmlns:a16="http://schemas.microsoft.com/office/drawing/2014/main" id="{2A2A95B4-DA5C-BE9A-AA2C-EAED84586DEC}"/>
              </a:ext>
            </a:extLst>
          </p:cNvPr>
          <p:cNvSpPr txBox="1">
            <a:spLocks noGrp="1"/>
          </p:cNvSpPr>
          <p:nvPr>
            <p:ph type="body" idx="1"/>
          </p:nvPr>
        </p:nvSpPr>
        <p:spPr>
          <a:xfrm>
            <a:off x="1" y="64402"/>
            <a:ext cx="13004799" cy="9536798"/>
          </a:xfrm>
          <a:prstGeom prst="rect">
            <a:avLst/>
          </a:prstGeom>
        </p:spPr>
        <p:txBody>
          <a:bodyPr numCol="1" spcCol="457200">
            <a:noAutofit/>
          </a:bodyPr>
          <a:lstStyle/>
          <a:p>
            <a:pPr marL="0" indent="0" defTabSz="504000">
              <a:spcBef>
                <a:spcPts val="0"/>
              </a:spcBef>
              <a:buNone/>
              <a:defRPr sz="2820" b="1">
                <a:latin typeface="Times New Roman"/>
                <a:ea typeface="Times New Roman"/>
                <a:cs typeface="Times New Roman"/>
                <a:sym typeface="Times New Roman"/>
              </a:defRPr>
            </a:pPr>
            <a:r>
              <a:rPr lang="en-US" altLang="zh-CN" sz="3200" dirty="0"/>
              <a:t>5. My first attempts were a bit of a disaster, so I had to </a:t>
            </a:r>
            <a:r>
              <a:rPr lang="en-US" altLang="zh-CN" sz="3200" u="sng" dirty="0"/>
              <a:t>start</a:t>
            </a:r>
            <a:r>
              <a:rPr lang="en-US" altLang="zh-CN" sz="3200" dirty="0"/>
              <a:t> again </a:t>
            </a:r>
            <a:r>
              <a:rPr lang="en-US" altLang="zh-CN" sz="3200" u="sng" dirty="0"/>
              <a:t>from scratch</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She took out the necessary materials and started from scratch, patiently teaching May how to thread the needle and gradually guiding her through the process of weaving patterns. (Jiang Xinyue)</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Unable to figure out the problem, we had no choice but to dismantle/take apart the model and start again from scratch. (Zhou </a:t>
            </a:r>
            <a:r>
              <a:rPr lang="en-US" altLang="zh-CN" sz="3200" dirty="0" err="1"/>
              <a:t>Jinru</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US" altLang="zh-CN" sz="3200" dirty="0"/>
              <a:t>She took a deep breath, examined every crack, and started again from scratch. (Yu Yunxi)</a:t>
            </a:r>
          </a:p>
          <a:p>
            <a:pPr marL="0" indent="0" defTabSz="504000">
              <a:spcBef>
                <a:spcPts val="0"/>
              </a:spcBef>
              <a:buNone/>
              <a:defRPr sz="2820" b="1">
                <a:latin typeface="Times New Roman"/>
                <a:ea typeface="Times New Roman"/>
                <a:cs typeface="Times New Roman"/>
                <a:sym typeface="Times New Roman"/>
              </a:defRPr>
            </a:pPr>
            <a:r>
              <a:rPr lang="en-US" altLang="zh-CN" sz="3200" dirty="0">
                <a:solidFill>
                  <a:srgbClr val="FF0000"/>
                </a:solidFill>
              </a:rPr>
              <a:t>She took a deep breath, carefully examining every crack before starting again from scratch.</a:t>
            </a:r>
          </a:p>
        </p:txBody>
      </p:sp>
    </p:spTree>
    <p:extLst>
      <p:ext uri="{BB962C8B-B14F-4D97-AF65-F5344CB8AC3E}">
        <p14:creationId xmlns:p14="http://schemas.microsoft.com/office/powerpoint/2010/main" val="202592785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6">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6">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08A13-4F99-B368-94C6-582E17D57F86}"/>
            </a:ext>
          </a:extLst>
        </p:cNvPr>
        <p:cNvGrpSpPr/>
        <p:nvPr/>
      </p:nvGrpSpPr>
      <p:grpSpPr>
        <a:xfrm>
          <a:off x="0" y="0"/>
          <a:ext cx="0" cy="0"/>
          <a:chOff x="0" y="0"/>
          <a:chExt cx="0" cy="0"/>
        </a:xfrm>
      </p:grpSpPr>
      <p:sp>
        <p:nvSpPr>
          <p:cNvPr id="156" name="在面试过程中…">
            <a:extLst>
              <a:ext uri="{FF2B5EF4-FFF2-40B4-BE49-F238E27FC236}">
                <a16:creationId xmlns:a16="http://schemas.microsoft.com/office/drawing/2014/main" id="{8E842F00-2976-5F5B-E4EE-9B6F82CA9BB2}"/>
              </a:ext>
            </a:extLst>
          </p:cNvPr>
          <p:cNvSpPr txBox="1">
            <a:spLocks noGrp="1"/>
          </p:cNvSpPr>
          <p:nvPr>
            <p:ph type="body" idx="1"/>
          </p:nvPr>
        </p:nvSpPr>
        <p:spPr>
          <a:xfrm>
            <a:off x="1" y="64402"/>
            <a:ext cx="13004799" cy="9536798"/>
          </a:xfrm>
          <a:prstGeom prst="rect">
            <a:avLst/>
          </a:prstGeom>
        </p:spPr>
        <p:txBody>
          <a:bodyPr numCol="1" spcCol="457200">
            <a:noAutofit/>
          </a:bodyPr>
          <a:lstStyle/>
          <a:p>
            <a:pPr marL="0" indent="0" defTabSz="504000">
              <a:spcBef>
                <a:spcPts val="0"/>
              </a:spcBef>
              <a:buNone/>
              <a:defRPr sz="2820" b="1">
                <a:latin typeface="Times New Roman"/>
                <a:ea typeface="Times New Roman"/>
                <a:cs typeface="Times New Roman"/>
                <a:sym typeface="Times New Roman"/>
              </a:defRPr>
            </a:pPr>
            <a:r>
              <a:rPr lang="zh-CN" altLang="en-US" sz="3200" dirty="0">
                <a:solidFill>
                  <a:srgbClr val="FF0000"/>
                </a:solidFill>
              </a:rPr>
              <a:t>选修三</a:t>
            </a:r>
            <a:r>
              <a:rPr lang="en-US" altLang="zh-CN" sz="3200" dirty="0">
                <a:solidFill>
                  <a:srgbClr val="FF0000"/>
                </a:solidFill>
              </a:rPr>
              <a:t>U2 Inte:</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r>
              <a:rPr lang="en-GB" altLang="zh-CN" sz="3200" dirty="0"/>
              <a:t>Indeed, the value of creativity </a:t>
            </a:r>
            <a:r>
              <a:rPr lang="en-GB" altLang="zh-CN" sz="3200" u="sng" dirty="0"/>
              <a:t>can never be overstated</a:t>
            </a:r>
            <a:r>
              <a:rPr lang="en-GB" altLang="zh-CN" sz="3200" dirty="0"/>
              <a:t>.</a:t>
            </a:r>
          </a:p>
          <a:p>
            <a:pPr marL="360000" indent="-360000" defTabSz="504000">
              <a:spcBef>
                <a:spcPts val="0"/>
              </a:spcBef>
              <a:buFont typeface="+mj-lt"/>
              <a:buAutoNum type="arabicPeriod"/>
              <a:defRPr sz="2820" b="1">
                <a:latin typeface="Times New Roman"/>
                <a:ea typeface="Times New Roman"/>
                <a:cs typeface="Times New Roman"/>
                <a:sym typeface="Times New Roman"/>
              </a:defRPr>
            </a:pPr>
            <a:endParaRPr lang="en-GB" altLang="zh-CN" sz="3200" dirty="0"/>
          </a:p>
          <a:p>
            <a:pPr marL="0" indent="0" defTabSz="504000">
              <a:spcBef>
                <a:spcPts val="0"/>
              </a:spcBef>
              <a:buNone/>
              <a:defRPr sz="2820" b="1">
                <a:latin typeface="Times New Roman"/>
                <a:ea typeface="Times New Roman"/>
                <a:cs typeface="Times New Roman"/>
                <a:sym typeface="Times New Roman"/>
              </a:defRPr>
            </a:pPr>
            <a:r>
              <a:rPr lang="en-GB" altLang="zh-CN" sz="3200" dirty="0"/>
              <a:t>It was after this collective effort that Tom came to realize that the value of friendship is beyond description and can never be overstated. (Zhou </a:t>
            </a:r>
            <a:r>
              <a:rPr lang="en-GB" altLang="zh-CN" sz="3200" dirty="0" err="1"/>
              <a:t>Jingru</a:t>
            </a:r>
            <a:r>
              <a:rPr lang="en-GB" altLang="zh-CN" sz="3200" dirty="0"/>
              <a:t>)</a:t>
            </a:r>
          </a:p>
        </p:txBody>
      </p:sp>
    </p:spTree>
    <p:extLst>
      <p:ext uri="{BB962C8B-B14F-4D97-AF65-F5344CB8AC3E}">
        <p14:creationId xmlns:p14="http://schemas.microsoft.com/office/powerpoint/2010/main" val="289899736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F3FD1-8799-A513-B1D2-0A61A49B2575}"/>
            </a:ext>
          </a:extLst>
        </p:cNvPr>
        <p:cNvGrpSpPr/>
        <p:nvPr/>
      </p:nvGrpSpPr>
      <p:grpSpPr>
        <a:xfrm>
          <a:off x="0" y="0"/>
          <a:ext cx="0" cy="0"/>
          <a:chOff x="0" y="0"/>
          <a:chExt cx="0" cy="0"/>
        </a:xfrm>
      </p:grpSpPr>
      <p:sp>
        <p:nvSpPr>
          <p:cNvPr id="156" name="在面试过程中…">
            <a:extLst>
              <a:ext uri="{FF2B5EF4-FFF2-40B4-BE49-F238E27FC236}">
                <a16:creationId xmlns:a16="http://schemas.microsoft.com/office/drawing/2014/main" id="{6BAEE917-B456-AADF-BCB6-CADCB079F72F}"/>
              </a:ext>
            </a:extLst>
          </p:cNvPr>
          <p:cNvSpPr txBox="1">
            <a:spLocks noGrp="1"/>
          </p:cNvSpPr>
          <p:nvPr>
            <p:ph type="body" idx="1"/>
          </p:nvPr>
        </p:nvSpPr>
        <p:spPr>
          <a:xfrm>
            <a:off x="1" y="64402"/>
            <a:ext cx="13004799" cy="9536798"/>
          </a:xfrm>
          <a:prstGeom prst="rect">
            <a:avLst/>
          </a:prstGeom>
        </p:spPr>
        <p:txBody>
          <a:bodyPr numCol="1" spcCol="457200">
            <a:noAutofit/>
          </a:bodyPr>
          <a:lstStyle/>
          <a:p>
            <a:pPr marL="0" indent="0" defTabSz="504000">
              <a:spcBef>
                <a:spcPts val="0"/>
              </a:spcBef>
              <a:buNone/>
              <a:defRPr sz="2820" b="1">
                <a:latin typeface="Times New Roman"/>
                <a:ea typeface="Times New Roman"/>
                <a:cs typeface="Times New Roman"/>
                <a:sym typeface="Times New Roman"/>
              </a:defRPr>
            </a:pPr>
            <a:r>
              <a:rPr lang="en-GB" altLang="zh-CN" sz="3200" dirty="0"/>
              <a:t>2. In </a:t>
            </a:r>
            <a:r>
              <a:rPr lang="en-GB" altLang="zh-CN" sz="3200" u="sng" dirty="0"/>
              <a:t>recognition</a:t>
            </a:r>
            <a:r>
              <a:rPr lang="en-GB" altLang="zh-CN" sz="3200" dirty="0"/>
              <a:t> of the important role that creativity and innovation play in all aspects of human development, …</a:t>
            </a:r>
          </a:p>
          <a:p>
            <a:pPr marL="0" indent="0" defTabSz="504000">
              <a:spcBef>
                <a:spcPts val="0"/>
              </a:spcBef>
              <a:buNone/>
              <a:defRPr sz="2820" b="1">
                <a:latin typeface="Times New Roman"/>
                <a:ea typeface="Times New Roman"/>
                <a:cs typeface="Times New Roman"/>
                <a:sym typeface="Times New Roman"/>
              </a:defRPr>
            </a:pPr>
            <a:endParaRPr lang="en-GB" altLang="zh-CN" sz="3200" dirty="0"/>
          </a:p>
          <a:p>
            <a:pPr marL="0" indent="0" defTabSz="504000">
              <a:spcBef>
                <a:spcPts val="0"/>
              </a:spcBef>
              <a:buNone/>
              <a:defRPr sz="2820" b="1">
                <a:latin typeface="Times New Roman"/>
                <a:ea typeface="Times New Roman"/>
                <a:cs typeface="Times New Roman"/>
                <a:sym typeface="Times New Roman"/>
              </a:defRPr>
            </a:pPr>
            <a:r>
              <a:rPr lang="en-GB" altLang="zh-CN" sz="3200" dirty="0"/>
              <a:t>The true essence of performance does not lie in the applause symbolizing recognition, but in the joy and happiness it brings to the audience. (Yu Yunxi)</a:t>
            </a:r>
          </a:p>
        </p:txBody>
      </p:sp>
    </p:spTree>
    <p:extLst>
      <p:ext uri="{BB962C8B-B14F-4D97-AF65-F5344CB8AC3E}">
        <p14:creationId xmlns:p14="http://schemas.microsoft.com/office/powerpoint/2010/main" val="68853120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7A9DE-4186-9311-D322-4786FCDD2B4D}"/>
            </a:ext>
          </a:extLst>
        </p:cNvPr>
        <p:cNvGrpSpPr/>
        <p:nvPr/>
      </p:nvGrpSpPr>
      <p:grpSpPr>
        <a:xfrm>
          <a:off x="0" y="0"/>
          <a:ext cx="0" cy="0"/>
          <a:chOff x="0" y="0"/>
          <a:chExt cx="0" cy="0"/>
        </a:xfrm>
      </p:grpSpPr>
      <p:sp>
        <p:nvSpPr>
          <p:cNvPr id="156" name="在面试过程中…">
            <a:extLst>
              <a:ext uri="{FF2B5EF4-FFF2-40B4-BE49-F238E27FC236}">
                <a16:creationId xmlns:a16="http://schemas.microsoft.com/office/drawing/2014/main" id="{45333B3C-19B5-6355-E92B-7C4F30745AFF}"/>
              </a:ext>
            </a:extLst>
          </p:cNvPr>
          <p:cNvSpPr txBox="1">
            <a:spLocks noGrp="1"/>
          </p:cNvSpPr>
          <p:nvPr>
            <p:ph type="body" idx="1"/>
          </p:nvPr>
        </p:nvSpPr>
        <p:spPr>
          <a:xfrm>
            <a:off x="1" y="64402"/>
            <a:ext cx="13004799" cy="9536798"/>
          </a:xfrm>
          <a:prstGeom prst="rect">
            <a:avLst/>
          </a:prstGeom>
        </p:spPr>
        <p:txBody>
          <a:bodyPr numCol="1" spcCol="457200">
            <a:noAutofit/>
          </a:bodyPr>
          <a:lstStyle/>
          <a:p>
            <a:pPr marL="0" indent="0" defTabSz="504000">
              <a:spcBef>
                <a:spcPts val="0"/>
              </a:spcBef>
              <a:buNone/>
              <a:defRPr sz="2820" b="1">
                <a:latin typeface="Times New Roman"/>
                <a:ea typeface="Times New Roman"/>
                <a:cs typeface="Times New Roman"/>
                <a:sym typeface="Times New Roman"/>
              </a:defRPr>
            </a:pPr>
            <a:r>
              <a:rPr lang="en-GB" altLang="zh-CN" sz="3200" dirty="0"/>
              <a:t>3. As different people have different </a:t>
            </a:r>
            <a:r>
              <a:rPr lang="en-GB" altLang="zh-CN" sz="3200" u="sng" dirty="0"/>
              <a:t>mindsets</a:t>
            </a:r>
            <a:r>
              <a:rPr lang="en-GB" altLang="zh-CN" sz="3200" dirty="0"/>
              <a:t>, skills</a:t>
            </a:r>
            <a:r>
              <a:rPr lang="zh-CN" altLang="en-US" sz="3200" dirty="0"/>
              <a:t> </a:t>
            </a:r>
            <a:r>
              <a:rPr lang="en-GB" altLang="zh-CN" sz="3200" dirty="0"/>
              <a:t>and abilities, </a:t>
            </a:r>
            <a:r>
              <a:rPr lang="en-US" altLang="zh-CN" sz="3200" dirty="0"/>
              <a:t>…</a:t>
            </a:r>
          </a:p>
          <a:p>
            <a:pPr marL="0" indent="0" defTabSz="504000">
              <a:spcBef>
                <a:spcPts val="0"/>
              </a:spcBef>
              <a:buNone/>
              <a:defRPr sz="2820" b="1">
                <a:latin typeface="Times New Roman"/>
                <a:ea typeface="Times New Roman"/>
                <a:cs typeface="Times New Roman"/>
                <a:sym typeface="Times New Roman"/>
              </a:defRPr>
            </a:pPr>
            <a:endParaRPr lang="en-US" altLang="zh-CN" sz="3200" dirty="0"/>
          </a:p>
          <a:p>
            <a:pPr marL="0" indent="0" defTabSz="504000">
              <a:spcBef>
                <a:spcPts val="0"/>
              </a:spcBef>
              <a:buNone/>
              <a:defRPr sz="2820" b="1">
                <a:latin typeface="Times New Roman"/>
                <a:ea typeface="Times New Roman"/>
                <a:cs typeface="Times New Roman"/>
                <a:sym typeface="Times New Roman"/>
              </a:defRPr>
            </a:pPr>
            <a:r>
              <a:rPr lang="en-GB" altLang="zh-CN" sz="3200" dirty="0"/>
              <a:t>The programme is targeted at individuals with diverse mindsets, aiming to figure out how their background experiences shape their ways of thinking.</a:t>
            </a:r>
            <a:r>
              <a:rPr lang="zh-CN" altLang="en-US" sz="3200" dirty="0"/>
              <a:t> </a:t>
            </a:r>
            <a:r>
              <a:rPr lang="en-GB" altLang="zh-CN" sz="3200" dirty="0"/>
              <a:t>(Jiang Xinyue)</a:t>
            </a:r>
          </a:p>
          <a:p>
            <a:pPr marL="0" indent="0" defTabSz="504000">
              <a:spcBef>
                <a:spcPts val="0"/>
              </a:spcBef>
              <a:buNone/>
              <a:defRPr sz="2820" b="1">
                <a:latin typeface="Times New Roman"/>
                <a:ea typeface="Times New Roman"/>
                <a:cs typeface="Times New Roman"/>
                <a:sym typeface="Times New Roman"/>
              </a:defRPr>
            </a:pPr>
            <a:endParaRPr lang="en-GB" altLang="zh-CN" sz="3200" dirty="0"/>
          </a:p>
          <a:p>
            <a:pPr marL="0" indent="0" defTabSz="504000">
              <a:spcBef>
                <a:spcPts val="0"/>
              </a:spcBef>
              <a:buNone/>
              <a:defRPr sz="2820" b="1">
                <a:latin typeface="Times New Roman"/>
                <a:ea typeface="Times New Roman"/>
                <a:cs typeface="Times New Roman"/>
                <a:sym typeface="Times New Roman"/>
              </a:defRPr>
            </a:pPr>
            <a:r>
              <a:rPr lang="en-GB" altLang="zh-CN" sz="3200" dirty="0"/>
              <a:t>Sometimes when all roads seem to lead to failure, you can try adopting a new mindset, which may bring about an unexpected resolution. (Zhou </a:t>
            </a:r>
            <a:r>
              <a:rPr lang="en-GB" altLang="zh-CN" sz="3200" dirty="0" err="1"/>
              <a:t>Jinru</a:t>
            </a:r>
            <a:r>
              <a:rPr lang="en-GB" altLang="zh-CN" sz="3200" dirty="0"/>
              <a:t>)</a:t>
            </a:r>
          </a:p>
        </p:txBody>
      </p:sp>
    </p:spTree>
    <p:extLst>
      <p:ext uri="{BB962C8B-B14F-4D97-AF65-F5344CB8AC3E}">
        <p14:creationId xmlns:p14="http://schemas.microsoft.com/office/powerpoint/2010/main" val="91937714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92711-2412-224D-5583-0237CC7D7B15}"/>
            </a:ext>
          </a:extLst>
        </p:cNvPr>
        <p:cNvGrpSpPr/>
        <p:nvPr/>
      </p:nvGrpSpPr>
      <p:grpSpPr>
        <a:xfrm>
          <a:off x="0" y="0"/>
          <a:ext cx="0" cy="0"/>
          <a:chOff x="0" y="0"/>
          <a:chExt cx="0" cy="0"/>
        </a:xfrm>
      </p:grpSpPr>
      <p:sp>
        <p:nvSpPr>
          <p:cNvPr id="156" name="在面试过程中…">
            <a:extLst>
              <a:ext uri="{FF2B5EF4-FFF2-40B4-BE49-F238E27FC236}">
                <a16:creationId xmlns:a16="http://schemas.microsoft.com/office/drawing/2014/main" id="{BAF4B2B2-1F50-ABC0-0F99-904694A758CA}"/>
              </a:ext>
            </a:extLst>
          </p:cNvPr>
          <p:cNvSpPr txBox="1">
            <a:spLocks noGrp="1"/>
          </p:cNvSpPr>
          <p:nvPr>
            <p:ph type="body" idx="1"/>
          </p:nvPr>
        </p:nvSpPr>
        <p:spPr>
          <a:xfrm>
            <a:off x="1" y="64402"/>
            <a:ext cx="13004799" cy="9536798"/>
          </a:xfrm>
          <a:prstGeom prst="rect">
            <a:avLst/>
          </a:prstGeom>
        </p:spPr>
        <p:txBody>
          <a:bodyPr numCol="1" spcCol="457200">
            <a:noAutofit/>
          </a:bodyPr>
          <a:lstStyle/>
          <a:p>
            <a:pPr marL="0" indent="0" defTabSz="504000">
              <a:spcBef>
                <a:spcPts val="0"/>
              </a:spcBef>
              <a:buNone/>
              <a:defRPr sz="2820" b="1">
                <a:latin typeface="Times New Roman"/>
                <a:ea typeface="Times New Roman"/>
                <a:cs typeface="Times New Roman"/>
                <a:sym typeface="Times New Roman"/>
              </a:defRPr>
            </a:pPr>
            <a:r>
              <a:rPr lang="en-GB" altLang="zh-CN" sz="3200" dirty="0"/>
              <a:t>4. Last but not least, you must be ready to fight the fear of failure, which is often believed to be one of the biggest </a:t>
            </a:r>
            <a:r>
              <a:rPr lang="en-GB" altLang="zh-CN" sz="3200" u="sng" dirty="0"/>
              <a:t>obstacles to </a:t>
            </a:r>
            <a:r>
              <a:rPr lang="en-GB" altLang="zh-CN" sz="3200" dirty="0"/>
              <a:t>creativity.</a:t>
            </a:r>
          </a:p>
          <a:p>
            <a:pPr marL="0" indent="0" defTabSz="504000">
              <a:spcBef>
                <a:spcPts val="0"/>
              </a:spcBef>
              <a:buNone/>
              <a:defRPr sz="2820" b="1">
                <a:latin typeface="Times New Roman"/>
                <a:ea typeface="Times New Roman"/>
                <a:cs typeface="Times New Roman"/>
                <a:sym typeface="Times New Roman"/>
              </a:defRPr>
            </a:pPr>
            <a:endParaRPr lang="en-GB" altLang="zh-CN" sz="3200" dirty="0"/>
          </a:p>
          <a:p>
            <a:pPr marL="0" indent="0" defTabSz="504000">
              <a:spcBef>
                <a:spcPts val="0"/>
              </a:spcBef>
              <a:buNone/>
              <a:defRPr sz="2820" b="1">
                <a:latin typeface="Times New Roman"/>
                <a:ea typeface="Times New Roman"/>
                <a:cs typeface="Times New Roman"/>
                <a:sym typeface="Times New Roman"/>
              </a:defRPr>
            </a:pPr>
            <a:r>
              <a:rPr lang="en-GB" altLang="zh-CN" sz="3200" dirty="0"/>
              <a:t>To remove obstacles to success, we must go the extra mile, never ceasing to pursue our goals. (Jiang Xinyue)</a:t>
            </a:r>
          </a:p>
          <a:p>
            <a:pPr marL="0" indent="0" defTabSz="504000">
              <a:spcBef>
                <a:spcPts val="0"/>
              </a:spcBef>
              <a:buNone/>
              <a:defRPr sz="2820" b="1">
                <a:latin typeface="Times New Roman"/>
                <a:ea typeface="Times New Roman"/>
                <a:cs typeface="Times New Roman"/>
                <a:sym typeface="Times New Roman"/>
              </a:defRPr>
            </a:pPr>
            <a:endParaRPr lang="en-GB" altLang="zh-CN" sz="3200" dirty="0"/>
          </a:p>
          <a:p>
            <a:pPr marL="0" indent="0" defTabSz="504000">
              <a:spcBef>
                <a:spcPts val="0"/>
              </a:spcBef>
              <a:buNone/>
              <a:defRPr sz="2820" b="1">
                <a:latin typeface="Times New Roman"/>
                <a:ea typeface="Times New Roman"/>
                <a:cs typeface="Times New Roman"/>
                <a:sym typeface="Times New Roman"/>
              </a:defRPr>
            </a:pPr>
            <a:r>
              <a:rPr lang="en-GB" altLang="zh-CN" sz="3200" dirty="0"/>
              <a:t>The biggest obstacle to realizing my dream is not the financial limitations that I’d always been concerned about, but the fear deep buried in my heart. (Zhou </a:t>
            </a:r>
            <a:r>
              <a:rPr lang="en-GB" altLang="zh-CN" sz="3200" dirty="0" err="1"/>
              <a:t>Jingru</a:t>
            </a:r>
            <a:r>
              <a:rPr lang="en-GB" altLang="zh-CN" sz="3200" dirty="0"/>
              <a:t>)</a:t>
            </a:r>
          </a:p>
          <a:p>
            <a:pPr marL="0" indent="0" defTabSz="504000">
              <a:spcBef>
                <a:spcPts val="0"/>
              </a:spcBef>
              <a:buNone/>
              <a:defRPr sz="2820" b="1">
                <a:latin typeface="Times New Roman"/>
                <a:ea typeface="Times New Roman"/>
                <a:cs typeface="Times New Roman"/>
                <a:sym typeface="Times New Roman"/>
              </a:defRPr>
            </a:pPr>
            <a:endParaRPr lang="en-GB" altLang="zh-CN" sz="3200" dirty="0"/>
          </a:p>
        </p:txBody>
      </p:sp>
    </p:spTree>
    <p:extLst>
      <p:ext uri="{BB962C8B-B14F-4D97-AF65-F5344CB8AC3E}">
        <p14:creationId xmlns:p14="http://schemas.microsoft.com/office/powerpoint/2010/main" val="55348099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6">
                                            <p:txEl>
                                              <p:pRg st="2" end="2"/>
                                            </p:txEl>
                                          </p:spTgt>
                                        </p:tgtEl>
                                        <p:attrNameLst>
                                          <p:attrName>style.visibility</p:attrName>
                                        </p:attrNameLst>
                                      </p:cBhvr>
                                      <p:to>
                                        <p:strVal val="visible"/>
                                      </p:to>
                                    </p:set>
                                    <p:animEffect transition="in" filter="blinds(horizontal)">
                                      <p:cBhvr>
                                        <p:cTn id="7" dur="500"/>
                                        <p:tgtEl>
                                          <p:spTgt spid="15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6">
                                            <p:txEl>
                                              <p:pRg st="4" end="4"/>
                                            </p:txEl>
                                          </p:spTgt>
                                        </p:tgtEl>
                                        <p:attrNameLst>
                                          <p:attrName>style.visibility</p:attrName>
                                        </p:attrNameLst>
                                      </p:cBhvr>
                                      <p:to>
                                        <p:strVal val="visible"/>
                                      </p:to>
                                    </p:set>
                                    <p:animEffect transition="in" filter="blinds(horizontal)">
                                      <p:cBhvr>
                                        <p:cTn id="12" dur="500"/>
                                        <p:tgtEl>
                                          <p:spTgt spid="15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11720</TotalTime>
  <Words>4516</Words>
  <Application>Microsoft Macintosh PowerPoint</Application>
  <PresentationFormat>Custom</PresentationFormat>
  <Paragraphs>313</Paragraphs>
  <Slides>44</Slides>
  <Notes>7</Notes>
  <HiddenSlides>5</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Arial</vt:lpstr>
      <vt:lpstr>Helvetica</vt:lpstr>
      <vt:lpstr>Helvetica Light</vt:lpstr>
      <vt:lpstr>Helvetica Neue</vt:lpstr>
      <vt:lpstr>Times New Roman</vt:lpstr>
      <vt:lpstr>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Qing NI</cp:lastModifiedBy>
  <cp:revision>106</cp:revision>
  <cp:lastPrinted>2025-09-04T23:06:53Z</cp:lastPrinted>
  <dcterms:modified xsi:type="dcterms:W3CDTF">2026-04-10T01:59:38Z</dcterms:modified>
</cp:coreProperties>
</file>