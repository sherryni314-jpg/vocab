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Override1.xml" ContentType="application/vnd.openxmlformats-officedocument.themeOverride+xml"/>
  <Override PartName="/ppt/tags/tag2.xml" ContentType="application/vnd.openxmlformats-officedocument.presentationml.tags+xml"/>
  <Override PartName="/ppt/theme/themeOverride2.xml" ContentType="application/vnd.openxmlformats-officedocument.themeOverride+xml"/>
  <Override PartName="/ppt/tags/tag3.xml" ContentType="application/vnd.openxmlformats-officedocument.presentationml.tags+xml"/>
  <Override PartName="/ppt/theme/themeOverride3.xml" ContentType="application/vnd.openxmlformats-officedocument.themeOverride+xml"/>
  <Override PartName="/ppt/tags/tag4.xml" ContentType="application/vnd.openxmlformats-officedocument.presentationml.tags+xml"/>
  <Override PartName="/ppt/theme/themeOverride4.xml" ContentType="application/vnd.openxmlformats-officedocument.themeOverride+xml"/>
  <Override PartName="/ppt/tags/tag5.xml" ContentType="application/vnd.openxmlformats-officedocument.presentationml.tags+xml"/>
  <Override PartName="/ppt/theme/themeOverride5.xml" ContentType="application/vnd.openxmlformats-officedocument.themeOverride+xml"/>
  <Override PartName="/ppt/tags/tag6.xml" ContentType="application/vnd.openxmlformats-officedocument.presentationml.tags+xml"/>
  <Override PartName="/ppt/theme/themeOverride6.xml" ContentType="application/vnd.openxmlformats-officedocument.themeOverride+xml"/>
  <Override PartName="/ppt/tags/tag7.xml" ContentType="application/vnd.openxmlformats-officedocument.presentationml.tags+xml"/>
  <Override PartName="/ppt/theme/themeOverride7.xml" ContentType="application/vnd.openxmlformats-officedocument.themeOverride+xml"/>
  <Override PartName="/ppt/tags/tag8.xml" ContentType="application/vnd.openxmlformats-officedocument.presentationml.tags+xml"/>
  <Override PartName="/ppt/theme/themeOverride8.xml" ContentType="application/vnd.openxmlformats-officedocument.themeOverride+xml"/>
  <Override PartName="/ppt/tags/tag9.xml" ContentType="application/vnd.openxmlformats-officedocument.presentationml.tags+xml"/>
  <Override PartName="/ppt/theme/themeOverride9.xml" ContentType="application/vnd.openxmlformats-officedocument.themeOverride+xml"/>
  <Override PartName="/ppt/tags/tag10.xml" ContentType="application/vnd.openxmlformats-officedocument.presentationml.tags+xml"/>
  <Override PartName="/ppt/theme/themeOverride10.xml" ContentType="application/vnd.openxmlformats-officedocument.themeOverride+xml"/>
  <Override PartName="/ppt/tags/tag11.xml" ContentType="application/vnd.openxmlformats-officedocument.presentationml.tags+xml"/>
  <Override PartName="/ppt/theme/themeOverride11.xml" ContentType="application/vnd.openxmlformats-officedocument.themeOverride+xml"/>
  <Override PartName="/ppt/tags/tag12.xml" ContentType="application/vnd.openxmlformats-officedocument.presentationml.tags+xml"/>
  <Override PartName="/ppt/theme/themeOverride12.xml" ContentType="application/vnd.openxmlformats-officedocument.themeOverride+xml"/>
  <Override PartName="/ppt/tags/tag13.xml" ContentType="application/vnd.openxmlformats-officedocument.presentationml.tags+xml"/>
  <Override PartName="/ppt/theme/themeOverride13.xml" ContentType="application/vnd.openxmlformats-officedocument.themeOverride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theme/themeOverride14.xml" ContentType="application/vnd.openxmlformats-officedocument.themeOverride+xml"/>
  <Override PartName="/ppt/tags/tag15.xml" ContentType="application/vnd.openxmlformats-officedocument.presentationml.tags+xml"/>
  <Override PartName="/ppt/notesSlides/notesSlide2.xml" ContentType="application/vnd.openxmlformats-officedocument.presentationml.notesSlide+xml"/>
  <Override PartName="/ppt/theme/themeOverride15.xml" ContentType="application/vnd.openxmlformats-officedocument.themeOverride+xml"/>
  <Override PartName="/ppt/tags/tag16.xml" ContentType="application/vnd.openxmlformats-officedocument.presentationml.tags+xml"/>
  <Override PartName="/ppt/theme/themeOverride16.xml" ContentType="application/vnd.openxmlformats-officedocument.themeOverride+xml"/>
  <Override PartName="/ppt/tags/tag17.xml" ContentType="application/vnd.openxmlformats-officedocument.presentationml.tags+xml"/>
  <Override PartName="/ppt/theme/themeOverride17.xml" ContentType="application/vnd.openxmlformats-officedocument.themeOverride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442" r:id="rId2"/>
    <p:sldId id="444" r:id="rId3"/>
    <p:sldId id="446" r:id="rId4"/>
    <p:sldId id="447" r:id="rId5"/>
    <p:sldId id="453" r:id="rId6"/>
    <p:sldId id="565" r:id="rId7"/>
    <p:sldId id="506" r:id="rId8"/>
    <p:sldId id="507" r:id="rId9"/>
    <p:sldId id="449" r:id="rId10"/>
    <p:sldId id="455" r:id="rId11"/>
    <p:sldId id="457" r:id="rId12"/>
    <p:sldId id="458" r:id="rId13"/>
    <p:sldId id="508" r:id="rId14"/>
    <p:sldId id="509" r:id="rId15"/>
    <p:sldId id="511" r:id="rId16"/>
    <p:sldId id="462" r:id="rId17"/>
    <p:sldId id="512" r:id="rId18"/>
    <p:sldId id="56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39B77"/>
    <a:srgbClr val="E9EBF5"/>
    <a:srgbClr val="FFFFFF"/>
    <a:srgbClr val="CFD5EA"/>
    <a:srgbClr val="4472C4"/>
    <a:srgbClr val="0A74F9"/>
    <a:srgbClr val="C4D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3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63F60E-794B-40BA-960D-A62AADD48414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69CFB-EF14-41ED-809A-6131161FDF0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.xml"/><Relationship Id="rId1" Type="http://schemas.openxmlformats.org/officeDocument/2006/relationships/themeOverride" Target="../theme/themeOverr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9.xml"/><Relationship Id="rId1" Type="http://schemas.openxmlformats.org/officeDocument/2006/relationships/themeOverride" Target="../theme/themeOverr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.xml"/><Relationship Id="rId1" Type="http://schemas.openxmlformats.org/officeDocument/2006/relationships/themeOverride" Target="../theme/themeOverr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1.xml"/><Relationship Id="rId1" Type="http://schemas.openxmlformats.org/officeDocument/2006/relationships/themeOverride" Target="../theme/themeOverr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2.xml"/><Relationship Id="rId1" Type="http://schemas.openxmlformats.org/officeDocument/2006/relationships/themeOverride" Target="../theme/themeOverr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3.xml"/><Relationship Id="rId1" Type="http://schemas.openxmlformats.org/officeDocument/2006/relationships/themeOverride" Target="../theme/themeOverr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4.xml"/><Relationship Id="rId1" Type="http://schemas.openxmlformats.org/officeDocument/2006/relationships/themeOverride" Target="../theme/themeOverride13.xml"/><Relationship Id="rId4" Type="http://schemas.openxmlformats.org/officeDocument/2006/relationships/notesSlide" Target="../notesSlides/notesSlide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5.xml"/><Relationship Id="rId1" Type="http://schemas.openxmlformats.org/officeDocument/2006/relationships/themeOverride" Target="../theme/themeOverride14.xml"/><Relationship Id="rId4" Type="http://schemas.openxmlformats.org/officeDocument/2006/relationships/notesSlide" Target="../notesSlides/notesSlide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6.xml"/><Relationship Id="rId1" Type="http://schemas.openxmlformats.org/officeDocument/2006/relationships/themeOverride" Target="../theme/themeOverr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7.xml"/><Relationship Id="rId1" Type="http://schemas.openxmlformats.org/officeDocument/2006/relationships/themeOverride" Target="../theme/themeOverrid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8.xml"/><Relationship Id="rId1" Type="http://schemas.openxmlformats.org/officeDocument/2006/relationships/themeOverride" Target="../theme/themeOverr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758" y="191647"/>
            <a:ext cx="6979343" cy="140196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86155" y="1609725"/>
            <a:ext cx="10607040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Despite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IO of 75, he lives a truly amazing life.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只有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75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的智商，但他过着真正令人惊叹的生活。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despite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being affected by; in spite of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即使，尽管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410335" y="4005580"/>
            <a:ext cx="10182860" cy="2453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despite = in spite of</a:t>
            </a:r>
            <a:endParaRPr lang="en-US" altLang="zh-CN" sz="32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名词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  despite sth.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动名词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despite doing sth.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从句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despite the fact that = in spite of the fact that  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6" name="Text Box 4"/>
          <p:cNvSpPr txBox="1">
            <a:spLocks noChangeArrowheads="1"/>
          </p:cNvSpPr>
          <p:nvPr/>
        </p:nvSpPr>
        <p:spPr bwMode="auto">
          <a:xfrm>
            <a:off x="1016074" y="1150304"/>
            <a:ext cx="10490126" cy="4815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完成句子。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</a:rPr>
              <a:t>1) Despite _______________________________________  (</a:t>
            </a:r>
            <a:r>
              <a:rPr lang="zh-CN" altLang="en-US" sz="3200" b="1" dirty="0">
                <a:latin typeface="Times New Roman" panose="02020603050405020304" pitchFamily="18" charset="0"/>
              </a:rPr>
              <a:t>医生让他卧床</a:t>
            </a:r>
            <a:r>
              <a:rPr lang="en-US" altLang="zh-CN" sz="3200" b="1" dirty="0">
                <a:latin typeface="Times New Roman" panose="02020603050405020304" pitchFamily="18" charset="0"/>
              </a:rPr>
              <a:t>), he still went to work.</a:t>
            </a:r>
            <a:endParaRPr lang="zh-CN" altLang="en-US" sz="3200" b="1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</a:rPr>
              <a:t>2) Despite ____ _____ _______(</a:t>
            </a:r>
            <a:r>
              <a:rPr lang="zh-CN" altLang="en-US" sz="3200" b="1" dirty="0">
                <a:latin typeface="Times New Roman" panose="02020603050405020304" pitchFamily="18" charset="0"/>
              </a:rPr>
              <a:t>付出了全部努力</a:t>
            </a:r>
            <a:r>
              <a:rPr lang="en-US" altLang="zh-CN" sz="3200" b="1" dirty="0">
                <a:latin typeface="Times New Roman" panose="02020603050405020304" pitchFamily="18" charset="0"/>
              </a:rPr>
              <a:t>), she still failed.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</a:rPr>
              <a:t>3) Despite _____ ____ __________ (</a:t>
            </a:r>
            <a:r>
              <a:rPr lang="zh-CN" altLang="en-US" sz="3200" b="1" dirty="0">
                <a:latin typeface="Times New Roman" panose="02020603050405020304" pitchFamily="18" charset="0"/>
              </a:rPr>
              <a:t>赢得了比赛</a:t>
            </a:r>
            <a:r>
              <a:rPr lang="en-US" altLang="zh-CN" sz="3200" b="1" dirty="0">
                <a:latin typeface="Times New Roman" panose="02020603050405020304" pitchFamily="18" charset="0"/>
              </a:rPr>
              <a:t>), he remained humble.</a:t>
            </a:r>
          </a:p>
          <a:p>
            <a:pPr>
              <a:lnSpc>
                <a:spcPct val="120000"/>
              </a:lnSpc>
            </a:pPr>
            <a:endParaRPr lang="en-US" altLang="zh-CN" sz="3200" dirty="0">
              <a:latin typeface="Times New Roman" panose="02020603050405020304" pitchFamily="18" charset="0"/>
            </a:endParaRPr>
          </a:p>
        </p:txBody>
      </p:sp>
      <p:sp>
        <p:nvSpPr>
          <p:cNvPr id="208901" name="Rectangle 5"/>
          <p:cNvSpPr>
            <a:spLocks noChangeArrowheads="1"/>
          </p:cNvSpPr>
          <p:nvPr/>
        </p:nvSpPr>
        <p:spPr bwMode="auto">
          <a:xfrm>
            <a:off x="3021256" y="1721915"/>
            <a:ext cx="815213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fact that the doctor asked him to lie in bed</a:t>
            </a: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3213026" y="2927145"/>
            <a:ext cx="303784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  her    efforts</a:t>
            </a: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2818691" y="4132375"/>
            <a:ext cx="438277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winning the competition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8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08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01" grpId="0" bldLvl="0" animBg="1"/>
      <p:bldP spid="2" grpId="0" bldLvl="0" animBg="1"/>
      <p:bldP spid="3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6065" y="294005"/>
            <a:ext cx="11774170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He sees, and sometimes influences, some of 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events of the United States in the second half of the 20</a:t>
            </a:r>
            <a:r>
              <a:rPr lang="en-US" altLang="zh-CN" sz="3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century.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他目睹了，有事影响了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世纪下半叶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美国的一些重大事件。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important, bigger or more serious than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others of the same type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主要的，重要的；重大的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66065" y="4073525"/>
            <a:ext cx="11524615" cy="14528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of her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plays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have been translated into English.</a:t>
            </a:r>
          </a:p>
          <a:p>
            <a:pPr lvl="0">
              <a:lnSpc>
                <a:spcPct val="12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major part of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little baby’s life is spent in sleeping.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92629" y="359227"/>
            <a:ext cx="10374086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98625" indent="-169862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subject that a student studies at college or university; </a:t>
            </a:r>
            <a:r>
              <a:rPr lang="en-US" altLang="zh-C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sb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studying a particular subject as their main subject at college or university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</a:rPr>
              <a:t>                  主修课程，专业课；某专业的学生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your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English or French?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Phoebe is a history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92538" y="4584521"/>
            <a:ext cx="10014858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Laura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majoring in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physics. (v.)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40360" y="151765"/>
            <a:ext cx="11677015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057400" indent="-20574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majority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larger number or part of </a:t>
            </a:r>
            <a:r>
              <a:rPr lang="en-US" altLang="zh-C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大多数；大部分；多数票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0360" y="1316355"/>
            <a:ext cx="1153922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20000"/>
              </a:lnSpc>
              <a:buNone/>
            </a:pPr>
            <a:r>
              <a:rPr lang="zh-CN" alt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majority of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population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interviewed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prefer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(s)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TV to radio.</a:t>
            </a:r>
          </a:p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大多数接受采访的人都喜欢看电视多于听收音机。</a:t>
            </a:r>
          </a:p>
          <a:p>
            <a:pPr indent="0">
              <a:lnSpc>
                <a:spcPct val="120000"/>
              </a:lnSpc>
              <a:buNone/>
            </a:pPr>
            <a:r>
              <a:rPr lang="zh-CN" alt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majority was/were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favour of banning smoking.</a:t>
            </a:r>
          </a:p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大多数人支持禁烟。</a:t>
            </a:r>
          </a:p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treatment is not available in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vast majority of hospitals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绝大部分医院都不提供这种治疗。</a:t>
            </a:r>
          </a:p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nursing profession, women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in a/the majority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女性在护理行业中</a:t>
            </a:r>
            <a:r>
              <a:rPr lang="zh-CN" alt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占大多数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40360" y="151765"/>
            <a:ext cx="11677015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057400" indent="-20574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majority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多数票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40360" y="1316355"/>
            <a:ext cx="11539220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She was elected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by/with a majority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749.</a:t>
            </a:r>
          </a:p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她以 749 票的</a:t>
            </a:r>
            <a:r>
              <a:rPr lang="zh-CN" alt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多数票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当选。</a:t>
            </a:r>
          </a:p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clear (= large) majority</a:t>
            </a:r>
          </a:p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明显多数票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29342" y="293916"/>
            <a:ext cx="10929257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thing that happens or takes place, especially one of importance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事件；活动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29344" y="1812139"/>
            <a:ext cx="10798628" cy="1863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筹款活动</a:t>
            </a:r>
          </a:p>
          <a:p>
            <a:pPr lvl="0">
              <a:lnSpc>
                <a:spcPct val="120000"/>
              </a:lnSpc>
            </a:pPr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一个为期三天的活动</a:t>
            </a:r>
          </a:p>
          <a:p>
            <a:pPr lvl="0">
              <a:lnSpc>
                <a:spcPct val="120000"/>
              </a:lnSpc>
            </a:pPr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社交活动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5930826" y="1812085"/>
            <a:ext cx="366014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fund-raising event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931144" y="2440735"/>
            <a:ext cx="318452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three-day event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930826" y="3069385"/>
            <a:ext cx="248539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social event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ldLvl="0" animBg="1"/>
      <p:bldP spid="5" grpId="0" bldLvl="0" animBg="1"/>
      <p:bldP spid="6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44575" y="258445"/>
            <a:ext cx="11147425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相关的短语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any event/at all events</a:t>
            </a:r>
          </a:p>
          <a:p>
            <a:pPr lvl="1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e.g. In any event, I was not in a position to undertake such a task.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that event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event of sth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told his grandma to call him in the event of any 	accident.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wise after the event              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5559034" y="925625"/>
            <a:ext cx="384619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不管怎样，无论如何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5559034" y="2649650"/>
            <a:ext cx="303212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如果是那样的话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5558717" y="4988990"/>
            <a:ext cx="181102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事后聪明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5560304" y="3312590"/>
            <a:ext cx="384492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如果……发生，万一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10" grpId="0" bldLvl="0" animBg="1"/>
      <p:bldP spid="11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36174" y="1349831"/>
            <a:ext cx="10961912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The bus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pulls up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altLang="zh-C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Mrs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Gump prepares Forrest for his first day of school.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Gump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太太帮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Forrest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上学第一天做准备时，公共汽车停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了下来。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pull up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(of a vehicle or its driver) to stop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停车，停止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cab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pulled up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driver jumped out.</a:t>
            </a:r>
          </a:p>
          <a:p>
            <a:pPr indent="45720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was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ull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over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a high-speed chase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181100" y="367030"/>
            <a:ext cx="10464165" cy="612394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normAutofit fontScale="90000" lnSpcReduction="10000"/>
          </a:bodyPr>
          <a:lstStyle/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归纳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】pull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短语</a:t>
            </a: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pull apart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拆卸; 拆散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pull down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拆毁; 摧毁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建筑物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pull away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(车辆等) 开走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pull out           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拔出；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驶出; 退出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pull up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停车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pull in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(车辆) 进站; 停靠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pull over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机动车辆等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停靠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在路边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pull through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康复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,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痊愈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pull together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通力合作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593725" y="184785"/>
            <a:ext cx="11005185" cy="64992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完成句子。</a:t>
            </a:r>
          </a:p>
          <a:p>
            <a:pPr marL="514350" indent="-514350">
              <a:lnSpc>
                <a:spcPct val="120000"/>
              </a:lnSpc>
              <a:spcBef>
                <a:spcPct val="0"/>
              </a:spcBef>
              <a:buFontTx/>
              <a:buAutoNum type="arabicParenR"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Larry ______________, set the brake and got hold of the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fire extinguisher 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灭火器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Larry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把车开到路边，将车设为制动状态并抓起灭火器开始灭火。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All my family were concerned whether my grandpa would _____ ________ after the operation.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我们家所有人都担心爷爷在手术后能否康复。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After picking up all the students, the school bus ______ ____ ____ school.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在接上所有学生后，校车驶离了学校。</a:t>
            </a:r>
          </a:p>
        </p:txBody>
      </p:sp>
      <p:sp>
        <p:nvSpPr>
          <p:cNvPr id="208900" name="Rectangle 4"/>
          <p:cNvSpPr>
            <a:spLocks noChangeArrowheads="1"/>
          </p:cNvSpPr>
          <p:nvPr/>
        </p:nvSpPr>
        <p:spPr bwMode="auto">
          <a:xfrm>
            <a:off x="2845179" y="850569"/>
            <a:ext cx="25447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buFontTx/>
              <a:buNone/>
            </a:pPr>
            <a:r>
              <a:rPr lang="it-IT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pulled over</a:t>
            </a:r>
            <a:r>
              <a:rPr lang="zh-CN" altLang="it-IT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</a:p>
        </p:txBody>
      </p:sp>
      <p:sp>
        <p:nvSpPr>
          <p:cNvPr id="208901" name="Rectangle 5"/>
          <p:cNvSpPr>
            <a:spLocks noChangeArrowheads="1"/>
          </p:cNvSpPr>
          <p:nvPr/>
        </p:nvSpPr>
        <p:spPr bwMode="auto">
          <a:xfrm>
            <a:off x="984493" y="3675175"/>
            <a:ext cx="276923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buFontTx/>
              <a:buNone/>
            </a:pPr>
            <a:r>
              <a:rPr lang="en-US" altLang="it-IT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pulled through</a:t>
            </a: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1002591" y="4931840"/>
            <a:ext cx="9878060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buFontTx/>
              <a:buNone/>
            </a:pPr>
            <a:r>
              <a:rPr lang="en-US" altLang="it-IT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pulled </a:t>
            </a:r>
          </a:p>
          <a:p>
            <a:pPr algn="l" eaLnBrk="0" hangingPunct="0">
              <a:buFontTx/>
              <a:buNone/>
            </a:pPr>
            <a:r>
              <a:rPr lang="en-US" altLang="it-IT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     of</a:t>
            </a:r>
            <a:r>
              <a:rPr lang="zh-CN" altLang="it-IT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8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08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08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08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00" grpId="0" bldLvl="0" animBg="1"/>
      <p:bldP spid="208901" grpId="0" bldLvl="0" animBg="1"/>
      <p:bldP spid="2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066800" y="1093107"/>
            <a:ext cx="10940144" cy="454569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The police car signaled to us to __________.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警车发出信号，要我们驶向路边停靠。</a:t>
            </a:r>
          </a:p>
          <a:p>
            <a:pPr marL="446405" indent="-446405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They are _______________ those houses to make room for a new hotel.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为了给新旅馆腾地，他们正在拆除那些房屋。</a:t>
            </a:r>
          </a:p>
          <a:p>
            <a:pPr marL="446405" indent="-446405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zh-CN" altLang="en-US" sz="32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9924" name="Rectangle 4"/>
          <p:cNvSpPr>
            <a:spLocks noChangeArrowheads="1"/>
          </p:cNvSpPr>
          <p:nvPr/>
        </p:nvSpPr>
        <p:spPr bwMode="auto">
          <a:xfrm>
            <a:off x="7404327" y="1093106"/>
            <a:ext cx="1708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pull in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</a:p>
        </p:txBody>
      </p:sp>
      <p:sp>
        <p:nvSpPr>
          <p:cNvPr id="209925" name="Rectangle 5"/>
          <p:cNvSpPr>
            <a:spLocks noChangeArrowheads="1"/>
          </p:cNvSpPr>
          <p:nvPr/>
        </p:nvSpPr>
        <p:spPr bwMode="auto">
          <a:xfrm>
            <a:off x="3462339" y="2165362"/>
            <a:ext cx="28590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pulling down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09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09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09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4" grpId="0"/>
      <p:bldP spid="2099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4035" y="270510"/>
            <a:ext cx="11397615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Mrs Gump waves to Forrest as the bus drives away.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校车开走时，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Gump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太太向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Forrest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挥手告别。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wave 1)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vi.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 one's hand in greeting or as a signal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挥手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wave to/at sb.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向某人挥手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2) 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vi.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a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swaying motion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飘动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The leaves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waved gently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 in the breeze.</a:t>
            </a:r>
            <a:endParaRPr lang="zh-CN" altLang="en-US" sz="3200" b="1" i="1" dirty="0">
              <a:solidFill>
                <a:schemeClr val="tx1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wave 3)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vt. 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move sth. in one’s hand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挥舞</a:t>
            </a:r>
            <a:endParaRPr lang="en-US" altLang="zh-CN" sz="3200" b="1" i="1" dirty="0">
              <a:solidFill>
                <a:srgbClr val="FF0000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				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wave sth. (one’s fist, a red flag...)</a:t>
            </a:r>
            <a:endParaRPr lang="en-US" altLang="zh-CN" sz="3200" b="1" dirty="0">
              <a:solidFill>
                <a:srgbClr val="FF0000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				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wave goodbye to sb. = wave sb. goodbye = wave sb. off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				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向某人挥手告别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4035" y="270510"/>
            <a:ext cx="11397615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wave 1)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n.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long body of water breaking on the shore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海浪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the waves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大海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2)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n. 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a sudden occurrence of or increase in a phenomenon, 				feeling, or emotion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一阵</a:t>
            </a:r>
            <a:endParaRPr lang="en-US" altLang="zh-CN" sz="3200" b="1" i="1" dirty="0">
              <a:solidFill>
                <a:srgbClr val="FF0000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  <a:p>
            <a:pPr marL="1828800" lvl="4" indent="45720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The grief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comes (over me) in waves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.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悲伤阵阵袭来</a:t>
            </a:r>
          </a:p>
          <a:p>
            <a:pPr marL="1828800" lvl="4" indent="4572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When hearing some strange sound in the dark, 		she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felt a wave of fear sweeping over her.</a:t>
            </a:r>
          </a:p>
          <a:p>
            <a:pPr marL="1828800" lvl="4" indent="457200"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3) n.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浪潮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make waves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引起轰动；兴风作浪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4)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n. 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波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   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radio/sound waves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无线电波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声波</a:t>
            </a:r>
            <a:endParaRPr lang="en-US" altLang="zh-CN" sz="3200" b="1" i="1" dirty="0">
              <a:solidFill>
                <a:schemeClr val="tx1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  <a:p>
            <a:pPr>
              <a:lnSpc>
                <a:spcPct val="120000"/>
              </a:lnSpc>
            </a:pPr>
            <a:endParaRPr lang="en-US" altLang="zh-CN" sz="3200" b="1" i="1" dirty="0">
              <a:solidFill>
                <a:schemeClr val="tx1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593725" y="184785"/>
            <a:ext cx="11005185" cy="64992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判断句中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wave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的含义。</a:t>
            </a:r>
          </a:p>
          <a:p>
            <a:pPr marL="514350" indent="-514350">
              <a:lnSpc>
                <a:spcPct val="120000"/>
              </a:lnSpc>
              <a:spcBef>
                <a:spcPct val="0"/>
              </a:spcBef>
              <a:buFontTx/>
              <a:buAutoNum type="arabicParenR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Soon you may be able to throw your wallet away and pay for things with a quick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wave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your smartphone over an electronic scanner.</a:t>
            </a:r>
          </a:p>
          <a:p>
            <a:pPr marL="514350" indent="-514350">
              <a:lnSpc>
                <a:spcPct val="120000"/>
              </a:lnSpc>
              <a:spcBef>
                <a:spcPct val="0"/>
              </a:spcBef>
              <a:buFontTx/>
              <a:buAutoNum type="arabicParenR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Surfers flocked to the beach to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ride the waves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lnSpc>
                <a:spcPct val="120000"/>
              </a:lnSpc>
              <a:spcBef>
                <a:spcPct val="0"/>
              </a:spcBef>
              <a:buFontTx/>
              <a:buAutoNum type="arabicParenR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hundred employees lost their jobs in the latest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wave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unemployment.</a:t>
            </a:r>
          </a:p>
          <a:p>
            <a:pPr marL="514350" indent="-514350">
              <a:lnSpc>
                <a:spcPct val="120000"/>
              </a:lnSpc>
              <a:spcBef>
                <a:spcPct val="0"/>
              </a:spcBef>
              <a:buFontTx/>
              <a:buAutoNum type="arabicParenR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wave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panic spread through the crowd.</a:t>
            </a:r>
          </a:p>
        </p:txBody>
      </p:sp>
      <p:sp>
        <p:nvSpPr>
          <p:cNvPr id="208900" name="Rectangle 4"/>
          <p:cNvSpPr>
            <a:spLocks noChangeArrowheads="1"/>
          </p:cNvSpPr>
          <p:nvPr/>
        </p:nvSpPr>
        <p:spPr bwMode="auto">
          <a:xfrm>
            <a:off x="9828115" y="2019445"/>
            <a:ext cx="99695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buFontTx/>
              <a:buNone/>
            </a:pPr>
            <a:r>
              <a:rPr lang="zh-CN" altLang="it-IT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摆动</a:t>
            </a:r>
          </a:p>
        </p:txBody>
      </p:sp>
      <p:sp>
        <p:nvSpPr>
          <p:cNvPr id="208901" name="Rectangle 5"/>
          <p:cNvSpPr>
            <a:spLocks noChangeArrowheads="1"/>
          </p:cNvSpPr>
          <p:nvPr/>
        </p:nvSpPr>
        <p:spPr bwMode="auto">
          <a:xfrm>
            <a:off x="9556676" y="2602660"/>
            <a:ext cx="153924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（冲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浪</a:t>
            </a: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9846236" y="3728515"/>
            <a:ext cx="99695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浪潮</a:t>
            </a: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9973236" y="4312080"/>
            <a:ext cx="99695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一阵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8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08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08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08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00" grpId="0" bldLvl="0" animBg="1"/>
      <p:bldP spid="208901" grpId="0" bldLvl="0" animBg="1"/>
      <p:bldP spid="2" grpId="0" bldLvl="0" animBg="1"/>
      <p:bldP spid="3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51116" y="526683"/>
            <a:ext cx="10874828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I, I … don’t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what I got for my first Christmas and I don’t know when I went on my first outdoor picnic.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我、我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不记得我的第一个圣诞节得到什么，也不知道  我第一次户外野餐是什么时候去的。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remember a particular fact, event, or </a:t>
            </a:r>
          </a:p>
          <a:p>
            <a:pPr marL="1795780" indent="-179578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situation from the past 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回想，回忆起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3" name="矩形 2"/>
          <p:cNvSpPr/>
          <p:nvPr/>
        </p:nvSpPr>
        <p:spPr>
          <a:xfrm>
            <a:off x="1219200" y="4100830"/>
            <a:ext cx="10972800" cy="2453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seem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I’ve met him before somewhere.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don’t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 seeing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any cars parked outside.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can’t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 who gave me the information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recalled that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she always came home late on Wednesdays.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314450" y="1076960"/>
            <a:ext cx="10195560" cy="406463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语法填空。</a:t>
            </a:r>
          </a:p>
          <a:p>
            <a:pPr marL="514350" indent="-514350">
              <a:lnSpc>
                <a:spcPct val="120000"/>
              </a:lnSpc>
              <a:spcBef>
                <a:spcPct val="0"/>
              </a:spcBef>
              <a:buFontTx/>
              <a:buAutoNum type="arabicParenR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only are rewarding experiences remembered better, but negative consequences are also easily ________ (recall).</a:t>
            </a:r>
          </a:p>
          <a:p>
            <a:pPr marL="514350" indent="-514350">
              <a:lnSpc>
                <a:spcPct val="120000"/>
              </a:lnSpc>
              <a:spcBef>
                <a:spcPct val="0"/>
              </a:spcBef>
              <a:buFontTx/>
              <a:buAutoNum type="arabicParenR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Legend has it that the origin of the Dragon Boat Festival is _________ (recall) the soul of Qu Yuan.</a:t>
            </a:r>
          </a:p>
        </p:txBody>
      </p:sp>
      <p:sp>
        <p:nvSpPr>
          <p:cNvPr id="208900" name="Rectangle 4"/>
          <p:cNvSpPr>
            <a:spLocks noChangeArrowheads="1"/>
          </p:cNvSpPr>
          <p:nvPr/>
        </p:nvSpPr>
        <p:spPr bwMode="auto">
          <a:xfrm>
            <a:off x="1944590" y="2817640"/>
            <a:ext cx="155956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recalled</a:t>
            </a:r>
          </a:p>
        </p:txBody>
      </p:sp>
      <p:sp>
        <p:nvSpPr>
          <p:cNvPr id="208901" name="Rectangle 5"/>
          <p:cNvSpPr>
            <a:spLocks noChangeArrowheads="1"/>
          </p:cNvSpPr>
          <p:nvPr/>
        </p:nvSpPr>
        <p:spPr bwMode="auto">
          <a:xfrm flipH="1">
            <a:off x="3669665" y="4015740"/>
            <a:ext cx="204851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 eaLnBrk="0" hangingPunct="0"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recall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8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08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08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08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00" grpId="0" bldLvl="0" animBg="1"/>
      <p:bldP spid="208901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27025" y="473075"/>
            <a:ext cx="11565255" cy="4668520"/>
          </a:xfrm>
        </p:spPr>
        <p:txBody>
          <a:bodyPr>
            <a:noAutofit/>
          </a:bodyPr>
          <a:lstStyle/>
          <a:p>
            <a:pPr marL="0" fontAlgn="auto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 no recollection of meeting</a:t>
            </a:r>
            <a:r>
              <a:rPr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her before.</a:t>
            </a:r>
          </a:p>
          <a:p>
            <a:pPr marL="0" fontAlgn="auto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</a:t>
            </a:r>
            <a:r>
              <a:rPr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不记得</a:t>
            </a:r>
            <a:r>
              <a:rPr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以前见过她。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(=the ability to remember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回忆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记忆力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fontAlgn="auto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the best of my recollection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 was not present at that meeting.</a:t>
            </a:r>
          </a:p>
          <a:p>
            <a:pPr marL="0" fontAlgn="auto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如果我没记错的话，我没有出席那次会议。</a:t>
            </a:r>
          </a:p>
          <a:p>
            <a:pPr marL="0" fontAlgn="auto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(= if I re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call</a:t>
            </a:r>
            <a:r>
              <a:rPr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correctly)</a:t>
            </a:r>
            <a:endParaRPr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fontAlgn="auto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fontAlgn="auto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 a clear/vivid recollection of sth</a:t>
            </a:r>
            <a:endParaRPr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fontAlgn="auto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对某事的记忆清晰／历历在目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heme/theme1.xml><?xml version="1.0" encoding="utf-8"?>
<a:theme xmlns:a="http://schemas.openxmlformats.org/drawingml/2006/main" name="Office 主题​​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1439</Words>
  <Application>Microsoft Macintosh PowerPoint</Application>
  <PresentationFormat>Widescreen</PresentationFormat>
  <Paragraphs>149</Paragraphs>
  <Slides>18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Times New Roman Bold</vt:lpstr>
      <vt:lpstr>Times New Roman Bold Italic</vt:lpstr>
      <vt:lpstr>Arial</vt:lpstr>
      <vt:lpstr>Calibri</vt:lpstr>
      <vt:lpstr>Calibri Light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269</cp:revision>
  <dcterms:created xsi:type="dcterms:W3CDTF">2023-12-05T11:58:22Z</dcterms:created>
  <dcterms:modified xsi:type="dcterms:W3CDTF">2026-07-22T13:05:32Z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E83641537E964678AA077A630A965AD6</vt:lpwstr>
  </property>
  <property fmtid="{D5CDD505-2E9C-101B-9397-08002B2CF9AE}" pid="3" name="KSOProductBuildVer">
    <vt:lpwstr>1033-6.3.0.8471</vt:lpwstr>
  </property>
</Properties>
</file>