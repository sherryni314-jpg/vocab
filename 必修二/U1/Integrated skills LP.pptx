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452" r:id="rId2"/>
    <p:sldId id="458" r:id="rId3"/>
    <p:sldId id="459" r:id="rId4"/>
    <p:sldId id="461" r:id="rId5"/>
    <p:sldId id="462" r:id="rId6"/>
    <p:sldId id="457" r:id="rId7"/>
    <p:sldId id="453" r:id="rId8"/>
    <p:sldId id="455" r:id="rId9"/>
    <p:sldId id="454" r:id="rId10"/>
    <p:sldId id="448" r:id="rId11"/>
    <p:sldId id="44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00FF"/>
    <a:srgbClr val="9933FF"/>
    <a:srgbClr val="548235"/>
    <a:srgbClr val="FF7C80"/>
    <a:srgbClr val="FFFEF0"/>
    <a:srgbClr val="0A74F9"/>
    <a:srgbClr val="F9F9F9"/>
    <a:srgbClr val="FFFFFF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ext Box 2"/>
          <p:cNvSpPr txBox="1">
            <a:spLocks noChangeArrowheads="1"/>
          </p:cNvSpPr>
          <p:nvPr/>
        </p:nvSpPr>
        <p:spPr bwMode="auto">
          <a:xfrm>
            <a:off x="424906" y="2533156"/>
            <a:ext cx="11342188" cy="244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2945" tIns="41473" rIns="82945" bIns="41473" anchor="ctr">
            <a:spAutoFit/>
          </a:bodyPr>
          <a:lstStyle>
            <a:lvl1pPr marL="441325" indent="-44132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621030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82867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244600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165925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1164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5736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0308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4880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hangingPunct="0">
              <a:lnSpc>
                <a:spcPct val="120000"/>
              </a:lnSpc>
              <a:buSzPct val="100000"/>
              <a:buFont typeface="Times New Roman" panose="02020603050405020304" pitchFamily="18" charset="0"/>
              <a:buNone/>
            </a:pPr>
            <a:r>
              <a:rPr lang="en-US" altLang="zh-CN" sz="3200" b="1" dirty="0"/>
              <a:t>1.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The prince has given up hope of a </a:t>
            </a:r>
            <a:r>
              <a:rPr lang="en-US" altLang="zh-CN" sz="3200" b="1" dirty="0">
                <a:solidFill>
                  <a:srgbClr val="FF0000"/>
                </a:solidFill>
              </a:rPr>
              <a:t>cure </a:t>
            </a:r>
            <a:r>
              <a:rPr lang="en-US" altLang="zh-CN" sz="3200" b="1" dirty="0"/>
              <a:t>...</a:t>
            </a:r>
          </a:p>
          <a:p>
            <a:pPr hangingPunct="0">
              <a:lnSpc>
                <a:spcPct val="120000"/>
              </a:lnSpc>
              <a:buSzPct val="100000"/>
            </a:pPr>
            <a:r>
              <a:rPr lang="en-US" altLang="zh-CN" sz="3200" b="1" dirty="0">
                <a:solidFill>
                  <a:srgbClr val="FF0000"/>
                </a:solidFill>
              </a:rPr>
              <a:t>    cure </a:t>
            </a:r>
            <a:r>
              <a:rPr lang="en-US" altLang="zh-CN" sz="3200" b="1" i="1" dirty="0">
                <a:solidFill>
                  <a:srgbClr val="FF0000"/>
                </a:solidFill>
              </a:rPr>
              <a:t>n.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a medicine or medical treatment; the act of making</a:t>
            </a:r>
          </a:p>
          <a:p>
            <a:pPr hangingPunct="0">
              <a:lnSpc>
                <a:spcPct val="120000"/>
              </a:lnSpc>
              <a:buSzPct val="100000"/>
            </a:pP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                 sb well again after an illness; </a:t>
            </a:r>
            <a:r>
              <a:rPr lang="en-US" altLang="zh-CN" sz="3200" b="1" i="1" dirty="0" err="1">
                <a:latin typeface="Times New Roman Bold Italic" panose="02020603050405020304" charset="0"/>
                <a:cs typeface="Times New Roman Bold Italic" panose="02020603050405020304" charset="0"/>
              </a:rPr>
              <a:t>sth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</a:rPr>
              <a:t> that solves a problem</a:t>
            </a:r>
            <a:r>
              <a:rPr lang="en-US" altLang="zh-CN" sz="3200" b="1" dirty="0"/>
              <a:t> </a:t>
            </a:r>
          </a:p>
          <a:p>
            <a:pPr hangingPunct="0">
              <a:lnSpc>
                <a:spcPct val="120000"/>
              </a:lnSpc>
              <a:buSzPct val="100000"/>
            </a:pPr>
            <a:r>
              <a:rPr lang="en-US" altLang="zh-CN" sz="3200" b="1" dirty="0"/>
              <a:t>                 </a:t>
            </a:r>
            <a:r>
              <a:rPr lang="zh-CN" altLang="en-US" sz="3200" b="1" dirty="0"/>
              <a:t>药物，疗法；治疗；对策</a:t>
            </a:r>
            <a:endParaRPr lang="zh-CN" altLang="en-US" sz="32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685" y="512038"/>
            <a:ext cx="5222630" cy="101714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4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ext Box 2"/>
          <p:cNvSpPr txBox="1">
            <a:spLocks noChangeArrowheads="1"/>
          </p:cNvSpPr>
          <p:nvPr/>
        </p:nvSpPr>
        <p:spPr bwMode="auto">
          <a:xfrm>
            <a:off x="690880" y="551815"/>
            <a:ext cx="10447020" cy="539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2945" tIns="41473" rIns="82945" bIns="41473" anchor="ctr">
            <a:spAutoFit/>
          </a:bodyPr>
          <a:lstStyle>
            <a:lvl1pPr marL="441325" indent="-44132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621030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82867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244600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165925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1164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5736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0308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4880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538480" indent="-5384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the search for </a:t>
            </a:r>
            <a:r>
              <a:rPr lang="en-US" altLang="zh-CN" sz="3200" b="1" u="sng" dirty="0">
                <a:solidFill>
                  <a:srgbClr val="FF0000"/>
                </a:solidFill>
              </a:rPr>
              <a:t>a cure for cancer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538480" indent="-538480">
              <a:lnSpc>
                <a:spcPct val="120000"/>
              </a:lnSpc>
            </a:pPr>
            <a:r>
              <a:rPr lang="en-US" altLang="zh-CN" sz="3200" b="1" dirty="0"/>
              <a:t>对癌症治愈方法的研究</a:t>
            </a:r>
          </a:p>
          <a:p>
            <a:pPr marL="538480" indent="-5384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There is no known cure but the illness can be treated.</a:t>
            </a:r>
          </a:p>
          <a:p>
            <a:pPr marL="538480" indent="-538480">
              <a:lnSpc>
                <a:spcPct val="120000"/>
              </a:lnSpc>
            </a:pPr>
            <a:r>
              <a:rPr lang="en-US" altLang="zh-CN" sz="3200" b="1" dirty="0"/>
              <a:t>这种病尚没有确切的治愈方法，但可以医治。</a:t>
            </a:r>
          </a:p>
          <a:p>
            <a:pPr marL="538480" indent="-538480">
              <a:lnSpc>
                <a:spcPct val="120000"/>
              </a:lnSpc>
            </a:pPr>
            <a:endParaRPr lang="en-US" altLang="zh-CN" sz="3200" b="1" dirty="0"/>
          </a:p>
          <a:p>
            <a:pPr marL="538480" indent="-5384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cure </a:t>
            </a:r>
            <a:r>
              <a:rPr lang="en-US" altLang="zh-CN" sz="3200" b="1" i="1" dirty="0">
                <a:solidFill>
                  <a:srgbClr val="FF0000"/>
                </a:solidFill>
                <a:sym typeface="+mn-ea"/>
              </a:rPr>
              <a:t>v.</a:t>
            </a:r>
            <a:r>
              <a:rPr lang="en-US" altLang="zh-CN" sz="3200" dirty="0">
                <a:sym typeface="+mn-ea"/>
              </a:rPr>
              <a:t> </a:t>
            </a:r>
            <a:r>
              <a:rPr lang="en-US" altLang="zh-CN" sz="3200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to make an illness or medical condition go away</a:t>
            </a:r>
            <a:r>
              <a:rPr lang="en-US" altLang="zh-CN" sz="3200" b="1" dirty="0">
                <a:sym typeface="+mn-ea"/>
              </a:rPr>
              <a:t> </a:t>
            </a:r>
            <a:endParaRPr lang="en-US" altLang="zh-CN" sz="3200" b="1" dirty="0"/>
          </a:p>
          <a:p>
            <a:pPr hangingPunct="0">
              <a:lnSpc>
                <a:spcPct val="120000"/>
              </a:lnSpc>
              <a:buSzPct val="100000"/>
            </a:pPr>
            <a:r>
              <a:rPr lang="en-US" altLang="zh-CN" sz="3200" b="1" dirty="0">
                <a:sym typeface="+mn-ea"/>
              </a:rPr>
              <a:t>                 </a:t>
            </a:r>
            <a:r>
              <a:rPr lang="zh-CN" altLang="en-US" sz="3200" b="1" dirty="0">
                <a:sym typeface="+mn-ea"/>
              </a:rPr>
              <a:t>治愈；治好</a:t>
            </a:r>
            <a:endParaRPr lang="en-US" altLang="zh-CN" sz="3200" b="1" dirty="0"/>
          </a:p>
          <a:p>
            <a:pPr hangingPunct="0">
              <a:lnSpc>
                <a:spcPct val="120000"/>
              </a:lnSpc>
              <a:buSzPct val="100000"/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cure sb. of + </a:t>
            </a:r>
            <a:r>
              <a:rPr lang="zh-CN" altLang="en-US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疾病名词 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/ </a:t>
            </a:r>
            <a:r>
              <a:rPr lang="zh-CN" altLang="en-US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代词</a:t>
            </a:r>
            <a:endParaRPr lang="zh-CN" altLang="en-US" sz="32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630555" indent="-630555">
              <a:lnSpc>
                <a:spcPct val="120000"/>
              </a:lnSpc>
            </a:pPr>
            <a:r>
              <a:rPr lang="en-US" altLang="zh-CN" sz="3200" b="1" dirty="0"/>
              <a:t>Many types of cancer can now be </a:t>
            </a:r>
            <a:r>
              <a:rPr lang="en-US" altLang="zh-CN" sz="3200" b="1" dirty="0">
                <a:solidFill>
                  <a:srgbClr val="FF0000"/>
                </a:solidFill>
              </a:rPr>
              <a:t>cured</a:t>
            </a:r>
            <a:r>
              <a:rPr lang="en-US" altLang="zh-CN" sz="3200" b="1" dirty="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4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4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43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4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851988" y="1198836"/>
            <a:ext cx="10842172" cy="417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46405" indent="-446405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翻译句子。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医生治好了她罕见的血液病。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The doctor cured her of a rare blood disease.</a:t>
            </a:r>
          </a:p>
          <a:p>
            <a:pPr marL="446405" indent="-446405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科学家目前还没有找到治疗这种感冒的方法。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Scientists have so far failed to provide a cure for the cold.</a:t>
            </a:r>
          </a:p>
          <a:p>
            <a:pPr marL="446405" indent="-446405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她想尽一切办法试图改掉她孩子的这个恶习。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 tried every means to cure her child of the bad habit.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ext Box 2"/>
          <p:cNvSpPr txBox="1">
            <a:spLocks noChangeArrowheads="1"/>
          </p:cNvSpPr>
          <p:nvPr/>
        </p:nvSpPr>
        <p:spPr bwMode="auto">
          <a:xfrm>
            <a:off x="337185" y="231775"/>
            <a:ext cx="11700510" cy="539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2945" tIns="41473" rIns="82945" bIns="41473" anchor="ctr">
            <a:spAutoFit/>
          </a:bodyPr>
          <a:lstStyle>
            <a:lvl1pPr marL="441325" indent="-44132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621030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82867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244600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165925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1164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5736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0308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4880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hangingPunct="0">
              <a:lnSpc>
                <a:spcPct val="120000"/>
              </a:lnSpc>
              <a:buSzPct val="100000"/>
              <a:buFont typeface="Times New Roman" panose="02020603050405020304" pitchFamily="18" charset="0"/>
              <a:buNone/>
            </a:pPr>
            <a:r>
              <a:rPr lang="en-US" altLang="zh-CN" sz="3200" b="1" dirty="0"/>
              <a:t>2.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The film looks like a fairly typical historical film without </a:t>
            </a:r>
            <a:r>
              <a:rPr lang="en-US" altLang="zh-CN" sz="3200" b="1" dirty="0">
                <a:solidFill>
                  <a:srgbClr val="FF0000"/>
                </a:solidFill>
              </a:rPr>
              <a:t>fancy</a:t>
            </a:r>
            <a:r>
              <a:rPr lang="en-US" altLang="zh-CN" sz="3200" b="1" dirty="0"/>
              <a:t> special effects.</a:t>
            </a:r>
          </a:p>
          <a:p>
            <a:pPr marL="0" hangingPunct="0">
              <a:lnSpc>
                <a:spcPct val="120000"/>
              </a:lnSpc>
              <a:buSzPct val="100000"/>
              <a:buFont typeface="Times New Roman" panose="02020603050405020304" pitchFamily="18" charset="0"/>
              <a:buNone/>
            </a:pPr>
            <a:endParaRPr lang="en-US" altLang="zh-CN" sz="3200" b="1" dirty="0"/>
          </a:p>
          <a:p>
            <a:pPr marL="0" indent="-2336800" hangingPunct="0">
              <a:lnSpc>
                <a:spcPct val="120000"/>
              </a:lnSpc>
              <a:buSzPct val="100000"/>
            </a:pPr>
            <a:r>
              <a:rPr lang="en-US" altLang="zh-CN" sz="3200" b="1" dirty="0">
                <a:solidFill>
                  <a:srgbClr val="FF0000"/>
                </a:solidFill>
              </a:rPr>
              <a:t>fancy  </a:t>
            </a:r>
            <a:r>
              <a:rPr lang="en-US" altLang="zh-CN" sz="3200" b="1" i="1" dirty="0">
                <a:solidFill>
                  <a:srgbClr val="FF0000"/>
                </a:solidFill>
              </a:rPr>
              <a:t>adj. </a:t>
            </a:r>
            <a:r>
              <a:rPr lang="en-US" altLang="zh-CN" sz="3200" b="1" dirty="0"/>
              <a:t>having a lot of decoration or made in a complicated way; expensive </a:t>
            </a:r>
            <a:r>
              <a:rPr lang="zh-CN" altLang="en-US" sz="3200" b="1" dirty="0"/>
              <a:t>复杂的；花哨的；昂贵的</a:t>
            </a:r>
            <a:endParaRPr lang="en-US" altLang="zh-CN" sz="3200" b="1" dirty="0"/>
          </a:p>
          <a:p>
            <a:pPr marL="0" hangingPunct="0">
              <a:lnSpc>
                <a:spcPct val="120000"/>
              </a:lnSpc>
              <a:buSzPct val="100000"/>
            </a:pPr>
            <a:endParaRPr lang="en-US" altLang="zh-CN" sz="3200" b="1" dirty="0">
              <a:cs typeface="Times New Roman" panose="02020603050405020304" pitchFamily="18" charset="0"/>
              <a:sym typeface="+mn-ea"/>
            </a:endParaRPr>
          </a:p>
          <a:p>
            <a:pPr marL="0" hangingPunct="0">
              <a:lnSpc>
                <a:spcPct val="120000"/>
              </a:lnSpc>
              <a:buSzPct val="100000"/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That’s a very </a:t>
            </a:r>
            <a:r>
              <a:rPr lang="en-US" altLang="zh-CN" sz="3200" b="1" u="sng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fancy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 pair of shoes!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We stayed at some hotels with </a:t>
            </a:r>
            <a:r>
              <a:rPr lang="en-US" altLang="zh-CN" sz="3200" b="1" u="sng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fancy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 prices in the </a:t>
            </a:r>
            <a:r>
              <a:rPr lang="en-US" altLang="zh-CN" sz="3200" b="1" dirty="0" err="1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centre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 of London.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4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4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86914" y="1611629"/>
            <a:ext cx="10976766" cy="3634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hangingPunct="0">
              <a:lnSpc>
                <a:spcPct val="120000"/>
              </a:lnSpc>
              <a:buSzPct val="100000"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fancy v.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 </a:t>
            </a:r>
            <a:r>
              <a:rPr lang="en-US" altLang="zh-CN" sz="3200" b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to like or want </a:t>
            </a:r>
            <a:r>
              <a:rPr lang="en-US" altLang="zh-CN" sz="3200" b="1" dirty="0" err="1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sth</a:t>
            </a:r>
            <a:r>
              <a:rPr lang="en-US" altLang="zh-CN" sz="3200" b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, or want to do </a:t>
            </a:r>
            <a:r>
              <a:rPr lang="en-US" altLang="zh-CN" sz="3200" b="1" dirty="0" err="1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sth</a:t>
            </a:r>
            <a:r>
              <a:rPr lang="en-US" altLang="zh-CN" sz="3200" b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; to feel attracted to sb </a:t>
            </a:r>
            <a:r>
              <a:rPr lang="zh-CN" altLang="en-US" sz="3200" b="1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想要，想做；倾慕 </a:t>
            </a:r>
          </a:p>
          <a:p>
            <a:pPr hangingPunct="0">
              <a:lnSpc>
                <a:spcPct val="120000"/>
              </a:lnSpc>
              <a:buSzPct val="100000"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fancy (doing)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.</a:t>
            </a:r>
            <a:endParaRPr lang="zh-CN" altLang="en-US" sz="3200" b="1" dirty="0">
              <a:solidFill>
                <a:srgbClr val="FF000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Sorry, but I don’t 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fancy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going out tonight.</a:t>
            </a:r>
          </a:p>
          <a:p>
            <a:pPr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the girls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fancied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him.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ext Box 2"/>
          <p:cNvSpPr txBox="1">
            <a:spLocks noChangeArrowheads="1"/>
          </p:cNvSpPr>
          <p:nvPr/>
        </p:nvSpPr>
        <p:spPr bwMode="auto">
          <a:xfrm>
            <a:off x="696686" y="1073507"/>
            <a:ext cx="10961188" cy="4163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2945" tIns="41473" rIns="82945" bIns="41473" anchor="ctr">
            <a:spAutoFit/>
          </a:bodyPr>
          <a:lstStyle>
            <a:lvl1pPr marL="441325" indent="-44132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621030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82867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244600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165925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1164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5736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0308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4880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hangingPunct="0">
              <a:lnSpc>
                <a:spcPct val="120000"/>
              </a:lnSpc>
              <a:buSzPct val="100000"/>
              <a:buFont typeface="Times New Roman" panose="02020603050405020304" pitchFamily="18" charset="0"/>
              <a:buNone/>
            </a:pPr>
            <a:r>
              <a:rPr lang="en-US" altLang="zh-CN" sz="3200" b="1" dirty="0"/>
              <a:t>3.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/>
              <a:t>Hooper skillfully creates uncertainty and tension with </a:t>
            </a:r>
            <a:r>
              <a:rPr lang="en-US" altLang="zh-CN" sz="3200" b="1" dirty="0">
                <a:solidFill>
                  <a:srgbClr val="FF0000"/>
                </a:solidFill>
              </a:rPr>
              <a:t>narrow</a:t>
            </a:r>
            <a:r>
              <a:rPr lang="en-US" altLang="zh-CN" sz="3200" b="1" dirty="0"/>
              <a:t> indoor sets and dark lighting.</a:t>
            </a:r>
          </a:p>
          <a:p>
            <a:pPr hangingPunct="0">
              <a:lnSpc>
                <a:spcPct val="120000"/>
              </a:lnSpc>
              <a:buSzPct val="100000"/>
            </a:pPr>
            <a:r>
              <a:rPr lang="en-US" altLang="zh-CN" sz="3200" b="1" dirty="0">
                <a:solidFill>
                  <a:srgbClr val="FF0000"/>
                </a:solidFill>
              </a:rPr>
              <a:t>    narrow </a:t>
            </a:r>
            <a:r>
              <a:rPr lang="en-US" altLang="zh-CN" sz="3200" b="1" i="1" dirty="0">
                <a:solidFill>
                  <a:srgbClr val="FF0000"/>
                </a:solidFill>
              </a:rPr>
              <a:t>adj. </a:t>
            </a:r>
            <a:r>
              <a:rPr lang="en-US" altLang="zh-CN" sz="3200" b="1" dirty="0"/>
              <a:t>a limited attitude of looking at a situation and </a:t>
            </a:r>
          </a:p>
          <a:p>
            <a:pPr hangingPunct="0">
              <a:lnSpc>
                <a:spcPct val="120000"/>
              </a:lnSpc>
              <a:buSzPct val="100000"/>
            </a:pPr>
            <a:r>
              <a:rPr lang="en-US" altLang="zh-CN" sz="3200" b="1" dirty="0"/>
              <a:t>                         does not consider enough possibilities; not wide</a:t>
            </a:r>
          </a:p>
          <a:p>
            <a:pPr hangingPunct="0">
              <a:lnSpc>
                <a:spcPct val="120000"/>
              </a:lnSpc>
              <a:buSzPct val="100000"/>
            </a:pPr>
            <a:r>
              <a:rPr lang="en-US" altLang="zh-CN" sz="3200" b="1" dirty="0"/>
              <a:t>                         </a:t>
            </a:r>
            <a:r>
              <a:rPr lang="zh-CN" altLang="en-US" sz="3200" b="1" dirty="0"/>
              <a:t>狭隘的；狭窄的；勉强的</a:t>
            </a:r>
            <a:endParaRPr lang="en-US" altLang="zh-CN" sz="3200" b="1" dirty="0"/>
          </a:p>
          <a:p>
            <a:pPr hangingPunct="0">
              <a:lnSpc>
                <a:spcPct val="120000"/>
              </a:lnSpc>
              <a:buSzPct val="100000"/>
              <a:buFont typeface="Times New Roman" panose="02020603050405020304" pitchFamily="18" charset="0"/>
              <a:buNone/>
            </a:pPr>
            <a:r>
              <a:rPr lang="en-US" altLang="zh-CN" sz="3200" b="1" i="1" dirty="0">
                <a:solidFill>
                  <a:srgbClr val="FF0000"/>
                </a:solidFill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</a:rPr>
              <a:t>narrow</a:t>
            </a:r>
            <a:r>
              <a:rPr lang="en-US" altLang="zh-CN" sz="3200" b="1" i="1" dirty="0">
                <a:solidFill>
                  <a:srgbClr val="FF0000"/>
                </a:solidFill>
              </a:rPr>
              <a:t> v. </a:t>
            </a:r>
            <a:r>
              <a:rPr lang="en-US" altLang="zh-CN" sz="3200" dirty="0"/>
              <a:t> </a:t>
            </a:r>
            <a:r>
              <a:rPr lang="en-US" altLang="zh-CN" sz="3200" b="1" dirty="0"/>
              <a:t>to make </a:t>
            </a:r>
            <a:r>
              <a:rPr lang="en-US" altLang="zh-CN" sz="3200" b="1" dirty="0" err="1"/>
              <a:t>sth</a:t>
            </a:r>
            <a:r>
              <a:rPr lang="en-US" altLang="zh-CN" sz="3200" b="1" dirty="0"/>
              <a:t> narrower or become</a:t>
            </a:r>
            <a:r>
              <a:rPr lang="en-US" altLang="zh-CN" sz="3200" dirty="0"/>
              <a:t> </a:t>
            </a:r>
            <a:r>
              <a:rPr lang="en-US" altLang="zh-CN" sz="3200" b="1" dirty="0"/>
              <a:t>less </a:t>
            </a:r>
          </a:p>
          <a:p>
            <a:pPr hangingPunct="0">
              <a:lnSpc>
                <a:spcPct val="120000"/>
              </a:lnSpc>
              <a:buSzPct val="100000"/>
              <a:buFont typeface="Times New Roman" panose="02020603050405020304" pitchFamily="18" charset="0"/>
              <a:buNone/>
            </a:pPr>
            <a:r>
              <a:rPr lang="en-US" altLang="zh-CN" sz="3200" b="1" dirty="0"/>
              <a:t>                       (</a:t>
            </a:r>
            <a:r>
              <a:rPr lang="zh-CN" altLang="en-US" sz="3200" b="1" dirty="0"/>
              <a:t>使</a:t>
            </a:r>
            <a:r>
              <a:rPr lang="en-US" altLang="zh-CN" sz="3200" b="1" dirty="0"/>
              <a:t>)</a:t>
            </a:r>
            <a:r>
              <a:rPr lang="zh-CN" altLang="en-US" sz="3200" b="1" dirty="0"/>
              <a:t>窄小；缩小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4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4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4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ext Box 2"/>
          <p:cNvSpPr txBox="1">
            <a:spLocks noChangeArrowheads="1"/>
          </p:cNvSpPr>
          <p:nvPr/>
        </p:nvSpPr>
        <p:spPr bwMode="auto">
          <a:xfrm>
            <a:off x="374739" y="504571"/>
            <a:ext cx="3899549" cy="475465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</p:spPr>
        <p:txBody>
          <a:bodyPr wrap="square" lIns="82945" tIns="41473" rIns="82945" bIns="41473" anchor="ctr">
            <a:spAutoFit/>
          </a:bodyPr>
          <a:lstStyle>
            <a:lvl1pPr marL="441325" indent="-44132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621030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82867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244600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165925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1164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5736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0308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4880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 narrow street</a:t>
            </a:r>
            <a:r>
              <a:rPr lang="en-US" altLang="zh-CN" sz="3200" b="1" dirty="0"/>
              <a:t>    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一条狭窄的街道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 narrow escape</a:t>
            </a:r>
            <a:r>
              <a:rPr lang="en-US" altLang="zh-CN" sz="3200" b="1" dirty="0"/>
              <a:t>   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九死一生；侥幸逃脱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 narrow victory</a:t>
            </a:r>
            <a:r>
              <a:rPr lang="en-US" altLang="zh-CN" sz="3200" b="1" dirty="0"/>
              <a:t>   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险胜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narrow down</a:t>
            </a:r>
            <a:r>
              <a:rPr lang="en-US" altLang="zh-CN" sz="3200" b="1" dirty="0"/>
              <a:t>         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缩小</a:t>
            </a:r>
            <a:r>
              <a:rPr lang="en-US" altLang="zh-CN" sz="3200" b="1" dirty="0"/>
              <a:t>……</a:t>
            </a:r>
            <a:r>
              <a:rPr lang="zh-CN" altLang="en-US" sz="3200" b="1" dirty="0"/>
              <a:t>的范围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127475" y="329791"/>
            <a:ext cx="4689786" cy="1817805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拓展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】 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narrowly </a:t>
            </a:r>
            <a:r>
              <a:rPr kumimoji="0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adv.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勉强地；差一点；狭隘地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2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ext Box 2"/>
          <p:cNvSpPr txBox="1">
            <a:spLocks noChangeArrowheads="1"/>
          </p:cNvSpPr>
          <p:nvPr/>
        </p:nvSpPr>
        <p:spPr bwMode="auto">
          <a:xfrm>
            <a:off x="1145025" y="1561049"/>
            <a:ext cx="10476361" cy="2986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2945" tIns="41473" rIns="82945" bIns="41473" anchor="ctr">
            <a:spAutoFit/>
          </a:bodyPr>
          <a:lstStyle>
            <a:lvl1pPr marL="441325" indent="-44132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621030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82867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244600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1659255" defTabSz="82867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1164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5736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0308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4880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indent="0">
              <a:lnSpc>
                <a:spcPct val="120000"/>
              </a:lnSpc>
            </a:pPr>
            <a:r>
              <a:rPr lang="en-US" altLang="zh-CN" sz="3200" b="1" dirty="0" err="1"/>
              <a:t>eg</a:t>
            </a:r>
            <a:r>
              <a:rPr lang="en-US" altLang="zh-CN" sz="3200" b="1" dirty="0"/>
              <a:t>  The stairs were very </a:t>
            </a:r>
            <a:r>
              <a:rPr lang="en-US" altLang="zh-CN" sz="3200" b="1" dirty="0">
                <a:solidFill>
                  <a:srgbClr val="FF0000"/>
                </a:solidFill>
              </a:rPr>
              <a:t>narrow</a:t>
            </a:r>
            <a:r>
              <a:rPr lang="en-US" altLang="zh-CN" sz="3200" b="1" dirty="0"/>
              <a:t>.</a:t>
            </a:r>
          </a:p>
          <a:p>
            <a:pPr marL="0" indent="0">
              <a:lnSpc>
                <a:spcPct val="120000"/>
              </a:lnSpc>
            </a:pPr>
            <a:r>
              <a:rPr lang="en-US" altLang="zh-CN" sz="3200" b="1" dirty="0"/>
              <a:t>      Some teachers have a </a:t>
            </a:r>
            <a:r>
              <a:rPr lang="en-US" altLang="zh-CN" sz="3200" b="1" dirty="0">
                <a:solidFill>
                  <a:srgbClr val="FF0000"/>
                </a:solidFill>
              </a:rPr>
              <a:t>narrow</a:t>
            </a:r>
            <a:r>
              <a:rPr lang="en-US" altLang="zh-CN" sz="3200" b="1" dirty="0"/>
              <a:t> vision of what art is.</a:t>
            </a:r>
          </a:p>
          <a:p>
            <a:pPr marL="0" indent="0">
              <a:lnSpc>
                <a:spcPct val="120000"/>
              </a:lnSpc>
            </a:pPr>
            <a:r>
              <a:rPr lang="en-US" altLang="zh-CN" sz="3200" b="1" dirty="0"/>
              <a:t>      The track divided into two and </a:t>
            </a:r>
            <a:r>
              <a:rPr lang="en-US" altLang="zh-CN" sz="3200" b="1" dirty="0">
                <a:solidFill>
                  <a:srgbClr val="FF0000"/>
                </a:solidFill>
              </a:rPr>
              <a:t>narrowed</a:t>
            </a:r>
            <a:r>
              <a:rPr lang="en-US" altLang="zh-CN" sz="3200" b="1" dirty="0"/>
              <a:t>.</a:t>
            </a:r>
          </a:p>
          <a:p>
            <a:pPr marL="0" indent="0">
              <a:lnSpc>
                <a:spcPct val="120000"/>
              </a:lnSpc>
            </a:pPr>
            <a:r>
              <a:rPr lang="en-US" altLang="zh-CN" sz="3200" b="1" dirty="0"/>
              <a:t>      The choice of goods available is </a:t>
            </a:r>
            <a:r>
              <a:rPr lang="en-US" altLang="zh-CN" sz="3200" b="1" dirty="0">
                <a:solidFill>
                  <a:srgbClr val="FF0000"/>
                </a:solidFill>
              </a:rPr>
              <a:t>narrowing</a:t>
            </a:r>
            <a:r>
              <a:rPr lang="en-US" altLang="zh-CN" sz="3200" b="1" dirty="0"/>
              <a:t>.</a:t>
            </a:r>
          </a:p>
          <a:p>
            <a:pPr marL="0" indent="0">
              <a:lnSpc>
                <a:spcPct val="120000"/>
              </a:lnSpc>
            </a:pPr>
            <a:r>
              <a:rPr lang="en-US" altLang="zh-CN" sz="3200" b="1" dirty="0"/>
              <a:t>      The president won a </a:t>
            </a:r>
            <a:r>
              <a:rPr lang="en-US" altLang="zh-CN" sz="3200" b="1" dirty="0">
                <a:solidFill>
                  <a:srgbClr val="FF0000"/>
                </a:solidFill>
              </a:rPr>
              <a:t>narrow</a:t>
            </a:r>
            <a:r>
              <a:rPr lang="en-US" altLang="zh-CN" sz="3200" b="1" dirty="0"/>
              <a:t> victory in the election.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8" name="Text Box 4"/>
          <p:cNvSpPr txBox="1">
            <a:spLocks noChangeArrowheads="1"/>
          </p:cNvSpPr>
          <p:nvPr/>
        </p:nvSpPr>
        <p:spPr bwMode="auto">
          <a:xfrm>
            <a:off x="684027" y="994670"/>
            <a:ext cx="11075582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翻译句子。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The streets in the small village are very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narrow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/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He had 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narrow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circle of friends.    </a:t>
            </a:r>
          </a:p>
          <a:p>
            <a:pPr marL="446405" indent="-446405"/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The river has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narrowed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the past twenty years.   </a:t>
            </a:r>
          </a:p>
          <a:p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The bus went too fast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narrowly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hit me.</a:t>
            </a:r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1162493" y="2025196"/>
            <a:ext cx="5181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这个小村庄的街道都很窄。 </a:t>
            </a:r>
          </a:p>
        </p:txBody>
      </p:sp>
      <p:sp>
        <p:nvSpPr>
          <p:cNvPr id="180231" name="Rectangle 7"/>
          <p:cNvSpPr>
            <a:spLocks noChangeArrowheads="1"/>
          </p:cNvSpPr>
          <p:nvPr/>
        </p:nvSpPr>
        <p:spPr bwMode="auto">
          <a:xfrm>
            <a:off x="1162493" y="3010606"/>
            <a:ext cx="35496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他的朋友圈很窄。 </a:t>
            </a:r>
          </a:p>
        </p:txBody>
      </p:sp>
      <p:sp>
        <p:nvSpPr>
          <p:cNvPr id="180232" name="Rectangle 8"/>
          <p:cNvSpPr>
            <a:spLocks noChangeArrowheads="1"/>
          </p:cNvSpPr>
          <p:nvPr/>
        </p:nvSpPr>
        <p:spPr bwMode="auto">
          <a:xfrm>
            <a:off x="1162493" y="3996016"/>
            <a:ext cx="59959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这条河在过去的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年里变窄了。 </a:t>
            </a:r>
          </a:p>
        </p:txBody>
      </p:sp>
      <p:sp>
        <p:nvSpPr>
          <p:cNvPr id="180233" name="Rectangle 9"/>
          <p:cNvSpPr>
            <a:spLocks noChangeArrowheads="1"/>
          </p:cNvSpPr>
          <p:nvPr/>
        </p:nvSpPr>
        <p:spPr bwMode="auto">
          <a:xfrm>
            <a:off x="1162493" y="4939810"/>
            <a:ext cx="6813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那辆公交车开太快了，差点撞上我。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8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8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8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8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30" grpId="0"/>
      <p:bldP spid="180231" grpId="0"/>
      <p:bldP spid="180232" grpId="0"/>
      <p:bldP spid="1802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内容占位符 53249"/>
          <p:cNvSpPr>
            <a:spLocks noGrp="1"/>
          </p:cNvSpPr>
          <p:nvPr>
            <p:ph idx="1"/>
          </p:nvPr>
        </p:nvSpPr>
        <p:spPr>
          <a:xfrm>
            <a:off x="464289" y="723899"/>
            <a:ext cx="11454809" cy="5410201"/>
          </a:xfrm>
        </p:spPr>
        <p:txBody>
          <a:bodyPr anchor="t">
            <a:noAutofit/>
          </a:bodyPr>
          <a:lstStyle/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All in all, I highly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film.</a:t>
            </a:r>
          </a:p>
          <a:p>
            <a:pPr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推荐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to sb.; recommend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for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 job)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建议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 (doing); recommend sb. to do;    </a:t>
            </a: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recommend + that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从句谓语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 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动词原形，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常省略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3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3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3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3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文本占位符 65538"/>
          <p:cNvSpPr>
            <a:spLocks noGrp="1"/>
          </p:cNvSpPr>
          <p:nvPr>
            <p:ph idx="1"/>
          </p:nvPr>
        </p:nvSpPr>
        <p:spPr>
          <a:xfrm>
            <a:off x="659130" y="679450"/>
            <a:ext cx="10873740" cy="5688330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</a:rPr>
              <a:t>The hotel has little to recommend it.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>
                <a:latin typeface="Times New Roman" panose="02020603050405020304" pitchFamily="18" charset="0"/>
              </a:rPr>
              <a:t>这个旅馆毫无可取之处。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>
                <a:latin typeface="Times New Roman" panose="02020603050405020304" pitchFamily="18" charset="0"/>
              </a:rPr>
              <a:t>强烈建议您寻求专业意见。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200" b="1">
                <a:latin typeface="Times New Roman" panose="02020603050405020304" pitchFamily="18" charset="0"/>
              </a:rPr>
              <a:t>You are ____________________________________________.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3200" b="1">
              <a:latin typeface="Times New Roman" panose="02020603050405020304" pitchFamily="18" charset="0"/>
            </a:endParaRPr>
          </a:p>
          <a:p>
            <a:pPr marL="446405" indent="-446405">
              <a:lnSpc>
                <a:spcPct val="120000"/>
              </a:lnSpc>
              <a:spcBef>
                <a:spcPct val="0"/>
              </a:spcBef>
              <a:buNone/>
              <a:tabLst>
                <a:tab pos="533400" algn="l"/>
              </a:tabLst>
            </a:pPr>
            <a:r>
              <a:rPr lang="zh-CN" altLang="en-US" sz="3200" b="1" dirty="0">
                <a:latin typeface="Times New Roman" panose="02020603050405020304" pitchFamily="18" charset="0"/>
                <a:sym typeface="+mn-ea"/>
              </a:rPr>
              <a:t>你可以给我推荐一家好的餐馆吗？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 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indent="-446405" fontAlgn="auto">
              <a:lnSpc>
                <a:spcPct val="120000"/>
              </a:lnSpc>
              <a:spcBef>
                <a:spcPct val="0"/>
              </a:spcBef>
              <a:buNone/>
              <a:tabLst>
                <a:tab pos="533400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Could you recommend me a good restaurant? / Could you recommend a good restaurant to me?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endParaRPr lang="en-US" altLang="zh-CN" sz="3200" b="1">
              <a:latin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388235" y="2466975"/>
            <a:ext cx="9144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strongly recommended to seek professional advice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665</Words>
  <Application>Microsoft Macintosh PowerPoint</Application>
  <PresentationFormat>Widescreen</PresentationFormat>
  <Paragraphs>79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Times New Roman Bold</vt:lpstr>
      <vt:lpstr>Times New Roman Bold Italic</vt:lpstr>
      <vt:lpstr>Times New Roman Regular</vt:lpstr>
      <vt:lpstr>Arial</vt:lpstr>
      <vt:lpstr>Calibri</vt:lpstr>
      <vt:lpstr>Calibri Light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139</cp:revision>
  <dcterms:created xsi:type="dcterms:W3CDTF">2023-12-04T04:36:19Z</dcterms:created>
  <dcterms:modified xsi:type="dcterms:W3CDTF">2026-07-22T13:05:03Z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32AE74BBFC6C56B9E1077F63EA7B89EF</vt:lpwstr>
  </property>
  <property fmtid="{D5CDD505-2E9C-101B-9397-08002B2CF9AE}" pid="3" name="KSOProductBuildVer">
    <vt:lpwstr>1033-6.3.0.8471</vt:lpwstr>
  </property>
</Properties>
</file>