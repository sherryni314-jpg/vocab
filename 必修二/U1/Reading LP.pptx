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22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23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24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25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28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29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32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33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38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39.xml" ContentType="application/vnd.openxmlformats-officedocument.themeOverride+xml"/>
  <Override PartName="/ppt/notesSlides/notesSlide20.xml" ContentType="application/vnd.openxmlformats-officedocument.presentationml.notesSlide+xml"/>
  <Override PartName="/ppt/theme/themeOverride40.xml" ContentType="application/vnd.openxmlformats-officedocument.themeOverride+xml"/>
  <Override PartName="/ppt/notesSlides/notesSlide21.xml" ContentType="application/vnd.openxmlformats-officedocument.presentationml.notesSlide+xml"/>
  <Override PartName="/ppt/theme/themeOverride41.xml" ContentType="application/vnd.openxmlformats-officedocument.themeOverride+xml"/>
  <Override PartName="/ppt/notesSlides/notesSlide22.xml" ContentType="application/vnd.openxmlformats-officedocument.presentationml.notesSlide+xml"/>
  <Override PartName="/ppt/theme/themeOverride42.xml" ContentType="application/vnd.openxmlformats-officedocument.themeOverride+xml"/>
  <Override PartName="/ppt/notesSlides/notesSlide23.xml" ContentType="application/vnd.openxmlformats-officedocument.presentationml.notesSlide+xml"/>
  <Override PartName="/ppt/theme/themeOverride43.xml" ContentType="application/vnd.openxmlformats-officedocument.themeOverride+xml"/>
  <Override PartName="/ppt/notesSlides/notesSlide24.xml" ContentType="application/vnd.openxmlformats-officedocument.presentationml.notesSlide+xml"/>
  <Override PartName="/ppt/theme/themeOverride44.xml" ContentType="application/vnd.openxmlformats-officedocument.themeOverride+xml"/>
  <Override PartName="/ppt/notesSlides/notesSlide25.xml" ContentType="application/vnd.openxmlformats-officedocument.presentationml.notesSlide+xml"/>
  <Override PartName="/ppt/theme/themeOverride45.xml" ContentType="application/vnd.openxmlformats-officedocument.themeOverride+xml"/>
  <Override PartName="/ppt/notesSlides/notesSlide26.xml" ContentType="application/vnd.openxmlformats-officedocument.presentationml.notesSlide+xml"/>
  <Override PartName="/ppt/theme/themeOverride46.xml" ContentType="application/vnd.openxmlformats-officedocument.themeOverride+xml"/>
  <Override PartName="/ppt/notesSlides/notesSlide27.xml" ContentType="application/vnd.openxmlformats-officedocument.presentationml.notesSlide+xml"/>
  <Override PartName="/ppt/theme/themeOverride47.xml" ContentType="application/vnd.openxmlformats-officedocument.themeOverride+xml"/>
  <Override PartName="/ppt/notesSlides/notesSlide28.xml" ContentType="application/vnd.openxmlformats-officedocument.presentationml.notesSlide+xml"/>
  <Override PartName="/ppt/theme/themeOverride48.xml" ContentType="application/vnd.openxmlformats-officedocument.themeOverride+xml"/>
  <Override PartName="/ppt/notesSlides/notesSlide29.xml" ContentType="application/vnd.openxmlformats-officedocument.presentationml.notesSlide+xml"/>
  <Override PartName="/ppt/theme/themeOverride49.xml" ContentType="application/vnd.openxmlformats-officedocument.themeOverride+xml"/>
  <Override PartName="/ppt/notesSlides/notesSlide30.xml" ContentType="application/vnd.openxmlformats-officedocument.presentationml.notesSlide+xml"/>
  <Override PartName="/ppt/theme/themeOverride50.xml" ContentType="application/vnd.openxmlformats-officedocument.themeOverride+xml"/>
  <Override PartName="/ppt/notesSlides/notesSlide31.xml" ContentType="application/vnd.openxmlformats-officedocument.presentationml.notesSlide+xml"/>
  <Override PartName="/ppt/theme/themeOverride51.xml" ContentType="application/vnd.openxmlformats-officedocument.themeOverride+xml"/>
  <Override PartName="/ppt/theme/themeOverride52.xml" ContentType="application/vnd.openxmlformats-officedocument.themeOverride+xml"/>
  <Override PartName="/ppt/theme/themeOverride53.xml" ContentType="application/vnd.openxmlformats-officedocument.themeOverride+xml"/>
  <Override PartName="/ppt/theme/themeOverride5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8"/>
  </p:notesMasterIdLst>
  <p:sldIdLst>
    <p:sldId id="360" r:id="rId2"/>
    <p:sldId id="463" r:id="rId3"/>
    <p:sldId id="324" r:id="rId4"/>
    <p:sldId id="475" r:id="rId5"/>
    <p:sldId id="474" r:id="rId6"/>
    <p:sldId id="325" r:id="rId7"/>
    <p:sldId id="380" r:id="rId8"/>
    <p:sldId id="381" r:id="rId9"/>
    <p:sldId id="417" r:id="rId10"/>
    <p:sldId id="418" r:id="rId11"/>
    <p:sldId id="419" r:id="rId12"/>
    <p:sldId id="385" r:id="rId13"/>
    <p:sldId id="421" r:id="rId14"/>
    <p:sldId id="386" r:id="rId15"/>
    <p:sldId id="526" r:id="rId16"/>
    <p:sldId id="527" r:id="rId17"/>
    <p:sldId id="459" r:id="rId18"/>
    <p:sldId id="422" r:id="rId19"/>
    <p:sldId id="529" r:id="rId20"/>
    <p:sldId id="528" r:id="rId21"/>
    <p:sldId id="423" r:id="rId22"/>
    <p:sldId id="393" r:id="rId23"/>
    <p:sldId id="530" r:id="rId24"/>
    <p:sldId id="396" r:id="rId25"/>
    <p:sldId id="427" r:id="rId26"/>
    <p:sldId id="397" r:id="rId27"/>
    <p:sldId id="428" r:id="rId28"/>
    <p:sldId id="429" r:id="rId29"/>
    <p:sldId id="462" r:id="rId30"/>
    <p:sldId id="532" r:id="rId31"/>
    <p:sldId id="401" r:id="rId32"/>
    <p:sldId id="533" r:id="rId33"/>
    <p:sldId id="465" r:id="rId34"/>
    <p:sldId id="534" r:id="rId35"/>
    <p:sldId id="431" r:id="rId36"/>
    <p:sldId id="432" r:id="rId37"/>
    <p:sldId id="433" r:id="rId38"/>
    <p:sldId id="466" r:id="rId39"/>
    <p:sldId id="467" r:id="rId40"/>
    <p:sldId id="435" r:id="rId41"/>
    <p:sldId id="407" r:id="rId42"/>
    <p:sldId id="469" r:id="rId43"/>
    <p:sldId id="470" r:id="rId44"/>
    <p:sldId id="471" r:id="rId45"/>
    <p:sldId id="472" r:id="rId46"/>
    <p:sldId id="473" r:id="rId47"/>
    <p:sldId id="415" r:id="rId48"/>
    <p:sldId id="445" r:id="rId49"/>
    <p:sldId id="440" r:id="rId50"/>
    <p:sldId id="414" r:id="rId51"/>
    <p:sldId id="537" r:id="rId52"/>
    <p:sldId id="536" r:id="rId53"/>
    <p:sldId id="442" r:id="rId54"/>
    <p:sldId id="416" r:id="rId55"/>
    <p:sldId id="375" r:id="rId56"/>
    <p:sldId id="443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F3376-9DB4-4461-9888-1396C77DDD8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66566-37A5-4B76-8242-8ED462C8FD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give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5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9674" y="1127282"/>
            <a:ext cx="11419948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 list of some popular film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一些受大众欢迎的电影类型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type, kind, sort...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类型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types of people = people of all types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注意：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后面的名词通常是单数，且不加冠词。</a:t>
            </a:r>
          </a:p>
          <a:p>
            <a:pPr marL="358775" indent="-358775"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type vt.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打字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type sth. in/out 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4718" y="3567849"/>
            <a:ext cx="10922126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380" indent="-62738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travelling, what type of 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交通工具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do you prefer?</a:t>
            </a:r>
          </a:p>
          <a:p>
            <a:pPr marL="627380" indent="-627380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我不想要跟他那种类型的同伴合作。</a:t>
            </a:r>
          </a:p>
          <a:p>
            <a:pPr marL="627380" indent="-62738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don’t feel like working with partners ____ ____ _______.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775710" y="420370"/>
            <a:ext cx="454088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sz="4000" b="1">
                <a:solidFill>
                  <a:srgbClr val="EC9126">
                    <a:lumMod val="60000"/>
                    <a:lumOff val="40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宋体" pitchFamily="2" charset="-122"/>
                <a:cs typeface="+mn-ea"/>
                <a:sym typeface="+mn-ea"/>
              </a:rPr>
              <a:t>Welcome to the unit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5935980" y="3590925"/>
            <a:ext cx="183070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transport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7517765" y="5392420"/>
            <a:ext cx="288099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     his      type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9674" y="1127282"/>
            <a:ext cx="11419948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Let me start by asking you a question: what’s the first thing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notice about a film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我从一个问题开始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对于一部电影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你首先注意到的是什么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7288" y="2992408"/>
            <a:ext cx="11022334" cy="1865126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“you notice about a film” 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restrictive relative clause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modifying “the first thing”,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relative pronoun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“that” is omitted.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7288" y="4857534"/>
            <a:ext cx="10922126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380" indent="-62738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The first thing (that)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should take into consideration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safety while hiking in the wild. </a:t>
            </a:r>
          </a:p>
          <a:p>
            <a:pPr marL="627380" indent="-62738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当你野外徒步时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你首先要考虑的就是安全。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592955" y="420370"/>
            <a:ext cx="290639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sz="4000" b="1">
                <a:solidFill>
                  <a:srgbClr val="EC9126">
                    <a:lumMod val="60000"/>
                    <a:lumOff val="40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宋体" pitchFamily="2" charset="-122"/>
                <a:cs typeface="+mn-ea"/>
                <a:sym typeface="+mn-ea"/>
              </a:rPr>
              <a:t>Paragraph 1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70865" y="1005840"/>
            <a:ext cx="10652125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Whatever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your answer is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there’s always a lot more to it than first meets the eye.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无论你们的答案是什么</a:t>
            </a:r>
          </a:p>
        </p:txBody>
      </p:sp>
      <p:sp>
        <p:nvSpPr>
          <p:cNvPr id="3" name="文本框 4"/>
          <p:cNvSpPr txBox="1"/>
          <p:nvPr/>
        </p:nvSpPr>
        <p:spPr>
          <a:xfrm>
            <a:off x="640080" y="3609975"/>
            <a:ext cx="11223625" cy="2335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14000"/>
              </a:lnSpc>
              <a:defRPr sz="3100" b="1"/>
            </a:lvl1pPr>
          </a:lstStyle>
          <a:p>
            <a:pPr marL="0" indent="0"/>
            <a:r>
              <a:rPr lang="en-US" sz="320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Whatever</a:t>
            </a:r>
            <a:r>
              <a:rPr lang="en-US" sz="3200">
                <a:solidFill>
                  <a:srgbClr val="C0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</a:t>
            </a:r>
            <a:r>
              <a:rPr lang="en-US" sz="3200">
                <a:solidFill>
                  <a:srgbClr val="00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(=                            ) you say, he will believe you.</a:t>
            </a:r>
          </a:p>
          <a:p>
            <a:pPr marL="0" indent="0"/>
            <a:r>
              <a:rPr lang="zh-CN" altLang="en-US" sz="3200">
                <a:solidFill>
                  <a:srgbClr val="00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让步状语从句</a:t>
            </a:r>
            <a:endParaRPr lang="zh-CN" sz="3200">
              <a:solidFill>
                <a:srgbClr val="00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</a:endParaRPr>
          </a:p>
          <a:p>
            <a:pPr marL="0" indent="0"/>
            <a:r>
              <a:rPr lang="en-US" sz="3200">
                <a:solidFill>
                  <a:srgbClr val="00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You can write about </a:t>
            </a:r>
            <a:r>
              <a:rPr lang="en-US" sz="320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whatever</a:t>
            </a:r>
            <a:r>
              <a:rPr lang="en-US" sz="3200">
                <a:solidFill>
                  <a:srgbClr val="00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topic you prefer.</a:t>
            </a:r>
          </a:p>
          <a:p>
            <a:pPr marL="0" indent="0"/>
            <a:r>
              <a:rPr lang="en-US" sz="3200">
                <a:solidFill>
                  <a:srgbClr val="00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							</a:t>
            </a:r>
            <a:r>
              <a:rPr lang="zh-CN" altLang="en-US" sz="3200">
                <a:solidFill>
                  <a:srgbClr val="00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名词性从句</a:t>
            </a:r>
            <a:r>
              <a:rPr lang="en-US" sz="3200">
                <a:solidFill>
                  <a:srgbClr val="00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</a:t>
            </a:r>
            <a:endParaRPr lang="zh-CN" altLang="en-US" sz="3200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877820" y="3705225"/>
            <a:ext cx="281241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No matter what</a:t>
            </a:r>
            <a:r>
              <a:rPr lang="en-US" sz="3200">
                <a:solidFill>
                  <a:srgbClr val="00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687070" y="4798060"/>
            <a:ext cx="10582910" cy="107632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/>
            <a:r>
              <a:rPr lang="en-US" sz="3200">
                <a:solidFill>
                  <a:srgbClr val="00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                                                                                 (= </a:t>
            </a:r>
            <a:r>
              <a:rPr lang="en-US" sz="320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any</a:t>
            </a:r>
            <a:r>
              <a:rPr lang="en-US" sz="3200">
                <a:solidFill>
                  <a:srgbClr val="00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 topic </a:t>
            </a:r>
          </a:p>
          <a:p>
            <a:pPr marL="0" indent="0"/>
            <a:r>
              <a:rPr lang="en-US" sz="3200">
                <a:solidFill>
                  <a:srgbClr val="00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that you prefer).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7" grpId="0"/>
      <p:bldP spid="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70865" y="1005840"/>
            <a:ext cx="1065212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-ever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填空</a:t>
            </a:r>
            <a:endParaRPr 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_________ serious a problem you may have, you should gather your courage to face the challenge.</a:t>
            </a:r>
          </a:p>
          <a:p>
            <a:pPr marL="358775" indent="-358775"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Exercising makes you more awake and ready to handle ________ is ahead of you for the day.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我不想见他们，无论他们是谁。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don’t want to see them, ________ ___ ____.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107440" y="1654175"/>
            <a:ext cx="167195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However</a:t>
            </a:r>
            <a:endParaRPr lang="en-US" sz="3200">
              <a:solidFill>
                <a:srgbClr val="000000"/>
              </a:solidFill>
              <a:latin typeface="Times New Roman Bold" panose="02020603050405020304" charset="0"/>
              <a:ea typeface="宋体" pitchFamily="2" charset="-122"/>
              <a:cs typeface="Times New Roman Bold" panose="0202060305040502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39165" y="3347720"/>
            <a:ext cx="167195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whatever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5203190" y="4537075"/>
            <a:ext cx="308229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>
                <a:solidFill>
                  <a:srgbClr val="FF0000"/>
                </a:solidFill>
                <a:latin typeface="Times New Roman Bold" panose="02020603050405020304" charset="0"/>
                <a:ea typeface="宋体" pitchFamily="2" charset="-122"/>
                <a:cs typeface="Times New Roman Bold" panose="02020603050405020304" charset="0"/>
                <a:sym typeface="+mn-ea"/>
              </a:rPr>
              <a:t>whoever  they are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  <p:bldP spid="8" grpId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89915" y="368300"/>
            <a:ext cx="10652125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Whatever your answer is,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there’s always a lot more to it than first meets the eye.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电影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都远比你最初表面看到的更为复杂。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4680" y="2821940"/>
            <a:ext cx="9314815" cy="1213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14000"/>
              </a:lnSpc>
              <a:defRPr sz="3100" b="1"/>
            </a:lvl1pPr>
          </a:lstStyle>
          <a:p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more to sb./</a:t>
            </a:r>
            <a:r>
              <a:rPr lang="en-US" altLang="zh-CN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than meets the eye</a:t>
            </a:r>
          </a:p>
          <a:p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某人或某物比表面看到的更加复杂或有趣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89915" y="4403725"/>
            <a:ext cx="11602085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58775" indent="-358775">
              <a:lnSpc>
                <a:spcPct val="120000"/>
              </a:lnSpc>
              <a:defRPr sz="3200" b="1"/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那个问题比看上去更复杂。</a:t>
            </a: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more to that problem than meets the eye.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15925" y="813030"/>
            <a:ext cx="309091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points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0108" y="3455744"/>
            <a:ext cx="11246865" cy="2453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actually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adv. 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 </a:t>
            </a:r>
            <a:r>
              <a:rPr lang="en-US" altLang="zh-CN" sz="320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emphasize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 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or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truth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of a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situation, rather than what people may think</a:t>
            </a:r>
            <a:endParaRPr lang="zh-CN" altLang="en-US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实际上；事实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in fact, as a matter of fact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0108" y="5850549"/>
            <a:ext cx="5687099" cy="626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adj.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实际的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真实的</a:t>
            </a:r>
          </a:p>
        </p:txBody>
      </p:sp>
      <p:sp>
        <p:nvSpPr>
          <p:cNvPr id="3" name="文本框 5"/>
          <p:cNvSpPr txBox="1"/>
          <p:nvPr/>
        </p:nvSpPr>
        <p:spPr>
          <a:xfrm>
            <a:off x="354251" y="408394"/>
            <a:ext cx="11483080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Actually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film you see on the screen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product of a huge amount of hard work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most of which takes place behind the scenes.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855" indent="-363855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事实上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，你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在银幕上看到的电影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是大量艰苦工作的成果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  大部分是在幕后进行的。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1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4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59364" y="377402"/>
            <a:ext cx="11377940" cy="245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Today, I’ll give you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brief introduction to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 aspects of film-making you might not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 familiar with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今天，我将给你们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简单介绍一下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电影制作中你们可能不太熟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悉的某些方面。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75775" y="2876264"/>
            <a:ext cx="283512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brief: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adj.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23861" y="3602333"/>
            <a:ext cx="9348313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very few words or including few details 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61988" y="4233500"/>
            <a:ext cx="2861681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简洁的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扼要的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23861" y="4847954"/>
            <a:ext cx="6949920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lasting only a short time; short 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61988" y="5531218"/>
            <a:ext cx="3719288" cy="634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时间短暂的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简短的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5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3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4650" y="541020"/>
            <a:ext cx="11659870" cy="3044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It’ll only be 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visit because we really haven’t much time.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简短的访问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keep this conversation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I have a plane to catch.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				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让这次交谈简洁一点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brief silence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暂时沉默</a:t>
            </a:r>
          </a:p>
        </p:txBody>
      </p:sp>
      <p:sp>
        <p:nvSpPr>
          <p:cNvPr id="3" name="矩形 2"/>
          <p:cNvSpPr/>
          <p:nvPr/>
        </p:nvSpPr>
        <p:spPr>
          <a:xfrm>
            <a:off x="371475" y="3585210"/>
            <a:ext cx="11383645" cy="25520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brief: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n.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and information relating to a particular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situation, job, or task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任务介绍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指示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wasn’t part of his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speak to the press.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交付他的任务不包括向新闻界发言。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6665" y="1021182"/>
            <a:ext cx="11439274" cy="481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14805" indent="-16148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brief: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v.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give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the information about a situation that they will need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给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介绍情况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 sb. (on / about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.)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president has been fully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situation in Haiti.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总统已充分了解海地局势。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asked how many people were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about the decision.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他问有多少人听取了有关这一决定的简报。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47497" y="492026"/>
            <a:ext cx="10946191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briefly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①短暂地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暂时地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②简短地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简要地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58775" indent="-358775">
              <a:lnSpc>
                <a:spcPct val="12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stopped off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briefly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London on our way to Geneva.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我们在去日内瓦的路上在伦敦做了短暂的停留。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Sonia explained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briefly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what we had to do.</a:t>
            </a:r>
          </a:p>
          <a:p>
            <a:pPr marL="358775" indent="-358775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brief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he was happy with the result.</a:t>
            </a: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简言之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一言以蔽之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20484" y="967459"/>
            <a:ext cx="1119051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写出下列句子中画线单词的词性及含义。</a:t>
            </a:r>
          </a:p>
          <a:p>
            <a:pPr marL="514350" indent="-514350">
              <a:buAutoNum type="arabicParenR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Greene spent a 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at Cambridge. 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________ ________________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Tell me 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briefly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your story is about.  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________ ________________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The men have been fully 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about the task.  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________ ___________________________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Please write a 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description of a typical problem. 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________ _____________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It was his 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sure that the facts were set down.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________ _____________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07027" y="5831521"/>
            <a:ext cx="31786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指示 </a:t>
            </a:r>
          </a:p>
        </p:txBody>
      </p:sp>
      <p:sp>
        <p:nvSpPr>
          <p:cNvPr id="6" name="矩形 5"/>
          <p:cNvSpPr/>
          <p:nvPr/>
        </p:nvSpPr>
        <p:spPr>
          <a:xfrm>
            <a:off x="1665774" y="1958694"/>
            <a:ext cx="48237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短时间的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短暂的 </a:t>
            </a:r>
          </a:p>
        </p:txBody>
      </p:sp>
      <p:sp>
        <p:nvSpPr>
          <p:cNvPr id="7" name="矩形 6"/>
          <p:cNvSpPr/>
          <p:nvPr/>
        </p:nvSpPr>
        <p:spPr>
          <a:xfrm>
            <a:off x="1647697" y="2949929"/>
            <a:ext cx="43628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adv.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简短地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简要地 </a:t>
            </a:r>
          </a:p>
        </p:txBody>
      </p:sp>
      <p:sp>
        <p:nvSpPr>
          <p:cNvPr id="8" name="矩形 7"/>
          <p:cNvSpPr/>
          <p:nvPr/>
        </p:nvSpPr>
        <p:spPr>
          <a:xfrm>
            <a:off x="1807027" y="3941164"/>
            <a:ext cx="72934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给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介绍情况</a:t>
            </a:r>
          </a:p>
        </p:txBody>
      </p:sp>
      <p:sp>
        <p:nvSpPr>
          <p:cNvPr id="9" name="矩形 8"/>
          <p:cNvSpPr/>
          <p:nvPr/>
        </p:nvSpPr>
        <p:spPr>
          <a:xfrm>
            <a:off x="1554916" y="4840286"/>
            <a:ext cx="43015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adj.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简洁的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简单的 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63330" y="447570"/>
            <a:ext cx="11434756" cy="127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76855" lvl="0" indent="-277685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familiar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adj. </a:t>
            </a:r>
            <a:r>
              <a:rPr lang="en-US" altLang="zh-CN" sz="32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zh-CN" sz="32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is well-known to you and easy to recognize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熟悉的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常见的</a:t>
            </a:r>
            <a:endParaRPr lang="zh-CN" altLang="en-US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2885" y="1721378"/>
            <a:ext cx="10596554" cy="3044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kind of situation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 too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familiar to Thomas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 is familiar to sb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某事为某人所熟悉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familiar with this type of machine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 be familiar with sth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熟悉，通晓某事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04470" y="172720"/>
            <a:ext cx="11765915" cy="6094730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1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【</a:t>
            </a:r>
            <a:r>
              <a:rPr lang="zh-CN" altLang="en-US" sz="31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语境应用</a:t>
            </a:r>
            <a:r>
              <a:rPr lang="en-US" altLang="zh-CN" sz="31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】</a:t>
            </a:r>
            <a:r>
              <a:rPr lang="zh-CN" altLang="en-US" sz="31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汉译英。</a:t>
            </a: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1) If the baby is put into a(n) __________ (familiar) playroom without its mother, the baby ignores the toys no matter how interesting they might be.</a:t>
            </a: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2) When she saw the house, sha had a feeling of ____________ ( familiar) as if she had been there before.</a:t>
            </a: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zh-CN" sz="3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1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familiar</a:t>
            </a:r>
            <a:r>
              <a:rPr lang="en-US" altLang="zh-CN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ize v. familiarize oneself with sth.	</a:t>
            </a:r>
            <a:r>
              <a:rPr lang="zh-CN" altLang="en-US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使自己熟悉……</a:t>
            </a:r>
            <a:endParaRPr lang="en-US" altLang="zh-CN" sz="31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当你到了国外，你最好先熟悉当地的情况。</a:t>
            </a: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When arriving in a foreign country, you’d better first </a:t>
            </a:r>
          </a:p>
          <a:p>
            <a:pPr marL="0" indent="0" fontAlgn="auto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familiarize yourself with the local situation.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211445" y="617855"/>
            <a:ext cx="203454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familiar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8306435" y="2424430"/>
            <a:ext cx="203390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familiarity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0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0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2" grpId="0"/>
      <p:bldP spid="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20345" y="605790"/>
            <a:ext cx="11844655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These are often added after a scene has been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shot 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 might not be made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the way you would expect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= in an ___________ way</a:t>
            </a:r>
            <a:endParaRPr lang="en-US" altLang="zh-CN" sz="3200" b="1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这些通常是在场景拍摄完成后添加的，而且可能不是按照你期望的方式制作的</a:t>
            </a:r>
            <a:r>
              <a:rPr lang="zh-CN" altLang="en-US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563110" y="-100965"/>
            <a:ext cx="290639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sz="4000" b="1">
                <a:solidFill>
                  <a:srgbClr val="EC9126">
                    <a:lumMod val="60000"/>
                    <a:lumOff val="40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宋体" pitchFamily="2" charset="-122"/>
                <a:cs typeface="+mn-ea"/>
                <a:sym typeface="+mn-ea"/>
              </a:rPr>
              <a:t>Paragraph 2</a:t>
            </a:r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220345" y="3046095"/>
            <a:ext cx="11591925" cy="3634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indent="-514350" algn="l">
              <a:lnSpc>
                <a:spcPct val="120000"/>
              </a:lnSpc>
              <a:buClrTx/>
              <a:buSzTx/>
              <a:buFontTx/>
              <a:buAutoNum type="arabicPeriod"/>
            </a:pP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police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shot 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suspect when he pulled a gun on them.</a:t>
            </a:r>
            <a:endParaRPr lang="en-US" altLang="zh-CN" sz="3200" b="1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lnSpc>
                <a:spcPct val="120000"/>
              </a:lnSpc>
              <a:buClrTx/>
              <a:buSzTx/>
              <a:buFontTx/>
              <a:buAutoNum type="arabicPeriod"/>
            </a:pP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basketball player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shot 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last goal.</a:t>
            </a:r>
            <a:endParaRPr lang="en-US" altLang="zh-CN" sz="3200" b="1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lnSpc>
                <a:spcPct val="120000"/>
              </a:lnSpc>
              <a:buClrTx/>
              <a:buSzTx/>
              <a:buFontTx/>
              <a:buAutoNum type="arabicPeriod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volcano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shot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lava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熔岩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high into the air.</a:t>
            </a:r>
          </a:p>
          <a:p>
            <a:pPr marL="514350" indent="-514350" algn="l">
              <a:lnSpc>
                <a:spcPct val="120000"/>
              </a:lnSpc>
              <a:buClrTx/>
              <a:buSzTx/>
              <a:buFontTx/>
              <a:buAutoNum type="arabicPeriod"/>
            </a:pP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movie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shot 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New Zealand.</a:t>
            </a:r>
          </a:p>
          <a:p>
            <a:pPr marL="514350" indent="-514350" algn="l">
              <a:lnSpc>
                <a:spcPct val="120000"/>
              </a:lnSpc>
              <a:buClrTx/>
              <a:buSzTx/>
              <a:buFontTx/>
              <a:buAutoNum type="arabicPeriod"/>
            </a:pP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shot 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smile/glance at him.</a:t>
            </a:r>
          </a:p>
          <a:p>
            <a:pPr marL="514350" indent="-514350" algn="l">
              <a:lnSpc>
                <a:spcPct val="120000"/>
              </a:lnSpc>
              <a:buClrTx/>
              <a:buSzTx/>
              <a:buFontTx/>
              <a:buAutoNum type="arabicPeriod"/>
            </a:pP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Ward's hand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shot 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out, grabbing his arm.</a:t>
            </a:r>
          </a:p>
        </p:txBody>
      </p:sp>
      <p:sp>
        <p:nvSpPr>
          <p:cNvPr id="5" name="文本框 6"/>
          <p:cNvSpPr txBox="1"/>
          <p:nvPr/>
        </p:nvSpPr>
        <p:spPr>
          <a:xfrm>
            <a:off x="10178415" y="2644140"/>
            <a:ext cx="2013585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开枪射击</a:t>
            </a:r>
          </a:p>
        </p:txBody>
      </p:sp>
      <p:sp>
        <p:nvSpPr>
          <p:cNvPr id="9" name="文本框 6"/>
          <p:cNvSpPr txBox="1"/>
          <p:nvPr/>
        </p:nvSpPr>
        <p:spPr>
          <a:xfrm>
            <a:off x="7742555" y="3626485"/>
            <a:ext cx="1183005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进球</a:t>
            </a:r>
          </a:p>
        </p:txBody>
      </p:sp>
      <p:sp>
        <p:nvSpPr>
          <p:cNvPr id="10" name="文本框 6"/>
          <p:cNvSpPr txBox="1"/>
          <p:nvPr/>
        </p:nvSpPr>
        <p:spPr>
          <a:xfrm>
            <a:off x="8995410" y="4239895"/>
            <a:ext cx="1183005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抛出</a:t>
            </a:r>
          </a:p>
        </p:txBody>
      </p:sp>
      <p:sp>
        <p:nvSpPr>
          <p:cNvPr id="11" name="文本框 6"/>
          <p:cNvSpPr txBox="1"/>
          <p:nvPr/>
        </p:nvSpPr>
        <p:spPr>
          <a:xfrm>
            <a:off x="7430770" y="4761230"/>
            <a:ext cx="1183005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拍摄</a:t>
            </a:r>
          </a:p>
        </p:txBody>
      </p:sp>
      <p:sp>
        <p:nvSpPr>
          <p:cNvPr id="12" name="文本框 6"/>
          <p:cNvSpPr txBox="1"/>
          <p:nvPr/>
        </p:nvSpPr>
        <p:spPr>
          <a:xfrm>
            <a:off x="6247765" y="5374640"/>
            <a:ext cx="5361940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投去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一笑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瞥了一眼</a:t>
            </a:r>
          </a:p>
        </p:txBody>
      </p:sp>
      <p:sp>
        <p:nvSpPr>
          <p:cNvPr id="13" name="文本框 6"/>
          <p:cNvSpPr txBox="1"/>
          <p:nvPr/>
        </p:nvSpPr>
        <p:spPr>
          <a:xfrm>
            <a:off x="8106410" y="6010275"/>
            <a:ext cx="3136265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快速移动</a:t>
            </a:r>
          </a:p>
        </p:txBody>
      </p:sp>
      <p:sp>
        <p:nvSpPr>
          <p:cNvPr id="14" name="文本框 6"/>
          <p:cNvSpPr txBox="1"/>
          <p:nvPr/>
        </p:nvSpPr>
        <p:spPr>
          <a:xfrm>
            <a:off x="8306435" y="1183640"/>
            <a:ext cx="2202180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unexpected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92835" y="289817"/>
            <a:ext cx="11405986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roar n.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a loud deep sound made by an animal or by sb’s voice </a:t>
            </a:r>
            <a:r>
              <a:rPr lang="zh-CN" altLang="en-US" sz="3200" b="1" dirty="0">
                <a:latin typeface="Times New Roman Bold Italic" panose="02020603050405020304" charset="0"/>
                <a:cs typeface="Times New Roman Bold Italic" panose="02020603050405020304" charset="0"/>
              </a:rPr>
              <a:t>咆哮，吼叫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His speech was greeted by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 roar of applause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latin typeface="Times New Roman Bold Italic" panose="02020603050405020304" charset="0"/>
                <a:cs typeface="Times New Roman Bold Italic" panose="02020603050405020304" charset="0"/>
              </a:rPr>
              <a:t>他的讲话引来了</a:t>
            </a:r>
            <a:r>
              <a:rPr lang="zh-CN" altLang="en-US" sz="3200" b="1" u="sng" dirty="0">
                <a:latin typeface="Times New Roman Bold Italic" panose="02020603050405020304" charset="0"/>
                <a:cs typeface="Times New Roman Bold Italic" panose="02020603050405020304" charset="0"/>
              </a:rPr>
              <a:t>雷鸣般的掌声</a:t>
            </a:r>
            <a:r>
              <a:rPr lang="zh-CN" altLang="en-US" sz="3200" b="1" dirty="0">
                <a:latin typeface="Times New Roman Bold Italic" panose="02020603050405020304" charset="0"/>
                <a:cs typeface="Times New Roman Bold Italic" panose="02020603050405020304" charset="0"/>
              </a:rPr>
              <a:t>。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roars of laughter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latin typeface="Times New Roman Bold Italic" panose="02020603050405020304" charset="0"/>
                <a:cs typeface="Times New Roman Bold Italic" panose="02020603050405020304" charset="0"/>
              </a:rPr>
              <a:t>阵阵大笑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I could barely hear above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roar of traffic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latin typeface="Times New Roman Bold Italic" panose="02020603050405020304" charset="0"/>
                <a:cs typeface="Times New Roman Bold Italic" panose="02020603050405020304" charset="0"/>
              </a:rPr>
              <a:t>除了</a:t>
            </a:r>
            <a:r>
              <a:rPr lang="zh-CN" altLang="en-US" sz="3200" b="1" u="sng" dirty="0">
                <a:latin typeface="Times New Roman Bold Italic" panose="02020603050405020304" charset="0"/>
                <a:cs typeface="Times New Roman Bold Italic" panose="02020603050405020304" charset="0"/>
              </a:rPr>
              <a:t>车辆的轰鸣声</a:t>
            </a:r>
            <a:r>
              <a:rPr lang="zh-CN" altLang="en-US" sz="3200" b="1" dirty="0">
                <a:latin typeface="Times New Roman Bold Italic" panose="02020603050405020304" charset="0"/>
                <a:cs typeface="Times New Roman Bold Italic" panose="02020603050405020304" charset="0"/>
              </a:rPr>
              <a:t>，我几乎什么也听不见。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92835" y="289817"/>
            <a:ext cx="11405986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roar v.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1)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to shout/laugh loudly </a:t>
            </a:r>
            <a:r>
              <a:rPr lang="zh-CN" altLang="en-US" sz="3200" b="1" dirty="0">
                <a:latin typeface="Times New Roman Bold Italic" panose="02020603050405020304" charset="0"/>
                <a:cs typeface="Times New Roman Bold Italic" panose="02020603050405020304" charset="0"/>
              </a:rPr>
              <a:t>叫喊，放声大笑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crowd roared.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人群一片喧哗。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He looked so funny, we all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roared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(with laughter)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他看上去那么滑稽，我们都哈哈大笑。</a:t>
            </a:r>
          </a:p>
          <a:p>
            <a:pPr indent="-358775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2)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to move very fast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呼啸而过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She put her foot down and the car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roared away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她踩下油门，车子呼啸而去。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8900" y="1011812"/>
            <a:ext cx="11405986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Another aspect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great importance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visual special effects.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另一个我认为很重要的方面是视觉特效。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13745" y="2778985"/>
            <a:ext cx="3745266" cy="631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 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3744" y="3288115"/>
            <a:ext cx="9523627" cy="1272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believe that </a:t>
            </a:r>
            <a:r>
              <a:rPr lang="en-US" altLang="zh-CN" sz="32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important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认为有重要性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重视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3460" y="4560570"/>
            <a:ext cx="8606155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② 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fasten or connect one object to another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固定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附上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42485" y="238125"/>
            <a:ext cx="290639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sz="4000" b="1">
                <a:solidFill>
                  <a:srgbClr val="EC9126">
                    <a:lumMod val="60000"/>
                    <a:lumOff val="40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宋体" pitchFamily="2" charset="-122"/>
                <a:cs typeface="+mn-ea"/>
                <a:sym typeface="+mn-ea"/>
              </a:rPr>
              <a:t>Paragraph 3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idx="1"/>
          </p:nvPr>
        </p:nvSpPr>
        <p:spPr>
          <a:xfrm>
            <a:off x="727710" y="765175"/>
            <a:ext cx="11464290" cy="6092825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我认为这项研究十分重要。</a:t>
            </a:r>
            <a:endParaRPr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 </a:t>
            </a:r>
            <a:r>
              <a:rPr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attach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significance/</a:t>
            </a:r>
            <a:r>
              <a:rPr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great importance to</a:t>
            </a: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this research.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 attach a copy of my notes for your information.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我附上笔记一份供你参考。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Attached is a copy of spreadsheet.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附电子表格一份。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Attach the coupon to</a:t>
            </a: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the front of your letter.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把优惠券附在信的正面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idx="1"/>
          </p:nvPr>
        </p:nvSpPr>
        <p:spPr>
          <a:xfrm>
            <a:off x="727710" y="765175"/>
            <a:ext cx="11464290" cy="6092825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Why not attach labels to the things before you put them away?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你为什么不在把东西收拾起来之前给它们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贴上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标签？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How can you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attach a condition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my admission to your club?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你怎么能对我加入你们俱乐部还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附加条件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？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No one suggest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that any health risks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attach 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this product.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没有人指出这个产品可能会危害健康。（与……有关联）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idx="1"/>
          </p:nvPr>
        </p:nvSpPr>
        <p:spPr>
          <a:xfrm>
            <a:off x="363855" y="382270"/>
            <a:ext cx="11464290" cy="6092825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More information please find the ________ (attach) file.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attached 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adj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喜爱的；依恋的；附属的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I've never seen two people so attached to each other.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我从未见过两个人如此形影不离。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attachment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附件；依恋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attachment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在附件中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child's strong attachment 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its parents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孩子对父母的强烈依恋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6252845" y="382270"/>
            <a:ext cx="19659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attached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Text Box 2"/>
          <p:cNvSpPr txBox="1">
            <a:spLocks noChangeArrowheads="1"/>
          </p:cNvSpPr>
          <p:nvPr/>
        </p:nvSpPr>
        <p:spPr bwMode="auto">
          <a:xfrm>
            <a:off x="369605" y="135496"/>
            <a:ext cx="11453732" cy="5406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4500" indent="-4445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624205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  <a:ea typeface="+mn-ea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ea typeface="+mn-ea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ea typeface="+mn-ea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ea typeface="+mn-ea"/>
                <a:cs typeface="Times New Roman" panose="02020603050405020304" pitchFamily="18" charset="0"/>
              </a:rPr>
              <a:t>完成句子。</a:t>
            </a: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1) My parents always _______________________ (</a:t>
            </a:r>
            <a:r>
              <a:rPr lang="zh-CN" altLang="en-US" sz="3200" b="1" dirty="0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重视</a:t>
            </a:r>
            <a:r>
              <a:rPr lang="en-US" altLang="zh-CN" sz="3200" b="1" dirty="0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) my getting a good education.</a:t>
            </a: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2) Status is the </a:t>
            </a:r>
            <a:r>
              <a:rPr lang="en-US" altLang="zh-CN" sz="3200" b="1" dirty="0" err="1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honour</a:t>
            </a:r>
            <a:r>
              <a:rPr lang="en-US" altLang="zh-CN" sz="3200" b="1" dirty="0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 or respect ________ (attach) to a person’s position in society.</a:t>
            </a: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3) ______________________ your application form. </a:t>
            </a: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请在求职表上贴一张近照。</a:t>
            </a:r>
            <a:endParaRPr lang="en-US" altLang="zh-CN" sz="3200" b="1" dirty="0">
              <a:solidFill>
                <a:srgbClr val="000000"/>
              </a:solidFill>
              <a:ea typeface="+mn-ea"/>
              <a:cs typeface="Times New Roman" panose="02020603050405020304" pitchFamily="18" charset="0"/>
            </a:endParaRP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4) Emma had never taken herself as a crane and become deeply __________(</a:t>
            </a:r>
            <a:r>
              <a:rPr lang="zh-CN" altLang="en-US" sz="3200" b="1" dirty="0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依恋的</a:t>
            </a:r>
            <a:r>
              <a:rPr lang="en-US" altLang="zh-CN" sz="3200" b="1" dirty="0">
                <a:solidFill>
                  <a:srgbClr val="000000"/>
                </a:solidFill>
                <a:ea typeface="+mn-ea"/>
                <a:cs typeface="Times New Roman" panose="02020603050405020304" pitchFamily="18" charset="0"/>
              </a:rPr>
              <a:t>) to humans.</a:t>
            </a:r>
            <a:endParaRPr lang="en-US" sz="3200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99428" name="Rectangle 4"/>
          <p:cNvSpPr>
            <a:spLocks noChangeArrowheads="1"/>
          </p:cNvSpPr>
          <p:nvPr/>
        </p:nvSpPr>
        <p:spPr bwMode="auto">
          <a:xfrm>
            <a:off x="1104733" y="3029339"/>
            <a:ext cx="4800600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Attach a recent photo to</a:t>
            </a:r>
          </a:p>
        </p:txBody>
      </p:sp>
      <p:sp>
        <p:nvSpPr>
          <p:cNvPr id="222212" name="Rectangle 4"/>
          <p:cNvSpPr>
            <a:spLocks noChangeArrowheads="1"/>
          </p:cNvSpPr>
          <p:nvPr/>
        </p:nvSpPr>
        <p:spPr bwMode="auto">
          <a:xfrm>
            <a:off x="4370447" y="679734"/>
            <a:ext cx="4837158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attach great importance to</a:t>
            </a:r>
          </a:p>
        </p:txBody>
      </p:sp>
      <p:sp>
        <p:nvSpPr>
          <p:cNvPr id="222213" name="Rectangle 5"/>
          <p:cNvSpPr>
            <a:spLocks noChangeArrowheads="1"/>
          </p:cNvSpPr>
          <p:nvPr/>
        </p:nvSpPr>
        <p:spPr bwMode="auto">
          <a:xfrm>
            <a:off x="6329876" y="1858474"/>
            <a:ext cx="1981200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attached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88301" y="4788014"/>
            <a:ext cx="1728192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lnSpc>
                <a:spcPct val="120000"/>
              </a:lnSpc>
              <a:buFontTx/>
              <a:buNone/>
              <a:defRPr sz="3000" b="1">
                <a:solidFill>
                  <a:srgbClr val="FF0000"/>
                </a:solidFill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attached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2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2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2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2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9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2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2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9428" grpId="0"/>
      <p:bldP spid="222212" grpId="0" bldLvl="0" animBg="1"/>
      <p:bldP spid="222213" grpId="0" bldLvl="0" animBg="1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11843" y="323603"/>
            <a:ext cx="8377517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This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CGI effects to be added later.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这样可以在后期添加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CGI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效果。</a:t>
            </a:r>
          </a:p>
        </p:txBody>
      </p:sp>
      <p:sp>
        <p:nvSpPr>
          <p:cNvPr id="3" name="矩形 2"/>
          <p:cNvSpPr/>
          <p:nvPr/>
        </p:nvSpPr>
        <p:spPr>
          <a:xfrm>
            <a:off x="1143001" y="1579171"/>
            <a:ext cx="10765971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625" indent="-16986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it possible for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do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for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happen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使可能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使发生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make sth possible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43001" y="2954315"/>
            <a:ext cx="6977742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sb. /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4720" y="3698875"/>
            <a:ext cx="1139761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programme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older people to study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college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34707" y="4482049"/>
            <a:ext cx="9735562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Nanjing.</a:t>
            </a:r>
          </a:p>
        </p:txBody>
      </p:sp>
      <p:sp>
        <p:nvSpPr>
          <p:cNvPr id="2" name="文本框 7"/>
          <p:cNvSpPr txBox="1"/>
          <p:nvPr/>
        </p:nvSpPr>
        <p:spPr>
          <a:xfrm>
            <a:off x="750557" y="5188804"/>
            <a:ext cx="9735562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其他前缀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en-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构成的动词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enlarge, encourage, ensure, enrich, endanger, enforce...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5" grpId="0"/>
      <p:bldP spid="8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8435" y="137160"/>
            <a:ext cx="12013565" cy="6083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However,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aid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computers isn’t always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preferred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然而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计算机的</a:t>
            </a:r>
            <a:r>
              <a:rPr lang="zh-CN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帮助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并不总是</a:t>
            </a:r>
            <a:r>
              <a:rPr lang="zh-CN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受到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电影导演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青睐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un.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1)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money, food etc. sent to help countries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援助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economic/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/emergency aid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经济／医疗／紧急援助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help you need to perform a task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帮助，辅助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job would be impossible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the aid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computer.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这项工作不用计算机是不行的。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of the staff saw he was in difficulty and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 to his aid.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(= helped him)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一名工作人员见他有困难，便过来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帮忙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00050" y="357505"/>
            <a:ext cx="11581765" cy="51358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-342900" defTabSz="914400" fontAlgn="base">
              <a:lnSpc>
                <a:spcPct val="120000"/>
              </a:lnSpc>
            </a:pPr>
            <a:r>
              <a:rPr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Photos make useful </a:t>
            </a:r>
            <a:r>
              <a:rPr sz="3200" b="1" u="sng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teaching aids</a:t>
            </a:r>
            <a:r>
              <a:rPr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.</a:t>
            </a:r>
          </a:p>
          <a:p>
            <a:pPr indent="-342900" defTabSz="914400" fontAlgn="base">
              <a:lnSpc>
                <a:spcPct val="120000"/>
              </a:lnSpc>
            </a:pPr>
            <a:r>
              <a:rPr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照片可以成为有用的教具。</a:t>
            </a:r>
            <a:r>
              <a:rPr 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(</a:t>
            </a:r>
            <a:r>
              <a:rPr lang="en-US" sz="3200" b="1" i="1" kern="0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Arial" panose="020B0704020202020204" pitchFamily="34" charset="0"/>
              </a:rPr>
              <a:t>cn.</a:t>
            </a:r>
            <a:r>
              <a:rPr 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 </a:t>
            </a:r>
            <a:r>
              <a:rPr lang="zh-CN" alt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辅助设备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)</a:t>
            </a:r>
            <a:endParaRPr lang="en-US" sz="3200" b="1" kern="0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 pitchFamily="34" charset="0"/>
            </a:endParaRPr>
          </a:p>
          <a:p>
            <a:pPr indent="-342900" defTabSz="914400" fontAlgn="base">
              <a:lnSpc>
                <a:spcPct val="120000"/>
              </a:lnSpc>
            </a:pPr>
            <a:r>
              <a:rPr 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do/offer/give first aid</a:t>
            </a:r>
            <a:r>
              <a:rPr 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 </a:t>
            </a:r>
            <a:r>
              <a:rPr lang="zh-CN" alt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进行急救</a:t>
            </a:r>
          </a:p>
          <a:p>
            <a:pPr indent="-342900" defTabSz="914400" fontAlgn="base">
              <a:lnSpc>
                <a:spcPct val="120000"/>
              </a:lnSpc>
            </a:pPr>
            <a:endParaRPr lang="en-US" altLang="zh-CN" sz="3200" b="1" kern="0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 pitchFamily="34" charset="0"/>
            </a:endParaRPr>
          </a:p>
          <a:p>
            <a:pPr indent="-342900" defTabSz="914400" fontAlgn="base">
              <a:lnSpc>
                <a:spcPct val="120000"/>
              </a:lnSpc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aid v. = assist</a:t>
            </a:r>
          </a:p>
          <a:p>
            <a:pPr indent="-342900" defTabSz="914400" fontAlgn="base">
              <a:lnSpc>
                <a:spcPct val="120000"/>
              </a:lnSpc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Her parents </a:t>
            </a:r>
            <a:r>
              <a:rPr lang="en-US" altLang="zh-CN" sz="3200" b="1" u="sng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aid her in looking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 after her child when she is at work.</a:t>
            </a:r>
          </a:p>
          <a:p>
            <a:pPr indent="-342900" defTabSz="914400" fontAlgn="base">
              <a:lnSpc>
                <a:spcPct val="120000"/>
              </a:lnSpc>
            </a:pPr>
            <a:r>
              <a:rPr lang="zh-CN" alt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在某事上帮助某人</a:t>
            </a:r>
          </a:p>
          <a:p>
            <a:pPr indent="-342900" defTabSz="914400" fontAlgn="base">
              <a:lnSpc>
                <a:spcPct val="120000"/>
              </a:lnSpc>
            </a:pPr>
            <a:r>
              <a:rPr lang="en-US" altLang="zh-CN" sz="3200" b="1" u="sng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aid students with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 spelling 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帮助学生学习拼写</a:t>
            </a:r>
          </a:p>
          <a:p>
            <a:pPr indent="-342900" defTabSz="914400" fontAlgn="base">
              <a:lnSpc>
                <a:spcPct val="120000"/>
              </a:lnSpc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aid sb to do sth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 </a:t>
            </a:r>
            <a:r>
              <a:rPr lang="zh-CN" alt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帮助某人去做某事</a:t>
            </a:r>
            <a:endParaRPr lang="en-US" altLang="zh-CN" sz="3200" b="1" kern="0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7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211455" y="270510"/>
            <a:ext cx="11980545" cy="6587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446405" indent="-446405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89408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073150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完成句子。</a:t>
            </a:r>
          </a:p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他们在他的科研中鼓励他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帮助他。</a:t>
            </a:r>
          </a:p>
          <a:p>
            <a:pPr marL="541655" indent="-541655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encouraged him and aided him in / with his scientific studies. </a:t>
            </a:r>
          </a:p>
          <a:p>
            <a:pPr marL="541655" indent="-541655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大胆一点，勇敢一点——强大的力量就会来帮助你。</a:t>
            </a:r>
          </a:p>
          <a:p>
            <a:pPr marL="541655" indent="-541655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bold and brave — and mighty force will ____ ___ ______  ___.</a:t>
            </a:r>
          </a:p>
          <a:p>
            <a:pPr marL="541655" indent="-541655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可悲的是，没有医疗援助，我们不能完成这样的事情。</a:t>
            </a:r>
          </a:p>
          <a:p>
            <a:pPr marL="541655" indent="-541655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Sadly, we can’t accomplish such a thing _______ _________ ____.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1655" indent="-541655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我们正筹集资金</a:t>
            </a:r>
            <a:r>
              <a:rPr lang="zh-CN" altLang="en-US" sz="32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以帮助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癌症研究。</a:t>
            </a:r>
          </a:p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We’re collecting money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aid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cancer research.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aid of charity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以襄善举</a:t>
            </a:r>
          </a:p>
        </p:txBody>
      </p:sp>
      <p:sp>
        <p:nvSpPr>
          <p:cNvPr id="222213" name="Rectangle 5"/>
          <p:cNvSpPr>
            <a:spLocks noChangeArrowheads="1"/>
          </p:cNvSpPr>
          <p:nvPr/>
        </p:nvSpPr>
        <p:spPr bwMode="auto">
          <a:xfrm>
            <a:off x="7830820" y="3223260"/>
            <a:ext cx="419671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  to   your    aid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7449820" y="4366260"/>
            <a:ext cx="419671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medical aid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8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8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8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8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84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8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84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3" grpId="0" bldLvl="0" animBg="1"/>
      <p:bldP spid="2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41935" y="170815"/>
            <a:ext cx="11708130" cy="1272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prefer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  <a:r>
              <a:rPr lang="en-US" altLang="zh-CN" sz="3200" b="1" i="1" dirty="0">
                <a:solidFill>
                  <a:srgbClr val="333333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to like or choose one thing or person better than another</a:t>
            </a:r>
            <a:r>
              <a:rPr lang="en-US" altLang="zh-CN" sz="32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较喜欢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更喜欢</a:t>
            </a:r>
          </a:p>
        </p:txBody>
      </p:sp>
      <p:sp>
        <p:nvSpPr>
          <p:cNvPr id="2" name="矩形 1"/>
          <p:cNvSpPr/>
          <p:nvPr/>
        </p:nvSpPr>
        <p:spPr>
          <a:xfrm>
            <a:off x="241935" y="1864995"/>
            <a:ext cx="11708130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更喜欢做某事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exercise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outdoors.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Dennis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travelling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train.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相比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更喜欢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 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wine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white.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watching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basketball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playing it.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preferred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stay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home (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go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us).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5750" y="475615"/>
            <a:ext cx="11677015" cy="4225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would prefer that / would prefer it if 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从句谓语多用虚拟语气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 </a:t>
            </a:r>
          </a:p>
          <a:p>
            <a:pPr algn="l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希望（某事没发生）</a:t>
            </a:r>
          </a:p>
          <a:p>
            <a:pPr algn="l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 would prefer that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you did not mention my name.</a:t>
            </a:r>
          </a:p>
          <a:p>
            <a:pPr algn="l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我希望你不要说出我的名字。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 would prefer it if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you didn't tell anyone.</a:t>
            </a:r>
          </a:p>
          <a:p>
            <a:pPr algn="l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我希望你别告诉任何人。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idx="1"/>
          </p:nvPr>
        </p:nvSpPr>
        <p:spPr>
          <a:xfrm>
            <a:off x="510065" y="1366477"/>
            <a:ext cx="11322579" cy="4688922"/>
          </a:xfrm>
        </p:spPr>
        <p:txBody>
          <a:bodyPr>
            <a:normAutofit lnSpcReduction="10000"/>
          </a:bodyPr>
          <a:lstStyle/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一句多译。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孩子们宁可骑自行车到乡下去，也不愿整天待在家里。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The children preferred _______ to the countryside to _______ indoors all day.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The children preferred ________ to the countryside rather than ______ indoors all day.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The children would rather ______ to the countryside than ______ indoors all day.</a:t>
            </a:r>
          </a:p>
        </p:txBody>
      </p:sp>
      <p:sp>
        <p:nvSpPr>
          <p:cNvPr id="212995" name="Text Box 3"/>
          <p:cNvSpPr txBox="1">
            <a:spLocks noChangeArrowheads="1"/>
          </p:cNvSpPr>
          <p:nvPr/>
        </p:nvSpPr>
        <p:spPr bwMode="auto">
          <a:xfrm>
            <a:off x="5020806" y="2428924"/>
            <a:ext cx="1947870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cycling</a:t>
            </a:r>
          </a:p>
        </p:txBody>
      </p:sp>
      <p:sp>
        <p:nvSpPr>
          <p:cNvPr id="212996" name="Text Box 4"/>
          <p:cNvSpPr txBox="1">
            <a:spLocks noChangeArrowheads="1"/>
          </p:cNvSpPr>
          <p:nvPr/>
        </p:nvSpPr>
        <p:spPr bwMode="auto">
          <a:xfrm>
            <a:off x="1020994" y="2823259"/>
            <a:ext cx="1978746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staying</a:t>
            </a:r>
          </a:p>
        </p:txBody>
      </p:sp>
      <p:sp>
        <p:nvSpPr>
          <p:cNvPr id="212997" name="Text Box 5"/>
          <p:cNvSpPr txBox="1">
            <a:spLocks noChangeArrowheads="1"/>
          </p:cNvSpPr>
          <p:nvPr/>
        </p:nvSpPr>
        <p:spPr bwMode="auto">
          <a:xfrm>
            <a:off x="5142282" y="3451538"/>
            <a:ext cx="2058143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cycle</a:t>
            </a:r>
          </a:p>
        </p:txBody>
      </p:sp>
      <p:sp>
        <p:nvSpPr>
          <p:cNvPr id="212998" name="Text Box 6"/>
          <p:cNvSpPr txBox="1">
            <a:spLocks noChangeArrowheads="1"/>
          </p:cNvSpPr>
          <p:nvPr/>
        </p:nvSpPr>
        <p:spPr bwMode="auto">
          <a:xfrm>
            <a:off x="2069747" y="4017281"/>
            <a:ext cx="1226683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</a:t>
            </a:r>
          </a:p>
        </p:txBody>
      </p:sp>
      <p:sp>
        <p:nvSpPr>
          <p:cNvPr id="212999" name="Text Box 7"/>
          <p:cNvSpPr txBox="1">
            <a:spLocks noChangeArrowheads="1"/>
          </p:cNvSpPr>
          <p:nvPr/>
        </p:nvSpPr>
        <p:spPr bwMode="auto">
          <a:xfrm>
            <a:off x="5753196" y="4582652"/>
            <a:ext cx="1447229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</a:p>
        </p:txBody>
      </p:sp>
      <p:sp>
        <p:nvSpPr>
          <p:cNvPr id="213000" name="Text Box 8"/>
          <p:cNvSpPr txBox="1">
            <a:spLocks noChangeArrowheads="1"/>
          </p:cNvSpPr>
          <p:nvPr/>
        </p:nvSpPr>
        <p:spPr bwMode="auto">
          <a:xfrm>
            <a:off x="1120977" y="5036340"/>
            <a:ext cx="1226683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/>
      <p:bldP spid="212996" grpId="0" bldLvl="0" animBg="1"/>
      <p:bldP spid="212997" grpId="0"/>
      <p:bldP spid="212998" grpId="0"/>
      <p:bldP spid="212999" grpId="0"/>
      <p:bldP spid="21300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65760" y="182880"/>
            <a:ext cx="11677650" cy="59969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preferable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adj.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更可取的；更合适的 = more attractive/suitable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Anything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preferable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tense atmosphere at home.</a:t>
            </a: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什么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都比家里的紧张气氛好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would be preferable to employ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two people, not one.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做某事更好</a:t>
            </a: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We're looking for a new house,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preferably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near the school.</a:t>
            </a: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我们正在找新房子，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最好是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靠近学校的。</a:t>
            </a: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adj.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首选的；有优先权的</a:t>
            </a: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(~choice/option/method...)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5115" y="430530"/>
            <a:ext cx="11677650" cy="54063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preference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singular &amp; un.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偏爱；优先权</a:t>
            </a: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teacher should not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preference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any one of his pupils.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Coffee or tea? Which is your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preference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她对侦探小说有着特别的偏爱。</a:t>
            </a: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 a special preference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detective novels.</a:t>
            </a: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cn.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偏爱的事物/人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study of consumer preferences</a:t>
            </a:r>
          </a:p>
          <a:p>
            <a:pPr indent="-4464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消费者偏好调查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54965" y="187960"/>
            <a:ext cx="1152017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9. ...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took a creative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clever camera angles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采用了一种创造性的方法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巧妙地利用摄像机的角度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approach 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a method of doing 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sth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or dealing with a problem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方法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步骤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school has decided to </a:t>
            </a:r>
            <a:r>
              <a:rPr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adopt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/take</a:t>
            </a:r>
            <a:r>
              <a:rPr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 different approach to</a:t>
            </a: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discipline.</a:t>
            </a:r>
          </a:p>
          <a:p>
            <a:pPr>
              <a:lnSpc>
                <a:spcPct val="120000"/>
              </a:lnSpc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学校决定</a:t>
            </a:r>
            <a:r>
              <a:rPr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采取</a:t>
            </a:r>
            <a:r>
              <a:rPr 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另一种不同的</a:t>
            </a:r>
            <a:r>
              <a:rPr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方式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解决纪律问题。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采取各种各样的方法学英语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take various approaches to learning English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54965" y="187960"/>
            <a:ext cx="1152017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2)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movement near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（距离时间上的）接近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She hadn't heard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his approach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and jumped as the door opened.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她没有听见他走近的声音，所以门开时吓了一跳。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approach of spring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春天的来临</a:t>
            </a:r>
          </a:p>
          <a:p>
            <a:pPr>
              <a:lnSpc>
                <a:spcPct val="120000"/>
              </a:lnSpc>
            </a:pPr>
            <a:r>
              <a:rPr lang="zh-CN" altLang="en-US" sz="3200" b="1" u="sng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随着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脚步声的临近</a:t>
            </a: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with the approach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footsteps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a path, road etc.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道路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approach to the airport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通往机场的道路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73380" y="384810"/>
            <a:ext cx="11697335" cy="5406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approach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&amp;vt.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1)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to move towards or nearer to 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sb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or 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sth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走近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靠近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Winter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approaching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冬天就要来临。(=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 come closer, draw near)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you approach the town, you'll see the college on the left.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快到市镇时就可以看见左边的学院。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 heard the sound of an approaching car.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我们听见一辆汽车驶近的声音。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 We heard a car _____________ 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622675" y="506285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approaching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73380" y="135255"/>
            <a:ext cx="11697335" cy="658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 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to begin to deal with (a task, problem, 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etc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着手处理（事务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难题等）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Could you come up with a better way of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approaching this problem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have been approached by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 number of companies that are interested in our product.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一些对我们的产品感兴趣的公司已和我们接洽。(be asked to do sth)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I'd like to ask his opinion but I find him difficult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approach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我想征求他的意见，但发现很难和他谈得拢。(= not easy to talk to in a friendly way).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ChangeArrowheads="1"/>
          </p:cNvSpPr>
          <p:nvPr/>
        </p:nvSpPr>
        <p:spPr bwMode="auto">
          <a:xfrm>
            <a:off x="415290" y="287655"/>
            <a:ext cx="11547475" cy="5596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>
            <a:lvl1pPr marL="441325" indent="-441325" eaLnBrk="0" hangingPunct="0">
              <a:buFont typeface="Arial" panose="020B0704020202020204" pitchFamily="34" charset="0"/>
              <a:tabLst>
                <a:tab pos="293370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805180" eaLnBrk="0" hangingPunct="0">
              <a:buFont typeface="Arial" panose="020B0704020202020204" pitchFamily="34" charset="0"/>
              <a:tabLst>
                <a:tab pos="293370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984250" eaLnBrk="0" hangingPunct="0">
              <a:buFont typeface="Arial" panose="020B0704020202020204" pitchFamily="34" charset="0"/>
              <a:tabLst>
                <a:tab pos="293370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eaLnBrk="0" hangingPunct="0">
              <a:buFont typeface="Arial" panose="020B0704020202020204" pitchFamily="34" charset="0"/>
              <a:tabLst>
                <a:tab pos="293370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eaLnBrk="0" hangingPunct="0">
              <a:buFont typeface="Arial" panose="020B0704020202020204" pitchFamily="34" charset="0"/>
              <a:tabLst>
                <a:tab pos="293370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tabLst>
                <a:tab pos="293370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tabLst>
                <a:tab pos="293370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tabLst>
                <a:tab pos="293370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tabLst>
                <a:tab pos="2933700" algn="l"/>
              </a:tabLs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单句语法填空。</a:t>
            </a: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1) ___________ (approach) the city 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centre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, we saw a stone statue of about 10 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metres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 in height.</a:t>
            </a: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2) At the meeting they discussed three different approaches __________ the study of mathematics. </a:t>
            </a: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3) She also ___________(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靠近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) dentists to learn more about teeth cleaning.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4)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接近 300 万美元的利润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profits ____________ 3 million dollars</a:t>
            </a:r>
          </a:p>
        </p:txBody>
      </p:sp>
      <p:sp>
        <p:nvSpPr>
          <p:cNvPr id="196611" name="Rectangle 3"/>
          <p:cNvSpPr>
            <a:spLocks noChangeArrowheads="1"/>
          </p:cNvSpPr>
          <p:nvPr/>
        </p:nvSpPr>
        <p:spPr bwMode="auto">
          <a:xfrm>
            <a:off x="942551" y="1068984"/>
            <a:ext cx="2667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Approaching</a:t>
            </a:r>
          </a:p>
        </p:txBody>
      </p:sp>
      <p:sp>
        <p:nvSpPr>
          <p:cNvPr id="196613" name="Rectangle 5"/>
          <p:cNvSpPr>
            <a:spLocks noChangeArrowheads="1"/>
          </p:cNvSpPr>
          <p:nvPr/>
        </p:nvSpPr>
        <p:spPr bwMode="auto">
          <a:xfrm>
            <a:off x="1509258" y="2765565"/>
            <a:ext cx="9366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to</a:t>
            </a:r>
            <a:endParaRPr lang="zh-CN" altLang="en-US" sz="3000" b="1" dirty="0">
              <a:solidFill>
                <a:srgbClr val="FF0000"/>
              </a:solidFill>
              <a:latin typeface="Times New Roman" panose="02020603050405020304" pitchFamily="18" charset="0"/>
              <a:sym typeface="Arial" panose="020B07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511923" y="3312111"/>
            <a:ext cx="24098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approached </a:t>
            </a:r>
            <a:endParaRPr lang="zh-CN" altLang="en-US" sz="3000" b="1" dirty="0">
              <a:solidFill>
                <a:srgbClr val="FF0000"/>
              </a:solidFill>
              <a:latin typeface="Times New Roman" panose="02020603050405020304" pitchFamily="18" charset="0"/>
              <a:sym typeface="Arial" panose="020B070402020202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681691" y="5146954"/>
            <a:ext cx="2667000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approaching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6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6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6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6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6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1" grpId="0" bldLvl="0" animBg="1"/>
      <p:bldP spid="196613" grpId="0" uiExpand="1" bldLvl="0" animBg="1"/>
      <p:bldP spid="5" grpId="0" bldLvl="0" animBg="1"/>
      <p:bldP spid="2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idx="1"/>
          </p:nvPr>
        </p:nvSpPr>
        <p:spPr>
          <a:xfrm>
            <a:off x="2447453" y="2163215"/>
            <a:ext cx="8393023" cy="4032250"/>
          </a:xfrm>
        </p:spPr>
        <p:txBody>
          <a:bodyPr>
            <a:normAutofit lnSpcReduction="20000"/>
          </a:bodyPr>
          <a:lstStyle/>
          <a:p>
            <a:pPr marL="533400" indent="-5334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① 表达“做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……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的方法”时各自的搭配：</a:t>
            </a:r>
          </a:p>
          <a:p>
            <a:pPr marL="533400" indent="-5334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	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the approach to (doing) sth.</a:t>
            </a:r>
          </a:p>
          <a:p>
            <a:pPr marL="533400" indent="-5334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	the way to do /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of (doing) sth.</a:t>
            </a:r>
          </a:p>
          <a:p>
            <a:pPr marL="533400" indent="-5334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	the means of (doing) sth.</a:t>
            </a:r>
          </a:p>
          <a:p>
            <a:pPr marL="533400" indent="-5334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	the method of (doing) sth.</a:t>
            </a:r>
          </a:p>
          <a:p>
            <a:pPr marL="533400" indent="-5334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② 分别与不同的介词搭配：</a:t>
            </a:r>
          </a:p>
          <a:p>
            <a:pPr marL="533400" indent="-53340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	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with this method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/approach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704020202020204" pitchFamily="34" charset="0"/>
              </a:rPr>
              <a:t>, in this way, by this means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3744399" y="608317"/>
            <a:ext cx="7096077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 approach / way / means / method</a:t>
            </a: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 四者都有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 “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方式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,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方法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,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途径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”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之意</a:t>
            </a:r>
          </a:p>
        </p:txBody>
      </p:sp>
      <p:pic>
        <p:nvPicPr>
          <p:cNvPr id="34821" name="Picture 5" descr="辨析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01" r="10522"/>
          <a:stretch>
            <a:fillRect/>
          </a:stretch>
        </p:blipFill>
        <p:spPr bwMode="auto">
          <a:xfrm>
            <a:off x="2015611" y="889020"/>
            <a:ext cx="1728788" cy="71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idx="1"/>
          </p:nvPr>
        </p:nvSpPr>
        <p:spPr>
          <a:xfrm>
            <a:off x="513468" y="1899467"/>
            <a:ext cx="11147953" cy="3334101"/>
          </a:xfrm>
        </p:spPr>
        <p:txBody>
          <a:bodyPr>
            <a:normAutofit/>
          </a:bodyPr>
          <a:lstStyle/>
          <a:p>
            <a:pPr marL="443230" indent="-44323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用approach/way/means/method的适当形式填空。</a:t>
            </a:r>
          </a:p>
          <a:p>
            <a:pPr marL="443230" indent="-44323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603050405020304" pitchFamily="18" charset="0"/>
                <a:sym typeface="Arial" panose="020B0704020202020204" pitchFamily="34" charset="0"/>
              </a:rPr>
              <a:t>1) He told me a new _________ to the study of English.</a:t>
            </a:r>
          </a:p>
          <a:p>
            <a:pPr marL="443230" indent="-44323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603050405020304" pitchFamily="18" charset="0"/>
                <a:sym typeface="Arial" panose="020B0704020202020204" pitchFamily="34" charset="0"/>
              </a:rPr>
              <a:t>2) You must solve this problem with different _________.</a:t>
            </a:r>
          </a:p>
          <a:p>
            <a:pPr marL="443230" indent="-44323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603050405020304" pitchFamily="18" charset="0"/>
                <a:sym typeface="Arial" panose="020B0704020202020204" pitchFamily="34" charset="0"/>
              </a:rPr>
              <a:t>3) The blocks are raised by ________ of pulleys (滑轮).</a:t>
            </a:r>
          </a:p>
          <a:p>
            <a:pPr marL="443230" indent="-44323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603050405020304" pitchFamily="18" charset="0"/>
                <a:sym typeface="Arial" panose="020B0704020202020204" pitchFamily="34" charset="0"/>
              </a:rPr>
              <a:t>4) There are several possible ________ of payment.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4197391" y="2520991"/>
            <a:ext cx="2837661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approach</a:t>
            </a:r>
            <a:endParaRPr lang="zh-CN" altLang="zh-CN" sz="3200" dirty="0">
              <a:solidFill>
                <a:srgbClr val="000000"/>
              </a:solidFill>
              <a:latin typeface="Times New Roman" panose="02020603050405020304" pitchFamily="18" charset="0"/>
              <a:sym typeface="Arial" panose="020B0704020202020204" pitchFamily="34" charset="0"/>
            </a:endParaRP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8536958" y="3115999"/>
            <a:ext cx="2641439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methods</a:t>
            </a:r>
            <a:endParaRPr lang="zh-CN" altLang="zh-CN" sz="3200" dirty="0">
              <a:solidFill>
                <a:srgbClr val="000000"/>
              </a:solidFill>
              <a:latin typeface="Times New Roman" panose="02020603050405020304" pitchFamily="18" charset="0"/>
              <a:sym typeface="Arial" panose="020B0704020202020204" pitchFamily="34" charset="0"/>
            </a:endParaRP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5492045" y="3689494"/>
            <a:ext cx="1371600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means</a:t>
            </a: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5885190" y="4174733"/>
            <a:ext cx="1149862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ways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ldLvl="0" autoUpdateAnimBg="0"/>
      <p:bldP spid="36868" grpId="0" bldLvl="0" autoUpdateAnimBg="0"/>
      <p:bldP spid="37891" grpId="0" bldLvl="0" autoUpdateAnimBg="0"/>
      <p:bldP spid="37892" grpId="0" bldLvl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55110" y="270499"/>
            <a:ext cx="11481783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angle 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角度；立场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从不同的角度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different angles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从不寻常的角度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an unusual angle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looking at the situaton _____ ____ ________ _____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从这个无望的角度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look at everything you still have.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6253480" y="3088005"/>
            <a:ext cx="5153660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from  this   hopelss    angle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bldLvl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1056" y="945049"/>
            <a:ext cx="11414856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10. ...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looking at and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revising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plans of the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Titanic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full-sized model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his 1997 film.</a:t>
            </a: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研究和修改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泰坦尼克号的设计图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制作一个全尺寸的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泰坦尼克号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 will have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revise my opinions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of his abilities now.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我现在不得不改变对他的能力的看法了。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revised edition of a textbook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课本的修订版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42485" y="238125"/>
            <a:ext cx="290639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sz="4000" b="1">
                <a:solidFill>
                  <a:srgbClr val="EC9126">
                    <a:lumMod val="60000"/>
                    <a:lumOff val="40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宋体" pitchFamily="2" charset="-122"/>
                <a:cs typeface="+mn-ea"/>
                <a:sym typeface="+mn-ea"/>
              </a:rPr>
              <a:t>Paragraph 4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06145" y="270285"/>
            <a:ext cx="10932886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14805" lvl="0" indent="-16148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facts again, in order to learn them before an examination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考试前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温习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复习</a:t>
            </a:r>
          </a:p>
          <a:p>
            <a:pPr marL="1614805" lvl="0" indent="-16148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spent the weekend revising for my exam.</a:t>
            </a:r>
          </a:p>
          <a:p>
            <a:pPr marL="1614805" lvl="0" indent="-161480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我花了整个周末复习备考。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I’ve got to revise my geography.</a:t>
            </a:r>
          </a:p>
          <a:p>
            <a:pPr lvl="0"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我得复习一下地理。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88666" y="170984"/>
            <a:ext cx="11414856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He talked to historians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保证，确保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sth.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that ... = make sure that ...</a:t>
            </a: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确保公平竞争</a:t>
            </a: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保证全面发展</a:t>
            </a: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3141345" y="2553335"/>
            <a:ext cx="5153660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ensure fair competition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141345" y="3123565"/>
            <a:ext cx="8054975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ensure well-rounded development</a:t>
            </a:r>
          </a:p>
        </p:txBody>
      </p:sp>
      <p:sp>
        <p:nvSpPr>
          <p:cNvPr id="3" name="文本框 5"/>
          <p:cNvSpPr txBox="1"/>
          <p:nvPr/>
        </p:nvSpPr>
        <p:spPr>
          <a:xfrm>
            <a:off x="387985" y="4036060"/>
            <a:ext cx="11804015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我们现在必须采取行动以确保这些动物能够存活。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must take action now to ____ ____ _______ ____ these animals.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425440" y="4559935"/>
            <a:ext cx="5153660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ensure the survival of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bldLvl="0" autoUpdateAnimBg="0"/>
      <p:bldP spid="2" grpId="0" bldLvl="0" autoUpdateAnimBg="0"/>
      <p:bldP spid="3" grpId="0"/>
      <p:bldP spid="3" grpId="1"/>
      <p:bldP spid="5" grpId="0" bldLvl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635" y="170815"/>
            <a:ext cx="1219327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It took 500 workers 100 days to build the fine model,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to mention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thousands of props inside. ...,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更不用说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引出额外信息，起强调作用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450850" indent="-450850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mention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相关的短语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don’t mention it             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别人道谢时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不客气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mentioned above / as I mentioned earlier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如上所述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如我刚才提到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above-mentioned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adj.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上述的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mention of ...      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提到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no mention of sth.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只字不提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61970" y="1311910"/>
            <a:ext cx="5153660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 = let alone, much less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635" y="170815"/>
            <a:ext cx="1219327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他完全不懂英语，更不用说用英语写作了。</a:t>
            </a: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knows nothing about English, not to mention writing in English.</a:t>
            </a:r>
          </a:p>
          <a:p>
            <a:pPr indent="-450850" fontAlgn="auto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每次他给他父母打电话时，他只告诉他们好的事情，绝口不提他遇到的困难。</a:t>
            </a: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time he calls his parents, he only tells them good things but ____ ___ ______ _____ the difficulties he meets with.</a:t>
            </a:r>
          </a:p>
        </p:txBody>
      </p:sp>
      <p:sp>
        <p:nvSpPr>
          <p:cNvPr id="2" name="Text Box 1"/>
          <p:cNvSpPr txBox="1">
            <a:spLocks noChangeArrowheads="1"/>
          </p:cNvSpPr>
          <p:nvPr/>
        </p:nvSpPr>
        <p:spPr bwMode="auto">
          <a:xfrm>
            <a:off x="146685" y="3631565"/>
            <a:ext cx="4070985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makes no mention of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88666" y="887899"/>
            <a:ext cx="11414856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My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 may not be able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justice to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the work people gave done behind the scenes.</a:t>
            </a: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我今天的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讲座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，可能无法对人们幕后做的所有工作都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给予公正的评价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讲座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[collocation]</a:t>
            </a: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听讲座</a:t>
            </a: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做讲座</a:t>
            </a: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关于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的讲座</a:t>
            </a: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在一个讲座上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642485" y="238125"/>
            <a:ext cx="290639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sz="4000" b="1">
                <a:solidFill>
                  <a:srgbClr val="EC9126">
                    <a:lumMod val="60000"/>
                    <a:lumOff val="40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宋体" pitchFamily="2" charset="-122"/>
                <a:cs typeface="+mn-ea"/>
                <a:sym typeface="+mn-ea"/>
              </a:rPr>
              <a:t>Paragraph 5</a:t>
            </a:r>
            <a:endParaRPr lang="en-US"/>
          </a:p>
        </p:txBody>
      </p:sp>
      <p:sp>
        <p:nvSpPr>
          <p:cNvPr id="2" name="Text Box 1"/>
          <p:cNvSpPr txBox="1">
            <a:spLocks noChangeArrowheads="1"/>
          </p:cNvSpPr>
          <p:nvPr/>
        </p:nvSpPr>
        <p:spPr bwMode="auto">
          <a:xfrm>
            <a:off x="2614930" y="4263390"/>
            <a:ext cx="4070985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attend/go to a lecture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614930" y="4945380"/>
            <a:ext cx="4070985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give/deliver a lecture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515995" y="5497830"/>
            <a:ext cx="4070985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a lecture about/on sth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3515995" y="6145530"/>
            <a:ext cx="4070985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at a lecture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utoUpdateAnimBg="0"/>
      <p:bldP spid="3" grpId="0" bldLvl="0" autoUpdateAnimBg="0"/>
      <p:bldP spid="5" grpId="0" bldLvl="0" autoUpdateAnimBg="0"/>
      <p:bldP spid="7" grpId="0" bldLvl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88666" y="72559"/>
            <a:ext cx="11414856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n.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教训，训斥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就某事教训某人</a:t>
            </a: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受到某人教训</a:t>
            </a:r>
          </a:p>
          <a:p>
            <a:pPr marL="450850" indent="-450850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v.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开讲座；训斥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in/on sth.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就某事做讲座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sb. about/on sth.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就某事教训某人</a:t>
            </a:r>
          </a:p>
          <a:p>
            <a:pPr marL="450850" indent="-450850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每当我们迟到时，我们老师都要教训我们守时的重要性。</a:t>
            </a: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we are late for school, our teacher always lectures us on the importance of punctuality.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3477895" y="558165"/>
            <a:ext cx="6682740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give sb. a lecture about sth.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3477895" y="1240155"/>
            <a:ext cx="4070985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get a lecture from sb.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121015" y="2765425"/>
            <a:ext cx="4070985" cy="1272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lecturer n.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演讲者，讲课者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utoUpdateAnimBg="0"/>
      <p:bldP spid="9" grpId="0" bldLvl="0" autoUpdateAnimBg="0"/>
      <p:bldP spid="10" grpId="0" bldLvl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88666" y="430699"/>
            <a:ext cx="11414856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与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justice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相关的短语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]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正义感</a:t>
            </a: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促进社会公平</a:t>
            </a: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寻求公正</a:t>
            </a: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bring sb. to justice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3062605" y="977900"/>
            <a:ext cx="4070985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a sense of justice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3062605" y="1564640"/>
            <a:ext cx="4070985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promote social justice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062605" y="2178050"/>
            <a:ext cx="4070985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seek (for) justice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426720" y="2794000"/>
            <a:ext cx="4070985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marL="450850" indent="-450850" algn="l" defTabSz="457200" eaLnBrk="1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704020202020204" pitchFamily="34" charset="0"/>
              </a:rPr>
              <a:t>(将某人)绳之以法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426720" y="3577590"/>
            <a:ext cx="4070985" cy="1272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injustice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ea typeface="黑体" panose="02010609060101010101" pitchFamily="49" charset="-122"/>
                <a:cs typeface="Times New Roman Bold Italic" panose="02020603050405020304" charset="0"/>
                <a:sym typeface="Arial" panose="020B0704020202020204" pitchFamily="34" charset="0"/>
              </a:rPr>
              <a:t>n.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不公平</a:t>
            </a: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just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603050405020304" charset="0"/>
                <a:ea typeface="黑体" panose="02010609060101010101" pitchFamily="49" charset="-122"/>
                <a:cs typeface="Times New Roman Bold Italic" panose="02020603050405020304" charset="0"/>
                <a:sym typeface="Arial" panose="020B0704020202020204" pitchFamily="34" charset="0"/>
              </a:rPr>
              <a:t> adj.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704020202020204" pitchFamily="34" charset="0"/>
              </a:rPr>
              <a:t>公正的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utoUpdateAnimBg="0"/>
      <p:bldP spid="9" grpId="0" bldLvl="0" autoUpdateAnimBg="0"/>
      <p:bldP spid="10" grpId="0" bldLvl="0" autoUpdateAnimBg="0"/>
      <p:bldP spid="11" grpId="0" bldLvl="0" autoUpdateAnimBg="0"/>
      <p:bldP spid="12" grpId="0" bldLvl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087" y="638083"/>
            <a:ext cx="3135243" cy="84248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84213" y="1670646"/>
            <a:ext cx="11357831" cy="1222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 defTabSz="914400">
              <a:lnSpc>
                <a:spcPct val="120000"/>
              </a:lnSpc>
              <a:defRPr/>
            </a:pPr>
            <a:r>
              <a:rPr lang="en-US" altLang="zh-CN" sz="32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It has 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won many awards</a:t>
            </a:r>
            <a:r>
              <a:rPr lang="en-US" altLang="zh-CN" sz="32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including an Academy Award for Best Foreign Language Film. </a:t>
            </a:r>
            <a:endParaRPr lang="zh-CN" altLang="en-US" sz="3200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6891" y="2893288"/>
            <a:ext cx="10740975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award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officially give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a prize or money to</a:t>
            </a:r>
          </a:p>
          <a:p>
            <a:pPr defTabSz="914400" fontAlgn="base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reward them for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have done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授予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判定   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6890" y="4753027"/>
            <a:ext cx="9753199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awarded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Emma first prize.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Nobel Prize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awarded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Waksman in 1952.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6890" y="4115930"/>
            <a:ext cx="10245877" cy="589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award sb.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 = award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 to sb.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授予某人某物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76161" y="452067"/>
            <a:ext cx="10740975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a prize or money given to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reward</a:t>
            </a:r>
          </a:p>
          <a:p>
            <a:pPr defTabSz="914400" fontAlgn="base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them for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have done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奖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奖品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5970" y="1726565"/>
            <a:ext cx="11229975" cy="34213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defTabSz="9144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receive / win / get an award for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 </a:t>
            </a:r>
          </a:p>
          <a:p>
            <a:pPr lvl="0" defTabSz="9144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因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……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获奖</a:t>
            </a:r>
          </a:p>
          <a:p>
            <a:pPr lvl="0" defTabSz="9144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present sb. with an award / give sb. an award</a:t>
            </a:r>
          </a:p>
          <a:p>
            <a:pPr lvl="0" defTabSz="9144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给某人颁奖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今年的最佳男主角奖颁给了他。</a:t>
            </a: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award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this year’s best actor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went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him.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0" defTabSz="9144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4"/>
          <p:cNvSpPr/>
          <p:nvPr/>
        </p:nvSpPr>
        <p:spPr>
          <a:xfrm>
            <a:off x="893001" y="5535627"/>
            <a:ext cx="9279466" cy="632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颁奖仪式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an award(s) ceremony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4" name="Text Box 4"/>
          <p:cNvSpPr txBox="1">
            <a:spLocks noChangeArrowheads="1"/>
          </p:cNvSpPr>
          <p:nvPr/>
        </p:nvSpPr>
        <p:spPr bwMode="auto">
          <a:xfrm>
            <a:off x="499745" y="542290"/>
            <a:ext cx="11360150" cy="2453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46405" indent="-446405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1) Mr. White won / received _________ (award) for his contribution to agricultural production.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2) Tony was _________ (award) a medal for bravery.</a:t>
            </a:r>
          </a:p>
        </p:txBody>
      </p:sp>
      <p:sp>
        <p:nvSpPr>
          <p:cNvPr id="215045" name="Rectangle 5"/>
          <p:cNvSpPr>
            <a:spLocks noChangeArrowheads="1"/>
          </p:cNvSpPr>
          <p:nvPr/>
        </p:nvSpPr>
        <p:spPr bwMode="auto">
          <a:xfrm>
            <a:off x="5776265" y="1138030"/>
            <a:ext cx="1462260" cy="63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awards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46" name="Rectangle 6"/>
          <p:cNvSpPr>
            <a:spLocks noChangeArrowheads="1"/>
          </p:cNvSpPr>
          <p:nvPr/>
        </p:nvSpPr>
        <p:spPr bwMode="auto">
          <a:xfrm>
            <a:off x="2906842" y="2362085"/>
            <a:ext cx="1944216" cy="63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awarded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5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5" grpId="0" bldLvl="0" animBg="1"/>
      <p:bldP spid="215046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05765" y="248285"/>
            <a:ext cx="11306810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audience</a:t>
            </a:r>
            <a:r>
              <a:rPr 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sz="3200" b="1" i="1" kern="0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Times New Roman" panose="02020603050405020304" pitchFamily="18" charset="0"/>
              </a:rPr>
              <a:t>[collective noun] + </a:t>
            </a:r>
            <a:r>
              <a:rPr lang="en-US" sz="3200" b="1" kern="0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Times New Roman" panose="02020603050405020304" pitchFamily="18" charset="0"/>
              </a:rPr>
              <a:t>is/are </a:t>
            </a:r>
            <a:r>
              <a:rPr lang="en-US" sz="3200" b="1" i="1" kern="0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Times New Roman" panose="02020603050405020304" pitchFamily="18" charset="0"/>
              </a:rPr>
              <a:t>(the group of people watch, read or listen to sth) </a:t>
            </a:r>
            <a:r>
              <a:rPr lang="zh-CN" altLang="en-US" sz="3200" b="1" kern="0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Times New Roman" panose="02020603050405020304" pitchFamily="18" charset="0"/>
              </a:rPr>
              <a:t>观众，听众</a:t>
            </a:r>
            <a:r>
              <a:rPr lang="en-US" altLang="zh-CN" sz="3200" b="1" kern="0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Times New Roman" panose="02020603050405020304" pitchFamily="18" charset="0"/>
              </a:rPr>
              <a:t>，</a:t>
            </a:r>
            <a:r>
              <a:rPr lang="zh-CN" altLang="en-US" sz="3200" b="1" kern="0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Times New Roman" panose="02020603050405020304" pitchFamily="18" charset="0"/>
              </a:rPr>
              <a:t>读者</a:t>
            </a:r>
            <a:endParaRPr lang="en-US" sz="3200" b="1" kern="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The audience was/were clapping for 10 minutes.</a:t>
            </a:r>
          </a:p>
          <a:p>
            <a:pPr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1" kern="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Somewhere </a:t>
            </a:r>
            <a:r>
              <a:rPr lang="en-US" sz="3200" b="1" u="sng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in the audience</a:t>
            </a:r>
            <a:r>
              <a:rPr 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a young man sprang to his feet.</a:t>
            </a:r>
          </a:p>
          <a:p>
            <a:pPr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u="sng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观众席</a:t>
            </a:r>
            <a:r>
              <a:rPr lang="zh-CN" alt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里，一位年轻的男子突然站了起来。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05765" y="248285"/>
            <a:ext cx="11306810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 audience of millions watched the wedding on TV.</a:t>
            </a:r>
          </a:p>
          <a:p>
            <a:pPr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几百万观众在电视上观看了婚礼。</a:t>
            </a:r>
          </a:p>
          <a:p>
            <a:pPr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His book </a:t>
            </a:r>
            <a:r>
              <a:rPr lang="zh-CN" altLang="en-US" sz="3200" b="1" u="sng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reached an even wider audience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when it was made into a movie.</a:t>
            </a:r>
          </a:p>
          <a:p>
            <a:pPr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他的书被搬上银幕后</a:t>
            </a:r>
            <a:r>
              <a:rPr lang="zh-CN" altLang="en-US" sz="3200" b="1" u="sng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赢得了更广大的观众</a:t>
            </a:r>
            <a:r>
              <a:rPr lang="zh-CN" alt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The </a:t>
            </a:r>
            <a:r>
              <a:rPr lang="zh-CN" altLang="en-US" sz="3200" b="1" u="sng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target audience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for this advertisement was mainly teenagers.</a:t>
            </a:r>
          </a:p>
          <a:p>
            <a:pPr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这个广告的对象主要是十几岁的青少年观众。</a:t>
            </a:r>
          </a:p>
          <a:p>
            <a:pPr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TV/cinema/movie audiences</a:t>
            </a:r>
          </a:p>
          <a:p>
            <a:pPr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电视／电影院／电影观众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91873" y="460426"/>
            <a:ext cx="11463060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However, the film’s director, </a:t>
            </a:r>
            <a:r>
              <a:rPr lang="en-US" altLang="zh-C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Lee, preferred to have actors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location.    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85370" y="1719464"/>
            <a:ext cx="10877651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9580"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perform   </a:t>
            </a:r>
            <a:r>
              <a:rPr lang="zh-CN" altLang="en-US" sz="3200" b="1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v.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 do </a:t>
            </a:r>
            <a:r>
              <a:rPr lang="en-US" altLang="zh-CN" sz="3200" b="1" kern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sth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to entertain people,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or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 do </a:t>
            </a:r>
            <a:r>
              <a:rPr lang="en-US" altLang="zh-CN" sz="3200" b="1" kern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sth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,</a:t>
            </a:r>
          </a:p>
          <a:p>
            <a:pPr marL="449580"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especially </a:t>
            </a:r>
            <a:r>
              <a:rPr lang="en-US" altLang="zh-CN" sz="3200" b="1" kern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sth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difficult or useful 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表演; 履行; 执行</a:t>
            </a:r>
            <a:endParaRPr lang="zh-CN" altLang="en-US" sz="3200" b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9580"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the role of                     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扮演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角色</a:t>
            </a:r>
          </a:p>
          <a:p>
            <a:pPr marL="449580"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an operation / a play   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进行手术 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演一场戏</a:t>
            </a:r>
          </a:p>
          <a:p>
            <a:pPr marL="449580"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one’s duty / promise    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尽责任 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履行承诺</a:t>
            </a:r>
          </a:p>
          <a:p>
            <a:pPr marL="457200" indent="-45720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 </a:t>
            </a:r>
            <a:r>
              <a:rPr lang="en-US" altLang="zh-CN" sz="32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表演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演奏</a:t>
            </a:r>
            <a:endParaRPr lang="en-US" altLang="zh-CN" sz="32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9580" indent="-44958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put on / give a performance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</a:t>
            </a:r>
            <a:r>
              <a:rPr lang="zh-CN" alt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举行表演</a:t>
            </a:r>
            <a:endParaRPr lang="en-US" altLang="zh-CN" sz="3200" b="1" kern="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457200" indent="-45720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performer   </a:t>
            </a:r>
            <a:r>
              <a:rPr lang="en-US" altLang="zh-CN" sz="3200" b="1" i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  </a:t>
            </a:r>
            <a:r>
              <a:rPr lang="zh-CN" alt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表演者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62" name="Rectangle 6"/>
          <p:cNvSpPr>
            <a:spLocks noChangeArrowheads="1"/>
          </p:cNvSpPr>
          <p:nvPr/>
        </p:nvSpPr>
        <p:spPr bwMode="auto">
          <a:xfrm>
            <a:off x="818388" y="1057884"/>
            <a:ext cx="11109488" cy="413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marL="443230" indent="-44323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6223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3333FF"/>
                </a:solidFill>
              </a:rPr>
              <a:t>【</a:t>
            </a:r>
            <a:r>
              <a:rPr lang="zh-CN" altLang="en-US" sz="3200" b="1" dirty="0">
                <a:solidFill>
                  <a:srgbClr val="3333FF"/>
                </a:solidFill>
              </a:rPr>
              <a:t>语境应用</a:t>
            </a:r>
            <a:r>
              <a:rPr lang="en-US" altLang="zh-CN" sz="3200" b="1" dirty="0">
                <a:solidFill>
                  <a:srgbClr val="3333FF"/>
                </a:solidFill>
              </a:rPr>
              <a:t>】</a:t>
            </a: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3333FF"/>
                </a:solidFill>
              </a:rPr>
              <a:t> 用</a:t>
            </a:r>
            <a:r>
              <a:rPr lang="en-US" altLang="zh-CN" sz="3200" b="1" dirty="0">
                <a:solidFill>
                  <a:srgbClr val="3333FF"/>
                </a:solidFill>
              </a:rPr>
              <a:t>perform</a:t>
            </a:r>
            <a:r>
              <a:rPr lang="zh-CN" altLang="en-US" sz="3200" b="1" dirty="0">
                <a:solidFill>
                  <a:srgbClr val="3333FF"/>
                </a:solidFill>
              </a:rPr>
              <a:t>的适当形式完成句子。</a:t>
            </a: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</a:rPr>
              <a:t>1)</a:t>
            </a:r>
            <a:r>
              <a:rPr lang="zh-CN" altLang="en-US" sz="3200" b="1" dirty="0">
                <a:solidFill>
                  <a:srgbClr val="000000"/>
                </a:solidFill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</a:rPr>
              <a:t>She was fired for not ____________ her duty.</a:t>
            </a: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</a:rPr>
              <a:t>2) The evening _____________ begins at 8 o’clock.</a:t>
            </a: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</a:rPr>
              <a:t>3) He is the best __________ in the concert.</a:t>
            </a:r>
          </a:p>
          <a:p>
            <a:pPr defTabSz="91440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</a:rPr>
              <a:t>4)  ____________ the operation successfully, the doctors once again had a meeting. </a:t>
            </a:r>
          </a:p>
        </p:txBody>
      </p:sp>
      <p:sp>
        <p:nvSpPr>
          <p:cNvPr id="224263" name="Rectangle 7"/>
          <p:cNvSpPr>
            <a:spLocks noChangeArrowheads="1"/>
          </p:cNvSpPr>
          <p:nvPr/>
        </p:nvSpPr>
        <p:spPr bwMode="auto">
          <a:xfrm>
            <a:off x="5115419" y="2196193"/>
            <a:ext cx="2447925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performing </a:t>
            </a:r>
          </a:p>
        </p:txBody>
      </p:sp>
      <p:sp>
        <p:nvSpPr>
          <p:cNvPr id="224264" name="Rectangle 8"/>
          <p:cNvSpPr>
            <a:spLocks noChangeArrowheads="1"/>
          </p:cNvSpPr>
          <p:nvPr/>
        </p:nvSpPr>
        <p:spPr bwMode="auto">
          <a:xfrm>
            <a:off x="3584162" y="2741777"/>
            <a:ext cx="2755219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performance </a:t>
            </a:r>
          </a:p>
        </p:txBody>
      </p:sp>
      <p:sp>
        <p:nvSpPr>
          <p:cNvPr id="224265" name="Rectangle 9"/>
          <p:cNvSpPr>
            <a:spLocks noChangeArrowheads="1"/>
          </p:cNvSpPr>
          <p:nvPr/>
        </p:nvSpPr>
        <p:spPr bwMode="auto">
          <a:xfrm>
            <a:off x="3795306" y="3319827"/>
            <a:ext cx="2104038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performer </a:t>
            </a:r>
          </a:p>
        </p:txBody>
      </p:sp>
      <p:sp>
        <p:nvSpPr>
          <p:cNvPr id="224266" name="Rectangle 10"/>
          <p:cNvSpPr>
            <a:spLocks noChangeArrowheads="1"/>
          </p:cNvSpPr>
          <p:nvPr/>
        </p:nvSpPr>
        <p:spPr bwMode="auto">
          <a:xfrm>
            <a:off x="1517752" y="3897877"/>
            <a:ext cx="2679700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To perform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4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3" grpId="0"/>
      <p:bldP spid="224264" grpId="0"/>
      <p:bldP spid="224265" grpId="0"/>
      <p:bldP spid="22426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0996" y="1021711"/>
            <a:ext cx="11325581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</a:t>
            </a:r>
            <a:r>
              <a:rPr lang="en-US" altLang="zh-CN" sz="32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amazing martial arts, the film also took</a:t>
            </a:r>
          </a:p>
          <a:p>
            <a:pPr defTabSz="914400">
              <a:lnSpc>
                <a:spcPct val="120000"/>
              </a:lnSpc>
              <a:defRPr/>
            </a:pPr>
            <a:r>
              <a:rPr lang="en-US" altLang="zh-CN" sz="32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advantage of China’s beautiful mountains, forests and deserts. </a:t>
            </a:r>
            <a:endParaRPr lang="zh-CN" altLang="en-US" sz="3200" b="1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49891" y="2295906"/>
            <a:ext cx="10958287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...   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除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之外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还有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defTabSz="914400">
              <a:lnSpc>
                <a:spcPct val="120000"/>
              </a:lnSpc>
            </a:pPr>
            <a:r>
              <a:rPr lang="en-US" altLang="zh-CN" sz="3200" b="1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3200" b="1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为介词</a:t>
            </a:r>
            <a:r>
              <a:rPr lang="en-US" altLang="zh-CN" sz="3200" b="1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addition to</a:t>
            </a:r>
            <a:r>
              <a:rPr lang="zh-CN" altLang="en-US" sz="3200" b="1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相当于介词</a:t>
            </a:r>
            <a:r>
              <a:rPr lang="en-US" altLang="zh-CN" sz="3200" b="1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besides</a:t>
            </a:r>
            <a:endParaRPr lang="zh-CN" altLang="en-US" sz="3200" b="1" u="sng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20000"/>
              </a:lnSpc>
            </a:pP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(=Besides) 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 flat in London, he has a villa</a:t>
            </a:r>
          </a:p>
          <a:p>
            <a:pPr defTabSz="914400">
              <a:lnSpc>
                <a:spcPct val="120000"/>
              </a:lnSpc>
            </a:pP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in Italy and a castle in Scotland.</a:t>
            </a:r>
          </a:p>
          <a:p>
            <a:pPr defTabSz="914400">
              <a:lnSpc>
                <a:spcPct val="120000"/>
              </a:lnSpc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In addition to (=Besides) 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arrangements, extra</a:t>
            </a:r>
          </a:p>
          <a:p>
            <a:pPr defTabSz="914400">
              <a:lnSpc>
                <a:spcPct val="120000"/>
              </a:lnSpc>
            </a:pP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ambulances will be on duty until midnight.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21682" y="1173557"/>
            <a:ext cx="10984896" cy="422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en-US" altLang="zh-CN" sz="32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拓展</a:t>
            </a:r>
            <a:r>
              <a:rPr lang="en-US" altLang="zh-CN" sz="32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pPr defTabSz="914400">
              <a:lnSpc>
                <a:spcPct val="120000"/>
              </a:lnSpc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addition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此外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还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另外</a:t>
            </a:r>
            <a:endParaRPr lang="en-US" altLang="zh-CN" sz="3200" b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30" indent="-87630" defTabSz="914400">
              <a:lnSpc>
                <a:spcPct val="120000"/>
              </a:lnSpc>
            </a:pPr>
            <a:r>
              <a:rPr lang="zh-CN" altLang="en-US" sz="32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用作状语，相当于副词</a:t>
            </a:r>
            <a:r>
              <a:rPr lang="en-US" altLang="zh-CN" sz="3200" b="1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besides</a:t>
            </a:r>
            <a:r>
              <a:rPr lang="zh-CN" altLang="en-US" sz="3200" b="1" u="sng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，其后不可接宾语</a:t>
            </a:r>
            <a:endParaRPr lang="en-US" altLang="zh-CN" sz="3200" b="1" u="sng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20000"/>
              </a:lnSpc>
            </a:pP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e.g. The hot weather affected many areas. 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addition</a:t>
            </a:r>
          </a:p>
          <a:p>
            <a:pPr defTabSz="914400">
              <a:lnSpc>
                <a:spcPct val="120000"/>
              </a:lnSpc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(=Besides)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crops failed in many provinces.</a:t>
            </a:r>
          </a:p>
          <a:p>
            <a:pPr marL="87630" indent="-87630" defTabSz="914400">
              <a:lnSpc>
                <a:spcPct val="120000"/>
              </a:lnSpc>
            </a:pP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There was a big earthquake and, 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addition (=besides)</a:t>
            </a: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87630" indent="-87630" defTabSz="914400">
              <a:lnSpc>
                <a:spcPct val="120000"/>
              </a:lnSpc>
            </a:pPr>
            <a:r>
              <a:rPr lang="en-US" altLang="zh-CN" sz="3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there was a terrible flood in that area.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98488" y="729615"/>
            <a:ext cx="10936513" cy="541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addition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填空。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______________ some picture books, we still need some storybooks.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My grandma gave us sandwiches for our picnic and a bag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of cookies _____________.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It’s too late to invite any more people. _____________, you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know how my mother hates parties.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He speaks French _____________ English.</a:t>
            </a:r>
          </a:p>
        </p:txBody>
      </p:sp>
      <p:sp>
        <p:nvSpPr>
          <p:cNvPr id="5" name="矩形 4"/>
          <p:cNvSpPr/>
          <p:nvPr/>
        </p:nvSpPr>
        <p:spPr>
          <a:xfrm>
            <a:off x="4413125" y="5457063"/>
            <a:ext cx="3307238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</a:t>
            </a:r>
          </a:p>
        </p:txBody>
      </p:sp>
      <p:sp>
        <p:nvSpPr>
          <p:cNvPr id="6" name="矩形 5"/>
          <p:cNvSpPr/>
          <p:nvPr/>
        </p:nvSpPr>
        <p:spPr>
          <a:xfrm>
            <a:off x="1223949" y="1949978"/>
            <a:ext cx="2621454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</a:t>
            </a:r>
          </a:p>
        </p:txBody>
      </p:sp>
      <p:sp>
        <p:nvSpPr>
          <p:cNvPr id="7" name="矩形 6"/>
          <p:cNvSpPr/>
          <p:nvPr/>
        </p:nvSpPr>
        <p:spPr>
          <a:xfrm>
            <a:off x="3268933" y="3703520"/>
            <a:ext cx="2797811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addition</a:t>
            </a:r>
          </a:p>
        </p:txBody>
      </p:sp>
      <p:sp>
        <p:nvSpPr>
          <p:cNvPr id="8" name="矩形 7"/>
          <p:cNvSpPr/>
          <p:nvPr/>
        </p:nvSpPr>
        <p:spPr>
          <a:xfrm>
            <a:off x="7968239" y="4254387"/>
            <a:ext cx="2135318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addition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4474</Words>
  <Application>Microsoft Macintosh PowerPoint</Application>
  <PresentationFormat>Widescreen</PresentationFormat>
  <Paragraphs>502</Paragraphs>
  <Slides>56</Slides>
  <Notes>31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宋体</vt:lpstr>
      <vt:lpstr>Times New Roman Bold</vt:lpstr>
      <vt:lpstr>Times New Roman Bold Italic</vt:lpstr>
      <vt:lpstr>Arial</vt:lpstr>
      <vt:lpstr>Calibri</vt:lpstr>
      <vt:lpstr>Calibri Light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293</cp:revision>
  <dcterms:created xsi:type="dcterms:W3CDTF">2023-11-30T06:03:32Z</dcterms:created>
  <dcterms:modified xsi:type="dcterms:W3CDTF">2026-07-22T12:57:31Z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91E3C6E079AE5790002377638A20ADB9</vt:lpwstr>
  </property>
  <property fmtid="{D5CDD505-2E9C-101B-9397-08002B2CF9AE}" pid="3" name="KSOProductBuildVer">
    <vt:lpwstr>1033-6.3.0.8471</vt:lpwstr>
  </property>
</Properties>
</file>