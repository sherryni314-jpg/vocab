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5.xml" ContentType="application/vnd.openxmlformats-officedocument.themeOverr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7.xml" ContentType="application/vnd.openxmlformats-officedocument.themeOverr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theme/themeOverride8.xml" ContentType="application/vnd.openxmlformats-officedocument.themeOverride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20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21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22.xml" ContentType="application/vnd.openxmlformats-officedocument.presentationml.notesSlide+xml"/>
  <Override PartName="/ppt/theme/themeOverride19.xml" ContentType="application/vnd.openxmlformats-officedocument.themeOverride+xml"/>
  <Override PartName="/ppt/tags/tag7.xml" ContentType="application/vnd.openxmlformats-officedocument.presentationml.tags+xml"/>
  <Override PartName="/ppt/notesSlides/notesSlide23.xml" ContentType="application/vnd.openxmlformats-officedocument.presentationml.notesSlide+xml"/>
  <Override PartName="/ppt/theme/themeOverride20.xml" ContentType="application/vnd.openxmlformats-officedocument.themeOverr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4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9"/>
  </p:notesMasterIdLst>
  <p:sldIdLst>
    <p:sldId id="441" r:id="rId3"/>
    <p:sldId id="475" r:id="rId4"/>
    <p:sldId id="476" r:id="rId5"/>
    <p:sldId id="258" r:id="rId6"/>
    <p:sldId id="442" r:id="rId7"/>
    <p:sldId id="448" r:id="rId8"/>
    <p:sldId id="520" r:id="rId9"/>
    <p:sldId id="518" r:id="rId10"/>
    <p:sldId id="450" r:id="rId11"/>
    <p:sldId id="521" r:id="rId12"/>
    <p:sldId id="546" r:id="rId13"/>
    <p:sldId id="274" r:id="rId14"/>
    <p:sldId id="369" r:id="rId15"/>
    <p:sldId id="444" r:id="rId16"/>
    <p:sldId id="548" r:id="rId17"/>
    <p:sldId id="547" r:id="rId18"/>
    <p:sldId id="502" r:id="rId19"/>
    <p:sldId id="276" r:id="rId20"/>
    <p:sldId id="453" r:id="rId21"/>
    <p:sldId id="457" r:id="rId22"/>
    <p:sldId id="454" r:id="rId23"/>
    <p:sldId id="455" r:id="rId24"/>
    <p:sldId id="456" r:id="rId25"/>
    <p:sldId id="503" r:id="rId26"/>
    <p:sldId id="282" r:id="rId27"/>
    <p:sldId id="446" r:id="rId28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0" clrIdx="0"/>
  <p:cmAuthor id="2" name="Catchbook" initials="C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ags" Target="tags/tag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the awards ceremony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上班族花了很多时间坐在办公桌前，通常都受到健康问题的困扰。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first impression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impression </a:t>
            </a:r>
            <a:r>
              <a:rPr lang="zh-CN" altLang="en-US"/>
              <a:t>印象画、</a:t>
            </a:r>
            <a:r>
              <a:rPr lang="en-US" altLang="zh-CN"/>
              <a:t>impressionism </a:t>
            </a:r>
            <a:r>
              <a:rPr lang="zh-CN" altLang="en-US"/>
              <a:t>印象主义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National College Entrance Examincation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National College Entrance Examincation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smooth journey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 special occasions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在特殊的场合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hemeOverride" Target="../theme/themeOverride3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4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7.xml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6.xml"/><Relationship Id="rId1" Type="http://schemas.openxmlformats.org/officeDocument/2006/relationships/themeOverride" Target="../theme/themeOverride8.xml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19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hemeOverride" Target="../theme/themeOverride20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7368" y="229715"/>
            <a:ext cx="11161240" cy="1173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4330" indent="-354330"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1. The wedding ceremony took place in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brightly decorated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hotel room.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婚礼在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一间装饰华美的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酒店包房内举行。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60512" y="2070833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32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endParaRPr lang="en-US" altLang="zh-CN" sz="32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7715" y="1416685"/>
            <a:ext cx="11018520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decorate   </a:t>
            </a:r>
            <a:r>
              <a:rPr lang="en-US" altLang="zh-CN" sz="3200" b="1" i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vt. &amp; vi. 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装饰；粉刷</a:t>
            </a:r>
            <a:endParaRPr lang="en-US" altLang="zh-CN" sz="3200" b="1" kern="100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decorate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sth with sth.    </a:t>
            </a: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用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...</a:t>
            </a: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来装饰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...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_________ his room _____ pictures of his favorite players. 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Traditional Chinese lanterns ___ often _________ ____ Chinese calligraphy, paintings, making them more impressive.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waiting room ________________ light blue. 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等候室</a:t>
            </a: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被刷成了</a:t>
            </a:r>
            <a:r>
              <a:rPr lang="zh-CN" altLang="en-US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浅蓝色。</a:t>
            </a:r>
            <a:endParaRPr lang="zh-CN" altLang="en-US" sz="3200" b="1" kern="100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26845" y="2637790"/>
            <a:ext cx="49371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Times New Roman" panose="02020503050405090304" pitchFamily="18" charset="0"/>
                <a:cs typeface="Times New Roman" panose="02020503050405090304" pitchFamily="18" charset="0"/>
              </a:rPr>
              <a:t>decorated                   with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104005" y="4329430"/>
            <a:ext cx="32886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Times New Roman" panose="02020503050405090304" pitchFamily="18" charset="0"/>
                <a:cs typeface="Times New Roman" panose="02020503050405090304" pitchFamily="18" charset="0"/>
              </a:rPr>
              <a:t>was decorated in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886450" y="3211195"/>
            <a:ext cx="52304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Times New Roman" panose="02020503050405090304" pitchFamily="18" charset="0"/>
                <a:cs typeface="Times New Roman" panose="02020503050405090304" pitchFamily="18" charset="0"/>
              </a:rPr>
              <a:t>are               decorated  with   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42047" y="829408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32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endParaRPr lang="en-US" altLang="zh-CN" sz="32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9250" y="175260"/>
            <a:ext cx="11018520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decorate   </a:t>
            </a:r>
            <a:r>
              <a:rPr lang="en-US" altLang="zh-CN" sz="3200" b="1" i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vt. &amp; vi. 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装饰；粉刷</a:t>
            </a:r>
            <a:endParaRPr lang="en-US" altLang="zh-CN" sz="3200" b="1" kern="100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decoration   </a:t>
            </a:r>
            <a:r>
              <a:rPr lang="en-US" altLang="zh-CN" sz="3200" b="1" i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n.  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  </a:t>
            </a:r>
            <a:r>
              <a:rPr lang="zh-CN" altLang="en-US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装饰品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    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</a:t>
            </a:r>
            <a:r>
              <a:rPr lang="en-US" altLang="zh-CN" sz="3200" b="1" i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c/n 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usually </a:t>
            </a:r>
            <a:r>
              <a:rPr lang="en-US" altLang="zh-CN" sz="3200" b="1" i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pl.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；</a:t>
            </a:r>
          </a:p>
          <a:p>
            <a:pPr algn="l">
              <a:lnSpc>
                <a:spcPct val="120000"/>
              </a:lnSpc>
            </a:pP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                            </a:t>
            </a:r>
            <a:r>
              <a:rPr lang="zh-CN" altLang="en-US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装饰；装饰风格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</a:t>
            </a:r>
            <a:r>
              <a:rPr lang="en-US" altLang="zh-CN" sz="3200" b="1" i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u/n)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Festive paper decoration</a:t>
            </a:r>
            <a:r>
              <a:rPr lang="en-US" altLang="zh-CN" sz="3200" b="1" u="sng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</a:t>
            </a:r>
            <a:r>
              <a:rPr lang="en-US" altLang="zh-CN" sz="32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had been hung from the ceiling.</a:t>
            </a:r>
          </a:p>
          <a:p>
            <a:pPr algn="l">
              <a:lnSpc>
                <a:spcPct val="120000"/>
              </a:lnSpc>
            </a:pPr>
            <a:r>
              <a:rPr lang="zh-CN" altLang="en-US" sz="32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节日的</a:t>
            </a:r>
            <a:r>
              <a:rPr lang="zh-CN" altLang="en-US" sz="3200" b="1" u="sng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装饰品</a:t>
            </a:r>
            <a:r>
              <a:rPr lang="en-US" altLang="zh-CN" sz="32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已经挂在天花板上。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Chinese theme in the interior ___________ </a:t>
            </a:r>
            <a:r>
              <a:rPr lang="zh-CN" altLang="en-US" sz="32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室内装潢</a:t>
            </a:r>
            <a:endParaRPr lang="en-US" altLang="zh-CN" sz="3200" b="1" kern="100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Despite its ________________, my small apartment gives me  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sense of comfort. 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尽管装修简单，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......</a:t>
            </a: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。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</a:t>
            </a:r>
            <a:endParaRPr lang="zh-CN" altLang="en-US" sz="3200" b="1" kern="100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kern="100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For practical and _________ purposes, the benches are usually painted. 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 (</a:t>
            </a: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为了实用和装修的目的，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这些长凳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......</a:t>
            </a:r>
            <a:r>
              <a:rPr lang="zh-CN" altLang="en-US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。</a:t>
            </a:r>
            <a:r>
              <a:rPr lang="en-US" altLang="zh-CN" sz="3200" b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911850" y="3148965"/>
            <a:ext cx="20955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3200" b="1" kern="1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decoration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263775" y="373253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3200" b="1" kern="1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simple decoration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235700" y="194945"/>
            <a:ext cx="53130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decorative   </a:t>
            </a:r>
            <a:r>
              <a:rPr lang="en-US" altLang="zh-CN" sz="3200" b="1" i="1" kern="100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adj. </a:t>
            </a:r>
            <a:r>
              <a:rPr lang="en-US" altLang="zh-CN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 </a:t>
            </a:r>
            <a:r>
              <a:rPr lang="zh-CN" altLang="en-US" sz="3200" b="1" kern="1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装饰性的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31870" y="4930140"/>
            <a:ext cx="20955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kern="100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decorative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2320" y="271145"/>
            <a:ext cx="11149330" cy="6292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There were hundreds of guests,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all dressed up in formal, colourful clothes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indent="0"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到场宾客数以百计，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个个身着色彩艳丽的礼服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all dressed up in formal, colourful clothes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sym typeface="+mn-ea"/>
              </a:rPr>
              <a:t>为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sym typeface="+mn-ea"/>
              </a:rPr>
              <a:t>独立主格结构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sym typeface="+mn-ea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宋体" pitchFamily="2" charset="-122"/>
                <a:ea typeface="宋体" pitchFamily="2" charset="-122"/>
              </a:rPr>
              <a:t>在句中作伴随状语。</a:t>
            </a:r>
            <a:endParaRPr lang="en-US" altLang="zh-CN" sz="3200" b="1" dirty="0">
              <a:latin typeface="宋体" pitchFamily="2" charset="-122"/>
              <a:ea typeface="宋体" pitchFamily="2" charset="-122"/>
            </a:endParaRP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独立主格结构由两部分构成，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宋体" pitchFamily="2" charset="-122"/>
              </a:rPr>
              <a:t>前后两部分具有</a:t>
            </a: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逻辑主谓关系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宋体" pitchFamily="2" charset="-122"/>
              </a:rPr>
              <a:t>。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latin typeface="宋体" pitchFamily="2" charset="-122"/>
                <a:ea typeface="宋体" pitchFamily="2" charset="-122"/>
                <a:cs typeface="宋体" pitchFamily="2" charset="-122"/>
              </a:rPr>
              <a:t>独立主格结构在句中作</a:t>
            </a: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状语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宋体" pitchFamily="2" charset="-122"/>
              </a:rPr>
              <a:t>，表</a:t>
            </a: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时间、原因、条件、伴随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宋体" pitchFamily="2" charset="-122"/>
              </a:rPr>
              <a:t>等。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逻辑主语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常为名词或代词，与后面的成分成</a:t>
            </a: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主动</a:t>
            </a:r>
            <a:r>
              <a:rPr lang="en-US" altLang="zh-CN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/</a:t>
            </a: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被动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宋体" pitchFamily="2" charset="-122"/>
                <a:sym typeface="+mn-ea"/>
              </a:rPr>
              <a:t>关系。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teacher came in,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book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under his arm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 </a:t>
            </a:r>
          </a:p>
          <a:p>
            <a:pPr marL="446405" indent="-446405" algn="l">
              <a:lnSpc>
                <a:spcPct val="120000"/>
              </a:lnSpc>
              <a:spcBef>
                <a:spcPts val="0"/>
              </a:spcBef>
              <a:buFont typeface="Arial" panose="020B0604020202090204" pitchFamily="34" charset="0"/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redoubled our efforts,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each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working like two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zh-CN" altLang="en-US" sz="30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 marL="446405" indent="-446405" algn="l">
              <a:lnSpc>
                <a:spcPct val="120000"/>
              </a:lnSpc>
              <a:spcBef>
                <a:spcPts val="0"/>
              </a:spcBef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+mn-ea"/>
              </a:rPr>
              <a:t>Her glasses _______</a:t>
            </a:r>
            <a:r>
              <a:rPr lang="en-US" altLang="zh-CN" sz="3200" b="1" dirty="0">
                <a:solidFill>
                  <a:sysClr val="windowText" lastClr="00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+mn-ea"/>
              </a:rPr>
              <a:t>, she couldn’t see the words on the screen. </a:t>
            </a:r>
            <a:endParaRPr lang="en-US" altLang="zh-CN" sz="30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56560" y="589724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broken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908050" y="815975"/>
            <a:ext cx="10955655" cy="55575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5" indent="-446405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If the weather permits, we are going to the park tomorrow.</a:t>
            </a:r>
          </a:p>
          <a:p>
            <a:pPr marL="446405" indent="-446405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Weather __________, we are going to the park tomorrow.</a:t>
            </a:r>
          </a:p>
          <a:p>
            <a:pPr marL="446405" indent="-446405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Since the purse had not been found yet, we went to the lost-and-found.</a:t>
            </a:r>
          </a:p>
          <a:p>
            <a:pPr marL="446405" indent="-446405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The purse not yet ______,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 went to the lost-and-found.</a:t>
            </a:r>
          </a:p>
          <a:p>
            <a:pPr marL="446405" indent="-446405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3. Much time ______ (spend) sitting at a desk, office workers are generally troubled by health problems.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79420" y="1467485"/>
            <a:ext cx="20593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permitting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18025" y="3244215"/>
            <a:ext cx="14027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found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93770" y="3827780"/>
            <a:ext cx="11664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spent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5" grpId="0"/>
      <p:bldP spid="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4375" y="259080"/>
            <a:ext cx="10793730" cy="1647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I did not understand all of the traditional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customs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but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a few 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made a deep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impression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on me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不是所有的传统</a:t>
            </a:r>
            <a:r>
              <a:rPr lang="zh-CN" altLang="en-US" sz="2800" b="1" dirty="0">
                <a:solidFill>
                  <a:srgbClr val="0000FF"/>
                </a:solidFill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习俗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我都了解，但有一些给我留下了深刻的</a:t>
            </a:r>
            <a:r>
              <a:rPr lang="zh-CN" altLang="en-US" sz="2800" b="1" dirty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印象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9070" y="1953895"/>
            <a:ext cx="11928475" cy="4236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ts val="4040"/>
              </a:lnSpc>
            </a:pPr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custom</a:t>
            </a:r>
            <a:r>
              <a:rPr lang="en-US" altLang="zh-CN" sz="3200" b="1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(cn./un.)</a:t>
            </a: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习俗</a:t>
            </a: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       </a:t>
            </a:r>
            <a:endParaRPr lang="zh-CN" altLang="en-US" sz="32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ts val="4040"/>
              </a:lnSpc>
            </a:pPr>
            <a:r>
              <a:rPr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遵循放爆竹的习俗</a:t>
            </a:r>
          </a:p>
          <a:p>
            <a:pPr fontAlgn="auto">
              <a:lnSpc>
                <a:spcPts val="4040"/>
              </a:lnSpc>
            </a:pPr>
            <a:endParaRPr lang="en-US" altLang="zh-CN" sz="3200" b="1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ts val="404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is the custom for sb to do sth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对某人来说做某事是习俗</a:t>
            </a:r>
            <a:endParaRPr lang="en-US" altLang="zh-CN" sz="3200" b="1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ts val="4040"/>
              </a:lnSpc>
            </a:pPr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custom</a:t>
            </a:r>
            <a:r>
              <a:rPr lang="en-US" altLang="zh-CN" sz="3200" b="1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(un.)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光顾</a:t>
            </a:r>
          </a:p>
          <a:p>
            <a:pPr fontAlgn="auto">
              <a:lnSpc>
                <a:spcPts val="404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attract more custom</a:t>
            </a:r>
          </a:p>
          <a:p>
            <a:pPr fontAlgn="auto">
              <a:lnSpc>
                <a:spcPts val="4040"/>
              </a:lnSpc>
            </a:pPr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customer</a:t>
            </a: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</a:t>
            </a:r>
            <a:endParaRPr lang="zh-CN" altLang="en-US" sz="32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ts val="4040"/>
              </a:lnSpc>
            </a:pPr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customs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901315" y="5093335"/>
            <a:ext cx="11315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顾客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867025" y="5616575"/>
            <a:ext cx="11315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海关</a:t>
            </a:r>
            <a:endParaRPr lang="en-US" altLang="zh-CN" sz="3200" b="1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22775" y="2037080"/>
            <a:ext cx="27495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根据中国习俗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598285" y="19964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according to Chinese custom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419215" y="506031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regular customers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211955" y="5118735"/>
            <a:ext cx="1616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老顾客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414135" y="558355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customs duty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237355" y="5641975"/>
            <a:ext cx="1616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进口税</a:t>
            </a:r>
            <a:endParaRPr lang="en-US" altLang="zh-CN" sz="3200" b="1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文本框 8"/>
          <p:cNvSpPr txBox="1"/>
          <p:nvPr>
            <p:custDataLst>
              <p:tags r:id="rId2"/>
            </p:custDataLst>
          </p:nvPr>
        </p:nvSpPr>
        <p:spPr>
          <a:xfrm>
            <a:off x="4455795" y="2550160"/>
            <a:ext cx="752538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follow/observe the custom of setting off firecrackers</a:t>
            </a:r>
          </a:p>
        </p:txBody>
      </p:sp>
      <p:sp>
        <p:nvSpPr>
          <p:cNvPr id="14" name="文本框 8"/>
          <p:cNvSpPr txBox="1"/>
          <p:nvPr>
            <p:custDataLst>
              <p:tags r:id="rId3"/>
            </p:custDataLst>
          </p:nvPr>
        </p:nvSpPr>
        <p:spPr>
          <a:xfrm>
            <a:off x="4582795" y="4525010"/>
            <a:ext cx="75253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招徕更多生意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4" grpId="0"/>
      <p:bldP spid="4" grpId="1"/>
      <p:bldP spid="14" grpId="0"/>
      <p:bldP spid="1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45440" y="194310"/>
            <a:ext cx="11845925" cy="6663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1. make/leave an impression on sb 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</a:rPr>
              <a:t>给某人留下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</a:rPr>
              <a:t>的印象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这次大地震给所有的幸存者留下了持久的印象。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terrible earthquake __________________________________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2. give (sb) the impression of…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给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某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人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的印象</a:t>
            </a:r>
            <a:endParaRPr lang="en-US" altLang="zh-CN" sz="3200" b="1" dirty="0">
              <a:latin typeface="+mj-ea"/>
              <a:ea typeface="+mj-ea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她给人的印象是特别忙。</a:t>
            </a:r>
            <a:endParaRPr lang="zh-CN" altLang="en-US" sz="3200" b="1" dirty="0">
              <a:latin typeface="+mj-ea"/>
              <a:ea typeface="+mj-ea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 Bold" panose="02020503050405090304" charset="0"/>
                <a:ea typeface="+mj-ea"/>
                <a:cs typeface="Times New Roman Bold" panose="02020503050405090304" charset="0"/>
                <a:sym typeface="+mn-ea"/>
              </a:rPr>
              <a:t>She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  <a:sym typeface="+mn-ea"/>
              </a:rPr>
              <a:t>gives the impression of</a:t>
            </a:r>
            <a:r>
              <a:rPr lang="zh-CN" altLang="en-US" sz="3200" b="1" dirty="0">
                <a:latin typeface="Times New Roman Bold" panose="02020503050405090304" charset="0"/>
                <a:ea typeface="+mj-ea"/>
                <a:cs typeface="Times New Roman Bold" panose="02020503050405090304" charset="0"/>
                <a:sym typeface="+mn-ea"/>
              </a:rPr>
              <a:t> being very busy.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get a good/bad impression of sb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对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......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的印象好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不好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endParaRPr lang="zh-CN" altLang="en-US" sz="3200" b="1" dirty="0">
              <a:latin typeface="Times New Roman Bold" panose="02020503050405090304" charset="0"/>
              <a:ea typeface="+mj-ea"/>
              <a:cs typeface="Times New Roman Bold" panose="020205030504050903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rPr>
              <a:t>I did not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rPr>
              <a:t>get the impression that/was under the impression that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rPr>
              <a:t> they were unhappy with the situation.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</a:rPr>
              <a:t>有……的看法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4778375" y="1359535"/>
            <a:ext cx="72034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left a lasting impression on all survivors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417195" y="280670"/>
            <a:ext cx="11473180" cy="632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My words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made no impression 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boy.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对某人没有效果</a:t>
            </a:r>
          </a:p>
        </p:txBody>
      </p:sp>
      <p:sp>
        <p:nvSpPr>
          <p:cNvPr id="14" name="文本框 4"/>
          <p:cNvSpPr txBox="1"/>
          <p:nvPr>
            <p:custDataLst>
              <p:tags r:id="rId2"/>
            </p:custDataLst>
          </p:nvPr>
        </p:nvSpPr>
        <p:spPr>
          <a:xfrm>
            <a:off x="490053" y="913301"/>
            <a:ext cx="9373590" cy="5850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impress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使钦佩，给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留下深刻的好印象</a:t>
            </a:r>
          </a:p>
          <a:p>
            <a:pPr fontAlgn="auto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impress sb with sth    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给某人留下深刻的好印象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imprsses sb that ...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使某人钦佩的是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impressed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有深刻好印象的；对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钦佩</a:t>
            </a:r>
          </a:p>
          <a:p>
            <a:pPr fontAlgn="auto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were all impressed by/with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her intelligence.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impressive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令人印象深刻的</a:t>
            </a:r>
          </a:p>
          <a:p>
            <a:pPr fontAlgn="auto">
              <a:lnSpc>
                <a:spcPct val="13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一场令人难忘的演出</a:t>
            </a:r>
          </a:p>
          <a:p>
            <a:pPr fontAlgn="auto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was very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impressive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interview.</a:t>
            </a:r>
          </a:p>
          <a:p>
            <a:pPr fontAlgn="auto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impressively high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非常高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4686935" y="484505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 impressive performance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397510" y="403860"/>
            <a:ext cx="11514455" cy="35852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我明显觉得我们在这里是不受欢迎的。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533400" indent="-5334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3400" indent="-5334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你给面试官留下了很好的印象。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5150" y="922655"/>
            <a:ext cx="1023874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get the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distinct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impression that we’re not welcomed here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65150" y="2129155"/>
            <a:ext cx="996505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You made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favourable impression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on the interviewer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397510" y="0"/>
            <a:ext cx="11794490" cy="59696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at the entrance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museum/the museum entrance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在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博物馆</a:t>
            </a:r>
            <a:r>
              <a:rPr lang="en-US" altLang="zh-CN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入口处 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3200" b="1" u="sng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singular cn.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进入，入场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made her entrance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after all the other guests had arrived.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她在其他所有客人都到达后才入场。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un.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进入权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police were unable to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gain entrance to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house.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警方未能得到进入这栋房子的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许可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entrance fee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入场费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397510" y="0"/>
            <a:ext cx="11794490" cy="59696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lighthouse marks the entrance to the harbour.</a:t>
            </a: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灯塔是海港入口的标志。</a:t>
            </a: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company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made a dramatic entrance into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the export market. </a:t>
            </a: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这家公司戏剧性地打入了出口市场。（卷入，参与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be involved in</a:t>
            </a:r>
            <a:r>
              <a:rPr lang="zh-CN" alt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1790" y="281305"/>
            <a:ext cx="1101852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customs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 followed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were </a:t>
            </a:r>
            <a:r>
              <a:rPr lang="zh-CN" altLang="en-US" sz="3200" b="1" u="sng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anything but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ordinary.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anything but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not at all / definitely not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决不，根本不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hotel was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anything but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satisfactory.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party was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anything but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success.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trip is _________________. On the contrary, I enjoyed it.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这趟旅行一点也不累人。恰恰相反，我很享受。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_________________________________, for my hotel was being built.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我的假期一点也不轻松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448560" y="267144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anything but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tiring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1790" y="3841115"/>
            <a:ext cx="70281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My vacation was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anything but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relaxing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51897" y="381808"/>
            <a:ext cx="9749970" cy="535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25" indent="-1698625">
              <a:lnSpc>
                <a:spcPct val="11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nothing but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仅仅；只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=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only</a:t>
            </a:r>
            <a:endParaRPr lang="zh-CN" altLang="en-US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’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nothing but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criminal.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3400" indent="-53340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He dreams of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nothing but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going home.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3400" indent="-53340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all but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3400" indent="-53340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几乎；差不多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=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almost </a:t>
            </a:r>
            <a:endParaRPr lang="en-US" altLang="zh-CN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533400" indent="-5334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party was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all but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over when we arrived. 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533400" indent="-53340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It was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all but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impossible to climb back into the boat.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825135" y="377593"/>
            <a:ext cx="9875521" cy="6251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5" indent="-446405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汉译英。</a:t>
            </a:r>
          </a:p>
          <a:p>
            <a:pPr marL="514350" indent="-514350">
              <a:lnSpc>
                <a:spcPct val="110000"/>
              </a:lnSpc>
              <a:spcBef>
                <a:spcPct val="0"/>
              </a:spcBef>
              <a:buFontTx/>
              <a:buAutoNum type="arabicParenR"/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课桌里只有一些废纸。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 </a:t>
            </a:r>
          </a:p>
          <a:p>
            <a:pPr marL="533400" indent="-53340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____________________________________</a:t>
            </a:r>
          </a:p>
          <a:p>
            <a:pPr marL="533400" indent="-53340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____________________________________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3400" indent="-53340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今天上午我女儿看上去一点儿也不开心。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  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____________________________________</a:t>
            </a:r>
          </a:p>
          <a:p>
            <a:pPr marL="533400" indent="-53340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____________________________________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3400" indent="-53340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几乎不可能识别他的书写。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_____________________________________</a:t>
            </a:r>
          </a:p>
          <a:p>
            <a:pPr marL="533400" indent="-53340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_____________________________________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12964" y="1371491"/>
            <a:ext cx="7371805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is nothing but some waste paper in the desk.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12964" y="2955134"/>
            <a:ext cx="7491549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My daughter looked anything but happy this morning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10935" y="4586129"/>
            <a:ext cx="6629400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was all but impossible to read his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writing.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397510" y="0"/>
            <a:ext cx="11794490" cy="59696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1. make/keep/break a promise</a:t>
            </a: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kept her promise to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visit her aunt regularly.</a:t>
            </a: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她信守诺言，定期去看望姑妈。</a:t>
            </a: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government failed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keep its promise of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lower taxes.</a:t>
            </a: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政府未能兑现减税的承诺。</a:t>
            </a: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Do I have your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promise that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you won't tell anyone about this?</a:t>
            </a: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你保证不把这事告诉任何人吗？</a:t>
            </a: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2.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un.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获得成功的迹象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His future was full of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promise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show great promsie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显示大有前途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397510" y="0"/>
            <a:ext cx="11794490" cy="59696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3. un.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迹象，吉兆</a:t>
            </a:r>
            <a:endParaRPr 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kid jumps out of the bed smiling, with the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promise </a:t>
            </a: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of recovering.</a:t>
            </a: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u="sng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预示着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身体快好了</a:t>
            </a: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It promises to be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an exciting few days.</a:t>
            </a: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那预示着是兴奋刺激的几天。</a:t>
            </a: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There were dark clouds overhead promising rain.</a:t>
            </a: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天上乌云密布，预示就要下雨。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51840" y="431165"/>
            <a:ext cx="1093343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6. The summer heat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me as soon as I 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got off the </a:t>
            </a:r>
            <a:r>
              <a:rPr lang="en-US" altLang="zh-CN" sz="3200" b="1" u="sng" dirty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flight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一下飞机，就有一股暑热袭来。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hit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 to have a bad effect on </a:t>
            </a:r>
            <a:r>
              <a:rPr lang="en-US" altLang="zh-CN" sz="3200" b="1" i="1" dirty="0" err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sb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en-US" altLang="zh-CN" sz="3200" b="1" i="1" dirty="0" err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endParaRPr lang="en-US" altLang="zh-CN" sz="3200" b="1" i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     </a:t>
            </a:r>
            <a:r>
              <a:rPr lang="en-US" altLang="zh-CN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 对……</a:t>
            </a:r>
            <a:r>
              <a:rPr lang="en-US" altLang="zh-CN" sz="3200" b="1" dirty="0" err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产生不良的或意外的影响</a:t>
            </a:r>
            <a:r>
              <a:rPr lang="en-US" altLang="zh-CN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990600" indent="-9906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Covid-19 has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cinema industry very hard. </a:t>
            </a:r>
          </a:p>
          <a:p>
            <a:pPr marL="990600" indent="-9906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The tornado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city last night.</a:t>
            </a:r>
          </a:p>
          <a:p>
            <a:pPr marL="342900" indent="-342900" algn="l" fontAlgn="base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charset="-122"/>
                <a:cs typeface="Times New Roman" panose="02020503050405090304" pitchFamily="18" charset="0"/>
                <a:sym typeface="黑体" panose="02010609060101010101" charset="-122"/>
              </a:rPr>
              <a:t>hit-hit-hit; hitting</a:t>
            </a: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algn="l" fontAlgn="base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3200" b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    It suddenly hit(s) sb. that…</a:t>
            </a:r>
            <a:r>
              <a:rPr lang="en-US" altLang="zh-CN" sz="3200" b="1">
                <a:solidFill>
                  <a:srgbClr val="3333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 </a:t>
            </a:r>
            <a:r>
              <a:rPr lang="zh-CN" altLang="en-US" sz="3200" b="1">
                <a:solidFill>
                  <a:srgbClr val="3333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某人突然想起</a:t>
            </a:r>
            <a:r>
              <a:rPr lang="en-US" altLang="zh-CN" sz="3200" b="1">
                <a:solidFill>
                  <a:srgbClr val="3333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……</a:t>
            </a:r>
          </a:p>
          <a:p>
            <a:pPr indent="0" algn="l" fontAlgn="base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I couldn’t remember where I’d seen him before, and then </a:t>
            </a:r>
          </a:p>
          <a:p>
            <a:pPr indent="0" algn="l" fontAlgn="base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后来猛然记起来了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 _____________________.                                              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270500" y="574230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suddenly hit me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51840" y="248285"/>
            <a:ext cx="10534650" cy="5886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6. The summer heat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me as soon as I 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got off the </a:t>
            </a:r>
            <a:r>
              <a:rPr lang="en-US" altLang="zh-CN" sz="3200" b="1" u="sng" dirty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flight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一下飞机，就有一股暑热袭来。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下飞机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登机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乘早班飞机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__________ New york has been cancelled due to the heavy fog.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由于大雾，飞往纽约的</a:t>
            </a:r>
            <a:r>
              <a:rPr lang="zh-CN" altLang="en-US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航班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已经被取消了。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pleasant / comfortable / good flight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      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从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到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</a:t>
            </a:r>
            <a:r>
              <a:rPr lang="zh-CN" altLang="en-US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503050405090304" pitchFamily="18" charset="0"/>
                <a:cs typeface="Times New Roman" panose="02020503050405090304" pitchFamily="18" charset="0"/>
              </a:rPr>
              <a:t>航程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</a:t>
            </a:r>
            <a:r>
              <a:rPr lang="en-US" altLang="zh-CN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503050405090304" pitchFamily="18" charset="0"/>
                <a:cs typeface="Times New Roman" panose="02020503050405090304" pitchFamily="18" charset="0"/>
              </a:rPr>
              <a:t>flight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time 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503050405090304" pitchFamily="18" charset="0"/>
                <a:cs typeface="Times New Roman" panose="02020503050405090304" pitchFamily="18" charset="0"/>
              </a:rPr>
              <a:t>flight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crew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7880" y="1456055"/>
            <a:ext cx="34601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get off a flight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02480" y="1999615"/>
            <a:ext cx="55714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get on a flight / board a flight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644390" y="2588260"/>
            <a:ext cx="48939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catch / take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an early flight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084185" y="866775"/>
            <a:ext cx="34601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flight   </a:t>
            </a:r>
            <a:r>
              <a:rPr lang="zh-CN" altLang="en-US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班机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71955" y="3223260"/>
            <a:ext cx="34601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flight  to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230110" y="4466590"/>
            <a:ext cx="43992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惬意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舒适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顺利的</a:t>
            </a:r>
            <a:r>
              <a:rPr lang="zh-CN" altLang="en-US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航程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62330" y="4995545"/>
            <a:ext cx="41065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flight from A to B</a:t>
            </a:r>
            <a:endParaRPr lang="zh-CN" altLang="en-US" sz="3200" b="1" dirty="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58710" y="5579110"/>
            <a:ext cx="23075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飞行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时间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581900" y="6162675"/>
            <a:ext cx="23075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机组人员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2410" y="233680"/>
            <a:ext cx="1178623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7. 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 wonder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people from Rio 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a week off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for this happy 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_______.  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难怪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里约的人们为这个快乐的</a:t>
            </a:r>
            <a:r>
              <a:rPr lang="zh-CN" altLang="en-US" sz="3200" b="1" dirty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盛会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请一周的假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occasion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an important social event or ceremony</a:t>
            </a:r>
            <a:endParaRPr lang="en-US" altLang="zh-CN" sz="3200" b="1" i="1" dirty="0">
              <a:solidFill>
                <a:srgbClr val="0000FF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446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(1)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特殊场合，盛会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</a:p>
          <a:p>
            <a:pPr indent="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picked out a dress appropriate for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occasion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People from all over the world fill this small town for </a:t>
            </a:r>
          </a:p>
          <a:p>
            <a:pPr indent="44640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（这场特殊的盛会）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____________________.</a:t>
            </a:r>
          </a:p>
          <a:p>
            <a:pPr indent="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Lantern Festival is 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occasion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______ the families get  </a:t>
            </a:r>
          </a:p>
          <a:p>
            <a:pPr indent="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together and everyone---young, old, rich and poor---has fun.</a:t>
            </a:r>
          </a:p>
          <a:p>
            <a:pPr indent="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It’s best not to try a new recipe for the first time </a:t>
            </a:r>
          </a:p>
          <a:p>
            <a:pPr indent="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在这样重要的场合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69900" y="873760"/>
            <a:ext cx="1876425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occasion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410075" y="383730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this special occasion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842760" y="4451350"/>
            <a:ext cx="1876425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when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44220" y="6102350"/>
            <a:ext cx="5810885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 such an important occasion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165" y="270510"/>
            <a:ext cx="1135126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n.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suitable or favourable time </a:t>
            </a:r>
          </a:p>
          <a:p>
            <a:pPr marL="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(2)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时机</a:t>
            </a:r>
          </a:p>
          <a:p>
            <a:pPr marL="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 is not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occasion for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laughter.</a:t>
            </a:r>
          </a:p>
          <a:p>
            <a:pPr marL="35877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做某事的时机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n.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time when something happens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marL="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(3)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时刻，时候</a:t>
            </a:r>
          </a:p>
          <a:p>
            <a:pPr marL="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met with Alex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several occasions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has been known to be mild, though he loses his temper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occasion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 </a:t>
            </a:r>
          </a:p>
          <a:p>
            <a:pPr marL="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will turn to you for help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the occasion arises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= if it becomes necessary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829810" y="2086610"/>
            <a:ext cx="5918200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 occasion for (doing) sth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476625" y="5154295"/>
            <a:ext cx="8269605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大家都知道他温和，虽然他</a:t>
            </a:r>
            <a:r>
              <a:rPr lang="zh-CN" altLang="en-US" sz="32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偶尔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也会发脾气。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60995" y="3859530"/>
            <a:ext cx="1726565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好几次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06465" y="6184900"/>
            <a:ext cx="1855470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如有必要</a:t>
            </a:r>
            <a:endParaRPr lang="en-US" altLang="zh-CN" sz="3200" b="1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21410" y="400685"/>
            <a:ext cx="10748645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25" indent="-169862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归纳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与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occasion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相关的短语：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occasion(s)= sometimes  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有时；偶尔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one occasion=once          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有一次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this/ that occasion           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那一次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the occasion of…             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的时候</a:t>
            </a:r>
            <a:endParaRPr lang="zh-CN" altLang="en-US" sz="3200" b="1" dirty="0">
              <a:latin typeface="Times New Roman" panose="02020503050405090304" pitchFamily="18" charset="0"/>
              <a:ea typeface="+mj-ea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5195" y="432435"/>
            <a:ext cx="1094232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He has been known ____________ (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有时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 to lose his temper.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______________ (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有一次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), she called me in the middle of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  the night.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3) __________________ (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的时候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 arrival of New Year’s Day, please accept my sincere greetings. 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4) Luke devoted himself to the new project, with (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偶尔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__________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visits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the nearby supermarket. 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5) While my job is ____________ dangerous, I don’t mind because danger excites me and makes me feel alive.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084898" y="1043976"/>
            <a:ext cx="24408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 occasion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344930" y="1711960"/>
            <a:ext cx="31070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 one occasion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492703" y="2874668"/>
            <a:ext cx="35921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 the occasion of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344930" y="4602480"/>
            <a:ext cx="19881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occasional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338955" y="5186045"/>
            <a:ext cx="25920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occasionally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3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9700" y="338455"/>
            <a:ext cx="1179322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8. I could feel it already --- the Carnival was __________.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我已经感觉到了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——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这狂欢节的气氛！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the air 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可感觉到；在传播中</a:t>
            </a:r>
          </a:p>
          <a:p>
            <a:pPr marL="358775" lvl="0" indent="-358775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He scored the winning goal in the final and there was ________________.</a:t>
            </a:r>
          </a:p>
          <a:p>
            <a:pPr marL="358775" lvl="0" indent="-358775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他射入了决赛的决胜球，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可以感觉到到处都是兴奋的氛围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  <a:p>
            <a:pPr marL="358775" lvl="0" indent="-358775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Valentine’s Day is around the corner. There is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romance in the air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145145" y="455295"/>
            <a:ext cx="2081530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the air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37160" y="2727325"/>
            <a:ext cx="38531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excitement in the air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9990" y="-885190"/>
            <a:ext cx="2713990" cy="27139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22935" y="155575"/>
            <a:ext cx="1130998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the air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正在播送</a:t>
            </a:r>
          </a:p>
          <a:p>
            <a:pPr marL="35877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up in the air</a:t>
            </a:r>
          </a:p>
          <a:p>
            <a:pPr marL="35877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air of confidence</a:t>
            </a:r>
          </a:p>
          <a:p>
            <a:pPr marL="358775" lvl="0" indent="-358775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(1) With such viewers, these programs don’t need high rating to stay ___ ___ ___. (...,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这些节目不需要高评分以继续播出。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 marL="358775" lvl="0" indent="-358775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(2) Faced with the big challenge, Amy had an air of confidence.</a:t>
            </a:r>
          </a:p>
          <a:p>
            <a:pPr marL="358775" lvl="0" indent="-358775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面对这样大的挑战，埃米一副胸有成竹的样子。</a:t>
            </a:r>
          </a:p>
          <a:p>
            <a:pPr marL="358775" lvl="0" indent="-358775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(3) The summer travel plan is still ______ ____ _____ _____ because of the tight budget.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还未决定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 marL="358775" lvl="0" indent="-358775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(4) He is anthing but an easy-going person. He is always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putting on airs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摆架子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713980" y="200025"/>
            <a:ext cx="4118610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off the air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停止播送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99990" y="861695"/>
            <a:ext cx="24161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悬而未决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035550" y="1414780"/>
            <a:ext cx="30416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一副自信的样子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75460" y="2592705"/>
            <a:ext cx="2253615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  the  air</a:t>
            </a:r>
          </a:p>
        </p:txBody>
      </p:sp>
      <p:sp>
        <p:nvSpPr>
          <p:cNvPr id="12" name="文本框 6"/>
          <p:cNvSpPr txBox="1"/>
          <p:nvPr>
            <p:custDataLst>
              <p:tags r:id="rId2"/>
            </p:custDataLst>
          </p:nvPr>
        </p:nvSpPr>
        <p:spPr>
          <a:xfrm>
            <a:off x="6817995" y="4335145"/>
            <a:ext cx="4606925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up    in    the      air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6" grpId="0"/>
      <p:bldP spid="7" grpId="0"/>
      <p:bldP spid="7" grpId="1"/>
      <p:bldP spid="12" grpId="0"/>
      <p:bldP spid="12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1180" y="676275"/>
            <a:ext cx="11379835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9. I could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group of around 20 Brazilian dancers and a band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fancy costumes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standing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the street.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“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主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谓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宾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宾补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”结构</a:t>
            </a:r>
          </a:p>
          <a:p>
            <a:pPr marL="358775" indent="-358775">
              <a:lnSpc>
                <a:spcPct val="120000"/>
              </a:lnSpc>
            </a:pP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121410" y="2618740"/>
            <a:ext cx="34277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see sb.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doing sth.</a:t>
            </a: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185545" y="3368675"/>
            <a:ext cx="59810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costume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c,u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戏装；装扮用服装</a:t>
            </a:r>
            <a:endParaRPr lang="zh-CN" altLang="en-US" sz="3200" b="1" u="sng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96620" y="4019550"/>
            <a:ext cx="108610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actors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were still in costume 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 make-up.  </a:t>
            </a:r>
          </a:p>
          <a:p>
            <a:r>
              <a:rPr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演员们仍是</a:t>
            </a:r>
            <a:r>
              <a:rPr lang="zh-CN" altLang="en-US" sz="3200" b="1" u="sng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戏装打扮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9560" y="520065"/>
            <a:ext cx="11600180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找出课文中另一个相同结构的句子，它的谓语也是感官动词，宾补是省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to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的不定式短语。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_______________________________________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____________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83565" y="1682750"/>
            <a:ext cx="11306810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was so caught up in the party fever that I hardly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noticed five hours fly by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我深深地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沉迷于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派对的狂热中，不知不觉五个小时已经过去了。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ad5b5b7-6f1b-4d80-8f5f-fa44a9915abc"/>
  <p:tag name="COMMONDATA" val="eyJoZGlkIjoiNDcxZWEzNmM4YTgxYjEzMjI1NzAwNmRhMmFmYTU1ZG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2349</Words>
  <Application>Microsoft Macintosh PowerPoint</Application>
  <PresentationFormat>Widescreen</PresentationFormat>
  <Paragraphs>277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宋体</vt:lpstr>
      <vt:lpstr>Times New Roman Bold</vt:lpstr>
      <vt:lpstr>Times New Roman Bold Italic</vt:lpstr>
      <vt:lpstr>Arial</vt:lpstr>
      <vt:lpstr>Calibri</vt:lpstr>
      <vt:lpstr>Calibri Light</vt:lpstr>
      <vt:lpstr>Times New Roman</vt:lpstr>
      <vt:lpstr>Wingdings</vt:lpstr>
      <vt:lpstr>Office 主题</vt:lpstr>
      <vt:lpstr>1_Office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289</cp:revision>
  <dcterms:created xsi:type="dcterms:W3CDTF">2024-01-02T08:35:48Z</dcterms:created>
  <dcterms:modified xsi:type="dcterms:W3CDTF">2026-07-22T13:13:05Z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1033-6.4.0.8550</vt:lpwstr>
  </property>
  <property fmtid="{D5CDD505-2E9C-101B-9397-08002B2CF9AE}" pid="3" name="ICV">
    <vt:lpwstr>86995F74D5464C2B9057AD905420E618</vt:lpwstr>
  </property>
</Properties>
</file>