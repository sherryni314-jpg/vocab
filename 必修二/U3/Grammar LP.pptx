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283" r:id="rId3"/>
    <p:sldId id="284" r:id="rId4"/>
    <p:sldId id="522" r:id="rId5"/>
    <p:sldId id="523" r:id="rId6"/>
    <p:sldId id="524" r:id="rId7"/>
    <p:sldId id="525" r:id="rId8"/>
    <p:sldId id="526" r:id="rId9"/>
    <p:sldId id="285" r:id="rId10"/>
    <p:sldId id="395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0" clrIdx="0"/>
  <p:cmAuthor id="2" name="Catchbook" initials="C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3120" y="218440"/>
            <a:ext cx="1106106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caught up in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absorbed or involved in sth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especially an unwelcome situation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被卷入；被陷入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(=be involved in sth)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indent="-358775" fontAlgn="auto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was caught i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heavy storm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</a:p>
          <a:p>
            <a:pPr lvl="0" indent="-358775" fontAlgn="auto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didn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 want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caught up in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endless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unimportant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arguments.</a:t>
            </a:r>
          </a:p>
          <a:p>
            <a:pPr lvl="0" indent="-358775" fontAlgn="auto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我不想陷入无休止的无关紧要的争论中。</a:t>
            </a:r>
          </a:p>
          <a:p>
            <a:pPr lvl="0" indent="-358775" fontAlgn="auto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catch sb doing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 indent="-358775" fontAlgn="auto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catch 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catch up on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334250" y="2127885"/>
            <a:ext cx="225425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突然遇上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3120" y="5576570"/>
            <a:ext cx="131762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流行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338445" y="5576570"/>
            <a:ext cx="240601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补上；补做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09770" y="439928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当场发现某人做某事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879475" y="156210"/>
            <a:ext cx="11116310" cy="6144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1) </a:t>
            </a:r>
            <a:r>
              <a:rPr lang="zh-CN" altLang="en-US" dirty="0">
                <a:solidFill>
                  <a:schemeClr val="tx1"/>
                </a:solidFill>
              </a:rPr>
              <a:t>对不起，我迟到了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solidFill>
                  <a:schemeClr val="tx1"/>
                </a:solidFill>
              </a:rPr>
              <a:t>我遇上交通堵塞了。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2) </a:t>
            </a:r>
            <a:r>
              <a:rPr lang="zh-CN" altLang="en-US" dirty="0">
                <a:solidFill>
                  <a:schemeClr val="tx1"/>
                </a:solidFill>
              </a:rPr>
              <a:t>真幸运，我们家乡没有卷入战争中。</a:t>
            </a:r>
          </a:p>
          <a:p>
            <a:pPr>
              <a:lnSpc>
                <a:spcPct val="120000"/>
              </a:lnSpc>
            </a:pP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3) </a:t>
            </a:r>
            <a:r>
              <a:rPr lang="zh-CN" altLang="en-US" dirty="0">
                <a:solidFill>
                  <a:schemeClr val="tx1"/>
                </a:solidFill>
              </a:rPr>
              <a:t>真难为情，他考试作弊被逮了个正着。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 It’s a shame that he </a:t>
            </a:r>
            <a:r>
              <a:rPr lang="en-US" altLang="zh-CN" dirty="0">
                <a:solidFill>
                  <a:srgbClr val="FF0000"/>
                </a:solidFill>
              </a:rPr>
              <a:t>was caught cheating in an exam.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4) The idea of book-sharing has been around for ages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_________________. (</a:t>
            </a:r>
            <a:r>
              <a:rPr lang="zh-CN" altLang="en-US" dirty="0">
                <a:solidFill>
                  <a:schemeClr val="tx1"/>
                </a:solidFill>
              </a:rPr>
              <a:t>没有真正流行起来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5) I burned the midnight oil last night and now I just want to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____________________ (</a:t>
            </a:r>
            <a:r>
              <a:rPr lang="zh-CN" altLang="en-US" dirty="0">
                <a:solidFill>
                  <a:schemeClr val="tx1"/>
                </a:solidFill>
              </a:rPr>
              <a:t>我昨晚熬夜了，现在只想补点觉。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34440" y="760730"/>
            <a:ext cx="919988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Sorry I’m late –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 was caught in the heavy traffic.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4425" y="2025650"/>
            <a:ext cx="1064641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It’s lucky that my hometown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wasn’t caught up in the war.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8700" y="4467225"/>
            <a:ext cx="3881120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without catching 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845820" y="564515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catch up on some sleep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0" grpId="1"/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0505" y="1339215"/>
            <a:ext cx="3805555" cy="37096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527550" y="193675"/>
            <a:ext cx="752602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He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twisted 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his head around to look at her.</a:t>
            </a:r>
          </a:p>
          <a:p>
            <a:pPr indent="0" fontAlgn="auto">
              <a:lnSpc>
                <a:spcPct val="150000"/>
              </a:lnSpc>
            </a:pP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他扭过头去看她。</a:t>
            </a:r>
          </a:p>
          <a:p>
            <a:pPr indent="0" fontAlgn="auto">
              <a:lnSpc>
                <a:spcPct val="150000"/>
              </a:lnSpc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Nervously I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twisted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the string on my hoodie.</a:t>
            </a:r>
          </a:p>
          <a:p>
            <a:pPr indent="0" fontAlgn="auto">
              <a:lnSpc>
                <a:spcPct val="150000"/>
              </a:lnSpc>
            </a:pP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我紧张地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转着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连帽衫上的绳子。</a:t>
            </a:r>
          </a:p>
          <a:p>
            <a:pPr indent="0" fontAlgn="auto">
              <a:lnSpc>
                <a:spcPct val="150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Twist 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the knob to the left to open the door.</a:t>
            </a:r>
          </a:p>
          <a:p>
            <a:pPr indent="0" fontAlgn="auto">
              <a:lnSpc>
                <a:spcPct val="150000"/>
              </a:lnSpc>
            </a:pP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向左转动手柄把门打开。</a:t>
            </a:r>
          </a:p>
          <a:p>
            <a:pPr indent="0" fontAlgn="auto">
              <a:lnSpc>
                <a:spcPct val="150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twist off the lid/cap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旋开瓶盖</a:t>
            </a:r>
            <a:endParaRPr 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74980" y="189230"/>
            <a:ext cx="11379200" cy="6503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ts val="5000"/>
              </a:lnSpc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The road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twists and turns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along the coast.</a:t>
            </a:r>
          </a:p>
          <a:p>
            <a:pPr indent="0" fontAlgn="auto">
              <a:lnSpc>
                <a:spcPts val="5000"/>
              </a:lnSpc>
            </a:pP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道路沿着海滨蜿蜒曲折。</a:t>
            </a:r>
          </a:p>
          <a:p>
            <a:pPr indent="0" fontAlgn="auto">
              <a:lnSpc>
                <a:spcPts val="5000"/>
              </a:lnSpc>
            </a:pP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狭窄弯曲的街道</a:t>
            </a:r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</a:p>
          <a:p>
            <a:pPr indent="0" fontAlgn="auto">
              <a:lnSpc>
                <a:spcPts val="5000"/>
              </a:lnSpc>
            </a:pP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 newspaper was accused of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twisting the facts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这家报纸被指责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歪曲事实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。</a:t>
            </a:r>
          </a:p>
          <a:p>
            <a:pPr indent="0" fontAlgn="auto">
              <a:lnSpc>
                <a:spcPts val="5000"/>
              </a:lnSpc>
            </a:pP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twists and turns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of his political career (n.)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他政治生涯的</a:t>
            </a:r>
            <a:r>
              <a:rPr lang="en-US" altLang="zh-CN" sz="3200" b="1" u="sng">
                <a:latin typeface="Times New Roman Bold" panose="02020503050405090304" charset="0"/>
                <a:cs typeface="Times New Roman Bold" panose="02020503050405090304" charset="0"/>
              </a:rPr>
              <a:t>一波三折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 u="sng">
                <a:latin typeface="Times New Roman Bold" panose="02020503050405090304" charset="0"/>
                <a:cs typeface="Times New Roman Bold" panose="02020503050405090304" charset="0"/>
              </a:rPr>
              <a:t>(... of the mountain road / ... in the story)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763645" y="1462405"/>
            <a:ext cx="6096000" cy="732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ts val="5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narrow twisting streets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74980" y="189230"/>
            <a:ext cx="11379200" cy="5862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ts val="5000"/>
              </a:lnSpc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Keep your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stuff 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close and stay away from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vehicles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. </a:t>
            </a:r>
          </a:p>
          <a:p>
            <a:pPr indent="0" fontAlgn="auto">
              <a:lnSpc>
                <a:spcPts val="5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stuff </a:t>
            </a:r>
            <a:r>
              <a:rPr lang="en-US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un.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</a:p>
          <a:p>
            <a:pPr indent="0" fontAlgn="auto">
              <a:lnSpc>
                <a:spcPts val="5000"/>
              </a:lnSpc>
            </a:pPr>
            <a:r>
              <a:rPr 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All my </a:t>
            </a:r>
            <a:r>
              <a:rPr lang="en-US" sz="3200" b="1" u="sng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stuff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was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lost due to my carelessness.</a:t>
            </a:r>
          </a:p>
          <a:p>
            <a:pPr indent="0" fontAlgn="auto">
              <a:lnSpc>
                <a:spcPts val="5000"/>
              </a:lnSpc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I like reading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and stuff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. (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之类的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stuff </a:t>
            </a:r>
            <a:r>
              <a:rPr lang="en-US" altLang="zh-CN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1)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装满，填满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stuff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500 leaflets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into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envelopes /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stuff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500 envelopes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with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leaflets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All the drawers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were stuffed with/full of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letters and papers.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所有抽屉里都</a:t>
            </a:r>
            <a:r>
              <a:rPr lang="en-US" altLang="zh-CN" sz="3200" b="1" u="sng">
                <a:latin typeface="Times New Roman Bold" panose="02020503050405090304" charset="0"/>
                <a:cs typeface="Times New Roman Bold" panose="02020503050405090304" charset="0"/>
              </a:rPr>
              <a:t>放满了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信函文件。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74980" y="189230"/>
            <a:ext cx="11379200" cy="5862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ts val="5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stuff v.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 i="1">
                <a:latin typeface="Times New Roman Bold Italic" panose="02020503050405090304" charset="0"/>
                <a:cs typeface="Times New Roman Bold Italic" panose="02020503050405090304" charset="0"/>
              </a:rPr>
              <a:t>2) to push sth quickly and carelessly into a small space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把…塞进（或填进）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She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stuffed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the money under a cushion.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她把钱塞到软垫底下。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His hands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were stuffed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in his pockets.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他两手插在口袋里。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3) 给…装馅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Are you going to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stuff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 turkey?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74980" y="189230"/>
            <a:ext cx="11379200" cy="3938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ts val="5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motor vehicles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机动车辆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vehicle n.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something that can be used to </a:t>
            </a:r>
            <a:r>
              <a:rPr lang="en-US" altLang="zh-CN" sz="3200" b="1" i="1" u="sng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express your ideas or feelings or as a way of achieving sth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（赖以表达思想、感情或达到目的的）手段，工具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Art may be used as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vehicle for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expressing yourself.</a:t>
            </a:r>
          </a:p>
          <a:p>
            <a:pPr indent="0" fontAlgn="auto">
              <a:lnSpc>
                <a:spcPts val="5000"/>
              </a:lnSpc>
            </a:pP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艺术可以用作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表达自己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的工具。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15178" y="1115347"/>
            <a:ext cx="4039870" cy="541071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发生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乔装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打扮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根据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留下印象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使想起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6.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绝不；根本不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7. 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携手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；联手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8.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笨手笨脚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9.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下车（飞机、船）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03289" y="1235859"/>
            <a:ext cx="4240168" cy="535915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take place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dress up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3. according to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4. make an impression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5. remind … of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6. anything but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7. join hands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8. have two left feet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9. get off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96371" y="217020"/>
            <a:ext cx="4472345" cy="7201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400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Important phrases</a:t>
            </a:r>
            <a:endParaRPr lang="zh-CN" altLang="en-US" sz="3400" b="1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34909" y="458289"/>
            <a:ext cx="4568009" cy="600164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难怪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11.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亲自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12.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及时；迟早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13.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即将; 正要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14.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就座；代替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15.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立刻行动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16. 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一路上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17.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一波又一波的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18.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被卷入；被陷入</a:t>
            </a:r>
            <a:endParaRPr lang="zh-CN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19.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这么说吧；大致说来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71192" y="458289"/>
            <a:ext cx="4109720" cy="600164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10.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no wonder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 oneself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12. in time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13. be about to do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14. take one’s place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15. jump into action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16.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all the way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17. wave after wave of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18. be/get caught up in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19. let’s just say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ad5b5b7-6f1b-4d80-8f5f-fa44a9915abc"/>
  <p:tag name="COMMONDATA" val="eyJoZGlkIjoiNDcxZWEzNmM4YTgxYjEzMjI1NzAwNmRhMmFmYTU1ZG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Macintosh PowerPoint</Application>
  <PresentationFormat>Widescreen</PresentationFormat>
  <Paragraphs>103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宋体</vt:lpstr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Times New Roman</vt:lpstr>
      <vt:lpstr>Office 主题</vt:lpstr>
      <vt:lpstr>1_Office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289</cp:revision>
  <dcterms:created xsi:type="dcterms:W3CDTF">2024-01-02T08:35:48Z</dcterms:created>
  <dcterms:modified xsi:type="dcterms:W3CDTF">2026-07-22T13:13:15Z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1033-6.4.0.8550</vt:lpwstr>
  </property>
  <property fmtid="{D5CDD505-2E9C-101B-9397-08002B2CF9AE}" pid="3" name="ICV">
    <vt:lpwstr>86995F74D5464C2B9057AD905420E618</vt:lpwstr>
  </property>
</Properties>
</file>