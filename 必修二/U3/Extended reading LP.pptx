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46"/>
  </p:handoutMasterIdLst>
  <p:sldIdLst>
    <p:sldId id="642" r:id="rId3"/>
    <p:sldId id="677" r:id="rId4"/>
    <p:sldId id="603" r:id="rId6"/>
    <p:sldId id="605" r:id="rId7"/>
    <p:sldId id="606" r:id="rId8"/>
    <p:sldId id="607" r:id="rId9"/>
    <p:sldId id="720" r:id="rId10"/>
    <p:sldId id="608" r:id="rId11"/>
    <p:sldId id="678" r:id="rId12"/>
    <p:sldId id="610" r:id="rId13"/>
    <p:sldId id="614" r:id="rId14"/>
    <p:sldId id="721" r:id="rId15"/>
    <p:sldId id="616" r:id="rId16"/>
    <p:sldId id="617" r:id="rId17"/>
    <p:sldId id="587" r:id="rId18"/>
    <p:sldId id="588" r:id="rId19"/>
    <p:sldId id="612" r:id="rId20"/>
    <p:sldId id="619" r:id="rId21"/>
    <p:sldId id="620" r:id="rId22"/>
    <p:sldId id="621" r:id="rId23"/>
    <p:sldId id="623" r:id="rId24"/>
    <p:sldId id="589" r:id="rId25"/>
    <p:sldId id="625" r:id="rId26"/>
    <p:sldId id="626" r:id="rId27"/>
    <p:sldId id="722" r:id="rId28"/>
    <p:sldId id="628" r:id="rId29"/>
    <p:sldId id="710" r:id="rId30"/>
    <p:sldId id="590" r:id="rId31"/>
    <p:sldId id="591" r:id="rId32"/>
    <p:sldId id="631" r:id="rId33"/>
    <p:sldId id="632" r:id="rId34"/>
    <p:sldId id="601" r:id="rId35"/>
    <p:sldId id="635" r:id="rId36"/>
    <p:sldId id="711" r:id="rId37"/>
    <p:sldId id="636" r:id="rId38"/>
    <p:sldId id="723" r:id="rId39"/>
    <p:sldId id="724" r:id="rId40"/>
    <p:sldId id="725" r:id="rId41"/>
    <p:sldId id="726" r:id="rId42"/>
    <p:sldId id="753" r:id="rId43"/>
    <p:sldId id="755" r:id="rId44"/>
    <p:sldId id="756" r:id="rId45"/>
  </p:sldIdLst>
  <p:sldSz cx="12192000" cy="6858000"/>
  <p:notesSz cx="6858000" cy="9144000"/>
  <p:custDataLst>
    <p:tags r:id="rId5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4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02DD1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630" y="96"/>
      </p:cViewPr>
      <p:guideLst>
        <p:guide orient="horz" pos="2160"/>
        <p:guide pos="374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54.xml"/><Relationship Id="rId5" Type="http://schemas.openxmlformats.org/officeDocument/2006/relationships/notesMaster" Target="notesMasters/notesMaster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rubbish sorting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enjoy every bite.</a:t>
            </a:r>
            <a:endParaRPr lang="en-US"/>
          </a:p>
          <a:p>
            <a:r>
              <a:rPr lang="en-US"/>
              <a:t>There was a bite in the air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对……很讲究、</a:t>
            </a:r>
            <a:r>
              <a:rPr lang="zh-CN" altLang="en-US"/>
              <a:t>挑剔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对……很讲究、</a:t>
            </a:r>
            <a:r>
              <a:rPr lang="zh-CN" altLang="en-US"/>
              <a:t>挑剔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that, whether, if, as if/as though</a:t>
            </a:r>
            <a:endParaRPr lang="en-US"/>
          </a:p>
          <a:p>
            <a:r>
              <a:rPr lang="en-US"/>
              <a:t>what, who, which</a:t>
            </a:r>
            <a:endParaRPr lang="en-US"/>
          </a:p>
          <a:p>
            <a:r>
              <a:rPr lang="en-US"/>
              <a:t>when, how, where, why</a:t>
            </a:r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light </a:t>
            </a:r>
            <a:r>
              <a:rPr lang="zh-CN" altLang="en-US"/>
              <a:t>点燃</a:t>
            </a:r>
            <a:endParaRPr lang="zh-CN" altLang="en-US"/>
          </a:p>
          <a:p>
            <a:r>
              <a:rPr lang="en-US"/>
              <a:t>You light up my life.</a:t>
            </a:r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He suddenly </a:t>
            </a: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burst into tears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(= began to cry).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他突然放声大哭起来。</a:t>
            </a: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As he listened to the music, his eyes</a:t>
            </a:r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 </a:t>
            </a: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filled with tears</a:t>
            </a:r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.</a:t>
            </a: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他听着音乐，眼睛里噙着泪水。</a:t>
            </a: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Tears </a:t>
            </a: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welled up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in my eyes. </a:t>
            </a:r>
            <a:r>
              <a:rPr lang="zh-CN" alt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我热泪盈眶。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Their story will </a:t>
            </a: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move you to tears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(= make you cry).</a:t>
            </a:r>
            <a:endParaRPr lang="en-US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他们的故事会使你(感动得)落泪。</a:t>
            </a:r>
            <a:endParaRPr lang="en-US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They </a:t>
            </a:r>
            <a:r>
              <a:rPr lang="en-US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reduced her to tears</a:t>
            </a:r>
            <a:r>
              <a:rPr lang="en-US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(= made her cry, especially by being cruel or unkind).</a:t>
            </a:r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r>
              <a:rPr lang="en-US"/>
              <a:t>tiredness, stress, 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7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7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7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7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0.xml"/><Relationship Id="rId1" Type="http://schemas.openxmlformats.org/officeDocument/2006/relationships/tags" Target="../tags/tag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7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tags" Target="../tags/tag3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424815"/>
            <a:ext cx="1107884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1....the dinner table is already covered with </a:t>
            </a:r>
            <a:r>
              <a:rPr lang="en-US" altLang="zh-CN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white china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plates and bowls, full of </a:t>
            </a:r>
            <a:r>
              <a:rPr lang="en-US" altLang="zh-CN" sz="3200" b="1" u="sng" dirty="0" smtClean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all sorts of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dishes.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饭桌上已经摆满了</a:t>
            </a:r>
            <a:r>
              <a:rPr lang="zh-CN" altLang="en-US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白瓷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碗碟，里面是满满当当的</a:t>
            </a:r>
            <a:r>
              <a:rPr lang="zh-CN" altLang="en-US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各色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菜肴。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1) sort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kind    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种类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This sort of problem ______ quite common.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These sorts of problems ______ quite common.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sorts of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各种各样的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(topics, goods and foods)</a:t>
            </a:r>
            <a:endParaRPr lang="zh-CN" altLang="en-US" sz="3200" b="1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a/some sort of sth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某种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of (somewhat)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(adv.)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有的；有几分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of cute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698490" y="2845435"/>
            <a:ext cx="65087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6159500" y="3398520"/>
            <a:ext cx="10388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424815"/>
            <a:ext cx="1107884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I ________ hate him, but I don’t know why.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有点）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They may meet with ___________ problems in adolescence.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他们在青春期可能会遇到各种各样的问题。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2) sort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整理，分类；妥善处理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sort sth into sth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将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......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分类成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......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sort sth out         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把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......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整理好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(1) The government called on us to _____________.(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垃圾分类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(2) Rubbish can _____________ plastic, glass and paper.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(3) It has been proved that ____________________________ can improve your learning efficiency.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定期整理你的书桌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937385" y="494665"/>
            <a:ext cx="21380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of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5254625" y="1078230"/>
            <a:ext cx="2246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sorts of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7141210" y="4074160"/>
            <a:ext cx="23749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 rubbish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3761740" y="4598670"/>
            <a:ext cx="28809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sorted into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5655310" y="5182235"/>
            <a:ext cx="58229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sorting out your desk regularly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3" grpId="0"/>
      <p:bldP spid="3" grpId="1"/>
      <p:bldP spid="4" grpId="0"/>
      <p:bldP spid="4" grpId="1"/>
      <p:bldP spid="7" grpId="0"/>
      <p:bldP spid="7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200" y="424815"/>
            <a:ext cx="11078845" cy="62579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2. Luo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Yan’s son, Bofeng, happily </a:t>
            </a:r>
            <a:r>
              <a:rPr lang="en-US" altLang="zh-CN" sz="3200" b="1" u="sng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takes a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bite</a:t>
            </a:r>
            <a:r>
              <a:rPr lang="en-US" altLang="zh-CN" sz="3200" b="1" u="sng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u="sng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of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chicken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446405"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his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grandfather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has selected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him.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罗言的儿子博峰美滋滋地</a:t>
            </a:r>
            <a:r>
              <a:rPr lang="zh-CN" altLang="en-US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咬了一口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爷爷为他挑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选的鸡肉。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1) bite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302D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act of cutting sth with your </a:t>
            </a:r>
            <a:r>
              <a:rPr lang="en-US" altLang="zh-CN" sz="3200" b="1" i="1" dirty="0" smtClean="0">
                <a:solidFill>
                  <a:srgbClr val="302D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teeth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咬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咬下的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一口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(1)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took another 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bite </a:t>
            </a: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apple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zh-CN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吃了两口三明治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__________________ of sandwich.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(2) I didn’t take </a:t>
            </a:r>
            <a:r>
              <a:rPr lang="en-US" altLang="zh-CN" sz="3200" b="1" u="sng" dirty="0" smtClean="0">
                <a:solidFill>
                  <a:srgbClr val="302D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bite of my breakfast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this morning.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 _____ ___ ____ ___ the pancake with fresh vegetables rolled in it means to take in the vigor and energy of spring.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1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(4)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_________ can get infected.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狗咬的伤口会感染。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805180"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40275" y="368744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a couple of bites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1560830" y="5851525"/>
            <a:ext cx="20815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Dog bites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520190" y="4779645"/>
            <a:ext cx="3579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  a   bite   of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38835" y="337185"/>
            <a:ext cx="1112901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2) bite 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&amp; vi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咬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;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（昆虫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叮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bit, bitten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(1) 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was bitten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by a wild dog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(2) An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insect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bit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me badly on the arm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(3) 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bit into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 ripe juicy peach.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他咬下了一大块面包。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(4) He ___ ___ a large chunk of bread.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= He ___ a large chunk of bread ___.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(5) I am so busy with the work that </a:t>
            </a:r>
            <a:r>
              <a:rPr lang="zh-CN" altLang="en-US" sz="28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早晨以来还没有吃过一口东西。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I haven’t 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had a bite of my food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since morning.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84705" y="3946525"/>
            <a:ext cx="1444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 off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2042160" y="4537710"/>
            <a:ext cx="5669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                                          off</a:t>
            </a:r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6560" y="208915"/>
            <a:ext cx="1148524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select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(select the chicken for him)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choose something or someone by thinking carefully  </a:t>
            </a:r>
            <a:endParaRPr lang="en-US" altLang="zh-CN" sz="32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about which is the best, most suitable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择，挑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(1) We all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selected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Tom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our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team leader.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我们都选汤姆当我们的队长。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(2) The judges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selected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winner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three finalists.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裁判从三位决赛选手中选出了获胜者。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(3) Our school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selected him to attend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meeting.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我们学校选了他去参加会议。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(3) After many tests, he ________________ the national team.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708525" y="5477510"/>
            <a:ext cx="3283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 selected for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69290" y="356235"/>
            <a:ext cx="11178540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828675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23698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4465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 select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sb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as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sth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           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  <a:sym typeface="Arial" panose="020B0704020202020204" pitchFamily="34" charset="0"/>
              </a:rPr>
              <a:t>挑选某人为…</a:t>
            </a:r>
            <a:r>
              <a:rPr lang="en-US" altLang="zh-CN" b="1" dirty="0">
                <a:solidFill>
                  <a:srgbClr val="0000FF"/>
                </a:solidFill>
                <a:latin typeface="+mj-ea"/>
                <a:ea typeface="+mj-ea"/>
                <a:sym typeface="Arial" panose="020B0704020202020204" pitchFamily="34" charset="0"/>
              </a:rPr>
              <a:t>…</a:t>
            </a:r>
            <a:endParaRPr lang="en-US" altLang="zh-CN" b="1" dirty="0">
              <a:latin typeface="+mj-ea"/>
              <a:ea typeface="+mj-ea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+mj-ea"/>
                <a:ea typeface="+mj-ea"/>
                <a:sym typeface="Arial" panose="020B0704020202020204" pitchFamily="34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select 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sb from sth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      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从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......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中选择某人</a:t>
            </a:r>
            <a:endParaRPr lang="en-US" altLang="zh-CN" b="1" dirty="0">
              <a:latin typeface="+mj-ea"/>
              <a:ea typeface="+mj-ea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select sb to do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sth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   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  <a:sym typeface="Arial" panose="020B0704020202020204" pitchFamily="34" charset="0"/>
              </a:rPr>
              <a:t>挑选某人做</a:t>
            </a:r>
            <a:r>
              <a:rPr lang="en-US" altLang="zh-CN" b="1" dirty="0" smtClean="0">
                <a:solidFill>
                  <a:srgbClr val="0000FF"/>
                </a:solidFill>
                <a:latin typeface="+mj-ea"/>
                <a:ea typeface="+mj-ea"/>
                <a:sym typeface="Arial" panose="020B0704020202020204" pitchFamily="34" charset="0"/>
              </a:rPr>
              <a:t>…… </a:t>
            </a: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(select sb for sth)</a:t>
            </a:r>
            <a:endParaRPr lang="en-US" altLang="zh-CN" b="1" dirty="0" smtClean="0">
              <a:latin typeface="+mj-ea"/>
              <a:ea typeface="+mj-ea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un./cn.  </a:t>
            </a:r>
            <a:r>
              <a:rPr lang="en-US" altLang="zh-CN" b="1" i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挑选；挑选出的东西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 __________</a:t>
            </a: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(1) After ______________, five candidates went to the next round.  (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经过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仔细挑选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，五位候选人进入了下一轮。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(2) _____________ readers’ comments is published below. (下面刊登了</a:t>
            </a:r>
            <a:r>
              <a:rPr lang="en-US" altLang="zh-CN" b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选中的一批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读者的评论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(3) It offers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the (widest) selection of 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antiques in a one-day market. (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可供挑选的某类商品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应有尽有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(4) selection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s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from Mozart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莫扎特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作品选</a:t>
            </a:r>
            <a:endParaRPr lang="zh-CN" altLang="en-US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5715" y="2108200"/>
            <a:ext cx="250063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selection</a:t>
            </a:r>
            <a:endParaRPr lang="en-US" altLang="zh-CN"/>
          </a:p>
        </p:txBody>
      </p:sp>
      <p:sp>
        <p:nvSpPr>
          <p:cNvPr id="5" name="文本框 4"/>
          <p:cNvSpPr txBox="1"/>
          <p:nvPr/>
        </p:nvSpPr>
        <p:spPr>
          <a:xfrm>
            <a:off x="2258060" y="2651125"/>
            <a:ext cx="328358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careful selection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3340" y="3767455"/>
            <a:ext cx="3510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selection of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669290" y="356235"/>
            <a:ext cx="10779760" cy="609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828675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23698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4465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i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adj. 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精心挑选的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  __________ </a:t>
            </a: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(1) Parents __________________ what their children eat and drink. (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父母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对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孩子的饮食</a:t>
            </a: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很讲究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。）</a:t>
            </a:r>
            <a:endParaRPr lang="zh-CN" altLang="en-US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(2) He </a:t>
            </a:r>
            <a:r>
              <a:rPr lang="en-US" altLang="zh-CN" b="1" u="sng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picked his words</a:t>
            </a:r>
            <a:r>
              <a:rPr lang="en-US" altLang="zh-CN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carefully when talking with his boss</a:t>
            </a:r>
            <a:r>
              <a:rPr lang="zh-CN" altLang="en-US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。</a:t>
            </a: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15000"/>
              </a:lnSpc>
              <a:spcBef>
                <a:spcPct val="0"/>
              </a:spcBef>
              <a:buFontTx/>
              <a:buNone/>
            </a:pPr>
            <a:endParaRPr lang="en-US" altLang="zh-CN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  <a:sym typeface="Arial" panose="020B07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009390" y="356235"/>
            <a:ext cx="173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selective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800350" y="939800"/>
            <a:ext cx="35102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selective about</a:t>
            </a:r>
            <a:endParaRPr lang="en-US" altLang="zh-CN" sz="32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79490" y="356235"/>
            <a:ext cx="5960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be selective about</a:t>
            </a:r>
            <a:r>
              <a:rPr lang="en-US" altLang="zh-C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sym typeface="Arial" panose="020B0704020202020204" pitchFamily="34" charset="0"/>
              </a:rPr>
              <a:t> information)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  <p:bldP spid="8" grpId="0"/>
      <p:bldP spid="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Rectangle 2"/>
          <p:cNvSpPr>
            <a:spLocks noChangeArrowheads="1"/>
          </p:cNvSpPr>
          <p:nvPr/>
        </p:nvSpPr>
        <p:spPr bwMode="auto">
          <a:xfrm>
            <a:off x="1205865" y="379730"/>
            <a:ext cx="10266045" cy="55448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828675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23698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64465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i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      </a:t>
            </a:r>
            <a:r>
              <a:rPr lang="en-US" altLang="zh-CN" b="1" i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            </a:t>
            </a:r>
            <a:r>
              <a:rPr lang="en-US" altLang="zh-CN" sz="3600" b="1" i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 </a:t>
            </a:r>
            <a:r>
              <a:rPr lang="zh-CN" altLang="en-US" sz="3600" b="1" i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choose</a:t>
            </a:r>
            <a:r>
              <a:rPr lang="en-US" altLang="zh-CN" sz="3600" b="1" i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, select, elect, pick</a:t>
            </a:r>
            <a:r>
              <a:rPr lang="en-US" altLang="zh-CN" sz="3600" b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solidFill>
                  <a:srgbClr val="3333FF"/>
                </a:solidFill>
                <a:cs typeface="Arial" panose="020B0704020202020204" pitchFamily="34" charset="0"/>
                <a:sym typeface="Arial" panose="020B0704020202020204" pitchFamily="34" charset="0"/>
              </a:rPr>
              <a:t>   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choose: 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侧重根据个人意愿和判断从众多对象中进行选择。</a:t>
            </a:r>
            <a:endParaRPr lang="zh-CN" altLang="en-US" b="1" dirty="0"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           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表示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“</a:t>
            </a: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二选一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”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时，只能用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choose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。可以用作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vi.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select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: </a:t>
            </a:r>
            <a:r>
              <a:rPr lang="zh-CN" altLang="en-US" b="1" dirty="0" smtClean="0">
                <a:latin typeface="Times New Roman" panose="02020603050405020304" pitchFamily="18" charset="0"/>
                <a:sym typeface="Arial" panose="020B0704020202020204" pitchFamily="34" charset="0"/>
              </a:rPr>
              <a:t>书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面, 具有庄严正式的感情色彩</a:t>
            </a:r>
            <a:r>
              <a:rPr lang="en-US" altLang="zh-CN" b="1" dirty="0" smtClean="0">
                <a:latin typeface="Times New Roman" panose="02020603050405020304" pitchFamily="18" charset="0"/>
                <a:sym typeface="Arial" panose="020B0704020202020204" pitchFamily="34" charset="0"/>
              </a:rPr>
              <a:t>, </a:t>
            </a:r>
            <a:r>
              <a:rPr lang="zh-CN" altLang="en-US" b="1" dirty="0" smtClean="0">
                <a:latin typeface="Times New Roman" panose="02020603050405020304" pitchFamily="18" charset="0"/>
                <a:sym typeface="Arial" panose="020B0704020202020204" pitchFamily="34" charset="0"/>
              </a:rPr>
              <a:t>强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调</a:t>
            </a: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精选，</a:t>
            </a:r>
            <a:endParaRPr lang="zh-CN" altLang="en-US" b="1" dirty="0">
              <a:solidFill>
                <a:srgbClr val="302DD1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          </a:t>
            </a: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仔细辨别后做出选择。</a:t>
            </a:r>
            <a:endParaRPr lang="zh-CN" altLang="en-US" b="1" dirty="0"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elect: 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按照一定的规章或法律, 用投票等方</a:t>
            </a:r>
            <a:r>
              <a:rPr lang="zh-CN" altLang="en-US" b="1" dirty="0" smtClean="0">
                <a:latin typeface="Times New Roman" panose="02020603050405020304" pitchFamily="18" charset="0"/>
                <a:sym typeface="Arial" panose="020B0704020202020204" pitchFamily="34" charset="0"/>
              </a:rPr>
              <a:t>式进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行的</a:t>
            </a: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认真</a:t>
            </a:r>
            <a:endParaRPr lang="zh-CN" altLang="en-US" b="1" dirty="0">
              <a:solidFill>
                <a:srgbClr val="302DD1"/>
              </a:solidFill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         </a:t>
            </a: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慎重的选择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pick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: </a:t>
            </a:r>
            <a:r>
              <a:rPr lang="zh-CN" altLang="en-US" b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常用于非正式语境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, </a:t>
            </a:r>
            <a:endParaRPr lang="zh-CN" altLang="en-US" b="1" dirty="0"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        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多指从个人角度从一群人或物中仔细挑选, </a:t>
            </a:r>
            <a:endParaRPr lang="zh-CN" altLang="en-US" b="1" dirty="0">
              <a:latin typeface="Times New Roman" panose="02020603050405020304" pitchFamily="18" charset="0"/>
              <a:sym typeface="Arial" panose="020B070402020202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 </a:t>
            </a:r>
            <a:r>
              <a:rPr lang="en-US" altLang="zh-CN" b="1" dirty="0">
                <a:latin typeface="Times New Roman" panose="02020603050405020304" pitchFamily="18" charset="0"/>
                <a:sym typeface="Arial" panose="020B0704020202020204" pitchFamily="34" charset="0"/>
              </a:rPr>
              <a:t>         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也含</a:t>
            </a:r>
            <a:r>
              <a:rPr lang="zh-CN" altLang="en-US" b="1" dirty="0">
                <a:solidFill>
                  <a:srgbClr val="302DD1"/>
                </a:solidFill>
                <a:latin typeface="Times New Roman" panose="02020603050405020304" pitchFamily="18" charset="0"/>
                <a:sym typeface="Arial" panose="020B0704020202020204" pitchFamily="34" charset="0"/>
              </a:rPr>
              <a:t>任意挑选</a:t>
            </a:r>
            <a:r>
              <a:rPr lang="zh-CN" altLang="en-US" b="1" dirty="0">
                <a:latin typeface="Times New Roman" panose="02020603050405020304" pitchFamily="18" charset="0"/>
                <a:sym typeface="Arial" panose="020B0704020202020204" pitchFamily="34" charset="0"/>
              </a:rPr>
              <a:t>之意。</a:t>
            </a:r>
            <a:endParaRPr lang="zh-CN" altLang="en-US" b="1" dirty="0">
              <a:latin typeface="Times New Roman" panose="02020603050405020304" pitchFamily="18" charset="0"/>
              <a:sym typeface="Arial" panose="020B0704020202020204" pitchFamily="34" charset="0"/>
            </a:endParaRPr>
          </a:p>
        </p:txBody>
      </p:sp>
      <p:pic>
        <p:nvPicPr>
          <p:cNvPr id="215045" name="Picture 5" descr="辨析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56" r="13480"/>
          <a:stretch>
            <a:fillRect/>
          </a:stretch>
        </p:blipFill>
        <p:spPr bwMode="auto">
          <a:xfrm>
            <a:off x="384541" y="236882"/>
            <a:ext cx="1777943" cy="794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8185" y="239395"/>
            <a:ext cx="11144885" cy="66186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choose, select, pick</a:t>
            </a:r>
            <a:endParaRPr lang="zh-CN" altLang="en-US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(1) Word came that Mr Wang had been ________ as chairman of the committee.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(2) Can you help me ______ some apples? I want some sweet ones.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你能帮我挑几个苹果吗？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(3) She _______ the red skirt rather than the blue one.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(4) All candidates are carefully _______.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(5) In the club meetings, we first _______ poems that we love, and then read them aloud.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(6) Most of them are advanced workers, ___________________________.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他们是从工厂中挑选出来的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828915" y="923925"/>
            <a:ext cx="173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endParaRPr lang="en-US" altLang="zh-CN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624705" y="2063115"/>
            <a:ext cx="12617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</a:t>
            </a:r>
            <a:endParaRPr lang="en-US" altLang="zh-CN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276475" y="3266440"/>
            <a:ext cx="173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chose</a:t>
            </a:r>
            <a:endParaRPr lang="en-US" altLang="zh-CN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6179820" y="3867150"/>
            <a:ext cx="173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endParaRPr lang="en-US" altLang="zh-CN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6436360" y="4450715"/>
            <a:ext cx="17354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endParaRPr lang="en-US" altLang="zh-CN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433070" y="6061710"/>
            <a:ext cx="63271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 are selected from the factories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/>
      <p:bldP spid="3" grpId="1"/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0870" y="315595"/>
            <a:ext cx="1144778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3.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Indeed, the whole family could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not be happier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to be together.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的确，一家人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再没有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比团团圆圆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更高兴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的事了。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“否定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词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谓语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比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较级”相当于最高级。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(1)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’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ve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never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seen a nicer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painting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than this one.    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How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beautifully she sings! I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have never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heard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better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voice.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= She has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most beautiful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voice I have ever heard.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(3) This is </a:t>
            </a:r>
            <a:r>
              <a:rPr lang="en-US" altLang="zh-CN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most interesting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novel I have ever read.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=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have never read a more interesting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novel.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(4) In my opinion, ____________________________________ 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健康是最重要的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in life.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077335" y="5052695"/>
            <a:ext cx="73939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nothing is more important than health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55930" y="221615"/>
            <a:ext cx="11551920" cy="6178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4. Luo Yan and his wife and son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have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settled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big city, far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away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from their hometown.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罗言一家三口已经在大城市</a:t>
            </a:r>
            <a:r>
              <a:rPr lang="zh-CN" altLang="en-US" sz="3200" b="1" dirty="0">
                <a:solidFill>
                  <a:srgbClr val="302DD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定居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，离家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乡很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远。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settle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vi &amp; vt. </a:t>
            </a:r>
            <a:endParaRPr lang="en-US" altLang="zh-CN" sz="3200" b="1" i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3200" b="1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</a:t>
            </a:r>
            <a:r>
              <a:rPr lang="en-US" altLang="zh-CN" sz="3200" b="1" i="1" dirty="0" smtClean="0">
                <a:solidFill>
                  <a:srgbClr val="302D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3200" b="1" i="1" dirty="0">
                <a:solidFill>
                  <a:srgbClr val="302D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to live in a new place, and stay there for a long </a:t>
            </a:r>
            <a:r>
              <a:rPr lang="en-US" altLang="zh-CN" sz="3200" b="1" i="1" dirty="0" smtClean="0">
                <a:solidFill>
                  <a:srgbClr val="302DD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定居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settle in (a place)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安顿下来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settle down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定居下来；过安定生活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                                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settle down to sth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着手认真做某事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They finally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settled down to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a discussion of the main issues.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他们终于开始讨论一些主要问题了。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2"/>
          <p:cNvSpPr txBox="1">
            <a:spLocks noChangeArrowheads="1"/>
          </p:cNvSpPr>
          <p:nvPr/>
        </p:nvSpPr>
        <p:spPr bwMode="auto">
          <a:xfrm>
            <a:off x="205740" y="101600"/>
            <a:ext cx="11802110" cy="663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end an argument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结束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争论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);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解决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分歧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settle an argument/differences/the question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解决争论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分歧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问题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3) </a:t>
            </a:r>
            <a:r>
              <a:rPr lang="en-US" altLang="zh-CN" sz="3200" b="1" i="1" dirty="0">
                <a:latin typeface="Times New Roman Bold Italic" panose="02020603050405020304" charset="0"/>
                <a:cs typeface="Times New Roman Bold Italic" panose="02020603050405020304" charset="0"/>
                <a:sym typeface="+mn-ea"/>
              </a:rPr>
              <a:t>decide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决定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安排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It’s been settled that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 leave on the nine o’clock plane.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已经定好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一切都定下来了，我们即将坐酒店的航班离开。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独立主格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All settled, we’re leaving on the nine o’clock plane.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lang="en-US" altLang="zh-CN" sz="3200" b="1" i="1" dirty="0">
                <a:solidFill>
                  <a:srgbClr val="00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into comfortable position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进入舒适的位置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(vi.&amp;vt.)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Ellie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settled back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 her seat.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埃利舒适地靠着椅背坐下。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settled himself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comfortably in his usual chair.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他在自己惯常坐的椅子上舒舒服服地坐下来。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6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66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6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6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6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6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6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6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96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966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66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66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966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966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966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966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Text Box 2"/>
          <p:cNvSpPr txBox="1">
            <a:spLocks noChangeArrowheads="1"/>
          </p:cNvSpPr>
          <p:nvPr/>
        </p:nvSpPr>
        <p:spPr bwMode="auto">
          <a:xfrm>
            <a:off x="892810" y="461645"/>
            <a:ext cx="10698480" cy="541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indent="0" fontAlgn="auto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settler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移民，殖民者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settlement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解决，定居点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达成协议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_________________________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rapid development in the coastal area has created new __________.   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沿海地区的迅速发展已经催生了新的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定居点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澳大利亚早期的移民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the early ________ in Australia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6225" y="2845435"/>
            <a:ext cx="575564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reach / arrive at a settlement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92810" y="3996690"/>
            <a:ext cx="2748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settlements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442075" y="4580255"/>
            <a:ext cx="16814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settlers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66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66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ext Box 2"/>
          <p:cNvSpPr txBox="1">
            <a:spLocks noChangeArrowheads="1"/>
          </p:cNvSpPr>
          <p:nvPr/>
        </p:nvSpPr>
        <p:spPr bwMode="auto">
          <a:xfrm>
            <a:off x="804545" y="381000"/>
            <a:ext cx="10528935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46405" indent="-446405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1090930" indent="-28575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marL="1498600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marL="190690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marL="2314575" indent="-228600"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marL="27717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marL="32289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marL="36861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marL="414337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>
              <a:lnSpc>
                <a:spcPct val="105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完成句子。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05000"/>
              </a:lnSpc>
              <a:buAutoNum type="arabicParenR"/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_________ (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定居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in these places because they are easy to get to and naturally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suited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communications and trade.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5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In recent years some Inuit people in Nunavut have reported increases in bear sightings around human ___________ (settle).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5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reaching a ___________ (settle) with the school, she soon ___________ (settle) in her new school life.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635" name="Rectangle 3"/>
          <p:cNvSpPr>
            <a:spLocks noChangeArrowheads="1"/>
          </p:cNvSpPr>
          <p:nvPr/>
        </p:nvSpPr>
        <p:spPr bwMode="auto">
          <a:xfrm>
            <a:off x="3261361" y="914401"/>
            <a:ext cx="109677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636" name="Rectangle 4"/>
          <p:cNvSpPr>
            <a:spLocks noChangeArrowheads="1"/>
          </p:cNvSpPr>
          <p:nvPr/>
        </p:nvSpPr>
        <p:spPr bwMode="auto">
          <a:xfrm>
            <a:off x="1471187" y="3962401"/>
            <a:ext cx="21451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settlements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639" name="Rectangle 7"/>
          <p:cNvSpPr>
            <a:spLocks noChangeArrowheads="1"/>
          </p:cNvSpPr>
          <p:nvPr/>
        </p:nvSpPr>
        <p:spPr bwMode="auto">
          <a:xfrm>
            <a:off x="4505961" y="4983163"/>
            <a:ext cx="198483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settlement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640" name="Rectangle 8"/>
          <p:cNvSpPr>
            <a:spLocks noChangeArrowheads="1"/>
          </p:cNvSpPr>
          <p:nvPr/>
        </p:nvSpPr>
        <p:spPr bwMode="auto">
          <a:xfrm>
            <a:off x="3406963" y="5511226"/>
            <a:ext cx="14269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settled</a:t>
            </a:r>
            <a:r>
              <a:rPr lang="en-US" altLang="zh-C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97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197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197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35" grpId="0" bldLvl="0" animBg="1"/>
      <p:bldP spid="197636" grpId="0" bldLvl="0" animBg="1"/>
      <p:bldP spid="197639" grpId="0" bldLvl="0" animBg="1"/>
      <p:bldP spid="19764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3385" y="418465"/>
            <a:ext cx="1154303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5. However, the high-speed train has made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much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more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convenient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them to go back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home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如今有了高铁，回趟家就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方便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多了。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为形式宾语，指代动词不定式复合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结构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them to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go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back home, much more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convenient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作宾语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的宾语补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足语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(1)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think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important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us to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exercise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every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day.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(2) I _____________________________________ to take part in the speech contest held last week.  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非常荣幸代表我班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3030" y="3986530"/>
            <a:ext cx="78784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feel it a great honour to represent my class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82955" y="601345"/>
            <a:ext cx="1062863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【语境应用】完成句子。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1) They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felt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_________________ the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task in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such a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short time.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他们觉得很难在这么短时间内完成这项任务。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2) All these noises made ____________________ 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_________ my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studies.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所有这些噪音都使我不可能继续学习。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19060" y="1161535"/>
            <a:ext cx="3554178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it difficult to finish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1310230" y="2916905"/>
            <a:ext cx="7992702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                                  it impossible for me to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continue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zh-CN" alt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0453" y="444318"/>
            <a:ext cx="8730341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convenient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adj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to you because it saves you time, or does not spoil your plans or cause you </a:t>
            </a:r>
            <a:r>
              <a:rPr lang="en-US" altLang="zh-CN" sz="3200" b="1" i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endParaRPr lang="en-US" altLang="zh-CN" sz="3200" b="1" i="1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便的，省事的，便利的，实用的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948690" y="3073400"/>
            <a:ext cx="10296525" cy="2027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118618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59385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200215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40982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867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3324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781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42386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convenient</a:t>
            </a:r>
            <a:r>
              <a:rPr lang="zh-CN" altLang="en-US" sz="3200" b="1" dirty="0">
                <a:solidFill>
                  <a:schemeClr val="tx1"/>
                </a:solidFill>
              </a:rPr>
              <a:t>作表语时</a:t>
            </a:r>
            <a:r>
              <a:rPr lang="en-US" altLang="zh-CN" sz="3200" b="1" dirty="0" smtClean="0">
                <a:solidFill>
                  <a:schemeClr val="tx1"/>
                </a:solidFill>
              </a:rPr>
              <a:t>, </a:t>
            </a:r>
            <a:r>
              <a:rPr lang="zh-CN" altLang="en-US" sz="3200" b="1" dirty="0" smtClean="0">
                <a:solidFill>
                  <a:schemeClr val="tx1"/>
                </a:solidFill>
              </a:rPr>
              <a:t>不</a:t>
            </a:r>
            <a:r>
              <a:rPr lang="zh-CN" altLang="en-US" sz="3200" b="1" dirty="0">
                <a:solidFill>
                  <a:schemeClr val="tx1"/>
                </a:solidFill>
              </a:rPr>
              <a:t>可用人作主语</a:t>
            </a:r>
            <a:r>
              <a:rPr lang="en-US" altLang="zh-CN" sz="3200" b="1" dirty="0">
                <a:solidFill>
                  <a:schemeClr val="tx1"/>
                </a:solidFill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</a:rPr>
              <a:t>而是要用事物作主语</a:t>
            </a:r>
            <a:r>
              <a:rPr lang="en-US" altLang="zh-CN" sz="3200" b="1" dirty="0">
                <a:solidFill>
                  <a:schemeClr val="tx1"/>
                </a:solidFill>
              </a:rPr>
              <a:t>, </a:t>
            </a:r>
            <a:endParaRPr lang="en-US" altLang="zh-CN" sz="3200" b="1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或用</a:t>
            </a:r>
            <a:r>
              <a:rPr lang="en-US" altLang="zh-CN" sz="3200" b="1" dirty="0">
                <a:solidFill>
                  <a:schemeClr val="tx1"/>
                </a:solidFill>
              </a:rPr>
              <a:t>it</a:t>
            </a:r>
            <a:r>
              <a:rPr lang="zh-CN" altLang="en-US" sz="3200" b="1" dirty="0">
                <a:solidFill>
                  <a:schemeClr val="tx1"/>
                </a:solidFill>
              </a:rPr>
              <a:t>来充当形式主语。</a:t>
            </a:r>
            <a:endParaRPr lang="zh-CN" altLang="en-US" sz="32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1518615" y="1028539"/>
            <a:ext cx="8436429" cy="360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118618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59385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200215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40982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867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3324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781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42386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归纳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It is / was convenient for sb to do </a:t>
            </a: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 err="1">
                <a:solidFill>
                  <a:srgbClr val="FF0000"/>
                </a:solidFill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</a:rPr>
              <a:t> be convenient for sb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latin typeface="+mj-ea"/>
                <a:ea typeface="+mj-ea"/>
              </a:rPr>
              <a:t>对某人来说做</a:t>
            </a:r>
            <a:r>
              <a:rPr lang="en-US" altLang="zh-CN" sz="3200" b="1" dirty="0">
                <a:latin typeface="+mj-ea"/>
                <a:ea typeface="+mj-ea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+mj-ea"/>
                <a:ea typeface="+mj-ea"/>
              </a:rPr>
              <a:t>是方便的</a:t>
            </a:r>
            <a:endParaRPr lang="zh-CN" altLang="en-US" sz="3200" b="1" dirty="0">
              <a:latin typeface="+mj-ea"/>
              <a:ea typeface="+mj-ea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cs typeface="Times New Roman" panose="02020603050405020304" pitchFamily="18" charset="0"/>
                <a:sym typeface="+mn-ea"/>
              </a:rPr>
              <a:t>如果你方便的话</a:t>
            </a:r>
            <a:r>
              <a:rPr lang="en-US" altLang="zh-CN" sz="3200" b="1" dirty="0">
                <a:cs typeface="Times New Roman" panose="02020603050405020304" pitchFamily="18" charset="0"/>
                <a:sym typeface="+mn-ea"/>
              </a:rPr>
              <a:t>, ...</a:t>
            </a:r>
            <a:endParaRPr lang="en-US" altLang="zh-CN" sz="3200" b="1" dirty="0">
              <a:latin typeface="+mj-ea"/>
              <a:ea typeface="+mj-ea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If it is convenient for you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, …</a:t>
            </a:r>
            <a:endParaRPr lang="en-US" altLang="zh-CN" sz="3200" b="1" dirty="0">
              <a:solidFill>
                <a:srgbClr val="FF0000"/>
              </a:solidFill>
            </a:endParaRPr>
          </a:p>
          <a:p>
            <a:pPr algn="just">
              <a:lnSpc>
                <a:spcPct val="120000"/>
              </a:lnSpc>
            </a:pPr>
            <a:endParaRPr lang="zh-CN" altLang="en-US" sz="3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638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1791970" y="1189990"/>
            <a:ext cx="9187815" cy="473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118618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59385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200215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409825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8670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33242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7814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4238625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endParaRPr lang="en-US" altLang="zh-CN" sz="3200" b="1" dirty="0">
              <a:solidFill>
                <a:srgbClr val="0000FF"/>
              </a:solidFill>
            </a:endParaRPr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convenience  </a:t>
            </a:r>
            <a:r>
              <a:rPr lang="en-US" altLang="zh-CN" sz="3200" b="1" i="1" dirty="0">
                <a:solidFill>
                  <a:srgbClr val="FF0000"/>
                </a:solidFill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</a:rPr>
              <a:t>.                </a:t>
            </a:r>
            <a:r>
              <a:rPr lang="zh-CN" altLang="en-US" sz="3200" b="1" dirty="0"/>
              <a:t>便利</a:t>
            </a:r>
            <a:r>
              <a:rPr lang="en-US" altLang="zh-CN" sz="3200" b="1" dirty="0"/>
              <a:t>, </a:t>
            </a:r>
            <a:r>
              <a:rPr lang="zh-CN" altLang="en-US" sz="3200" b="1" dirty="0"/>
              <a:t>方便</a:t>
            </a:r>
            <a:endParaRPr lang="zh-CN" altLang="en-US" sz="3200" b="1" dirty="0"/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</a:rPr>
              <a:t>at sb’s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convenience          </a:t>
            </a:r>
            <a:r>
              <a:rPr lang="zh-CN" altLang="en-US" sz="3200" b="1" dirty="0" smtClean="0"/>
              <a:t>在</a:t>
            </a:r>
            <a:r>
              <a:rPr lang="zh-CN" altLang="en-US" sz="3200" b="1" dirty="0"/>
              <a:t>方便时</a:t>
            </a:r>
            <a:r>
              <a:rPr lang="en-US" altLang="zh-CN" sz="3200" b="1" dirty="0"/>
              <a:t>; </a:t>
            </a:r>
            <a:r>
              <a:rPr lang="zh-CN" altLang="en-US" sz="3200" b="1" dirty="0"/>
              <a:t>在适宜的地点</a:t>
            </a:r>
            <a:endParaRPr lang="zh-CN" altLang="en-US" sz="3200" b="1" dirty="0"/>
          </a:p>
          <a:p>
            <a:pPr algn="just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</a:rPr>
              <a:t>  </a:t>
            </a:r>
            <a:r>
              <a:rPr lang="en-US" altLang="zh-CN" sz="3200" b="1" dirty="0">
                <a:solidFill>
                  <a:srgbClr val="FF0000"/>
                </a:solidFill>
              </a:rPr>
              <a:t>for convenience                </a:t>
            </a:r>
            <a:r>
              <a:rPr lang="zh-CN" altLang="en-US" sz="3200" b="1" dirty="0"/>
              <a:t>为了方便起见</a:t>
            </a:r>
            <a:endParaRPr lang="en-US" altLang="zh-CN" sz="3200" b="1" dirty="0"/>
          </a:p>
          <a:p>
            <a:pPr algn="just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  convenience </a:t>
            </a:r>
            <a:r>
              <a:rPr lang="en-US" altLang="zh-CN" sz="3200" b="1" dirty="0" smtClean="0">
                <a:solidFill>
                  <a:srgbClr val="FF0000"/>
                </a:solidFill>
              </a:rPr>
              <a:t>food/store    </a:t>
            </a:r>
            <a:r>
              <a:rPr lang="zh-CN" altLang="en-US" sz="3200" b="1" dirty="0" smtClean="0"/>
              <a:t>方</a:t>
            </a:r>
            <a:r>
              <a:rPr lang="zh-CN" altLang="en-US" sz="3200" b="1" dirty="0"/>
              <a:t>便食品</a:t>
            </a:r>
            <a:r>
              <a:rPr lang="en-US" altLang="zh-CN" sz="3200" b="1" dirty="0"/>
              <a:t>/</a:t>
            </a:r>
            <a:r>
              <a:rPr lang="zh-CN" altLang="en-US" sz="3200" b="1" dirty="0"/>
              <a:t>便利店</a:t>
            </a:r>
            <a:endParaRPr lang="en-US" altLang="zh-CN" sz="3200" b="1" dirty="0"/>
          </a:p>
          <a:p>
            <a:pPr algn="just">
              <a:lnSpc>
                <a:spcPct val="120000"/>
              </a:lnSpc>
            </a:pPr>
            <a:r>
              <a:rPr lang="en-US" altLang="zh-CN" sz="3200" b="1" dirty="0"/>
              <a:t>  </a:t>
            </a:r>
            <a:r>
              <a:rPr lang="en-US" altLang="zh-CN" sz="3200" b="1" dirty="0">
                <a:solidFill>
                  <a:srgbClr val="FF0000"/>
                </a:solidFill>
              </a:rPr>
              <a:t>conveniently  </a:t>
            </a:r>
            <a:r>
              <a:rPr lang="en-US" altLang="zh-CN" sz="3200" b="1" i="1" dirty="0">
                <a:solidFill>
                  <a:srgbClr val="FF0000"/>
                </a:solidFill>
              </a:rPr>
              <a:t>adv</a:t>
            </a:r>
            <a:r>
              <a:rPr lang="en-US" altLang="zh-CN" sz="3200" b="1" dirty="0">
                <a:solidFill>
                  <a:srgbClr val="FF0000"/>
                </a:solidFill>
              </a:rPr>
              <a:t>.            </a:t>
            </a:r>
            <a:r>
              <a:rPr lang="zh-CN" altLang="en-US" sz="3200" b="1" dirty="0"/>
              <a:t>方便地</a:t>
            </a:r>
            <a:endParaRPr lang="zh-CN" altLang="en-US" sz="3200" b="1" dirty="0"/>
          </a:p>
          <a:p>
            <a:pPr algn="just">
              <a:lnSpc>
                <a:spcPct val="120000"/>
              </a:lnSpc>
            </a:pPr>
            <a:r>
              <a:rPr lang="en-US" altLang="zh-CN" sz="3200" b="1" dirty="0"/>
              <a:t>  </a:t>
            </a:r>
            <a:r>
              <a:rPr lang="en-US" altLang="zh-CN" sz="3200" b="1" u="sng" dirty="0">
                <a:solidFill>
                  <a:srgbClr val="FF0000"/>
                </a:solidFill>
              </a:rPr>
              <a:t>in</a:t>
            </a:r>
            <a:r>
              <a:rPr lang="en-US" altLang="zh-CN" sz="3200" b="1" dirty="0">
                <a:solidFill>
                  <a:srgbClr val="FF0000"/>
                </a:solidFill>
              </a:rPr>
              <a:t>convenient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adj.		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不方便的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603050405020304" charset="0"/>
              <a:cs typeface="Times New Roman Bold Italic" panose="020206030504050203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758190" y="296545"/>
            <a:ext cx="10506075" cy="59969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0850" indent="-4508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630555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</a:rPr>
              <a:t>完成句子。</a:t>
            </a:r>
            <a:endParaRPr lang="zh-CN" altLang="en-US" sz="3200" b="1" dirty="0">
              <a:solidFill>
                <a:srgbClr val="0000F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/>
              <a:t>1) </a:t>
            </a:r>
            <a:r>
              <a:rPr lang="en-US" altLang="zh-CN" sz="3200" b="1" dirty="0"/>
              <a:t>Let’s debate about this matter 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 __________________ (</a:t>
            </a:r>
            <a:r>
              <a:rPr lang="zh-CN" altLang="en-US" sz="3200" b="1" dirty="0"/>
              <a:t>在你们方便的时候</a:t>
            </a:r>
            <a:r>
              <a:rPr lang="en-US" altLang="zh-CN" sz="3200" b="1" dirty="0"/>
              <a:t>).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2) To enjoy the _____________ of digital payment, many senior citizens started to use smart phones. (convenient)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 smtClean="0"/>
              <a:t>2) </a:t>
            </a:r>
            <a:r>
              <a:rPr lang="en-US" altLang="zh-CN" sz="3200" b="1" dirty="0"/>
              <a:t>The family thought __________________________ in the kitchen.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 </a:t>
            </a:r>
            <a:r>
              <a:rPr lang="zh-CN" altLang="en-US" sz="3200" b="1" dirty="0"/>
              <a:t>这家人认为在厨房吃饭更方便。</a:t>
            </a:r>
            <a:endParaRPr lang="zh-CN" altLang="en-US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3) With people around, ______________________________</a:t>
            </a:r>
            <a:endParaRPr lang="en-US" altLang="zh-CN" sz="3200" b="1" dirty="0"/>
          </a:p>
          <a:p>
            <a:pPr>
              <a:lnSpc>
                <a:spcPct val="120000"/>
              </a:lnSpc>
            </a:pPr>
            <a:r>
              <a:rPr lang="en-US" altLang="zh-CN" sz="3200" b="1" dirty="0"/>
              <a:t>    (</a:t>
            </a:r>
            <a:r>
              <a:rPr lang="zh-CN" altLang="en-US" sz="3200" b="1" dirty="0"/>
              <a:t>讨论</a:t>
            </a:r>
            <a:r>
              <a:rPr lang="en-US" altLang="zh-CN" sz="3200" b="1" dirty="0"/>
              <a:t>......</a:t>
            </a:r>
            <a:r>
              <a:rPr lang="zh-CN" altLang="en-US" sz="3200" b="1" dirty="0"/>
              <a:t>不方便</a:t>
            </a:r>
            <a:r>
              <a:rPr lang="en-US" altLang="zh-CN" sz="3200" b="1" dirty="0"/>
              <a:t>) the matter.</a:t>
            </a:r>
            <a:endParaRPr lang="en-US" altLang="zh-CN" sz="3200" b="1" dirty="0"/>
          </a:p>
        </p:txBody>
      </p:sp>
      <p:sp>
        <p:nvSpPr>
          <p:cNvPr id="4" name="矩形 3"/>
          <p:cNvSpPr/>
          <p:nvPr/>
        </p:nvSpPr>
        <p:spPr>
          <a:xfrm>
            <a:off x="1327061" y="1473939"/>
            <a:ext cx="4294187" cy="58477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</a:rPr>
              <a:t>at your convenience</a:t>
            </a:r>
            <a:endParaRPr lang="en-US" altLang="zh-CN" sz="3200" b="1" dirty="0"/>
          </a:p>
        </p:txBody>
      </p:sp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4766221" y="3282343"/>
            <a:ext cx="52715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it was more convenient to eat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ctangle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055146" y="5019703"/>
            <a:ext cx="5590540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it isn’t convenient to talk about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3556546" y="2134974"/>
            <a:ext cx="4294187" cy="583565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FF0000"/>
                </a:solidFill>
              </a:rPr>
              <a:t>convenience</a:t>
            </a:r>
            <a:endParaRPr lang="en-US" altLang="zh-CN" sz="3200" b="1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63847" grpId="0" bldLvl="0" animBg="1"/>
      <p:bldP spid="2" grpId="0" bldLvl="0" animBg="1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90500" y="489585"/>
            <a:ext cx="1200150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6. During the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five-hour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trip, they chatted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excitedly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with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each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other,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their minds full of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thoughts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about their sweet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home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在五个小时的旅程中，他们兴奋地聊着天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，心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中想的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都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温暖的家。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 He entered the house,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nose red with cold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 He lay on the grass,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 head resting upon his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arms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 Opposite the Old Town of Lijiang is 5,596-meter Yulong 	Snow Mountain, its top ______ (cover) with snow.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 With so many problems _________ (settle) every day, I feel 	greatly stressed.</a:t>
            </a:r>
            <a:endParaRPr lang="en-US" altLang="zh-CN" sz="32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48580" y="4657725"/>
            <a:ext cx="16764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covered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768340" y="5241290"/>
            <a:ext cx="18395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 settle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13715" y="355600"/>
            <a:ext cx="1082865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7.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their arrival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they find Luo's parents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eagerly waiting 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them.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刚到家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，他们就发现父母早就翘首以待了。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upon/ on+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ing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就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……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(1)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arriving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home I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discovered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burglary.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_______________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 information, I was told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must wait.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我一问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......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(3) _______________(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他们一到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), the guests were greeted politely by the manager, and were accommodated in the best hotel.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63847" name="Rectangle 7"/>
          <p:cNvSpPr>
            <a:spLocks noChangeArrowheads="1"/>
          </p:cNvSpPr>
          <p:nvPr/>
        </p:nvSpPr>
        <p:spPr bwMode="auto">
          <a:xfrm>
            <a:off x="1223556" y="4528848"/>
            <a:ext cx="295211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On their arrival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9675" y="335343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(my) asking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3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163847" grpId="0" bldLvl="0" animBg="1"/>
      <p:bldP spid="163847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53085" y="294005"/>
            <a:ext cx="1116330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8. </a:t>
            </a:r>
            <a:r>
              <a:rPr lang="en-US" altLang="zh-CN" sz="3200" b="1" u="sng" dirty="0">
                <a:solidFill>
                  <a:srgbClr val="302DD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neat designs of the paper-cuttings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windows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u="sng" dirty="0">
                <a:solidFill>
                  <a:srgbClr val="302DD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to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Spring Festival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couplets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the door,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and </a:t>
            </a:r>
            <a:r>
              <a:rPr lang="en-US" altLang="zh-CN" sz="3200" b="1" u="sng" dirty="0">
                <a:solidFill>
                  <a:srgbClr val="302DD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to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New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Year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paintings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on the wall, everything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represents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joy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luck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and happiness.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从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窗上贴得整整齐齐的剪纸，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到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门上的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春联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再到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墙上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的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年画，无不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象征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着欢乐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、吉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祥和幸福。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358775"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represent sth =symbolize sth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358775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代表；象征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......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2730" y="93980"/>
            <a:ext cx="11939905" cy="5996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 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(1) She will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our class to speak at the forum. </a:t>
            </a: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代表</a:t>
            </a:r>
            <a:r>
              <a:rPr lang="en-US" altLang="zh-CN" sz="32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representative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n.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organization was formed to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interests of female artists.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(2) The mass production of the new drug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represents a significant advance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(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603050405020304" charset="0"/>
                <a:ea typeface="宋体" pitchFamily="2" charset="-122"/>
                <a:cs typeface="Times New Roman Bold Italic" panose="02020603050405020304" charset="0"/>
              </a:rPr>
              <a:t>linking v.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相当于，意味着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be equal to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(3) The carvings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 hunting scene.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news report always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represents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rock singers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as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drug addicts.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描绘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describe sth in a particular way</a:t>
            </a:r>
            <a:endParaRPr lang="en-US" altLang="zh-CN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2730" y="93980"/>
            <a:ext cx="11655425" cy="6784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(4) They </a:t>
            </a:r>
            <a:r>
              <a:rPr lang="en-US" sz="32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represented their concerns to</a:t>
            </a:r>
            <a:r>
              <a:rPr 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the authorities.</a:t>
            </a:r>
            <a:endParaRPr 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他们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向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当局</a:t>
            </a:r>
            <a:r>
              <a:rPr 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陈述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了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他们关心的问题。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indent="0" fontAlgn="auto">
              <a:lnSpc>
                <a:spcPct val="120000"/>
              </a:lnSpc>
            </a:pP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represent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… as ...          </a:t>
            </a:r>
            <a:r>
              <a:rPr lang="zh-CN" altLang="en-US" sz="3200" b="1" dirty="0">
                <a:latin typeface="+mj-ea"/>
                <a:ea typeface="+mj-ea"/>
                <a:sym typeface="+mn-ea"/>
              </a:rPr>
              <a:t>把</a:t>
            </a:r>
            <a:r>
              <a:rPr lang="en-US" altLang="zh-CN" sz="3200" b="1" dirty="0">
                <a:latin typeface="+mj-ea"/>
                <a:ea typeface="+mj-ea"/>
                <a:sym typeface="+mn-ea"/>
              </a:rPr>
              <a:t>……</a:t>
            </a:r>
            <a:r>
              <a:rPr lang="zh-CN" altLang="en-US" sz="3200" b="1" dirty="0">
                <a:latin typeface="+mj-ea"/>
                <a:ea typeface="+mj-ea"/>
                <a:sym typeface="+mn-ea"/>
              </a:rPr>
              <a:t>描绘成</a:t>
            </a:r>
            <a:endParaRPr lang="en-US" altLang="zh-CN" sz="3200" b="1" dirty="0">
              <a:latin typeface="+mj-ea"/>
              <a:ea typeface="+mj-ea"/>
            </a:endParaRP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represent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. 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代表某人做某事</a:t>
            </a:r>
            <a:endParaRPr lang="en-US" altLang="zh-CN" sz="3200" b="1" dirty="0">
              <a:latin typeface="Times New Roman" panose="02020603050405020304" pitchFamily="18" charset="0"/>
            </a:endParaRPr>
          </a:p>
          <a:p>
            <a:pPr indent="0" eaLnBrk="1" fontAlgn="auto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represent 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. to sb.      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向某人说明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传达某事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a representative of     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......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的一个代表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(n.)</a:t>
            </a:r>
            <a:endParaRPr lang="zh-CN" altLang="en-US" sz="3200" b="1" dirty="0">
              <a:latin typeface="Times New Roman" panose="02020603050405020304" pitchFamily="18" charset="0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sym typeface="+mn-ea"/>
              </a:rPr>
              <a:t>be representative of 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 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是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......</a:t>
            </a:r>
            <a:r>
              <a:rPr lang="zh-CN" altLang="en-US" sz="3200" b="1" dirty="0">
                <a:latin typeface="Times New Roman" panose="02020603050405020304" pitchFamily="18" charset="0"/>
                <a:sym typeface="+mn-ea"/>
              </a:rPr>
              <a:t>的典型代表</a:t>
            </a:r>
            <a:r>
              <a:rPr lang="en-US" altLang="zh-CN" sz="3200" b="1" dirty="0">
                <a:latin typeface="Times New Roman" panose="02020603050405020304" pitchFamily="18" charset="0"/>
                <a:sym typeface="+mn-ea"/>
              </a:rPr>
              <a:t> (adj.)</a:t>
            </a:r>
            <a:endParaRPr lang="en-US" altLang="zh-CN" sz="3200" b="1" dirty="0">
              <a:latin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Is a questionnaire answered by 500 people truly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representative of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the population as a whole?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 indent="0" fontAlgn="auto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由 500 人参加的问卷调查能真正代表所有民众吗？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左大括号 1"/>
          <p:cNvSpPr/>
          <p:nvPr/>
        </p:nvSpPr>
        <p:spPr bwMode="auto">
          <a:xfrm>
            <a:off x="90010" y="2317632"/>
            <a:ext cx="216024" cy="1224136"/>
          </a:xfrm>
          <a:prstGeom prst="leftBrac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B0F0"/>
              </a:solidFill>
              <a:latin typeface="Arial" panose="020B07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8" name="Rectangle 4"/>
          <p:cNvSpPr>
            <a:spLocks noChangeArrowheads="1"/>
          </p:cNvSpPr>
          <p:nvPr/>
        </p:nvSpPr>
        <p:spPr bwMode="auto">
          <a:xfrm>
            <a:off x="984885" y="617220"/>
            <a:ext cx="10860405" cy="54381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</a:bodyPr>
          <a:lstStyle>
            <a:lvl1pPr marL="443230" indent="-44323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223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Mr. Smith was chosen to ________ 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代表这家公司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at the meeting.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I want to ________ 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 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________ 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向你陈述原因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for my being late.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Can you tell me________ 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________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_________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这个符号代表什么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)?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Green _________ ____ ___ _______. (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代表希望和春天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A ______________ is a person who has been chosen to act 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or make decisions on behalf of another person or a group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of people.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829" name="Rectangle 5"/>
          <p:cNvSpPr>
            <a:spLocks noChangeArrowheads="1"/>
          </p:cNvSpPr>
          <p:nvPr/>
        </p:nvSpPr>
        <p:spPr bwMode="auto">
          <a:xfrm>
            <a:off x="5793736" y="314401"/>
            <a:ext cx="3313112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     this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830" name="Rectangle 6"/>
          <p:cNvSpPr>
            <a:spLocks noChangeArrowheads="1"/>
          </p:cNvSpPr>
          <p:nvPr/>
        </p:nvSpPr>
        <p:spPr bwMode="auto">
          <a:xfrm>
            <a:off x="3079159" y="1497141"/>
            <a:ext cx="5688013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     the        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831" name="Rectangle 7"/>
          <p:cNvSpPr>
            <a:spLocks noChangeArrowheads="1"/>
          </p:cNvSpPr>
          <p:nvPr/>
        </p:nvSpPr>
        <p:spPr bwMode="auto">
          <a:xfrm>
            <a:off x="4432149" y="2703000"/>
            <a:ext cx="4995821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         this           mark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832" name="Rectangle 8"/>
          <p:cNvSpPr>
            <a:spLocks noChangeArrowheads="1"/>
          </p:cNvSpPr>
          <p:nvPr/>
        </p:nvSpPr>
        <p:spPr bwMode="auto">
          <a:xfrm>
            <a:off x="9307830" y="302895"/>
            <a:ext cx="225806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833" name="Rectangle 9"/>
          <p:cNvSpPr>
            <a:spLocks noChangeArrowheads="1"/>
          </p:cNvSpPr>
          <p:nvPr/>
        </p:nvSpPr>
        <p:spPr bwMode="auto">
          <a:xfrm>
            <a:off x="8770336" y="1538054"/>
            <a:ext cx="2951162" cy="68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          you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834" name="Rectangle 10"/>
          <p:cNvSpPr>
            <a:spLocks noChangeArrowheads="1"/>
          </p:cNvSpPr>
          <p:nvPr/>
        </p:nvSpPr>
        <p:spPr bwMode="auto">
          <a:xfrm>
            <a:off x="1282950" y="3304984"/>
            <a:ext cx="2176463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2515235" y="3894455"/>
            <a:ext cx="548830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represents hope and spring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891665" y="4451985"/>
            <a:ext cx="278447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representative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05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5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05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05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05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829" grpId="0" bldLvl="0" animBg="1"/>
      <p:bldP spid="205830" grpId="0" bldLvl="0" animBg="1"/>
      <p:bldP spid="205831" grpId="0" bldLvl="0" animBg="1"/>
      <p:bldP spid="205832" grpId="0" bldLvl="0" animBg="1"/>
      <p:bldP spid="205833" grpId="0" bldLvl="0" animBg="1"/>
      <p:bldP spid="205834" grpId="0" bldLvl="0" animBg="1"/>
      <p:bldP spid="2" grpId="0" bldLvl="0" animBg="1"/>
      <p:bldP spid="3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8" name="Rectangle 4"/>
          <p:cNvSpPr>
            <a:spLocks noChangeArrowheads="1"/>
          </p:cNvSpPr>
          <p:nvPr/>
        </p:nvSpPr>
        <p:spPr bwMode="auto">
          <a:xfrm>
            <a:off x="332105" y="1632585"/>
            <a:ext cx="11668760" cy="18561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noAutofit/>
          </a:bodyPr>
          <a:lstStyle>
            <a:lvl1pPr marL="443230" indent="-44323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1pPr>
            <a:lvl2pPr marL="622300"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2pPr>
            <a:lvl3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3pPr>
            <a:lvl4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4pPr>
            <a:lvl5pPr eaLnBrk="0" hangingPunct="0"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704020202020204" pitchFamily="34" charset="0"/>
              <a:defRPr>
                <a:solidFill>
                  <a:schemeClr val="tx1"/>
                </a:solidFill>
                <a:latin typeface="Arial" panose="020B0704020202020204" pitchFamily="34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代表残疾人的利益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The mass production of the new drug (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意味着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一个巨大的进步</a:t>
            </a: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___________________________.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The news report __________ the younger singer ____ a talented artist. ......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把这个年轻的歌手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描述成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一个有天赋的艺术家。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9) The novel is considered  ____________________ his works.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这部小说被看作是他的</a:t>
            </a:r>
            <a:r>
              <a:rPr lang="zh-CN" altLang="en-US" sz="3200" b="1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代表作</a:t>
            </a: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3677920" y="2198370"/>
            <a:ext cx="6965315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represented                                   as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977130" y="3388360"/>
            <a:ext cx="4983480" cy="6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pPr eaLnBrk="0" hangingPunct="0">
              <a:lnSpc>
                <a:spcPct val="120000"/>
              </a:lnSpc>
              <a:buFont typeface="Arial" panose="020B0704020202020204" pitchFamily="34" charset="0"/>
              <a:buNone/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be representative of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0555" y="1665605"/>
            <a:ext cx="61436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represents a significant advance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149725" y="474345"/>
            <a:ext cx="72104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represent the interests of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the disabled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4" grpId="0"/>
      <p:bldP spid="4" grpId="1"/>
      <p:bldP spid="2" grpId="0" bldLvl="0" animBg="1"/>
      <p:bldP spid="2" grpId="1" animBg="1"/>
      <p:bldP spid="3" grpId="0" bldLvl="0" animBg="1"/>
      <p:bldP spid="3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50900" y="556260"/>
            <a:ext cx="1052068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9.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May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you get more than you wish for every year.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愿你年年得到的比你想要的更多。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“may”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表示祝愿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，用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倒装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句结构。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May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you be happy!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祝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你快乐！　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(2)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May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you both be very happy!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  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祝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你们俩幸福! 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16330" y="4025265"/>
            <a:ext cx="9015095" cy="148780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(3) 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愿我们的友谊长存。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(4)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愿我们永不相忘。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May we never forget each other.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1795145" y="4575810"/>
            <a:ext cx="5801360" cy="6819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ay our friendship last forever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9325" y="765175"/>
            <a:ext cx="10456545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10. They gather around the television to watch the Spring Festival Gala,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while eating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snacks, chatting with each other and making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dumplings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that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they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will eat at the very start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of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new year.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他们围坐在电视机前看春节联欢晚会，一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边吃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着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零食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，聊着天，一边包着新年伊始要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吃的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饺子。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while eating snacks...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为状语从句的省略 	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49325" y="659765"/>
            <a:ext cx="1064196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状语从句的省略的原则：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当从句的主语和主句的主语一致时，若从句的谓语动词是系动词be或包含be的某种形式，此时从句的主语和be动词通常可以一同省略。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常见于以下几种形式: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连词+形容词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Whenever (she is) free, she often goes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shopping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22960" y="333375"/>
            <a:ext cx="1119314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连词+名词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While (he was) a young boy, he was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always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ready to help others.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连词+现在分词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While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(she was) walking along the river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bank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, she was singing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4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连词+过去分词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If (it is) well read, the book will give you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much 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to think.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7240" y="3992880"/>
            <a:ext cx="9994265" cy="24536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连词+不定式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He stood up as if (he were) to say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something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连词+介词短语</a:t>
            </a:r>
            <a:endParaRPr lang="zh-CN" altLang="en-US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She looked anxious as though (she was) in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trouble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61670" y="640080"/>
            <a:ext cx="1119187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1) When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_________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(complete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),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museum will be open to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   the public next year</a:t>
            </a:r>
            <a:r>
              <a:rPr lang="zh-CN" altLang="en-US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。</a:t>
            </a:r>
            <a:endParaRPr lang="zh-CN" altLang="en-US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2)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Even if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________ (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invite) to, I won’t go to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such a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bad lecture.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3)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When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___________ (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compare) different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cultures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,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we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often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pay attention only to the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difference without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noticing many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similarities.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80126" y="634848"/>
            <a:ext cx="204533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completed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84712" y="1824858"/>
            <a:ext cx="204533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invited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77280" y="2375656"/>
            <a:ext cx="216471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comparing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724535" y="4125595"/>
            <a:ext cx="10796270" cy="186309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4) The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concert was a great success than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___________ (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expect).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5) 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Once 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_________ (</a:t>
            </a: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open), the museum will be very popular 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  <a:sym typeface="+mn-ea"/>
              </a:rPr>
              <a:t>    with the citizens.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7859816" y="4125702"/>
            <a:ext cx="2045335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expected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377174" y="5193167"/>
            <a:ext cx="1803758" cy="683264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opened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2280" y="301625"/>
            <a:ext cx="11414760" cy="2256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11. All over the country, people are </a:t>
            </a:r>
            <a:r>
              <a:rPr lang="en-US" altLang="zh-CN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celebrating their good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fortune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celebrating their family’s togetherness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, and </a:t>
            </a:r>
            <a:r>
              <a:rPr lang="en-US" altLang="zh-CN" sz="3200" b="1" u="sng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celebrating their nation’s strength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.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全国各地，人们都在庆祝他们的好运，庆祝他们的家庭团聚，并且庆祝他们的国家的实力。</a:t>
            </a:r>
            <a:endParaRPr lang="en-US" altLang="zh-CN" sz="3200" b="1" dirty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2450" y="2617470"/>
            <a:ext cx="11639550" cy="3338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fortune   </a:t>
            </a: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n.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(1) He says his success is due to a combination of talent and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fortune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运气</a:t>
            </a:r>
            <a:endParaRPr lang="en-US" altLang="zh-CN" sz="3200" b="1" dirty="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(2) He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 a fortune </a:t>
            </a:r>
            <a:r>
              <a:rPr lang="en-US" altLang="zh-C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business.</a:t>
            </a:r>
            <a:endParaRPr lang="en-US" altLang="zh-CN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赚一大笔钱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638550" y="2617470"/>
            <a:ext cx="396367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mis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fortune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n. 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不幸</a:t>
            </a:r>
            <a:endParaRPr lang="zh-CN" altLang="en-US" sz="3200" b="1" dirty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7980" y="259715"/>
            <a:ext cx="11626850" cy="12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He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was fortunate in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having a good job, which helped him </a:t>
            </a:r>
            <a:r>
              <a:rPr lang="en-US" altLang="zh-CN" sz="32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make a fortune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in real estate (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地产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).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7980" y="1569720"/>
            <a:ext cx="11445240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endParaRPr lang="en-US" altLang="zh-CN" sz="3200" b="1" dirty="0" smtClean="0">
              <a:solidFill>
                <a:srgbClr val="0000FF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make one’s fortune    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seek one’s fortune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worth a fortune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tell one’s fortune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i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adj.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_________                     __________   </a:t>
            </a:r>
            <a:endParaRPr lang="en-US" altLang="zh-CN" sz="32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5066399" y="2186442"/>
            <a:ext cx="1803758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发财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066665" y="2731135"/>
            <a:ext cx="337693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寻找发财的机会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193399" y="3322457"/>
            <a:ext cx="1803758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值钱</a:t>
            </a:r>
            <a:endParaRPr lang="en-US" altLang="zh-CN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5193399" y="3891417"/>
            <a:ext cx="1803758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算命</a:t>
            </a:r>
            <a:endParaRPr lang="zh-CN" altLang="en-US" sz="3200" b="1" dirty="0">
              <a:solidFill>
                <a:schemeClr val="tx1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1200150" y="4482465"/>
            <a:ext cx="325818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fortunate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幸运的</a:t>
            </a:r>
            <a:endParaRPr lang="zh-CN" altLang="en-US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4940935" y="4425315"/>
            <a:ext cx="444881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un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fortunate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不幸的</a:t>
            </a:r>
            <a:endParaRPr lang="en-US" altLang="zh-CN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3" grpId="0"/>
      <p:bldP spid="5" grpId="0"/>
      <p:bldP spid="7" grpId="0"/>
      <p:bldP spid="6" grpId="0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114425" y="387350"/>
            <a:ext cx="1013650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1. Do not speak of your happiness to one less _________ than you.  (fortune)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2. Bombs had hit the building a number of times but ___________ no one was hurt.  (fortune)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3. ____________, this trend among women does not only affect those aged over 65.  (fortune)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4. He would laugh the loudest over fun and be the saddest over anyone’s __________. (fortune)</a:t>
            </a:r>
            <a:endParaRPr lang="en-US" altLang="zh-CN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5. _____________________ land a job which you take an interest in.  </a:t>
            </a:r>
            <a:r>
              <a:rPr lang="zh-CN" altLang="en-US" sz="3200" b="1" dirty="0" smtClean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你真幸运，能找到一份你感兴趣的工作。</a:t>
            </a:r>
            <a:endParaRPr lang="zh-CN" altLang="en-US" sz="3200" b="1" dirty="0" smtClean="0"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9070975" y="417830"/>
            <a:ext cx="196469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fortunate</a:t>
            </a:r>
            <a:endParaRPr lang="en-US" altLang="zh-CN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1252855" y="2118360"/>
            <a:ext cx="220154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fortunately</a:t>
            </a:r>
            <a:endParaRPr lang="en-US" altLang="zh-CN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1502410" y="2722245"/>
            <a:ext cx="285940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Unfortunately</a:t>
            </a:r>
            <a:endParaRPr lang="en-US" altLang="zh-CN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5052060" y="4470400"/>
            <a:ext cx="2169160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misfortune</a:t>
            </a:r>
            <a:endParaRPr lang="en-US" altLang="zh-CN" sz="3200" b="1" dirty="0">
              <a:gradFill>
                <a:gsLst>
                  <a:gs pos="0">
                    <a:srgbClr val="FE4444"/>
                  </a:gs>
                  <a:gs pos="100000">
                    <a:srgbClr val="832B2B"/>
                  </a:gs>
                </a:gsLst>
                <a:lin scaled="0"/>
              </a:gra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1451610" y="5069205"/>
            <a:ext cx="4831715" cy="6819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It is fortunate for you to 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0175" y="0"/>
            <a:ext cx="1141984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12. “I hope we won’t have to be separated again,” he says, looking at his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ageing parents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年迈的父母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ageing population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人口老龄化</a:t>
            </a:r>
            <a:endParaRPr lang="en-US" sz="3200" b="1">
              <a:solidFill>
                <a:srgbClr val="FF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sz="32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The children rushed out, laughing and talking happily. </a:t>
            </a:r>
            <a:r>
              <a:rPr lang="en-US" sz="3200" b="1">
                <a:solidFill>
                  <a:srgbClr val="0000FF"/>
                </a:solidFill>
                <a:latin typeface="Arial Bold" panose="020B0704020202020204" charset="0"/>
                <a:cs typeface="Times New Roman Regular" panose="02020603050405020304" charset="0"/>
              </a:rPr>
              <a:t>表示伴随</a:t>
            </a:r>
            <a:endParaRPr lang="en-US" sz="3200" b="1">
              <a:solidFill>
                <a:srgbClr val="0000FF"/>
              </a:solidFill>
              <a:latin typeface="Arial Bold" panose="020B0704020202020204" charset="0"/>
              <a:cs typeface="Times New Roman Regular" panose="02020603050405020304" charset="0"/>
            </a:endParaRPr>
          </a:p>
          <a:p>
            <a:endParaRPr lang="en-US" sz="32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Arial Bold" panose="020B0704020202020204" charset="0"/>
                <a:cs typeface="Times New Roman Regular" panose="02020603050405020304" charset="0"/>
              </a:rPr>
              <a:t>表示结果</a:t>
            </a:r>
            <a:endParaRPr lang="en-US" sz="3200" b="1">
              <a:solidFill>
                <a:srgbClr val="0000FF"/>
              </a:solidFill>
              <a:latin typeface="Arial Bold" panose="020B07040202020202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The boy fell off the bicycle, (thus/therefore) breaking his left leg.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en-US" sz="3200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0000FF"/>
                </a:solidFill>
                <a:latin typeface="Arial Bold" panose="020B0704020202020204" charset="0"/>
                <a:cs typeface="Times New Roman Regular" panose="02020603050405020304" charset="0"/>
              </a:rPr>
              <a:t>表示先后（用完成时表示动作的先后）</a:t>
            </a:r>
            <a:endParaRPr lang="en-US" sz="3200" b="1">
              <a:solidFill>
                <a:srgbClr val="0000FF"/>
              </a:solidFill>
              <a:latin typeface="Arial Bold" panose="020B07040202020202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Having finished his homework, the boy listened to music to have a rest.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300990" y="198755"/>
            <a:ext cx="11760200" cy="65024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13. After all, home is </a:t>
            </a:r>
            <a:r>
              <a:rPr lang="en-US" sz="3200" b="1">
                <a:solidFill>
                  <a:srgbClr val="0000FF"/>
                </a:solidFill>
                <a:latin typeface="Times New Roman Bold" panose="02020603050405020304" charset="0"/>
                <a:cs typeface="Times New Roman Bold" panose="02020603050405020304" charset="0"/>
              </a:rPr>
              <a:t>where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all family members are together.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predicative clause</a:t>
            </a:r>
            <a:r>
              <a:rPr lang="en-US" sz="3200" b="1">
                <a:solidFill>
                  <a:srgbClr val="FF0000"/>
                </a:solidFill>
                <a:latin typeface="Times New Roman Regular" panose="02020603050405020304" charset="0"/>
                <a:cs typeface="Times New Roman Regular" panose="02020603050405020304" charset="0"/>
              </a:rPr>
              <a:t> 表语从句</a:t>
            </a:r>
            <a:endParaRPr lang="en-US" sz="3200" b="1">
              <a:solidFill>
                <a:srgbClr val="FF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where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既可以表示实在的地点，也可以表示抽象的地点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(1) This is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where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I disagree.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=This is _______ I disagree with.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(2) Finally,  the hard-working young man became ______ he wanted to be.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(3) The problem is ____________ we shall have the meeting.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(4) The question is _____ these insects successfully escaped from the traps.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(5) The most pleasant thing of the rainy season is ____ one can be entirely free from dust.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91030" y="2567940"/>
            <a:ext cx="19659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what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>
            <p:custDataLst>
              <p:tags r:id="rId1"/>
            </p:custDataLst>
          </p:nvPr>
        </p:nvSpPr>
        <p:spPr>
          <a:xfrm>
            <a:off x="9020810" y="3088640"/>
            <a:ext cx="19659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what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>
            <p:custDataLst>
              <p:tags r:id="rId2"/>
            </p:custDataLst>
          </p:nvPr>
        </p:nvSpPr>
        <p:spPr>
          <a:xfrm>
            <a:off x="3855085" y="3941445"/>
            <a:ext cx="28816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when/where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>
            <p:custDataLst>
              <p:tags r:id="rId3"/>
            </p:custDataLst>
          </p:nvPr>
        </p:nvSpPr>
        <p:spPr>
          <a:xfrm>
            <a:off x="3855085" y="4525010"/>
            <a:ext cx="1115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how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  <p:sp>
        <p:nvSpPr>
          <p:cNvPr id="7" name="Text Box 6"/>
          <p:cNvSpPr txBox="1"/>
          <p:nvPr>
            <p:custDataLst>
              <p:tags r:id="rId4"/>
            </p:custDataLst>
          </p:nvPr>
        </p:nvSpPr>
        <p:spPr>
          <a:xfrm>
            <a:off x="8919210" y="5588000"/>
            <a:ext cx="111506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that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279400" y="231140"/>
            <a:ext cx="11717655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14. As midnight approaches, Luo Yan takes his parents, wife and son outside to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set off firecrackers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set off an alarm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set off a bomb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set off for a place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endParaRPr lang="en-US" sz="3200" b="1">
              <a:solidFill>
                <a:srgbClr val="FF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sz="3200" b="1">
              <a:solidFill>
                <a:srgbClr val="FF0000"/>
              </a:solidFill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set out to do sth = set about doing sth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(to begin a job, a task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着手做某事)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她准备要去打破世界纪录了。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She set out to break the world record.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16630" y="171005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触发(警报)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516630" y="215709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引爆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516630" y="271970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  <a:sym typeface="+mn-ea"/>
              </a:rPr>
              <a:t>出发动身去…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(leave for)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4" grpId="0"/>
      <p:bldP spid="5" grpId="1"/>
      <p:bldP spid="4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94945" y="0"/>
            <a:ext cx="11844655" cy="6858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15. The whole village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is lit up with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colourful fireworks.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</a:t>
            </a:r>
            <a:r>
              <a:rPr lang="en-US" sz="3200" b="1">
                <a:latin typeface="Arial Bold" panose="020B0704020202020204" charset="0"/>
                <a:cs typeface="Times New Roman Regular" panose="02020603050405020304" charset="0"/>
              </a:rPr>
              <a:t>整个村庄都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被烟花点亮了。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light up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（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使）光亮，放光彩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(1)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 vt.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en-US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shine light on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点亮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The shop windows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were lit up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.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商店橱窗被点亮了。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(2) 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vi.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become bright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变得明亮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The whole village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lit up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after the explosion of fireworks.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变亮了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(3) become happy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 喜形于色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She opened the present, and her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face lit up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她打开礼物，面露喜色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Her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eyes lit up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with excitement.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zh-CN" altLang="en-US" sz="3200" b="1">
                <a:latin typeface="Times New Roman Regular" panose="02020603050405020304" charset="0"/>
                <a:cs typeface="Times New Roman Regular" panose="02020603050405020304" charset="0"/>
              </a:rPr>
              <a:t>她眼中闪着兴奋的</a:t>
            </a:r>
            <a:r>
              <a:rPr lang="zh-CN" altLang="en-US" sz="3200" b="1">
                <a:latin typeface="Times New Roman Regular" panose="02020603050405020304" charset="0"/>
                <a:cs typeface="Times New Roman Regular" panose="02020603050405020304" charset="0"/>
              </a:rPr>
              <a:t>光。</a:t>
            </a:r>
            <a:endParaRPr lang="zh-CN" alt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67640" y="217170"/>
            <a:ext cx="1154811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Tears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rolled down/coursed down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his face. </a:t>
            </a:r>
            <a:r>
              <a:rPr lang="en-US" sz="3200" b="1">
                <a:latin typeface="Times New Roman Regular" panose="02020603050405020304" charset="0"/>
                <a:cs typeface="Times New Roman Regular" panose="02020603050405020304" charset="0"/>
              </a:rPr>
              <a:t>眼泪沿他的面颊流下来。</a:t>
            </a:r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endParaRPr lang="en-US" sz="3200" b="1">
              <a:latin typeface="Times New Roman Regular" panose="02020603050405020304" charset="0"/>
              <a:cs typeface="Times New Roman Regular" panose="02020603050405020304" charset="0"/>
            </a:endParaRPr>
          </a:p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a tearful farewell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挥泪送别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 (~event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催人泪下的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)</a:t>
            </a:r>
            <a:endParaRPr lang="en-US" altLang="zh-CN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She suddenly became very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tearful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</a:t>
            </a:r>
            <a:endParaRPr lang="en-US" altLang="zh-CN" sz="3200" b="1">
              <a:solidFill>
                <a:schemeClr val="tx1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She asked him </a:t>
            </a:r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tearfully 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...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  <a:sym typeface="+mn-ea"/>
              </a:rPr>
              <a:t>（含泪地）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292735"/>
            <a:ext cx="11548110" cy="5507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tear </a:t>
            </a:r>
            <a:r>
              <a:rPr lang="en-US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vt.&amp;vi.</a:t>
            </a:r>
            <a:r>
              <a:rPr lang="en-US" sz="3200" b="1" i="1">
                <a:latin typeface="Times New Roman Bold Italic" panose="02020603050405020304" charset="0"/>
                <a:cs typeface="Times New Roman Bold Italic" panose="02020603050405020304" charset="0"/>
              </a:rPr>
              <a:t>  </a:t>
            </a:r>
            <a:r>
              <a:rPr lang="zh-CN" altLang="en-US" sz="3200" b="1">
                <a:latin typeface="Times New Roman Bold Italic" panose="02020603050405020304" charset="0"/>
                <a:cs typeface="Times New Roman Bold Italic" panose="02020603050405020304" charset="0"/>
              </a:rPr>
              <a:t>撕裂，撕碎</a:t>
            </a:r>
            <a:r>
              <a:rPr lang="en-US" altLang="zh-CN" sz="3200" b="1">
                <a:latin typeface="Times New Roman Bold Italic" panose="02020603050405020304" charset="0"/>
                <a:cs typeface="Times New Roman Bold Italic" panose="02020603050405020304" charset="0"/>
              </a:rPr>
              <a:t> </a:t>
            </a:r>
            <a:r>
              <a:rPr lang="en-US" altLang="zh-CN" sz="3200" b="1" i="1">
                <a:solidFill>
                  <a:srgbClr val="FF0000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(tear, tore, torn)</a:t>
            </a:r>
            <a:endParaRPr lang="en-US" altLang="zh-CN" sz="3200" b="1">
              <a:latin typeface="Times New Roman Bold Italic" panose="02020603050405020304" charset="0"/>
              <a:cs typeface="Times New Roman Bold Italic" panose="02020603050405020304" charset="0"/>
            </a:endParaRPr>
          </a:p>
          <a:p>
            <a:pPr lvl="1"/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I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tore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a hole in my jeans.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/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He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tore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the letter in two.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/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Careful - the fabric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tears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very easily.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/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a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strike-torn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industy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深受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罢工困扰的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行业</a:t>
            </a:r>
            <a:endParaRPr lang="zh-CN" alt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1"/>
            <a:endParaRPr lang="zh-CN" alt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0"/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tear apart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使……四分五裂；使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难过</a:t>
            </a:r>
            <a:endParaRPr lang="zh-CN" alt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0"/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War and revolution have 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torn </a:t>
            </a:r>
            <a:r>
              <a:rPr lang="zh-CN" altLang="en-US" sz="3200" b="1">
                <a:solidFill>
                  <a:schemeClr val="tx1"/>
                </a:solidFill>
                <a:latin typeface="Times New Roman Bold" panose="02020603050405020304" charset="0"/>
                <a:cs typeface="Times New Roman Bold" panose="02020603050405020304" charset="0"/>
              </a:rPr>
              <a:t>families 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apart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zh-CN" alt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0"/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Don't think it hasn't </a:t>
            </a:r>
            <a:r>
              <a:rPr lang="zh-CN" alt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torn me apart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 to be away from you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en-US" altLang="zh-CN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0"/>
            <a:endParaRPr lang="en-US" altLang="zh-CN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pPr lvl="0"/>
            <a:r>
              <a:rPr lang="en-US" altLang="zh-CN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tear sth up into little pieces</a:t>
            </a:r>
            <a:r>
              <a:rPr lang="en-US" altLang="zh-CN" sz="3200" b="1">
                <a:latin typeface="Times New Roman Bold" panose="02020603050405020304" charset="0"/>
                <a:cs typeface="Times New Roman Bold" panose="02020603050405020304" charset="0"/>
              </a:rPr>
              <a:t> 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把……</a:t>
            </a:r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撕成碎片</a:t>
            </a:r>
            <a:endParaRPr lang="zh-CN" altLang="en-US" sz="32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>
            <p:custDataLst>
              <p:tags r:id="rId1"/>
            </p:custDataLst>
          </p:nvPr>
        </p:nvSpPr>
        <p:spPr>
          <a:xfrm>
            <a:off x="190500" y="159385"/>
            <a:ext cx="1154811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creep vi. </a:t>
            </a:r>
            <a:r>
              <a:rPr lang="en-US" sz="3200" b="1" i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move slowly, quietly and carefully </a:t>
            </a:r>
            <a:r>
              <a:rPr lang="zh-CN" altLang="en-US" sz="3200" b="1">
                <a:solidFill>
                  <a:schemeClr val="tx1"/>
                </a:solidFill>
                <a:latin typeface="Times New Roman Bold Italic" panose="02020603050405020304" charset="0"/>
                <a:cs typeface="Times New Roman Bold Italic" panose="02020603050405020304" charset="0"/>
              </a:rPr>
              <a:t>缓慢行进，蹑手蹑脚地移动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 (creep-crept-crept)</a:t>
            </a:r>
            <a:endParaRPr lang="en-US" sz="3200" b="1">
              <a:solidFill>
                <a:srgbClr val="FF0000"/>
              </a:solidFill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I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crept up the stairs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, trying not to wake my parents.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为了尽量不吵醒父母，我蹑手蹑脚地上了楼。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A slight feeling of suspicion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crept over me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我</a:t>
            </a:r>
            <a:r>
              <a:rPr lang="en-US" sz="3200" b="1" u="sng">
                <a:latin typeface="Times New Roman Bold" panose="02020603050405020304" charset="0"/>
                <a:cs typeface="Times New Roman Bold" panose="02020603050405020304" charset="0"/>
              </a:rPr>
              <a:t>渐渐地产生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了一丝疑虑。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Tiredness can easily </a:t>
            </a:r>
            <a:r>
              <a:rPr lang="en-US" sz="3200" b="1" u="sng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creep up on you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while you're taking 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classes.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zh-CN" altLang="en-US" sz="3200" b="1">
                <a:latin typeface="Times New Roman Bold" panose="02020603050405020304" charset="0"/>
                <a:cs typeface="Times New Roman Bold" panose="02020603050405020304" charset="0"/>
              </a:rPr>
              <a:t>上课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时会很容易</a:t>
            </a:r>
            <a:r>
              <a:rPr lang="en-US" sz="3200" b="1" u="sng">
                <a:latin typeface="Times New Roman Bold" panose="02020603050405020304" charset="0"/>
                <a:cs typeface="Times New Roman Bold" panose="02020603050405020304" charset="0"/>
              </a:rPr>
              <a:t>不知不觉地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就累了。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House prices are </a:t>
            </a:r>
            <a:r>
              <a:rPr lang="en-US" sz="3200" b="1">
                <a:solidFill>
                  <a:srgbClr val="FF0000"/>
                </a:solidFill>
                <a:latin typeface="Times New Roman Bold" panose="02020603050405020304" charset="0"/>
                <a:cs typeface="Times New Roman Bold" panose="02020603050405020304" charset="0"/>
              </a:rPr>
              <a:t>creeping up</a:t>
            </a:r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 again.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  <a:p>
            <a:r>
              <a:rPr lang="en-US" sz="3200" b="1">
                <a:latin typeface="Times New Roman Bold" panose="02020603050405020304" charset="0"/>
                <a:cs typeface="Times New Roman Bold" panose="02020603050405020304" charset="0"/>
              </a:rPr>
              <a:t>住房价格又在渐渐上涨。</a:t>
            </a:r>
            <a:endParaRPr lang="en-US" sz="3200" b="1">
              <a:latin typeface="Times New Roman Bold" panose="02020603050405020304" charset="0"/>
              <a:cs typeface="Times New Roman Bold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PP_MARK_KEY" val="8fd93aae-17da-4ac8-80a6-ca9de853ec65"/>
  <p:tag name="COMMONDATA" val="eyJoZGlkIjoiNDcxZWEzNmM4YTgxYjEzMjI1NzAwNmRhMmFmYTU1ZGMifQ==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15301</Words>
  <Application>WPS Spreadsheets</Application>
  <PresentationFormat>宽屏</PresentationFormat>
  <Paragraphs>554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1" baseType="lpstr">
      <vt:lpstr>Arial</vt:lpstr>
      <vt:lpstr>宋体</vt:lpstr>
      <vt:lpstr>Wingdings</vt:lpstr>
      <vt:lpstr>微软雅黑</vt:lpstr>
      <vt:lpstr>汉仪旗黑</vt:lpstr>
      <vt:lpstr>Times New Roman</vt:lpstr>
      <vt:lpstr>汉仪书宋二KW</vt:lpstr>
      <vt:lpstr>Calibri</vt:lpstr>
      <vt:lpstr>Helvetica Neue</vt:lpstr>
      <vt:lpstr>宋体</vt:lpstr>
      <vt:lpstr>Arial Unicode MS</vt:lpstr>
      <vt:lpstr>Calibri Light</vt:lpstr>
      <vt:lpstr>Times New Roman Bold Italic</vt:lpstr>
      <vt:lpstr>Times New Roman Bold</vt:lpstr>
      <vt:lpstr>Times New Roman Regular</vt:lpstr>
      <vt:lpstr>Arial Bold</vt:lpstr>
      <vt:lpstr>等线</vt:lpstr>
      <vt:lpstr>汉仪中等线KW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Elsssie</cp:lastModifiedBy>
  <cp:revision>680</cp:revision>
  <dcterms:created xsi:type="dcterms:W3CDTF">2024-01-05T07:13:53Z</dcterms:created>
  <dcterms:modified xsi:type="dcterms:W3CDTF">2024-01-05T07:13:53Z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1033-6.5.0.8619</vt:lpwstr>
  </property>
  <property fmtid="{D5CDD505-2E9C-101B-9397-08002B2CF9AE}" pid="3" name="ICV">
    <vt:lpwstr>8CAE3DE3210B496ABC08D8338D5E8A51</vt:lpwstr>
  </property>
</Properties>
</file>