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13"/>
  </p:notesMasterIdLst>
  <p:handoutMasterIdLst>
    <p:handoutMasterId r:id="rId14"/>
  </p:handoutMasterIdLst>
  <p:sldIdLst>
    <p:sldId id="572" r:id="rId3"/>
    <p:sldId id="587" r:id="rId4"/>
    <p:sldId id="573" r:id="rId5"/>
    <p:sldId id="574" r:id="rId6"/>
    <p:sldId id="575" r:id="rId7"/>
    <p:sldId id="576" r:id="rId8"/>
    <p:sldId id="577" r:id="rId9"/>
    <p:sldId id="578" r:id="rId10"/>
    <p:sldId id="613" r:id="rId11"/>
    <p:sldId id="58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FF"/>
    <a:srgbClr val="9933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40" y="168"/>
      </p:cViewPr>
      <p:guideLst>
        <p:guide orient="horz" pos="2160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buy one get one free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in memory of / in need of / in case of / in place of </a:t>
            </a:r>
            <a:r>
              <a:rPr lang="zh-CN" altLang="en-US"/>
              <a:t>代替</a:t>
            </a:r>
          </a:p>
          <a:p>
            <a:r>
              <a:rPr lang="zh-CN" altLang="en-US"/>
              <a:t>引起尊敬的人或事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引起尊敬的人或事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7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E3116-8B2B-4561-AD76-2EDA3C669F24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A150C-AF0F-4631-998B-8C4B4A0DF2D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AAD9-CAF5-4DE7-AF7B-EE0B5005B821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43D5-77E8-4F6A-8FE6-5318C663117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77E5B-C3F9-4864-B781-91C35C0902F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EEA85-7835-468C-B413-54D151536853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BCD2A-06D7-490A-B39E-16788EF759A3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306E-3D62-4691-9888-3B6B82B44870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52EBB-CCA7-4966-90F9-639C747AF28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5595-F2B8-4DAC-9AF6-7E3B04926DC5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58B2-B250-49D6-B78B-E3AE4BD36224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41" y="269080"/>
            <a:ext cx="4972258" cy="9683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27355" y="1395095"/>
            <a:ext cx="11264900" cy="1213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Chinese festivals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推广中国传统节目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47700" y="2608580"/>
            <a:ext cx="11044555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4808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61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02120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42887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8860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3432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8004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2576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0" fontAlgn="base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promote  </a:t>
            </a:r>
            <a:r>
              <a:rPr lang="en-US" altLang="zh-CN" sz="3200" b="1" i="1" dirty="0" err="1">
                <a:solidFill>
                  <a:srgbClr val="9933FF"/>
                </a:solidFill>
                <a:latin typeface="Times New Roman" panose="02020603050405020304" pitchFamily="18" charset="0"/>
              </a:rPr>
              <a:t>vt</a:t>
            </a:r>
            <a:r>
              <a:rPr lang="en-US" altLang="zh-CN" sz="3200" b="1" dirty="0" err="1">
                <a:solidFill>
                  <a:srgbClr val="9933FF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 b="1" dirty="0">
                <a:solidFill>
                  <a:srgbClr val="9933FF"/>
                </a:solidFill>
                <a:latin typeface="Times New Roman" panose="02020603050405020304" pitchFamily="18" charset="0"/>
              </a:rPr>
              <a:t> </a:t>
            </a:r>
          </a:p>
          <a:p>
            <a:pPr marL="0" fontAlgn="base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to help 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. to happen or develop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促进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推动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-2148205" fontAlgn="base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2)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to help sell a product, service, etc. or make it more popular by advertising it or offering it at a special price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促销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推销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-2148205" fontAlgn="base">
              <a:lnSpc>
                <a:spcPct val="110000"/>
              </a:lnSpc>
              <a:tabLst>
                <a:tab pos="2147570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3)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to move sb. to a higher rank or more senior job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提升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晋升     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073728" y="462148"/>
            <a:ext cx="10605654" cy="570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14808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61290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2021205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449830" indent="-3429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9070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3642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8214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27863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marL="179705" fontAlgn="base">
              <a:lnSpc>
                <a:spcPct val="114000"/>
              </a:lnSpc>
              <a:tabLst>
                <a:tab pos="179070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</a:rPr>
              <a:t>We'll hold a meeting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promote</a:t>
            </a:r>
            <a:r>
              <a:rPr lang="en-US" altLang="zh-CN" sz="3200" b="1" dirty="0">
                <a:latin typeface="Times New Roman" panose="02020603050405020304" pitchFamily="18" charset="0"/>
              </a:rPr>
              <a:t> trade between the two companies.</a:t>
            </a:r>
          </a:p>
          <a:p>
            <a:pPr fontAlgn="base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  The band has gone on tour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promote</a:t>
            </a:r>
            <a:r>
              <a:rPr lang="en-US" altLang="zh-CN" sz="3200" b="1" dirty="0">
                <a:latin typeface="Times New Roman" panose="02020603050405020304" pitchFamily="18" charset="0"/>
              </a:rPr>
              <a:t> their new album.</a:t>
            </a:r>
          </a:p>
          <a:p>
            <a:pPr fontAlgn="base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  She worked hard and was soon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promoted</a:t>
            </a:r>
            <a:r>
              <a:rPr lang="en-US" altLang="zh-CN" sz="3200" b="1" dirty="0">
                <a:latin typeface="Times New Roman" panose="02020603050405020304" pitchFamily="18" charset="0"/>
              </a:rPr>
              <a:t>.</a:t>
            </a:r>
          </a:p>
          <a:p>
            <a:pPr fontAlgn="base">
              <a:lnSpc>
                <a:spcPct val="114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promote development/growth/understanding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</a:p>
          <a:p>
            <a:pPr fontAlgn="base">
              <a:lnSpc>
                <a:spcPct val="114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促进发展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增长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加深了解</a:t>
            </a:r>
          </a:p>
          <a:p>
            <a:pPr fontAlgn="base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promote sb. from … to …</a:t>
            </a:r>
          </a:p>
          <a:p>
            <a:pPr fontAlgn="base">
              <a:lnSpc>
                <a:spcPct val="114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把某人从某职位提升至某职位</a:t>
            </a:r>
          </a:p>
          <a:p>
            <a:pPr fontAlgn="base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be promoted to. . .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被升为</a:t>
            </a:r>
            <a:r>
              <a:rPr lang="en-US" altLang="zh-CN" sz="3200" b="1" dirty="0">
                <a:solidFill>
                  <a:srgbClr val="000000"/>
                </a:solidFill>
                <a:latin typeface="+mn-ea"/>
                <a:ea typeface="+mn-ea"/>
              </a:rPr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553085" y="1149985"/>
            <a:ext cx="10841990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promotion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提升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晋级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促销产品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gain/get/win promotion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获得晋级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争取晋升</a:t>
            </a: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We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doing a special promotion of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Chilean wines.</a:t>
            </a: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做……促销活动</a:t>
            </a: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promoter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倡导者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筹办人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9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93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039087" y="685288"/>
            <a:ext cx="10446329" cy="481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3230" indent="-44323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223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完成句子。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1) The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organisation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works 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促进友谊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between nations.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2) Linda hopes to __________________________________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被提拔到一个更高的职位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through her hard work.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3) There was a ______________________ (promote) in the supermarket and they were giving away free glasses of milk.</a:t>
            </a:r>
          </a:p>
        </p:txBody>
      </p:sp>
      <p:sp>
        <p:nvSpPr>
          <p:cNvPr id="206853" name="Rectangle 5"/>
          <p:cNvSpPr>
            <a:spLocks noChangeArrowheads="1"/>
          </p:cNvSpPr>
          <p:nvPr/>
        </p:nvSpPr>
        <p:spPr bwMode="auto">
          <a:xfrm>
            <a:off x="4287978" y="2368375"/>
            <a:ext cx="7197439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be promoted to a higher position/post</a:t>
            </a:r>
          </a:p>
        </p:txBody>
      </p:sp>
      <p:sp>
        <p:nvSpPr>
          <p:cNvPr id="206854" name="Rectangle 6"/>
          <p:cNvSpPr>
            <a:spLocks noChangeArrowheads="1"/>
          </p:cNvSpPr>
          <p:nvPr/>
        </p:nvSpPr>
        <p:spPr bwMode="auto">
          <a:xfrm>
            <a:off x="5752602" y="1281055"/>
            <a:ext cx="4038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to promote friendship</a:t>
            </a:r>
          </a:p>
        </p:txBody>
      </p:sp>
      <p:sp>
        <p:nvSpPr>
          <p:cNvPr id="206856" name="Rectangle 8"/>
          <p:cNvSpPr>
            <a:spLocks noChangeArrowheads="1"/>
          </p:cNvSpPr>
          <p:nvPr/>
        </p:nvSpPr>
        <p:spPr bwMode="auto">
          <a:xfrm>
            <a:off x="4911434" y="3590482"/>
            <a:ext cx="20222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promotion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/>
      <p:bldP spid="206854" grpId="0"/>
      <p:bldP spid="2068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7477" y="131536"/>
            <a:ext cx="10571018" cy="65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… but how many people today still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tradition?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7650" y="785495"/>
            <a:ext cx="11617325" cy="5523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1)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遵守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to obey rules, laws...</a:t>
            </a:r>
            <a:endParaRPr lang="en-US" altLang="zh-CN" sz="3200" b="1" i="1" dirty="0">
              <a:solidFill>
                <a:srgbClr val="99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People must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observe the law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Nobody should be an exception.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看到，注意到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see or notice sb./</a:t>
            </a:r>
            <a:r>
              <a:rPr lang="en-US" altLang="zh-CN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altLang="zh-CN" sz="3200" b="1" i="1" dirty="0">
              <a:solidFill>
                <a:srgbClr val="99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 entering/enter the bank.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他们看见他走进银行。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to watch carefully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 a child, he liked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observe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behaviour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birds.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评论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make a remark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“Martin is a fine young man,”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observed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Stephen.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32740" y="373380"/>
            <a:ext cx="11522075" cy="594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5)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(formal) to celebrate festivals </a:t>
            </a:r>
            <a:r>
              <a:rPr lang="zh-CN" altLang="en-US" sz="3200" b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庆祝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Chinese-Americans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observing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Spring Festival.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观察者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 c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n./un.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观察，观测；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评论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hospital the injured will be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observation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the time.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密切观察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based on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observations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科学观测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speaker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some observations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present economic situation.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做出了一番评论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0515" y="436245"/>
            <a:ext cx="11491595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indent="-17970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根据括号内的汉语提示补全下面句子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每空一词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 I together with my parents will go to ________ ________ ______________ 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庆祝我爷爷的生日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on Sunday morning.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2) Though having lived abroad for years, many Chinese still ________ __________ ________ 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遵守中国传统风俗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3) I _________ ________ _________ ________ 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注意到他在擦地板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when I went downstairs.</a:t>
            </a:r>
          </a:p>
        </p:txBody>
      </p:sp>
      <p:sp>
        <p:nvSpPr>
          <p:cNvPr id="3" name="矩形 2"/>
          <p:cNvSpPr/>
          <p:nvPr/>
        </p:nvSpPr>
        <p:spPr>
          <a:xfrm>
            <a:off x="1294040" y="4575419"/>
            <a:ext cx="85384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      him        cleaning        the         floor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8014" y="1617362"/>
            <a:ext cx="51445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grandfather’s       birthday  </a:t>
            </a:r>
          </a:p>
        </p:txBody>
      </p:sp>
      <p:sp>
        <p:nvSpPr>
          <p:cNvPr id="5" name="矩形 4"/>
          <p:cNvSpPr/>
          <p:nvPr/>
        </p:nvSpPr>
        <p:spPr>
          <a:xfrm>
            <a:off x="7348477" y="1052177"/>
            <a:ext cx="3001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observe       my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0058" y="3430343"/>
            <a:ext cx="72298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    traditional  Chinese    customs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2085" y="208915"/>
            <a:ext cx="11809730" cy="6311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60680"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Dragon Boat Festival, for example, is celebrated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 Yuan…= in sb’s honor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为向……表示敬意</a:t>
            </a: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荣幸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It’s a great </a:t>
            </a:r>
            <a:r>
              <a:rPr lang="en-US" altLang="zh-CN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honour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(for me) 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be invited to your birthday party.</a:t>
            </a: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the honor of dancing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you?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有幸做某事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2244725" fontAlgn="auto">
              <a:lnSpc>
                <a:spcPct val="12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名誉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reputation, respect 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fought for the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honour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our country.</a:t>
            </a: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honour 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profession.</a:t>
            </a: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她是这一行业的光荣。(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 person or thing that causes others to respect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2085" y="75565"/>
            <a:ext cx="11809730" cy="6311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honour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表示敬意；颁奖；感到荣幸</a:t>
            </a: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honour fine Chinese values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尊重中国优秀的价值观</a:t>
            </a:r>
            <a:endParaRPr lang="zh-CN" altLang="en-US" sz="3200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marL="45720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our honored guests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我们的贵宾</a:t>
            </a: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It’s a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great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honour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be invited to your birthday party.</a:t>
            </a:r>
          </a:p>
          <a:p>
            <a:pPr marL="45720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I’m/I feel honoured to do sth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 been honoured with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knighthood for his scientific work.</a:t>
            </a:r>
          </a:p>
          <a:p>
            <a:pPr marL="45720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</a:t>
            </a:r>
            <a:r>
              <a:rPr lang="en-US" altLang="zh-CN" sz="32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因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科研成就</a:t>
            </a:r>
            <a:r>
              <a:rPr lang="en-US" altLang="zh-CN" sz="32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而获授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爵士头衔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荣誉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45720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honour sb for sth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因……表彰某人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indent="-2244725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22447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I have every intention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honouring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our contract.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22447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我完全愿意执行我们的合约。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信守承诺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43049" y="607515"/>
            <a:ext cx="10525496" cy="531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 marL="2424430" indent="-2424430">
              <a:lnSpc>
                <a:spcPct val="120000"/>
              </a:lnSpc>
            </a:pPr>
            <a:r>
              <a:rPr lang="zh-CN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语境应用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根据括号内的汉语提示补全下列句子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每空一词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 His parents felt it ________ ________ ________ (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很荣幸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be asked to speak at the meeting held ________ ________ ________ (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为了庆祝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the school’s birthday.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2) ________ ________ 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我感到荣幸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have been able to take on this role.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3) They stood in silence as a mark of ________ ________ 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对她的敬意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7" name="矩形 6"/>
          <p:cNvSpPr/>
          <p:nvPr/>
        </p:nvSpPr>
        <p:spPr>
          <a:xfrm>
            <a:off x="2063927" y="5333779"/>
            <a:ext cx="10325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endParaRPr lang="en-US" altLang="zh-CN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61069" y="1782100"/>
            <a:ext cx="47249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         great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honour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19248" y="2378734"/>
            <a:ext cx="5261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34934" y="2984352"/>
            <a:ext cx="29231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of 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76513" y="3575642"/>
            <a:ext cx="55569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            am/feel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honoured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589855" y="4738895"/>
            <a:ext cx="28093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to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Macintosh PowerPoint</Application>
  <PresentationFormat>Widescreen</PresentationFormat>
  <Paragraphs>93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微软雅黑</vt:lpstr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主题​​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502</cp:revision>
  <dcterms:created xsi:type="dcterms:W3CDTF">2024-01-07T02:18:44Z</dcterms:created>
  <dcterms:modified xsi:type="dcterms:W3CDTF">2026-07-22T13:10:00Z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1033-6.5.0.8619</vt:lpwstr>
  </property>
  <property fmtid="{D5CDD505-2E9C-101B-9397-08002B2CF9AE}" pid="3" name="ICV">
    <vt:lpwstr>CE2588B03C0C3F80E70F8D6553DD0A4C_42</vt:lpwstr>
  </property>
</Properties>
</file>