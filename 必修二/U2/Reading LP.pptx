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9" r:id="rId2"/>
    <p:sldId id="283" r:id="rId3"/>
    <p:sldId id="285" r:id="rId4"/>
    <p:sldId id="262" r:id="rId5"/>
    <p:sldId id="339" r:id="rId6"/>
    <p:sldId id="286" r:id="rId7"/>
    <p:sldId id="340" r:id="rId8"/>
    <p:sldId id="263" r:id="rId9"/>
    <p:sldId id="373" r:id="rId10"/>
    <p:sldId id="341" r:id="rId11"/>
    <p:sldId id="266" r:id="rId12"/>
    <p:sldId id="342" r:id="rId13"/>
    <p:sldId id="291" r:id="rId14"/>
    <p:sldId id="292" r:id="rId15"/>
    <p:sldId id="343" r:id="rId16"/>
    <p:sldId id="345" r:id="rId17"/>
    <p:sldId id="344" r:id="rId18"/>
    <p:sldId id="297" r:id="rId19"/>
    <p:sldId id="298" r:id="rId20"/>
    <p:sldId id="323" r:id="rId21"/>
    <p:sldId id="346" r:id="rId22"/>
    <p:sldId id="325" r:id="rId23"/>
    <p:sldId id="347" r:id="rId24"/>
    <p:sldId id="272" r:id="rId25"/>
    <p:sldId id="273" r:id="rId26"/>
    <p:sldId id="274" r:id="rId27"/>
    <p:sldId id="299" r:id="rId28"/>
    <p:sldId id="300" r:id="rId29"/>
    <p:sldId id="276" r:id="rId30"/>
    <p:sldId id="301" r:id="rId31"/>
    <p:sldId id="302" r:id="rId32"/>
    <p:sldId id="348" r:id="rId33"/>
    <p:sldId id="404" r:id="rId34"/>
    <p:sldId id="349" r:id="rId35"/>
    <p:sldId id="350" r:id="rId36"/>
    <p:sldId id="351" r:id="rId37"/>
    <p:sldId id="326" r:id="rId38"/>
    <p:sldId id="317" r:id="rId39"/>
    <p:sldId id="327" r:id="rId40"/>
    <p:sldId id="408" r:id="rId41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howGuides="1">
      <p:cViewPr varScale="1">
        <p:scale>
          <a:sx n="103" d="100"/>
          <a:sy n="103" d="100"/>
        </p:scale>
        <p:origin x="800" y="184"/>
      </p:cViewPr>
      <p:guideLst>
        <p:guide orient="horz" pos="2098"/>
        <p:guide pos="37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impression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be made up of ..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280" y="332740"/>
            <a:ext cx="11161395" cy="53828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54330" indent="-3543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uncertain about how to start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不确定如何开始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4330" indent="-354330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4330" indent="-3543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beginner’s guide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exercise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新手锻炼指南</a:t>
            </a:r>
          </a:p>
          <a:p>
            <a:pPr marL="354330" indent="-354330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4330" indent="-3543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Congratulation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!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恭喜你！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congratulations on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 your exam results! 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就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向某人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祝贺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send my congratulation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s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 to sb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向某人致以祝贺</a:t>
            </a:r>
          </a:p>
          <a:p>
            <a:pPr algn="just">
              <a:lnSpc>
                <a:spcPct val="120000"/>
              </a:lnSpc>
            </a:pPr>
            <a:endParaRPr lang="zh-CN" altLang="en-US" sz="3200" b="1" kern="100" dirty="0">
              <a:latin typeface="Times New Roman" panose="02020503050405090304" pitchFamily="18" charset="0"/>
              <a:ea typeface="方正隶变简体" pitchFamily="65" charset="-122"/>
              <a:cs typeface="Times New Roman" panose="02020503050405090304" pitchFamily="18" charset="0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a letter of congratulation (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 Bold Italic" panose="02020503050405090304" charset="0"/>
                <a:ea typeface="方正隶变简体" pitchFamily="65" charset="-122"/>
                <a:cs typeface="Times New Roman Bold Italic" panose="02020503050405090304" charset="0"/>
                <a:sym typeface="+mn-ea"/>
              </a:rPr>
              <a:t>un.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)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  <a:sym typeface="+mn-ea"/>
              </a:rPr>
              <a:t>贺信</a:t>
            </a:r>
          </a:p>
        </p:txBody>
      </p:sp>
      <p:sp>
        <p:nvSpPr>
          <p:cNvPr id="8" name="矩形 7"/>
          <p:cNvSpPr/>
          <p:nvPr/>
        </p:nvSpPr>
        <p:spPr>
          <a:xfrm>
            <a:off x="1560512" y="2070833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en-US" altLang="zh-CN" sz="32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60512" y="2083698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en-US" altLang="zh-CN" sz="32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3392" y="280595"/>
            <a:ext cx="10873208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congratulate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v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. 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祝贺</a:t>
            </a: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congratulate sb. on 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. 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为某事向某人祝贺</a:t>
            </a:r>
            <a:endParaRPr lang="en-US" altLang="zh-CN" sz="3200" b="1" kern="100" dirty="0">
              <a:latin typeface="Times New Roman" panose="02020503050405090304" pitchFamily="18" charset="0"/>
              <a:ea typeface="方正隶变简体" pitchFamily="65" charset="-122"/>
              <a:cs typeface="Times New Roman" panose="02020503050405090304" pitchFamily="18" charset="0"/>
            </a:endParaRPr>
          </a:p>
          <a:p>
            <a:pPr algn="justLow" hangingPunct="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congratulate oneself on/upon</a:t>
            </a:r>
          </a:p>
          <a:p>
            <a:pPr algn="justLow" hangingPunct="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感到自豪；暗自庆幸；为自己高兴</a:t>
            </a:r>
            <a:endParaRPr lang="zh-CN" altLang="en-US" sz="3200" b="1" dirty="0">
              <a:latin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3392" y="3069272"/>
            <a:ext cx="10873208" cy="1301750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 marL="536575" indent="-536575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TIP: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congratulate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的宾语是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sb.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而不是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sth.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，且该动词后不接不定式的复合结构或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that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从句。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ChangeArrowheads="1"/>
          </p:cNvSpPr>
          <p:nvPr/>
        </p:nvSpPr>
        <p:spPr bwMode="auto">
          <a:xfrm>
            <a:off x="407368" y="620688"/>
            <a:ext cx="11089232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补全句子。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We ___________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祝贺他找到新工作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 ________ ________ ________ ________ ____________ 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对你的成功致以最热烈的祝贺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 _____ ____________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正庆幸自己侥幸逃脱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when disaster struck.</a:t>
            </a:r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1487488" y="1196752"/>
            <a:ext cx="9073008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congratulated     him          on           his           new          job </a:t>
            </a:r>
          </a:p>
        </p:txBody>
      </p:sp>
      <p:sp>
        <p:nvSpPr>
          <p:cNvPr id="239621" name="Rectangle 5"/>
          <p:cNvSpPr>
            <a:spLocks noChangeArrowheads="1"/>
          </p:cNvSpPr>
          <p:nvPr/>
        </p:nvSpPr>
        <p:spPr bwMode="auto">
          <a:xfrm>
            <a:off x="1055440" y="2409913"/>
            <a:ext cx="10009112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send          you            my       warmest   congratulations   on          your        success  </a:t>
            </a:r>
          </a:p>
        </p:txBody>
      </p:sp>
      <p:sp>
        <p:nvSpPr>
          <p:cNvPr id="239623" name="Rectangle 7"/>
          <p:cNvSpPr>
            <a:spLocks noChangeArrowheads="1"/>
          </p:cNvSpPr>
          <p:nvPr/>
        </p:nvSpPr>
        <p:spPr bwMode="auto">
          <a:xfrm>
            <a:off x="1055440" y="4149908"/>
            <a:ext cx="9073008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  congratulating     myself       on         my          narrow   escape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9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0" grpId="0"/>
      <p:bldP spid="239621" grpId="0"/>
      <p:bldP spid="23962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688" y="44366"/>
            <a:ext cx="11233248" cy="117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Most people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regular exercise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does wonders for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body and mind...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2890" y="1412875"/>
            <a:ext cx="11520805" cy="4961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zh-CN" altLang="en-US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think that something is true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假定，认为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would, he assumed, be home at the usual time.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他认为，她会在通常时间回到家的。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had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assumed him to be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Belgian.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我本以为他是比利时人。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generally assumed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stress is caused by too much work.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普遍认为，紧张是工作过重所致。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Don't always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 the worst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别总往最坏处想。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2890" y="404495"/>
            <a:ext cx="11520805" cy="6043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zh-CN" altLang="en-US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take 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承担（责任）</a:t>
            </a:r>
          </a:p>
          <a:p>
            <a:pPr indent="-2240280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appoint you as the boss, so you will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assume responsibility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他们认命你为老板，所以你得承担责任。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年轻人应该承担保护环境的责任。</a:t>
            </a:r>
          </a:p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Young adults should assume the responsibility to protect the environment.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put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装出；假装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assumed an air of concern.</a:t>
            </a:r>
          </a:p>
          <a:p>
            <a:pPr indent="-224028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他装出关心的样子。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495825" y="3644756"/>
            <a:ext cx="8595640" cy="2453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make assumptions about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n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.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假定；设想；担任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on the assumption that...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假定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endParaRPr lang="zh-CN" altLang="zh-CN" sz="3200" b="1" kern="100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assuming (that)...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假设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(conj.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引导条件状语从句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 </a:t>
            </a:r>
          </a:p>
        </p:txBody>
      </p:sp>
      <p:sp>
        <p:nvSpPr>
          <p:cNvPr id="4" name="矩形 3"/>
          <p:cNvSpPr/>
          <p:nvPr/>
        </p:nvSpPr>
        <p:spPr>
          <a:xfrm>
            <a:off x="2436495" y="427355"/>
            <a:ext cx="8595360" cy="2405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assume sb. /</a:t>
            </a:r>
            <a:r>
              <a:rPr lang="en-US" altLang="zh-CN" sz="3200" b="1" kern="100" dirty="0" err="1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. to be... 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认为某人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(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事</a:t>
            </a:r>
            <a:r>
              <a:rPr lang="en-US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) 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endParaRPr lang="zh-CN" altLang="zh-CN" sz="3200" b="1" kern="100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assume that... </a:t>
            </a:r>
            <a:r>
              <a:rPr lang="zh-CN" altLang="en-US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假定，</a:t>
            </a:r>
            <a:r>
              <a:rPr lang="zh-CN" altLang="zh-CN" sz="3200" b="1" kern="100" dirty="0"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认为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It is generally/long assumed that ... </a:t>
            </a: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普遍</a:t>
            </a: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方正隶变简体" pitchFamily="65" charset="-122"/>
                <a:cs typeface="Times New Roman" panose="02020503050405090304" pitchFamily="18" charset="0"/>
              </a:rPr>
              <a:t>长久认为……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方正隶变简体" pitchFamily="65" charset="-122"/>
              <a:cs typeface="Times New Roman" panose="02020503050405090304" pitchFamily="18" charset="0"/>
            </a:endParaRPr>
          </a:p>
          <a:p>
            <a:pPr algn="just">
              <a:lnSpc>
                <a:spcPct val="110000"/>
              </a:lnSpc>
            </a:pPr>
            <a:endParaRPr lang="en-US" altLang="zh-CN" sz="3200" b="1" kern="100" dirty="0"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3850" y="732989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3272" y="4080234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拓展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4" grpId="0" bldLvl="0" animBg="1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07035" y="476885"/>
            <a:ext cx="11454130" cy="5502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are working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assumption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everyone invited will turn up.</a:t>
            </a: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我们假定了每一个人都会应邀出席并正就此作出安排。</a:t>
            </a: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Assuming (that)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he's still alive, how old would he be now?</a:t>
            </a: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假定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他还活着，现在有多大年纪了？</a:t>
            </a: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我希望明年上大学，当然是在我通过考试的前提下。</a:t>
            </a:r>
          </a:p>
          <a:p>
            <a:pPr indent="-2240280" algn="l">
              <a:lnSpc>
                <a:spcPct val="11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hope to go to college next year, always assuming I pass my exams.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610" y="404495"/>
            <a:ext cx="11470640" cy="3367405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按要求完成句子。</a:t>
            </a:r>
            <a:endParaRPr lang="en-US" altLang="zh-CN" sz="3200" b="1" kern="100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His actions were based on a false __________ (assume).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If there wasn’t the hard work of the dustman, what can you imagine our environment will be like? (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assuming that...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改写</a:t>
            </a: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__________________________________________________, what can you imagine our environment will be like?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00056" y="764704"/>
            <a:ext cx="21900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assumption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5654" y="2996841"/>
            <a:ext cx="10315276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Assuming that there wasn’t the hard work of the dustman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3082" y="4230281"/>
            <a:ext cx="11017224" cy="2289833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 marL="444500" indent="-444500"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People assume that what they do has little effect on the environment. (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作形式主语改写</a:t>
            </a: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444500"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_________________________________________________</a:t>
            </a: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_________________________________________________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9146" y="5254808"/>
            <a:ext cx="9865096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It is assumed that what people do has little effect on the environment. </a:t>
            </a:r>
            <a:endParaRPr lang="zh-CN" altLang="zh-CN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5" grpId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610" y="404495"/>
            <a:ext cx="11470640" cy="6202045"/>
          </a:xfrm>
          <a:prstGeom prst="rect">
            <a:avLst/>
          </a:prstGeom>
        </p:spPr>
        <p:txBody>
          <a:bodyPr wrap="square" lIns="121898" tIns="60948" rIns="121898" bIns="60948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按要求完成句子。</a:t>
            </a:r>
            <a:endParaRPr lang="en-US" altLang="zh-CN" sz="3200" b="1" kern="100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认为这座墓建于汉代似乎有道理。</a:t>
            </a: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seems reasonable to assume that the tomb was built in the Han Dynasty.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508000" y="332740"/>
            <a:ext cx="11198225" cy="304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 wonders for = have a good effect on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对……产生奇效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Sometimes a bit of give-and-take would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 wonders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有时彼此迁就一下就会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有奇效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increase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efficiency of your heart and lungs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增强心肺功能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8560" y="332527"/>
            <a:ext cx="11089232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 It has also been proven that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active people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better immune systems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at lower risk of diseases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514350" indent="-51435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事实也已证明，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经常运动的人往往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拥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有更好的免疫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，并且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患病的风险更低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4820" y="2932377"/>
            <a:ext cx="10585176" cy="304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something tends to happen, it happens often and is likely to happen again</a:t>
            </a:r>
          </a:p>
          <a:p>
            <a:pPr marL="1257300" indent="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趋向，倾向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 more likely to do sth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views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towards the extreme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他的观点趋于偏激。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9425" y="332740"/>
            <a:ext cx="11308080" cy="304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vi.&amp;vt.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care for sb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照顾</a:t>
            </a:r>
            <a:endParaRPr lang="zh-CN" altLang="en-US" sz="3200" b="1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Ambulance crews were tending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injured.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救护车上的救护人员在照料受伤者。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well-tended gardens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精心照料的花园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911414" y="764636"/>
            <a:ext cx="10369152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tend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常常会做某事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往往会做某事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to/towards sth.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趋向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倾向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 (to) sb. /sth.(=look after)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照顾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照料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en-US" altLang="zh-CN" sz="3200" b="1" dirty="0">
                <a:solidFill>
                  <a:srgbClr val="9900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tendency 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倾向、趋势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have a tendency to do sth.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have a tendency to/towards sth.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8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78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78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78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983432" y="1484314"/>
            <a:ext cx="9937104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的适当形式填空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Readers also _________ to share articles that were exciting or funny.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读者们也往往分享让人激动或有趣的文章。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He always has a _________</a:t>
            </a:r>
            <a:r>
              <a:rPr lang="zh-CN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Latin music. </a:t>
            </a:r>
            <a:endParaRPr lang="zh-CN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他对拉丁音乐一直情有独钟。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 bwMode="auto">
          <a:xfrm>
            <a:off x="4007768" y="2060848"/>
            <a:ext cx="1471878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tended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 bwMode="auto">
          <a:xfrm>
            <a:off x="4439816" y="3789040"/>
            <a:ext cx="1859805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tendency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7035" y="135255"/>
            <a:ext cx="11308080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indent="-1257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work out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锻炼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(do workouts/do sports)</a:t>
            </a:r>
          </a:p>
          <a:p>
            <a:pPr marL="1257300" indent="-1257300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57300" indent="-1257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reduce/ease stress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减少压力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number of employees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reduced 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40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25.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雇员人数从 40 人减少到了 25 人。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戒烟会降低心脏病的风险。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Giving up smoking reduces the risk of heart disease.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reduced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begging in the streets.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沦落到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沿街乞讨。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使……陷入更坏的境地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reduced to tears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by their criticisms.</a:t>
            </a:r>
          </a:p>
          <a:p>
            <a:pPr marL="1257300" indent="-12573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他们的批评使她流下了眼泪。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7035" y="135255"/>
            <a:ext cx="11308080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573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number of employees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reduced 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40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25.</a:t>
            </a:r>
          </a:p>
          <a:p>
            <a:pPr indent="-1257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reduction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from 40 to 25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number of employees.</a:t>
            </a:r>
          </a:p>
          <a:p>
            <a:pPr indent="-1257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a 37.5% reduction in ...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2573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雇员人数从 40 人减少到了 25 人。</a:t>
            </a:r>
          </a:p>
          <a:p>
            <a:pPr indent="-125730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2573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are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reductions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children sharing a room with two adults.</a:t>
            </a:r>
          </a:p>
          <a:p>
            <a:pPr indent="-12573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孩子和两个大人合住一间房可以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打折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9425" y="332740"/>
            <a:ext cx="11308080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57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 over negative feelings (overcome)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克服负面情绪</a:t>
            </a:r>
          </a:p>
          <a:p>
            <a:pPr indent="-12573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improves certain brain functions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改善某些大脑机能</a:t>
            </a:r>
          </a:p>
          <a:p>
            <a:pPr indent="-125730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257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exercise your way to better performance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通过锻炼来……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以某种方式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push one’s way / fight one’s way / pick one’s way / make one’s way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去往……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 work one’s way through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自始至终做</a:t>
            </a: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sweat one’s way to good health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挥汗走向健康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0015" y="45085"/>
            <a:ext cx="11866880" cy="634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When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plan an exercise routine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...</a:t>
            </a:r>
          </a:p>
          <a:p>
            <a:pPr indent="-44450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制订锻炼计划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923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routine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usual order in which you do things, or the things you regularly do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常规，惯例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 exercise a part of your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daily routine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让健身成为你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日常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的一部分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are trying to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the baby into a routine for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feeding and sleeping.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我们试着让婴儿按时进食和睡觉。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do sth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matter of routine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定期；例行公事</a:t>
            </a:r>
          </a:p>
          <a:p>
            <a:pPr indent="-1892300" fontAlgn="auto">
              <a:lnSpc>
                <a:spcPct val="11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9540" y="404369"/>
            <a:ext cx="10585176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59000" indent="-21590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needed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break from routine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= boredom)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摆脱乏味的生活</a:t>
            </a:r>
          </a:p>
          <a:p>
            <a:pPr marL="2159000" indent="-21590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routine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</a:p>
          <a:p>
            <a:pPr marL="2159000" indent="-21590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mustn’t worry. These are just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routine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enquiries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询问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).</a:t>
            </a:r>
          </a:p>
          <a:p>
            <a:pPr marL="2159000" indent="-21590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日常的询问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622300" indent="-622300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Routine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tasks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such as washing up also needs to be done.</a:t>
            </a:r>
          </a:p>
          <a:p>
            <a:pPr marL="622300" indent="-6223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乏味的</a:t>
            </a:r>
          </a:p>
          <a:p>
            <a:pPr marL="622300" indent="-622300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2300" indent="-6223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type of work rapidly becomes routine.</a:t>
            </a:r>
          </a:p>
          <a:p>
            <a:pPr marL="622300" indent="-6223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这种工作很快就变得乏味无聊。</a:t>
            </a:r>
          </a:p>
          <a:p>
            <a:pPr marL="2159000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135" y="188595"/>
            <a:ext cx="11713210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your muscles and improve your body’s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movement.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舒展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伸展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肌肉，增大肢体活动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幅度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  <a:p>
            <a:pPr marL="355600" indent="-355600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vi.&amp;vt.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pull tight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sure that the rope is stretched tight.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务必要把绳子拉紧。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put your arms or legs out straight 伸展；舒展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stretched and yawned lazily.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他伸了伸懒腰，打了个哈欠。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exercises are designed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 your leg muscles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这些活动目的在于伸展你的腿部肌肉。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7368" y="272549"/>
            <a:ext cx="11377264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reach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stretched across the table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butter.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她伸手到桌子那头去拿黄油。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stretched out his arm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get the apple on the tree.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我伸出一只手，把书捡起来。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stretched out a hand and picked up the book.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extend </a:t>
            </a:r>
            <a:r>
              <a:rPr lang="zh-CN" altLang="en-US" sz="3200" b="1" dirty="0">
                <a:solidFill>
                  <a:prstClr val="black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延伸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Fields and hills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stretched (out)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as far as we could see.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放眼望去，田野山丘绵延不绝。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town's history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stretches back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before 1500.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该镇的历史可以上溯到公元 1500 年以前。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4978" y="44584"/>
            <a:ext cx="11377264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limits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变动或浮动的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)范围，界限，区间</a:t>
            </a: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Most of the students are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17–20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age range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17-20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岁年龄范围内</a:t>
            </a: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will be an increase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range of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0 to 3 per cent.</a:t>
            </a: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价格范围内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price range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was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outside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/beyond/out of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range of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his experience.</a:t>
            </a:r>
          </a:p>
          <a:p>
            <a:pPr marL="355600" indent="-355600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超出范围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shouted angrily at anyone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within range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他看见谁就对谁吼叫。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4978" y="44584"/>
            <a:ext cx="11377264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variety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种类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hotel offers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wide/full range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facilities.</a:t>
            </a:r>
          </a:p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这家酒店提供各种各样的设施。</a:t>
            </a:r>
          </a:p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 great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mountain range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the Alps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山脉</a:t>
            </a:r>
          </a:p>
          <a:p>
            <a:pPr indent="-355600" fontAlgn="auto">
              <a:lnSpc>
                <a:spcPct val="11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变化</a:t>
            </a:r>
          </a:p>
          <a:p>
            <a:pPr indent="-35560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has had a number of different jobs,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ranging 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chef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swimming instructor.</a:t>
            </a:r>
          </a:p>
          <a:p>
            <a:pPr indent="-35560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她做过许多不同的工作，从厨师到游泳教练。</a:t>
            </a:r>
          </a:p>
          <a:p>
            <a:pPr indent="-35560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conversation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ranged widely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35560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谈话所涉及的范围很广。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(= covered a lot of different topics).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7368" y="272549"/>
            <a:ext cx="11377264" cy="1714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55600" fontAlgn="auto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Above all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choose activities you enjoy because, in this way, you’re more likely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stick with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them.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最重要的是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most important of all</a:t>
            </a:r>
          </a:p>
        </p:txBody>
      </p:sp>
      <p:sp>
        <p:nvSpPr>
          <p:cNvPr id="4" name="矩形 3"/>
          <p:cNvSpPr/>
          <p:nvPr/>
        </p:nvSpPr>
        <p:spPr>
          <a:xfrm>
            <a:off x="765810" y="2420620"/>
            <a:ext cx="1065593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should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stick with (to)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our original plan.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These words will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stick with me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the rest of my life.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9470" y="3501390"/>
            <a:ext cx="9237980" cy="2256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归纳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】stick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相关短语</a:t>
            </a:r>
            <a:endParaRPr lang="en-US" altLang="zh-CN" sz="3200" b="1" kern="100" dirty="0">
              <a:solidFill>
                <a:srgbClr val="0000FF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algn="just">
              <a:lnSpc>
                <a:spcPct val="11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stick out (vt.)  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伸出；探出；</a:t>
            </a:r>
            <a:r>
              <a:rPr lang="en-US" altLang="zh-CN" sz="3200" b="1" kern="100" dirty="0">
                <a:solidFill>
                  <a:srgbClr val="C0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(vi.)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醒目，显眼</a:t>
            </a:r>
          </a:p>
          <a:p>
            <a:pPr algn="just">
              <a:lnSpc>
                <a:spcPct val="11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stick to             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坚持，信守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(to</a:t>
            </a:r>
            <a:r>
              <a:rPr lang="zh-CN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为介词</a:t>
            </a:r>
            <a:r>
              <a:rPr lang="en-US" altLang="zh-CN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</a:t>
            </a:r>
            <a:endParaRPr lang="zh-CN" altLang="zh-CN" sz="3200" b="1" kern="100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algn="just">
              <a:lnSpc>
                <a:spcPct val="110000"/>
              </a:lnSpc>
              <a:tabLst>
                <a:tab pos="2070735" algn="l"/>
              </a:tabLst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be/get stuck in </a:t>
            </a:r>
            <a:r>
              <a:rPr lang="zh-CN" altLang="en-US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陷入；困在</a:t>
            </a:r>
            <a:r>
              <a:rPr lang="en-US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kern="100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中</a:t>
            </a:r>
            <a:endParaRPr lang="en-US" altLang="zh-CN" sz="3200" b="1" kern="100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9287" y="260509"/>
            <a:ext cx="9677400" cy="4845050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0000FF"/>
                </a:solidFill>
                <a:latin typeface="+mn-ea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+mn-ea"/>
                <a:cs typeface="Times New Roman" panose="02020503050405090304" pitchFamily="18" charset="0"/>
              </a:rPr>
              <a:t>语境应用</a:t>
            </a:r>
            <a:r>
              <a:rPr lang="en-US" altLang="zh-CN" sz="3200" b="1" kern="100" dirty="0">
                <a:solidFill>
                  <a:srgbClr val="0000FF"/>
                </a:solidFill>
                <a:latin typeface="+mn-ea"/>
                <a:cs typeface="Times New Roman" panose="02020503050405090304" pitchFamily="18" charset="0"/>
              </a:rPr>
              <a:t>】</a:t>
            </a:r>
            <a:r>
              <a:rPr lang="zh-CN" altLang="en-US" sz="3200" b="1" kern="100" dirty="0">
                <a:solidFill>
                  <a:srgbClr val="0000FF"/>
                </a:solidFill>
                <a:latin typeface="+mn-ea"/>
                <a:cs typeface="Times New Roman" panose="02020503050405090304" pitchFamily="18" charset="0"/>
              </a:rPr>
              <a:t>根据语境完成句子。</a:t>
            </a:r>
            <a:endParaRPr lang="en-US" altLang="zh-CN" sz="3200" b="1" kern="100" dirty="0">
              <a:solidFill>
                <a:srgbClr val="0000FF"/>
              </a:solidFill>
              <a:latin typeface="+mn-ea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1) All his life, he _____________ (</a:t>
            </a:r>
            <a:r>
              <a:rPr lang="zh-CN" altLang="en-US" sz="3200" b="1" kern="100" dirty="0">
                <a:latin typeface="+mj-ea"/>
                <a:ea typeface="+mj-ea"/>
                <a:cs typeface="Times New Roman" panose="02020503050405090304" pitchFamily="18" charset="0"/>
              </a:rPr>
              <a:t>陷入，被困在</a:t>
            </a: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) his house taken care of by his mother.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2) Once a decision has been made, all of us should _______ it. 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一旦做了决定，我们就应该坚持。  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3) Be careful! There’s a nail ____________ (</a:t>
            </a:r>
            <a:r>
              <a:rPr lang="zh-CN" altLang="zh-CN" sz="3200" b="1" kern="100" dirty="0">
                <a:latin typeface="+mj-ea"/>
                <a:ea typeface="+mj-ea"/>
                <a:cs typeface="Times New Roman" panose="02020503050405090304" pitchFamily="18" charset="0"/>
              </a:rPr>
              <a:t>突出</a:t>
            </a: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)  </a:t>
            </a:r>
            <a:r>
              <a:rPr lang="en-US" altLang="zh-CN" sz="3200" b="1" kern="100" dirty="0">
                <a:solidFill>
                  <a:srgbClr val="C00000"/>
                </a:solidFill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of </a:t>
            </a:r>
            <a:r>
              <a:rPr lang="en-US" altLang="zh-CN" sz="3200" b="1" kern="100" dirty="0">
                <a:latin typeface="Times New Roman" panose="02020503050405090304" pitchFamily="18" charset="0"/>
                <a:ea typeface="华文细黑" panose="02010600040101010101" charset="-122"/>
                <a:cs typeface="Times New Roman" panose="02020503050405090304" pitchFamily="18" charset="0"/>
              </a:rPr>
              <a:t>that board.</a:t>
            </a:r>
            <a:endParaRPr lang="zh-CN" altLang="zh-CN" sz="3200" b="1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07386" y="980821"/>
            <a:ext cx="25562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was stuck in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5638" y="2564649"/>
            <a:ext cx="1449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stick to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80229" y="3861657"/>
            <a:ext cx="26104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/>
                <a:ea typeface="华文细黑" panose="02010600040101010101" charset="-122"/>
                <a:cs typeface="Courier New" panose="02070409020205090404"/>
              </a:rPr>
              <a:t> sticking  out  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/>
              <a:ea typeface="华文细黑" panose="02010600040101010101" charset="-122"/>
              <a:cs typeface="Courier New" panose="020704090202050904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7368" y="332656"/>
            <a:ext cx="11305256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general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you should have your meal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 of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1.5 to 2.5 hours before exercising.</a:t>
            </a:r>
          </a:p>
          <a:p>
            <a:pPr marL="355600" indent="-355600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一般来说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，你应该在运动前平均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1.5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到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2.5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小时进餐。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96121" y="4653280"/>
            <a:ext cx="8712968" cy="1301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lIns="121898" tIns="60948" rIns="121898" bIns="60948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(an/the) average </a:t>
            </a:r>
            <a:r>
              <a:rPr lang="zh-CN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平均；一般地</a:t>
            </a: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above/below (the) average </a:t>
            </a:r>
            <a:r>
              <a:rPr lang="zh-CN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在平均水平以上</a:t>
            </a:r>
            <a:r>
              <a:rPr lang="en-US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zh-CN" sz="3200" b="1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以下</a:t>
            </a:r>
          </a:p>
        </p:txBody>
      </p:sp>
      <p:sp>
        <p:nvSpPr>
          <p:cNvPr id="6" name="矩形 5"/>
          <p:cNvSpPr/>
          <p:nvPr/>
        </p:nvSpPr>
        <p:spPr>
          <a:xfrm>
            <a:off x="767408" y="2201850"/>
            <a:ext cx="10657184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8500" lvl="0" indent="-196850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usual level or amount for most people or things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一般水平；平均标准</a:t>
            </a:r>
          </a:p>
          <a:p>
            <a:pPr marL="1968500" lvl="0" indent="-1968500"/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68500" lvl="0" indent="-196850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average of 10 weeks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平均十周</a:t>
            </a:r>
          </a:p>
        </p:txBody>
      </p:sp>
      <p:sp>
        <p:nvSpPr>
          <p:cNvPr id="3" name="矩形 2"/>
          <p:cNvSpPr/>
          <p:nvPr/>
        </p:nvSpPr>
        <p:spPr>
          <a:xfrm>
            <a:off x="670318" y="4869331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归纳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无比较级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平均的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 and large,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average earnings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increased dramatically in the past ten years in this region.</a:t>
            </a: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平均收入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typical or normal 典型的；正常的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40 hours is a fairly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working week for most people. </a:t>
            </a: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对大多数人来说，一周工作40小时是相当正常的。</a:t>
            </a:r>
          </a:p>
          <a:p>
            <a:pPr indent="-720725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ordinary; not special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普通的；平常的；一般的</a:t>
            </a: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was just 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average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sort of student.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我只是一个普通的学生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551180" y="0"/>
            <a:ext cx="1147699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89025" indent="-28575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733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500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3305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05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77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49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21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翻译下列句子</a:t>
            </a:r>
            <a:r>
              <a:rPr lang="zh-CN" altLang="en-US" sz="3200" b="1" dirty="0">
                <a:solidFill>
                  <a:srgbClr val="000000"/>
                </a:solidFill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</a:rPr>
              <a:t>这些分数远在平均水平以上。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</a:rPr>
              <a:t>These marks are well above average.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</a:rPr>
              <a:t>学生的平均年龄是</a:t>
            </a:r>
            <a:r>
              <a:rPr lang="en-US" altLang="zh-CN" sz="3200" b="1" dirty="0">
                <a:solidFill>
                  <a:srgbClr val="000000"/>
                </a:solidFill>
              </a:rPr>
              <a:t>19</a:t>
            </a:r>
            <a:r>
              <a:rPr lang="zh-CN" altLang="en-US" sz="3200" b="1" dirty="0">
                <a:solidFill>
                  <a:srgbClr val="000000"/>
                </a:solidFill>
              </a:rPr>
              <a:t>岁。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</a:rPr>
              <a:t>The average age of the students is 19.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3) </a:t>
            </a:r>
            <a:r>
              <a:rPr lang="zh-CN" altLang="en-US" sz="3200" b="1" dirty="0">
                <a:solidFill>
                  <a:srgbClr val="000000"/>
                </a:solidFill>
              </a:rPr>
              <a:t>我们平均每天会收到</a:t>
            </a:r>
            <a:r>
              <a:rPr lang="en-US" altLang="zh-CN" sz="3200" b="1" dirty="0">
                <a:solidFill>
                  <a:srgbClr val="000000"/>
                </a:solidFill>
              </a:rPr>
              <a:t>5</a:t>
            </a:r>
            <a:r>
              <a:rPr lang="zh-CN" altLang="en-US" sz="3200" b="1" dirty="0">
                <a:solidFill>
                  <a:srgbClr val="000000"/>
                </a:solidFill>
              </a:rPr>
              <a:t>封信。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</a:rPr>
              <a:t>On average, we receive five letters each day.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4) </a:t>
            </a:r>
            <a:r>
              <a:rPr lang="zh-CN" altLang="en-US" sz="3200" b="1" dirty="0">
                <a:solidFill>
                  <a:schemeClr val="tx1"/>
                </a:solidFill>
              </a:rPr>
              <a:t>当你锻炼时，目标每天平均</a:t>
            </a:r>
            <a:r>
              <a:rPr lang="en-US" altLang="zh-CN" sz="3200" b="1" dirty="0">
                <a:solidFill>
                  <a:schemeClr val="tx1"/>
                </a:solidFill>
              </a:rPr>
              <a:t>30-60</a:t>
            </a:r>
            <a:r>
              <a:rPr lang="zh-CN" altLang="en-US" sz="3200" b="1" dirty="0">
                <a:solidFill>
                  <a:schemeClr val="tx1"/>
                </a:solidFill>
              </a:rPr>
              <a:t>分钟。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When you exercise, aim for the daily average of 30 to 60 minutes.</a:t>
            </a:r>
          </a:p>
        </p:txBody>
      </p:sp>
      <p:sp>
        <p:nvSpPr>
          <p:cNvPr id="3" name="矩形 2"/>
          <p:cNvSpPr/>
          <p:nvPr/>
        </p:nvSpPr>
        <p:spPr>
          <a:xfrm>
            <a:off x="551399" y="4941094"/>
            <a:ext cx="10513168" cy="711200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</a:t>
            </a:r>
            <a:endParaRPr lang="en-US" sz="3200" b="1" kern="100" dirty="0">
              <a:latin typeface="+mn-ea"/>
              <a:cs typeface="Times New Roman" panose="020205030504050903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4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46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uiExpand="1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9123" y="260332"/>
            <a:ext cx="11233248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8. Remember to drink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throughout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exercise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for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water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lost to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sweat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5600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记得在运动过程中喝水，以弥补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因出汗而流失的水分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7852" y="2492979"/>
            <a:ext cx="104411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551180" y="2420620"/>
            <a:ext cx="1147699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89025" indent="-28575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733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500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3305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05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77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49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21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They are just </a:t>
            </a:r>
            <a:r>
              <a:rPr lang="en-US" altLang="zh-CN" sz="3200" b="1" u="sng" dirty="0">
                <a:solidFill>
                  <a:srgbClr val="FF0000"/>
                </a:solidFill>
              </a:rPr>
              <a:t>making up</a:t>
            </a:r>
            <a:r>
              <a:rPr lang="en-US" altLang="zh-CN" sz="3200" b="1" u="sng" dirty="0">
                <a:solidFill>
                  <a:schemeClr val="tx1"/>
                </a:solidFill>
              </a:rPr>
              <a:t> the whole story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Women only </a:t>
            </a:r>
            <a:r>
              <a:rPr lang="en-US" altLang="zh-CN" sz="3200" b="1" u="sng" dirty="0">
                <a:solidFill>
                  <a:srgbClr val="FF0000"/>
                </a:solidFill>
              </a:rPr>
              <a:t>make up</a:t>
            </a:r>
            <a:r>
              <a:rPr lang="en-US" altLang="zh-CN" sz="3200" b="1" u="sng" dirty="0">
                <a:solidFill>
                  <a:schemeClr val="tx1"/>
                </a:solidFill>
              </a:rPr>
              <a:t> a small percentage </a:t>
            </a:r>
            <a:r>
              <a:rPr lang="en-US" altLang="zh-CN" sz="3200" b="1" dirty="0">
                <a:solidFill>
                  <a:schemeClr val="tx1"/>
                </a:solidFill>
              </a:rPr>
              <a:t>of the top management positions in this company.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She often quarrels with her husband, but </a:t>
            </a:r>
            <a:r>
              <a:rPr lang="en-US" altLang="zh-CN" sz="3200" b="1" u="sng" dirty="0">
                <a:solidFill>
                  <a:srgbClr val="FF0000"/>
                </a:solidFill>
              </a:rPr>
              <a:t>makes (it) up with</a:t>
            </a:r>
            <a:r>
              <a:rPr lang="en-US" altLang="zh-CN" sz="3200" b="1" u="sng" dirty="0">
                <a:solidFill>
                  <a:schemeClr val="tx1"/>
                </a:solidFill>
              </a:rPr>
              <a:t> him</a:t>
            </a:r>
            <a:r>
              <a:rPr lang="en-US" altLang="zh-CN" sz="3200" b="1" dirty="0">
                <a:solidFill>
                  <a:schemeClr val="tx1"/>
                </a:solidFill>
              </a:rPr>
              <a:t> soon.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They </a:t>
            </a:r>
            <a:r>
              <a:rPr lang="en-US" altLang="zh-CN" sz="3200" b="1" u="sng" dirty="0">
                <a:solidFill>
                  <a:srgbClr val="FF0000"/>
                </a:solidFill>
              </a:rPr>
              <a:t>made</a:t>
            </a:r>
            <a:r>
              <a:rPr lang="en-US" altLang="zh-CN" sz="3200" b="1" u="sng" dirty="0">
                <a:solidFill>
                  <a:schemeClr val="tx1"/>
                </a:solidFill>
              </a:rPr>
              <a:t> her </a:t>
            </a:r>
            <a:r>
              <a:rPr lang="en-US" altLang="zh-CN" sz="3200" b="1" u="sng" dirty="0">
                <a:solidFill>
                  <a:srgbClr val="FF0000"/>
                </a:solidFill>
              </a:rPr>
              <a:t>up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</a:rPr>
              <a:t>as an old lady for the final act of the play.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183880" y="2493010"/>
            <a:ext cx="38449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编造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故事、借口等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664200" y="3644900"/>
            <a:ext cx="12306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构成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783205" y="4940935"/>
            <a:ext cx="12306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化妆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824470" y="3789045"/>
            <a:ext cx="39579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（与某人）言归于好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7" grpId="0"/>
      <p:bldP spid="7" grpId="1"/>
      <p:bldP spid="9" grpId="0"/>
      <p:bldP spid="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83937" y="3573016"/>
            <a:ext cx="6840760" cy="3044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it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获得成功；能够出席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out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看清；辨认出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the most/best of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充分利用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sense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有道理；有意义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sense of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理解；弄懂</a:t>
            </a:r>
          </a:p>
        </p:txBody>
      </p:sp>
      <p:sp>
        <p:nvSpPr>
          <p:cNvPr id="3" name="矩形 2"/>
          <p:cNvSpPr/>
          <p:nvPr/>
        </p:nvSpPr>
        <p:spPr>
          <a:xfrm>
            <a:off x="695400" y="334076"/>
            <a:ext cx="66967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for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弥补，补偿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83937" y="918851"/>
            <a:ext cx="6840760" cy="2453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编造；化妆；构成，形成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 up an excuse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编造一个理由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made up of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构成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with sb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与某人和解</a:t>
            </a:r>
          </a:p>
        </p:txBody>
      </p:sp>
      <p:sp>
        <p:nvSpPr>
          <p:cNvPr id="2" name="矩形 1"/>
          <p:cNvSpPr/>
          <p:nvPr/>
        </p:nvSpPr>
        <p:spPr>
          <a:xfrm>
            <a:off x="528588" y="1631892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</p:txBody>
      </p:sp>
      <p:sp>
        <p:nvSpPr>
          <p:cNvPr id="5" name="矩形 4"/>
          <p:cNvSpPr/>
          <p:nvPr/>
        </p:nvSpPr>
        <p:spPr>
          <a:xfrm>
            <a:off x="551384" y="4293096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623392" y="476672"/>
            <a:ext cx="10513168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一词多义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写出下列句子中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的含义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North Africans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largest and poorest immigrant group in the country.____________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I think it’s very unkind of you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stories about him.  __________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She spent too much time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herself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__________</a:t>
            </a:r>
          </a:p>
        </p:txBody>
      </p:sp>
      <p:sp>
        <p:nvSpPr>
          <p:cNvPr id="197637" name="Rectangle 5"/>
          <p:cNvSpPr>
            <a:spLocks noChangeArrowheads="1"/>
          </p:cNvSpPr>
          <p:nvPr/>
        </p:nvSpPr>
        <p:spPr bwMode="auto">
          <a:xfrm>
            <a:off x="6960096" y="1646027"/>
            <a:ext cx="2347117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组成；构成 </a:t>
            </a:r>
          </a:p>
        </p:txBody>
      </p:sp>
      <p:sp>
        <p:nvSpPr>
          <p:cNvPr id="197638" name="Rectangle 6"/>
          <p:cNvSpPr>
            <a:spLocks noChangeArrowheads="1"/>
          </p:cNvSpPr>
          <p:nvPr/>
        </p:nvSpPr>
        <p:spPr bwMode="auto">
          <a:xfrm>
            <a:off x="2423592" y="2855640"/>
            <a:ext cx="1111202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编造 </a:t>
            </a:r>
          </a:p>
        </p:txBody>
      </p:sp>
      <p:sp>
        <p:nvSpPr>
          <p:cNvPr id="197639" name="Rectangle 7"/>
          <p:cNvSpPr>
            <a:spLocks noChangeArrowheads="1"/>
          </p:cNvSpPr>
          <p:nvPr/>
        </p:nvSpPr>
        <p:spPr bwMode="auto">
          <a:xfrm>
            <a:off x="9307213" y="3431327"/>
            <a:ext cx="1111202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化妆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23392" y="3988598"/>
            <a:ext cx="10801200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Can I leave early this afternoon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 for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lost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time tomorrow?__________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Why don’t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up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with her and forget all about the quarrel?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367312" y="4581302"/>
            <a:ext cx="1215397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弥补 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431704" y="5744995"/>
            <a:ext cx="1215397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和解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7" grpId="0"/>
      <p:bldP spid="197638" grpId="0"/>
      <p:bldP spid="197639" grpId="0"/>
      <p:bldP spid="7" grpId="0" bldLvl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头部受伤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sufferd an injury to head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injured one’s head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avoid injury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避免受伤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(un.&amp;cn.)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9000" algn="l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have/suffer an injury/injuries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受伤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serious/severe/minor injury/injuries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轻伤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injury to the head/to one’s pride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头部受伤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自尊心受伤</a:t>
            </a:r>
          </a:p>
          <a:p>
            <a:pPr indent="-2159000" algn="l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crash caused serious results, three _____ (kill) and five ______ (injure).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撞车事故中有三人死亡，五人受伤。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injure vt. 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injured his knee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playing hockey.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他打曲棍球时膝盖受伤。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Three people were injured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the crash.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撞车事故中有三人受伤。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injure one’s reputation/health.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损害声誉/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健康</a:t>
            </a:r>
          </a:p>
          <a:p>
            <a:pPr indent="-2159000" algn="l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injured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伤者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304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equipment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设备；器材</a:t>
            </a: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useful piece of equipment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for the kitchen</a:t>
            </a: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一件有用的厨房设备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some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new equipment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for the sports club</a:t>
            </a: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体育俱乐部的新器材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135" y="45085"/>
            <a:ext cx="11838940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equip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配备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project aims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equip children with the skills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necessary for conducting a survey.</a:t>
            </a: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这个项目的目的是让孩子们具备开展调查的必备技能。</a:t>
            </a: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centre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is well equipped for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canoeing and mountaineering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装备齐全的</a:t>
            </a:r>
          </a:p>
          <a:p>
            <a:pPr indent="-2159000" algn="l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machine ________ (equip) with security cameras and alarms looks like a mini shop.</a:t>
            </a:r>
          </a:p>
          <a:p>
            <a:pPr indent="-215900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They were not provided with adequate ___________ (equip).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496185" y="4220845"/>
            <a:ext cx="203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equipped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176135" y="5373370"/>
            <a:ext cx="22967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equip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96520" y="44450"/>
            <a:ext cx="11931650" cy="6423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89025" indent="-28575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733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500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3305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05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77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49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21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</a:rPr>
              <a:t> 9. ...make up for their </a:t>
            </a:r>
            <a:r>
              <a:rPr lang="en-US" sz="3200" b="1" dirty="0">
                <a:solidFill>
                  <a:srgbClr val="FF0000"/>
                </a:solidFill>
              </a:rPr>
              <a:t>lack of exercise</a:t>
            </a:r>
            <a:r>
              <a:rPr lang="en-US" sz="3200" b="1" dirty="0">
                <a:solidFill>
                  <a:schemeClr val="tx1"/>
                </a:solidFill>
              </a:rPr>
              <a:t> during the weekdays.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lack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缺乏</a:t>
            </a:r>
            <a:endParaRPr lang="en-US" sz="3200" b="1" dirty="0">
              <a:solidFill>
                <a:srgbClr val="FF0000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(a) lack of food/money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Our project had to be cancelled </a:t>
            </a:r>
            <a:r>
              <a:rPr lang="en-US" altLang="zh-CN" sz="3200" b="1" u="sng" dirty="0">
                <a:solidFill>
                  <a:srgbClr val="FF0000"/>
                </a:solidFill>
              </a:rPr>
              <a:t>for lack of</a:t>
            </a:r>
            <a:r>
              <a:rPr lang="en-US" altLang="zh-CN" sz="3200" b="1" dirty="0">
                <a:solidFill>
                  <a:srgbClr val="FF0000"/>
                </a:solidFill>
              </a:rPr>
              <a:t> money.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由于缺乏……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lack sth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</a:rPr>
              <a:t>) 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lack creativity/confidence/money </a:t>
            </a:r>
            <a:r>
              <a:rPr lang="zh-CN" altLang="en-US" sz="3200" b="1" dirty="0">
                <a:solidFill>
                  <a:schemeClr val="tx1"/>
                </a:solidFill>
              </a:rPr>
              <a:t>缺乏创造力</a:t>
            </a:r>
            <a:r>
              <a:rPr lang="en-US" altLang="zh-CN" sz="3200" b="1" dirty="0">
                <a:solidFill>
                  <a:schemeClr val="tx1"/>
                </a:solidFill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</a:rPr>
              <a:t>自信</a:t>
            </a:r>
            <a:r>
              <a:rPr lang="en-US" altLang="zh-CN" sz="3200" b="1" dirty="0">
                <a:solidFill>
                  <a:schemeClr val="tx1"/>
                </a:solidFill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</a:rPr>
              <a:t>金钱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be lacking in sth (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a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dj.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She </a:t>
            </a:r>
            <a:r>
              <a:rPr lang="en-US" sz="3200" b="1" u="sng" dirty="0">
                <a:solidFill>
                  <a:schemeClr val="tx1"/>
                </a:solidFill>
                <a:sym typeface="+mn-ea"/>
              </a:rPr>
              <a:t>is lacking in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the ability to keep everything in her work in good order.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= She lacks the ability ...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4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4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46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46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build="p"/>
      <p:bldP spid="114690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479425" y="260350"/>
            <a:ext cx="11476990" cy="561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89025" indent="-28575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733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5000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3305" indent="-228600" algn="l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05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77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49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210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What is ________ (lack) today is the conflict between adolescent’s desire for antonomy and their understanding of an unsafe world.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</a:rPr>
              <a:t>The difference in physical education programmes is partly due to ____ _____ ____ a national standard.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体育项目具有差异，部分是因为缺乏国家标准。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991360" y="260985"/>
            <a:ext cx="18669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lacking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271270" y="2637155"/>
            <a:ext cx="27374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  lack   of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uiExpand="1" build="p"/>
      <p:bldP spid="114690" grpId="1"/>
      <p:bldP spid="2" grpId="0"/>
      <p:bldP spid="2" grpId="1"/>
      <p:bldP spid="3" grpId="0"/>
      <p:bldP spid="3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4978" y="44584"/>
            <a:ext cx="11377264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10.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Habits like these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stress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body, and 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maintained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over the long term, they can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become a serious health risk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给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带来压力                         成为严重的健康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隐患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(风险)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maintain a balance/standards/prices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maintain one’s strength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maintain friendly relations/contacts with sb.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maintain the road/house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maintain equipment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____  /ˈmeɪntənəns/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maintenance costs     //    the maintenance of international peace</a:t>
            </a:r>
          </a:p>
          <a:p>
            <a:pPr marL="355600" indent="-35560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汽车保养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car _____  //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例行维护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599555" y="54451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routine 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/>
      <p:bldP spid="3" grpId="0"/>
      <p:bldP spid="3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3525" y="260985"/>
            <a:ext cx="11495405" cy="3342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(1) He would still not excuse their action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were it all true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即使这都是事实，他也不会原谅他们的行动。</a:t>
            </a:r>
          </a:p>
          <a:p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(2) No one would blame you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should you change your mind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万一你改变主意，谁也不会怨你。</a:t>
            </a:r>
          </a:p>
          <a:p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(3) I would have written before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had I known your address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我要是知道你的地址我早就给你写信了。</a:t>
            </a:r>
          </a:p>
          <a:p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(4)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How different his life would have been,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had he not met Louisa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如果没有遇到路易莎他的人生会多么不同。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f809f83-af55-4625-a3e4-6a488ed1d0e8"/>
  <p:tag name="COMMONDATA" val="eyJoZGlkIjoiYmMzNWU1ZjI4ZWM4ZjAwYzEwNGU0ZTY1NDhkZjk1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2985</Words>
  <Application>Microsoft Macintosh PowerPoint</Application>
  <PresentationFormat>Widescreen</PresentationFormat>
  <Paragraphs>336</Paragraphs>
  <Slides>40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128</cp:revision>
  <dcterms:created xsi:type="dcterms:W3CDTF">2023-12-12T04:58:25Z</dcterms:created>
  <dcterms:modified xsi:type="dcterms:W3CDTF">2026-07-22T13:06:43Z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2758397680544A31AB3CB84BE0BAB37D</vt:lpwstr>
  </property>
  <property fmtid="{D5CDD505-2E9C-101B-9397-08002B2CF9AE}" pid="3" name="KSOProductBuildVer">
    <vt:lpwstr>1033-6.4.0.8550</vt:lpwstr>
  </property>
</Properties>
</file>