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8" r:id="rId2"/>
    <p:sldId id="275" r:id="rId3"/>
    <p:sldId id="299" r:id="rId4"/>
    <p:sldId id="314" r:id="rId5"/>
    <p:sldId id="276" r:id="rId6"/>
    <p:sldId id="300" r:id="rId7"/>
    <p:sldId id="315" r:id="rId8"/>
    <p:sldId id="277" r:id="rId9"/>
    <p:sldId id="316" r:id="rId10"/>
    <p:sldId id="317" r:id="rId11"/>
    <p:sldId id="301" r:id="rId12"/>
    <p:sldId id="318" r:id="rId13"/>
    <p:sldId id="302" r:id="rId14"/>
    <p:sldId id="319" r:id="rId15"/>
    <p:sldId id="320" r:id="rId16"/>
    <p:sldId id="323" r:id="rId17"/>
    <p:sldId id="324" r:id="rId18"/>
    <p:sldId id="325" r:id="rId19"/>
    <p:sldId id="326" r:id="rId20"/>
    <p:sldId id="303" r:id="rId21"/>
    <p:sldId id="321" r:id="rId22"/>
    <p:sldId id="304" r:id="rId23"/>
    <p:sldId id="322" r:id="rId24"/>
    <p:sldId id="305" r:id="rId25"/>
    <p:sldId id="30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>
      <p:cViewPr varScale="1">
        <p:scale>
          <a:sx n="103" d="100"/>
          <a:sy n="103" d="100"/>
        </p:scale>
        <p:origin x="80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A0C0A-B984-4E95-AA12-9683D98DB00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DCB33-5B6E-4B5C-91C0-4A73E5AF7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5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DCB33-5B6E-4B5C-91C0-4A73E5AF7E0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20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65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67408" y="2113774"/>
            <a:ext cx="11089232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75" indent="-1793875"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hesitate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v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 slow to speak or act because one feels uncertain or unwilling; pause in doubt</a:t>
            </a:r>
            <a:r>
              <a:rPr lang="zh-CN" altLang="zh-CN" sz="3200" b="1" kern="1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犹豫；踌躇；迟疑不决</a:t>
            </a:r>
            <a:endParaRPr lang="zh-CN" altLang="zh-CN" sz="3200" kern="1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7408" y="3356992"/>
            <a:ext cx="1094521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hesitate to do 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 </a:t>
            </a:r>
            <a:r>
              <a:rPr lang="zh-CN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迟疑做某事；不愿做某事</a:t>
            </a: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hesitate about/at/over </a:t>
            </a:r>
            <a:r>
              <a:rPr lang="zh-CN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</a:t>
            </a:r>
            <a:r>
              <a:rPr lang="en-US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犹豫不决</a:t>
            </a:r>
            <a:endParaRPr lang="en-US" altLang="zh-CN" sz="3200" b="1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hesitate (about) 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从句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 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-+to do 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</a:t>
            </a:r>
            <a:r>
              <a:rPr lang="en-US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犹豫不决</a:t>
            </a:r>
            <a:endParaRPr lang="en-US" altLang="zh-CN" sz="3200" b="1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628650" indent="-628650"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eg  Don’t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hesitate to contact </a:t>
            </a:r>
            <a:r>
              <a:rPr lang="en-US" altLang="zh-CN" sz="32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 if you need any more information.</a:t>
            </a:r>
            <a:endParaRPr lang="zh-CN" altLang="zh-CN" sz="3200" b="1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7093" y="917360"/>
            <a:ext cx="11037192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When my friend first suggested that we join the new Tai Chi Club at school I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hesitated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400" y="1628800"/>
            <a:ext cx="11017224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hesitation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犹豫；踌躇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hesitation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毫不犹豫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no hesitation in doing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毫不犹豫地做某事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without hesitation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毫不犹豫地做某事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  I would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no hesitation in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recommending Philip for the position.</a:t>
            </a: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boy followed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hesitation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980728"/>
            <a:ext cx="141444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5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7408" y="1988840"/>
            <a:ext cx="11017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He __________________ nothing.</a:t>
            </a:r>
          </a:p>
          <a:p>
            <a:pPr indent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他对什么事都毫不迟疑。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He followed __________________.</a:t>
            </a:r>
          </a:p>
          <a:p>
            <a:pPr indent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他毫不犹豫地跟了上去。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75520" y="2564904"/>
            <a:ext cx="387798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hesitates about/ over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9696" y="3772679"/>
            <a:ext cx="344196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hesitation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95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67408" y="1736000"/>
            <a:ext cx="10873208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85950" indent="-18859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 to agree that something is true, especially unwillingly 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承认；招认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78025" indent="-45720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to allow 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enter a public place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78025" indent="-45720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to allow 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join an organization, club etc.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准许加入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7368" y="1052736"/>
            <a:ext cx="9811241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 had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 had been wrong about tai chi.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400" y="332656"/>
            <a:ext cx="1116124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/having done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承认做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 ...to be... 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to/into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允许某人进入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admitted as...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被接受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as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后接表示成员的名词。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admitted causing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 by reckless driving.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After questioning,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admitted 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murder.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2663" indent="-5365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society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US citizens over 21.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准许进入；承认；入场费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32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352" y="764704"/>
            <a:ext cx="115212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Only after you meet these requests _______________________ our school.</a:t>
            </a:r>
          </a:p>
          <a:p>
            <a:pPr marL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只有你达到 这些要求后你都会被我们学校录取。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When the police questioned George, he ___________________ the car.</a:t>
            </a:r>
          </a:p>
          <a:p>
            <a:pPr marL="446088" indent="-446088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If you leave the club, you will not __________ (admit) into the club again.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88979" y="1340768"/>
            <a:ext cx="519565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you be admitted to/ into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24829" y="3079442"/>
            <a:ext cx="417133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admitted having stolen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56040" y="4869160"/>
            <a:ext cx="237116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 admitted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45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3392" y="1124744"/>
            <a:ext cx="11089232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indent="-446088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kern="100" dirty="0">
                <a:latin typeface="Times New Roman" pitchFamily="18" charset="0"/>
                <a:ea typeface="华文细黑"/>
                <a:cs typeface="Times New Roman" pitchFamily="18" charset="0"/>
              </a:rPr>
              <a:t>3. </a:t>
            </a:r>
            <a:r>
              <a:rPr lang="en-US" altLang="zh-CN" sz="3200" b="1" kern="100" dirty="0" err="1">
                <a:latin typeface="Times New Roman" pitchFamily="18" charset="0"/>
                <a:ea typeface="华文细黑"/>
                <a:cs typeface="Times New Roman" pitchFamily="18" charset="0"/>
              </a:rPr>
              <a:t>Practising</a:t>
            </a:r>
            <a:r>
              <a:rPr lang="en-US" altLang="zh-CN" sz="3200" b="1" kern="100" dirty="0">
                <a:latin typeface="Times New Roman" pitchFamily="18" charset="0"/>
                <a:ea typeface="华文细黑"/>
                <a:cs typeface="Times New Roman" pitchFamily="18" charset="0"/>
              </a:rPr>
              <a:t> tai chi has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inspired</a:t>
            </a:r>
            <a:r>
              <a:rPr lang="en-US" altLang="zh-CN" sz="3200" b="1" kern="100" dirty="0">
                <a:latin typeface="Times New Roman" pitchFamily="18" charset="0"/>
                <a:ea typeface="华文细黑"/>
                <a:cs typeface="Times New Roman" pitchFamily="18" charset="0"/>
              </a:rPr>
              <a:t> me to explore the Chinese culture behind it.</a:t>
            </a:r>
          </a:p>
          <a:p>
            <a:pPr marL="2514600" indent="-2514600">
              <a:lnSpc>
                <a:spcPct val="120000"/>
              </a:lnSpc>
              <a:tabLst>
                <a:tab pos="2514600" algn="l"/>
              </a:tabLst>
            </a:pPr>
            <a:r>
              <a:rPr lang="en-US" altLang="zh-CN" sz="3200" b="1" kern="100" dirty="0">
                <a:latin typeface="Times New Roman" pitchFamily="18" charset="0"/>
                <a:ea typeface="华文细黑"/>
                <a:cs typeface="Times New Roman" pitchFamily="18" charset="0"/>
              </a:rPr>
              <a:t>   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inspire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v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ea typeface="华文细黑"/>
                <a:cs typeface="Times New Roman" pitchFamily="18" charset="0"/>
              </a:rPr>
              <a:t>.</a:t>
            </a:r>
            <a:r>
              <a:rPr lang="en-US" altLang="zh-CN" sz="3200" b="1" kern="100" dirty="0">
                <a:latin typeface="Times New Roman" pitchFamily="18" charset="0"/>
                <a:ea typeface="华文细黑"/>
                <a:cs typeface="Times New Roman" pitchFamily="18" charset="0"/>
              </a:rPr>
              <a:t> 1)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someone feel that they want to do something and can do it </a:t>
            </a:r>
            <a:r>
              <a:rPr lang="zh-CN" altLang="zh-CN" sz="3200" b="1" kern="1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激励；鼓舞</a:t>
            </a:r>
            <a:endParaRPr lang="en-US" altLang="zh-CN" sz="3200" b="1" kern="1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2514600" indent="-457200">
              <a:lnSpc>
                <a:spcPct val="120000"/>
              </a:lnSpc>
              <a:tabLst>
                <a:tab pos="2057400" algn="l"/>
              </a:tabLst>
            </a:pP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you new ideas and a strong feeling of enthusiasm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启发思考，使产生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感觉或情感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b="1" kern="1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2514600" indent="-457200">
              <a:lnSpc>
                <a:spcPct val="120000"/>
              </a:lnSpc>
              <a:tabLst>
                <a:tab pos="2149475" algn="l"/>
              </a:tabLst>
            </a:pPr>
            <a:r>
              <a:rPr lang="en-US" altLang="zh-CN" sz="3200" b="1" kern="100" dirty="0">
                <a:latin typeface="Times New Roman" pitchFamily="18" charset="0"/>
                <a:ea typeface="+mj-ea"/>
                <a:cs typeface="Times New Roman" pitchFamily="18" charset="0"/>
              </a:rPr>
              <a:t>3)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someone have a particular strong feeling or reaction 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激起，</a:t>
            </a:r>
            <a:r>
              <a:rPr lang="zh-CN" altLang="zh-CN" sz="3200" b="1" kern="1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唤起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9376" y="2132856"/>
            <a:ext cx="11305256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indent="-536575">
              <a:lnSpc>
                <a:spcPct val="120000"/>
              </a:lnSpc>
              <a:tabLst>
                <a:tab pos="536575" algn="l"/>
              </a:tabLst>
            </a:pPr>
            <a:r>
              <a:rPr lang="en-US" altLang="zh-CN" sz="3200" b="1" kern="100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confident leadership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his followers.</a:t>
            </a:r>
            <a:endParaRPr lang="en-US" altLang="zh-CN" sz="3200" b="1" kern="100" dirty="0">
              <a:latin typeface="Times New Roman" pitchFamily="18" charset="0"/>
              <a:cs typeface="Times New Roman" pitchFamily="18" charset="0"/>
            </a:endParaRPr>
          </a:p>
          <a:p>
            <a:pPr marL="536575" indent="92075">
              <a:lnSpc>
                <a:spcPct val="120000"/>
              </a:lnSpc>
              <a:tabLst>
                <a:tab pos="536575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Jimi Hendrix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generation of guitarists.</a:t>
            </a:r>
          </a:p>
          <a:p>
            <a:pPr marL="536575">
              <a:lnSpc>
                <a:spcPct val="120000"/>
              </a:lnSpc>
              <a:tabLst>
                <a:tab pos="536575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captain's heroic effort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them with determination.</a:t>
            </a:r>
            <a:endParaRPr lang="en-US" altLang="zh-CN" sz="3200" b="1" kern="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1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3432" y="2132856"/>
            <a:ext cx="102971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激励某人做某事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激起某人的某种情感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kern="100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  We should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inspire</a:t>
            </a: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 the children to think.</a:t>
            </a:r>
          </a:p>
          <a:p>
            <a:pPr marL="536575">
              <a:lnSpc>
                <a:spcPct val="120000"/>
              </a:lnSpc>
            </a:pP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Our first sight of the poet did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inspire</a:t>
            </a:r>
            <a:r>
              <a:rPr lang="en-US" altLang="zh-CN" sz="3200" b="1" kern="100" dirty="0">
                <a:latin typeface="Times New Roman" pitchFamily="18" charset="0"/>
                <a:cs typeface="Times New Roman" pitchFamily="18" charset="0"/>
              </a:rPr>
              <a:t> us with much confidence in us.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9416" y="1628800"/>
            <a:ext cx="1832553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搭配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3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9416" y="1834098"/>
            <a:ext cx="10729192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inspiration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zh-CN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启示；灵感</a:t>
            </a:r>
            <a:r>
              <a:rPr lang="zh-CN" altLang="en-US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；启发灵感的人</a:t>
            </a:r>
            <a:endParaRPr lang="zh-CN" altLang="zh-CN" sz="3200" b="1" kern="1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inspiring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adj. </a:t>
            </a:r>
            <a:r>
              <a:rPr lang="zh-CN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鼓舞人的；吸引人的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inspired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adj.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卓越的；激动人心的</a:t>
            </a:r>
            <a:endParaRPr lang="en-US" altLang="zh-CN" sz="3200" b="1" kern="1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eg  She was an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inspiration</a:t>
            </a:r>
            <a:r>
              <a:rPr lang="en-US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to all of us. Her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inspiring</a:t>
            </a:r>
            <a:r>
              <a:rPr lang="en-US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speech yesterday made us encouraged. She was one of the most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inspired</a:t>
            </a:r>
            <a:r>
              <a:rPr lang="en-US" altLang="zh-CN" sz="3200" b="1" kern="1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people I’ve met.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196752"/>
            <a:ext cx="1523875" cy="85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73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3392" y="2060848"/>
            <a:ext cx="11017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的适当形式填空。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painter had a sudden ___________.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She was one of the most ____________ people I’ve ever met.</a:t>
            </a: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All of the students was ____________ by the __________ speech given by the headmaster.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1944" y="2636912"/>
            <a:ext cx="220124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inspiration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85806" y="3193584"/>
            <a:ext cx="16135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1943" y="3756358"/>
            <a:ext cx="16135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04312" y="3788956"/>
            <a:ext cx="175721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inspiring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4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7408" y="1124744"/>
            <a:ext cx="10729192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 wonder some tai chi moves are named after animals…</a:t>
            </a:r>
          </a:p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wonder + (that)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从句  不足为奇，并不奇怪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该句型是“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no wonder + that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从句”的省 略形式。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是形式主语，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从句是真正的主语，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wonder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作表语。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(It’s) no/ little/ small wonder …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难怪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并不奇怪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当然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eg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no wonder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you’re hungry; you didn’t  have any breakfast.</a:t>
            </a:r>
          </a:p>
        </p:txBody>
      </p:sp>
    </p:spTree>
    <p:extLst>
      <p:ext uri="{BB962C8B-B14F-4D97-AF65-F5344CB8AC3E}">
        <p14:creationId xmlns:p14="http://schemas.microsoft.com/office/powerpoint/2010/main" val="312476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1384" y="1412776"/>
            <a:ext cx="1101722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其他类似的句型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(It’s) no/ little/ small/ wonder…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难怪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并不奇怪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当然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wonder (that) …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令人惊奇的是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；莫名其妙的是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3068960"/>
            <a:ext cx="1523875" cy="853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7408" y="4077072"/>
            <a:ext cx="10801200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wonder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惊奇；奇观；奇人；奇迹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439863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感到惊讶；想知道</a:t>
            </a:r>
          </a:p>
        </p:txBody>
      </p:sp>
    </p:spTree>
    <p:extLst>
      <p:ext uri="{BB962C8B-B14F-4D97-AF65-F5344CB8AC3E}">
        <p14:creationId xmlns:p14="http://schemas.microsoft.com/office/powerpoint/2010/main" val="159496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376" y="548680"/>
            <a:ext cx="111612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__________________________________________________</a:t>
            </a:r>
          </a:p>
          <a:p>
            <a:pPr marL="446088" indent="-920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_____________your wife and children are complaining about you. You really have spent too much time on your work.</a:t>
            </a:r>
          </a:p>
          <a:p>
            <a:pPr marL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难怪你的妻子和孩子们都在埋怨你。你真的在工作上花费太多时间了。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With so much pressure, _______________________________ _____________________________whenever there is an exam.</a:t>
            </a:r>
          </a:p>
          <a:p>
            <a:pPr marL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由于有这么大的压力，难怪每当有考试时，现在的学生位都感到紧张。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424" y="1124744"/>
            <a:ext cx="10297144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no/ little/ small wonder (that)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No/ Little / Small wonder (that)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440" y="4005064"/>
            <a:ext cx="1087320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( it’s) no/ little/ small wonder (that) the students nowadays feel nervous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25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1384" y="980728"/>
            <a:ext cx="11017224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requirements of tai chi in mind, I found to my satisfaction that my balance and flexibility slowly improved, that I was able to do more difficult moves, and that my love for tai chi returned stronger than ever.</a:t>
            </a:r>
          </a:p>
          <a:p>
            <a:pPr marL="446088" indent="-920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本句为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复合结构。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9207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构成：“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宾语补足语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”，其中宾语可由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名词、代词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充当，宾语补足语可由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形容词、副词、介词短语、动词不定式、现在分词、过去分词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等充当。</a:t>
            </a:r>
          </a:p>
        </p:txBody>
      </p:sp>
    </p:spTree>
    <p:extLst>
      <p:ext uri="{BB962C8B-B14F-4D97-AF65-F5344CB8AC3E}">
        <p14:creationId xmlns:p14="http://schemas.microsoft.com/office/powerpoint/2010/main" val="105614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352" y="692696"/>
            <a:ext cx="11449272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with+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形容词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3657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 is used to sleeping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windows open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with+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副词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 often sleeps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light 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with+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介词短语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 came in,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book in his hand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with+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动词不定式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，表示动作尚未进行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657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many problems to settle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leader is busy every day.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87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7408" y="692696"/>
            <a:ext cx="1080120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with+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现在分词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(doing,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表主动或正在进行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65225" indent="-628650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 lay on his back,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his eyes looking up into the sky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indent="-125730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with+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过去分词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(done,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表被动或完成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indent="-720725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his homework done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 went out to play.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9858" y="4330615"/>
            <a:ext cx="10696742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复合结构在句中通常作状语，表示伴随情况、方式、原因或条件等。</a:t>
            </a:r>
          </a:p>
        </p:txBody>
      </p:sp>
    </p:spTree>
    <p:extLst>
      <p:ext uri="{BB962C8B-B14F-4D97-AF65-F5344CB8AC3E}">
        <p14:creationId xmlns:p14="http://schemas.microsoft.com/office/powerpoint/2010/main" val="202020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1384" y="476672"/>
            <a:ext cx="1094521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复合结构完成句子。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house caught a fire last night, _____________________.</a:t>
            </a:r>
          </a:p>
          <a:p>
            <a:pPr indent="446088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昨天晚上房子着火了，里面什么东西也没留下。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indent="-354013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______________________, the weather is becoming colder and colder.</a:t>
            </a:r>
          </a:p>
          <a:p>
            <a:pPr indent="354013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随着冬天的临近，天气变得越来越冷。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Tom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问他的朋友们带了这么少的钱，他们是否够买些食物。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__________________________________________________</a:t>
            </a:r>
          </a:p>
          <a:p>
            <a:pPr indent="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__________________________________________________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0096" y="1052736"/>
            <a:ext cx="4032448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nothing left in it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2204864"/>
            <a:ext cx="4896544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winter coming near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5440" y="5085184"/>
            <a:ext cx="10297144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 asked his friends if/ whether they could buy some food with so little money on hand.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2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3390" y="908720"/>
            <a:ext cx="11161241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Neither can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of the other; for example, there is no shadow without light.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objective reality or being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7938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to live, or to live in difficult conditions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生存，生活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5439" y="3212976"/>
            <a:ext cx="102971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 on 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生活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生存</a:t>
            </a:r>
          </a:p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 in  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exists/existed...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某地有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；存在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536575" indent="-536575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  The custom of arranged marriages still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countries.</a:t>
            </a:r>
          </a:p>
        </p:txBody>
      </p:sp>
    </p:spTree>
    <p:extLst>
      <p:ext uri="{BB962C8B-B14F-4D97-AF65-F5344CB8AC3E}">
        <p14:creationId xmlns:p14="http://schemas.microsoft.com/office/powerpoint/2010/main" val="208813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400" y="2348880"/>
            <a:ext cx="10729192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indent="-536575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marL="536575" indent="-536575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是不及物动词，没有被动语态，也没有进行时。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exists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某处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be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句型的变化。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145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9456" y="1913434"/>
            <a:ext cx="10153128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existence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存在；生存</a:t>
            </a:r>
          </a:p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into existence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产生；成立；开始存在</a:t>
            </a:r>
          </a:p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existence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</a:p>
          <a:p>
            <a:pPr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仅用于名词前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目前的，现存的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 The organization has been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25 years.</a:t>
            </a:r>
          </a:p>
          <a:p>
            <a:pPr marL="446088" indent="-446088" algn="just">
              <a:lnSpc>
                <a:spcPct val="120000"/>
              </a:lnSpc>
              <a:tabLst>
                <a:tab pos="2070735" algn="l"/>
              </a:tabLs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needs to be changed.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063787"/>
            <a:ext cx="1451866" cy="8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59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3432" y="2132856"/>
            <a:ext cx="10441160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的相关搭配或句型完成句子。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patient became seriously ill last week, and he has had to ___________ milk ever since.</a:t>
            </a: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 was unaware of his ____________ until today.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49940" y="3314730"/>
            <a:ext cx="162095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 on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3308" y="3861048"/>
            <a:ext cx="186140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existence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10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8658" y="548680"/>
            <a:ext cx="12025336" cy="594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Eventually, tai chi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brings about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 of physical balance and mental peace.</a:t>
            </a:r>
          </a:p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about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cause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happen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导致；引起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 Many new changes will be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brought about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China’s industry.</a:t>
            </a:r>
          </a:p>
          <a:p>
            <a:pPr marL="892175" indent="-446088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构成的其他短语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92175" indent="-446088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up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抚养；提出；呕吐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forward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back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送回；使回想起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down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降低；击倒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indent="-8921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out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显示出来，出版，生产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208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400" y="1268760"/>
            <a:ext cx="10801200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用适当的副词填空。</a:t>
            </a:r>
          </a:p>
          <a:p>
            <a:pPr marL="446088" indent="-446088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know it happened, but I cannot bring it  _____ to my mind.</a:t>
            </a:r>
          </a:p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She brought _____ her children to be considerate of others.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With one shot he brought _____ the tiger.</a:t>
            </a:r>
          </a:p>
          <a:p>
            <a:pPr marL="446088" indent="-446088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Our teacher will bring a new book _____ next month.</a:t>
            </a:r>
          </a:p>
        </p:txBody>
      </p:sp>
      <p:sp>
        <p:nvSpPr>
          <p:cNvPr id="3" name="矩形 2"/>
          <p:cNvSpPr/>
          <p:nvPr/>
        </p:nvSpPr>
        <p:spPr>
          <a:xfrm>
            <a:off x="8547347" y="1931788"/>
            <a:ext cx="11304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</a:p>
        </p:txBody>
      </p:sp>
      <p:sp>
        <p:nvSpPr>
          <p:cNvPr id="4" name="矩形 3"/>
          <p:cNvSpPr/>
          <p:nvPr/>
        </p:nvSpPr>
        <p:spPr>
          <a:xfrm>
            <a:off x="3431704" y="3090797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</a:t>
            </a:r>
          </a:p>
        </p:txBody>
      </p:sp>
      <p:sp>
        <p:nvSpPr>
          <p:cNvPr id="5" name="矩形 4"/>
          <p:cNvSpPr/>
          <p:nvPr/>
        </p:nvSpPr>
        <p:spPr>
          <a:xfrm>
            <a:off x="5663952" y="4221088"/>
            <a:ext cx="1141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</a:p>
        </p:txBody>
      </p:sp>
      <p:sp>
        <p:nvSpPr>
          <p:cNvPr id="6" name="矩形 5"/>
          <p:cNvSpPr/>
          <p:nvPr/>
        </p:nvSpPr>
        <p:spPr>
          <a:xfrm>
            <a:off x="7176120" y="4888819"/>
            <a:ext cx="856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</a:t>
            </a:r>
          </a:p>
        </p:txBody>
      </p:sp>
    </p:spTree>
    <p:extLst>
      <p:ext uri="{BB962C8B-B14F-4D97-AF65-F5344CB8AC3E}">
        <p14:creationId xmlns:p14="http://schemas.microsoft.com/office/powerpoint/2010/main" val="969367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</TotalTime>
  <Words>1776</Words>
  <Application>Microsoft Macintosh PowerPoint</Application>
  <PresentationFormat>Widescreen</PresentationFormat>
  <Paragraphs>153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329</cp:revision>
  <dcterms:created xsi:type="dcterms:W3CDTF">2020-10-01T12:07:18Z</dcterms:created>
  <dcterms:modified xsi:type="dcterms:W3CDTF">2026-07-22T13:18:52Z</dcterms:modified>
</cp:coreProperties>
</file>