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402" r:id="rId2"/>
    <p:sldId id="406" r:id="rId3"/>
    <p:sldId id="407" r:id="rId4"/>
    <p:sldId id="409" r:id="rId5"/>
    <p:sldId id="463" r:id="rId6"/>
    <p:sldId id="465" r:id="rId7"/>
    <p:sldId id="466" r:id="rId8"/>
    <p:sldId id="467" r:id="rId9"/>
    <p:sldId id="468" r:id="rId10"/>
    <p:sldId id="469" r:id="rId11"/>
    <p:sldId id="470" r:id="rId12"/>
    <p:sldId id="472" r:id="rId13"/>
    <p:sldId id="473" r:id="rId14"/>
    <p:sldId id="4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80"/>
    <a:srgbClr val="FFFF99"/>
    <a:srgbClr val="E9EBF5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do sth out of meanness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577" y="292844"/>
            <a:ext cx="5492644" cy="1103326"/>
          </a:xfrm>
          <a:prstGeom prst="rect">
            <a:avLst/>
          </a:prstGeom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333989" y="1396170"/>
            <a:ext cx="11237121" cy="22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9pPr>
          </a:lstStyle>
          <a:p>
            <a:pPr marL="446405" indent="-446405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1. …parents and teachers to recommend what books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read.</a:t>
            </a:r>
          </a:p>
          <a:p>
            <a:pPr marL="446405" indent="-446405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ought to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modal 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used when you have strong reasons for believing or expecting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应该，应当</a:t>
            </a:r>
          </a:p>
        </p:txBody>
      </p:sp>
      <p:sp>
        <p:nvSpPr>
          <p:cNvPr id="6" name="矩形 5"/>
          <p:cNvSpPr/>
          <p:nvPr/>
        </p:nvSpPr>
        <p:spPr>
          <a:xfrm>
            <a:off x="673865" y="3641611"/>
            <a:ext cx="10897245" cy="2899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表示义务、要求或劝告。</a:t>
            </a:r>
          </a:p>
          <a:p>
            <a:pPr marL="892175" indent="-892175" fontAlgn="base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eg You were out enjoying yourself when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have been studying.</a:t>
            </a:r>
          </a:p>
          <a:p>
            <a:pPr marL="892175" indent="-892175" fontAlgn="base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get her a present for her birthday.</a:t>
            </a:r>
          </a:p>
          <a:p>
            <a:pPr marL="892175" indent="-892175" fontAlgn="base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go to class right away.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6316" y="1292074"/>
            <a:ext cx="10899017" cy="294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还可表示推测，暗含很大的可能性。 </a:t>
            </a:r>
          </a:p>
          <a:p>
            <a:pPr marL="982980" indent="-98298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eg The boy left two hours ago, so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 there by now.</a:t>
            </a: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的否定结构是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oughtn’t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not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eg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oughtn’t / ought not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leave in such a hurry.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2444" y="1088905"/>
            <a:ext cx="11102221" cy="2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含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的陈述句变为一般疑问句时，应将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放在句首。简略回答时，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可以省略。 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eg —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wait for him outside the gate?  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—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Yes, you ought (to). / No, you oughtn’t (to).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2859" y="3528247"/>
            <a:ext cx="10871805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: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should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的意思大致相同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都表示 “义务、要求或劝告”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只是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ought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should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的语气稍重一些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135" y="465300"/>
            <a:ext cx="112376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Teachers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provide suggestions for interesting reading materials that can be found in the library or bookshop easily.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 particular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specially/especially/particular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尤其，特别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9454" y="3353149"/>
            <a:ext cx="10804477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remember one of them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我特别记住了他们之中的一位。</a:t>
            </a:r>
          </a:p>
          <a:p>
            <a:pPr indent="-541655" fontAlgn="auto">
              <a:lnSpc>
                <a:spcPct val="12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interested in stories in general, and in detective stories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我总的来说对小说感兴趣，尤其是对侦探小说感兴趣。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135" y="465300"/>
            <a:ext cx="11237686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格外的，特别的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very 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3114" y="1147159"/>
            <a:ext cx="10804477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特别重要的事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无特殊原因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93420" y="2419985"/>
            <a:ext cx="1101979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特指的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specific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讲究的，挑剔的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be particular over/about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挑剔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54730" y="1147445"/>
            <a:ext cx="720534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matter of particular importance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8"/>
          <p:cNvSpPr txBox="1"/>
          <p:nvPr/>
        </p:nvSpPr>
        <p:spPr>
          <a:xfrm>
            <a:off x="3554730" y="1783715"/>
            <a:ext cx="720534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no particular reason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801064" y="3059144"/>
            <a:ext cx="10804477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在此个别情况中</a:t>
            </a:r>
          </a:p>
        </p:txBody>
      </p:sp>
      <p:sp>
        <p:nvSpPr>
          <p:cNvPr id="7" name="文本框 8"/>
          <p:cNvSpPr txBox="1"/>
          <p:nvPr/>
        </p:nvSpPr>
        <p:spPr>
          <a:xfrm>
            <a:off x="3935095" y="3105150"/>
            <a:ext cx="720534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particular case</a:t>
            </a:r>
          </a:p>
        </p:txBody>
      </p:sp>
      <p:sp>
        <p:nvSpPr>
          <p:cNvPr id="8" name="TextBox 3"/>
          <p:cNvSpPr txBox="1"/>
          <p:nvPr>
            <p:custDataLst>
              <p:tags r:id="rId1"/>
            </p:custDataLst>
          </p:nvPr>
        </p:nvSpPr>
        <p:spPr>
          <a:xfrm>
            <a:off x="714069" y="4779359"/>
            <a:ext cx="10804477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据说法国人对衣着很讲究。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French people </a:t>
            </a:r>
          </a:p>
        </p:txBody>
      </p:sp>
      <p:sp>
        <p:nvSpPr>
          <p:cNvPr id="10" name="文本框 8"/>
          <p:cNvSpPr txBox="1"/>
          <p:nvPr>
            <p:custDataLst>
              <p:tags r:id="rId2"/>
            </p:custDataLst>
          </p:nvPr>
        </p:nvSpPr>
        <p:spPr>
          <a:xfrm>
            <a:off x="3371215" y="5438140"/>
            <a:ext cx="834199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said to be very particular about clothes.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1"/>
      <p:bldP spid="9" grpId="0"/>
      <p:bldP spid="5" grpId="0"/>
      <p:bldP spid="6" grpId="0"/>
      <p:bldP spid="7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710" y="135255"/>
            <a:ext cx="1166304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Take time to look through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different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your local library, and you are likely to come across books you love to read.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 group of objects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（同类的）收集物，收藏品；一批物品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stamp/coin collection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邮票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硬币收藏品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We enjoyed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 fine collection of paintings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in the art gallery.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collection of ...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作品集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short stories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短篇小说集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29000" y="4275455"/>
            <a:ext cx="358838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精美的绘画收藏品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710" y="135255"/>
            <a:ext cx="1166304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an act of taking sth away from a place or bringing things together into one place</a:t>
            </a: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取走，聚集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垃圾收运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废物收集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数据收集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你的套装可在星期二领取。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40965" y="1318260"/>
            <a:ext cx="58305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rubbish/garbage collection</a:t>
            </a:r>
          </a:p>
        </p:txBody>
      </p:sp>
      <p:sp>
        <p:nvSpPr>
          <p:cNvPr id="3" name="文本框 8"/>
          <p:cNvSpPr txBox="1"/>
          <p:nvPr/>
        </p:nvSpPr>
        <p:spPr>
          <a:xfrm>
            <a:off x="2736215" y="1901825"/>
            <a:ext cx="58305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collection</a:t>
            </a:r>
          </a:p>
        </p:txBody>
      </p:sp>
      <p:sp>
        <p:nvSpPr>
          <p:cNvPr id="4" name="文本框 8"/>
          <p:cNvSpPr txBox="1"/>
          <p:nvPr/>
        </p:nvSpPr>
        <p:spPr>
          <a:xfrm>
            <a:off x="2736215" y="2518410"/>
            <a:ext cx="58305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5" name="文本框 8"/>
          <p:cNvSpPr txBox="1"/>
          <p:nvPr/>
        </p:nvSpPr>
        <p:spPr>
          <a:xfrm>
            <a:off x="447040" y="3718560"/>
            <a:ext cx="100152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suit will be ready for collection on Tuesday.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710" y="135255"/>
            <a:ext cx="1166304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an act of collecting money to help a charity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募捐；募集的钱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make a collection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for Cancer Research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total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collection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last week raised to £250.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collect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vi.&amp;vt.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收集，聚集；募捐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collector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收集者；收藏家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710" y="135255"/>
            <a:ext cx="1166304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any of the parts into which sth is divided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部分；部门</a:t>
            </a: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15975" lvl="1" indent="-358775"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You'll find that book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in the reference section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marL="815975" lvl="1" indent="-358775"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你可以在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参考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书部找到那本书</a:t>
            </a:r>
          </a:p>
          <a:p>
            <a:pPr marL="815975" lvl="1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one section of the road 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一段路</a:t>
            </a:r>
          </a:p>
          <a:p>
            <a:pPr marL="815975" lvl="1" indent="-358775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358775" lvl="0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section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2) a separate part of a document, book, etc.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节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，栏，版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15975" lvl="1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sports section of the newspaper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报纸上的体育版</a:t>
            </a:r>
          </a:p>
          <a:p>
            <a:pPr marL="815975" lvl="1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这些问题将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在下一节中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有更加充分的讨论。</a:t>
            </a:r>
          </a:p>
          <a:p>
            <a:pPr marL="815975" lvl="1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These issues will be discussed more fully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in the next section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585" y="725805"/>
            <a:ext cx="1166304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book’s main character is Scrooge, a rich but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man.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													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（金钱方面的）吝啬的，小气的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be mean with money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在花钱方面十分吝啬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(opp. generous)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be mean to sb 			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对某人刻薄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(unkind)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a mean trick 			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卑鄙的伎俩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e.g. In order to climb up the career ladder, he does not hesitate to use every mean trick.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 temperature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平均气温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(average)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585" y="725805"/>
            <a:ext cx="1123505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</a:rPr>
              <a:t>[mean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</a:rPr>
              <a:t>作动词时相关短语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</a:rPr>
              <a:t>]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 to do sth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be meant to do sth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 well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 no harm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 mean it.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 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意义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meaningful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重要的；意味深长的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(a meaningful look)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meaningless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无意义的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473700" y="1447800"/>
            <a:ext cx="5972810" cy="63246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打算做某事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473700" y="1997710"/>
            <a:ext cx="6407785" cy="6324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应当做某事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= 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be supposed to do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473700" y="2569210"/>
            <a:ext cx="5872480" cy="6324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本意是好的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(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adj. well-meaning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)</a:t>
            </a:r>
            <a:endParaRPr lang="zh-CN" altLang="en-US" sz="3200" b="1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473700" y="3159760"/>
            <a:ext cx="2540000" cy="6324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" panose="02020603050405020304" pitchFamily="18" charset="0"/>
                <a:sym typeface="+mn-ea"/>
              </a:rPr>
              <a:t>没有恶意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473700" y="3712845"/>
            <a:ext cx="2540000" cy="6324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Regular" panose="02020603050405020304" charset="0"/>
                <a:cs typeface="Times New Roman" panose="02020603050405020304" pitchFamily="18" charset="0"/>
                <a:sym typeface="+mn-ea"/>
              </a:rPr>
              <a:t>我是认真的。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9" grpId="0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585" y="725805"/>
            <a:ext cx="1166304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Over time, you may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yourself better able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seek out books to your taste and enjoy reading all the more.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久而久之，你可能会发现自己更能挑选出自己喜欢的书，而且更能享受阅读的乐趣。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形容词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”表示“发现……处于某种状态”如：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I found the vase broken.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355" y="135255"/>
            <a:ext cx="1201864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其他形式的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宾补补足语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：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+ doing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表主动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发现……正在做某事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+ done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表被动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发现……被做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 People often find the old lady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appreciating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flowers in the park.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  The police found the criminal’s car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abandoned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in a remote playground.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名词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find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+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介词短语</a:t>
            </a:r>
            <a:endParaRPr lang="zh-CN" altLang="en-US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found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him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 very clever boy.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found herself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in a different world.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8815" y="1398905"/>
            <a:ext cx="1070800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其他有类似结构的词包括：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see, watch, observe, notice, hear, feel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等感官动词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以及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make, keep, name, call, leave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后面也经常接宾语补足语。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注意：如果宾补是省略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to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的动词不定式，在被动语态中需要还原。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saw the student practise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singing in the classroom.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student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was seen to practise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singing in the classroom.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1124</Words>
  <Application>Microsoft Macintosh PowerPoint</Application>
  <PresentationFormat>Widescreen</PresentationFormat>
  <Paragraphs>115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264</cp:revision>
  <dcterms:created xsi:type="dcterms:W3CDTF">2024-01-16T05:23:42Z</dcterms:created>
  <dcterms:modified xsi:type="dcterms:W3CDTF">2026-07-22T13:16:38Z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C3427DF13E7704E704A1A96362A66396</vt:lpwstr>
  </property>
  <property fmtid="{D5CDD505-2E9C-101B-9397-08002B2CF9AE}" pid="3" name="KSOProductBuildVer">
    <vt:lpwstr>1033-6.5.0.8619</vt:lpwstr>
  </property>
</Properties>
</file>