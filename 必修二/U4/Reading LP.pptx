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1.xml" ContentType="application/vnd.openxmlformats-officedocument.themeOverride+xml"/>
  <Override PartName="/ppt/tags/tag10.xml" ContentType="application/vnd.openxmlformats-officedocument.presentationml.tags+xml"/>
  <Override PartName="/ppt/notesSlides/notesSlide20.xml" ContentType="application/vnd.openxmlformats-officedocument.presentationml.notesSlide+xml"/>
  <Override PartName="/ppt/theme/themeOverride22.xml" ContentType="application/vnd.openxmlformats-officedocument.themeOverride+xml"/>
  <Override PartName="/ppt/tags/tag11.xml" ContentType="application/vnd.openxmlformats-officedocument.presentationml.tags+xml"/>
  <Override PartName="/ppt/notesSlides/notesSlide21.xml" ContentType="application/vnd.openxmlformats-officedocument.presentationml.notesSlide+xml"/>
  <Override PartName="/ppt/theme/themeOverride2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2.xml" ContentType="application/vnd.openxmlformats-officedocument.presentationml.notesSl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heme/themeOverride33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1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6.xml" ContentType="application/vnd.openxmlformats-officedocument.themeOverride+xml"/>
  <Override PartName="/ppt/tags/tag18.xml" ContentType="application/vnd.openxmlformats-officedocument.presentationml.tags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434" r:id="rId3"/>
    <p:sldId id="435" r:id="rId4"/>
    <p:sldId id="436" r:id="rId5"/>
    <p:sldId id="326" r:id="rId6"/>
    <p:sldId id="386" r:id="rId7"/>
    <p:sldId id="378" r:id="rId8"/>
    <p:sldId id="327" r:id="rId9"/>
    <p:sldId id="339" r:id="rId10"/>
    <p:sldId id="330" r:id="rId11"/>
    <p:sldId id="331" r:id="rId12"/>
    <p:sldId id="332" r:id="rId13"/>
    <p:sldId id="333" r:id="rId14"/>
    <p:sldId id="358" r:id="rId15"/>
    <p:sldId id="359" r:id="rId16"/>
    <p:sldId id="360" r:id="rId17"/>
    <p:sldId id="361" r:id="rId18"/>
    <p:sldId id="438" r:id="rId19"/>
    <p:sldId id="338" r:id="rId20"/>
    <p:sldId id="362" r:id="rId21"/>
    <p:sldId id="341" r:id="rId22"/>
    <p:sldId id="379" r:id="rId23"/>
    <p:sldId id="380" r:id="rId24"/>
    <p:sldId id="381" r:id="rId25"/>
    <p:sldId id="382" r:id="rId26"/>
    <p:sldId id="383" r:id="rId27"/>
    <p:sldId id="345" r:id="rId28"/>
    <p:sldId id="387" r:id="rId29"/>
    <p:sldId id="482" r:id="rId30"/>
    <p:sldId id="342" r:id="rId31"/>
    <p:sldId id="346" r:id="rId32"/>
    <p:sldId id="483" r:id="rId33"/>
    <p:sldId id="484" r:id="rId34"/>
    <p:sldId id="347" r:id="rId35"/>
    <p:sldId id="350" r:id="rId36"/>
    <p:sldId id="351" r:id="rId37"/>
    <p:sldId id="389" r:id="rId38"/>
    <p:sldId id="388" r:id="rId39"/>
    <p:sldId id="501" r:id="rId40"/>
    <p:sldId id="367" r:id="rId41"/>
    <p:sldId id="368" r:id="rId42"/>
    <p:sldId id="369" r:id="rId43"/>
    <p:sldId id="371" r:id="rId44"/>
    <p:sldId id="372" r:id="rId45"/>
    <p:sldId id="373" r:id="rId46"/>
    <p:sldId id="375" r:id="rId47"/>
    <p:sldId id="374" r:id="rId48"/>
    <p:sldId id="376" r:id="rId49"/>
  </p:sldIdLst>
  <p:sldSz cx="12192000" cy="6858000"/>
  <p:notesSz cx="6858000" cy="9144000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08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339E8-B45F-4979-961F-4699E26380D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C557A-6ADA-4D6E-8A04-7270D4D439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都没有被动的意味。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如果用作非谓语动词，到底使用devoting oneself to还是devoted to，那就需要重新定位。主动和被动的问题，就不用考虑了（它们都表示主动），而要考虑“完成”还是“进行”的问题。现在分词表“进行”；过去分词表“完成”。所以，根据语境判断，应该是后者。献身于工作是原因，没时间旅游结果，原因始终是在先的。因此，第一句更好一些。第二句在语法结构上没有错，但是不常用。***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Johnson's appeal is to people from all walks of life.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一听批评就急</a:t>
            </a:r>
          </a:p>
          <a:p>
            <a:r>
              <a:rPr lang="zh-CN" altLang="en-US"/>
              <a:t>富有表现力的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上诉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B904E231-AC8F-4608-B43B-6C2A45B6B2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15.xml"/><Relationship Id="rId4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16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21.xml"/><Relationship Id="rId4" Type="http://schemas.openxmlformats.org/officeDocument/2006/relationships/notesSlide" Target="../notesSlides/notesSlid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22.xml"/><Relationship Id="rId4" Type="http://schemas.openxmlformats.org/officeDocument/2006/relationships/notesSlide" Target="../notesSlides/notesSlid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23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33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hemeOverride" Target="../theme/themeOverride36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140" y="371475"/>
            <a:ext cx="11258550" cy="1574165"/>
          </a:xfrm>
        </p:spPr>
        <p:txBody>
          <a:bodyPr>
            <a:noAutofit/>
          </a:bodyPr>
          <a:lstStyle/>
          <a:p>
            <a:r>
              <a:rPr lang="en-US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1 whatever I have </a:t>
            </a:r>
            <a:r>
              <a:rPr lang="en-US" altLang="zh-CN" sz="3200" b="1" u="sng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devoted myself to</a:t>
            </a:r>
            <a:r>
              <a:rPr lang="zh-CN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 have </a:t>
            </a:r>
            <a:r>
              <a:rPr lang="en-US" altLang="zh-CN" sz="3200" b="1" u="sng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devoted myself to</a:t>
            </a:r>
            <a:r>
              <a:rPr lang="en-US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completely/entirely/thoroughly....</a:t>
            </a:r>
            <a:br>
              <a:rPr lang="en-US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</a:br>
            <a:r>
              <a:rPr lang="zh-CN" altLang="en-US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无论</a:t>
            </a:r>
            <a:r>
              <a:rPr lang="zh-CN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我专心做什么，我都全身心投入其中</a:t>
            </a:r>
            <a:r>
              <a:rPr lang="en-US" altLang="zh-CN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......</a:t>
            </a:r>
            <a:r>
              <a:rPr lang="zh-CN" altLang="en-US" sz="32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140" y="2465705"/>
            <a:ext cx="11391900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zh-CN" sz="3200" b="1">
                <a:solidFill>
                  <a:srgbClr val="FF0000"/>
                </a:solidFill>
              </a:rPr>
              <a:t>be devoted to doing sth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(1) She devoted herself </a:t>
            </a:r>
            <a:r>
              <a:rPr lang="en-US" altLang="zh-CN" sz="3200" b="1">
                <a:solidFill>
                  <a:srgbClr val="0000FF"/>
                </a:solidFill>
              </a:rPr>
              <a:t>entirely/completely</a:t>
            </a:r>
            <a:r>
              <a:rPr lang="en-US" altLang="zh-CN" sz="3200" b="1">
                <a:solidFill>
                  <a:schemeClr val="tx1"/>
                </a:solidFill>
              </a:rPr>
              <a:t> to </a:t>
            </a:r>
            <a:r>
              <a:rPr lang="en-US" altLang="zh-CN" sz="3200" b="1" u="sng">
                <a:solidFill>
                  <a:srgbClr val="0000FF"/>
                </a:solidFill>
              </a:rPr>
              <a:t>writing</a:t>
            </a:r>
            <a:r>
              <a:rPr lang="en-US" altLang="zh-CN" sz="3200" b="1">
                <a:solidFill>
                  <a:schemeClr val="tx1"/>
                </a:solidFill>
              </a:rPr>
              <a:t> novels.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      </a:t>
            </a:r>
            <a:r>
              <a:rPr lang="zh-CN" altLang="en-US" sz="3200" b="1">
                <a:solidFill>
                  <a:schemeClr val="tx1"/>
                </a:solidFill>
              </a:rPr>
              <a:t>她全身心投入写小说。</a:t>
            </a:r>
            <a:endParaRPr lang="en-US" altLang="zh-CN" sz="32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(2) To make the best of reading, you should _________________.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(3) Once you find the book that appeals to you (</a:t>
            </a:r>
            <a:r>
              <a:rPr lang="zh-CN" altLang="en-US" sz="3200" b="1">
                <a:solidFill>
                  <a:schemeClr val="tx1"/>
                </a:solidFill>
              </a:rPr>
              <a:t>吸引你</a:t>
            </a:r>
            <a:r>
              <a:rPr lang="en-US" altLang="zh-CN" sz="3200" b="1">
                <a:solidFill>
                  <a:schemeClr val="tx1"/>
                </a:solidFill>
              </a:rPr>
              <a:t>), you 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     must _______________________ (</a:t>
            </a:r>
            <a:r>
              <a:rPr lang="zh-CN" altLang="en-US" sz="3200" b="1">
                <a:solidFill>
                  <a:schemeClr val="tx1"/>
                </a:solidFill>
              </a:rPr>
              <a:t>专心读</a:t>
            </a:r>
            <a:r>
              <a:rPr lang="en-US" altLang="zh-CN" sz="3200" b="1">
                <a:solidFill>
                  <a:schemeClr val="tx1"/>
                </a:solidFill>
              </a:rPr>
              <a:t>) it.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chemeClr val="tx1"/>
                </a:solidFill>
              </a:rPr>
              <a:t>   </a:t>
            </a:r>
            <a:r>
              <a:rPr lang="en-US" altLang="zh-CN" sz="3200" b="1">
                <a:solidFill>
                  <a:srgbClr val="FF0000"/>
                </a:solidFill>
              </a:rPr>
              <a:t>devote one’s time/attention/energy/resources to sth</a:t>
            </a:r>
          </a:p>
          <a:p>
            <a:pPr marL="0" indent="0">
              <a:buNone/>
            </a:pPr>
            <a:r>
              <a:rPr lang="en-US" altLang="zh-CN" sz="3200" b="1">
                <a:solidFill>
                  <a:srgbClr val="0000FF"/>
                </a:solidFill>
              </a:rPr>
              <a:t>   </a:t>
            </a:r>
            <a:r>
              <a:rPr lang="zh-CN" altLang="en-US" sz="3200" b="1">
                <a:solidFill>
                  <a:srgbClr val="0000FF"/>
                </a:solidFill>
              </a:rPr>
              <a:t>把时间</a:t>
            </a:r>
            <a:r>
              <a:rPr lang="en-US" altLang="zh-CN" sz="3200" b="1">
                <a:solidFill>
                  <a:srgbClr val="0000FF"/>
                </a:solidFill>
              </a:rPr>
              <a:t>/</a:t>
            </a:r>
            <a:r>
              <a:rPr lang="zh-CN" altLang="en-US" sz="3200" b="1">
                <a:solidFill>
                  <a:srgbClr val="0000FF"/>
                </a:solidFill>
              </a:rPr>
              <a:t>注意力</a:t>
            </a:r>
            <a:r>
              <a:rPr lang="en-US" altLang="zh-CN" sz="3200" b="1">
                <a:solidFill>
                  <a:srgbClr val="0000FF"/>
                </a:solidFill>
              </a:rPr>
              <a:t>/</a:t>
            </a:r>
            <a:r>
              <a:rPr lang="zh-CN" altLang="en-US" sz="3200" b="1">
                <a:solidFill>
                  <a:srgbClr val="0000FF"/>
                </a:solidFill>
              </a:rPr>
              <a:t>精力</a:t>
            </a:r>
            <a:r>
              <a:rPr lang="en-US" altLang="zh-CN" sz="3200" b="1">
                <a:solidFill>
                  <a:srgbClr val="0000FF"/>
                </a:solidFill>
              </a:rPr>
              <a:t>/</a:t>
            </a:r>
            <a:r>
              <a:rPr lang="zh-CN" altLang="en-US" sz="3200" b="1">
                <a:solidFill>
                  <a:srgbClr val="0000FF"/>
                </a:solidFill>
              </a:rPr>
              <a:t>资源奉献给</a:t>
            </a:r>
            <a:r>
              <a:rPr lang="en-US" altLang="zh-CN" sz="3200" b="1">
                <a:solidFill>
                  <a:srgbClr val="0000FF"/>
                </a:solidFill>
              </a:rPr>
              <a:t>......      </a:t>
            </a:r>
            <a:r>
              <a:rPr lang="en-US" altLang="zh-CN" sz="3200" b="1">
                <a:solidFill>
                  <a:schemeClr val="tx1"/>
                </a:solidFill>
              </a:rPr>
              <a:t>                                               </a:t>
            </a:r>
            <a:endParaRPr lang="en-US" altLang="zh-CN" sz="3200" b="1">
              <a:solidFill>
                <a:srgbClr val="0000FF"/>
              </a:solidFill>
            </a:endParaRPr>
          </a:p>
        </p:txBody>
      </p:sp>
      <p:sp>
        <p:nvSpPr>
          <p:cNvPr id="11275" name="矩形 29"/>
          <p:cNvSpPr/>
          <p:nvPr/>
        </p:nvSpPr>
        <p:spPr>
          <a:xfrm>
            <a:off x="611823" y="1676400"/>
            <a:ext cx="10902950" cy="82994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5pPr>
          </a:lstStyle>
          <a:p>
            <a:pPr marL="0" marR="0" lvl="0" indent="0" algn="just" eaLnBrk="1" hangingPunct="1">
              <a:lnSpc>
                <a:spcPct val="150000"/>
              </a:lnSpc>
            </a:pPr>
            <a:r>
              <a:rPr lang="zh-CN" altLang="zh-CN" sz="2600" b="1" spc="0">
                <a:solidFill>
                  <a:srgbClr val="0000FF"/>
                </a:solidFill>
                <a:ea typeface="GBK_S"/>
              </a:rPr>
              <a:t></a:t>
            </a:r>
            <a:r>
              <a:rPr lang="en-US" altLang="zh-CN" sz="3200" b="1" spc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devote oneself to (doing) sth  </a:t>
            </a:r>
            <a:r>
              <a:rPr lang="zh-CN" altLang="zh-CN" sz="3200" b="1" spc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献身于；致力于；专心于</a:t>
            </a:r>
            <a:endParaRPr lang="zh-CN" altLang="zh-CN" sz="3200">
              <a:solidFill>
                <a:srgbClr val="0000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44510" y="3961765"/>
            <a:ext cx="3859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sym typeface="+mn-ea"/>
              </a:rPr>
              <a:t>devote yourself to it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33600" y="4961890"/>
            <a:ext cx="5033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sym typeface="+mn-ea"/>
              </a:rPr>
              <a:t>devote yourself to reading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2885"/>
            <a:ext cx="11193145" cy="1459865"/>
          </a:xfrm>
        </p:spPr>
        <p:txBody>
          <a:bodyPr>
            <a:normAutofit/>
          </a:bodyPr>
          <a:lstStyle/>
          <a:p>
            <a:r>
              <a:rPr lang="en-US" altLang="zh-CN" sz="3200" b="1"/>
              <a:t>                </a:t>
            </a:r>
            <a:r>
              <a:rPr lang="en-US" altLang="zh-CN" sz="3200" b="1" i="1">
                <a:solidFill>
                  <a:srgbClr val="0000FF"/>
                </a:solidFill>
              </a:rPr>
              <a:t>u, sing. </a:t>
            </a:r>
            <a:r>
              <a:rPr lang="en-US" altLang="zh-CN" sz="2800" b="1" i="1"/>
              <a:t>(great love, care and support for sb/sth) </a:t>
            </a:r>
            <a:r>
              <a:rPr lang="zh-CN" altLang="en-US" sz="3200" b="1">
                <a:solidFill>
                  <a:srgbClr val="0000FF"/>
                </a:solidFill>
              </a:rPr>
              <a:t>挚爱；关爱</a:t>
            </a:r>
            <a:br>
              <a:rPr lang="zh-CN" altLang="en-US" sz="3200" b="1">
                <a:solidFill>
                  <a:srgbClr val="0000FF"/>
                </a:solidFill>
              </a:rPr>
            </a:br>
            <a:r>
              <a:rPr lang="zh-CN" altLang="en-US" sz="3200" b="1">
                <a:solidFill>
                  <a:srgbClr val="0000FF"/>
                </a:solidFill>
              </a:rPr>
              <a:t> </a:t>
            </a:r>
            <a:r>
              <a:rPr lang="en-US" altLang="zh-CN" sz="3200" b="1">
                <a:solidFill>
                  <a:srgbClr val="0000FF"/>
                </a:solidFill>
              </a:rPr>
              <a:t>                          </a:t>
            </a:r>
            <a:r>
              <a:rPr lang="en-US" altLang="zh-CN" sz="2800" b="1">
                <a:solidFill>
                  <a:srgbClr val="0000FF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 (the action of spending time</a:t>
            </a:r>
            <a:r>
              <a:rPr lang="en-US" altLang="zh-CN" sz="3200" b="1">
                <a:solidFill>
                  <a:schemeClr val="tx1"/>
                </a:solidFill>
              </a:rPr>
              <a:t> </a:t>
            </a:r>
            <a:r>
              <a:rPr lang="en-US" altLang="zh-CN" sz="2800" b="1" i="1">
                <a:solidFill>
                  <a:schemeClr val="tx1"/>
                </a:solidFill>
              </a:rPr>
              <a:t>&amp; effort)   </a:t>
            </a:r>
            <a:r>
              <a:rPr lang="zh-CN" altLang="en-US" sz="3200" b="1">
                <a:solidFill>
                  <a:srgbClr val="0000FF"/>
                </a:solidFill>
              </a:rPr>
              <a:t>奉献；忠诚</a:t>
            </a:r>
            <a:r>
              <a:rPr lang="en-US" altLang="zh-CN" sz="3200" b="1">
                <a:solidFill>
                  <a:srgbClr val="0000FF"/>
                </a:solidFill>
              </a:rPr>
              <a:t> </a:t>
            </a:r>
            <a:br>
              <a:rPr lang="zh-CN" altLang="en-US" sz="2800" b="1">
                <a:solidFill>
                  <a:srgbClr val="0000FF"/>
                </a:solidFill>
              </a:rPr>
            </a:br>
            <a:r>
              <a:rPr lang="en-US" altLang="zh-CN" sz="2800" b="1">
                <a:solidFill>
                  <a:srgbClr val="0000FF"/>
                </a:solidFill>
              </a:rPr>
              <a:t>               </a:t>
            </a:r>
            <a:r>
              <a:rPr lang="en-US" altLang="zh-CN" sz="3200" b="1">
                <a:solidFill>
                  <a:srgbClr val="0000FF"/>
                </a:solidFill>
              </a:rPr>
              <a:t>  </a:t>
            </a:r>
            <a:r>
              <a:rPr lang="en-US" altLang="zh-CN" sz="3200" b="1" i="1">
                <a:solidFill>
                  <a:srgbClr val="0000FF"/>
                </a:solidFill>
              </a:rPr>
              <a:t>adj. </a:t>
            </a:r>
            <a:r>
              <a:rPr lang="zh-CN" altLang="en-US" sz="3200" b="1">
                <a:solidFill>
                  <a:srgbClr val="0000FF"/>
                </a:solidFill>
              </a:rPr>
              <a:t>挚爱的；关爱的；忠实的</a:t>
            </a:r>
            <a:endParaRPr lang="en-US" altLang="zh-CN" sz="3200" b="1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4185"/>
            <a:ext cx="11000105" cy="28390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100" b="1"/>
              <a:t>(1) His _________ to his wife and family is touching.</a:t>
            </a:r>
          </a:p>
          <a:p>
            <a:pPr marL="0" indent="0">
              <a:buNone/>
            </a:pPr>
            <a:r>
              <a:rPr lang="en-US" altLang="zh-CN" sz="3100" b="1"/>
              <a:t>(2) His _______________ </a:t>
            </a:r>
            <a:r>
              <a:rPr lang="zh-CN" altLang="en-US" sz="3100" b="1"/>
              <a:t>他对职责的忠诚</a:t>
            </a:r>
          </a:p>
          <a:p>
            <a:pPr marL="0" indent="0">
              <a:buNone/>
            </a:pPr>
            <a:r>
              <a:rPr lang="en-US" altLang="zh-CN" sz="3100" b="1"/>
              <a:t>(3) a ________ father/supporter </a:t>
            </a:r>
            <a:r>
              <a:rPr lang="zh-CN" altLang="en-US" sz="3100" b="1"/>
              <a:t>尽职的父亲</a:t>
            </a:r>
            <a:r>
              <a:rPr lang="en-US" altLang="zh-CN" sz="3100" b="1"/>
              <a:t>/</a:t>
            </a:r>
            <a:r>
              <a:rPr lang="zh-CN" altLang="en-US" sz="3100" b="1"/>
              <a:t>忠实的支持者</a:t>
            </a:r>
          </a:p>
          <a:p>
            <a:pPr marL="0" indent="0">
              <a:buNone/>
            </a:pPr>
            <a:r>
              <a:rPr lang="en-US" altLang="zh-CN" sz="3100" b="1"/>
              <a:t>(4) After the earthquake, volunteers </a:t>
            </a:r>
          </a:p>
          <a:p>
            <a:pPr marL="0" indent="0">
              <a:buNone/>
            </a:pPr>
            <a:r>
              <a:rPr lang="zh-CN" altLang="en-US" sz="3100" b="1"/>
              <a:t>那场地震后，志愿者</a:t>
            </a:r>
            <a:r>
              <a:rPr lang="zh-CN" altLang="en-US" sz="3100" b="1" u="sng"/>
              <a:t>用他们的空闲时间帮助其他人</a:t>
            </a:r>
            <a:r>
              <a:rPr lang="zh-CN" altLang="en-US" sz="3100" b="1"/>
              <a:t>重建家园。</a:t>
            </a:r>
          </a:p>
          <a:p>
            <a:pPr marL="0" indent="0">
              <a:buNone/>
            </a:pPr>
            <a:r>
              <a:rPr lang="en-US" altLang="zh-CN" sz="3100" b="1">
                <a:solidFill>
                  <a:srgbClr val="0000FF"/>
                </a:solidFill>
                <a:sym typeface="+mn-ea"/>
              </a:rPr>
              <a:t>_____________________________________ </a:t>
            </a:r>
            <a:r>
              <a:rPr lang="en-US" altLang="zh-CN" sz="3100" b="1">
                <a:solidFill>
                  <a:schemeClr val="tx1"/>
                </a:solidFill>
                <a:sym typeface="+mn-ea"/>
              </a:rPr>
              <a:t>rebuild their homes</a:t>
            </a:r>
            <a:r>
              <a:rPr lang="en-US" altLang="zh-CN" sz="3100" b="1">
                <a:sym typeface="+mn-ea"/>
              </a:rPr>
              <a:t>.</a:t>
            </a:r>
          </a:p>
          <a:p>
            <a:pPr marL="0" indent="0">
              <a:buNone/>
            </a:pPr>
            <a:r>
              <a:rPr lang="en-US" altLang="zh-CN" sz="3100" b="1"/>
              <a:t>(5) We think that you can live a more powerful life when you</a:t>
            </a:r>
          </a:p>
          <a:p>
            <a:pPr marL="0" indent="0">
              <a:buNone/>
            </a:pPr>
            <a:r>
              <a:rPr lang="en-US" altLang="zh-CN" sz="3100" b="1"/>
              <a:t> (</a:t>
            </a:r>
            <a:r>
              <a:rPr lang="zh-CN" altLang="en-US" sz="3100" b="1"/>
              <a:t>把一些时间和精力倾注于</a:t>
            </a:r>
            <a:r>
              <a:rPr lang="en-US" altLang="zh-CN" sz="3100" b="1"/>
              <a:t>) ____________________________</a:t>
            </a:r>
          </a:p>
          <a:p>
            <a:pPr marL="0" indent="0">
              <a:buNone/>
            </a:pPr>
            <a:r>
              <a:rPr lang="en-US" altLang="zh-CN" sz="3100" b="1"/>
              <a:t>________________ something much larger than yourself.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41550" y="1699895"/>
            <a:ext cx="1941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devotion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80590" y="2252980"/>
            <a:ext cx="3039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devotion to duty 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53565" y="2794635"/>
            <a:ext cx="1941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devoted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33440" y="5623560"/>
            <a:ext cx="531495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914400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</a:pPr>
            <a:r>
              <a:rPr lang="en-US" altLang="zh-CN" sz="3200" b="1">
                <a:solidFill>
                  <a:srgbClr val="0000FF"/>
                </a:solidFill>
                <a:sym typeface="+mn-ea"/>
              </a:rPr>
              <a:t>devote some of your time and  </a:t>
            </a:r>
            <a:endParaRPr lang="en-US" altLang="zh-CN" sz="3200" b="1">
              <a:solidFill>
                <a:srgbClr val="0000FF"/>
              </a:solidFill>
            </a:endParaRPr>
          </a:p>
          <a:p>
            <a:pPr algn="l" defTabSz="914400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00785" y="6162040"/>
            <a:ext cx="349313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</a:pPr>
            <a:r>
              <a:rPr lang="en-US" altLang="zh-CN" sz="3200" b="1">
                <a:solidFill>
                  <a:srgbClr val="0000FF"/>
                </a:solidFill>
                <a:sym typeface="+mn-ea"/>
              </a:rPr>
              <a:t> energy to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4545" y="202565"/>
            <a:ext cx="19945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devotion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5025" y="1032510"/>
            <a:ext cx="19945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devoted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7110" y="4483735"/>
            <a:ext cx="7469505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0" b="1">
                <a:solidFill>
                  <a:srgbClr val="0000FF"/>
                </a:solidFill>
                <a:sym typeface="+mn-ea"/>
              </a:rPr>
              <a:t>devoted their spare time to helping others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3"/>
      <p:bldP spid="2" grpId="5"/>
      <p:bldP spid="2" grpId="7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4"/>
          <p:cNvSpPr/>
          <p:nvPr/>
        </p:nvSpPr>
        <p:spPr>
          <a:xfrm>
            <a:off x="455613" y="349250"/>
            <a:ext cx="11280775" cy="5291455"/>
          </a:xfrm>
          <a:prstGeom prst="rect">
            <a:avLst/>
          </a:prstGeom>
        </p:spPr>
        <p:txBody>
          <a:bodyPr lIns="121898" tIns="60948" rIns="121898" bIns="60948">
            <a:spAutoFit/>
          </a:bodyPr>
          <a:lstStyle>
            <a:defPPr>
              <a:defRPr lang="zh-CN"/>
            </a:defPPr>
            <a:lvl1pPr marL="0" indent="0" algn="l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indent="0" algn="l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indent="0" algn="l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0" algn="l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indent="0" algn="l" defTabSz="12185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lang="zh-CN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1217295" eaLnBrk="1" hangingPunct="1">
              <a:lnSpc>
                <a:spcPct val="150000"/>
              </a:lnSpc>
              <a:tabLst>
                <a:tab pos="2249170" algn="l"/>
              </a:tabLst>
            </a:pPr>
            <a:r>
              <a:rPr lang="en-US" altLang="zh-CN" sz="3200" b="1" spc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3200" b="1" spc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高级表达</a:t>
            </a:r>
            <a:r>
              <a:rPr lang="en-US" altLang="zh-CN" sz="3200" b="1" spc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</a:t>
            </a:r>
            <a:endParaRPr lang="zh-CN" altLang="zh-CN" sz="3200" b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1217295" eaLnBrk="1" hangingPunct="1">
              <a:lnSpc>
                <a:spcPct val="150000"/>
              </a:lnSpc>
              <a:tabLst>
                <a:tab pos="2249170" algn="l"/>
              </a:tabLst>
            </a:pP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(4)The woman devotes herself to the research, so she has little time to go home.</a:t>
            </a:r>
            <a:endParaRPr lang="zh-CN" altLang="zh-CN" sz="3200" b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1217295" eaLnBrk="1" hangingPunct="1">
              <a:lnSpc>
                <a:spcPct val="150000"/>
              </a:lnSpc>
              <a:tabLst>
                <a:tab pos="2249170" algn="l"/>
              </a:tabLst>
            </a:pP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3200" b="1" u="sng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                 ,</a:t>
            </a: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the woman has little time to go home.(</a:t>
            </a:r>
            <a:r>
              <a:rPr lang="zh-CN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用过去分词短语作状语</a:t>
            </a: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</a:t>
            </a:r>
            <a:endParaRPr lang="zh-CN" altLang="zh-CN" sz="3200" b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1217295" eaLnBrk="1" hangingPunct="1">
              <a:lnSpc>
                <a:spcPct val="150000"/>
              </a:lnSpc>
              <a:tabLst>
                <a:tab pos="2249170" algn="l"/>
              </a:tabLst>
            </a:pP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②___________________________, the woman has little time to go home. (</a:t>
            </a:r>
            <a:r>
              <a:rPr lang="zh-CN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用现在分词短语作状语</a:t>
            </a:r>
            <a:r>
              <a:rPr lang="en-US" altLang="zh-CN" sz="3200" b="1" spc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endParaRPr lang="zh-CN" altLang="zh-CN" sz="3200" b="1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15" name="矩形 1"/>
          <p:cNvSpPr/>
          <p:nvPr/>
        </p:nvSpPr>
        <p:spPr>
          <a:xfrm>
            <a:off x="911225" y="2778125"/>
            <a:ext cx="4263390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5pPr>
          </a:lstStyle>
          <a:p>
            <a:pPr marL="0" marR="0" lvl="0" indent="0" eaLnBrk="1" hangingPunct="1"/>
            <a:r>
              <a:rPr lang="en-US" altLang="zh-CN" sz="3200" b="1" spc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charset="-122"/>
              </a:rPr>
              <a:t>Devoted to the research</a:t>
            </a:r>
          </a:p>
        </p:txBody>
      </p:sp>
      <p:sp>
        <p:nvSpPr>
          <p:cNvPr id="13316" name="矩形 3"/>
          <p:cNvSpPr/>
          <p:nvPr/>
        </p:nvSpPr>
        <p:spPr>
          <a:xfrm>
            <a:off x="890588" y="4190365"/>
            <a:ext cx="5674360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704020202020204" pitchFamily="34" charset="0"/>
                <a:ea typeface="宋体" pitchFamily="2" charset="-122"/>
              </a:defRPr>
            </a:lvl5pPr>
          </a:lstStyle>
          <a:p>
            <a:pPr marL="0" marR="0" lvl="0" indent="0" eaLnBrk="1" hangingPunct="1"/>
            <a:r>
              <a:rPr lang="en-US" altLang="zh-CN" sz="3200" b="1" spc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charset="-122"/>
              </a:rPr>
              <a:t>Devoting herself to the research</a:t>
            </a:r>
            <a:endParaRPr lang="zh-CN" altLang="en-US" sz="3200" b="1">
              <a:solidFill>
                <a:srgbClr val="C00000"/>
              </a:solidFill>
              <a:latin typeface="Times New Roman" panose="02020603050405020304" pitchFamily="18" charset="0"/>
              <a:ea typeface="华文细黑" panose="02010600040101010101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96000" y="34328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3200" b="1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更常用</a:t>
            </a:r>
            <a:endParaRPr lang="en-US" sz="3200" b="1">
              <a:solidFill>
                <a:srgbClr val="C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13394" y="148871"/>
            <a:ext cx="11404473" cy="651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/>
              <a:t>2. The wonder of literature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/>
              <a:t>    </a:t>
            </a:r>
            <a:r>
              <a:rPr lang="zh-CN" altLang="en-US" sz="3200" b="1" dirty="0"/>
              <a:t>文学的奇妙之处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  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literature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</a:rPr>
              <a:t> u. </a:t>
            </a:r>
            <a:r>
              <a:rPr lang="zh-CN" altLang="en-US" sz="3200" b="1" dirty="0">
                <a:solidFill>
                  <a:srgbClr val="0000FF"/>
                </a:solidFill>
              </a:rPr>
              <a:t>文学；文学作品；某学科的著作或文献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一部文学作品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</a:rPr>
              <a:t>几部文学作品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</a:rPr>
              <a:t>文学巨著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</a:rPr>
              <a:t>经典文学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   </a:t>
            </a:r>
            <a:r>
              <a:rPr lang="zh-CN" altLang="en-US" sz="2800" b="1" dirty="0">
                <a:solidFill>
                  <a:schemeClr val="tx1"/>
                </a:solidFill>
              </a:rPr>
              <a:t>它比任何其他方法都好得多，因为在阅读一部有趣的文学作品时，你可以增加词汇量。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It is far better than any other method because you improve your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vocabulary while reading ___ _________ _____ __ ___________.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182745" y="1979295"/>
            <a:ext cx="3730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a piece of literature 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182745" y="2563495"/>
            <a:ext cx="3730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works of literature 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197985" y="3107055"/>
            <a:ext cx="4700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great works of literature 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197985" y="3700780"/>
            <a:ext cx="3730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classic literature 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890770" y="5980430"/>
            <a:ext cx="6198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an  interesting  piece  of  literature 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  <p:bldP spid="3" grpId="0"/>
      <p:bldP spid="3" grpId="1"/>
      <p:bldP spid="7" grpId="0"/>
      <p:bldP spid="7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9216" y="190640"/>
            <a:ext cx="11720562" cy="16414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2800" b="1" dirty="0"/>
              <a:t>3. Then the man explained that the child heard nothing strange, and that the shell caught a range of sounds too faint for human ears.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What amazed the child</a:t>
            </a:r>
            <a:r>
              <a:rPr lang="en-US" altLang="zh-CN" sz="2800" b="1" dirty="0"/>
              <a:t> was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altLang="zh-CN" sz="2800" b="1" dirty="0"/>
              <a:t> a new world,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</a:rPr>
              <a:t>but</a:t>
            </a:r>
            <a:r>
              <a:rPr lang="en-US" altLang="zh-CN" sz="2800" b="1" dirty="0"/>
              <a:t> the unnoticed music of the old.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0205" y="1946910"/>
            <a:ext cx="1163701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①本句是一个</a:t>
            </a:r>
            <a:r>
              <a:rPr kumimoji="0" lang="zh-CN" altLang="en-US" sz="3200" b="1" i="0" u="none" strike="noStrike" cap="none" normalizeH="0" baseline="0" dirty="0">
                <a:solidFill>
                  <a:srgbClr val="C00000"/>
                </a:solidFill>
              </a:rPr>
              <a:t>复合句。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>
              <a:lnSpc>
                <a:spcPct val="120000"/>
              </a:lnSpc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②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ahoma" panose="020B0804030504040204" pitchFamily="34" charset="0"/>
              </a:rPr>
              <a:t>What amazed the child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是</a:t>
            </a:r>
            <a:r>
              <a:rPr lang="zh-CN" altLang="en-US" sz="3200" b="1" dirty="0">
                <a:solidFill>
                  <a:srgbClr val="C00000"/>
                </a:solidFill>
              </a:rPr>
              <a:t>主语</a:t>
            </a:r>
            <a:r>
              <a:rPr kumimoji="0" lang="zh-CN" altLang="en-US" sz="3200" b="1" i="0" u="none" strike="noStrike" cap="none" normalizeH="0" baseline="0" dirty="0">
                <a:solidFill>
                  <a:srgbClr val="C00000"/>
                </a:solidFill>
              </a:rPr>
              <a:t>从句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。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>
              <a:lnSpc>
                <a:spcPct val="120000"/>
              </a:lnSpc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③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ahoma" panose="020B0804030504040204" pitchFamily="34" charset="0"/>
              </a:rPr>
              <a:t>not ... but ...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连接两个并列成分，意为“</a:t>
            </a:r>
            <a:r>
              <a:rPr lang="zh-CN" altLang="en-US" sz="3200" b="1" dirty="0">
                <a:solidFill>
                  <a:srgbClr val="C00000"/>
                </a:solidFill>
              </a:rPr>
              <a:t>不是</a:t>
            </a:r>
            <a:r>
              <a:rPr lang="en-US" altLang="zh-CN" sz="3200" b="1" dirty="0">
                <a:solidFill>
                  <a:srgbClr val="C00000"/>
                </a:solidFill>
              </a:rPr>
              <a:t>……</a:t>
            </a:r>
            <a:r>
              <a:rPr lang="zh-CN" altLang="en-US" sz="3200" b="1" dirty="0">
                <a:solidFill>
                  <a:srgbClr val="C00000"/>
                </a:solidFill>
              </a:rPr>
              <a:t>而是</a:t>
            </a:r>
            <a:r>
              <a:rPr lang="en-US" altLang="zh-CN" sz="3200" b="1" dirty="0">
                <a:solidFill>
                  <a:srgbClr val="C00000"/>
                </a:solidFill>
              </a:rPr>
              <a:t>……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”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。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让读者感到意外的并不是欧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·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804030504040204" pitchFamily="34" charset="0"/>
              </a:rPr>
              <a:t>亨利小说的人物而是他小说的结局。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2750" y="4207510"/>
            <a:ext cx="1160653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cs typeface="Tahoma" panose="020B0804030504040204" pitchFamily="34" charset="0"/>
              </a:rPr>
              <a:t>What surprises readers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  <a:cs typeface="Tahoma" panose="020B0804030504040204" pitchFamily="34" charset="0"/>
              </a:rPr>
              <a:t> is </a:t>
            </a:r>
            <a:r>
              <a:rPr lang="en-US" altLang="zh-CN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a typeface="宋体" pitchFamily="2" charset="-122"/>
                <a:cs typeface="Tahoma" panose="020B0804030504040204" pitchFamily="34" charset="0"/>
              </a:rPr>
              <a:t>not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  <a:cs typeface="Tahoma" panose="020B0804030504040204" pitchFamily="34" charset="0"/>
              </a:rPr>
              <a:t> the characters in O. Henry’s stories </a:t>
            </a:r>
            <a:r>
              <a:rPr lang="en-US" altLang="zh-CN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a typeface="宋体" pitchFamily="2" charset="-122"/>
                <a:cs typeface="Tahoma" panose="020B0804030504040204" pitchFamily="34" charset="0"/>
              </a:rPr>
              <a:t>but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  <a:cs typeface="Tahoma" panose="020B0804030504040204" pitchFamily="34" charset="0"/>
              </a:rPr>
              <a:t> the endings.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  <a:cs typeface="Tahoma" panose="020B0804030504040204" pitchFamily="34" charset="0"/>
              </a:rPr>
              <a:t>He was not affected most by his family but by one of his teachers.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  <a:cs typeface="Tahoma" panose="020B0804030504040204" pitchFamily="34" charset="0"/>
              </a:rPr>
              <a:t>影响他最深的不是他的家庭，而是他的一位老师。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45805" y="2725600"/>
            <a:ext cx="1062431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(1) The company provides _____________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financial services.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     </a:t>
            </a:r>
            <a:r>
              <a:rPr lang="zh-CN" altLang="en-US" sz="3200" b="1" dirty="0"/>
              <a:t>这家公司提供全面的金融服务。     </a:t>
            </a:r>
            <a:endParaRPr lang="en-US" altLang="zh-CN" sz="3200" b="1" dirty="0"/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(2) I offered her _________________.</a:t>
            </a:r>
          </a:p>
          <a:p>
            <a:pPr marL="631825" indent="-631825">
              <a:lnSpc>
                <a:spcPct val="120000"/>
              </a:lnSpc>
            </a:pPr>
            <a:r>
              <a:rPr lang="zh-CN" altLang="en-US" sz="3200" b="1" dirty="0"/>
              <a:t>     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我给了她各种选择。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(3) The students can have a free choice from ____________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     ______________ . (</a:t>
            </a:r>
            <a:r>
              <a:rPr lang="zh-CN" altLang="en-US" sz="3200" b="1" dirty="0"/>
              <a:t>一系列经典小说</a:t>
            </a:r>
            <a:r>
              <a:rPr lang="en-US" altLang="zh-CN" sz="3200" b="1" dirty="0"/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5805" y="605864"/>
            <a:ext cx="10679366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range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一组，一系列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range of : </a:t>
            </a:r>
            <a:r>
              <a:rPr lang="en-US" altLang="zh-CN" sz="3200" b="1" i="1" dirty="0"/>
              <a:t>a variety of things of a particular type</a:t>
            </a:r>
          </a:p>
          <a:p>
            <a:pPr marL="2057400" indent="-2057400">
              <a:lnSpc>
                <a:spcPct val="120000"/>
              </a:lnSpc>
            </a:pPr>
            <a:r>
              <a:rPr lang="zh-CN" altLang="en-US" sz="3200" b="1" dirty="0"/>
              <a:t>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一系列</a:t>
            </a:r>
            <a:r>
              <a:rPr lang="en-US" altLang="zh-CN" sz="3200" b="1" dirty="0">
                <a:solidFill>
                  <a:srgbClr val="FF0000"/>
                </a:solidFill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</a:rPr>
              <a:t>一套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同类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08930" y="277495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en-US" altLang="zh-CN" sz="3200" b="1" dirty="0">
                <a:sym typeface="+mn-ea"/>
              </a:rPr>
              <a:t> full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range of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73795" y="51022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 range of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69360" y="39979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 range of </a:t>
            </a:r>
            <a:r>
              <a:rPr lang="en-US" altLang="zh-CN" sz="3200" b="1" dirty="0">
                <a:sym typeface="+mn-ea"/>
              </a:rPr>
              <a:t>options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1610" y="57359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ym typeface="+mn-ea"/>
              </a:rPr>
              <a:t>classic novels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14936" y="1427904"/>
            <a:ext cx="10695074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range between A and B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在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和</a:t>
            </a:r>
            <a:r>
              <a:rPr lang="en-US" altLang="zh-CN" sz="3200" b="1" dirty="0"/>
              <a:t>B</a:t>
            </a:r>
            <a:r>
              <a:rPr lang="zh-CN" altLang="en-US" sz="3200" b="1" dirty="0"/>
              <a:t>之间变化或变动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range from A to B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从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延伸到</a:t>
            </a:r>
            <a:r>
              <a:rPr lang="en-US" altLang="zh-CN" sz="3200" b="1" dirty="0"/>
              <a:t>B; </a:t>
            </a:r>
            <a:r>
              <a:rPr lang="zh-CN" altLang="en-US" sz="3200" b="1" dirty="0"/>
              <a:t>从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到</a:t>
            </a:r>
            <a:r>
              <a:rPr lang="en-US" altLang="zh-CN" sz="3200" b="1" dirty="0"/>
              <a:t>B</a:t>
            </a:r>
            <a:r>
              <a:rPr lang="zh-CN" altLang="en-US" sz="3200" b="1" dirty="0"/>
              <a:t>不等</a:t>
            </a:r>
            <a:endParaRPr lang="en-US" altLang="zh-CN" sz="3200" b="1" dirty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(1)The population of these cities _______ _______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3</a:t>
            </a:r>
            <a:r>
              <a:rPr lang="en-US" altLang="zh-CN" sz="3200" b="1" dirty="0">
                <a:solidFill>
                  <a:srgbClr val="FF0000"/>
                </a:solidFill>
              </a:rPr>
              <a:t> and </a:t>
            </a:r>
            <a:r>
              <a:rPr lang="en-US" altLang="zh-CN" sz="3200" b="1" dirty="0"/>
              <a:t>5 million.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(2)The show had a massive audience, _______ ____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children </a:t>
            </a:r>
            <a:r>
              <a:rPr lang="en-US" altLang="zh-CN" sz="3200" b="1" dirty="0">
                <a:solidFill>
                  <a:srgbClr val="FF0000"/>
                </a:solidFill>
              </a:rPr>
              <a:t>to</a:t>
            </a:r>
            <a:r>
              <a:rPr lang="en-US" altLang="zh-CN" sz="3200" b="1" dirty="0"/>
              <a:t> grandparents.</a:t>
            </a:r>
            <a:endParaRPr lang="zh-CN" altLang="en-US" sz="32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814936" y="572059"/>
            <a:ext cx="8216472" cy="68326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range  </a:t>
            </a:r>
            <a:r>
              <a:rPr lang="en-US" altLang="zh-CN" sz="3200" b="1" i="1" dirty="0">
                <a:solidFill>
                  <a:srgbClr val="0000FF"/>
                </a:solidFill>
              </a:rPr>
              <a:t>v</a:t>
            </a:r>
            <a:r>
              <a:rPr lang="en-US" altLang="zh-CN" sz="3200" b="1" dirty="0">
                <a:solidFill>
                  <a:srgbClr val="0000FF"/>
                </a:solidFill>
              </a:rPr>
              <a:t>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（在一定的范围内）变动，变化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00825" y="38061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ranges  between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41870" y="496506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ranging from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94652" y="1656630"/>
            <a:ext cx="8593584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631825" indent="-631825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1) </a:t>
            </a:r>
            <a:r>
              <a:rPr lang="zh-CN" altLang="en-US" dirty="0"/>
              <a:t>他做过许多不同的工作，从厨师到司机。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2) </a:t>
            </a:r>
            <a:r>
              <a:rPr lang="zh-CN" altLang="en-US" dirty="0"/>
              <a:t>这里给孩子们提供了各种活动。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4652" y="897577"/>
            <a:ext cx="5637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翻译下面句子。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168699" y="2273337"/>
            <a:ext cx="10192721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dirty="0"/>
              <a:t>He has had a number of different jobs, ranging from chef to driver.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68698" y="4014197"/>
            <a:ext cx="792851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dirty="0"/>
              <a:t>There is a full range of activities for children.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5247" y="2762544"/>
            <a:ext cx="10684731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</a:defRPr>
            </a:lvl1pPr>
          </a:lstStyle>
          <a:p>
            <a:pPr marL="446405" indent="-446405"/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Their laughter </a:t>
            </a:r>
            <a:r>
              <a:rPr lang="en-US" altLang="zh-CN" u="sng" dirty="0">
                <a:solidFill>
                  <a:schemeClr val="tx1"/>
                </a:solidFill>
              </a:rPr>
              <a:t>grew </a:t>
            </a:r>
            <a:r>
              <a:rPr lang="en-US" altLang="zh-CN" u="sng" dirty="0"/>
              <a:t>fainter</a:t>
            </a:r>
            <a:r>
              <a:rPr lang="en-US" altLang="zh-CN" dirty="0">
                <a:solidFill>
                  <a:schemeClr val="tx1"/>
                </a:solidFill>
              </a:rPr>
              <a:t> as they walked down the road.</a:t>
            </a:r>
          </a:p>
          <a:p>
            <a:pPr marL="446405" indent="-446405"/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他们沿路走远时，笑声也越来越模糊了。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8118" y="1207755"/>
            <a:ext cx="10684731" cy="127419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faint  </a:t>
            </a:r>
            <a:r>
              <a:rPr lang="en-US" altLang="zh-CN" sz="3200" b="1" i="1" dirty="0">
                <a:solidFill>
                  <a:srgbClr val="FF0000"/>
                </a:solidFill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</a:rPr>
              <a:t> : </a:t>
            </a:r>
            <a:r>
              <a:rPr lang="en-US" altLang="zh-CN" sz="3200" b="1" i="1" dirty="0"/>
              <a:t>difficult to see, hear, smell etc.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（光、声、味）微弱的，不清楚的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7126" y="687397"/>
            <a:ext cx="11027164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58775" indent="-358775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4. Some such experience as this lies </a:t>
            </a:r>
            <a:r>
              <a:rPr lang="en-US" altLang="zh-CN" dirty="0">
                <a:solidFill>
                  <a:srgbClr val="FF0000"/>
                </a:solidFill>
              </a:rPr>
              <a:t>in store for </a:t>
            </a:r>
            <a:r>
              <a:rPr lang="en-US" altLang="zh-CN" dirty="0"/>
              <a:t>us when we begin the study of literature.</a:t>
            </a:r>
          </a:p>
          <a:p>
            <a:r>
              <a:rPr lang="zh-CN" altLang="en-US" dirty="0"/>
              <a:t>   当我们开始学习文学的时候，我们也会有如此这般的体验。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52098" y="2867582"/>
            <a:ext cx="10512192" cy="24536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602230" indent="-26022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 store for </a:t>
            </a:r>
            <a:r>
              <a:rPr lang="en-US" altLang="zh-CN" sz="3200" b="1" dirty="0" err="1">
                <a:solidFill>
                  <a:srgbClr val="FF0000"/>
                </a:solidFill>
              </a:rPr>
              <a:t>sb</a:t>
            </a:r>
            <a:r>
              <a:rPr lang="en-US" altLang="zh-CN" sz="3200" b="1" dirty="0"/>
              <a:t>: </a:t>
            </a:r>
            <a:r>
              <a:rPr lang="en-US" altLang="zh-CN" sz="3200" b="1" i="1" dirty="0"/>
              <a:t>if something unexpected such as a surprise or problem is in store for someone, it is about to happen to them  </a:t>
            </a:r>
          </a:p>
          <a:p>
            <a:pPr marL="2602230" indent="-2602230">
              <a:lnSpc>
                <a:spcPct val="120000"/>
              </a:lnSpc>
            </a:pPr>
            <a:r>
              <a:rPr lang="zh-CN" altLang="en-US" sz="3200" b="1" dirty="0"/>
              <a:t>            </a:t>
            </a:r>
            <a:r>
              <a:rPr lang="zh-CN" altLang="en-US" sz="3200" b="1" dirty="0">
                <a:solidFill>
                  <a:srgbClr val="0000FF"/>
                </a:solidFill>
              </a:rPr>
              <a:t>即将发生在某人身上，等待着某人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705639" y="310501"/>
            <a:ext cx="10741294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defTabSz="446405"/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We never know what life </a:t>
            </a:r>
            <a:r>
              <a:rPr lang="en-US" altLang="zh-CN" u="sng" dirty="0"/>
              <a:t>holds </a:t>
            </a:r>
            <a:r>
              <a:rPr lang="en-US" altLang="zh-CN" u="sng" dirty="0">
                <a:solidFill>
                  <a:srgbClr val="FF0000"/>
                </a:solidFill>
              </a:rPr>
              <a:t>in store for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us.</a:t>
            </a:r>
          </a:p>
          <a:p>
            <a:pPr defTabSz="446405"/>
            <a:r>
              <a:rPr lang="zh-CN" altLang="en-US" dirty="0"/>
              <a:t>     </a:t>
            </a:r>
            <a:r>
              <a:rPr lang="en-US" altLang="zh-CN" dirty="0"/>
              <a:t> </a:t>
            </a:r>
            <a:r>
              <a:rPr lang="zh-CN" altLang="en-US" dirty="0"/>
              <a:t>我们永远不知道等待我们的将是什么样的生活。</a:t>
            </a:r>
            <a:r>
              <a:rPr lang="en-US" altLang="zh-CN" b="0" dirty="0"/>
              <a:t> </a:t>
            </a:r>
          </a:p>
          <a:p>
            <a:pPr defTabSz="446405"/>
            <a:r>
              <a:rPr lang="en-US" altLang="zh-CN" dirty="0"/>
              <a:t>(2) There's a real treat </a:t>
            </a:r>
            <a:r>
              <a:rPr lang="en-US" altLang="zh-CN" dirty="0">
                <a:solidFill>
                  <a:srgbClr val="FF0000"/>
                </a:solidFill>
              </a:rPr>
              <a:t>in store for </a:t>
            </a:r>
            <a:r>
              <a:rPr lang="en-US" altLang="zh-CN" dirty="0"/>
              <a:t>you this New Year!</a:t>
            </a:r>
          </a:p>
          <a:p>
            <a:pPr defTabSz="446405"/>
            <a:r>
              <a:rPr lang="en-US" altLang="zh-CN" dirty="0"/>
              <a:t>     </a:t>
            </a:r>
            <a:r>
              <a:rPr lang="zh-CN" altLang="en-US" dirty="0"/>
              <a:t>今年新年有件很开心的事情等着你！</a:t>
            </a:r>
          </a:p>
          <a:p>
            <a:pPr defTabSz="446405"/>
            <a:r>
              <a:rPr lang="en-US" altLang="zh-CN" dirty="0"/>
              <a:t>(3) </a:t>
            </a:r>
            <a:r>
              <a:rPr lang="zh-CN" altLang="en-US" dirty="0"/>
              <a:t>明天你一定会大吃一惊的。</a:t>
            </a:r>
          </a:p>
          <a:p>
            <a:pPr defTabSz="446405"/>
            <a:r>
              <a:rPr lang="en-US" altLang="zh-CN" dirty="0"/>
              <a:t>      There’s a surprise </a:t>
            </a:r>
            <a:r>
              <a:rPr lang="en-US" altLang="zh-CN" dirty="0">
                <a:solidFill>
                  <a:srgbClr val="FF0000"/>
                </a:solidFill>
              </a:rPr>
              <a:t>in store for you</a:t>
            </a:r>
            <a:r>
              <a:rPr lang="en-US" altLang="zh-CN" dirty="0"/>
              <a:t> tomorrow.</a:t>
            </a:r>
          </a:p>
          <a:p>
            <a:pPr defTabSz="446405"/>
            <a:r>
              <a:rPr lang="en-US" altLang="zh-CN" dirty="0"/>
              <a:t>(4) No one knows what lies _______________ tomorrow. </a:t>
            </a:r>
          </a:p>
          <a:p>
            <a:pPr defTabSz="446405"/>
            <a:r>
              <a:rPr lang="en-US" altLang="zh-CN" dirty="0"/>
              <a:t>     But we can try to prepare accordingly.</a:t>
            </a:r>
          </a:p>
          <a:p>
            <a:pPr defTabSz="446405"/>
            <a:r>
              <a:rPr lang="en-US" altLang="zh-CN" dirty="0"/>
              <a:t>    谁也不知道明天会发生什么。但我们可以试着做相应的准备。</a:t>
            </a:r>
          </a:p>
          <a:p>
            <a:pPr defTabSz="446405"/>
            <a:r>
              <a:rPr lang="en-US" altLang="zh-CN" dirty="0"/>
              <a:t> 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15940" y="3923665"/>
            <a:ext cx="2964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 store for 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6307" y="391344"/>
            <a:ext cx="11261247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5. Let a little song </a:t>
            </a:r>
            <a:r>
              <a:rPr lang="en-US" altLang="zh-CN" sz="3200" b="1" dirty="0">
                <a:solidFill>
                  <a:srgbClr val="FF0000"/>
                </a:solidFill>
              </a:rPr>
              <a:t>appeal to </a:t>
            </a:r>
            <a:r>
              <a:rPr lang="en-US" altLang="zh-CN" sz="3200" b="1" dirty="0"/>
              <a:t>the ear, or a great book to the heart, and we discover a new world, a world of dreams and magic.  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srgbClr val="0070C0"/>
                </a:solidFill>
              </a:rPr>
              <a:t>    </a:t>
            </a:r>
            <a:r>
              <a:rPr lang="zh-CN" altLang="en-US" sz="3200" b="1" dirty="0">
                <a:solidFill>
                  <a:srgbClr val="0000FF"/>
                </a:solidFill>
              </a:rPr>
              <a:t>让一首小曲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愉悦</a:t>
            </a:r>
            <a:r>
              <a:rPr lang="zh-CN" altLang="en-US" sz="3200" b="1" dirty="0">
                <a:solidFill>
                  <a:srgbClr val="0000FF"/>
                </a:solidFill>
              </a:rPr>
              <a:t>我们的耳朵，或者让一部巨著触动我们的心灵，这样我们就会发现一个全新的世界，一个充满梦想和魔力的世界。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3336" y="3723334"/>
            <a:ext cx="10724217" cy="18630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  </a:t>
            </a:r>
            <a:r>
              <a:rPr lang="en-US" altLang="zh-CN" sz="3200" b="1" i="1" dirty="0">
                <a:solidFill>
                  <a:srgbClr val="FF0000"/>
                </a:solidFill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/>
              <a:t>: </a:t>
            </a:r>
            <a:r>
              <a:rPr lang="en-US" altLang="zh-CN" sz="3200" b="1" i="1" dirty="0"/>
              <a:t>if someone or something appeals to you, they seem attractive and interesting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sz="3200" b="1" dirty="0"/>
              <a:t>                   </a:t>
            </a:r>
            <a:r>
              <a:rPr lang="zh-CN" altLang="en-US" sz="3200" b="1" dirty="0">
                <a:solidFill>
                  <a:srgbClr val="0000FF"/>
                </a:solidFill>
              </a:rPr>
              <a:t>有吸引力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6430" y="484505"/>
            <a:ext cx="107061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 to </a:t>
            </a:r>
            <a:r>
              <a:rPr lang="zh-CN" altLang="en-US" sz="3200" b="1" dirty="0"/>
              <a:t>有吸引力，有感染力，引起兴趣</a:t>
            </a:r>
            <a:endParaRPr lang="en-US" altLang="zh-CN" sz="3200" b="1" dirty="0"/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(1)  That sort of music doesn’t </a:t>
            </a:r>
            <a:r>
              <a:rPr lang="en-US" altLang="zh-CN" sz="3200" b="1" dirty="0">
                <a:solidFill>
                  <a:srgbClr val="FF0000"/>
                </a:solidFill>
              </a:rPr>
              <a:t>appeal to </a:t>
            </a:r>
            <a:r>
              <a:rPr lang="en-US" altLang="zh-CN" sz="3200" b="1" dirty="0"/>
              <a:t>me much.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(2)  The idea of starting my own business really ________________.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     </a:t>
            </a:r>
            <a:r>
              <a:rPr lang="zh-CN" altLang="en-US" sz="3200" b="1" dirty="0"/>
              <a:t>创业这个主意对我很有吸引力。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(3) This semester our school offers any optional courses for the students, which _____________ many students.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(4) Once you find the book ________________</a:t>
            </a:r>
            <a:r>
              <a:rPr lang="en-US" altLang="zh-CN" sz="3200" b="1" dirty="0">
                <a:sym typeface="+mn-ea"/>
              </a:rPr>
              <a:t>(</a:t>
            </a:r>
            <a:r>
              <a:rPr lang="zh-CN" altLang="en-US" sz="3200" b="1" dirty="0">
                <a:sym typeface="+mn-ea"/>
              </a:rPr>
              <a:t>吸引你的</a:t>
            </a:r>
            <a:r>
              <a:rPr lang="en-US" altLang="zh-CN" sz="3200" b="1" dirty="0">
                <a:sym typeface="+mn-ea"/>
              </a:rPr>
              <a:t>)</a:t>
            </a:r>
            <a:r>
              <a:rPr lang="en-US" altLang="zh-CN" sz="3200" b="1" dirty="0"/>
              <a:t>,                                         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/>
              <a:t>       you must devote yourself to reading.</a:t>
            </a:r>
          </a:p>
        </p:txBody>
      </p:sp>
      <p:sp>
        <p:nvSpPr>
          <p:cNvPr id="3" name="矩形 2"/>
          <p:cNvSpPr/>
          <p:nvPr/>
        </p:nvSpPr>
        <p:spPr>
          <a:xfrm>
            <a:off x="1393117" y="2291794"/>
            <a:ext cx="25533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appeals to me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65627" y="4094559"/>
            <a:ext cx="193294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appeals to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32987" y="4678124"/>
            <a:ext cx="305117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appealing to you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57422" y="5807154"/>
            <a:ext cx="346837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that appeals to you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6039" y="771854"/>
            <a:ext cx="10967649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  </a:t>
            </a:r>
            <a:r>
              <a:rPr lang="en-US" altLang="zh-CN" sz="3200" b="1" i="1" dirty="0">
                <a:solidFill>
                  <a:srgbClr val="FF0000"/>
                </a:solidFill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/>
              <a:t>: </a:t>
            </a:r>
            <a:r>
              <a:rPr lang="en-US" altLang="zh-CN" sz="3200" b="1" i="1" dirty="0"/>
              <a:t>to make a serious public request for help, money, information </a:t>
            </a:r>
            <a:r>
              <a:rPr lang="en-US" altLang="zh-CN" sz="3200" b="1" i="1" dirty="0" err="1"/>
              <a:t>etc</a:t>
            </a:r>
            <a:endParaRPr lang="en-US" altLang="zh-CN" sz="3200" b="1" i="1" dirty="0"/>
          </a:p>
          <a:p>
            <a:pPr marL="2057400" indent="-2057400">
              <a:lnSpc>
                <a:spcPct val="120000"/>
              </a:lnSpc>
            </a:pPr>
            <a:r>
              <a:rPr lang="en-US" altLang="zh-CN" sz="3200" dirty="0"/>
              <a:t>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恳请，恳求</a:t>
            </a:r>
            <a:r>
              <a:rPr lang="en-US" altLang="zh-CN" sz="3200" b="1" dirty="0">
                <a:solidFill>
                  <a:srgbClr val="FF0000"/>
                </a:solidFill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</a:rPr>
              <a:t>呼吁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80845" y="2972127"/>
            <a:ext cx="8669466" cy="1863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sym typeface="+mn-ea"/>
              </a:rPr>
              <a:t>呼吁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恳请某人</a:t>
            </a:r>
            <a:r>
              <a:rPr lang="en-US" altLang="zh-CN" sz="3200" b="1" dirty="0">
                <a:sym typeface="+mn-ea"/>
              </a:rPr>
              <a:t>……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appeal (to sb) for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appeal to sb to do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r>
              <a:rPr lang="zh-CN" altLang="en-US" sz="3200" b="1" dirty="0"/>
              <a:t> 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1336474" y="4076360"/>
            <a:ext cx="244371" cy="5871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chemeClr val="tx1"/>
                </a:solidFill>
              </a:ln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2290" y="613410"/>
            <a:ext cx="1133729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(1)  </a:t>
            </a:r>
            <a:r>
              <a:rPr lang="en-US" altLang="zh-CN" sz="3200" dirty="0"/>
              <a:t> </a:t>
            </a:r>
            <a:r>
              <a:rPr lang="en-US" altLang="zh-CN" sz="3200" b="1" dirty="0"/>
              <a:t>Sophie had some difficulty solving the problem, so she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        </a:t>
            </a:r>
            <a:r>
              <a:rPr lang="en-US" altLang="zh-CN" sz="3200" b="1" dirty="0">
                <a:solidFill>
                  <a:srgbClr val="FF0000"/>
                </a:solidFill>
              </a:rPr>
              <a:t>appealed for help</a:t>
            </a:r>
            <a:r>
              <a:rPr lang="en-US" altLang="zh-CN" sz="3200" b="1" dirty="0"/>
              <a:t>.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(2)  The police are _________________________ (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呼吁公众</a:t>
            </a:r>
            <a:r>
              <a:rPr lang="en-US" altLang="zh-CN" sz="3200" b="1" dirty="0">
                <a:solidFill>
                  <a:schemeClr val="tx1"/>
                </a:solidFill>
              </a:rPr>
              <a:t>)  </a:t>
            </a:r>
            <a:r>
              <a:rPr lang="en-US" altLang="zh-CN" sz="3200" b="1" dirty="0"/>
              <a:t>any information about the missing girl.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(3)   May I ____________________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yourself whole-heartedly into the work? (</a:t>
            </a:r>
            <a:r>
              <a:rPr lang="zh-CN" altLang="en-US" sz="3200" b="1" dirty="0"/>
              <a:t>恳求你投入</a:t>
            </a:r>
            <a:r>
              <a:rPr lang="en-US" altLang="zh-CN" sz="3200" b="1" dirty="0"/>
              <a:t>)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(4)  Facing the shortage of water, the government is ______________________________ (</a:t>
            </a:r>
            <a:r>
              <a:rPr lang="zh-CN" altLang="en-US" sz="3200" b="1" dirty="0"/>
              <a:t>呼吁每个人节约用水</a:t>
            </a:r>
            <a:r>
              <a:rPr lang="en-US" altLang="zh-CN" sz="3200" b="1" dirty="0"/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12870" y="1840230"/>
            <a:ext cx="5130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appealing to the public for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25395" y="3032760"/>
            <a:ext cx="45167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appeal to you to throw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8565" y="4764405"/>
            <a:ext cx="64465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appealing to everyone to save water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8312" y="393434"/>
            <a:ext cx="11029244" cy="24536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 </a:t>
            </a:r>
            <a:r>
              <a:rPr lang="en-US" altLang="zh-CN" sz="3200" b="1" i="1" dirty="0">
                <a:solidFill>
                  <a:srgbClr val="0000FF"/>
                </a:solidFill>
              </a:rPr>
              <a:t>n. </a:t>
            </a:r>
            <a:r>
              <a:rPr lang="en-US" altLang="zh-CN" sz="3200" b="1" dirty="0"/>
              <a:t>: 1) </a:t>
            </a:r>
            <a:r>
              <a:rPr lang="en-US" altLang="zh-CN" sz="3200" b="1" i="1" dirty="0">
                <a:solidFill>
                  <a:srgbClr val="0000FF"/>
                </a:solidFill>
              </a:rPr>
              <a:t>a quality that makes people like sth or sb</a:t>
            </a: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/>
              <a:t>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感染力，吸引力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/>
              <a:t>                   2) </a:t>
            </a:r>
            <a:r>
              <a:rPr lang="en-US" altLang="zh-CN" sz="3200" b="1" i="1" dirty="0"/>
              <a:t>an urgent request for something important </a:t>
            </a: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i="1" dirty="0"/>
              <a:t>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恳求</a:t>
            </a:r>
            <a:r>
              <a:rPr lang="en-US" altLang="zh-CN" sz="3200" b="1" dirty="0">
                <a:solidFill>
                  <a:srgbClr val="FF0000"/>
                </a:solidFill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</a:rPr>
              <a:t>呼吁；上诉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7156" y="2872848"/>
            <a:ext cx="10763644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have a great appeal to sb  </a:t>
            </a:r>
            <a:r>
              <a:rPr lang="zh-CN" altLang="en-US" sz="3200" b="1" dirty="0">
                <a:solidFill>
                  <a:schemeClr val="tx1"/>
                </a:solidFill>
              </a:rPr>
              <a:t>对某人有很强的吸引力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make an appeal (to sb)       </a:t>
            </a:r>
            <a:r>
              <a:rPr lang="zh-CN" altLang="en-US" sz="3200" b="1" dirty="0">
                <a:solidFill>
                  <a:schemeClr val="tx1"/>
                </a:solidFill>
              </a:rPr>
              <a:t>发出</a:t>
            </a:r>
            <a:r>
              <a:rPr lang="zh-CN" altLang="en-US" sz="3200" b="1" dirty="0"/>
              <a:t>呼吁；提出上诉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(1) Films like that have lost their </a:t>
            </a:r>
            <a:r>
              <a:rPr lang="en-US" altLang="zh-CN" sz="3200" b="1" dirty="0">
                <a:solidFill>
                  <a:srgbClr val="FF0000"/>
                </a:solidFill>
              </a:rPr>
              <a:t>appeal to </a:t>
            </a:r>
            <a:r>
              <a:rPr lang="en-US" altLang="zh-CN" sz="3200" b="1" dirty="0"/>
              <a:t>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(2) She </a:t>
            </a:r>
            <a:r>
              <a:rPr lang="en-US" altLang="zh-CN" sz="3200" b="1" dirty="0">
                <a:solidFill>
                  <a:srgbClr val="FF0000"/>
                </a:solidFill>
              </a:rPr>
              <a:t>made an appeal to her father </a:t>
            </a:r>
            <a:r>
              <a:rPr lang="en-US" altLang="zh-CN" sz="3200" b="1" dirty="0"/>
              <a:t>for help.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(3) </a:t>
            </a:r>
            <a:r>
              <a:rPr lang="zh-CN" altLang="en-US" sz="3200" b="1" dirty="0"/>
              <a:t>警方呼吁公众保持镇静。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The police </a:t>
            </a:r>
            <a:r>
              <a:rPr lang="en-US" altLang="zh-CN" sz="3200" b="1" dirty="0">
                <a:solidFill>
                  <a:srgbClr val="0000FF"/>
                </a:solidFill>
              </a:rPr>
              <a:t>made an appeal to the public</a:t>
            </a:r>
            <a:r>
              <a:rPr lang="en-US" altLang="zh-CN" sz="3200" b="1" dirty="0"/>
              <a:t> to remain calm.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8312" y="637274"/>
            <a:ext cx="11029244" cy="1272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appealing      </a:t>
            </a:r>
            <a:r>
              <a:rPr lang="en-US" altLang="zh-CN" sz="3200" b="1" i="1" dirty="0">
                <a:solidFill>
                  <a:srgbClr val="0000FF"/>
                </a:solidFill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       </a:t>
            </a:r>
            <a:r>
              <a:rPr lang="zh-CN" altLang="en-US" sz="3200" b="1" dirty="0">
                <a:solidFill>
                  <a:srgbClr val="0000FF"/>
                </a:solidFill>
              </a:rPr>
              <a:t>有吸引力的；可怜的；希望同情的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appealingly  </a:t>
            </a:r>
            <a:r>
              <a:rPr lang="en-US" altLang="zh-CN" sz="3200" b="1" i="1" dirty="0">
                <a:solidFill>
                  <a:srgbClr val="0000FF"/>
                </a:solidFill>
              </a:rPr>
              <a:t>adv.   </a:t>
            </a:r>
            <a:r>
              <a:rPr lang="en-US" altLang="zh-CN" sz="3200" b="1" dirty="0">
                <a:solidFill>
                  <a:srgbClr val="FF0000"/>
                </a:solidFill>
              </a:rPr>
              <a:t>     </a:t>
            </a:r>
            <a:r>
              <a:rPr lang="zh-CN" altLang="en-US" sz="3200" b="1" dirty="0">
                <a:solidFill>
                  <a:srgbClr val="0000FF"/>
                </a:solidFill>
              </a:rPr>
              <a:t>恳求地；吸引人的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7156" y="2202288"/>
            <a:ext cx="10763644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____________</a:t>
            </a:r>
            <a:r>
              <a:rPr lang="en-US" altLang="zh-CN" sz="3200" b="1" dirty="0">
                <a:solidFill>
                  <a:schemeClr val="tx1"/>
                </a:solidFill>
              </a:rPr>
              <a:t> look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一个惹人怜的表情</a:t>
            </a:r>
            <a:r>
              <a:rPr lang="en-US" altLang="zh-CN" sz="3200" b="1" dirty="0">
                <a:solidFill>
                  <a:schemeClr val="tx1"/>
                </a:solidFill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</a:rPr>
              <a:t>满脸恳求的表情</a:t>
            </a:r>
            <a:endParaRPr lang="zh-CN" altLang="en-US" sz="3200" b="1" dirty="0"/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/>
              <a:t>(1) In spring, the scene on top of the hill is so ___________ (appeal) that it is beyond my words.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/>
              <a:t>(2) The dog looked up at her ____________. (</a:t>
            </a:r>
            <a:r>
              <a:rPr lang="zh-CN" altLang="en-US" sz="3200" b="1" dirty="0"/>
              <a:t>可怜巴巴</a:t>
            </a:r>
            <a:r>
              <a:rPr lang="en-US" altLang="zh-CN" sz="3200" b="1" dirty="0"/>
              <a:t>)</a:t>
            </a:r>
          </a:p>
          <a:p>
            <a:pPr>
              <a:lnSpc>
                <a:spcPct val="120000"/>
              </a:lnSpc>
              <a:buFontTx/>
              <a:buNone/>
            </a:pPr>
            <a:endParaRPr lang="en-US" altLang="zh-CN" sz="3200" b="1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7400" y="2171700"/>
            <a:ext cx="268732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an appealing </a:t>
            </a:r>
            <a:endParaRPr lang="zh-CN" altLang="en-US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790305" y="3429000"/>
            <a:ext cx="1997075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appealing </a:t>
            </a:r>
            <a:endParaRPr lang="zh-CN" altLang="en-US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3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83605" y="4545330"/>
            <a:ext cx="273050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appealingly </a:t>
            </a:r>
            <a:endParaRPr lang="zh-CN" altLang="en-US" dirty="0">
              <a:solidFill>
                <a:srgbClr val="0000FF"/>
              </a:solidFill>
              <a:latin typeface="+mn-lt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8620" y="323215"/>
            <a:ext cx="1162748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1) It is the way he teaches </a:t>
            </a:r>
            <a:r>
              <a:rPr lang="en-US" altLang="zh-CN" dirty="0" err="1">
                <a:solidFill>
                  <a:schemeClr val="tx1"/>
                </a:solidFill>
              </a:rPr>
              <a:t>maths</a:t>
            </a:r>
            <a:r>
              <a:rPr lang="en-US" altLang="zh-CN" dirty="0">
                <a:solidFill>
                  <a:schemeClr val="tx1"/>
                </a:solidFill>
              </a:rPr>
              <a:t> that _________ (appeal) to me, not </a:t>
            </a:r>
            <a:r>
              <a:rPr lang="en-US" altLang="zh-CN" dirty="0" err="1">
                <a:solidFill>
                  <a:schemeClr val="tx1"/>
                </a:solidFill>
              </a:rPr>
              <a:t>maths</a:t>
            </a:r>
            <a:r>
              <a:rPr lang="en-US" altLang="zh-CN" dirty="0">
                <a:solidFill>
                  <a:schemeClr val="tx1"/>
                </a:solidFill>
              </a:rPr>
              <a:t> itself.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2) We should appeal _____ people to save things that nature offers to us.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3) They appealed to the villagers _____ money to build the bridge.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4) </a:t>
            </a:r>
            <a:r>
              <a:rPr lang="zh-CN" altLang="en-US" dirty="0">
                <a:solidFill>
                  <a:schemeClr val="tx1"/>
                </a:solidFill>
              </a:rPr>
              <a:t>来自贫困家庭的孩子们正在呼吁享有平等的教育权利。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Children from poor families ___ ________ ____ equal rights in education.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5) </a:t>
            </a:r>
            <a:r>
              <a:rPr lang="zh-CN" altLang="en-US" dirty="0">
                <a:solidFill>
                  <a:schemeClr val="tx1"/>
                </a:solidFill>
              </a:rPr>
              <a:t>原来这本书在过去的</a:t>
            </a:r>
            <a:r>
              <a:rPr lang="en-US" altLang="zh-CN" dirty="0">
                <a:solidFill>
                  <a:schemeClr val="tx1"/>
                </a:solidFill>
              </a:rPr>
              <a:t>350</a:t>
            </a:r>
            <a:r>
              <a:rPr lang="zh-CN" altLang="en-US" dirty="0">
                <a:solidFill>
                  <a:schemeClr val="tx1"/>
                </a:solidFill>
              </a:rPr>
              <a:t>多年里一直吸引着全世界的目光。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The book turns out to be one that ____ ________ __ the world for more than 350 years.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60336" y="424923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appeals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41533" y="1587987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to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9888" y="2752079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for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862396" y="3904088"/>
            <a:ext cx="31553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are appealing for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763461" y="5671293"/>
            <a:ext cx="30734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has  appealed  to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63" name="Text Box 7"/>
          <p:cNvSpPr txBox="1">
            <a:spLocks noChangeArrowheads="1"/>
          </p:cNvSpPr>
          <p:nvPr/>
        </p:nvSpPr>
        <p:spPr bwMode="auto">
          <a:xfrm>
            <a:off x="317525" y="358601"/>
            <a:ext cx="11219719" cy="60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单句语法填空。</a:t>
            </a: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/>
              <a:t>1) The government appealed to the International Red Cross ________ (help) the people suffering from the floods.</a:t>
            </a: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/>
              <a:t>2) What’s more, it is another effective way to appeal _____ the news media.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一句多译。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/>
              <a:t>3) </a:t>
            </a:r>
            <a:r>
              <a:rPr lang="zh-CN" altLang="en-US" sz="3200" b="1" dirty="0"/>
              <a:t>作者向我们呼吁要对动物更加友好。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3200" b="1" dirty="0"/>
              <a:t>① </a:t>
            </a:r>
            <a:r>
              <a:rPr lang="en-US" altLang="zh-CN" sz="3200" b="1" dirty="0"/>
              <a:t>The author ____________________ be more kind to animals. (appeal </a:t>
            </a:r>
            <a:r>
              <a:rPr lang="en-US" altLang="zh-CN" sz="3200" b="1" i="1" dirty="0"/>
              <a:t>v</a:t>
            </a:r>
            <a:r>
              <a:rPr lang="zh-CN" altLang="en-US" sz="3200" b="1" dirty="0"/>
              <a:t>．</a:t>
            </a:r>
            <a:r>
              <a:rPr lang="en-US" altLang="zh-CN" sz="3200" b="1" dirty="0"/>
              <a:t>)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3200" b="1" dirty="0"/>
              <a:t>② The author ________________________ be more kind to animals. (appeal </a:t>
            </a:r>
            <a:r>
              <a:rPr lang="en-US" altLang="zh-CN" sz="3200" b="1" i="1" dirty="0"/>
              <a:t>n</a:t>
            </a:r>
            <a:r>
              <a:rPr lang="en-US" altLang="zh-CN" sz="3200" b="1" dirty="0"/>
              <a:t>. )</a:t>
            </a:r>
            <a:endParaRPr lang="zh-CN" altLang="en-US" sz="3200" b="1" dirty="0"/>
          </a:p>
        </p:txBody>
      </p:sp>
      <p:sp>
        <p:nvSpPr>
          <p:cNvPr id="2" name="矩形 1"/>
          <p:cNvSpPr/>
          <p:nvPr/>
        </p:nvSpPr>
        <p:spPr>
          <a:xfrm>
            <a:off x="1038358" y="1417688"/>
            <a:ext cx="138050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help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60078" y="2002463"/>
            <a:ext cx="522287" cy="579437"/>
          </a:xfrm>
          <a:prstGeom prst="rect">
            <a:avLst/>
          </a:prstGeo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11018" y="4098448"/>
            <a:ext cx="288572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appeals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us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90512" y="5144702"/>
            <a:ext cx="4656137" cy="579437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makes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appeal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us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0094" y="539084"/>
            <a:ext cx="11214883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6. We must know all these, if the book </a:t>
            </a:r>
            <a:r>
              <a:rPr lang="en-US" altLang="zh-CN" dirty="0">
                <a:solidFill>
                  <a:srgbClr val="FF0000"/>
                </a:solidFill>
              </a:rPr>
              <a:t>is to speak</a:t>
            </a:r>
            <a:r>
              <a:rPr lang="en-US" altLang="zh-CN" dirty="0">
                <a:solidFill>
                  <a:schemeClr val="tx1"/>
                </a:solidFill>
              </a:rPr>
              <a:t> its whole message.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  如果要了解一本书所传递的全部信息，我们就必须了解所有这些内容。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65913" y="2995141"/>
            <a:ext cx="10639063" cy="127419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is to speak</a:t>
            </a:r>
            <a:r>
              <a:rPr lang="zh-CN" altLang="en-US" sz="3200" b="1" dirty="0"/>
              <a:t>是将来时</a:t>
            </a:r>
            <a:r>
              <a:rPr lang="en-US" altLang="zh-CN" sz="3200" b="1" dirty="0">
                <a:solidFill>
                  <a:srgbClr val="FF0000"/>
                </a:solidFill>
              </a:rPr>
              <a:t>be to do</a:t>
            </a:r>
            <a:r>
              <a:rPr lang="zh-CN" altLang="en-US" sz="3200" b="1" dirty="0">
                <a:solidFill>
                  <a:srgbClr val="FF0000"/>
                </a:solidFill>
              </a:rPr>
              <a:t>的用法，表示按计划将要发生的事</a:t>
            </a:r>
            <a:r>
              <a:rPr lang="zh-CN" altLang="en-US" sz="3200" b="1" dirty="0"/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22348" y="659454"/>
            <a:ext cx="11137473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7. The first step is to ___________ some of its significant qualities. 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srgbClr val="0070C0"/>
                </a:solidFill>
              </a:rPr>
              <a:t>    </a:t>
            </a:r>
            <a:r>
              <a:rPr lang="zh-CN" altLang="en-US" sz="3200" b="1" dirty="0"/>
              <a:t>第一步是确定它的一些重要特质。</a:t>
            </a:r>
            <a:endParaRPr lang="en-US" altLang="zh-CN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910935" y="2685326"/>
            <a:ext cx="10723815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3048000" indent="-30480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determine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: 1) </a:t>
            </a:r>
            <a:r>
              <a:rPr lang="en-US" altLang="zh-CN" sz="3200" b="1" i="1" dirty="0"/>
              <a:t>to discover the facts about something or to calculate something exactly</a:t>
            </a:r>
          </a:p>
          <a:p>
            <a:pPr marL="3048000" indent="-30480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            确定</a:t>
            </a:r>
          </a:p>
        </p:txBody>
      </p:sp>
      <p:sp>
        <p:nvSpPr>
          <p:cNvPr id="2" name="矩形 1"/>
          <p:cNvSpPr/>
          <p:nvPr/>
        </p:nvSpPr>
        <p:spPr>
          <a:xfrm>
            <a:off x="4251042" y="736589"/>
            <a:ext cx="20649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determine</a:t>
            </a:r>
            <a:r>
              <a:rPr lang="en-US" altLang="zh-CN" sz="3200" b="1" dirty="0"/>
              <a:t> </a:t>
            </a:r>
            <a:endParaRPr lang="zh-CN" altLang="en-US" sz="3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55267" y="351222"/>
            <a:ext cx="1109326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33400" indent="-533400" defTabSz="446405"/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We have to conduct an investigation to </a:t>
            </a:r>
            <a:r>
              <a:rPr lang="en-US" altLang="zh-CN" dirty="0">
                <a:solidFill>
                  <a:srgbClr val="FF0000"/>
                </a:solidFill>
              </a:rPr>
              <a:t>determine</a:t>
            </a:r>
            <a:r>
              <a:rPr lang="en-US" altLang="zh-CN" dirty="0"/>
              <a:t> the exact cause of the car crash.</a:t>
            </a:r>
          </a:p>
          <a:p>
            <a:pPr marL="533400" indent="-533400" defTabSz="446405"/>
            <a:r>
              <a:rPr lang="en-US" altLang="zh-CN" dirty="0"/>
              <a:t>     </a:t>
            </a:r>
            <a:r>
              <a:rPr lang="zh-CN" altLang="en-US" dirty="0"/>
              <a:t>我们不得不开展调查以确定这起车祸的确切原因。</a:t>
            </a:r>
            <a:endParaRPr lang="en-US" altLang="zh-CN" dirty="0"/>
          </a:p>
          <a:p>
            <a:pPr marL="533400" indent="-533400"/>
            <a:r>
              <a:rPr lang="en-US" altLang="zh-CN" dirty="0"/>
              <a:t>(2) The aim of our research is to _____________________, not what is reasonable.</a:t>
            </a:r>
          </a:p>
          <a:p>
            <a:pPr marL="533400" indent="-533400"/>
            <a:r>
              <a:rPr lang="zh-CN" altLang="en-US" dirty="0"/>
              <a:t>     我们研究的目的是要</a:t>
            </a:r>
            <a:r>
              <a:rPr lang="zh-CN" altLang="en-US" dirty="0">
                <a:solidFill>
                  <a:srgbClr val="0000FF"/>
                </a:solidFill>
              </a:rPr>
              <a:t>确定什么是真实的</a:t>
            </a:r>
            <a:r>
              <a:rPr lang="zh-CN" altLang="en-US" dirty="0"/>
              <a:t>，而不是什么是合理的。</a:t>
            </a:r>
          </a:p>
          <a:p>
            <a:pPr marL="533400" indent="-533400"/>
            <a:r>
              <a:rPr lang="en-US" altLang="zh-CN" dirty="0"/>
              <a:t>(3) Before starting to read, you should _________ (</a:t>
            </a:r>
            <a:r>
              <a:rPr lang="zh-CN" altLang="en-US" dirty="0"/>
              <a:t>确定</a:t>
            </a:r>
            <a:r>
              <a:rPr lang="en-US" altLang="zh-CN" dirty="0"/>
              <a:t>) what kind of book _______________ (</a:t>
            </a:r>
            <a:r>
              <a:rPr lang="zh-CN" altLang="en-US" dirty="0"/>
              <a:t>吸引你</a:t>
            </a:r>
            <a:r>
              <a:rPr lang="en-US" altLang="zh-CN" dirty="0"/>
              <a:t>).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220585" y="4462145"/>
            <a:ext cx="1997075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determine </a:t>
            </a:r>
            <a:endParaRPr lang="zh-CN" altLang="en-US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465195" y="5094605"/>
            <a:ext cx="302133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appeals to you </a:t>
            </a:r>
            <a:endParaRPr lang="zh-CN" altLang="en-US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6810" y="2158365"/>
            <a:ext cx="4161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determine</a:t>
            </a:r>
            <a:r>
              <a:rPr lang="en-US" altLang="zh-CN" sz="3200" b="1" dirty="0">
                <a:sym typeface="+mn-ea"/>
              </a:rPr>
              <a:t> what is true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8049" y="594987"/>
            <a:ext cx="10842752" cy="1272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3048000" indent="-30480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determine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: 2) </a:t>
            </a:r>
            <a:r>
              <a:rPr lang="en-US" altLang="zh-CN" sz="3200" b="1" i="1" dirty="0"/>
              <a:t>to officially decide and / or arrange sth</a:t>
            </a:r>
          </a:p>
          <a:p>
            <a:pPr marL="3048000" indent="-30480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        </a:t>
            </a:r>
            <a:r>
              <a:rPr lang="en-US" altLang="zh-CN" sz="3200" b="1" dirty="0">
                <a:solidFill>
                  <a:srgbClr val="FF0000"/>
                </a:solidFill>
              </a:rPr>
              <a:t>    (</a:t>
            </a:r>
            <a:r>
              <a:rPr lang="zh-CN" altLang="en-US" sz="3200" b="1" dirty="0">
                <a:solidFill>
                  <a:srgbClr val="FF0000"/>
                </a:solidFill>
              </a:rPr>
              <a:t>正式</a:t>
            </a:r>
            <a:r>
              <a:rPr lang="en-US" altLang="zh-CN" sz="3200" b="1" dirty="0">
                <a:solidFill>
                  <a:srgbClr val="FF0000"/>
                </a:solidFill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</a:rPr>
              <a:t>决定，规定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8049" y="2011493"/>
            <a:ext cx="10741152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33400" indent="-533400" defTabSz="446405"/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A date for the final game has yet to be </a:t>
            </a:r>
            <a:r>
              <a:rPr lang="en-US" altLang="zh-CN" dirty="0">
                <a:solidFill>
                  <a:srgbClr val="FF0000"/>
                </a:solidFill>
              </a:rPr>
              <a:t>determined</a:t>
            </a:r>
            <a:r>
              <a:rPr lang="en-US" altLang="zh-CN" dirty="0"/>
              <a:t>.</a:t>
            </a:r>
          </a:p>
          <a:p>
            <a:pPr marL="533400" indent="-533400" defTabSz="446405"/>
            <a:r>
              <a:rPr lang="en-US" altLang="zh-CN" dirty="0"/>
              <a:t>     </a:t>
            </a:r>
            <a:r>
              <a:rPr lang="zh-CN" altLang="en-US" dirty="0"/>
              <a:t>决赛的日期还有待确定。</a:t>
            </a:r>
          </a:p>
          <a:p>
            <a:pPr marL="533400" indent="-533400" defTabSz="446405"/>
            <a:r>
              <a:rPr lang="en-US" altLang="zh-CN" dirty="0"/>
              <a:t>(2) </a:t>
            </a:r>
            <a:r>
              <a:rPr lang="zh-CN" altLang="en-US" dirty="0"/>
              <a:t>确定会议日期</a:t>
            </a:r>
            <a:r>
              <a:rPr lang="en-US" altLang="zh-CN" dirty="0"/>
              <a:t> </a:t>
            </a:r>
          </a:p>
          <a:p>
            <a:pPr marL="533400" indent="-533400" defTabSz="446405"/>
            <a:r>
              <a:rPr lang="en-US" altLang="zh-CN" dirty="0"/>
              <a:t>(3) His future ______________________, but he may study medicine.   </a:t>
            </a:r>
            <a:r>
              <a:rPr lang="zh-CN" altLang="en-US" dirty="0"/>
              <a:t>他的未来何去何从尚未确定，但有可能学医。</a:t>
            </a:r>
          </a:p>
          <a:p>
            <a:pPr marL="533400" indent="-533400" defTabSz="446405"/>
            <a:r>
              <a:rPr lang="en-US" altLang="zh-CN" dirty="0"/>
              <a:t>(4) _____________ factors  </a:t>
            </a:r>
            <a:r>
              <a:rPr lang="zh-CN" altLang="en-US" dirty="0"/>
              <a:t>决定性因素</a:t>
            </a:r>
          </a:p>
          <a:p>
            <a:pPr marL="533400" indent="-533400" defTabSz="446405"/>
            <a:r>
              <a:rPr lang="en-US" altLang="zh-CN" dirty="0"/>
              <a:t>(5) a ____________ fighter  </a:t>
            </a:r>
            <a:r>
              <a:rPr lang="zh-CN" altLang="en-US" dirty="0"/>
              <a:t>意志坚定的战士</a:t>
            </a:r>
          </a:p>
          <a:p>
            <a:pPr marL="533400" indent="-533400" defTabSz="446405"/>
            <a:r>
              <a:rPr lang="zh-CN" altLang="en-US" dirty="0"/>
              <a:t> </a:t>
            </a:r>
            <a:r>
              <a:rPr lang="en-US" altLang="zh-CN" dirty="0"/>
              <a:t>     a </a:t>
            </a:r>
            <a:r>
              <a:rPr lang="en-US" altLang="zh-CN" dirty="0">
                <a:solidFill>
                  <a:srgbClr val="FF0000"/>
                </a:solidFill>
              </a:rPr>
              <a:t>determined </a:t>
            </a:r>
            <a:r>
              <a:rPr lang="en-US" altLang="zh-CN" dirty="0"/>
              <a:t>look/attitude        </a:t>
            </a:r>
            <a:r>
              <a:rPr lang="zh-CN" altLang="en-US" dirty="0"/>
              <a:t>坚定的眼神</a:t>
            </a:r>
            <a:r>
              <a:rPr lang="en-US" altLang="zh-CN" dirty="0"/>
              <a:t>/</a:t>
            </a:r>
            <a:r>
              <a:rPr lang="zh-CN" altLang="en-US" dirty="0"/>
              <a:t>态度</a:t>
            </a:r>
            <a:r>
              <a:rPr lang="en-US" altLang="zh-CN" dirty="0"/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97375" y="3169285"/>
            <a:ext cx="6068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determine </a:t>
            </a:r>
            <a:r>
              <a:rPr lang="en-US" altLang="zh-CN" sz="3200" b="1" dirty="0">
                <a:sym typeface="+mn-ea"/>
              </a:rPr>
              <a:t>a date for the meeting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9600" y="3844290"/>
            <a:ext cx="4817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has not been determined 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99870" y="4994910"/>
            <a:ext cx="4817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determining 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626870" y="5568950"/>
            <a:ext cx="4817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determined 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6" grpId="0"/>
      <p:bldP spid="6" grpId="1"/>
      <p:bldP spid="7" grpId="0"/>
      <p:bldP spid="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8428" y="641585"/>
            <a:ext cx="10750772" cy="1272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3048000" indent="-30480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determine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: 3) </a:t>
            </a:r>
            <a:r>
              <a:rPr lang="en-US" altLang="zh-CN" sz="3200" b="1" i="1" dirty="0"/>
              <a:t>to decide definitely to do something</a:t>
            </a:r>
          </a:p>
          <a:p>
            <a:pPr marL="3048000" indent="-3048000">
              <a:lnSpc>
                <a:spcPct val="120000"/>
              </a:lnSpc>
            </a:pPr>
            <a:r>
              <a:rPr lang="en-US" altLang="zh-CN" sz="3200" dirty="0"/>
              <a:t>      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决心做某事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8650" y="1947545"/>
            <a:ext cx="10750550" cy="433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In order to pass the exam to be held next month, Mary _______________________.</a:t>
            </a:r>
          </a:p>
          <a:p>
            <a:r>
              <a:rPr lang="zh-CN" altLang="en-US" dirty="0"/>
              <a:t>    为了通过下月举行的考试，玛丽下决心努力学习。</a:t>
            </a:r>
          </a:p>
          <a:p>
            <a:r>
              <a:rPr lang="en-US" altLang="zh-CN" dirty="0"/>
              <a:t>(2) She ____________________________ (</a:t>
            </a:r>
            <a:r>
              <a:rPr lang="zh-CN" altLang="en-US" dirty="0"/>
              <a:t>决心更加努力工作</a:t>
            </a:r>
            <a:r>
              <a:rPr lang="en-US" altLang="zh-CN" dirty="0"/>
              <a:t>) so that she could make up for the lost time.</a:t>
            </a:r>
          </a:p>
        </p:txBody>
      </p:sp>
      <p:sp>
        <p:nvSpPr>
          <p:cNvPr id="2" name="矩形 1"/>
          <p:cNvSpPr/>
          <p:nvPr/>
        </p:nvSpPr>
        <p:spPr>
          <a:xfrm>
            <a:off x="1117024" y="2577784"/>
            <a:ext cx="4572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determines to study hard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877348" y="4427915"/>
            <a:ext cx="7770157" cy="1915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50850" indent="-4508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18618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59385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200215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40982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867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324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781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238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determined</a:t>
            </a:r>
            <a:r>
              <a:rPr lang="zh-CN" altLang="en-US" sz="3200" b="1" dirty="0">
                <a:solidFill>
                  <a:srgbClr val="FF0000"/>
                </a:solidFill>
              </a:rPr>
              <a:t>　</a:t>
            </a:r>
            <a:r>
              <a:rPr lang="en-US" altLang="zh-CN" sz="3200" b="1" i="1" dirty="0">
                <a:solidFill>
                  <a:srgbClr val="0000FF"/>
                </a:solidFill>
              </a:rPr>
              <a:t>adj</a:t>
            </a:r>
            <a:r>
              <a:rPr lang="en-US" altLang="zh-CN" sz="3200" b="1" dirty="0">
                <a:solidFill>
                  <a:srgbClr val="0000FF"/>
                </a:solidFill>
              </a:rPr>
              <a:t>. </a:t>
            </a:r>
            <a:r>
              <a:rPr lang="zh-CN" altLang="en-US" sz="3200" b="1" dirty="0">
                <a:solidFill>
                  <a:srgbClr val="000000"/>
                </a:solidFill>
              </a:rPr>
              <a:t>坚定的；毅然的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determination</a:t>
            </a:r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</a:rPr>
              <a:t>n</a:t>
            </a:r>
            <a:r>
              <a:rPr lang="zh-CN" altLang="en-US" sz="3200" b="1" dirty="0">
                <a:solidFill>
                  <a:srgbClr val="0000FF"/>
                </a:solidFill>
              </a:rPr>
              <a:t>．</a:t>
            </a:r>
            <a:r>
              <a:rPr lang="zh-CN" altLang="en-US" sz="3200" b="1" dirty="0">
                <a:solidFill>
                  <a:srgbClr val="000000"/>
                </a:solidFill>
              </a:rPr>
              <a:t>决心；毅力</a:t>
            </a:r>
            <a:endParaRPr lang="en-US" altLang="zh-CN" sz="3200" b="1" dirty="0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89209" y="3784284"/>
            <a:ext cx="557784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(was) determined to work hard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59130" y="271780"/>
            <a:ext cx="11033760" cy="6427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1) </a:t>
            </a:r>
            <a:r>
              <a:rPr lang="zh-CN" altLang="en-US" dirty="0"/>
              <a:t>他们实际上从没查明事故的原因。</a:t>
            </a:r>
          </a:p>
          <a:p>
            <a:endParaRPr lang="en-US" altLang="zh-CN" dirty="0"/>
          </a:p>
          <a:p>
            <a:r>
              <a:rPr lang="en-US" altLang="zh-CN" dirty="0"/>
              <a:t>2) </a:t>
            </a:r>
            <a:r>
              <a:rPr lang="zh-CN" altLang="en-US" dirty="0"/>
              <a:t>我们决心立即离开。</a:t>
            </a:r>
          </a:p>
          <a:p>
            <a:endParaRPr lang="zh-CN" altLang="en-US" dirty="0"/>
          </a:p>
          <a:p>
            <a:r>
              <a:rPr lang="en-US" altLang="zh-CN" dirty="0"/>
              <a:t>3) </a:t>
            </a:r>
            <a:r>
              <a:rPr lang="zh-CN" altLang="en-US" dirty="0"/>
              <a:t>已查明这种化学品对人会产生有害影响。</a:t>
            </a:r>
          </a:p>
          <a:p>
            <a:r>
              <a:rPr lang="en-US" altLang="zh-CN" dirty="0"/>
              <a:t>    ______________ that this chemical has negative effects on humans.</a:t>
            </a:r>
          </a:p>
          <a:p>
            <a:r>
              <a:rPr lang="en-US" altLang="zh-CN" dirty="0"/>
              <a:t>4) She has ______ ____________ to achieve her goals.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她表明要实现目标的决心。</a:t>
            </a:r>
          </a:p>
          <a:p>
            <a:r>
              <a:rPr lang="en-US" altLang="zh-CN" dirty="0"/>
              <a:t>5) ___________ to perform well in the exam, I’m busy preparing for it.</a:t>
            </a:r>
          </a:p>
          <a:p>
            <a:r>
              <a:rPr lang="en-US" altLang="zh-CN" dirty="0"/>
              <a:t>  </a:t>
            </a:r>
          </a:p>
        </p:txBody>
      </p:sp>
      <p:sp>
        <p:nvSpPr>
          <p:cNvPr id="2" name="矩形 1"/>
          <p:cNvSpPr/>
          <p:nvPr/>
        </p:nvSpPr>
        <p:spPr>
          <a:xfrm>
            <a:off x="1109940" y="809415"/>
            <a:ext cx="10303127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They never actually determined the cause of the accident.</a:t>
            </a:r>
          </a:p>
        </p:txBody>
      </p:sp>
      <p:sp>
        <p:nvSpPr>
          <p:cNvPr id="4" name="矩形 3"/>
          <p:cNvSpPr/>
          <p:nvPr/>
        </p:nvSpPr>
        <p:spPr>
          <a:xfrm>
            <a:off x="1109940" y="1982529"/>
            <a:ext cx="7826829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We determined to leave at once.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43694" y="3243899"/>
            <a:ext cx="293687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It is determined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545774" y="4443414"/>
            <a:ext cx="38519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shown determination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50620" y="5568950"/>
            <a:ext cx="4817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Determined 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3" grpId="0"/>
      <p:bldP spid="5" grpId="0"/>
      <p:bldP spid="6" grpId="0"/>
      <p:bldP spid="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9460" y="200643"/>
            <a:ext cx="11453561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8.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Some truth and beauty </a:t>
            </a:r>
            <a:r>
              <a:rPr lang="en-US" altLang="zh-CN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remain unnoticed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/>
              <a:t>until a </a:t>
            </a:r>
            <a:r>
              <a:rPr lang="en-US" altLang="zh-CN" dirty="0">
                <a:solidFill>
                  <a:srgbClr val="FF0000"/>
                </a:solidFill>
              </a:rPr>
              <a:t>sensitive</a:t>
            </a:r>
            <a:r>
              <a:rPr lang="en-US" altLang="zh-CN" dirty="0"/>
              <a:t> human soul brings them to our attention, just as the shell </a:t>
            </a:r>
            <a:r>
              <a:rPr lang="en-US" altLang="zh-CN" dirty="0">
                <a:solidFill>
                  <a:srgbClr val="FF0000"/>
                </a:solidFill>
              </a:rPr>
              <a:t>reflects</a:t>
            </a:r>
            <a:r>
              <a:rPr lang="en-US" altLang="zh-CN" dirty="0"/>
              <a:t> the unnoticed sounds.  (</a:t>
            </a:r>
            <a:r>
              <a:rPr lang="zh-CN" altLang="en-US" dirty="0"/>
              <a:t>翻译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一些真与美一直被人忽视，直到一个敏锐的人类灵魂让它们引起我们的注意，正如贝壳捕捉到了我们未曾注意的声音一样。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0080" y="3838575"/>
            <a:ext cx="1076960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zh-CN" altLang="zh-CN" sz="3200" b="1" dirty="0"/>
              <a:t>①本句是一个</a:t>
            </a:r>
            <a:r>
              <a:rPr lang="zh-CN" altLang="zh-CN" sz="3200" b="1" dirty="0">
                <a:solidFill>
                  <a:schemeClr val="accent6">
                    <a:lumMod val="75000"/>
                  </a:schemeClr>
                </a:solidFill>
              </a:rPr>
              <a:t>主从复合句</a:t>
            </a:r>
            <a:r>
              <a:rPr lang="zh-CN" altLang="zh-CN" sz="3200" b="1" dirty="0"/>
              <a:t>。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zh-CN" sz="3200" b="1" dirty="0"/>
              <a:t>②</a:t>
            </a:r>
            <a:r>
              <a:rPr lang="en-US" altLang="zh-CN" sz="3200" b="1" dirty="0"/>
              <a:t>Some truth and beauty remain unnoticed</a:t>
            </a:r>
            <a:r>
              <a:rPr lang="zh-CN" altLang="en-US" sz="3200" b="1" dirty="0"/>
              <a:t>是主句；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/>
              <a:t> </a:t>
            </a:r>
            <a:r>
              <a:rPr lang="en-US" altLang="zh-CN" sz="3200" b="1" dirty="0"/>
              <a:t>   until</a:t>
            </a:r>
            <a:r>
              <a:rPr lang="zh-CN" altLang="en-US" sz="3200" b="1" dirty="0"/>
              <a:t>在句中引导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</a:rPr>
              <a:t>时间状语从句</a:t>
            </a:r>
            <a:r>
              <a:rPr lang="zh-CN" altLang="en-US" sz="3200" b="1" dirty="0"/>
              <a:t>；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/>
              <a:t> </a:t>
            </a:r>
            <a:r>
              <a:rPr lang="en-US" altLang="zh-CN" sz="3200" b="1" dirty="0"/>
              <a:t>   </a:t>
            </a:r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</a:rPr>
              <a:t>在句中引导方式状语从句</a:t>
            </a:r>
            <a:r>
              <a:rPr lang="zh-CN" altLang="en-US" sz="3200" b="1" dirty="0"/>
              <a:t>，意为“正如”。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9529" y="790562"/>
            <a:ext cx="1099537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人不到一定的年龄读不出一些作品的深层含义，正如果实到了相应的季节才会甜美。                                                      </a:t>
            </a:r>
          </a:p>
        </p:txBody>
      </p:sp>
      <p:sp>
        <p:nvSpPr>
          <p:cNvPr id="3" name="矩形 2"/>
          <p:cNvSpPr/>
          <p:nvPr/>
        </p:nvSpPr>
        <p:spPr>
          <a:xfrm>
            <a:off x="564445" y="2655688"/>
            <a:ext cx="10890462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 deep meanings of some works remain unexplored until the readers reach a certain age, just as the season brings out the flavor of fruit.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1535" y="4404301"/>
            <a:ext cx="11479112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38480" indent="-538480"/>
            <a:r>
              <a:rPr lang="en-US" altLang="zh-CN" dirty="0"/>
              <a:t>(1)  a </a:t>
            </a:r>
            <a:r>
              <a:rPr lang="en-US" altLang="zh-CN" dirty="0">
                <a:solidFill>
                  <a:srgbClr val="FF0000"/>
                </a:solidFill>
              </a:rPr>
              <a:t>sensitive </a:t>
            </a:r>
            <a:r>
              <a:rPr lang="en-US" altLang="zh-CN" dirty="0"/>
              <a:t>and caring man</a:t>
            </a:r>
          </a:p>
          <a:p>
            <a:pPr marL="538480" indent="-538480"/>
            <a:r>
              <a:rPr lang="en-US" altLang="zh-CN" dirty="0"/>
              <a:t>(2)  </a:t>
            </a:r>
            <a:r>
              <a:rPr lang="en-US" altLang="zh-CN" dirty="0">
                <a:sym typeface="+mn-ea"/>
              </a:rPr>
              <a:t>My sister is very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sensitive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to </a:t>
            </a:r>
            <a:r>
              <a:rPr lang="en-US" altLang="zh-CN" dirty="0">
                <a:sym typeface="+mn-ea"/>
              </a:rPr>
              <a:t>other people’s criticism.</a:t>
            </a:r>
            <a:endParaRPr lang="en-US" altLang="zh-CN" dirty="0"/>
          </a:p>
          <a:p>
            <a:pPr marL="538480" indent="-538480"/>
            <a:r>
              <a:rPr lang="en-US" altLang="zh-CN" dirty="0"/>
              <a:t>(3)  </a:t>
            </a:r>
            <a:r>
              <a:rPr lang="en-US" altLang="zh-CN" dirty="0">
                <a:sym typeface="+mn-ea"/>
              </a:rPr>
              <a:t>an actor’s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sensitive </a:t>
            </a:r>
            <a:r>
              <a:rPr lang="en-US" altLang="zh-CN" dirty="0">
                <a:sym typeface="+mn-ea"/>
              </a:rPr>
              <a:t>reading of the peom</a:t>
            </a:r>
            <a:r>
              <a:rPr lang="en-US" altLang="zh-CN" dirty="0"/>
              <a:t> </a:t>
            </a:r>
          </a:p>
          <a:p>
            <a:pPr marL="538480" indent="-538480"/>
            <a:r>
              <a:rPr lang="en-US" altLang="zh-CN" dirty="0"/>
              <a:t>(4)  My teeth are very </a:t>
            </a:r>
            <a:r>
              <a:rPr lang="en-US" altLang="zh-CN" dirty="0">
                <a:solidFill>
                  <a:srgbClr val="FF0000"/>
                </a:solidFill>
              </a:rPr>
              <a:t>sensitive</a:t>
            </a:r>
            <a:r>
              <a:rPr lang="en-US" altLang="zh-CN" dirty="0"/>
              <a:t> to cold food.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4325" y="178435"/>
            <a:ext cx="11478895" cy="42252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sensitive </a:t>
            </a:r>
            <a:r>
              <a:rPr lang="en-US" altLang="zh-CN" sz="3200" b="1" i="1" dirty="0">
                <a:solidFill>
                  <a:srgbClr val="FF0000"/>
                </a:solidFill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</a:rPr>
              <a:t>1</a:t>
            </a:r>
            <a:r>
              <a:rPr lang="en-US" altLang="zh-CN" sz="3200" b="1" dirty="0"/>
              <a:t>)</a:t>
            </a:r>
            <a:r>
              <a:rPr lang="en-US" altLang="zh-CN" sz="3200" b="1" i="1" dirty="0"/>
              <a:t> able to understand other people's feelings and problems </a:t>
            </a:r>
            <a:r>
              <a:rPr lang="zh-CN" altLang="en-US" sz="3200" b="1" dirty="0">
                <a:solidFill>
                  <a:srgbClr val="FF0000"/>
                </a:solidFill>
              </a:rPr>
              <a:t>体贴的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416175" fontAlgn="auto">
              <a:lnSpc>
                <a:spcPct val="120000"/>
              </a:lnSpc>
            </a:pPr>
            <a:r>
              <a:rPr lang="en-US" altLang="zh-CN" sz="3200" b="1" dirty="0"/>
              <a:t>2)</a:t>
            </a:r>
            <a:r>
              <a:rPr lang="en-US" altLang="zh-CN" sz="3200" b="1" i="1" dirty="0"/>
              <a:t> react quickly or more than usual to </a:t>
            </a:r>
            <a:r>
              <a:rPr lang="zh-CN" altLang="en-US" sz="3200" b="1" dirty="0">
                <a:solidFill>
                  <a:srgbClr val="FF0000"/>
                </a:solidFill>
              </a:rPr>
              <a:t>敏感的</a:t>
            </a:r>
          </a:p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3) able to understand art, music and literature and express yourself through it </a:t>
            </a:r>
            <a:r>
              <a:rPr lang="zh-CN" altLang="en-US" sz="3200" b="1" dirty="0">
                <a:solidFill>
                  <a:srgbClr val="FF0000"/>
                </a:solidFill>
              </a:rPr>
              <a:t>艺术感觉好的</a:t>
            </a:r>
          </a:p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4) easily offended or upset </a:t>
            </a:r>
            <a:r>
              <a:rPr lang="zh-CN" altLang="en-US" sz="3200" b="1" dirty="0">
                <a:solidFill>
                  <a:srgbClr val="FF0000"/>
                </a:solidFill>
              </a:rPr>
              <a:t>易被惹怒的</a:t>
            </a:r>
          </a:p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5) [information] </a:t>
            </a:r>
            <a:r>
              <a:rPr lang="zh-CN" altLang="en-US" sz="3200" b="1" dirty="0">
                <a:solidFill>
                  <a:srgbClr val="FF0000"/>
                </a:solidFill>
              </a:rPr>
              <a:t>需谨慎对待的，敏感的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3935" y="647930"/>
            <a:ext cx="10862021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/>
              <a:t>1) </a:t>
            </a:r>
            <a:r>
              <a:rPr lang="en-US" altLang="zh-CN" sz="3200" b="1" dirty="0">
                <a:solidFill>
                  <a:srgbClr val="0000FF"/>
                </a:solidFill>
              </a:rPr>
              <a:t>to show or be a sign of a particular situation or feeling</a:t>
            </a:r>
          </a:p>
          <a:p>
            <a:pPr marL="1611630" indent="-1611630">
              <a:lnSpc>
                <a:spcPct val="120000"/>
              </a:lnSpc>
            </a:pPr>
            <a:r>
              <a:rPr lang="zh-CN" altLang="en-US" sz="3200" b="1" dirty="0"/>
              <a:t>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反映，显示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3935" y="2784995"/>
            <a:ext cx="10647532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41655" indent="-541655"/>
            <a:r>
              <a:rPr lang="en-US" altLang="zh-CN" dirty="0"/>
              <a:t>     The drop in plastic bag use </a:t>
            </a:r>
            <a:r>
              <a:rPr lang="en-US" altLang="zh-CN" dirty="0">
                <a:solidFill>
                  <a:srgbClr val="FF0000"/>
                </a:solidFill>
              </a:rPr>
              <a:t>reflects</a:t>
            </a:r>
            <a:r>
              <a:rPr lang="en-US" altLang="zh-CN" dirty="0"/>
              <a:t> concern about the environment.</a:t>
            </a:r>
          </a:p>
          <a:p>
            <a:pPr marL="533400" indent="-533400"/>
            <a:r>
              <a:rPr lang="zh-CN" altLang="en-US" dirty="0"/>
              <a:t>      塑料袋使用量的减少</a:t>
            </a:r>
            <a:r>
              <a:rPr lang="zh-CN" altLang="en-US" dirty="0">
                <a:solidFill>
                  <a:srgbClr val="0000FF"/>
                </a:solidFill>
              </a:rPr>
              <a:t>反映</a:t>
            </a:r>
            <a:r>
              <a:rPr lang="zh-CN" altLang="en-US" dirty="0"/>
              <a:t>了人们对环境的关注。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4336" y="670913"/>
            <a:ext cx="10985797" cy="245605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/>
              <a:t>2)</a:t>
            </a:r>
            <a:r>
              <a:rPr lang="en-US" altLang="zh-CN" sz="3200" b="1" dirty="0">
                <a:solidFill>
                  <a:srgbClr val="0000FF"/>
                </a:solidFill>
              </a:rPr>
              <a:t> </a:t>
            </a:r>
            <a:r>
              <a:rPr lang="zh-CN" altLang="en-US" sz="3200" b="1" i="1" dirty="0">
                <a:solidFill>
                  <a:srgbClr val="0000FF"/>
                </a:solidFill>
              </a:rPr>
              <a:t>if a person or a thing is reflected in a mirror, glass, or water, you can see an image of the person or thing on the surface of the mirror, glass, or water  </a:t>
            </a:r>
            <a:r>
              <a:rPr lang="en-US" altLang="zh-CN" sz="3200" b="1" i="1" dirty="0"/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反映，照出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影像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336" y="3411931"/>
            <a:ext cx="10827753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33400" indent="-533400"/>
            <a:r>
              <a:rPr lang="en-US" altLang="zh-CN" dirty="0"/>
              <a:t> He saw himself </a:t>
            </a:r>
            <a:r>
              <a:rPr lang="en-US" altLang="zh-CN" dirty="0">
                <a:solidFill>
                  <a:srgbClr val="FF0000"/>
                </a:solidFill>
              </a:rPr>
              <a:t>reflected in </a:t>
            </a:r>
            <a:r>
              <a:rPr lang="en-US" altLang="zh-CN" dirty="0"/>
              <a:t>the water / mirror / shop window.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27041" y="868468"/>
            <a:ext cx="10884600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en-US" altLang="zh-CN" sz="3200" b="1" dirty="0"/>
              <a:t>3) if a surface reflects light, heat, or sound, it sends back the light </a:t>
            </a:r>
            <a:r>
              <a:rPr lang="en-US" altLang="zh-CN" sz="3200" b="1" dirty="0" err="1"/>
              <a:t>etc</a:t>
            </a:r>
            <a:r>
              <a:rPr lang="en-US" altLang="zh-CN" sz="3200" b="1" dirty="0"/>
              <a:t> that reaches it  </a:t>
            </a:r>
            <a:r>
              <a:rPr lang="zh-CN" altLang="en-US" sz="3200" b="1" dirty="0">
                <a:solidFill>
                  <a:srgbClr val="FF0000"/>
                </a:solidFill>
              </a:rPr>
              <a:t>反射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光、热或声音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7041" y="3039801"/>
            <a:ext cx="830468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33400" indent="-533400"/>
            <a:r>
              <a:rPr lang="en-US" altLang="zh-CN" dirty="0" err="1"/>
              <a:t>eg</a:t>
            </a:r>
            <a:r>
              <a:rPr lang="en-US" altLang="zh-CN" dirty="0"/>
              <a:t>  The sidewalks </a:t>
            </a:r>
            <a:r>
              <a:rPr lang="en-US" altLang="zh-CN" dirty="0">
                <a:solidFill>
                  <a:srgbClr val="FF0000"/>
                </a:solidFill>
              </a:rPr>
              <a:t>reflect</a:t>
            </a:r>
            <a:r>
              <a:rPr lang="en-US" altLang="zh-CN" dirty="0"/>
              <a:t> heat on a hot day.</a:t>
            </a:r>
            <a:endParaRPr lang="zh-CN" altLang="en-US" dirty="0"/>
          </a:p>
        </p:txBody>
      </p:sp>
      <p:sp>
        <p:nvSpPr>
          <p:cNvPr id="2" name="文本框 6"/>
          <p:cNvSpPr txBox="1"/>
          <p:nvPr/>
        </p:nvSpPr>
        <p:spPr>
          <a:xfrm>
            <a:off x="626615" y="3904902"/>
            <a:ext cx="11044261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</a:rPr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4) </a:t>
            </a:r>
            <a:r>
              <a:rPr lang="en-US" altLang="zh-CN" sz="3200" b="1" i="1" dirty="0"/>
              <a:t>When you reflect on something, you think deeply about it</a:t>
            </a:r>
            <a:r>
              <a:rPr lang="en-US" altLang="zh-CN" sz="3200" b="1" dirty="0"/>
              <a:t>.  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沉思；深思</a:t>
            </a:r>
            <a:r>
              <a:rPr lang="en-US" altLang="zh-CN" sz="3200" b="1" dirty="0">
                <a:solidFill>
                  <a:srgbClr val="FF0000"/>
                </a:solidFill>
              </a:rPr>
              <a:t>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6615" y="5769496"/>
            <a:ext cx="830468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 on/upon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思考某事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-83820" y="-64770"/>
            <a:ext cx="1260983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541655" indent="-541655"/>
            <a:r>
              <a:rPr lang="en-US" altLang="zh-CN" dirty="0"/>
              <a:t>(1) </a:t>
            </a:r>
            <a:r>
              <a:rPr lang="en-US" altLang="zh-CN" dirty="0">
                <a:sym typeface="+mn-ea"/>
              </a:rPr>
              <a:t>The drop in plastic bag use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reflects</a:t>
            </a:r>
            <a:r>
              <a:rPr lang="en-US" altLang="zh-CN" dirty="0">
                <a:sym typeface="+mn-ea"/>
              </a:rPr>
              <a:t> concern about the environment.</a:t>
            </a:r>
            <a:endParaRPr lang="en-US" altLang="zh-CN" dirty="0"/>
          </a:p>
          <a:p>
            <a:pPr marL="533400" indent="-533400"/>
            <a:r>
              <a:rPr lang="zh-CN" altLang="en-US" dirty="0">
                <a:sym typeface="+mn-ea"/>
              </a:rPr>
              <a:t>塑料袋使用量的减少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反映</a:t>
            </a:r>
            <a:r>
              <a:rPr lang="zh-CN" altLang="en-US" dirty="0">
                <a:sym typeface="+mn-ea"/>
              </a:rPr>
              <a:t>了人们对环境的关注。</a:t>
            </a:r>
            <a:endParaRPr lang="zh-CN" altLang="en-US" dirty="0"/>
          </a:p>
          <a:p>
            <a:pPr marL="533400" indent="-533400"/>
            <a:endParaRPr lang="en-US" altLang="zh-CN" dirty="0"/>
          </a:p>
          <a:p>
            <a:pPr marL="533400" indent="-533400"/>
            <a:r>
              <a:rPr lang="en-US" altLang="zh-CN" dirty="0"/>
              <a:t>The manager needed time to </a:t>
            </a:r>
            <a:r>
              <a:rPr lang="en-US" altLang="zh-CN" dirty="0">
                <a:solidFill>
                  <a:srgbClr val="FF0000"/>
                </a:solidFill>
              </a:rPr>
              <a:t>reflect on / upon</a:t>
            </a:r>
            <a:r>
              <a:rPr lang="en-US" altLang="zh-CN" dirty="0"/>
              <a:t> the likely consequences of this course of action.</a:t>
            </a:r>
          </a:p>
          <a:p>
            <a:pPr marL="533400" indent="-533400"/>
            <a:r>
              <a:rPr lang="en-US" altLang="zh-CN" dirty="0"/>
              <a:t>(2) He had time to </a:t>
            </a:r>
            <a:r>
              <a:rPr lang="en-US" altLang="zh-CN" dirty="0">
                <a:solidFill>
                  <a:srgbClr val="FF0000"/>
                </a:solidFill>
              </a:rPr>
              <a:t>reflect on </a:t>
            </a:r>
            <a:r>
              <a:rPr lang="en-US" altLang="zh-CN" dirty="0"/>
              <a:t>his successes and failures.</a:t>
            </a:r>
          </a:p>
          <a:p>
            <a:pPr marL="533400" indent="-533400"/>
            <a:r>
              <a:rPr lang="en-US" altLang="zh-CN" dirty="0"/>
              <a:t>(3) Literature can inspire readers to _____________________ in real life.                                                   </a:t>
            </a:r>
            <a:r>
              <a:rPr lang="zh-CN" altLang="en-US" dirty="0"/>
              <a:t>反思问题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96015" y="4709286"/>
            <a:ext cx="828092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1945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反射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映象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倒影</a:t>
            </a:r>
          </a:p>
        </p:txBody>
      </p:sp>
      <p:sp>
        <p:nvSpPr>
          <p:cNvPr id="2" name="矩形 1"/>
          <p:cNvSpPr/>
          <p:nvPr/>
        </p:nvSpPr>
        <p:spPr>
          <a:xfrm>
            <a:off x="6808529" y="3491549"/>
            <a:ext cx="35306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reflect on problems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96240" y="5346065"/>
            <a:ext cx="11414125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1945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On/Upon reflection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was determined to take the job.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经过考虑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9240" y="647739"/>
            <a:ext cx="11272182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补全句子。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1) Wear something white — it _______ _______ ________ (</a:t>
            </a:r>
            <a:r>
              <a:rPr lang="zh-CN" altLang="en-US" sz="3200" b="1" dirty="0"/>
              <a:t>反射热量</a:t>
            </a:r>
            <a:r>
              <a:rPr lang="en-US" altLang="zh-CN" sz="3200" b="1" dirty="0"/>
              <a:t>).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2) Your clothes are often ______ _________ _______ ______ __________  (</a:t>
            </a:r>
            <a:r>
              <a:rPr lang="zh-CN" altLang="en-US" sz="3200" b="1" dirty="0"/>
              <a:t>一种你个性的反映</a:t>
            </a:r>
            <a:r>
              <a:rPr lang="en-US" altLang="zh-CN" sz="3200" b="1" dirty="0"/>
              <a:t>).</a:t>
            </a:r>
          </a:p>
          <a:p>
            <a:pPr marL="446405" indent="-446405">
              <a:lnSpc>
                <a:spcPct val="120000"/>
              </a:lnSpc>
              <a:tabLst>
                <a:tab pos="86995" algn="l"/>
              </a:tabLst>
            </a:pPr>
            <a:r>
              <a:rPr lang="en-US" altLang="zh-CN" sz="3200" b="1" dirty="0"/>
              <a:t>3) I need time to ________ ________ ________ ________ (</a:t>
            </a:r>
            <a:r>
              <a:rPr lang="zh-CN" altLang="en-US" sz="3200" b="1" dirty="0"/>
              <a:t>认真思考你的建议</a:t>
            </a:r>
            <a:r>
              <a:rPr lang="en-US" altLang="zh-CN" sz="3200" b="1" dirty="0"/>
              <a:t>).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/>
              <a:t>4) His behavior ________ ________ _______ ________ ________ ________ (</a:t>
            </a:r>
            <a:r>
              <a:rPr lang="zh-CN" altLang="en-US" sz="3200" b="1" dirty="0"/>
              <a:t>显示了他对待工作的懒惰态度</a:t>
            </a:r>
            <a:r>
              <a:rPr lang="en-US" altLang="zh-CN" sz="3200" b="1" dirty="0"/>
              <a:t>).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03020" y="1271994"/>
            <a:ext cx="9603734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                              reflects      the          heat  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861066" y="2387480"/>
            <a:ext cx="10044000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                      a        reflection      of          your    personality  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861066" y="3562785"/>
            <a:ext cx="95360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          </a:t>
            </a:r>
            <a:r>
              <a:rPr lang="en-US" altLang="zh-CN" sz="3200" b="1" dirty="0">
                <a:solidFill>
                  <a:srgbClr val="FF0000"/>
                </a:solidFill>
              </a:rPr>
              <a:t>reflect        on           your          advice  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009232" y="4784256"/>
            <a:ext cx="8991311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                   </a:t>
            </a:r>
            <a:r>
              <a:rPr lang="en-US" altLang="zh-CN" sz="3200" b="1" dirty="0">
                <a:solidFill>
                  <a:srgbClr val="FF0000"/>
                </a:solidFill>
              </a:rPr>
              <a:t>reflects        his           lazy     attitude          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to           work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4773" y="331950"/>
            <a:ext cx="111737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631825" indent="-631825">
              <a:lnSpc>
                <a:spcPct val="120000"/>
              </a:lnSpc>
              <a:defRPr sz="3200" b="1"/>
            </a:lvl1pPr>
          </a:lstStyle>
          <a:p>
            <a:pPr marL="358775" indent="-358775"/>
            <a:r>
              <a:rPr lang="en-US" altLang="zh-CN" dirty="0"/>
              <a:t>9. One who reads it </a:t>
            </a:r>
            <a:r>
              <a:rPr lang="en-US" altLang="zh-CN" dirty="0">
                <a:solidFill>
                  <a:srgbClr val="FF0000"/>
                </a:solidFill>
              </a:rPr>
              <a:t>is capable of </a:t>
            </a:r>
            <a:r>
              <a:rPr lang="en-US" altLang="zh-CN" dirty="0"/>
              <a:t>seeing the beauty that was hidden from his eyes before.</a:t>
            </a:r>
          </a:p>
          <a:p>
            <a:pPr marL="358775" indent="-358775"/>
            <a:r>
              <a:rPr lang="zh-CN" altLang="en-US" dirty="0"/>
              <a:t>   读了这句诗的人便能看到以前隐匿在眼前的美。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3993" y="2224691"/>
            <a:ext cx="10724539" cy="1272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76855" indent="-2776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capable </a:t>
            </a:r>
            <a:r>
              <a:rPr lang="en-US" altLang="zh-CN" sz="3200" b="1" i="1" dirty="0">
                <a:solidFill>
                  <a:srgbClr val="FF0000"/>
                </a:solidFill>
              </a:rPr>
              <a:t> adj</a:t>
            </a:r>
            <a:r>
              <a:rPr lang="en-US" altLang="zh-CN" sz="3200" b="1" dirty="0">
                <a:solidFill>
                  <a:srgbClr val="FF0000"/>
                </a:solidFill>
              </a:rPr>
              <a:t>.  </a:t>
            </a:r>
            <a:r>
              <a:rPr lang="en-US" altLang="zh-CN" sz="3200" b="1" dirty="0"/>
              <a:t>1) </a:t>
            </a:r>
            <a:r>
              <a:rPr lang="en-US" altLang="zh-CN" sz="3200" b="1" i="1" dirty="0">
                <a:solidFill>
                  <a:srgbClr val="0000FF"/>
                </a:solidFill>
              </a:rPr>
              <a:t>having the qualities or ability needed to do sth</a:t>
            </a:r>
          </a:p>
          <a:p>
            <a:pPr marL="2057400" indent="-2057400">
              <a:lnSpc>
                <a:spcPct val="120000"/>
              </a:lnSpc>
            </a:pPr>
            <a:r>
              <a:rPr lang="zh-CN" altLang="en-US" sz="3200" b="1" dirty="0"/>
              <a:t>    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有能力，有才能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1510" y="3594100"/>
            <a:ext cx="1121346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r>
              <a:rPr lang="en-US" altLang="zh-CN" dirty="0">
                <a:solidFill>
                  <a:srgbClr val="FF0000"/>
                </a:solidFill>
              </a:rPr>
              <a:t>  be capable of   </a:t>
            </a:r>
            <a:r>
              <a:rPr lang="zh-CN" altLang="en-US" dirty="0"/>
              <a:t>有能力</a:t>
            </a:r>
          </a:p>
          <a:p>
            <a:pPr algn="l"/>
            <a:r>
              <a:rPr lang="en-US" altLang="zh-CN" dirty="0"/>
              <a:t>Experts suggest that parents should let their child do tasks that 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</a:rPr>
              <a:t>he is physically and mentally capbable of doing by himself,</a:t>
            </a: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which</a:t>
            </a:r>
            <a:r>
              <a:rPr lang="en-US" altLang="zh-CN" dirty="0"/>
              <a:t> will help to build a self-confident kid.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44771" y="426210"/>
            <a:ext cx="10326429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33400" indent="-533400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    (1) You </a:t>
            </a:r>
            <a:r>
              <a:rPr lang="en-US" altLang="zh-CN" dirty="0">
                <a:solidFill>
                  <a:srgbClr val="FF0000"/>
                </a:solidFill>
              </a:rPr>
              <a:t>are capable of </a:t>
            </a:r>
            <a:r>
              <a:rPr lang="en-US" altLang="zh-CN" dirty="0"/>
              <a:t>better work than this. </a:t>
            </a:r>
          </a:p>
          <a:p>
            <a:r>
              <a:rPr lang="en-US" altLang="zh-CN" dirty="0"/>
              <a:t>          </a:t>
            </a:r>
            <a:r>
              <a:rPr lang="zh-CN" altLang="en-US" dirty="0"/>
              <a:t>你有能力做得比这个更好。</a:t>
            </a:r>
            <a:endParaRPr lang="en-US" altLang="zh-CN" dirty="0"/>
          </a:p>
          <a:p>
            <a:r>
              <a:rPr lang="en-US" altLang="zh-CN" b="0" dirty="0"/>
              <a:t>    </a:t>
            </a:r>
            <a:r>
              <a:rPr lang="en-US" altLang="zh-CN" dirty="0"/>
              <a:t>(2)</a:t>
            </a:r>
            <a:r>
              <a:rPr lang="en-US" altLang="zh-CN" b="0" dirty="0"/>
              <a:t> </a:t>
            </a:r>
            <a:r>
              <a:rPr lang="en-US" altLang="zh-CN" dirty="0"/>
              <a:t>I __________________________________ myself.</a:t>
            </a:r>
          </a:p>
          <a:p>
            <a:r>
              <a:rPr lang="zh-CN" altLang="en-US" dirty="0"/>
              <a:t>     </a:t>
            </a:r>
            <a:r>
              <a:rPr lang="en-US" altLang="zh-CN" dirty="0"/>
              <a:t>     </a:t>
            </a:r>
            <a:r>
              <a:rPr lang="zh-CN" altLang="en-US" dirty="0"/>
              <a:t>我完全有能力照顾自己。</a:t>
            </a:r>
          </a:p>
        </p:txBody>
      </p:sp>
      <p:sp>
        <p:nvSpPr>
          <p:cNvPr id="2" name="矩形 1"/>
          <p:cNvSpPr/>
          <p:nvPr/>
        </p:nvSpPr>
        <p:spPr>
          <a:xfrm>
            <a:off x="2127493" y="1654529"/>
            <a:ext cx="6717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am perfectly capable of looking after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8279" y="2885879"/>
            <a:ext cx="10461494" cy="127419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776855" indent="-2776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capable </a:t>
            </a:r>
            <a:r>
              <a:rPr lang="en-US" altLang="zh-CN" sz="3200" b="1" i="1" dirty="0">
                <a:solidFill>
                  <a:srgbClr val="FF0000"/>
                </a:solidFill>
              </a:rPr>
              <a:t> adj</a:t>
            </a:r>
            <a:r>
              <a:rPr lang="en-US" altLang="zh-CN" sz="3200" b="1" dirty="0">
                <a:solidFill>
                  <a:srgbClr val="FF0000"/>
                </a:solidFill>
              </a:rPr>
              <a:t>.  </a:t>
            </a:r>
            <a:r>
              <a:rPr lang="en-US" altLang="zh-CN" sz="3200" b="1" dirty="0"/>
              <a:t>2) </a:t>
            </a:r>
            <a:r>
              <a:rPr lang="en-US" altLang="zh-CN" sz="3200" b="1" i="1" dirty="0">
                <a:solidFill>
                  <a:srgbClr val="FF0000"/>
                </a:solidFill>
              </a:rPr>
              <a:t>able to do things well</a:t>
            </a:r>
          </a:p>
          <a:p>
            <a:pPr marL="2776855" indent="-2776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能力强的，能干的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0720" y="4170045"/>
            <a:ext cx="1033335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33400" indent="-533400">
              <a:lnSpc>
                <a:spcPct val="120000"/>
              </a:lnSpc>
              <a:defRPr sz="3200" b="1"/>
            </a:lvl1pPr>
          </a:lstStyle>
          <a:p>
            <a:r>
              <a:rPr lang="en-US" altLang="zh-CN" dirty="0"/>
              <a:t>   (3) She's a very </a:t>
            </a:r>
            <a:r>
              <a:rPr lang="en-US" altLang="zh-CN" dirty="0">
                <a:solidFill>
                  <a:srgbClr val="FF0000"/>
                </a:solidFill>
              </a:rPr>
              <a:t>capable</a:t>
            </a:r>
            <a:r>
              <a:rPr lang="en-US" altLang="zh-CN" dirty="0"/>
              <a:t> teacher.</a:t>
            </a:r>
          </a:p>
          <a:p>
            <a:r>
              <a:rPr lang="en-US" altLang="zh-CN" dirty="0"/>
              <a:t>  </a:t>
            </a:r>
            <a:r>
              <a:rPr lang="en-US" altLang="zh-CN" i="1" dirty="0">
                <a:solidFill>
                  <a:srgbClr val="0000FF"/>
                </a:solidFill>
              </a:rPr>
              <a:t>oppo.</a:t>
            </a:r>
            <a:r>
              <a:rPr lang="en-US" altLang="zh-CN" dirty="0"/>
              <a:t> ___________  </a:t>
            </a:r>
            <a:r>
              <a:rPr lang="en-US" altLang="zh-CN" i="1" dirty="0">
                <a:solidFill>
                  <a:srgbClr val="0000FF"/>
                </a:solidFill>
              </a:rPr>
              <a:t>adv</a:t>
            </a:r>
            <a:r>
              <a:rPr lang="en-US" altLang="zh-CN" dirty="0"/>
              <a:t>. __________ </a:t>
            </a:r>
            <a:r>
              <a:rPr lang="en-US" altLang="zh-CN" i="1" dirty="0">
                <a:solidFill>
                  <a:srgbClr val="0000FF"/>
                </a:solidFill>
              </a:rPr>
              <a:t>n. </a:t>
            </a:r>
            <a:r>
              <a:rPr lang="en-US" altLang="zh-CN" dirty="0"/>
              <a:t>_______________</a:t>
            </a:r>
          </a:p>
          <a:p>
            <a:r>
              <a:rPr lang="en-US" altLang="zh-CN" dirty="0"/>
              <a:t> Animals in the zoo have lost the __________ </a:t>
            </a:r>
            <a:r>
              <a:rPr lang="en-US" altLang="zh-CN" dirty="0">
                <a:solidFill>
                  <a:srgbClr val="0000FF"/>
                </a:solidFill>
              </a:rPr>
              <a:t>to catch</a:t>
            </a:r>
            <a:r>
              <a:rPr lang="en-US" altLang="zh-CN" dirty="0"/>
              <a:t> food for themselves.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27250" y="48107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in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capable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26380" y="4810760"/>
            <a:ext cx="15633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capably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922260" y="4773295"/>
            <a:ext cx="23609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capability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50660" y="5363845"/>
            <a:ext cx="1951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capability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64860" y="5988050"/>
            <a:ext cx="5816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the capability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of catching ...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 bldLvl="0" animBg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28905" y="0"/>
            <a:ext cx="12441555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10. </a:t>
            </a:r>
            <a:r>
              <a:rPr lang="en-US" altLang="zh-CN" sz="3200" b="1" dirty="0">
                <a:solidFill>
                  <a:srgbClr val="FF0000"/>
                </a:solidFill>
              </a:rPr>
              <a:t>Its attraction </a:t>
            </a:r>
            <a:r>
              <a:rPr lang="en-US" altLang="zh-CN" sz="3200" b="1" dirty="0">
                <a:solidFill>
                  <a:srgbClr val="0000FF"/>
                </a:solidFill>
              </a:rPr>
              <a:t>lies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more </a:t>
            </a:r>
            <a:r>
              <a:rPr lang="en-US" altLang="zh-CN" sz="3200" b="1" dirty="0">
                <a:solidFill>
                  <a:srgbClr val="0000FF"/>
                </a:solidFill>
              </a:rPr>
              <a:t>in</a:t>
            </a:r>
            <a:r>
              <a:rPr lang="en-US" altLang="zh-CN" sz="3200" b="1" dirty="0"/>
              <a:t> what it </a:t>
            </a:r>
            <a:r>
              <a:rPr lang="en-US" altLang="zh-CN" sz="3200" b="1" dirty="0">
                <a:solidFill>
                  <a:srgbClr val="FF0000"/>
                </a:solidFill>
              </a:rPr>
              <a:t>awaken</a:t>
            </a:r>
            <a:r>
              <a:rPr lang="en-US" altLang="zh-CN" sz="3200" b="1" dirty="0"/>
              <a:t>s in us than what it says.   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</a:t>
            </a:r>
            <a:r>
              <a:rPr lang="zh-CN" altLang="en-US" sz="3200" b="1" dirty="0"/>
              <a:t>文学的魅力更多在于它</a:t>
            </a:r>
            <a:r>
              <a:rPr lang="zh-CN" altLang="en-US" sz="3200" b="1" dirty="0">
                <a:solidFill>
                  <a:srgbClr val="0000FF"/>
                </a:solidFill>
              </a:rPr>
              <a:t>唤起</a:t>
            </a:r>
            <a:r>
              <a:rPr lang="zh-CN" altLang="en-US" sz="3200" b="1" dirty="0"/>
              <a:t>了我们什么，而不在于它说了什么。</a:t>
            </a:r>
            <a:endParaRPr lang="en-US" altLang="zh-CN" sz="3200" b="1" dirty="0"/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①</a:t>
            </a:r>
            <a:r>
              <a:rPr lang="zh-CN" altLang="en-US" sz="3200" b="1" dirty="0">
                <a:solidFill>
                  <a:srgbClr val="FF0000"/>
                </a:solidFill>
              </a:rPr>
              <a:t>复合句</a:t>
            </a:r>
            <a:r>
              <a:rPr lang="zh-CN" altLang="en-US" sz="3200" b="1" dirty="0"/>
              <a:t>；</a:t>
            </a:r>
          </a:p>
          <a:p>
            <a:pPr marL="361950" indent="-361950">
              <a:lnSpc>
                <a:spcPct val="120000"/>
              </a:lnSpc>
            </a:pPr>
            <a:r>
              <a:rPr lang="zh-CN" altLang="en-US" sz="3200" b="1" dirty="0"/>
              <a:t>    ②</a:t>
            </a:r>
            <a:r>
              <a:rPr lang="en-US" altLang="zh-CN" sz="3200" b="1" dirty="0"/>
              <a:t> Its attraction lies</a:t>
            </a:r>
            <a:r>
              <a:rPr lang="zh-CN" altLang="en-US" sz="3200" b="1" dirty="0"/>
              <a:t>是主句；两个</a:t>
            </a:r>
            <a:r>
              <a:rPr lang="en-US" altLang="zh-CN" sz="3200" b="1" dirty="0"/>
              <a:t>what</a:t>
            </a:r>
            <a:r>
              <a:rPr lang="zh-CN" altLang="en-US" sz="3200" b="1" dirty="0"/>
              <a:t>都引导</a:t>
            </a:r>
            <a:r>
              <a:rPr lang="zh-CN" altLang="en-US" sz="3200" b="1" dirty="0">
                <a:solidFill>
                  <a:srgbClr val="FF0000"/>
                </a:solidFill>
              </a:rPr>
              <a:t>宾语从句</a:t>
            </a:r>
            <a:r>
              <a:rPr lang="zh-CN" altLang="en-US" sz="3200" b="1" dirty="0"/>
              <a:t>；</a:t>
            </a:r>
            <a:r>
              <a:rPr lang="en-US" altLang="zh-CN" sz="3200" b="1" dirty="0"/>
              <a:t>   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     more ... than</a:t>
            </a:r>
            <a:r>
              <a:rPr lang="zh-CN" altLang="en-US" sz="3200" b="1" dirty="0"/>
              <a:t>构成比较结构。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  </a:t>
            </a:r>
            <a:r>
              <a:rPr lang="en-US" altLang="zh-CN" sz="3200" b="1" dirty="0">
                <a:solidFill>
                  <a:srgbClr val="0000FF"/>
                </a:solidFill>
              </a:rPr>
              <a:t>awaken~awakened~awakened</a:t>
            </a:r>
            <a:r>
              <a:rPr lang="en-US" altLang="zh-CN" sz="3200" b="1" dirty="0"/>
              <a:t>   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  (to wake up; to make sb wake up)</a:t>
            </a:r>
            <a:r>
              <a:rPr lang="zh-CN" altLang="en-US" sz="3200" b="1" dirty="0"/>
              <a:t>（使）醒来；（被）唤醒</a:t>
            </a:r>
          </a:p>
          <a:p>
            <a:pPr marL="361950" indent="-361950">
              <a:lnSpc>
                <a:spcPct val="120000"/>
              </a:lnSpc>
            </a:pPr>
            <a:r>
              <a:rPr lang="zh-CN" altLang="en-US" sz="3200" b="1" dirty="0"/>
              <a:t> </a:t>
            </a:r>
            <a:r>
              <a:rPr lang="en-US" altLang="zh-CN" sz="3200" b="1" dirty="0"/>
              <a:t>  She _______________ in the night by the sound of rain beating with heavy drops against her windows. 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	She </a:t>
            </a:r>
            <a:r>
              <a:rPr lang="en-US" altLang="zh-CN" sz="3200" b="1" dirty="0">
                <a:solidFill>
                  <a:srgbClr val="FF0000"/>
                </a:solidFill>
              </a:rPr>
              <a:t>awakened </a:t>
            </a:r>
            <a:r>
              <a:rPr lang="en-US" altLang="zh-CN" sz="3200" b="1" dirty="0"/>
              <a:t>to the sound of birds singing.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  </a:t>
            </a:r>
            <a:r>
              <a:rPr lang="en-US" altLang="zh-CN" sz="3200" b="1" dirty="0">
                <a:solidFill>
                  <a:srgbClr val="0000FF"/>
                </a:solidFill>
              </a:rPr>
              <a:t>wake~woke~woken</a:t>
            </a:r>
            <a:endParaRPr lang="en-US" altLang="zh-CN" sz="3200" b="1" dirty="0"/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   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25550" y="4136390"/>
            <a:ext cx="3265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was awakened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24815" y="632460"/>
            <a:ext cx="1118108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诗歌的美不仅仅在于它描绘的画面，更多地在于它给予人的启发。</a:t>
            </a:r>
          </a:p>
        </p:txBody>
      </p:sp>
      <p:sp>
        <p:nvSpPr>
          <p:cNvPr id="6" name="矩形 5"/>
          <p:cNvSpPr/>
          <p:nvPr/>
        </p:nvSpPr>
        <p:spPr>
          <a:xfrm>
            <a:off x="496710" y="2657666"/>
            <a:ext cx="1091635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The beauty of poetry</a:t>
            </a:r>
            <a:r>
              <a:rPr lang="en-US" altLang="zh-CN" sz="3600" b="1" dirty="0">
                <a:solidFill>
                  <a:srgbClr val="FF0000"/>
                </a:solidFill>
              </a:rPr>
              <a:t> lies more in </a:t>
            </a:r>
            <a:r>
              <a:rPr lang="en-US" altLang="zh-CN" sz="3600" b="1" dirty="0">
                <a:solidFill>
                  <a:srgbClr val="0000FF"/>
                </a:solidFill>
              </a:rPr>
              <a:t>what it inspires in us</a:t>
            </a:r>
            <a:r>
              <a:rPr lang="en-US" altLang="zh-CN" sz="3600" b="1" dirty="0">
                <a:solidFill>
                  <a:srgbClr val="FF0000"/>
                </a:solidFill>
              </a:rPr>
              <a:t> than </a:t>
            </a:r>
            <a:r>
              <a:rPr lang="en-US" altLang="zh-CN" sz="3600" b="1" dirty="0">
                <a:solidFill>
                  <a:srgbClr val="0000FF"/>
                </a:solidFill>
              </a:rPr>
              <a:t>what it describes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71145" y="247015"/>
            <a:ext cx="1160716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: 1) </a:t>
            </a:r>
            <a:r>
              <a:rPr lang="en-US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send sth (spacecraft, weapon) into space, water …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发射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 a new ship/a communication satellite/rocket</a:t>
            </a:r>
          </a:p>
          <a:p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2) </a:t>
            </a:r>
            <a:r>
              <a:rPr lang="en-US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start an activity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发起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 a campaign / an appeal / an investigation</a:t>
            </a:r>
            <a:r>
              <a:rPr lang="en-US" sz="3200" b="1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调查</a:t>
            </a:r>
          </a:p>
          <a:p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3) </a:t>
            </a:r>
            <a:r>
              <a:rPr lang="en-US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to put a product in the market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(首次)上市，发行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 a new model / a new novel</a:t>
            </a:r>
          </a:p>
          <a:p>
            <a:endParaRPr lang="en-US" sz="3200" b="1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 n.</a:t>
            </a: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The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launch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of his new novel is arranged on Tuesday.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1160" y="301625"/>
            <a:ext cx="1180147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631825" indent="-631825">
              <a:lnSpc>
                <a:spcPct val="120000"/>
              </a:lnSpc>
              <a:defRPr sz="3200" b="1"/>
            </a:lvl1pPr>
          </a:lstStyle>
          <a:p>
            <a:pPr marL="358775" indent="-358775"/>
            <a:r>
              <a:rPr lang="en-US" altLang="zh-CN" dirty="0"/>
              <a:t>11. To achieve this, it should </a:t>
            </a:r>
            <a:r>
              <a:rPr lang="en-US" altLang="zh-CN" dirty="0">
                <a:solidFill>
                  <a:srgbClr val="FF0000"/>
                </a:solidFill>
              </a:rPr>
              <a:t>contain</a:t>
            </a:r>
            <a:r>
              <a:rPr lang="en-US" altLang="zh-CN" dirty="0"/>
              <a:t> two elements: universal interest and personal style.</a:t>
            </a:r>
          </a:p>
          <a:p>
            <a:pPr marL="358775" indent="-358775"/>
            <a:r>
              <a:rPr lang="zh-CN" altLang="en-US" dirty="0"/>
              <a:t>要实现这一点，它必须包含两个要素：广泛的关切和个人的风格。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0085" y="2263473"/>
            <a:ext cx="10771913" cy="1272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514600" indent="-25146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contain 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 </a:t>
            </a:r>
            <a:r>
              <a:rPr lang="en-US" altLang="zh-CN" sz="3200" b="1" dirty="0">
                <a:solidFill>
                  <a:srgbClr val="0000FF"/>
                </a:solidFill>
              </a:rPr>
              <a:t>1) </a:t>
            </a:r>
            <a:r>
              <a:rPr lang="en-US" altLang="zh-CN" sz="3200" b="1" i="1" dirty="0">
                <a:solidFill>
                  <a:srgbClr val="0000FF"/>
                </a:solidFill>
              </a:rPr>
              <a:t>to have something inside or as a part</a:t>
            </a:r>
            <a:endParaRPr lang="en-US" altLang="zh-CN" sz="3200" b="1" i="1" dirty="0"/>
          </a:p>
          <a:p>
            <a:pPr marL="2514600" indent="-2514600">
              <a:lnSpc>
                <a:spcPct val="120000"/>
              </a:lnSpc>
            </a:pPr>
            <a:r>
              <a:rPr lang="en-US" altLang="zh-CN" sz="3200" b="1" i="1" dirty="0"/>
              <a:t>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包含，含有，容纳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8186" y="3635113"/>
            <a:ext cx="10733812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631825" indent="-631825" defTabSz="631825"/>
            <a:r>
              <a:rPr lang="en-US" altLang="zh-CN" dirty="0"/>
              <a:t>(1) This book </a:t>
            </a:r>
            <a:r>
              <a:rPr lang="en-US" altLang="zh-CN" dirty="0">
                <a:solidFill>
                  <a:srgbClr val="FF0000"/>
                </a:solidFill>
              </a:rPr>
              <a:t>contains</a:t>
            </a:r>
            <a:r>
              <a:rPr lang="en-US" altLang="zh-CN" dirty="0"/>
              <a:t> all the information you need. </a:t>
            </a:r>
          </a:p>
          <a:p>
            <a:pPr marL="631825" indent="-631825" defTabSz="631825"/>
            <a:r>
              <a:rPr lang="en-US" altLang="zh-CN" dirty="0"/>
              <a:t>(2) Children’s literature _____________ (</a:t>
            </a:r>
            <a:r>
              <a:rPr lang="zh-CN" altLang="en-US" dirty="0"/>
              <a:t>包含</a:t>
            </a:r>
            <a:r>
              <a:rPr lang="en-US" altLang="zh-CN" dirty="0"/>
              <a:t>) crisis moments is good for their decision-making.</a:t>
            </a:r>
          </a:p>
          <a:p>
            <a:pPr marL="631825" indent="-631825" defTabSz="631825"/>
            <a:r>
              <a:rPr lang="en-US" altLang="zh-CN" dirty="0"/>
              <a:t>(3) Be especially careful of information  __________ in advertisements.          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738745" y="5434965"/>
            <a:ext cx="2383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contained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431790" y="60185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container 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n.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容器</a:t>
            </a:r>
            <a:endParaRPr lang="zh-CN" altLang="en-US" sz="3200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55590" y="4268470"/>
            <a:ext cx="2383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containing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3" grpId="0"/>
      <p:bldP spid="3" grpId="1"/>
      <p:bldP spid="2" grpId="0"/>
      <p:bldP spid="2" grpId="1"/>
      <p:bldP spid="4" grpId="0"/>
      <p:bldP spid="4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98818" y="701864"/>
            <a:ext cx="10769091" cy="68326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514600" indent="-2514600">
              <a:lnSpc>
                <a:spcPct val="120000"/>
              </a:lnSpc>
              <a:tabLst>
                <a:tab pos="2514600" algn="l"/>
              </a:tabLst>
            </a:pPr>
            <a:r>
              <a:rPr lang="en-US" altLang="zh-CN" sz="3200" b="1" dirty="0">
                <a:solidFill>
                  <a:srgbClr val="FF0000"/>
                </a:solidFill>
              </a:rPr>
              <a:t>contain 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 </a:t>
            </a:r>
            <a:r>
              <a:rPr lang="en-US" altLang="zh-CN" sz="3200" b="1" dirty="0">
                <a:solidFill>
                  <a:srgbClr val="0000FF"/>
                </a:solidFill>
              </a:rPr>
              <a:t>2) </a:t>
            </a:r>
            <a:r>
              <a:rPr lang="zh-CN" altLang="en-US" sz="3200" b="1" i="1" dirty="0">
                <a:solidFill>
                  <a:srgbClr val="0000FF"/>
                </a:solidFill>
              </a:rPr>
              <a:t>to keep one’s feeling under control</a:t>
            </a:r>
            <a:r>
              <a:rPr lang="en-US" altLang="zh-CN" sz="3200" b="1" i="1" dirty="0"/>
              <a:t>   </a:t>
            </a:r>
            <a:r>
              <a:rPr lang="zh-CN" altLang="en-US" sz="3200" b="1" dirty="0">
                <a:solidFill>
                  <a:srgbClr val="FF0000"/>
                </a:solidFill>
              </a:rPr>
              <a:t>控制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8805" y="1660525"/>
            <a:ext cx="1094105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631825" indent="-631825" defTabSz="631825"/>
            <a:r>
              <a:rPr lang="en-US" altLang="zh-CN" dirty="0"/>
              <a:t> (3) Try to </a:t>
            </a:r>
            <a:r>
              <a:rPr lang="en-US" altLang="zh-CN" dirty="0">
                <a:solidFill>
                  <a:srgbClr val="FF0000"/>
                </a:solidFill>
              </a:rPr>
              <a:t>contain yourself </a:t>
            </a:r>
            <a:r>
              <a:rPr lang="en-US" altLang="zh-CN" dirty="0"/>
              <a:t>and don’t burst into tears in front of your mother.</a:t>
            </a:r>
          </a:p>
          <a:p>
            <a:pPr marL="631825" indent="-631825" defTabSz="631825"/>
            <a:r>
              <a:rPr lang="en-US" altLang="zh-CN" dirty="0"/>
              <a:t> (4) She ________________________ after being treated that way.</a:t>
            </a:r>
          </a:p>
          <a:p>
            <a:pPr marL="631825" indent="-631825" defTabSz="631825"/>
            <a:r>
              <a:rPr lang="en-US" altLang="zh-CN" dirty="0"/>
              <a:t>      </a:t>
            </a:r>
            <a:r>
              <a:rPr lang="zh-CN" altLang="en-US" dirty="0"/>
              <a:t>在被那样对待之后，她无法控制自己的情绪。</a:t>
            </a:r>
          </a:p>
          <a:p>
            <a:pPr marL="631825" indent="-631825" defTabSz="631825"/>
            <a:r>
              <a:rPr lang="en-US" altLang="zh-CN" dirty="0"/>
              <a:t> (5) </a:t>
            </a:r>
            <a:r>
              <a:rPr lang="en-US" altLang="zh-CN" dirty="0">
                <a:sym typeface="+mn-ea"/>
              </a:rPr>
              <a:t>She could no longer _________________ and shouted at him uncontrollably.  (</a:t>
            </a:r>
            <a:r>
              <a:rPr lang="zh-CN" altLang="en-US" dirty="0">
                <a:sym typeface="+mn-ea"/>
              </a:rPr>
              <a:t>抑制她的愤怒</a:t>
            </a:r>
            <a:r>
              <a:rPr lang="en-US" altLang="zh-CN" dirty="0">
                <a:sym typeface="+mn-ea"/>
              </a:rPr>
              <a:t>)</a:t>
            </a:r>
            <a:endParaRPr lang="en-US" altLang="zh-CN" b="1" dirty="0"/>
          </a:p>
          <a:p>
            <a:pPr marL="631825" indent="-631825" defTabSz="631825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2162670" y="2894772"/>
            <a:ext cx="4411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couldn't contain herself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43805" y="46659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contain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her anger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2" grpId="0"/>
      <p:bldP spid="3" grpId="0"/>
      <p:bldP spid="3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44380" y="2497760"/>
            <a:ext cx="1097997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631825" indent="-631825" defTabSz="631825"/>
            <a:r>
              <a:rPr lang="en-US" altLang="zh-CN" dirty="0"/>
              <a:t>(1)  Firefighters are trying their best to </a:t>
            </a:r>
            <a:r>
              <a:rPr lang="en-US" altLang="zh-CN" dirty="0">
                <a:solidFill>
                  <a:srgbClr val="FF0000"/>
                </a:solidFill>
              </a:rPr>
              <a:t>contain</a:t>
            </a:r>
            <a:r>
              <a:rPr lang="en-US" altLang="zh-CN" dirty="0"/>
              <a:t> the forest fire.</a:t>
            </a:r>
          </a:p>
          <a:p>
            <a:pPr marL="631825" indent="-631825" defTabSz="631825"/>
            <a:r>
              <a:rPr lang="en-US" altLang="zh-CN" dirty="0"/>
              <a:t>(2)  The government has successfully </a:t>
            </a:r>
            <a:r>
              <a:rPr lang="en-US" altLang="zh-CN" dirty="0">
                <a:solidFill>
                  <a:srgbClr val="FF0000"/>
                </a:solidFill>
              </a:rPr>
              <a:t>contained</a:t>
            </a:r>
            <a:r>
              <a:rPr lang="en-US" altLang="zh-CN" dirty="0"/>
              <a:t> the epidemic.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4381" y="729395"/>
            <a:ext cx="11138019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33400" indent="-533400">
              <a:lnSpc>
                <a:spcPct val="120000"/>
              </a:lnSpc>
              <a:defRPr sz="3200" b="1"/>
            </a:lvl1pPr>
          </a:lstStyle>
          <a:p>
            <a:pPr marL="2243455" indent="-2243455"/>
            <a:r>
              <a:rPr lang="en-US" altLang="zh-CN" dirty="0">
                <a:solidFill>
                  <a:srgbClr val="FF0000"/>
                </a:solidFill>
              </a:rPr>
              <a:t>contain </a:t>
            </a:r>
            <a:r>
              <a:rPr lang="en-US" altLang="zh-CN" dirty="0" err="1">
                <a:solidFill>
                  <a:srgbClr val="FF0000"/>
                </a:solidFill>
              </a:rPr>
              <a:t>sth</a:t>
            </a:r>
            <a:r>
              <a:rPr lang="en-US" altLang="zh-CN" dirty="0">
                <a:solidFill>
                  <a:srgbClr val="FF0000"/>
                </a:solidFill>
              </a:rPr>
              <a:t>. 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0000FF"/>
                </a:solidFill>
              </a:rPr>
              <a:t>3) </a:t>
            </a:r>
            <a:r>
              <a:rPr lang="en-US" altLang="zh-CN" i="1" dirty="0">
                <a:solidFill>
                  <a:srgbClr val="0000FF"/>
                </a:solidFill>
              </a:rPr>
              <a:t>to prevent something harmful from spreading or getting worse</a:t>
            </a:r>
            <a:r>
              <a:rPr lang="en-US" altLang="zh-CN" i="1" dirty="0"/>
              <a:t>  </a:t>
            </a:r>
          </a:p>
          <a:p>
            <a:pPr marL="2243455" indent="-2243455"/>
            <a:r>
              <a:rPr lang="en-US" altLang="zh-CN" i="1" dirty="0"/>
              <a:t>                     </a:t>
            </a:r>
            <a:r>
              <a:rPr lang="zh-CN" altLang="en-US" dirty="0">
                <a:solidFill>
                  <a:srgbClr val="FF0000"/>
                </a:solidFill>
              </a:rPr>
              <a:t>抑制</a:t>
            </a:r>
            <a:r>
              <a:rPr lang="en-US" altLang="zh-CN" dirty="0">
                <a:solidFill>
                  <a:srgbClr val="FF0000"/>
                </a:solidFill>
              </a:rPr>
              <a:t>; </a:t>
            </a:r>
            <a:r>
              <a:rPr lang="zh-CN" altLang="en-US" dirty="0">
                <a:solidFill>
                  <a:srgbClr val="FF0000"/>
                </a:solidFill>
              </a:rPr>
              <a:t>控制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4" name="Picture 4" descr="辨析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620713"/>
            <a:ext cx="1600200" cy="104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26" name="Group 26"/>
          <p:cNvGraphicFramePr>
            <a:graphicFrameLocks noGrp="1"/>
          </p:cNvGraphicFramePr>
          <p:nvPr>
            <p:ph/>
            <p:custDataLst>
              <p:tags r:id="rId2"/>
            </p:custDataLst>
          </p:nvPr>
        </p:nvGraphicFramePr>
        <p:xfrm>
          <a:off x="519289" y="2012244"/>
          <a:ext cx="10871200" cy="3159168"/>
        </p:xfrm>
        <a:graphic>
          <a:graphicData uri="http://schemas.openxmlformats.org/drawingml/2006/table">
            <a:tbl>
              <a:tblPr/>
              <a:tblGrid>
                <a:gridCol w="1738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313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contain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通常指某容器中盛有、装有某物；还可指某种物质中含有某种成分。不能用于被动语态和进行时。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include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7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通常表示把某事物或某人作为其中的一部分包含在内，在句中常构成分词短语</a:t>
                      </a:r>
                      <a:r>
                        <a:rPr kumimoji="0" lang="en-US" altLang="zh-CN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sth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. /sb. included 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或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including </a:t>
                      </a:r>
                      <a:r>
                        <a:rPr kumimoji="0" lang="en-US" altLang="zh-CN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sth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./ sb.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4821" name="Text Box 21"/>
          <p:cNvSpPr txBox="1">
            <a:spLocks noChangeArrowheads="1"/>
          </p:cNvSpPr>
          <p:nvPr/>
        </p:nvSpPr>
        <p:spPr bwMode="auto">
          <a:xfrm>
            <a:off x="4399844" y="814664"/>
            <a:ext cx="3300904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contain, include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493082" y="576381"/>
            <a:ext cx="10818384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5125" indent="-365125" algn="l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544830" algn="l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zh-CN" altLang="en-US" sz="3200" b="1" dirty="0"/>
              <a:t>全班四十个人中包括二十个女生。 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</a:t>
            </a:r>
            <a:r>
              <a:rPr lang="en-US" altLang="zh-CN" sz="3200" b="1" dirty="0">
                <a:solidFill>
                  <a:srgbClr val="FF0000"/>
                </a:solidFill>
              </a:rPr>
              <a:t>The class of forty includes twenty girls.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/>
              <a:t>她考试通过了，所以不能抑制住内心的激动。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</a:rPr>
              <a:t>She passed the exam and was unable to contain her excitement.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3) </a:t>
            </a:r>
            <a:r>
              <a:rPr lang="zh-CN" altLang="en-US" sz="3200" b="1" dirty="0"/>
              <a:t>垃圾食品含有很多有害物质</a:t>
            </a:r>
            <a:r>
              <a:rPr lang="en-US" altLang="zh-CN" sz="3200" b="1" dirty="0"/>
              <a:t>(substance)</a:t>
            </a:r>
            <a:r>
              <a:rPr lang="zh-CN" altLang="en-US" sz="3200" b="1" dirty="0"/>
              <a:t>。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Junk food contains a lot of harmful substances.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4) </a:t>
            </a:r>
            <a:r>
              <a:rPr lang="en-US" altLang="zh-CN" sz="3200" b="1" dirty="0">
                <a:sym typeface="+mn-ea"/>
              </a:rPr>
              <a:t>This kind of vegetable is beneficial to your health, as it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contains</a:t>
            </a:r>
            <a:r>
              <a:rPr lang="en-US" altLang="zh-CN" sz="3200" b="1" dirty="0">
                <a:sym typeface="+mn-ea"/>
              </a:rPr>
              <a:t> a lot of vitamins.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3220" y="763831"/>
            <a:ext cx="11128202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631825" indent="-631825">
              <a:lnSpc>
                <a:spcPct val="120000"/>
              </a:lnSpc>
              <a:defRPr sz="3200" b="1"/>
            </a:lvl1pPr>
          </a:lstStyle>
          <a:p>
            <a:pPr marL="358775" indent="-358775"/>
            <a:r>
              <a:rPr lang="en-US" altLang="zh-CN" dirty="0"/>
              <a:t>12. </a:t>
            </a:r>
            <a:r>
              <a:rPr lang="en-US" altLang="zh-CN" dirty="0">
                <a:solidFill>
                  <a:srgbClr val="FF0000"/>
                </a:solidFill>
              </a:rPr>
              <a:t>In summary</a:t>
            </a:r>
            <a:r>
              <a:rPr lang="en-US" altLang="zh-CN" dirty="0"/>
              <a:t>, literature is the expression of life in forms of truth and beauty, the written record of man’s thoughts and feelings, and the history of the human soul.  </a:t>
            </a:r>
          </a:p>
          <a:p>
            <a:pPr marL="358775" indent="-358775"/>
            <a:r>
              <a:rPr lang="en-US" altLang="zh-CN" dirty="0"/>
              <a:t>   </a:t>
            </a:r>
            <a:r>
              <a:rPr lang="zh-CN" altLang="en-US" dirty="0">
                <a:solidFill>
                  <a:srgbClr val="FF0000"/>
                </a:solidFill>
              </a:rPr>
              <a:t>总之，文学是以真和美的形式对生命的表达，是人类思想和感悟的写照，是人类灵魂的历史。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8438" y="677066"/>
            <a:ext cx="10774939" cy="42288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summary </a:t>
            </a:r>
            <a:r>
              <a:rPr lang="en-US" altLang="zh-CN" sz="3200" b="1" i="1" dirty="0">
                <a:solidFill>
                  <a:srgbClr val="FF0000"/>
                </a:solidFill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</a:rPr>
              <a:t> :</a:t>
            </a:r>
            <a:r>
              <a:rPr lang="en-US" altLang="zh-CN" sz="3200" b="1" i="1" dirty="0"/>
              <a:t>a short statement that gives the main information about something, without giving all the details </a:t>
            </a:r>
            <a:r>
              <a:rPr lang="zh-CN" altLang="en-US" sz="3200" b="1" dirty="0">
                <a:solidFill>
                  <a:srgbClr val="FF0000"/>
                </a:solidFill>
              </a:rPr>
              <a:t>总结，摘要，概要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 summary: </a:t>
            </a:r>
            <a:r>
              <a:rPr lang="en-US" altLang="zh-CN" sz="3200" b="1" i="1" dirty="0"/>
              <a:t>usually used to introduce a brief statement of the most important information in a piece of writing or speech</a:t>
            </a: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总的来说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26046" y="1097754"/>
            <a:ext cx="10830576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631825" indent="-631825" defTabSz="631825"/>
            <a:r>
              <a:rPr lang="en-US" altLang="zh-CN" dirty="0"/>
              <a:t> A brief </a:t>
            </a:r>
            <a:r>
              <a:rPr lang="en-US" altLang="zh-CN" dirty="0">
                <a:solidFill>
                  <a:srgbClr val="FF0000"/>
                </a:solidFill>
              </a:rPr>
              <a:t>summary</a:t>
            </a:r>
            <a:r>
              <a:rPr lang="en-US" altLang="zh-CN" dirty="0"/>
              <a:t> is given on a separate sheet.</a:t>
            </a:r>
          </a:p>
          <a:p>
            <a:pPr marL="631825" indent="-631825" defTabSz="631825"/>
            <a:r>
              <a:rPr lang="zh-CN" altLang="en-US" b="0" dirty="0"/>
              <a:t>      </a:t>
            </a:r>
            <a:r>
              <a:rPr lang="zh-CN" altLang="en-US" dirty="0"/>
              <a:t>摘要写在单独的一页上。</a:t>
            </a:r>
            <a:endParaRPr lang="en-US" altLang="zh-CN" dirty="0"/>
          </a:p>
          <a:p>
            <a:pPr marL="631825" indent="-631825" defTabSz="631825"/>
            <a:r>
              <a:rPr lang="en-US" altLang="zh-CN" b="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In summary</a:t>
            </a:r>
            <a:r>
              <a:rPr lang="en-US" altLang="zh-CN" dirty="0"/>
              <a:t>, I cannot thank you enough for helping me out.</a:t>
            </a:r>
          </a:p>
          <a:p>
            <a:pPr marL="631825" indent="-631825" defTabSz="631825"/>
            <a:r>
              <a:rPr lang="en-US" altLang="zh-CN" dirty="0"/>
              <a:t>      </a:t>
            </a:r>
            <a:r>
              <a:rPr lang="zh-CN" altLang="en-US" dirty="0"/>
              <a:t>总之，对您的帮忙我感谢不尽。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3283" y="1069353"/>
            <a:ext cx="10402405" cy="18651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 forms of / in the form of…: 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/>
              <a:t>in the way something is or appears to be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形式，方式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260" y="3265805"/>
            <a:ext cx="1137221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446405" indent="-446405">
              <a:lnSpc>
                <a:spcPct val="120000"/>
              </a:lnSpc>
              <a:defRPr sz="3200" b="1"/>
            </a:lvl1pPr>
          </a:lstStyle>
          <a:p>
            <a:pPr marL="631825" indent="-631825" defTabSz="631825"/>
            <a:r>
              <a:rPr lang="en-US" altLang="zh-CN" dirty="0"/>
              <a:t>They usually provide aid </a:t>
            </a:r>
            <a:r>
              <a:rPr lang="en-US" altLang="zh-CN" dirty="0">
                <a:solidFill>
                  <a:srgbClr val="FF0000"/>
                </a:solidFill>
              </a:rPr>
              <a:t>in forms of </a:t>
            </a:r>
            <a:r>
              <a:rPr lang="en-US" altLang="zh-CN" dirty="0"/>
              <a:t>international cooperation.</a:t>
            </a:r>
          </a:p>
          <a:p>
            <a:pPr marL="631825" indent="-631825" defTabSz="631825"/>
            <a:r>
              <a:rPr lang="en-US" altLang="zh-CN" dirty="0"/>
              <a:t> </a:t>
            </a:r>
            <a:r>
              <a:rPr lang="zh-CN" altLang="en-US" dirty="0"/>
              <a:t>他们通常以国际合作的形式提供援助。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1f7e192-bf85-45a6-aefd-0ba619bd4e6e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8a328dc-815d-4cbb-b574-2c5805be4d5e}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0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4206</Words>
  <Application>Microsoft Macintosh PowerPoint</Application>
  <PresentationFormat>Widescreen</PresentationFormat>
  <Paragraphs>384</Paragraphs>
  <Slides>48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GBK_S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Office 主题​​</vt:lpstr>
      <vt:lpstr>PowerPoint Presentation</vt:lpstr>
      <vt:lpstr>1 whatever I have devoted myself to，I have devoted myself to completely/entirely/thoroughly.... 无论我专心做什么，我都全身心投入其中......。</vt:lpstr>
      <vt:lpstr>                u, sing. (great love, care and support for sb/sth) 挚爱；关爱                              (the action of spending time &amp; effort)   奉献；忠诚                   adj. 挚爱的；关爱的；忠实的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222</cp:revision>
  <dcterms:created xsi:type="dcterms:W3CDTF">2024-01-10T03:00:13Z</dcterms:created>
  <dcterms:modified xsi:type="dcterms:W3CDTF">2026-07-22T13:15:52Z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9A892B2EDFFE49878845B3394CE7C74A</vt:lpwstr>
  </property>
  <property fmtid="{D5CDD505-2E9C-101B-9397-08002B2CF9AE}" pid="3" name="KSOProductBuildVer">
    <vt:lpwstr>1033-6.5.0.8619</vt:lpwstr>
  </property>
</Properties>
</file>