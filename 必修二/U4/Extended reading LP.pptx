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notesMasterIdLst>
    <p:notesMasterId r:id="rId36"/>
  </p:notesMasterIdLst>
  <p:sldIdLst>
    <p:sldId id="495" r:id="rId2"/>
    <p:sldId id="496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508" r:id="rId13"/>
    <p:sldId id="509" r:id="rId14"/>
    <p:sldId id="510" r:id="rId15"/>
    <p:sldId id="511" r:id="rId16"/>
    <p:sldId id="512" r:id="rId17"/>
    <p:sldId id="513" r:id="rId18"/>
    <p:sldId id="514" r:id="rId19"/>
    <p:sldId id="515" r:id="rId20"/>
    <p:sldId id="516" r:id="rId21"/>
    <p:sldId id="517" r:id="rId22"/>
    <p:sldId id="566" r:id="rId23"/>
    <p:sldId id="518" r:id="rId24"/>
    <p:sldId id="519" r:id="rId25"/>
    <p:sldId id="520" r:id="rId26"/>
    <p:sldId id="521" r:id="rId27"/>
    <p:sldId id="522" r:id="rId28"/>
    <p:sldId id="523" r:id="rId29"/>
    <p:sldId id="524" r:id="rId30"/>
    <p:sldId id="525" r:id="rId31"/>
    <p:sldId id="560" r:id="rId32"/>
    <p:sldId id="561" r:id="rId33"/>
    <p:sldId id="562" r:id="rId34"/>
    <p:sldId id="56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472C4"/>
    <a:srgbClr val="CC00FF"/>
    <a:srgbClr val="0A74F9"/>
    <a:srgbClr val="FFFFFF"/>
    <a:srgbClr val="E9EBF5"/>
    <a:srgbClr val="CFD5EA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baffle, perplex</a:t>
            </a:r>
          </a:p>
          <a:p>
            <a:r>
              <a:rPr lang="en-US"/>
              <a:t>e.g. I was lost in confusion.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 will ... when the weather clears up.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in a flash of intuition, she realized that …</a:t>
            </a:r>
          </a:p>
          <a:p>
            <a:r>
              <a:rPr lang="en-US"/>
              <a:t>她突然有个直觉，认为…</a:t>
            </a:r>
          </a:p>
          <a:p>
            <a:r>
              <a:rPr lang="en-US"/>
              <a:t>it came to him in a flash that …</a:t>
            </a:r>
          </a:p>
          <a:p>
            <a:r>
              <a:rPr lang="en-US"/>
              <a:t>他突然想到…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43726" y="685276"/>
            <a:ext cx="11132276" cy="4900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7505" indent="-35750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36398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77165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17995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58762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30448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5020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959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416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1. ...</a:t>
            </a:r>
            <a:r>
              <a:rPr lang="en-US" altLang="zh-CN" sz="3200" b="1" dirty="0">
                <a:latin typeface="Times New Roman" panose="02020603050405020304" pitchFamily="18" charset="0"/>
              </a:rPr>
              <a:t>can be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destroyed </a:t>
            </a:r>
            <a:r>
              <a:rPr lang="en-US" altLang="zh-CN" sz="3200" b="1" dirty="0">
                <a:latin typeface="Times New Roman" panose="02020603050405020304" pitchFamily="18" charset="0"/>
              </a:rPr>
              <a:t>but not defeated”.</a:t>
            </a:r>
          </a:p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destroy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damage something so badly that it </a:t>
            </a:r>
            <a:r>
              <a:rPr lang="en-US" altLang="zh-CN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longer exists</a:t>
            </a:r>
            <a:r>
              <a:rPr lang="zh-CN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works, etc.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摧毁，毁灭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彻底破坏不能修复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school was completely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destroyed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fire.</a:t>
            </a:r>
          </a:p>
          <a:p>
            <a:pPr marL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学校被大火摧毁了。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fontAlgn="auto"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destroy sb’s hope/reputation/confidence/career/life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You have destroyed my hopes of happiness.</a:t>
            </a:r>
          </a:p>
          <a:p>
            <a:pPr marL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你毁掉了我幸福的希望。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317500"/>
            <a:ext cx="12192635" cy="5933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714375" indent="-7143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42748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20637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624455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3184525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3641725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4098925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4556125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5013325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car was only slightly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damaged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accident.</a:t>
            </a: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损坏、损害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 to sth/sb which makes it </a:t>
            </a:r>
            <a:r>
              <a:rPr lang="en-US" altLang="zh-CN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useful, attractive)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bad weather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ruined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trip.</a:t>
            </a: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毁灭，糟蹋</a:t>
            </a:r>
            <a:r>
              <a:rPr lang="en-US" altLang="zh-CN" b="1" i="1" dirty="0">
                <a:solidFill>
                  <a:srgbClr val="00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(damage sth so badly that it loses its </a:t>
            </a:r>
            <a:r>
              <a:rPr lang="en-US" altLang="zh-CN" b="1" i="1" u="sng" dirty="0">
                <a:solidFill>
                  <a:srgbClr val="00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value </a:t>
            </a:r>
            <a:r>
              <a:rPr lang="en-US" altLang="zh-CN" b="1" i="1" dirty="0">
                <a:solidFill>
                  <a:srgbClr val="00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or pleasure, etc)</a:t>
            </a: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destruction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n.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～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of reputation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名誉的破坏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)</a:t>
            </a: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许多人非常担心动物栖息地的破坏。</a:t>
            </a: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Many people are very concerned about the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destruction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animal habitats.</a:t>
            </a: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destructive </a:t>
            </a:r>
            <a:r>
              <a:rPr lang="en-US" altLang="zh-CN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adj.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毁灭性的，引起破坏的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destructive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effect of anxiety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破坏性影响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57480" y="227330"/>
            <a:ext cx="11800205" cy="5390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7505" indent="-35750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36398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77165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17995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58762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30448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5020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959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416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2065655" indent="-2065655">
              <a:lnSpc>
                <a:spcPct val="115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defeat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to win against sb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击败；战胜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(beat, win)</a:t>
            </a:r>
          </a:p>
          <a:p>
            <a:pPr marL="2065655" indent="-2065655" algn="l">
              <a:lnSpc>
                <a:spcPct val="115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defeat sb in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在……中击败某人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2065655" indent="-2065655" algn="l">
              <a:lnSpc>
                <a:spcPct val="115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They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narrowly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defeated the French team in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the final.</a:t>
            </a:r>
          </a:p>
          <a:p>
            <a:pPr marL="2065655" indent="-2065655" algn="l">
              <a:lnSpc>
                <a:spcPct val="115000"/>
              </a:lnSpc>
              <a:buClrTx/>
              <a:buSzTx/>
              <a:buFontTx/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2065655" indent="-2065655" algn="l">
              <a:lnSpc>
                <a:spcPct val="115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defeat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failure to win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失败；战败</a:t>
            </a:r>
          </a:p>
          <a:p>
            <a:pPr marL="2065655" indent="-2065655" algn="l">
              <a:lnSpc>
                <a:spcPct val="115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遭到失败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                                    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认输</a:t>
            </a:r>
          </a:p>
          <a:p>
            <a:pPr marL="2065655" indent="-2065655" algn="l">
              <a:lnSpc>
                <a:spcPct val="115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 narrow/heavy defeat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惜败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惨败</a:t>
            </a:r>
          </a:p>
          <a:p>
            <a:pPr marL="2065655" indent="-2065655" algn="l">
              <a:lnSpc>
                <a:spcPct val="115000"/>
              </a:lnSpc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065655" indent="-2065655" algn="l">
              <a:lnSpc>
                <a:spcPct val="115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I feel sorry for their defeat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the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rivals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</a:p>
          <a:p>
            <a:pPr marL="2065655" indent="-2065655" algn="l">
              <a:lnSpc>
                <a:spcPct val="115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We cheered for their defeat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of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the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rivals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235200" y="3011805"/>
            <a:ext cx="458343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meet with/suffer a defeat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596755" y="3011805"/>
            <a:ext cx="236093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admit defeat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2425" y="725805"/>
            <a:ext cx="1148715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1655" indent="-54165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辨析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】de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新宋体" panose="02010609030101010101" pitchFamily="49" charset="-122"/>
                <a:sym typeface="+mn-ea"/>
              </a:rPr>
              <a:t>feat, beat, win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新宋体" panose="02010609030101010101" pitchFamily="49" charset="-122"/>
            </a:endParaRPr>
          </a:p>
          <a:p>
            <a:pPr marL="541655" indent="-541655">
              <a:lnSpc>
                <a:spcPct val="12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defeat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beat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都可以表示“打败，战胜”的意思，后面的宾语通常是</a:t>
            </a:r>
            <a:r>
              <a:rPr lang="zh-CN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比赛的对手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。但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beat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更口语化。</a:t>
            </a:r>
          </a:p>
          <a:p>
            <a:pPr marL="541655" indent="-541655">
              <a:lnSpc>
                <a:spcPct val="12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表示“获胜”，后面的宾语通常是</a:t>
            </a:r>
            <a:r>
              <a:rPr lang="zh-CN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比赛或战斗的名词或者赢得的奖品、奖项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541655" indent="-541655">
              <a:lnSpc>
                <a:spcPct val="120000"/>
              </a:lnSpc>
            </a:pPr>
            <a:endParaRPr lang="zh-CN" altLang="en-US" sz="3200" b="1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1655" indent="-541655">
              <a:lnSpc>
                <a:spcPct val="12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defeated me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election.</a:t>
            </a:r>
          </a:p>
          <a:p>
            <a:pPr marL="541655" indent="-541655">
              <a:lnSpc>
                <a:spcPct val="12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wonder their team </a:t>
            </a:r>
            <a:r>
              <a:rPr lang="en-US" altLang="zh-CN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beat us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they invited a professional player.</a:t>
            </a:r>
          </a:p>
          <a:p>
            <a:pPr marL="541655" indent="-541655">
              <a:lnSpc>
                <a:spcPct val="12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Morocoo finally </a:t>
            </a:r>
            <a:r>
              <a:rPr lang="en-US" altLang="zh-CN" sz="3200" b="1" u="sng" dirty="0" err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won the game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533399" y="1066801"/>
            <a:ext cx="10789356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336675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97358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53365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3094355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3551555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4008755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4465955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923155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 marL="450850" indent="-45085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Victory or ________, we shall fight to rhe bitter end. (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划线词的反义词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0850" indent="-45085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I knew we were going to win, but to my disappointment we _____________ (defeat)</a:t>
            </a:r>
          </a:p>
          <a:p>
            <a:pPr marL="450850" indent="-45085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In a section on cars, Stevenson gives an account of the advanced techniques that criminal use ________ (defeat) computer-based locking systems for cars.</a:t>
            </a:r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3164840" y="1720126"/>
            <a:ext cx="124333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defeat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637665" y="3406686"/>
            <a:ext cx="25857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defeated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7886065" y="4643666"/>
            <a:ext cx="168338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defeat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6" grpId="0" bldLvl="0" animBg="1"/>
      <p:bldP spid="2" grpId="0" bldLvl="0" animBg="1"/>
      <p:bldP spid="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217170" y="201930"/>
            <a:ext cx="11758295" cy="5659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7505" indent="-35750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36398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77165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17995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58762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30448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5020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959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416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After coming 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empty-handed</a:t>
            </a:r>
            <a:r>
              <a:rPr lang="en-US" altLang="zh-CN" sz="3200" b="1" dirty="0">
                <a:latin typeface="Times New Roman" panose="02020603050405020304" pitchFamily="18" charset="0"/>
              </a:rPr>
              <a:t> for eighty-four days, Santiago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attempts </a:t>
            </a:r>
            <a:r>
              <a:rPr lang="en-US" altLang="zh-CN" sz="3200" b="1" dirty="0">
                <a:latin typeface="Times New Roman" panose="02020603050405020304" pitchFamily="18" charset="0"/>
              </a:rPr>
              <a:t>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catch a huge fish.</a:t>
            </a:r>
            <a:r>
              <a:rPr lang="zh-CN" altLang="en-US" sz="3200" b="1" dirty="0"/>
              <a:t>   </a:t>
            </a:r>
            <a:endParaRPr lang="en-US" altLang="zh-CN" sz="3200" b="1" dirty="0"/>
          </a:p>
          <a:p>
            <a:r>
              <a:rPr lang="zh-CN" altLang="en-US" sz="3200" b="1" dirty="0"/>
              <a:t>   圣地亚哥空手而归八十四天之后，试图捕捉一条大鱼。</a:t>
            </a:r>
          </a:p>
          <a:p>
            <a:pPr marL="2065655" indent="-2065655">
              <a:lnSpc>
                <a:spcPct val="115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attempt 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try to do something, especially something difficult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尝试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试图</a:t>
            </a:r>
          </a:p>
          <a:p>
            <a:pPr marL="2522855" lvl="1" indent="-2065655">
              <a:lnSpc>
                <a:spcPct val="115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attempt sth = attempt to do sth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试图做某事，努力尝试做某事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  <a:p>
            <a:pPr marL="0" lvl="1" indent="-2065655" algn="l">
              <a:lnSpc>
                <a:spcPct val="115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e.g. The prisoners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attempeted an escape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, but failed.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  <a:p>
            <a:pPr marL="2522855" lvl="1" indent="-2065655" algn="l">
              <a:lnSpc>
                <a:spcPct val="115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				 (=attempted to escape)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  <a:p>
            <a:pPr marL="2522855" lvl="1" indent="-2065655" algn="l">
              <a:lnSpc>
                <a:spcPct val="115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Weather conditions prevented them from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attempting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jump.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1655" indent="-54165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天气状况使他们无法尝试跳伞。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65655" indent="-2065655">
              <a:lnSpc>
                <a:spcPct val="115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2065655" indent="-2065655">
              <a:lnSpc>
                <a:spcPct val="115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065655" indent="-2065655">
              <a:lnSpc>
                <a:spcPct val="115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                   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434622" y="374147"/>
            <a:ext cx="11305821" cy="411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7505" indent="-35750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36398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77165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17995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58762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30448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5020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959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416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2065655" indent="-2065655">
              <a:lnSpc>
                <a:spcPct val="115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attempt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n.</a:t>
            </a:r>
            <a:r>
              <a:rPr lang="en-US" altLang="zh-CN" sz="3200" b="1" i="1" dirty="0"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 act of trying to do something, especially something difficult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努力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尝试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试图</a:t>
            </a:r>
          </a:p>
          <a:p>
            <a:pPr marL="2065655" indent="-2065655">
              <a:lnSpc>
                <a:spcPct val="115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2065655" indent="-2065655">
              <a:lnSpc>
                <a:spcPct val="115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065655" indent="-2065655">
              <a:lnSpc>
                <a:spcPct val="115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                   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9554" name="Rectangle 2"/>
          <p:cNvSpPr>
            <a:spLocks noChangeArrowheads="1"/>
          </p:cNvSpPr>
          <p:nvPr/>
        </p:nvSpPr>
        <p:spPr bwMode="auto">
          <a:xfrm>
            <a:off x="2918939" y="1639750"/>
            <a:ext cx="7921625" cy="1863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an attempt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make an attempt at (doing)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 attempt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为了……</a:t>
            </a:r>
          </a:p>
        </p:txBody>
      </p:sp>
      <p:sp>
        <p:nvSpPr>
          <p:cNvPr id="2" name="左大括号 1"/>
          <p:cNvSpPr/>
          <p:nvPr/>
        </p:nvSpPr>
        <p:spPr>
          <a:xfrm>
            <a:off x="2652113" y="1639499"/>
            <a:ext cx="248355" cy="187395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34340" y="2235200"/>
            <a:ext cx="221805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试图做某事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67635" y="3513455"/>
            <a:ext cx="685736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one’s first attempt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某人第一次尝试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8970" y="4196715"/>
            <a:ext cx="10876280" cy="2453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factories were closed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 attempt 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cut costs.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为削减费用，关闭了两家工厂。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no attempt to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escape.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他们没有企图逃跑。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4" grpId="0" bldLvl="0" animBg="1"/>
      <p:bldP spid="279554" grpId="1" animBg="1"/>
      <p:bldP spid="2" grpId="0" bldLvl="0" animBg="1"/>
      <p:bldP spid="2" grpId="1" animBg="1"/>
      <p:bldP spid="3" grpId="0"/>
      <p:bldP spid="3" grpId="1"/>
      <p:bldP spid="4" grpId="0"/>
      <p:bldP spid="4" grpId="1"/>
      <p:bldP spid="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ChangeArrowheads="1"/>
          </p:cNvSpPr>
          <p:nvPr/>
        </p:nvSpPr>
        <p:spPr bwMode="auto">
          <a:xfrm>
            <a:off x="519465" y="879677"/>
            <a:ext cx="11074223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6405" indent="-446405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13105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辨析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新宋体" panose="02010609030101010101" pitchFamily="49" charset="-122"/>
              </a:rPr>
              <a:t>attempt, try, manage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1)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attempt</a:t>
            </a:r>
            <a:r>
              <a:rPr lang="zh-CN" altLang="en-US" sz="3200" b="1" dirty="0">
                <a:latin typeface="Times New Roman" panose="02020603050405020304" pitchFamily="18" charset="0"/>
              </a:rPr>
              <a:t>正式用语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</a:rPr>
              <a:t>常指一次的而不是继续的尝试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</a:rPr>
              <a:t>往往暗示这种尝试达不到目的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</a:rPr>
              <a:t>常包含“冒险”之意。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try</a:t>
            </a:r>
            <a:r>
              <a:rPr lang="zh-CN" altLang="en-US" sz="3200" b="1" dirty="0">
                <a:latin typeface="Times New Roman" panose="02020603050405020304" pitchFamily="18" charset="0"/>
              </a:rPr>
              <a:t>通俗用语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</a:rPr>
              <a:t>指为成功做某事而付出努力或花费一定代价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</a:rPr>
              <a:t>后接不定式表示“试图做某事”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</a:rPr>
              <a:t>后接动词</a:t>
            </a:r>
            <a:r>
              <a:rPr lang="en-US" altLang="zh-CN" sz="3200" b="1" dirty="0">
                <a:latin typeface="Times New Roman" panose="02020603050405020304" pitchFamily="18" charset="0"/>
              </a:rPr>
              <a:t>-ing</a:t>
            </a:r>
            <a:r>
              <a:rPr lang="zh-CN" altLang="en-US" sz="3200" b="1" dirty="0">
                <a:latin typeface="Times New Roman" panose="02020603050405020304" pitchFamily="18" charset="0"/>
              </a:rPr>
              <a:t>形式表“试着做某事”。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3)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manage</a:t>
            </a:r>
            <a:r>
              <a:rPr lang="zh-CN" altLang="en-US" sz="3200" b="1" dirty="0">
                <a:latin typeface="Times New Roman" panose="02020603050405020304" pitchFamily="18" charset="0"/>
              </a:rPr>
              <a:t>成功地做成某事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</a:rPr>
              <a:t>尤指困难的事，强调结果。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5" name="Text Box 2"/>
          <p:cNvSpPr txBox="1">
            <a:spLocks noChangeArrowheads="1"/>
          </p:cNvSpPr>
          <p:nvPr/>
        </p:nvSpPr>
        <p:spPr bwMode="auto">
          <a:xfrm>
            <a:off x="311785" y="140970"/>
            <a:ext cx="11568430" cy="2496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0850" indent="-4508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09093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4986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906905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314575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7717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2289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6861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1433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单句语法填空。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1) </a:t>
            </a:r>
            <a:r>
              <a:rPr sz="3200" b="1" dirty="0">
                <a:latin typeface="Times New Roman" panose="02020603050405020304" pitchFamily="18" charset="0"/>
              </a:rPr>
              <a:t>It was one of his rare </a:t>
            </a:r>
            <a:r>
              <a:rPr lang="en-US" sz="3200" b="1" dirty="0">
                <a:latin typeface="Times New Roman" panose="02020603050405020304" pitchFamily="18" charset="0"/>
              </a:rPr>
              <a:t>_______ (attempt)</a:t>
            </a:r>
            <a:r>
              <a:rPr sz="3200" b="1" dirty="0">
                <a:latin typeface="Times New Roman" panose="02020603050405020304" pitchFamily="18" charset="0"/>
              </a:rPr>
              <a:t> at humour.</a:t>
            </a:r>
            <a:r>
              <a:rPr lang="en-US" sz="3200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sz="3200" b="1" dirty="0">
                <a:latin typeface="Times New Roman" panose="02020603050405020304" pitchFamily="18" charset="0"/>
              </a:rPr>
              <a:t>那是他极不常见的想要表现幽默的一次。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2) On the road to success, he failed ____________________ (</a:t>
            </a:r>
            <a:r>
              <a:rPr lang="zh-CN" altLang="en-US" sz="3200" b="1" dirty="0">
                <a:latin typeface="Times New Roman" panose="02020603050405020304" pitchFamily="18" charset="0"/>
              </a:rPr>
              <a:t>第一次尝试</a:t>
            </a:r>
            <a:r>
              <a:rPr lang="en-US" altLang="zh-CN" sz="3200" b="1" dirty="0">
                <a:latin typeface="Times New Roman" panose="02020603050405020304" pitchFamily="18" charset="0"/>
              </a:rPr>
              <a:t>) but he didn’t give up, which led him to the final success.</a:t>
            </a:r>
          </a:p>
        </p:txBody>
      </p:sp>
      <p:sp>
        <p:nvSpPr>
          <p:cNvPr id="340996" name="Rectangle 4"/>
          <p:cNvSpPr>
            <a:spLocks noChangeArrowheads="1"/>
          </p:cNvSpPr>
          <p:nvPr/>
        </p:nvSpPr>
        <p:spPr bwMode="auto">
          <a:xfrm>
            <a:off x="4477456" y="726455"/>
            <a:ext cx="169481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attempts</a:t>
            </a: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0997" name="Rectangle 5"/>
          <p:cNvSpPr>
            <a:spLocks noChangeArrowheads="1"/>
          </p:cNvSpPr>
          <p:nvPr/>
        </p:nvSpPr>
        <p:spPr bwMode="auto">
          <a:xfrm>
            <a:off x="6510866" y="1885239"/>
            <a:ext cx="400875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his/the first sttempt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11854" y="3540054"/>
            <a:ext cx="10730264" cy="3044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我试图让她相信他是诚实的，但是徒劳无果。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(attempt)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I’ve ___________________________ her of his honesty, but in vain.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I’ve ___________________________ her of his honesty, but in vain.</a:t>
            </a:r>
          </a:p>
        </p:txBody>
      </p:sp>
      <p:sp>
        <p:nvSpPr>
          <p:cNvPr id="6" name="矩形 5"/>
          <p:cNvSpPr/>
          <p:nvPr/>
        </p:nvSpPr>
        <p:spPr>
          <a:xfrm>
            <a:off x="2012242" y="4214309"/>
            <a:ext cx="5111750" cy="584775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attempted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convince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66180" y="5285719"/>
            <a:ext cx="5357812" cy="584775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made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attempt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convince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6" grpId="0" bldLvl="0" animBg="1"/>
      <p:bldP spid="340997" grpId="0" bldLvl="0" animBg="1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22580" y="831215"/>
            <a:ext cx="11547475" cy="3766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7505" indent="-35750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36398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77165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17995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58762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30448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5020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959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416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The fish was coming in on his circle now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calm and beautiful looking</a:t>
            </a:r>
            <a:r>
              <a:rPr lang="en-US" altLang="zh-CN" sz="3200" b="1" dirty="0">
                <a:latin typeface="Times New Roman" panose="02020603050405020304" pitchFamily="18" charset="0"/>
              </a:rPr>
              <a:t> 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only his great tail moving</a:t>
            </a:r>
            <a:r>
              <a:rPr lang="en-US" altLang="zh-CN" sz="3200" b="1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这条鱼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正打着转靠近，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既冷静又美丽，只有它的大尾巴在动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2065655" indent="-2065655">
              <a:lnSpc>
                <a:spcPct val="115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calm and beautiful looking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分词短语作伴随状语</a:t>
            </a:r>
          </a:p>
          <a:p>
            <a:pPr marL="2065655" indent="-2065655">
              <a:lnSpc>
                <a:spcPct val="115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...and only his great tail (was) moving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并列句省略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2580" y="4598035"/>
            <a:ext cx="1124585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并列句中，后面的分句常省略与前面分句相同的主语、谓语或其他成分。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46150" y="1242060"/>
            <a:ext cx="10135235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fell off the bike, but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(he)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was unhurt.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My sister likes painting and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(like)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music.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they said made me happy but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(what they said made)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Sarah sad.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37698" y="911003"/>
            <a:ext cx="3688061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b="1" dirty="0">
                <a:solidFill>
                  <a:schemeClr val="bg1"/>
                </a:solidFill>
              </a:rPr>
              <a:t>Language points</a:t>
            </a:r>
            <a:endParaRPr lang="zh-CN" altLang="en-US" sz="4050" b="1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5276" y="362145"/>
            <a:ext cx="11426145" cy="65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5. Then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straightened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himself and began another circle.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7510" y="1014095"/>
            <a:ext cx="11793855" cy="6043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straighten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v. </a:t>
            </a:r>
            <a:r>
              <a:rPr lang="en-US" altLang="zh-CN" sz="3200" b="1" i="1" dirty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to become straight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（使）变直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straighten sth.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～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one’s shoulders/back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挺起肩膀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背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～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tie/skirt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拉正领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			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带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裙子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straighten oneself (up)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直起身子</a:t>
            </a:r>
            <a:endParaRPr lang="en-US" altLang="zh-CN" sz="3200" b="1" i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i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straighten sth ↔ out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清理，整顿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straighten sb ↔ out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帮人解决问题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Let’s try to straigten out this confusion.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咱们努力收拾这个混乱的局面吧。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37698" y="911003"/>
            <a:ext cx="3688061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b="1" dirty="0">
                <a:solidFill>
                  <a:schemeClr val="bg1"/>
                </a:solidFill>
              </a:rPr>
              <a:t>Language points</a:t>
            </a:r>
            <a:endParaRPr lang="zh-CN" altLang="en-US" sz="405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8145" y="1014095"/>
            <a:ext cx="11793855" cy="4961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straight adj.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e.g. long straight hair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直发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  I don’t think you are being straight with me.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straight adv.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e.g. Can you stretch your arms out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straighter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  Come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straight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home after school.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  I told him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straight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that I didn’t like him.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956675" y="4199255"/>
            <a:ext cx="140398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挺直地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722870" y="4719320"/>
            <a:ext cx="99695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直接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719820" y="5293995"/>
            <a:ext cx="140398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坦率地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9154795" y="2576830"/>
            <a:ext cx="140398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坦率的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7" grpId="0"/>
      <p:bldP spid="7" grpId="1"/>
      <p:bldP spid="8" grpId="0"/>
      <p:bldP spid="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37698" y="911003"/>
            <a:ext cx="3688061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b="1" dirty="0">
                <a:solidFill>
                  <a:schemeClr val="bg1"/>
                </a:solidFill>
              </a:rPr>
              <a:t>Language points</a:t>
            </a:r>
            <a:endParaRPr lang="zh-CN" altLang="en-US" sz="4050" b="1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5276" y="413580"/>
            <a:ext cx="11426145" cy="1213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6. He felt faint again now but he held on the great fish all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strain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that he could.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36220" y="1626870"/>
            <a:ext cx="11955780" cy="4961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strain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n. </a:t>
            </a:r>
            <a:r>
              <a:rPr lang="en-US" altLang="zh-CN" sz="3200" b="1" i="1" dirty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pressure on sb or the problems, worry or anxiety that this produces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压力；重负</a:t>
            </a:r>
          </a:p>
          <a:p>
            <a:pPr lvl="1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under (great/considerable) strain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处于压力中</a:t>
            </a:r>
          </a:p>
          <a:p>
            <a:pPr lvl="1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put a strain on sth/sb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给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造成压力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e.g. You will learn to cope with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stresses and strains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of public life.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strain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n.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 physical pressure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物理压力；拉力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e.g. You should try not to place too much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strain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on muscles and joints.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37698" y="911003"/>
            <a:ext cx="3688061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b="1" dirty="0">
                <a:solidFill>
                  <a:schemeClr val="bg1"/>
                </a:solidFill>
              </a:rPr>
              <a:t>Language points</a:t>
            </a:r>
            <a:endParaRPr lang="zh-CN" altLang="en-US" sz="4050" b="1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5276" y="362145"/>
            <a:ext cx="11426145" cy="3457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7. But when he put all of his effort on, starting it well out before the fish came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alongside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and pulling with all his strength, the fish pulled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part way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over and then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righted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himself and </a:t>
            </a:r>
          </a:p>
          <a:p>
            <a:pPr marL="361950" indent="-361950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swam away.</a:t>
            </a:r>
          </a:p>
          <a:p>
            <a:pPr marL="361950" indent="-361950">
              <a:lnSpc>
                <a:spcPct val="114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可是当他使出浑身力气，在鱼靠近之前就开始用尽全力拉线时，那鱼半途就挣扎着偏向一边，然后正正身子就游走了。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8715" y="3822708"/>
            <a:ext cx="11397195" cy="279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alongside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to or at the side of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在旁边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1073150" indent="-1073150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e.g. A car pulled up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alongside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1073150" indent="-1073150"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alongside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together with or along with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与……一起</a:t>
            </a:r>
          </a:p>
          <a:p>
            <a:pPr marL="1073150" indent="-107315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e.g. Most of the staff refused to work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alongside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irreponsible ones.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21611" y="2971934"/>
            <a:ext cx="11148842" cy="333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04975" indent="-1704975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3)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right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put something, especially a boat, back into its  correct upright position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回正常位置，把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扶正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1073150" indent="-1073150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e.g.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At last the plane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righted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itself and everyone was safe and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sound. </a:t>
            </a:r>
          </a:p>
          <a:p>
            <a:pPr marL="1073150" indent="-1073150"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最后，飞机终于恢复了平稳，大家都平安无事。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8080" y="489593"/>
            <a:ext cx="11397195" cy="2256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part way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the way or partly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半途，部分地</a:t>
            </a:r>
          </a:p>
          <a:p>
            <a:pPr marL="1073150" indent="-1073150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e.g.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They were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part way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through the meeting when she arrived. </a:t>
            </a:r>
          </a:p>
          <a:p>
            <a:pPr marL="1073150" indent="-1073150"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她到达的时候会议已经进行一段时间了。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240263" y="137057"/>
            <a:ext cx="11493703" cy="2625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580" indent="-44958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14808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61290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021205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53873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9959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4531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9103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3675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you are getting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head, he thought.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他想，现在你脑子里有点糊涂了。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confused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unable to understand or think clearly what someone is saying or what is happening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困惑的，糊涂的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086" y="2475088"/>
            <a:ext cx="10911522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survey showed people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 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confused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they should eat to stay healthy.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一项调查表明，人们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该吃什么才能保持健康这个问题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感到困惑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rather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confused by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 question.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他的问题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搞糊涂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8380" y="847509"/>
            <a:ext cx="10911522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confused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clear and therefore difficult to understand 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不清楚的；混乱的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5384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essay gets a bit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halfway through when you introduce too many ideas at once.</a:t>
            </a:r>
          </a:p>
          <a:p>
            <a:pPr indent="-53848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你的文章写到一半时一下子提出了太多观点，显得有些混乱。</a:t>
            </a:r>
          </a:p>
          <a:p>
            <a:pPr indent="-538480" fontAlgn="auto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5384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confused situation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混乱的情况</a:t>
            </a:r>
          </a:p>
          <a:p>
            <a:pPr indent="-5384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confused thoughts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混乱的思想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1546577" y="629355"/>
            <a:ext cx="8382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【</a:t>
            </a:r>
            <a:r>
              <a:rPr lang="zh-CN" altLang="en-US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拓展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confuse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使迷惑</a:t>
            </a:r>
            <a:r>
              <a:rPr lang="en-US" altLang="zh-CN" sz="3200" b="1" dirty="0">
                <a:latin typeface="Times New Roman" panose="02020603050405020304" pitchFamily="18" charset="0"/>
              </a:rPr>
              <a:t>;  </a:t>
            </a:r>
            <a:r>
              <a:rPr lang="zh-CN" altLang="en-US" sz="3200" b="1" dirty="0">
                <a:latin typeface="Times New Roman" panose="02020603050405020304" pitchFamily="18" charset="0"/>
              </a:rPr>
              <a:t>使难于理解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confusing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令人困惑的；难懂的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confusion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．</a:t>
            </a:r>
            <a:r>
              <a:rPr lang="zh-CN" altLang="en-US" sz="3200" b="1" dirty="0">
                <a:latin typeface="Times New Roman" panose="02020603050405020304" pitchFamily="18" charset="0"/>
              </a:rPr>
              <a:t>困惑</a:t>
            </a:r>
            <a:r>
              <a:rPr lang="en-US" altLang="zh-CN" sz="3200" b="1" dirty="0">
                <a:latin typeface="Times New Roman" panose="02020603050405020304" pitchFamily="18" charset="0"/>
              </a:rPr>
              <a:t>,  </a:t>
            </a:r>
            <a:r>
              <a:rPr lang="zh-CN" altLang="en-US" sz="3200" b="1" dirty="0">
                <a:latin typeface="Times New Roman" panose="02020603050405020304" pitchFamily="18" charset="0"/>
              </a:rPr>
              <a:t>混乱； 混淆</a:t>
            </a:r>
            <a:endParaRPr lang="zh-CN" altLang="en-US" sz="3200" b="1" dirty="0">
              <a:solidFill>
                <a:srgbClr val="9900CC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归纳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】</a:t>
            </a: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confuse A with/and B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把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相混淆</a:t>
            </a: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be confused about sth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对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...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感到迷惑</a:t>
            </a:r>
          </a:p>
          <a:p>
            <a:pPr algn="just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be confused by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被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搞糊涂了</a:t>
            </a:r>
          </a:p>
          <a:p>
            <a:pPr algn="just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get/become confused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困惑，不知所措</a:t>
            </a:r>
          </a:p>
          <a:p>
            <a:pPr algn="just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in confusion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困惑地；困窘地</a:t>
            </a:r>
          </a:p>
        </p:txBody>
      </p:sp>
      <p:sp>
        <p:nvSpPr>
          <p:cNvPr id="2" name="左大括号 1"/>
          <p:cNvSpPr/>
          <p:nvPr/>
        </p:nvSpPr>
        <p:spPr>
          <a:xfrm>
            <a:off x="1377315" y="3928745"/>
            <a:ext cx="383540" cy="25844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406399" y="601557"/>
            <a:ext cx="11187289" cy="35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根据提示完成下列句子。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我被这么多的事情搞糊涂了。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 _____________  so many things.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我总是把你和你妹妹搞混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—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你们俩长得太像了。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 always _________________________ — you look so alike.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3) A survey showed that many people 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____________________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困惑于他们应该吃什么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to stay healthy.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4) Different instructions ___________________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让学生很困惑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), which left him wondering what to do.</a:t>
            </a: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1200151" y="1818696"/>
            <a:ext cx="320865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confused by  </a:t>
            </a: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2552444" y="2987249"/>
            <a:ext cx="50792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 you with your sister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75079" y="3572054"/>
            <a:ext cx="1015047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were confused about 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they should eat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825744" y="5364659"/>
            <a:ext cx="375031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confused the student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ldLvl="0" animBg="1"/>
      <p:bldP spid="148484" grpId="0" bldLvl="0" animBg="1"/>
      <p:bldP spid="2" grpId="0" bldLvl="0" animBg="1"/>
      <p:bldP spid="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Text Box 2"/>
          <p:cNvSpPr txBox="1">
            <a:spLocks noChangeArrowheads="1"/>
          </p:cNvSpPr>
          <p:nvPr/>
        </p:nvSpPr>
        <p:spPr bwMode="auto">
          <a:xfrm>
            <a:off x="417830" y="784860"/>
            <a:ext cx="10927715" cy="4590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450850" indent="-4508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confuse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的适当形式填空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1) Some of the questions he asked were very ____________.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2) In _____________ I lost my bag and wasn’t able to find it.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3) I’m totally __________. Could you explain that again?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4) It’s easy to ____________ them because they’re so alike.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5)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他碰到令人困惑的的问题时脸上会露出困惑的表情。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There was a _________ look on his face when he met with __________ problems. 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1124" name="Rectangle 4"/>
          <p:cNvSpPr>
            <a:spLocks noChangeArrowheads="1"/>
          </p:cNvSpPr>
          <p:nvPr/>
        </p:nvSpPr>
        <p:spPr bwMode="auto">
          <a:xfrm>
            <a:off x="8349748" y="1262495"/>
            <a:ext cx="197361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confusing </a:t>
            </a:r>
          </a:p>
        </p:txBody>
      </p:sp>
      <p:sp>
        <p:nvSpPr>
          <p:cNvPr id="261125" name="Rectangle 5"/>
          <p:cNvSpPr>
            <a:spLocks noChangeArrowheads="1"/>
          </p:cNvSpPr>
          <p:nvPr/>
        </p:nvSpPr>
        <p:spPr bwMode="auto">
          <a:xfrm>
            <a:off x="1777925" y="1835328"/>
            <a:ext cx="197361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 </a:t>
            </a:r>
          </a:p>
        </p:txBody>
      </p:sp>
      <p:sp>
        <p:nvSpPr>
          <p:cNvPr id="261126" name="Rectangle 6"/>
          <p:cNvSpPr>
            <a:spLocks noChangeArrowheads="1"/>
          </p:cNvSpPr>
          <p:nvPr/>
        </p:nvSpPr>
        <p:spPr bwMode="auto">
          <a:xfrm>
            <a:off x="3031772" y="2395385"/>
            <a:ext cx="18373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confused </a:t>
            </a:r>
          </a:p>
        </p:txBody>
      </p:sp>
      <p:sp>
        <p:nvSpPr>
          <p:cNvPr id="261127" name="Rectangle 7"/>
          <p:cNvSpPr>
            <a:spLocks noChangeArrowheads="1"/>
          </p:cNvSpPr>
          <p:nvPr/>
        </p:nvSpPr>
        <p:spPr bwMode="auto">
          <a:xfrm>
            <a:off x="3349576" y="2955442"/>
            <a:ext cx="16097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 </a:t>
            </a:r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3139391" y="3980302"/>
            <a:ext cx="181991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confused </a:t>
            </a: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1075641" y="4493382"/>
            <a:ext cx="19558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confusing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4" grpId="0" bldLvl="0" animBg="1"/>
      <p:bldP spid="261125" grpId="0" bldLvl="0" animBg="1"/>
      <p:bldP spid="261126" grpId="0" bldLvl="0" animBg="1"/>
      <p:bldP spid="261127" grpId="0" bldLvl="0" animBg="1"/>
      <p:bldP spid="2" grpId="0" bldLvl="0" animBg="1"/>
      <p:bldP spid="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40030" y="184150"/>
            <a:ext cx="1171130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accomplish v.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achieve or complete successfully </a:t>
            </a:r>
            <a:r>
              <a:rPr lang="zh-CN" altLang="en-US" sz="3200" b="1" dirty="0">
                <a:latin typeface="Times New Roman Bold Italic" panose="02020603050405020304" charset="0"/>
                <a:cs typeface="Times New Roman Bold Italic" panose="02020603050405020304" charset="0"/>
              </a:rPr>
              <a:t>完成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(achieve)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we'd all work together, I think we could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accomplish our goal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rather difficult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 been successfully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accomplished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accomplishment cn./un.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成就，成绩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novelist, that's quite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accomplishment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any standards, the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accomplishments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past year are extraordinary.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不管以哪种标准来衡量，过去一年都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成果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斐然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function is vital to the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accomplishment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mission.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该机构的使命，他的作用至关重要。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240030" y="670560"/>
            <a:ext cx="11493500" cy="5507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580" indent="-44958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14808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61290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021205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53873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9959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4531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9103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3675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have I seen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greater, or more beautiful, or a calmer or more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noble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 than you.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本句为倒装句，为了表示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强调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把否定词提前，助动词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移至主语前，实现部分倒装。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部分倒装其他情况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介词短语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状语从句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副词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，置于句首时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Only yesterday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 I know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had happened to him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when he steps towards the table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I remember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his face.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240030" y="670560"/>
            <a:ext cx="11493500" cy="5507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580" indent="-44958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14808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61290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021205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53873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9959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4531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9103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3675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否定词或表示否定意义的短语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，置于句首时，如：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seldom, hardly, never, little, at no time, on no condition, by no means, in no way, under no circumstance, on no account...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no means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this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 be satisfactory.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Seldom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 I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 such an interesting book.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so/such...that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结构中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fast did he run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none of us could catch up with him.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240030" y="670560"/>
            <a:ext cx="11493500" cy="5507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580" indent="-44958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14808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61290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021205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53873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9959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4531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9103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3675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have I seen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greater, or more beautiful, or a calmer or more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noble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 than you.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noble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having fine personal qualities that people admire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崇高的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noble leader/cause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伟大的领袖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高尚的事业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noble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. very impressive in size or quality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宏伟的，壮丽的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noble building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雄伟的大楼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noble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belonging to a family of high social rank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贵族的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noble family 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贵族家庭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32204" y="420925"/>
            <a:ext cx="11260922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11. “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Clear up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head,” he said in a voice he could hardly ever hear. “Clear up.”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2564" y="1695120"/>
            <a:ext cx="10910562" cy="333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clear up 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（头脑）清醒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e.g.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It is difficult for me to clear up in the morning without a cup of coffee.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clear sth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↔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up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 make sth clean and neat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使整洁，清理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把杂乱的东西整理好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54650" y="4272915"/>
            <a:ext cx="317373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clear up the mess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7252335" y="3846195"/>
            <a:ext cx="2259330" cy="2011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揭开疑团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解决困难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消除误会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029970" y="3828415"/>
            <a:ext cx="339915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clear up a mystery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9970" y="4510405"/>
            <a:ext cx="358076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clear up a difficulty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29970" y="5145405"/>
            <a:ext cx="513969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clear up a misunderstanding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029970" y="922655"/>
            <a:ext cx="9941560" cy="27971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clear up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= become fine and bright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转晴</a:t>
            </a: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I said I would fix the roof when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the weather clears up.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			 </a:t>
            </a:r>
          </a:p>
          <a:p>
            <a:pPr marL="914400" lvl="2" indent="457200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= to solve or explain 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解决，解释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53744" y="562530"/>
            <a:ext cx="11260922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12. He had been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on the point of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feeling himself go each time.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每次他都感觉自己快要垮了。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04104" y="1855775"/>
            <a:ext cx="10910562" cy="4420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be on the point of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: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going to do something very soon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正要做某事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= be about to do sth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  When he fell off the tree, he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on/at the point of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tears.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当他从树上摔下来的时候，他几乎要哭了。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We __________________________________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（差点要放弃这时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 a great idea sprang up.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53870" y="4860290"/>
            <a:ext cx="638111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were on the point of giving up when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3592" y="225275"/>
            <a:ext cx="11304614" cy="550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one/some/this point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在某个阶段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时刻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We’re all going to die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some point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beside / off the point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不切正题，无关紧要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point              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简明恰当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to the point      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切入正题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Mark received low marks for his essay, as much of it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 the point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0850" indent="-450850"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的文章得了低分，因为文章的大部分内容都不切正题。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6822" y="1360020"/>
            <a:ext cx="11304614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a point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提出观点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one’s point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赞同某人的观点</a:t>
            </a: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sth out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to/towards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at ...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455795" y="4010025"/>
            <a:ext cx="180975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指出……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455795" y="4551045"/>
            <a:ext cx="99695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指向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455795" y="5099050"/>
            <a:ext cx="99695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5" grpId="0"/>
      <p:bldP spid="5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-635" y="0"/>
            <a:ext cx="1249743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The fish righted himself and swam off again slowly with the great tail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weaving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air.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weave v.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mover along by changing direction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迂回行进，穿行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(weaved)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road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weaves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 range of hills.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这条路在群山中绕来绕去。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had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weave his way through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crowds.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他不得不在人群中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穿梭而行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weave v.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编织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(weave~wove~woven)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The baskets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woven from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strips of willow.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strips of willow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woven into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baskets.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weave a narrative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编故事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97485" y="148590"/>
            <a:ext cx="11994515" cy="62414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I’ll try it again, the old man promised, although his hands were mushy now and he could only see well in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cn.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sudden bright light 闪光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flash of lightning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一道闪电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flashes of light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阵阵闪光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很快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very quickly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wait a moment, I’ll be back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in/like a flash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as a flash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was at his side.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flash of anger/inspiration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怒上心头、灵感闪现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48285" y="230505"/>
            <a:ext cx="11819890" cy="6196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vi.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move quickly, to show, to appear for a short time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飞速运动；(使) 闪现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look of terror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flashed across his face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掠过惊恐的神色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 here the film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flashes back to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Gump’s first meeting with Jenny. 闪回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One month has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flashed past/by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飞逝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vi.</a:t>
            </a:r>
            <a:r>
              <a:rPr lang="en-US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to come into your mind suddenly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突然想到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terrible thought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flashed through/into my mind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一个可怕的想法闪过我的脑海。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48285" y="230505"/>
            <a:ext cx="11819890" cy="6196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 on sb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使……猛然醒悟 = suddenly realize it</a:t>
            </a:r>
          </a:p>
          <a:p>
            <a:pPr>
              <a:lnSpc>
                <a:spcPct val="120000"/>
              </a:lnSpc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flashed on me that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he was the man I’d seen in the hotel.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 It flashed through one’s mind that …</a:t>
            </a:r>
          </a:p>
          <a:p>
            <a:pPr>
              <a:lnSpc>
                <a:spcPct val="120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 on sth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猛然想到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某事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flashed on an argument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 had with my sister when we were kids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我突然回想起小时候和姐姐的一次争吵。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3017</Words>
  <Application>Microsoft Macintosh PowerPoint</Application>
  <PresentationFormat>Widescreen</PresentationFormat>
  <Paragraphs>312</Paragraphs>
  <Slides>34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Times New Roman Bold</vt:lpstr>
      <vt:lpstr>Times New Roman Bold Italic</vt:lpstr>
      <vt:lpstr>Arial</vt:lpstr>
      <vt:lpstr>Calibri</vt:lpstr>
      <vt:lpstr>Calibri Light</vt:lpstr>
      <vt:lpstr>Times New Roman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 </dc:creator>
  <cp:lastModifiedBy>Qing NI</cp:lastModifiedBy>
  <cp:revision>141</cp:revision>
  <dcterms:created xsi:type="dcterms:W3CDTF">2024-01-17T02:12:27Z</dcterms:created>
  <dcterms:modified xsi:type="dcterms:W3CDTF">2026-07-22T13:17:45Z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F4A7CF8F0FD37665BA51AD6358818D3D</vt:lpwstr>
  </property>
  <property fmtid="{D5CDD505-2E9C-101B-9397-08002B2CF9AE}" pid="3" name="KSOProductBuildVer">
    <vt:lpwstr>1033-6.5.0.8619</vt:lpwstr>
  </property>
</Properties>
</file>