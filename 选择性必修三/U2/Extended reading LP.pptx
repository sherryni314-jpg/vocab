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0"/>
  </p:handoutMasterIdLst>
  <p:sldIdLst>
    <p:sldId id="256" r:id="rId3"/>
    <p:sldId id="314" r:id="rId4"/>
    <p:sldId id="339" r:id="rId6"/>
    <p:sldId id="341" r:id="rId7"/>
    <p:sldId id="342" r:id="rId8"/>
    <p:sldId id="343" r:id="rId9"/>
    <p:sldId id="344" r:id="rId10"/>
    <p:sldId id="276" r:id="rId11"/>
    <p:sldId id="280" r:id="rId12"/>
    <p:sldId id="345" r:id="rId13"/>
    <p:sldId id="281" r:id="rId14"/>
    <p:sldId id="346" r:id="rId15"/>
    <p:sldId id="347" r:id="rId16"/>
    <p:sldId id="287" r:id="rId17"/>
    <p:sldId id="348" r:id="rId18"/>
    <p:sldId id="290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90" y="2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224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B6F646-A015-4C17-AF64-0B31D5D4CC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A480D-101C-43E8-9DE4-9C3DB1A1BE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A42DC7-0F9A-432E-84BC-23FEDE0EFB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A06B5-CB30-4589-B00D-B15D840F213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脾气好的人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I couldn't hide my eagerness to get back home.</a:t>
            </a:r>
            <a:endParaRPr lang="en-US" altLang="en-US"/>
          </a:p>
          <a:p>
            <a:r>
              <a:rPr lang="zh-CN" altLang="en-US"/>
              <a:t>我无法掩饰想回家的渴望。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你能理解这篇文章</a:t>
            </a:r>
            <a:r>
              <a:rPr lang="zh-CN" altLang="en-US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吗？</a:t>
            </a:r>
            <a:endParaRPr lang="zh-CN" altLang="en-US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r>
              <a:rPr lang="zh-CN" altLang="en-US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飞行员要接受严格的体检，这是很有道理的。</a:t>
            </a:r>
            <a:endParaRPr lang="zh-CN" altLang="en-US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r>
              <a:rPr lang="zh-CN" altLang="en-US"/>
              <a:t>谁会给我送这么多花呢？真不可思议。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你能理解这篇文章</a:t>
            </a:r>
            <a:r>
              <a:rPr lang="zh-CN" altLang="en-US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吗？</a:t>
            </a:r>
            <a:endParaRPr lang="zh-CN" altLang="en-US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r>
              <a:rPr lang="zh-CN" altLang="en-US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飞行员要接受严格的体检，这是很有道理的。</a:t>
            </a:r>
            <a:endParaRPr lang="zh-CN" altLang="en-US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r>
              <a:rPr lang="zh-CN" altLang="en-US"/>
              <a:t>谁会给我送这么多花呢？真不可思议。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动机</a:t>
            </a:r>
            <a:endParaRPr lang="zh-CN" altLang="en-US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endParaRPr lang="zh-CN" altLang="en-US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各族裔的</a:t>
            </a:r>
            <a:r>
              <a:rPr lang="zh-CN" altLang="en-US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儿童</a:t>
            </a:r>
            <a:endParaRPr lang="zh-CN" altLang="en-US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频繁出现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风靡一时</a:t>
            </a:r>
            <a:r>
              <a:rPr lang="en-US" altLang="zh-CN"/>
              <a:t> become a hit</a:t>
            </a:r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风靡一时</a:t>
            </a:r>
            <a:r>
              <a:rPr lang="en-US" altLang="zh-CN"/>
              <a:t> become a hit</a:t>
            </a:r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做了一个粗略的计算</a:t>
            </a:r>
            <a:r>
              <a:rPr lang="en-US" altLang="en-US"/>
              <a:t>at a rough estimate</a:t>
            </a:r>
            <a:endParaRPr lang="en-US" altLang="en-US"/>
          </a:p>
          <a:p>
            <a:r>
              <a:rPr lang="zh-CN" altLang="en-US"/>
              <a:t>甘冒风险</a:t>
            </a:r>
            <a:r>
              <a:rPr lang="en-US" altLang="zh-CN"/>
              <a:t> = a</a:t>
            </a:r>
            <a:r>
              <a:rPr lang="en-US" altLang="en-US"/>
              <a:t> risk that you decide is worth taking even though you know it might have bad results).</a:t>
            </a:r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足以支付</a:t>
            </a:r>
            <a:endParaRPr lang="zh-CN" altLang="en-US"/>
          </a:p>
          <a:p>
            <a:r>
              <a:rPr lang="zh-CN" altLang="en-US"/>
              <a:t>占</a:t>
            </a:r>
            <a:r>
              <a:rPr lang="zh-CN" altLang="en-US"/>
              <a:t>面积</a:t>
            </a:r>
            <a:endParaRPr lang="zh-CN" altLang="en-US"/>
          </a:p>
          <a:p>
            <a:r>
              <a:rPr lang="zh-CN" altLang="en-US"/>
              <a:t>代替某人工作</a:t>
            </a:r>
            <a:r>
              <a:rPr lang="en-US" altLang="zh-CN"/>
              <a:t> will you cover for me if anyone asks where i am?</a:t>
            </a:r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机械装置</a:t>
            </a:r>
            <a:endParaRPr lang="zh-CN" altLang="en-US"/>
          </a:p>
          <a:p>
            <a:r>
              <a:rPr lang="zh-CN" altLang="en-US"/>
              <a:t>呆板的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seek assistance</a:t>
            </a:r>
            <a:endParaRPr lang="en-US"/>
          </a:p>
          <a:p>
            <a:r>
              <a:rPr lang="en-US"/>
              <a:t>turn to sb for assistance</a:t>
            </a:r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伞给人</a:t>
            </a:r>
            <a:r>
              <a:rPr lang="zh-CN" altLang="en-US"/>
              <a:t>挡雨</a:t>
            </a:r>
            <a:endParaRPr lang="zh-CN" altLang="en-US"/>
          </a:p>
          <a:p>
            <a:r>
              <a:rPr lang="zh-CN" altLang="en-US"/>
              <a:t>避雨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4F5-78BA-4A41-A732-E739FB5F18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2CAD-AC6E-4D17-892F-C6016082CE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4F5-78BA-4A41-A732-E739FB5F18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2CAD-AC6E-4D17-892F-C6016082CE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4F5-78BA-4A41-A732-E739FB5F18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2CAD-AC6E-4D17-892F-C6016082CE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4F5-78BA-4A41-A732-E739FB5F18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2CAD-AC6E-4D17-892F-C6016082CE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4F5-78BA-4A41-A732-E739FB5F18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2CAD-AC6E-4D17-892F-C6016082CE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4F5-78BA-4A41-A732-E739FB5F18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2CAD-AC6E-4D17-892F-C6016082CE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4F5-78BA-4A41-A732-E739FB5F18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2CAD-AC6E-4D17-892F-C6016082CE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4F5-78BA-4A41-A732-E739FB5F18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2CAD-AC6E-4D17-892F-C6016082CE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4F5-78BA-4A41-A732-E739FB5F18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2CAD-AC6E-4D17-892F-C6016082CE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4F5-78BA-4A41-A732-E739FB5F18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2CAD-AC6E-4D17-892F-C6016082CE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34F5-78BA-4A41-A732-E739FB5F18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D2CAD-AC6E-4D17-892F-C6016082CE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734F5-78BA-4A41-A732-E739FB5F18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D2CAD-AC6E-4D17-892F-C6016082CEA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94665" y="202565"/>
            <a:ext cx="11167110" cy="45231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他天生不会刻薄。</a:t>
            </a:r>
            <a:endParaRPr lang="zh-CN" altLang="en-US"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It's ____________________ unkind.</a:t>
            </a:r>
            <a:endParaRPr lang="en-US" altLang="zh-CN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就顺其自然吧。</a:t>
            </a:r>
            <a:endParaRPr lang="en-US" altLang="zh-CN" sz="3200" b="1">
              <a:solidFill>
                <a:srgbClr val="000000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Just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let nature take its course</a:t>
            </a:r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 </a:t>
            </a:r>
            <a:endParaRPr lang="en-US" altLang="zh-CN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She is very sensitive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by nature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. </a:t>
            </a:r>
            <a:endParaRPr lang="en-US" altLang="zh-CN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她生性很敏感。</a:t>
            </a:r>
            <a:endParaRPr lang="zh-CN" altLang="en-US"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good-natured man</a:t>
            </a:r>
            <a:endParaRPr lang="zh-CN" altLang="en-US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My work is very specialized</a:t>
            </a:r>
            <a:r>
              <a:rPr lang="en-US" altLang="zh-CN" sz="3200" b="1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nature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r>
              <a:rPr lang="en-US" altLang="zh-CN" sz="3200" b="1">
                <a:latin typeface="Times New Roman Regular" panose="02020503050405090304" charset="0"/>
                <a:cs typeface="Times New Roman Regular" panose="02020503050405090304" charset="0"/>
              </a:rPr>
              <a:t> </a:t>
            </a:r>
            <a:endParaRPr lang="en-US" altLang="zh-CN"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本质</a:t>
            </a:r>
            <a:endParaRPr lang="zh-CN" altLang="en-US" sz="3200" b="1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278890" y="612140"/>
            <a:ext cx="441515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not in his nature to be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94665" y="202565"/>
            <a:ext cx="11167110" cy="550799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我渴望再次见到你。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I’m _____________________.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我渴望有个弟弟。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I __________ a brother.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= crave, yearn 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for sth/to do sth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= desire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sth/to do sth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endParaRPr lang="en-US" altLang="en-US" sz="3200" b="1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be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hungry</a:t>
            </a: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for…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be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thirsty </a:t>
            </a: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for…/ a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thirst </a:t>
            </a: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for…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be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anxious </a:t>
            </a: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to do…/ for…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be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desperate </a:t>
            </a: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to do…/for…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be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dying </a:t>
            </a: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to do…/for…</a:t>
            </a: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be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eager 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to do…/for…/ </a:t>
            </a: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012690" y="51435"/>
            <a:ext cx="441515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longing to see you again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184015" y="574040"/>
            <a:ext cx="441515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longed for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012690" y="155257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= a desire (n.)</a:t>
            </a: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for sth/to do sth</a:t>
            </a:r>
            <a:endParaRPr lang="en-US" altLang="en-US" sz="3200" b="1" dirty="0" smtClean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697095" y="497840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eagerness </a:t>
            </a: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for…</a:t>
            </a:r>
            <a:endParaRPr lang="en-US" altLang="en-US" sz="3200" b="1" dirty="0" smtClean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2" grpId="0"/>
      <p:bldP spid="2" grpId="1"/>
      <p:bldP spid="7" grpId="0"/>
      <p:bldP spid="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64160" y="202565"/>
            <a:ext cx="11787505" cy="566229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00000"/>
              </a:lnSpc>
            </a:pPr>
            <a:r>
              <a:rPr lang="zh-CN" altLang="en-US" sz="3200" b="1" u="sng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无论如何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这个问题都不能说已经解决了。</a:t>
            </a: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no sense </a:t>
            </a:r>
            <a:r>
              <a:rPr lang="en-US" altLang="en-US" sz="3200" b="1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can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the issue be said to be resolved. </a:t>
            </a:r>
            <a:endParaRPr lang="en-US" altLang="en-US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3200" b="1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= by no means/under no circumstances/On no account</a:t>
            </a:r>
            <a:endParaRPr lang="en-US" altLang="en-US" sz="3200" b="1">
              <a:solidFill>
                <a:srgbClr val="0000FF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做某事没有意义</a:t>
            </a: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He waited for Dora to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come to her senses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and return.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冷静下来</a:t>
            </a: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a sense / in some senses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00000"/>
              </a:lnSpc>
            </a:pPr>
            <a:endParaRPr lang="zh-CN" altLang="en-US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It makes sense to buy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the most up-to-date version.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00000"/>
              </a:lnSpc>
            </a:pP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是明智的</a:t>
            </a:r>
            <a:r>
              <a:rPr lang="en-US" altLang="zh-CN" sz="3200" b="1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 It is wise/sensible/desirable to do..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Can you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make (any) sense of 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article?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There are strict medicals for pilots, which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makes good sense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Who would send me all these flowers?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It makes no sense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454400" y="159702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There's no sense in doing sth.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77520" y="202565"/>
            <a:ext cx="11167110" cy="353822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moral tale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一则寓言</a:t>
            </a: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folk tale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一则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民间故事</a:t>
            </a: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tell the tale of adventure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讲述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探险故事</a:t>
            </a: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 each space mission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comes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greater insight.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科技进步带来的是负面的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影响。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 technological advances come nagetive impacts.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77520" y="202565"/>
            <a:ext cx="11167110" cy="64928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这个计划旨在促使员工更加卓有成效地工作。</a:t>
            </a: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plan is designed to _______________________________________.</a:t>
            </a: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学习积极性很高的学生</a:t>
            </a: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a highly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motivated 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student</a:t>
            </a:r>
            <a:endParaRPr lang="en-US" altLang="zh-CN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What is the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motivation 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behind this sudden change?</a:t>
            </a:r>
            <a:endParaRPr lang="en-US" altLang="zh-CN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motivation for sth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motive for sth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Maintaining interest and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motivation 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matters a lot for a qualified employee. </a:t>
            </a:r>
            <a:endParaRPr lang="en-US" altLang="zh-CN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motivational factor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促进因素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77520" y="1089025"/>
            <a:ext cx="836866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motivate employees to work more efficiently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530080" y="260159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1)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动机</a:t>
            </a:r>
            <a:endParaRPr lang="zh-CN" altLang="en-US" sz="3200" b="1" dirty="0" smtClean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075430" y="449326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2)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积极性</a:t>
            </a: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5" grpId="1"/>
      <p:bldP spid="4" grpId="1"/>
      <p:bldP spid="3" grpId="0"/>
      <p:bldP spid="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202565"/>
            <a:ext cx="12004040" cy="60007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country of origin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原产国</a:t>
            </a: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children of various ethnic origins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出身</a:t>
            </a:r>
            <a:endParaRPr lang="zh-CN" altLang="en-US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Their conduct disorder is basically psychological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origin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endParaRPr lang="en-US" altLang="zh-CN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在起源上</a:t>
            </a: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这一特殊风俗起源于威尔士。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This particular custom _______________ (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起源于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)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Wales.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This particular custom is thought ________________ in Wales.</a:t>
            </a:r>
            <a:endParaRPr lang="en-US" altLang="en-US" sz="3200" b="1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It is one of the most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original 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works of imagination in the language.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simpliest version is as good as the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original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originally</a:t>
            </a:r>
            <a:endParaRPr lang="en-US" altLang="en-US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originality</a:t>
            </a:r>
            <a:endParaRPr lang="en-US" altLang="en-US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171315" y="2559050"/>
            <a:ext cx="330390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has its origins in</a:t>
            </a:r>
            <a:endParaRPr lang="en-US" altLang="en-US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171315" y="3031490"/>
            <a:ext cx="436308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originated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in/from</a:t>
            </a:r>
            <a:endParaRPr lang="en-US" altLang="en-US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019165" y="3530600"/>
            <a:ext cx="385381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to have originated</a:t>
            </a:r>
            <a:endParaRPr lang="en-US" altLang="en-US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2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3" grpId="0"/>
      <p:bldP spid="3" grpId="1"/>
      <p:bldP spid="7" grpId="0"/>
      <p:bldP spid="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207010" y="293370"/>
            <a:ext cx="11777980" cy="40309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Businesses come and go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with alarming frequency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.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频率</a:t>
            </a: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a road with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high/low frequency of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 accidents 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某事物发生的频率</a:t>
            </a: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frequent adj./v.</a:t>
            </a:r>
            <a:endParaRPr lang="en-US" altLang="zh-CN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常客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a frequent visitor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We met in a local bar much ___________ by students.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frequent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ly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en-US" sz="3200" b="1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(often)</a:t>
            </a:r>
            <a:endParaRPr lang="en-US" altLang="en-US" sz="3200" b="1" i="1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r>
              <a:rPr lang="zh-CN" altLang="en-US" sz="3200" b="1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最经常被问及的问题</a:t>
            </a:r>
            <a:endParaRPr lang="zh-CN" altLang="en-US" sz="3200" b="1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125085" y="2164715"/>
            <a:ext cx="283273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frequented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252085" y="2762885"/>
            <a:ext cx="283273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常去，光顾</a:t>
            </a:r>
            <a:endParaRPr lang="zh-CN" altLang="en-US" sz="3200" b="1" dirty="0" smtClean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192270" y="3642360"/>
            <a:ext cx="75164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most frequently asked questions</a:t>
            </a:r>
            <a:endParaRPr lang="en-US" altLang="en-US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7" grpId="0"/>
      <p:bldP spid="7" grpId="1"/>
      <p:bldP spid="9" grpId="0"/>
      <p:bldP spid="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7868" y="206793"/>
            <a:ext cx="10903352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idea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took off like a rocket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v.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en-US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shoot up, increase significantly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猛增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rocketing prices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飞涨的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价格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一举成名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band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rocketed to stardom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with their first single.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602865" y="248983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shoot to fame</a:t>
            </a:r>
            <a:endParaRPr lang="en-US" sz="3200" b="1" i="1" dirty="0" smtClean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7868" y="206793"/>
            <a:ext cx="10903352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investment in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education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encourage/attract foreign/overseas investment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project has demanded considerable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investment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 time and effort.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该项目已让我们投入了相当多的时间和精力。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commitment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bought the house as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investment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投资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物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invest (his savings) in sth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investor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5600" y="237490"/>
            <a:ext cx="1157414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calculate: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计算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work out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You'll need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calculate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how much time the assignment will take.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预测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estimate/guess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 a rough calculation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By my calculation(s)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we made a profit of £20,000 last year.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 calculated risks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but never gamble.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Her lastest play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 calculated to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shock.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打算做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calculator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计算器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7800" y="0"/>
            <a:ext cx="11835765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media/press coverage [U] 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报道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exposure, publicity</a:t>
            </a:r>
            <a:endParaRPr 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magazines with extensive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coverage of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diet and health topics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包含大量饮食与健康话题的杂志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service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has a coverage of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90% of the UK population.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覆盖范围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Medicaid health coverage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for low-income families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对低收入家庭的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3)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医疗保险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7800" y="0"/>
            <a:ext cx="11835765" cy="6492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cover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your expenses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reserve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covers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area of 1,140 square kilometers.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By sunset we had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covered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thirty miles.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survey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covers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all aspects of the business.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I’m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covering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 Jane while she’s on leave.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Cover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 while I move forward.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Are you fully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covered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 fire and theft?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uncover the truth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car mechanic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mechanics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机械学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balance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mechanism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机制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mechanical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device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机械的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spoke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mechanically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as if thinking of something else.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7240" y="415897"/>
            <a:ext cx="11562262" cy="4961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shop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assistant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come to one’s assistance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the assistance of sb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offer practical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assistance with sth/in doing sth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assist sb with sth/in doing sth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358775" indent="-35877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assist sb to do sth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activities that will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assist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decision-making process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促进决策进程的活动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7240" y="-28"/>
            <a:ext cx="11562262" cy="658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58775" fontAlgn="auto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shelter [U] </a:t>
            </a:r>
            <a:r>
              <a:rPr lang="en-US" altLang="en-US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protection from sth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take/seek shelter from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storm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躲避暴风雨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under the shelter of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在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庇护下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358775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提供永久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[U]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居所，住处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358775" fontAlgn="auto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shelter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 homeless women [C]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收容所，庇护所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v.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358775" fontAlgn="auto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sheltered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boy for 7 days.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358775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couple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sheltered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their daughter from any hurt.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358775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help the poor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shelter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homeless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358775" fontAlgn="auto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Umbrellas _______ people ______ the rain.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使某人免受某人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某物所害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sheltered (vi.)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from the rain in a doorway.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躲避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319020" y="480250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shelter                from 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872990" y="153225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provide permanent shelter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096000" y="3192145"/>
            <a:ext cx="6096000" cy="632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-358775"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收留</a:t>
            </a:r>
            <a:endParaRPr lang="zh-CN" altLang="en-US" sz="3200" b="1" dirty="0" smtClean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9514205" y="3708400"/>
            <a:ext cx="6096000" cy="632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-358775" fontAlgn="auto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保护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2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3458" y="1365813"/>
            <a:ext cx="1097280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The first thing he did was to find shelter ________ the freezing wind and snow.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I wrapped myself heavily and ____________ (shelter) well from the freezing and blowing weather.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有很好的庇护而不受寒冷的天气侵扰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Thick bush was growing there, __________ (shelter) thousands of insects and lizards.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61094" y="1956121"/>
            <a:ext cx="1042850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from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18146" y="3117011"/>
            <a:ext cx="262064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was sheltered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36178" y="4890013"/>
            <a:ext cx="1917513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sheltering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4620</Words>
  <Application>WPS Writer</Application>
  <PresentationFormat>宽屏</PresentationFormat>
  <Paragraphs>198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宋体</vt:lpstr>
      <vt:lpstr>Wingdings</vt:lpstr>
      <vt:lpstr>Times New Roman</vt:lpstr>
      <vt:lpstr>Times New Roman Regular</vt:lpstr>
      <vt:lpstr>Times New Roman Bold</vt:lpstr>
      <vt:lpstr>Times New Roman Bold Italic</vt:lpstr>
      <vt:lpstr>微软雅黑</vt:lpstr>
      <vt:lpstr>汉仪旗黑</vt:lpstr>
      <vt:lpstr>宋体</vt:lpstr>
      <vt:lpstr>Arial Unicode MS</vt:lpstr>
      <vt:lpstr>汉仪书宋二KW</vt:lpstr>
      <vt:lpstr>Calibri Light</vt:lpstr>
      <vt:lpstr>Helvetica Neue</vt:lpstr>
      <vt:lpstr>Calibri</vt:lpstr>
      <vt:lpstr>等线</vt:lpstr>
      <vt:lpstr>汉仪中等线KW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Elsssie</cp:lastModifiedBy>
  <cp:revision>59</cp:revision>
  <dcterms:created xsi:type="dcterms:W3CDTF">2025-03-13T02:36:16Z</dcterms:created>
  <dcterms:modified xsi:type="dcterms:W3CDTF">2025-03-13T02:36:16Z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4A81B929FA41E285CE08C867536AB534_42</vt:lpwstr>
  </property>
  <property fmtid="{D5CDD505-2E9C-101B-9397-08002B2CF9AE}" pid="3" name="KSOProductBuildVer">
    <vt:lpwstr>1033-7.2.2.8955</vt:lpwstr>
  </property>
</Properties>
</file>