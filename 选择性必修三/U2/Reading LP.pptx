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1" r:id="rId3"/>
    <p:sldId id="440" r:id="rId4"/>
    <p:sldId id="548" r:id="rId6"/>
    <p:sldId id="550" r:id="rId7"/>
    <p:sldId id="441" r:id="rId8"/>
    <p:sldId id="442" r:id="rId9"/>
    <p:sldId id="549" r:id="rId10"/>
    <p:sldId id="551" r:id="rId11"/>
    <p:sldId id="436" r:id="rId12"/>
    <p:sldId id="499" r:id="rId13"/>
    <p:sldId id="552" r:id="rId14"/>
    <p:sldId id="428" r:id="rId15"/>
    <p:sldId id="553" r:id="rId16"/>
    <p:sldId id="554" r:id="rId17"/>
    <p:sldId id="423" r:id="rId18"/>
    <p:sldId id="424" r:id="rId19"/>
    <p:sldId id="555" r:id="rId20"/>
    <p:sldId id="505" r:id="rId21"/>
    <p:sldId id="507" r:id="rId22"/>
    <p:sldId id="508" r:id="rId23"/>
    <p:sldId id="327" r:id="rId24"/>
    <p:sldId id="413" r:id="rId25"/>
    <p:sldId id="410" r:id="rId26"/>
    <p:sldId id="582" r:id="rId27"/>
    <p:sldId id="583" r:id="rId28"/>
    <p:sldId id="584" r:id="rId29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3" userDrawn="1">
          <p15:clr>
            <a:srgbClr val="A4A3A4"/>
          </p15:clr>
        </p15:guide>
        <p15:guide id="2" pos="37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FFFFF"/>
    <a:srgbClr val="6EE2CE"/>
    <a:srgbClr val="D9D9D9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96" y="516"/>
      </p:cViewPr>
      <p:guideLst>
        <p:guide orient="horz" pos="2213"/>
        <p:guide pos="378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3" Type="http://schemas.openxmlformats.org/officeDocument/2006/relationships/tags" Target="tags/tag25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Houses in the village are selling for astronomical prices.</a:t>
            </a:r>
            <a:endParaRPr lang="en-US" altLang="en-US"/>
          </a:p>
          <a:p>
            <a:r>
              <a:rPr lang="en-US" altLang="en-US"/>
              <a:t>an astro’nomical increase</a:t>
            </a:r>
            <a:endParaRPr lang="en-US" altLang="en-US"/>
          </a:p>
          <a:p>
            <a:r>
              <a:rPr lang="zh-CN" altLang="en-US"/>
              <a:t>去森林探险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情况的</a:t>
            </a:r>
            <a:r>
              <a:rPr lang="zh-CN" altLang="en-US"/>
              <a:t>严重性</a:t>
            </a:r>
            <a:endParaRPr lang="zh-CN" altLang="en-US"/>
          </a:p>
          <a:p>
            <a:r>
              <a:rPr lang="zh-CN" altLang="en-US"/>
              <a:t>语气</a:t>
            </a:r>
            <a:r>
              <a:rPr lang="zh-CN" altLang="en-US"/>
              <a:t>严肃</a:t>
            </a:r>
            <a:endParaRPr lang="zh-CN" altLang="en-US"/>
          </a:p>
          <a:p>
            <a:r>
              <a:rPr lang="zh-CN" altLang="en-US"/>
              <a:t>处于极大的危险中</a:t>
            </a:r>
            <a:endParaRPr lang="zh-CN" altLang="en-US"/>
          </a:p>
          <a:p>
            <a:r>
              <a:rPr lang="zh-CN" altLang="en-US"/>
              <a:t>深切的</a:t>
            </a:r>
            <a:r>
              <a:rPr lang="zh-CN" altLang="en-US"/>
              <a:t>担忧</a:t>
            </a:r>
            <a:endParaRPr lang="zh-CN" altLang="en-US"/>
          </a:p>
          <a:p>
            <a:r>
              <a:rPr lang="zh-CN" altLang="en-US"/>
              <a:t>严肃的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在缺乏……的</a:t>
            </a:r>
            <a:r>
              <a:rPr lang="zh-CN" altLang="en-US"/>
              <a:t>情况下</a:t>
            </a:r>
            <a:endParaRPr lang="zh-CN" altLang="en-US"/>
          </a:p>
          <a:p>
            <a:r>
              <a:rPr lang="zh-CN" altLang="en-US"/>
              <a:t>在某人</a:t>
            </a:r>
            <a:r>
              <a:rPr lang="zh-CN" altLang="en-US"/>
              <a:t>不在的时候</a:t>
            </a:r>
            <a:endParaRPr lang="zh-CN" altLang="en-US"/>
          </a:p>
          <a:p>
            <a:r>
              <a:rPr lang="zh-CN" altLang="en-US"/>
              <a:t>走神</a:t>
            </a:r>
            <a:r>
              <a:rPr lang="en-US" altLang="zh-CN"/>
              <a:t> mind starts to wander / a wandering mind /a loss of concentration/lose focus, not focused, pay close attention, inattentive/intently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float: move slowly on water or in the air / </a:t>
            </a:r>
            <a:r>
              <a:rPr lang="en-US" altLang="en-US"/>
              <a:t>clouds floated across the sky.</a:t>
            </a:r>
            <a:endParaRPr lang="en-US" altLang="en-US"/>
          </a:p>
          <a:p>
            <a:r>
              <a:rPr lang="zh-CN" altLang="en-US"/>
              <a:t>从窗口</a:t>
            </a:r>
            <a:r>
              <a:rPr lang="zh-CN" altLang="en-US"/>
              <a:t>飘出</a:t>
            </a:r>
            <a:endParaRPr lang="zh-CN" altLang="en-US"/>
          </a:p>
          <a:p>
            <a:r>
              <a:rPr lang="zh-CN" altLang="en-US"/>
              <a:t>浮现了一个想法</a:t>
            </a:r>
            <a:r>
              <a:rPr lang="en-US" altLang="zh-CN"/>
              <a:t> through my head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竟然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花费时间精力做某事</a:t>
            </a:r>
            <a:r>
              <a:rPr lang="en-US" altLang="zh-CN"/>
              <a:t> </a:t>
            </a:r>
            <a:r>
              <a:rPr lang="en-US" altLang="en-US"/>
              <a:t>often used in negative sentences and Qs.</a:t>
            </a:r>
            <a:endParaRPr lang="en-US" altLang="en-US"/>
          </a:p>
          <a:p>
            <a:r>
              <a:rPr lang="zh-CN" altLang="en-US"/>
              <a:t>我弄不懂你为什么和那伙人</a:t>
            </a:r>
            <a:r>
              <a:rPr lang="zh-CN" altLang="en-US"/>
              <a:t>浪费时间</a:t>
            </a:r>
            <a:endParaRPr lang="zh-CN" altLang="en-US"/>
          </a:p>
          <a:p>
            <a:r>
              <a:rPr lang="en-US" altLang="zh-CN"/>
              <a:t>interrut </a:t>
            </a:r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赴华贸易</a:t>
            </a:r>
            <a:r>
              <a:rPr lang="zh-CN" altLang="en-US"/>
              <a:t>使命</a:t>
            </a:r>
            <a:endParaRPr lang="zh-CN" altLang="en-US"/>
          </a:p>
          <a:p>
            <a:r>
              <a:rPr lang="zh-CN" altLang="en-US"/>
              <a:t>人生使命</a:t>
            </a:r>
            <a:endParaRPr lang="zh-CN" altLang="en-US"/>
          </a:p>
          <a:p>
            <a:r>
              <a:rPr lang="zh-CN" altLang="en-US"/>
              <a:t>他的一言一行都带着强烈的使命感。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shed-shed-shed</a:t>
            </a:r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常用</a:t>
            </a:r>
            <a:r>
              <a:rPr lang="zh-CN" altLang="en-US"/>
              <a:t>复数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indent="0" fontAlgn="auto">
              <a:lnSpc>
                <a:spcPct val="120000"/>
              </a:lnSpc>
              <a:defRPr/>
            </a:pP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长时间接触有害辐射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Daniel </a:t>
            </a:r>
            <a:r>
              <a:rPr lang="zh-CN" altLang="en-US"/>
              <a:t>早年接触赛车并没有激发他的兴趣。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a leader of vision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Hot baths are my favourite luxury.</a:t>
            </a:r>
            <a:endParaRPr lang="en-US" altLang="en-US"/>
          </a:p>
          <a:p>
            <a:r>
              <a:rPr lang="zh-CN" altLang="en-US"/>
              <a:t>泡个热水澡是我的最大乐事。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关乎女性切身利益的消息</a:t>
            </a:r>
            <a:endParaRPr lang="zh-CN" altLang="en-US"/>
          </a:p>
          <a:p>
            <a:r>
              <a:rPr lang="en-US" altLang="zh-CN"/>
              <a:t>vitamin, survive, alive, vivid, revive, vigorous (vigo(u)r) renewed vigor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毫无自制力</a:t>
            </a: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The officers were disciplined for using racist language.</a:t>
            </a:r>
            <a:endParaRPr lang="en-US" altLang="en-US"/>
          </a:p>
          <a:p>
            <a:r>
              <a:rPr lang="en-US" altLang="en-US"/>
              <a:t>discipline your child</a:t>
            </a:r>
            <a:endParaRPr lang="en-US" altLang="en-US"/>
          </a:p>
          <a:p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leisurely + n. </a:t>
            </a:r>
            <a:endParaRPr lang="en-US" altLang="zh-CN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悠闲地</a:t>
            </a:r>
            <a:endParaRPr lang="zh-CN" altLang="en-US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通常这条船配有五名船员。</a:t>
            </a:r>
            <a:endParaRPr lang="zh-CN" altLang="en-US"/>
          </a:p>
          <a:p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impermanent</a:t>
            </a:r>
            <a:endParaRPr lang="en-US" altLang="zh-CN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endParaRPr lang="en-US" altLang="zh-CN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这是一个我们无法解决的难题。</a:t>
            </a:r>
            <a:endParaRPr lang="zh-CN" altLang="en-US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这个题目太难了，我们解决不了它。</a:t>
            </a:r>
            <a:endParaRPr lang="en-US" altLang="zh-CN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sports/gym kit</a:t>
            </a:r>
            <a:endParaRPr lang="en-US" altLang="zh-CN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en-US" altLang="zh-CN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equipment</a:t>
            </a:r>
            <a:endParaRPr lang="en-US" altLang="zh-CN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340360" y="0"/>
            <a:ext cx="11456035" cy="658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would-be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[only before noun] used to describe sb who is hoping to become the type of person mentioned</a:t>
            </a:r>
            <a:r>
              <a:rPr lang="en-US" altLang="en-US" b="1" dirty="0">
                <a:cs typeface="Times New Roman" panose="02020503050405090304" pitchFamily="18" charset="0"/>
              </a:rPr>
              <a:t> (</a:t>
            </a:r>
            <a:r>
              <a:rPr lang="zh-CN" altLang="en-US" b="1" dirty="0">
                <a:cs typeface="Times New Roman" panose="02020503050405090304" pitchFamily="18" charset="0"/>
              </a:rPr>
              <a:t>形容想要成为</a:t>
            </a:r>
            <a:r>
              <a:rPr lang="en-US" altLang="en-US" b="1" dirty="0">
                <a:cs typeface="Times New Roman" panose="02020503050405090304" pitchFamily="18" charset="0"/>
              </a:rPr>
              <a:t>…</a:t>
            </a:r>
            <a:r>
              <a:rPr lang="zh-CN" altLang="en-US" b="1" dirty="0">
                <a:cs typeface="Times New Roman" panose="02020503050405090304" pitchFamily="18" charset="0"/>
              </a:rPr>
              <a:t>的人</a:t>
            </a:r>
            <a:r>
              <a:rPr lang="en-US" altLang="en-US" b="1" dirty="0">
                <a:cs typeface="Times New Roman" panose="02020503050405090304" pitchFamily="18" charset="0"/>
              </a:rPr>
              <a:t>)</a:t>
            </a:r>
            <a:r>
              <a:rPr lang="zh-CN" altLang="en-US" b="1" dirty="0">
                <a:cs typeface="Times New Roman" panose="02020503050405090304" pitchFamily="18" charset="0"/>
              </a:rPr>
              <a:t>未来的</a:t>
            </a:r>
            <a:endParaRPr lang="zh-CN" altLang="en-US" b="1" dirty="0"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advice for </a:t>
            </a: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would-be </a:t>
            </a: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parents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astronomer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astronomy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astronomical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adventure v.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adventure into the forest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冒险故事</a:t>
            </a:r>
            <a:endParaRPr lang="zh-CN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冒险精神</a:t>
            </a:r>
            <a:endParaRPr lang="zh-CN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75535" y="52895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adventure stories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375535" y="57702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spirit of adventure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340360" y="0"/>
            <a:ext cx="11720830" cy="4961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bet, bet, bet, betting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I don't think you realise </a:t>
            </a:r>
            <a:r>
              <a:rPr lang="en-US" altLang="en-US" b="1" u="sng" dirty="0">
                <a:solidFill>
                  <a:schemeClr val="tx1"/>
                </a:solidFill>
                <a:cs typeface="Times New Roman" panose="02020503050405090304" pitchFamily="18" charset="0"/>
              </a:rPr>
              <a:t>the </a:t>
            </a:r>
            <a:r>
              <a:rPr lang="en-US" altLang="en-US" b="1" u="sng" dirty="0">
                <a:solidFill>
                  <a:srgbClr val="FF0000"/>
                </a:solidFill>
                <a:cs typeface="Times New Roman" panose="02020503050405090304" pitchFamily="18" charset="0"/>
              </a:rPr>
              <a:t>gravity </a:t>
            </a:r>
            <a:r>
              <a:rPr lang="en-US" altLang="en-US" b="1" u="sng" dirty="0">
                <a:solidFill>
                  <a:schemeClr val="tx1"/>
                </a:solidFill>
                <a:cs typeface="Times New Roman" panose="02020503050405090304" pitchFamily="18" charset="0"/>
              </a:rPr>
              <a:t>of the situation</a:t>
            </a: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.</a:t>
            </a: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cs typeface="Times New Roman" panose="02020503050405090304" pitchFamily="18" charset="0"/>
                <a:sym typeface="+mn-ea"/>
              </a:rPr>
              <a:t>She spoke </a:t>
            </a:r>
            <a:r>
              <a:rPr lang="en-US" altLang="en-US" b="1" u="sng" dirty="0">
                <a:cs typeface="Times New Roman" panose="02020503050405090304" pitchFamily="18" charset="0"/>
                <a:sym typeface="+mn-ea"/>
              </a:rPr>
              <a:t>with great </a:t>
            </a:r>
            <a:r>
              <a:rPr lang="en-US" altLang="en-US" b="1" u="sng" dirty="0">
                <a:solidFill>
                  <a:srgbClr val="FF0000"/>
                </a:solidFill>
                <a:cs typeface="Times New Roman" panose="02020503050405090304" pitchFamily="18" charset="0"/>
                <a:sym typeface="+mn-ea"/>
              </a:rPr>
              <a:t>gravity</a:t>
            </a:r>
            <a:r>
              <a:rPr lang="en-US" altLang="en-US" b="1" dirty="0">
                <a:cs typeface="Times New Roman" panose="02020503050405090304" pitchFamily="18" charset="0"/>
                <a:sym typeface="+mn-ea"/>
              </a:rPr>
              <a:t>.</a:t>
            </a:r>
            <a:endParaRPr lang="en-US" altLang="en-US" b="1" dirty="0">
              <a:cs typeface="Times New Roman" panose="02020503050405090304" pitchFamily="18" charset="0"/>
              <a:sym typeface="+mn-ea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in grave danger</a:t>
            </a:r>
            <a:endParaRPr lang="en-US" altLang="en-US" b="1" dirty="0">
              <a:solidFill>
                <a:srgbClr val="FF0000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The police have </a:t>
            </a:r>
            <a:r>
              <a:rPr lang="en-US" altLang="en-US" b="1" u="sng" dirty="0">
                <a:solidFill>
                  <a:schemeClr val="tx1"/>
                </a:solidFill>
                <a:cs typeface="Times New Roman" panose="02020503050405090304" pitchFamily="18" charset="0"/>
              </a:rPr>
              <a:t>expressed </a:t>
            </a:r>
            <a:r>
              <a:rPr lang="en-US" altLang="en-US" b="1" u="sng" dirty="0">
                <a:solidFill>
                  <a:srgbClr val="FF0000"/>
                </a:solidFill>
                <a:cs typeface="Times New Roman" panose="02020503050405090304" pitchFamily="18" charset="0"/>
              </a:rPr>
              <a:t>grave </a:t>
            </a:r>
            <a:r>
              <a:rPr lang="en-US" altLang="en-US" b="1" u="sng" dirty="0">
                <a:solidFill>
                  <a:schemeClr val="tx1"/>
                </a:solidFill>
                <a:cs typeface="Times New Roman" panose="02020503050405090304" pitchFamily="18" charset="0"/>
              </a:rPr>
              <a:t>concern about</a:t>
            </a: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 the missing child's safety.</a:t>
            </a: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He looked very </a:t>
            </a: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grave </a:t>
            </a: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as he entered the room.</a:t>
            </a: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340360" y="0"/>
            <a:ext cx="11720830" cy="3879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The night there in summer is shorter than </a:t>
            </a:r>
            <a:r>
              <a:rPr lang="en-US" altLang="en-US" b="1" dirty="0">
                <a:solidFill>
                  <a:srgbClr val="FF0000"/>
                </a:solidFill>
                <a:cs typeface="Times New Roman" panose="02020503050405090304" pitchFamily="18" charset="0"/>
              </a:rPr>
              <a:t>that </a:t>
            </a: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in winter.</a:t>
            </a: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zh-CN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that = the one / those = the ones</a:t>
            </a:r>
            <a:endParaRPr lang="en-US" altLang="zh-CN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The students who do best in the exam are not always ____ with the best brains.</a:t>
            </a: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A color TV set made in Japan costs more than ___ made in China.</a:t>
            </a: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cs typeface="Times New Roman" panose="02020503050405090304" pitchFamily="18" charset="0"/>
              </a:rPr>
              <a:t>The resistance of a thicker wire is less than ___ of a thin one.</a:t>
            </a:r>
            <a:endParaRPr lang="en-US" altLang="en-US" b="1" dirty="0">
              <a:solidFill>
                <a:schemeClr val="tx1"/>
              </a:solidFill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507220" y="1518285"/>
            <a:ext cx="13836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those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444230" y="2625090"/>
            <a:ext cx="13836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one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853045" y="3227705"/>
            <a:ext cx="13836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that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412115" y="141605"/>
            <a:ext cx="10854690" cy="56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cs typeface="Times New Roman" panose="02020503050405090304" pitchFamily="18" charset="0"/>
              </a:rPr>
              <a:t>The p______ or a</a:t>
            </a:r>
            <a:r>
              <a:rPr lang="en-US" altLang="en-US" b="1" dirty="0">
                <a:cs typeface="Times New Roman" panose="02020503050405090304" pitchFamily="18" charset="0"/>
              </a:rPr>
              <a:t>bsence of clouds can have an important impact on temperature. </a:t>
            </a:r>
            <a:endParaRPr lang="en-US" altLang="en-US" b="1" dirty="0"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FF0000"/>
                </a:solidFill>
                <a:cs typeface="Times New Roman" panose="02020503050405090304" pitchFamily="18" charset="0"/>
              </a:rPr>
              <a:t>In the absence of </a:t>
            </a:r>
            <a:r>
              <a:rPr lang="en-US" altLang="zh-CN" b="1" dirty="0">
                <a:cs typeface="Times New Roman" panose="02020503050405090304" pitchFamily="18" charset="0"/>
              </a:rPr>
              <a:t>enough evidence, they had to let her go.</a:t>
            </a:r>
            <a:endParaRPr lang="en-US" altLang="zh-CN" b="1" dirty="0">
              <a:cs typeface="Times New Roman" panose="02020503050405090304" pitchFamily="18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zh-CN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for lack of</a:t>
            </a:r>
            <a:endParaRPr lang="en-US" altLang="zh-CN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decision was made 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in/during my absence</a:t>
            </a:r>
            <a:r>
              <a:rPr lang="en-US" altLang="zh-CN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zh-CN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absence from work/school</a:t>
            </a:r>
            <a:endParaRPr lang="en-US" altLang="zh-CN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endParaRPr lang="zh-CN" altLang="en-US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503050405090304" pitchFamily="18" charset="0"/>
                <a:sym typeface="+mn-ea"/>
              </a:rPr>
              <a:t>be absent from</a:t>
            </a:r>
            <a:r>
              <a:rPr lang="en-US" altLang="zh-CN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503050405090304" pitchFamily="18" charset="0"/>
                <a:sym typeface="+mn-ea"/>
              </a:rPr>
              <a:t>    </a:t>
            </a:r>
            <a:r>
              <a:rPr lang="zh-CN" altLang="en-US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503050405090304" pitchFamily="18" charset="0"/>
                <a:sym typeface="+mn-ea"/>
              </a:rPr>
              <a:t>缺席</a:t>
            </a:r>
            <a:r>
              <a:rPr lang="en-US" altLang="zh-CN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cs typeface="Times New Roman" panose="02020503050405090304" pitchFamily="18" charset="0"/>
                <a:sym typeface="+mn-ea"/>
              </a:rPr>
              <a:t>……   </a:t>
            </a:r>
            <a:r>
              <a:rPr lang="en-US" altLang="zh-CN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cs typeface="Times New Roman" panose="02020503050405090304" pitchFamily="18" charset="0"/>
                <a:sym typeface="+mn-ea"/>
              </a:rPr>
              <a:t>be present at        </a:t>
            </a:r>
            <a:r>
              <a:rPr lang="zh-CN" altLang="en-US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Times New Roman" panose="02020503050405090304" pitchFamily="18" charset="0"/>
                <a:sym typeface="+mn-ea"/>
              </a:rPr>
              <a:t>出席</a:t>
            </a:r>
            <a:r>
              <a:rPr lang="en-US" altLang="zh-CN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endParaRPr lang="en-US" altLang="zh-CN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absent-minded </a:t>
            </a:r>
            <a:r>
              <a:rPr lang="en-US" altLang="zh-CN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心不在焉的</a:t>
            </a:r>
            <a:endParaRPr lang="zh-CN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439545" y="124460"/>
            <a:ext cx="17145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resence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6" name="Text Box 4"/>
          <p:cNvSpPr txBox="1">
            <a:spLocks noChangeArrowheads="1"/>
          </p:cNvSpPr>
          <p:nvPr/>
        </p:nvSpPr>
        <p:spPr bwMode="auto">
          <a:xfrm>
            <a:off x="784860" y="657225"/>
            <a:ext cx="10872470" cy="540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3230" indent="-44323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223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Her brother took away her new book 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在她不在时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3390" indent="-453390"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Joe was punished because he had so many ______________  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缺课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由于缺乏信息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we were unable to solve the problem.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The police were delayed by the _________ (absent) of information about the crime.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7747635" y="1299210"/>
            <a:ext cx="400431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in/during her absence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7878" name="Rectangle 6"/>
          <p:cNvSpPr>
            <a:spLocks noChangeArrowheads="1"/>
          </p:cNvSpPr>
          <p:nvPr/>
        </p:nvSpPr>
        <p:spPr bwMode="auto">
          <a:xfrm>
            <a:off x="1429385" y="2379028"/>
            <a:ext cx="10322560" cy="1272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 absences from class/school 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7879" name="Rectangle 7"/>
          <p:cNvSpPr>
            <a:spLocks noChangeArrowheads="1"/>
          </p:cNvSpPr>
          <p:nvPr/>
        </p:nvSpPr>
        <p:spPr bwMode="auto">
          <a:xfrm>
            <a:off x="1356651" y="3618193"/>
            <a:ext cx="576942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absence of information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7880" name="Rectangle 8"/>
          <p:cNvSpPr>
            <a:spLocks noChangeArrowheads="1"/>
          </p:cNvSpPr>
          <p:nvPr/>
        </p:nvSpPr>
        <p:spPr bwMode="auto">
          <a:xfrm>
            <a:off x="6957350" y="4772117"/>
            <a:ext cx="1828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absence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7" grpId="0" animBg="1"/>
      <p:bldP spid="207877" grpId="1" animBg="1"/>
      <p:bldP spid="207878" grpId="0" animBg="1"/>
      <p:bldP spid="207878" grpId="1" animBg="1"/>
      <p:bldP spid="207879" grpId="0" animBg="1"/>
      <p:bldP spid="207879" grpId="1" animBg="1"/>
      <p:bldP spid="207880" grpId="0" animBg="1"/>
      <p:bldP spid="20788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412115" y="141605"/>
            <a:ext cx="10854690" cy="6043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Wood </a:t>
            </a: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floats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木头能浮起来。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(Water </a:t>
            </a: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floats 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wood.)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Beautiful music came </a:t>
            </a: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floating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out of the window.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An idea suddenly </a:t>
            </a: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floated 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into my mind.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walk/float on air</a:t>
            </a:r>
            <a:endParaRPr lang="en-US" altLang="en-US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We’ve grown very </a:t>
            </a: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attached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to this house.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Attached 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to the email is my CV.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research unit is </a:t>
            </a: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attached 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to the university.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attach great importance/weight/value to ...</a:t>
            </a:r>
            <a:endParaRPr lang="en-US" altLang="en-US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child’s strong </a:t>
            </a:r>
            <a:r>
              <a:rPr lang="en-US" altLang="en-US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attachment 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to his parents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412115" y="141605"/>
            <a:ext cx="11516995" cy="2256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 is necessary/important/vital/surprising/strange that… </a:t>
            </a:r>
            <a:r>
              <a:rPr lang="zh-CN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表示建议、命令、要求、希望</a:t>
            </a:r>
            <a:r>
              <a:rPr lang="zh-CN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、惊讶</a:t>
            </a:r>
            <a:r>
              <a:rPr lang="zh-CN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等情感。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strange that he </a:t>
            </a:r>
            <a:r>
              <a:rPr lang="en-US" altLang="en-US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has left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without telling us.</a:t>
            </a:r>
            <a:endParaRPr lang="en-US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eaLnBrk="1" fontAlgn="auto" hangingPunct="1">
              <a:lnSpc>
                <a:spcPct val="110000"/>
              </a:lnSpc>
              <a:spcBef>
                <a:spcPts val="0"/>
              </a:spcBef>
            </a:pP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strange that he </a:t>
            </a:r>
            <a:r>
              <a:rPr lang="en-US" altLang="en-US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should </a:t>
            </a:r>
            <a:r>
              <a:rPr lang="en-US" altLang="en-US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have left </a:t>
            </a:r>
            <a:r>
              <a:rPr lang="en-US" altLang="en-US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without telling us.</a:t>
            </a:r>
            <a:endParaRPr lang="zh-CN" altLang="en-US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0285" y="371165"/>
            <a:ext cx="11430973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didn't even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bother to let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me know he was coming.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1) spend time or energy doing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花费时间精力做某事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bother asking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if you're not really interested?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don’t know why you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bother with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that crowd.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bother sb ...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annoy, upset sb</a:t>
            </a: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don't want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bother her with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my problems at the moment.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Does it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bother you that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earns more than you?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bothers me to think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of her alone in that big house.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想到她孤零零地待在那所大房子里，我便坐立不安。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Sorry to bother you, but…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7780" y="184785"/>
            <a:ext cx="12260580" cy="64928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occupy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time and space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叛军已占领了首都。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The capital has been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occupied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by the rebel army.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There were over 40 tenants, all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occupying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one wing of the hospital.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2)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居住，使用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She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occupied herself with </a:t>
            </a:r>
            <a:r>
              <a:rPr lang="en-US" altLang="en-US" sz="3200" b="1"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routine office tasks.</a:t>
            </a:r>
            <a:r>
              <a:rPr lang="en-US" altLang="zh-CN" sz="3200" b="1"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 3) </a:t>
            </a:r>
            <a:r>
              <a:rPr lang="zh-CN" altLang="en-US" sz="3200" b="1"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忙于做某事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 </a:t>
            </a:r>
            <a:r>
              <a:rPr lang="en-US" altLang="en-US" sz="3200" b="1" i="1">
                <a:solidFill>
                  <a:srgbClr val="0000FF"/>
                </a:solidFill>
                <a:latin typeface="Times New Roman Bold Italic" panose="02020503050405090304" charset="0"/>
                <a:ea typeface="Optima" panose="02000503060000020004"/>
                <a:cs typeface="Times New Roman Bold Italic" panose="02020503050405090304" charset="0"/>
              </a:rPr>
              <a:t>busy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She ___________________ routine office tasks.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The most important thing is to keep yourself ________(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别闲着</a:t>
            </a:r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).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look for an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occupation </a:t>
            </a:r>
            <a:r>
              <a:rPr lang="zh-CN" altLang="en-US" sz="3200" b="1"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职业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He's a doctor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 by occupation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. 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The offices will be ready for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occupation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in June.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办公室将于六月交付使用。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gardening is my favourite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occupation 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749165" y="184785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1) take up</a:t>
            </a:r>
            <a:endParaRPr lang="en-US" altLang="zh-CN" sz="3200" b="1" i="1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29945" y="251015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was occupied with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825740" y="29781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occupied 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732905" y="6042660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leisure activities</a:t>
            </a:r>
            <a:endParaRPr lang="en-US" altLang="zh-CN" sz="3200" b="1" i="1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7" grpId="1"/>
      <p:bldP spid="5" grpId="1"/>
      <p:bldP spid="9" grpId="0"/>
      <p:bldP spid="9" grpId="1"/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0285" y="371165"/>
            <a:ext cx="11430973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on a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trade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mission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China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diplomatic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mission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Mission accomplished!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viewed his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mission in life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as protecting the weak from the evil.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 enormous sense of mission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his speech and gesture.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1222" y="289620"/>
            <a:ext cx="11449272" cy="59969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evaluate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assess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evaluation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of the health care system</a:t>
            </a: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living creatures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生物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他是个一成不变，严守生活习惯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的人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He is 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media put their every decision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under the microscope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cast/shed/throw light on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让人进一步了解……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bring … to light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揭露，披露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… come to light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暴露，为人所知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446405" indent="-446405">
              <a:lnSpc>
                <a:spcPct val="120000"/>
              </a:lnSpc>
              <a:defRPr/>
            </a:pP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348105" y="259588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creature of habit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35" y="36195"/>
            <a:ext cx="12191365" cy="658558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嘴里塞满东西说话是不礼貌的。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(with + n. + adj.)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bad manners to talk with your mouth full.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He fell asleep with the lights ___.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I can’t go out with all these clothes _______ (wash).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With the work _____ (do), she felt relieved.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He felt more uneasy with the whole class _______ (stare) at him.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For labor to evolve, it will need a leader better _______ (equip) to walk the talk. 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They are going to get jobs designing better _________ (equip).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The room was f________ (为…配备家具) with antiques.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We need to buy some new ________ (家具).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leisure f________ (设施)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999355" y="1153795"/>
            <a:ext cx="9182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198235" y="1604645"/>
            <a:ext cx="15824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to wash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736215" y="2174240"/>
            <a:ext cx="15824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done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212965" y="2659380"/>
            <a:ext cx="15824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staring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025130" y="3183890"/>
            <a:ext cx="18040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equipped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426960" y="4309110"/>
            <a:ext cx="24022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equipment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736215" y="4833620"/>
            <a:ext cx="24022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urnished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447800" y="5877560"/>
            <a:ext cx="24022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acilities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681855" y="5322570"/>
            <a:ext cx="24022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furniture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2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4940" y="-202565"/>
            <a:ext cx="12036425" cy="71780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car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maintenance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maintenance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international peace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在这种情况下，不告诉他有关这次事故的情况似乎更好。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________________________, ___________________ tell him about the accident.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你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无论如何都不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能告诉他有关这次事故的情况。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Under/In no circumstances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should you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tell him about…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know I can trust my parents ________________________.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任何情况下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financial/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personal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circumstances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个人经济状况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was a victim of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circumstance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他是客观环境的牺牲品。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12090" y="21367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In/Under the circumstances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56225" y="21367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seems better not to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409565" y="44399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in/under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any circumstances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2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4" grpId="1"/>
      <p:bldP spid="3" grpId="1"/>
      <p:bldP spid="6" grpId="0"/>
      <p:bldP spid="6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/>
        </p:nvSpPr>
        <p:spPr>
          <a:xfrm>
            <a:off x="95885" y="-104140"/>
            <a:ext cx="12036425" cy="48158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Her new movie has had a lot of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exposure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media.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publicity, coverage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his fear of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exposure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___ a liar and a fraud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When _______ (expose) your family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your secondhand smoke, you should consider its grave consequences.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  <a:defRPr/>
            </a:pP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sb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radiate joy/self-confidence/optimism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流露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  <a:defRPr/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happiness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radiates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from sb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快乐从她身上散发出来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14120" y="1619250"/>
            <a:ext cx="37077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exposing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670935" y="10356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1569" y="135255"/>
            <a:ext cx="11188861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6870" indent="-35687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more you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 (expose) to the English-speaking environment, the better you will learn the language.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56870" indent="-35687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_______________________ (expose) to the sunlight for too long will do harm to your skin.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56870" indent="-356870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Daniel’s early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 (expose) to motor racing did not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spark his interest.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59162" y="672465"/>
            <a:ext cx="221805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exposed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65860" y="1822995"/>
            <a:ext cx="451104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Exposure/ Being exposed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44264" y="3029131"/>
            <a:ext cx="173291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exposure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41910"/>
            <a:ext cx="12192635" cy="6985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a time, at one time, at no time, in no time, in time, at times, ahead of time, at all times, for the time being, of all time</a:t>
            </a:r>
            <a:endParaRPr lang="en-US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finished 15 minutes ____________. 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Our representatives are ready to help you __________.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ran up the stairs two ____________.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can be really bad-tempered ___________.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is living with his father in Wuxi ________________.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kids will be leaving home ______________.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 she wanted to be a nurse, but the thought of working at night put her off.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wants to see changes in the company, and I’m sure he will, _____________.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Many rated him the best singer _____________. 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 did anyone involved speak to the press.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04652" y="934085"/>
            <a:ext cx="253047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ahead of time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6"/>
          <p:cNvSpPr txBox="1"/>
          <p:nvPr/>
        </p:nvSpPr>
        <p:spPr>
          <a:xfrm>
            <a:off x="7353617" y="1383665"/>
            <a:ext cx="207899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all times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6"/>
          <p:cNvSpPr txBox="1"/>
          <p:nvPr/>
        </p:nvSpPr>
        <p:spPr>
          <a:xfrm>
            <a:off x="4656137" y="1892935"/>
            <a:ext cx="169481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a time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5658802" y="2341880"/>
            <a:ext cx="154813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times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6"/>
          <p:cNvSpPr txBox="1"/>
          <p:nvPr/>
        </p:nvSpPr>
        <p:spPr>
          <a:xfrm>
            <a:off x="6282372" y="2872105"/>
            <a:ext cx="326390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the time being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6"/>
          <p:cNvSpPr txBox="1"/>
          <p:nvPr/>
        </p:nvSpPr>
        <p:spPr>
          <a:xfrm>
            <a:off x="5260657" y="3307080"/>
            <a:ext cx="192151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no time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" name="文本框 6"/>
          <p:cNvSpPr txBox="1"/>
          <p:nvPr/>
        </p:nvSpPr>
        <p:spPr>
          <a:xfrm>
            <a:off x="491807" y="3836670"/>
            <a:ext cx="219138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one time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" name="文本框 6"/>
          <p:cNvSpPr txBox="1"/>
          <p:nvPr/>
        </p:nvSpPr>
        <p:spPr>
          <a:xfrm>
            <a:off x="276542" y="5212715"/>
            <a:ext cx="139065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time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" name="文本框 6"/>
          <p:cNvSpPr txBox="1"/>
          <p:nvPr/>
        </p:nvSpPr>
        <p:spPr>
          <a:xfrm>
            <a:off x="6006782" y="5739130"/>
            <a:ext cx="192087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all time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" name="文本框 6"/>
          <p:cNvSpPr txBox="1"/>
          <p:nvPr/>
        </p:nvSpPr>
        <p:spPr>
          <a:xfrm>
            <a:off x="335597" y="6235065"/>
            <a:ext cx="201104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no time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8" grpId="0"/>
      <p:bldP spid="8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740" y="19685"/>
            <a:ext cx="1183386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358775" fontAlgn="auto">
              <a:lnSpc>
                <a:spcPct val="10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outline of the mountains was clearly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visible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one point my teacher approached me, ______ (visible) angry about my impolite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behaviour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made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visible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effort to control her anger. 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Most stars are ____________________ the naked eye.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have restricted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visibility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visions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the future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想象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0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把那种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想象转化为实实在在的现实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turn that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vision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into a practical reality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causes blindness or serious loss of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vision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saw other indistinct shapes that stayed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 of vision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358775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woman who lacks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vision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57110" y="365125"/>
            <a:ext cx="131254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visibly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571230" y="-8191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distinct</a:t>
            </a:r>
            <a:endParaRPr lang="en-US" altLang="zh-CN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5" name="文本框 6"/>
          <p:cNvSpPr txBox="1"/>
          <p:nvPr/>
        </p:nvSpPr>
        <p:spPr>
          <a:xfrm>
            <a:off x="3051175" y="1818005"/>
            <a:ext cx="395478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 visible/invisible to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5" grpId="0"/>
      <p:bldP spid="5" grpId="1"/>
      <p:bldP spid="3" grpId="0"/>
      <p:bldP spid="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0045" y="192405"/>
            <a:ext cx="1172210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Although/Though you may be strong, you cannot lift it.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Strong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as/though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you may be, ...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Although/Though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she might try, she failed to get the door open.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Try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as/though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she might, ...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Although/Though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he is a child, he is very mature.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Child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as/though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he is, ....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7505" y="430530"/>
            <a:ext cx="1133475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【语境应用】完成句子。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8310" indent="-44831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尽管他老了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he works just as hard as he did before.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8310" indent="-44831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____________________(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尽管她是个女孩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), she was very brave.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48310" indent="-44831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尽管他的行为很奇怪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), there are still some people who would like to get on with him.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448310" indent="-44831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尽管我们面临着很大的压力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), we need to remain optimistic and work hard to achieve the goal whatever happens.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2645" y="998220"/>
            <a:ext cx="361632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Old as/ though he is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7080" y="2152015"/>
            <a:ext cx="422529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Girl as/ though she was</a:t>
            </a:r>
            <a:endParaRPr lang="en-US" altLang="zh-CN" sz="3200" b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7247" y="2789872"/>
            <a:ext cx="714946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Strange as/though his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behaviour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may be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26465" y="4469765"/>
            <a:ext cx="778954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Fierce pressure as/though we are faced with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229870" y="188595"/>
            <a:ext cx="11732260" cy="55079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in view of…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considering,  given, in (the)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light of</a:t>
            </a:r>
            <a:endParaRPr lang="en-US" altLang="zh-CN" sz="3200" b="1">
              <a:solidFill>
                <a:srgbClr val="FF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zh-CN" sz="3200" b="1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was a luxury to do sth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做某事是</a:t>
            </a:r>
            <a:r>
              <a:rPr lang="zh-CN" altLang="en-US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奢侈的</a:t>
            </a:r>
            <a:endParaRPr lang="en-US" altLang="zh-CN" sz="3200" b="1">
              <a:solidFill>
                <a:srgbClr val="00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lead a life of luxury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luxury goods / luxuries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奢侈品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We were going to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have the luxury of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a free weekend, to rest and do whatever we pleased.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 i="1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pleasure which you do not often have the opportunity to enjoy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不常有的乐趣；难得的享受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luxurious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豪华舒适的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29870" y="188595"/>
            <a:ext cx="11732260" cy="61969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vital that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plan __________  (adjust) when there are significant differences.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Most importantly, it’s ___________________________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更重要的是你要注意餐桌礼仪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vital to do sth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play a vital role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vital to/for sb/sth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of vital importance / news of vital interest to women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= be _______ important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They are both very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vital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people and a good match.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She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is bursting with vitality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朝气蓬勃，充满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活力</a:t>
            </a:r>
            <a:endParaRPr lang="zh-CN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268470" y="102870"/>
            <a:ext cx="22040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adjusted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157970" y="4718685"/>
            <a:ext cx="22040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dynamic</a:t>
            </a:r>
            <a:endParaRPr lang="en-US" altLang="zh-CN" sz="3200" b="1" i="1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168400" y="4213860"/>
            <a:ext cx="22040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vitally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277511" name="Rectangle 7"/>
          <p:cNvSpPr>
            <a:spLocks noChangeArrowheads="1"/>
          </p:cNvSpPr>
          <p:nvPr/>
        </p:nvSpPr>
        <p:spPr bwMode="auto">
          <a:xfrm>
            <a:off x="4374989" y="1126454"/>
            <a:ext cx="565912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it’s vital that you (should) mind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916597" y="1758542"/>
            <a:ext cx="356933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your table manners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277511" grpId="0" bldLvl="0" animBg="1"/>
      <p:bldP spid="9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9710" y="125730"/>
            <a:ext cx="11591925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strict discipline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严格的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纪律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keeps good discipline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class.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严格执行课堂纪律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be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disciplined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(adj.)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Yoga is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good discipline for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learning to relax.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2)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训练方法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3)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He'll never get anywhere working for himself —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he's got no discipline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4) [C]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学科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We're looking for people from a wide range of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disciplines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cross-disciplinary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 </a:t>
            </a:r>
            <a:r>
              <a:rPr lang="zh-CN" altLang="en-US" sz="3200" b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跨学科的</a:t>
            </a:r>
            <a:endParaRPr lang="zh-CN" altLang="en-US" sz="3200" b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69490" y="361886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自制力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(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self-discipline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) 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9710" y="125730"/>
            <a:ext cx="1159192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discipline sb for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管教，惩罚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discipline oneself to do sth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严格要求自己做某事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他规定自己每周至少锻炼三次。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disciplined himself to exercise at least three times a week.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These days we have more money and more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leisure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enjoy it.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leisure activities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休闲活动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消遣活动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suggest you take the forms away and read them _____________.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有空时，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空闲时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spend the afternoon / talk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leisure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悠闲地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leisurely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meal / set off at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leisurely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pace /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stroll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leisurely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922385" y="41497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 your leisure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9710" y="125730"/>
            <a:ext cx="11591925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nothing we like more than ...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我们最喜欢的是……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None of the passengers and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crew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injured.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+ sing./pl. v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crew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members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全体机组人员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Normally the boat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crewed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 five people.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permanent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solution to the problem.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permanent job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永远定居法国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________________ in France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permanence n.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908800" y="30365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532130" fontAlgn="auto"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opp. temporary</a:t>
            </a: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319780" y="360553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53213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固定工作</a:t>
            </a:r>
            <a:endParaRPr lang="en-US" altLang="zh-CN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790825" y="417385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settle permanently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8" grpId="0"/>
      <p:bldP spid="8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19710" y="125730"/>
            <a:ext cx="11591925" cy="5406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no such thing as…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天下没有免费的午餐。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There is no such thing as a free lunch.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It’s such a difficult problem ______ we can’t work out.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It’s such a difficult problem ______ we can’t work it out.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一套急救设备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first-aid kit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救生包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survival kit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一套击鼓用具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drum kit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一套工具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tool kit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532130" fontAlgn="auto">
              <a:lnSpc>
                <a:spcPct val="12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497830" y="1838325"/>
            <a:ext cx="6457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as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429250" y="2487930"/>
            <a:ext cx="10706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-53213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that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5.xml><?xml version="1.0" encoding="utf-8"?>
<p:tagLst xmlns:p="http://schemas.openxmlformats.org/presentationml/2006/main">
  <p:tag name="COMMONDATA" val="eyJoZGlkIjoiOGVjNTg1NWY5YmE2NjUxYTYxOTBjNGY1OGQxMDMyOG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fontAlgn="auto">
          <a:lnSpc>
            <a:spcPct val="120000"/>
          </a:lnSpc>
          <a:defRPr lang="zh-CN" altLang="en-US" sz="3200" b="1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9382</Words>
  <Application>WPS Presentation</Application>
  <PresentationFormat>宽屏</PresentationFormat>
  <Paragraphs>360</Paragraphs>
  <Slides>26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4" baseType="lpstr">
      <vt:lpstr>Arial</vt:lpstr>
      <vt:lpstr>宋体</vt:lpstr>
      <vt:lpstr>Wingdings</vt:lpstr>
      <vt:lpstr>Times New Roman</vt:lpstr>
      <vt:lpstr>汉仪书宋二KW</vt:lpstr>
      <vt:lpstr>Times New Roman Bold Italic</vt:lpstr>
      <vt:lpstr>Times New Roman Bold</vt:lpstr>
      <vt:lpstr>Optima</vt:lpstr>
      <vt:lpstr>微软雅黑</vt:lpstr>
      <vt:lpstr>汉仪旗黑</vt:lpstr>
      <vt:lpstr>宋体</vt:lpstr>
      <vt:lpstr>Arial Unicode MS</vt:lpstr>
      <vt:lpstr>Calibri Light</vt:lpstr>
      <vt:lpstr>Helvetica Neue</vt:lpstr>
      <vt:lpstr>Calibri</vt:lpstr>
      <vt:lpstr>Times New Roman Regular</vt:lpstr>
      <vt:lpstr>Optima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362</cp:revision>
  <dcterms:created xsi:type="dcterms:W3CDTF">2025-03-04T01:36:57Z</dcterms:created>
  <dcterms:modified xsi:type="dcterms:W3CDTF">2025-03-04T01:36:57Z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1033-6.14.0.8924</vt:lpwstr>
  </property>
  <property fmtid="{D5CDD505-2E9C-101B-9397-08002B2CF9AE}" pid="3" name="ICV">
    <vt:lpwstr>5B00F5400A944F398C0E50D301F150E7</vt:lpwstr>
  </property>
</Properties>
</file>