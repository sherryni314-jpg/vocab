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520" r:id="rId2"/>
    <p:sldId id="522" r:id="rId3"/>
    <p:sldId id="521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FF"/>
    <a:srgbClr val="9999FF"/>
    <a:srgbClr val="0000FF"/>
    <a:srgbClr val="2677B6"/>
    <a:srgbClr val="EF0AE7"/>
    <a:srgbClr val="CFD5EA"/>
    <a:srgbClr val="267C27"/>
    <a:srgbClr val="30A536"/>
    <a:srgbClr val="9933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1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4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7/23/26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en-US"/>
              <a:t>stone-hearted</a:t>
            </a:r>
          </a:p>
          <a:p>
            <a:r>
              <a:rPr lang="en-US" altLang="en-US">
                <a:sym typeface="+mn-ea"/>
              </a:rPr>
              <a:t>hot-headed </a:t>
            </a:r>
            <a:r>
              <a:rPr lang="zh-CN" altLang="en-US">
                <a:sym typeface="+mn-ea"/>
              </a:rPr>
              <a:t>易怒的，易冲动的</a:t>
            </a:r>
            <a:endParaRPr lang="en-US" altLang="en-US"/>
          </a:p>
          <a:p>
            <a:r>
              <a:rPr lang="en-US" altLang="en-US"/>
              <a:t>double-edged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en-US"/>
              <a:t>She dresses with casual elegance. (practicality)</a:t>
            </a:r>
          </a:p>
          <a:p>
            <a:r>
              <a:rPr lang="zh-CN" altLang="en-US"/>
              <a:t>她的穿着随意而不失雅致。</a:t>
            </a:r>
          </a:p>
          <a:p>
            <a:r>
              <a:rPr lang="en-US" altLang="zh-CN"/>
              <a:t>put furniture in </a:t>
            </a:r>
            <a:r>
              <a:rPr lang="zh-CN" altLang="en-US"/>
              <a:t>衣着考究、布置精美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她有一份从来不会影响她的业余爱好的工作。阻碍</a:t>
            </a:r>
          </a:p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449580" y="485140"/>
            <a:ext cx="11555095" cy="5621020"/>
          </a:xfrm>
          <a:prstGeom prst="rect">
            <a:avLst/>
          </a:prstGeom>
        </p:spPr>
        <p:txBody>
          <a:bodyPr>
            <a:noAutofit/>
          </a:bodyPr>
          <a:lstStyle/>
          <a:p>
            <a:pPr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脸上掠过淡淡的笑容</a:t>
            </a: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</a:t>
            </a:r>
            <a:r>
              <a:rPr lang="en-US" altLang="en-US" sz="3200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_____________________________one’s face.</a:t>
            </a:r>
            <a:endParaRPr lang="en-US" altLang="en-US" sz="3200" b="1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pPr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微弱的希望</a:t>
            </a:r>
            <a:r>
              <a:rPr lang="en-US" altLang="zh-CN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</a:t>
            </a:r>
            <a:r>
              <a:rPr lang="en-US" altLang="en-US" sz="3200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There is still _____________ that she may be cured.</a:t>
            </a:r>
          </a:p>
          <a:p>
            <a:pPr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</a:pPr>
            <a:endParaRPr lang="en-US" altLang="en-US" sz="3200" b="1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pPr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adj.+n.-ed </a:t>
            </a:r>
            <a:r>
              <a:rPr lang="zh-CN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复合形容词</a:t>
            </a:r>
            <a:r>
              <a:rPr lang="en-US" altLang="zh-CN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: _____</a:t>
            </a:r>
            <a:endParaRPr lang="en-US" altLang="en-US" sz="3200" b="1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pPr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热心的</a:t>
            </a:r>
            <a:r>
              <a:rPr lang="en-US" altLang="zh-CN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						</a:t>
            </a:r>
            <a:r>
              <a:rPr lang="zh-CN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硬心肠的</a:t>
            </a:r>
          </a:p>
          <a:p>
            <a:pPr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独立有主见的</a:t>
            </a:r>
            <a:r>
              <a:rPr lang="en-US" altLang="zh-CN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				</a:t>
            </a:r>
            <a:r>
              <a:rPr lang="zh-CN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头脑简单的</a:t>
            </a:r>
          </a:p>
          <a:p>
            <a:pPr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沉着冷静的</a:t>
            </a:r>
            <a:r>
              <a:rPr lang="en-US" altLang="zh-CN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</a:t>
            </a:r>
            <a:endParaRPr lang="zh-CN" altLang="en-US" sz="3200" b="1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意志坚定的</a:t>
            </a:r>
          </a:p>
          <a:p>
            <a:pPr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温和的</a:t>
            </a:r>
          </a:p>
          <a:p>
            <a:pPr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脾气暴躁的</a:t>
            </a:r>
          </a:p>
          <a:p>
            <a:pPr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</a:pPr>
            <a:endParaRPr lang="zh-CN" altLang="en-US" sz="3200" b="1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5029835" y="973455"/>
            <a:ext cx="257492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a faint hope</a:t>
            </a:r>
            <a:endParaRPr lang="en-US" altLang="en-US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4259580" y="384175"/>
            <a:ext cx="630872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A faint smile flashed/spread across</a:t>
            </a:r>
            <a:endParaRPr lang="en-US" altLang="en-US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1809750" y="2574290"/>
            <a:ext cx="643064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warm-hearted/kind-hearted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8604250" y="2568575"/>
            <a:ext cx="643064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hard-hearted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3177540" y="3124200"/>
            <a:ext cx="643064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strong-minded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8240395" y="308864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simple-minded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2686050" y="3667125"/>
            <a:ext cx="643064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cool-headed/clear-headed</a:t>
            </a:r>
          </a:p>
        </p:txBody>
      </p:sp>
      <p:sp>
        <p:nvSpPr>
          <p:cNvPr id="13" name="Text Box 12"/>
          <p:cNvSpPr txBox="1"/>
          <p:nvPr/>
        </p:nvSpPr>
        <p:spPr>
          <a:xfrm>
            <a:off x="2752090" y="4202430"/>
            <a:ext cx="643064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strong-willed/hard-willed</a:t>
            </a:r>
            <a:endParaRPr lang="zh-CN" altLang="en-US" sz="3200" b="1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2055495" y="4723765"/>
            <a:ext cx="931291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good-humored/ good-natured/ good-tempered</a:t>
            </a:r>
          </a:p>
        </p:txBody>
      </p:sp>
      <p:sp>
        <p:nvSpPr>
          <p:cNvPr id="15" name="Text Box 14"/>
          <p:cNvSpPr txBox="1"/>
          <p:nvPr/>
        </p:nvSpPr>
        <p:spPr>
          <a:xfrm>
            <a:off x="2752090" y="5255260"/>
            <a:ext cx="931291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bad-tempered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2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2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6" grpId="0"/>
      <p:bldP spid="6" grpId="1"/>
      <p:bldP spid="8" grpId="0"/>
      <p:bldP spid="8" grpId="1"/>
      <p:bldP spid="9" grpId="0"/>
      <p:bldP spid="9" grpId="1"/>
      <p:bldP spid="10" grpId="0"/>
      <p:bldP spid="10" grpId="1"/>
      <p:bldP spid="11" grpId="0"/>
      <p:bldP spid="11" grpId="1"/>
      <p:bldP spid="12" grpId="0"/>
      <p:bldP spid="12" grpId="1"/>
      <p:bldP spid="13" grpId="0"/>
      <p:bldP spid="13" grpId="1"/>
      <p:bldP spid="14" grpId="0"/>
      <p:bldP spid="14" grpId="1"/>
      <p:bldP spid="15" grpId="0"/>
      <p:bldP spid="15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449580" y="485140"/>
            <a:ext cx="11555095" cy="5621020"/>
          </a:xfrm>
          <a:prstGeom prst="rect">
            <a:avLst/>
          </a:prstGeom>
        </p:spPr>
        <p:txBody>
          <a:bodyPr>
            <a:noAutofit/>
          </a:bodyPr>
          <a:lstStyle/>
          <a:p>
            <a:pPr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朴素淡雅的连衣裙</a:t>
            </a:r>
          </a:p>
          <a:p>
            <a:pPr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elegance n. </a:t>
            </a:r>
          </a:p>
          <a:p>
            <a:pPr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elegantly dressed / furnished</a:t>
            </a:r>
          </a:p>
          <a:p>
            <a:pPr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</a:pPr>
            <a:endParaRPr lang="zh-CN" altLang="en-US" sz="3200" b="1"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pPr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3200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用古董装饰他们的酒店</a:t>
            </a: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</a:t>
            </a:r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furnish their hotels with antiques</a:t>
            </a:r>
          </a:p>
          <a:p>
            <a:pPr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</a:pPr>
            <a:endParaRPr lang="zh-CN" altLang="en-US" sz="3200" b="1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</a:pPr>
            <a:endParaRPr lang="zh-CN" altLang="en-US" sz="3200" b="1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003675" y="48514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a plain but elegant dress</a:t>
            </a:r>
            <a:endParaRPr lang="en-US" altLang="en-US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449580" y="485140"/>
            <a:ext cx="11555095" cy="5621020"/>
          </a:xfrm>
          <a:prstGeom prst="rect">
            <a:avLst/>
          </a:prstGeom>
        </p:spPr>
        <p:txBody>
          <a:bodyPr>
            <a:noAutofit/>
          </a:bodyPr>
          <a:lstStyle/>
          <a:p>
            <a:pPr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按照指示他前去了市场。</a:t>
            </a:r>
          </a:p>
          <a:p>
            <a:pPr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_______________________________, as he had been instructed to do.</a:t>
            </a:r>
          </a:p>
          <a:p>
            <a:pPr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She had a job which never </a:t>
            </a:r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got in the way of </a:t>
            </a:r>
            <a:r>
              <a:rPr lang="en-US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her leisure interests.</a:t>
            </a:r>
          </a:p>
          <a:p>
            <a:pPr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It’s a pity that some fine old buildings have been torn down to </a:t>
            </a:r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make way for</a:t>
            </a:r>
            <a:r>
              <a:rPr lang="en-US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an ugly new parking garage.</a:t>
            </a:r>
            <a:endParaRPr lang="zh-CN" altLang="en-US" sz="3200" b="1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449580" y="958850"/>
            <a:ext cx="807529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He made his way to the marketplace</a:t>
            </a:r>
            <a:endParaRPr lang="en-US" altLang="en-US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lnSpc>
            <a:spcPct val="120000"/>
          </a:lnSpc>
          <a:defRPr sz="3200" b="1" dirty="0" smtClean="0">
            <a:latin typeface="Times New Roman" panose="02020503050405090304" pitchFamily="18" charset="0"/>
            <a:cs typeface="Times New Roman" panose="02020503050405090304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233</Words>
  <Application>Microsoft Macintosh PowerPoint</Application>
  <PresentationFormat>Widescreen</PresentationFormat>
  <Paragraphs>38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Times New Roman Bold</vt:lpstr>
      <vt:lpstr>Arial</vt:lpstr>
      <vt:lpstr>Calibri</vt:lpstr>
      <vt:lpstr>Calibri Light</vt:lpstr>
      <vt:lpstr>Office 主题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Qing NI</cp:lastModifiedBy>
  <cp:revision>2</cp:revision>
  <dcterms:created xsi:type="dcterms:W3CDTF">2025-02-19T07:57:11Z</dcterms:created>
  <dcterms:modified xsi:type="dcterms:W3CDTF">2026-07-23T01:09:50Z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9296B5DB58F93E60D78EB567C7C2F9B4_42</vt:lpwstr>
  </property>
  <property fmtid="{D5CDD505-2E9C-101B-9397-08002B2CF9AE}" pid="3" name="KSOProductBuildVer">
    <vt:lpwstr>1033-6.14.0.8924</vt:lpwstr>
  </property>
</Properties>
</file>