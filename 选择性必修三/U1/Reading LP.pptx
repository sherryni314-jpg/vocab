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35"/>
  </p:handoutMasterIdLst>
  <p:sldIdLst>
    <p:sldId id="507" r:id="rId3"/>
    <p:sldId id="623" r:id="rId4"/>
    <p:sldId id="713" r:id="rId5"/>
    <p:sldId id="657" r:id="rId7"/>
    <p:sldId id="711" r:id="rId8"/>
    <p:sldId id="579" r:id="rId9"/>
    <p:sldId id="712" r:id="rId10"/>
    <p:sldId id="662" r:id="rId11"/>
    <p:sldId id="580" r:id="rId12"/>
    <p:sldId id="681" r:id="rId13"/>
    <p:sldId id="715" r:id="rId14"/>
    <p:sldId id="716" r:id="rId15"/>
    <p:sldId id="717" r:id="rId16"/>
    <p:sldId id="718" r:id="rId17"/>
    <p:sldId id="719" r:id="rId18"/>
    <p:sldId id="642" r:id="rId19"/>
    <p:sldId id="753" r:id="rId20"/>
    <p:sldId id="754" r:id="rId21"/>
    <p:sldId id="634" r:id="rId22"/>
    <p:sldId id="636" r:id="rId23"/>
    <p:sldId id="635" r:id="rId24"/>
    <p:sldId id="656" r:id="rId25"/>
    <p:sldId id="675" r:id="rId26"/>
    <p:sldId id="755" r:id="rId27"/>
    <p:sldId id="647" r:id="rId28"/>
    <p:sldId id="756" r:id="rId29"/>
    <p:sldId id="663" r:id="rId30"/>
    <p:sldId id="582" r:id="rId31"/>
    <p:sldId id="679" r:id="rId32"/>
    <p:sldId id="632" r:id="rId33"/>
    <p:sldId id="75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33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98" y="90"/>
      </p:cViewPr>
      <p:guideLst>
        <p:guide orient="horz" pos="2160"/>
        <p:guide pos="376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把婴儿裹在毯子</a:t>
            </a:r>
            <a:r>
              <a:rPr lang="zh-CN" altLang="en-US"/>
              <a:t>里</a:t>
            </a:r>
            <a:endParaRPr lang="zh-CN" altLang="en-US"/>
          </a:p>
          <a:p>
            <a:r>
              <a:rPr lang="zh-CN" altLang="en-US"/>
              <a:t>拥抱某人，搂住</a:t>
            </a:r>
            <a:r>
              <a:rPr lang="zh-CN" altLang="en-US"/>
              <a:t>某人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two distinct species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游荡，走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走神</a:t>
            </a:r>
            <a:endParaRPr lang="en-US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蜿蜒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strong &amp; powerful</a:t>
            </a:r>
            <a:endParaRPr lang="en-US" altLang="en-US"/>
          </a:p>
          <a:p>
            <a:r>
              <a:rPr lang="en-US" altLang="en-US"/>
              <a:t>large &amp; impressive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她泪水盈眶。</a:t>
            </a:r>
            <a:endParaRPr lang="zh-CN" altLang="en-US"/>
          </a:p>
          <a:p>
            <a:r>
              <a:rPr lang="zh-CN" altLang="en-US"/>
              <a:t>优势</a:t>
            </a:r>
            <a:endParaRPr lang="zh-CN" altLang="en-US"/>
          </a:p>
          <a:p>
            <a:r>
              <a:rPr lang="zh-CN" altLang="en-US"/>
              <a:t>紧绷状态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她泪水盈眶。</a:t>
            </a:r>
            <a:endParaRPr lang="zh-CN" altLang="en-US"/>
          </a:p>
          <a:p>
            <a:r>
              <a:rPr lang="zh-CN" altLang="en-US"/>
              <a:t>优势</a:t>
            </a:r>
            <a:endParaRPr lang="zh-CN" altLang="en-US"/>
          </a:p>
          <a:p>
            <a:r>
              <a:rPr lang="zh-CN" altLang="en-US"/>
              <a:t>紧绷状态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蜥蜴和龟的共同原种</a:t>
            </a:r>
            <a:endParaRPr lang="zh-CN" altLang="en-US" b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她的</a:t>
            </a:r>
            <a:r>
              <a:rPr lang="zh-CN" altLang="en-US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祖居</a:t>
            </a:r>
            <a:endParaRPr lang="zh-CN" altLang="en-US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该地区的本地人／语言</a:t>
            </a:r>
            <a:r>
              <a:rPr lang="en-US" altLang="zh-CN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/</a:t>
            </a:r>
            <a:r>
              <a:rPr lang="zh-CN" altLang="en-US"/>
              <a:t>土著社区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</a:pPr>
            <a:r>
              <a:rPr lang="zh-CN" altLang="en-US"/>
              <a:t>当然</a:t>
            </a:r>
            <a:endParaRPr lang="zh-CN" altLang="en-US"/>
          </a:p>
          <a:p>
            <a:pPr indent="0" fontAlgn="auto">
              <a:lnSpc>
                <a:spcPct val="120000"/>
              </a:lnSpc>
            </a:pPr>
            <a:r>
              <a:rPr lang="zh-CN" altLang="en-US"/>
              <a:t>绝不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尽管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轻伤</a:t>
            </a:r>
            <a:endParaRPr lang="zh-CN" altLang="en-US"/>
          </a:p>
          <a:p>
            <a:r>
              <a:rPr lang="zh-CN" altLang="en-US"/>
              <a:t>在</a:t>
            </a:r>
            <a:endParaRPr lang="zh-CN" altLang="en-US"/>
          </a:p>
          <a:p>
            <a:r>
              <a:rPr lang="zh-CN" altLang="en-US"/>
              <a:t>重要性较小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真实</a:t>
            </a:r>
            <a:r>
              <a:rPr lang="zh-CN" altLang="en-US"/>
              <a:t>条件句句</a:t>
            </a:r>
            <a:r>
              <a:rPr lang="en-US" altLang="zh-CN"/>
              <a:t> </a:t>
            </a:r>
            <a:r>
              <a:rPr lang="en-US"/>
              <a:t>formal</a:t>
            </a:r>
            <a:endParaRPr lang="en-US"/>
          </a:p>
          <a:p>
            <a:r>
              <a:rPr lang="en-US"/>
              <a:t>should </a:t>
            </a:r>
            <a:r>
              <a:rPr lang="zh-CN" altLang="en-US"/>
              <a:t>可能发生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虚拟条件句、真实</a:t>
            </a:r>
            <a:r>
              <a:rPr lang="zh-CN" altLang="en-US"/>
              <a:t>条件句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遭遇（不快的</a:t>
            </a:r>
            <a:r>
              <a:rPr lang="zh-CN" altLang="en-US"/>
              <a:t>事情）</a:t>
            </a:r>
            <a:endParaRPr lang="zh-CN" altLang="en-US"/>
          </a:p>
          <a:p>
            <a:r>
              <a:rPr lang="zh-CN" altLang="en-US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偶然相遇</a:t>
            </a:r>
            <a:r>
              <a:rPr lang="en-US" altLang="zh-CN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endParaRPr lang="zh-CN" altLang="en-US"/>
          </a:p>
          <a:p>
            <a:r>
              <a:rPr lang="zh-CN" altLang="en-US"/>
              <a:t>奇遇</a:t>
            </a:r>
            <a:r>
              <a:rPr lang="en-US" altLang="zh-CN"/>
              <a:t> an extraordinary encounter with ...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 dynamic economy</a:t>
            </a:r>
            <a:endParaRPr lang="zh-CN" altLang="en-US"/>
          </a:p>
          <a:p>
            <a:r>
              <a:rPr lang="zh-CN" altLang="en-US"/>
              <a:t>动态的，</a:t>
            </a:r>
            <a:r>
              <a:rPr lang="zh-CN" altLang="en-US"/>
              <a:t>不断发展变化的</a:t>
            </a:r>
            <a:endParaRPr lang="zh-CN" altLang="en-US"/>
          </a:p>
          <a:p>
            <a:r>
              <a:rPr lang="zh-CN" altLang="en-US"/>
              <a:t>他是当下仍旧活跃的最有闯劲、最具想象力的爵士乐钢琴师之一</a:t>
            </a:r>
            <a:endParaRPr lang="zh-CN" altLang="en-US"/>
          </a:p>
          <a:p>
            <a:r>
              <a:rPr lang="zh-CN" altLang="en-US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市场要有活力，需要不断地改变和调整。</a:t>
            </a:r>
            <a:endParaRPr lang="zh-CN" altLang="en-US"/>
          </a:p>
          <a:p>
            <a:r>
              <a:rPr lang="en-US" altLang="en-US"/>
              <a:t> a situation or group of people are the opposing forces within it that cause it to change.</a:t>
            </a:r>
            <a:r>
              <a:rPr lang="zh-CN" altLang="en-US"/>
              <a:t>相互作用；动态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抽样调查</a:t>
            </a:r>
            <a:endParaRPr lang="zh-CN" altLang="en-US"/>
          </a:p>
          <a:p>
            <a:r>
              <a:rPr lang="zh-CN" altLang="en-US"/>
              <a:t>我第一次品尝了希腊烹饪的乐趣。</a:t>
            </a:r>
            <a:endParaRPr lang="zh-CN" altLang="en-US"/>
          </a:p>
          <a:p>
            <a:r>
              <a:rPr lang="en-US" altLang="zh-CN"/>
              <a:t>take samples of their blood</a:t>
            </a:r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不了解……的</a:t>
            </a:r>
            <a:r>
              <a:rPr lang="zh-CN" altLang="en-US"/>
              <a:t>进展</a:t>
            </a:r>
            <a:endParaRPr lang="zh-CN" altLang="en-US"/>
          </a:p>
          <a:p>
            <a:r>
              <a:rPr lang="zh-CN" altLang="en-US"/>
              <a:t>在</a:t>
            </a:r>
            <a:r>
              <a:rPr lang="zh-CN" altLang="en-US"/>
              <a:t>路上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此时浓雾笼罩着林木，我彻底迷路了。</a:t>
            </a:r>
            <a:endParaRPr lang="zh-CN" altLang="en-US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900" y="-168910"/>
            <a:ext cx="1197610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blooming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flower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flower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full bloom(blossom)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鲜花盛开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cherry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blossom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came out early in Washington this year.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花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unfold a map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unfolded her arms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audience watched as the story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unfolded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before their eyes.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观众看着剧情逐渐地展开。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unfolded her tale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to us.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974975" y="22733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lay out a map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6535" y="135255"/>
            <a:ext cx="1175385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当我发现自己坐在校长的办公室里时，那个机会就出现了。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chance unfolded as I found muself sitting in the headmaster’s office.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As the fog vanished, ______________________________________ (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壮丽的景色在我们眼前展开)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unfold (v.) - fold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opp.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v.) - folder (n.)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fold (up) the paper in two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fold (up) the table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fold the baby in the blanket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fold sb in one’s arms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968115" y="1791970"/>
            <a:ext cx="82238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splendid scenery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unfolded before our eyes.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1475" y="220345"/>
            <a:ext cx="1165923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breathtaking /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impressive, splendid, spectacular, magnificent, amazing, stunning, awesome, astounding, striking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rich (adj.) - richness (n.) - 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 the heart of sb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深受某人的喜爱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1784" y="3816131"/>
            <a:ext cx="10880924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something to offer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有东西可以提供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Canada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 much to offer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terms of location and climate.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从位置和气候来说，加拿大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可提供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许多有利条件。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047615" y="1976755"/>
            <a:ext cx="82238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enrich (v.)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4" grpId="1"/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6533" y="135334"/>
            <a:ext cx="11390753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broad / 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vast, great, huge, extensive, immense, spacious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ethnically diverse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民族多元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ethnic groups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ethnic tensions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种族紧张形势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ethnic clothes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ethnic minority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少数民族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ethnically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divided region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种族分裂地区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63850" y="24771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族群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48125" y="2553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ethnic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communities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946400" y="364998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具有民族特色的服装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3040" y="0"/>
            <a:ext cx="1199896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distinct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cultures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不同的文化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1)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clearly different, unique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Country music is quite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distinct from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jazz.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results of the survey fell into two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distinct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groups.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outline of the building became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more distinct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distinct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smell of gas / His voice was quiet but every word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distinct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Being tall gave Tony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distinct advantage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978265" y="1828165"/>
            <a:ext cx="20085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清晰的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632700" y="3608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3)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确切的优势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definite</a:t>
            </a:r>
            <a:endParaRPr lang="en-US" altLang="zh-CN" sz="3200" b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3040" y="0"/>
            <a:ext cx="1199896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adv.</a:t>
            </a:r>
            <a:endParaRPr lang="en-US" altLang="en-US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could remember everything very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distinctly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n.</a:t>
            </a:r>
            <a:endParaRPr lang="en-US" altLang="en-US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make/draw a distinction between A and B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writer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distinction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优秀作家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the quality of being excellent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graduated with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distinction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以优异成绩毕业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 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distinctive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独特的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characteristic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clothes with a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distinctive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style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1660" y="213995"/>
            <a:ext cx="1161034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Although they look similar, these plants are actually quite distinct __________ each other.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Before birth,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babies can ______ ____ __________ ________ their mother’s voice and that of a female stranger.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能分辨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new law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makes no distinction between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adults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children.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这项新法规对成人和孩子同样适用。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49217" y="1419526"/>
            <a:ext cx="1095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58819" y="2004301"/>
            <a:ext cx="5804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    a      distinction between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87350" y="229870"/>
            <a:ext cx="11296015" cy="61950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Mountains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rose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the distance.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远处山峦叠起。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carved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initials on the desk. 1) 刻，雕刻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statue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carved out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single piece of stone.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wood had been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carved 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shape of a flower.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carve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turkey 切块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carving  n.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雕刻，雕刻品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wood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carving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 a human hand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木雕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succeeded in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carving out a career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in the media.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艰苦创业，奋斗取得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事业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7808" y="1139688"/>
            <a:ext cx="11264348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手工艺人会用石头、黏土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(clay)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或木头刻出他们的产品。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>
              <a:lnSpc>
                <a:spcPct val="120000"/>
              </a:lnSpc>
              <a:buNone/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He carved _________ a name for himself in the engineering business.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Wood _________ (carve) began as a necessity in America and developed into an art.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  <a:buAutoNum type="arabicParenR"/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7306" y="2373879"/>
            <a:ext cx="11447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Craftsmen would carve their products out of stone, clay or wood.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66661" y="2935948"/>
            <a:ext cx="7537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31587" y="4126758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carving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028" y="317363"/>
            <a:ext cx="11264348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Because mother is afraid we'll get lost, we aren't allowed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wander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far.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It's easy to be distracted and let your attention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wander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road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wanders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through the hills.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028" y="317363"/>
            <a:ext cx="11264348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mighty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warrior 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威猛的斗士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mighty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Yellow River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浩荡的黄河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land marked with vast lakes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mighty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rivers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一片拥有大片湖泊和宽广河流的土地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grand, great, impressive, towering, high, powerful, huge, enormous, massive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had given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mightily impressive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performance.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印象深刻的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struggled mightily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avoid more losses.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艰苦努力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028" y="317363"/>
            <a:ext cx="11264348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was on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edge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tears.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Through superior production techniques they were able to gain the competitive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edge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nerves were constantly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edge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92263" y="317363"/>
            <a:ext cx="11264348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 mountains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 forests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 lake 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" y="317500"/>
            <a:ext cx="6637655" cy="56134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16090" y="3175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towering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16090" y="23520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snow-capped, spectacular...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791960" y="2986405"/>
            <a:ext cx="5080000" cy="583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dense, vast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936740" y="10280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thick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936740" y="15970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crystal-clear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816090" y="36207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shining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8" grpId="0"/>
      <p:bldP spid="8" grpId="1"/>
      <p:bldP spid="9" grpId="0"/>
      <p:bldP spid="9" grpId="1"/>
      <p:bldP spid="10" grpId="0"/>
      <p:bldP spid="10" grpId="1"/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9545" y="377190"/>
            <a:ext cx="11779250" cy="182118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3200" b="1"/>
              <a:t>中国就像大自然描绘的一幅</a:t>
            </a:r>
            <a:r>
              <a:rPr lang="zh-CN" altLang="en-US" sz="3200" b="1">
                <a:solidFill>
                  <a:srgbClr val="FB0007"/>
                </a:solidFill>
              </a:rPr>
              <a:t>惊人的</a:t>
            </a:r>
            <a:r>
              <a:rPr lang="zh-CN" altLang="en-US" sz="3200" b="1"/>
              <a:t>艺术品，</a:t>
            </a:r>
            <a:r>
              <a:rPr lang="zh-CN" altLang="en-US" sz="3200" b="1">
                <a:solidFill>
                  <a:srgbClr val="FB0007"/>
                </a:solidFill>
              </a:rPr>
              <a:t>广袤的</a:t>
            </a:r>
            <a:r>
              <a:rPr lang="zh-CN" altLang="en-US" sz="3200" b="1"/>
              <a:t>土地，</a:t>
            </a:r>
            <a:r>
              <a:rPr lang="zh-CN" altLang="en-US" sz="3200" b="1">
                <a:solidFill>
                  <a:srgbClr val="FB0007"/>
                </a:solidFill>
              </a:rPr>
              <a:t>壮丽的</a:t>
            </a:r>
            <a:r>
              <a:rPr lang="zh-CN" altLang="en-US" sz="3200" b="1"/>
              <a:t>森林，</a:t>
            </a:r>
            <a:r>
              <a:rPr lang="zh-CN" altLang="en-US" sz="3200" b="1">
                <a:solidFill>
                  <a:srgbClr val="FB0007"/>
                </a:solidFill>
              </a:rPr>
              <a:t>清澈的</a:t>
            </a:r>
            <a:r>
              <a:rPr lang="zh-CN" altLang="en-US" sz="3200" b="1"/>
              <a:t>湖泊，浩荡的河流和</a:t>
            </a:r>
            <a:r>
              <a:rPr lang="zh-CN" altLang="en-US" sz="3200" b="1">
                <a:solidFill>
                  <a:srgbClr val="FB0007"/>
                </a:solidFill>
              </a:rPr>
              <a:t>巍峨的</a:t>
            </a:r>
            <a:r>
              <a:rPr lang="zh-CN" altLang="en-US" sz="3200" b="1"/>
              <a:t>山脉展示了它的独特和美丽，深受那些喜欢多元</a:t>
            </a:r>
            <a:r>
              <a:rPr lang="zh-CN" altLang="en-US" sz="3200" b="1"/>
              <a:t>文化人们的青睐。</a:t>
            </a:r>
            <a:endParaRPr lang="zh-CN" altLang="en-US" sz="3200" b="1"/>
          </a:p>
          <a:p>
            <a:pPr indent="0" fontAlgn="auto">
              <a:lnSpc>
                <a:spcPct val="100000"/>
              </a:lnSpc>
            </a:pP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China is like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breathtaking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artwork painted by Mother Nature,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vast land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splendid forests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crystal-clear lakes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mighty rivers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towering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mountains demonstrating its uniqueness and beauty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win the heart of those who enjoy what it has to offer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2336" y="265426"/>
            <a:ext cx="11131296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I've finished the test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apart from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last question.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除了最后一道题，这个测试我全做完了。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except for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Apart from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their house in London, they also have a villa in Spain.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他们在伦敦有一座房子，此外在西班牙还有一座别墅。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in addition to,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as well as, besides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1701" y="123821"/>
            <a:ext cx="11131296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common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ancestor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 lizards and turtles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ancestral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home 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Many of them are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descendants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 the original settlers.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他们中许多人都是早期移民的后裔。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indigenous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native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indigenous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peoples/languages of the area/community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kangaroo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is indigenous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Australia.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原产于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be native to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1701" y="123821"/>
            <a:ext cx="11131296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by means of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经由，通过……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方式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交通工具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'Do you mind if I have a look?' '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By all means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.'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by no means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an inexperienced teacher.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settle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It's time you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settled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your differences with your father.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problem remains ______________. (settle)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7270" y="7486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means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 transport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422140" y="4201795"/>
            <a:ext cx="299974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to be settled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7938" y="407126"/>
            <a:ext cx="11202270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5. The major ethnic groups, for example, include the English, Scottish and French,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while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minority groups include residents from Singapore and the Pacific Islands.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9680" y="2269839"/>
            <a:ext cx="1057612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“while” is used to emphasize the difference between the two situations, activities, etc.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while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作并列连词，表示对比，意为“然而”。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9898" y="4134965"/>
            <a:ext cx="10499487" cy="68199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622300" indent="-6223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is a night owl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while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her husband is an early bird.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82678" y="390305"/>
            <a:ext cx="11191014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54330" indent="-354330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zh-CN" altLang="zh-CN" dirty="0">
                <a:solidFill>
                  <a:srgbClr val="0000FF"/>
                </a:solidFill>
              </a:rPr>
              <a:t>【归纳】</a:t>
            </a:r>
            <a:r>
              <a:rPr lang="en-US" altLang="zh-CN" dirty="0"/>
              <a:t>while</a:t>
            </a:r>
            <a:r>
              <a:rPr lang="zh-CN" altLang="en-US" dirty="0"/>
              <a:t>的其它用法</a:t>
            </a:r>
            <a:endParaRPr lang="zh-CN" altLang="en-US" dirty="0"/>
          </a:p>
          <a:p>
            <a:pPr marL="0" indent="0" fontAlgn="auto"/>
            <a:r>
              <a:rPr lang="en-US" altLang="zh-CN" dirty="0"/>
              <a:t>1)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 she was asleep, thieves broke in and stole her handbag.    </a:t>
            </a:r>
            <a:r>
              <a:rPr lang="zh-CN" altLang="en-US" dirty="0">
                <a:ea typeface="+mn-ea"/>
              </a:rPr>
              <a:t>时间状语从句</a:t>
            </a:r>
            <a:endParaRPr lang="en-US" altLang="en-US" dirty="0">
              <a:ea typeface="+mn-ea"/>
            </a:endParaRPr>
          </a:p>
          <a:p>
            <a:pPr marL="0" indent="0" fontAlgn="auto">
              <a:lnSpc>
                <a:spcPct val="120000"/>
              </a:lnSpc>
            </a:pPr>
            <a:r>
              <a:rPr lang="en-US" altLang="zh-CN" dirty="0">
                <a:ea typeface="+mn-ea"/>
              </a:rPr>
              <a:t>2)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sym typeface="+mn-ea"/>
              </a:rPr>
              <a:t> we don’t agree with each other, we continue to be      friends.</a:t>
            </a:r>
            <a:endParaRPr lang="en-US" altLang="zh-CN" dirty="0">
              <a:solidFill>
                <a:srgbClr val="000000"/>
              </a:solidFill>
              <a:sym typeface="+mn-ea"/>
            </a:endParaRPr>
          </a:p>
          <a:p>
            <a:pPr marL="0" indent="0" fontAlgn="auto">
              <a:lnSpc>
                <a:spcPct val="120000"/>
              </a:lnSpc>
            </a:pPr>
            <a:r>
              <a:rPr lang="zh-CN" altLang="en-US" dirty="0">
                <a:ea typeface="+mn-ea"/>
              </a:rPr>
              <a:t>让步状语从句</a:t>
            </a:r>
            <a:endParaRPr lang="zh-CN" altLang="en-US" dirty="0"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925" y="0"/>
            <a:ext cx="12156440" cy="600075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plan was designed to help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minorities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improve their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economic conditions.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minority languages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少数民族语言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ethnic/racial minorities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少数民族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Only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minority of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young people like to listen to classical music.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少数的……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Women are 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占少数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in the top rank of government.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majority n.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minor injuries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play a minor role in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of minor importance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31815" y="4163060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minors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未成年人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It’s an offence to serve alcohol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minors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90445" y="28797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 a/the minority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9708" y="208971"/>
            <a:ext cx="11246684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Should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you find yourself in one of these subcultures, languages, cuisine, architecture, art and music will define your encounter.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如果你发现自己置身于其中一种亚文化中，那么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它的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语言、饮食、建筑、艺术和音乐都会说明你邂逅的是何处文化。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9201" y="2662787"/>
            <a:ext cx="10679755" cy="631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should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置于句首，省略连词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if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，构成倒装。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9201" y="3350931"/>
            <a:ext cx="10499487" cy="127254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Should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anyone call (= if anyone should call), please tell  them I’ll be back soon.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9385" y="114300"/>
            <a:ext cx="11634470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可以省略</a:t>
            </a:r>
            <a:r>
              <a:rPr 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</a:t>
            </a:r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的条件句，一般以</a:t>
            </a:r>
            <a:r>
              <a:rPr 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had, were, should</a:t>
            </a:r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开头</a:t>
            </a:r>
            <a:endParaRPr lang="zh-CN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endParaRPr lang="zh-CN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如果他更努力，他就能通过考试。</a:t>
            </a:r>
            <a:endParaRPr lang="zh-CN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sz="30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Had</a:t>
            </a:r>
            <a:r>
              <a:rPr lang="en-US" sz="30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 worked harder, he would have got through the exams.</a:t>
            </a:r>
            <a:endParaRPr lang="en-US" sz="3000" b="1" kern="1200" dirty="0">
              <a:solidFill>
                <a:schemeClr val="tx1"/>
              </a:solidFill>
              <a:effectLst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如果她是我的朋友，我会向她寻求帮助。</a:t>
            </a:r>
            <a:endParaRPr lang="zh-CN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sz="30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Were</a:t>
            </a:r>
            <a:r>
              <a:rPr lang="en-US" sz="30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she my friend, I would ask her for help.</a:t>
            </a:r>
            <a:endParaRPr lang="en-US" sz="3000" b="1" kern="1200" dirty="0">
              <a:solidFill>
                <a:schemeClr val="tx1"/>
              </a:solidFill>
              <a:effectLst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如果明天下雨，我们将取消会议。</a:t>
            </a:r>
            <a:r>
              <a:rPr lang="en-US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en-US" sz="30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Should</a:t>
            </a:r>
            <a:r>
              <a:rPr lang="en-US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it rain tomorrow, we would stay at home.</a:t>
            </a:r>
            <a:endParaRPr lang="en-US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en-US" sz="3000" b="1" dirty="0">
                <a:solidFill>
                  <a:srgbClr val="0000FF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*should</a:t>
            </a:r>
            <a:r>
              <a:rPr lang="zh-CN" altLang="en-US" sz="3000" b="1" dirty="0">
                <a:solidFill>
                  <a:srgbClr val="0000FF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可以引导真实条件句</a:t>
            </a:r>
            <a:endParaRPr lang="en-US" altLang="en-US" sz="3000" b="1" dirty="0">
              <a:solidFill>
                <a:srgbClr val="0000FF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_________________, your health care and other benefits will not be immediately cut off. </a:t>
            </a:r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如果你被开除</a:t>
            </a:r>
            <a:r>
              <a:rPr lang="zh-CN" altLang="en-US" sz="3000" b="1" dirty="0">
                <a:solidFill>
                  <a:schemeClr val="tx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了</a:t>
            </a:r>
            <a:endParaRPr lang="zh-CN" altLang="en-US" sz="3000" b="1" dirty="0"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7625" y="421989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Should you be fired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5575" y="0"/>
            <a:ext cx="1188275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cuisine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authentic cuisine / traditional cuisine / local cuisine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地道料理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传统料理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本地料理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architectural adj.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distinct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architectural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style of the town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architect n.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had never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encountered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 resistance before.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confront/meet with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was the most remarkable woman he had ever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encountered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come across/run into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chance encounter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8760" y="0"/>
            <a:ext cx="1195260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经济最活跃的地区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 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and energetic leader</a:t>
            </a:r>
            <a:endParaRPr lang="en-US" altLang="zh-CN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personality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充满活力的个性</a:t>
            </a:r>
            <a:endParaRPr lang="zh-CN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market price is a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 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element to consider in this study.</a:t>
            </a:r>
            <a:endParaRPr lang="en-US" altLang="zh-CN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opp.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static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静态的</a:t>
            </a:r>
            <a:endParaRPr lang="zh-CN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He's one of the most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dynamically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imaginative jazz pianists.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 the market demands constant change and adjustment.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interchange of ideas aids an understanding of family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家庭动态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Dynamics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力学，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动力学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73805" y="0"/>
            <a:ext cx="7493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most dynamic economic region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896610" y="6819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ym typeface="+mn-ea"/>
              </a:rPr>
              <a:t>富有干劲、精力充沛的领导</a:t>
            </a:r>
            <a:endParaRPr lang="zh-CN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8760" y="0"/>
            <a:ext cx="1195260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sample n.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interviews were given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random sample of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students.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随机抽选出部分学生进行了采访。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sample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surve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y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free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sample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 shampoo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v.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12% of the children ________ (sample) said they prefer cats to dogs.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sampled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delights of Greek cooking for the first time.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46195" y="3527425"/>
            <a:ext cx="18008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sampled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8760" y="407035"/>
            <a:ext cx="1177925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know a nice place for a picnic that’s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off the beaten track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; hardly anyone goes there.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This is a design which gets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off the beaten track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了解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的动态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思路正确，做法对路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Director Yu Yang's animated sequel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 track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to become China's top-grossing film of all time.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在正确的轨道上，有望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track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and field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 set off once more, over a rough mountain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track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followed him,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tracking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him in the snow until finally he got tired.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887980" y="21888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keep track of…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06850" y="27501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 the right track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4" grpId="1"/>
      <p:bldP spid="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1972" y="245430"/>
            <a:ext cx="11271068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These colors won’t last if _______  _______ the sun.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exposure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Given /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considering, in view of / i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 the light of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Given that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she is interested in children, ...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05350" y="245745"/>
            <a:ext cx="29603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exposed    to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79095" y="396240"/>
            <a:ext cx="11187430" cy="40309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(It’s) no/little/small wonder/surprise (that)... 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Her letter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came as a complete surprise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 </a:t>
            </a:r>
            <a:endParaRPr lang="en-US" altLang="zh-CN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万万没想到会收到她的信。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他们平安的消息给大家带来了莫大的安慰。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News of their safety ____ ____ __ _____ ____ ____ us all.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这个新闻会令很多记者感到震惊。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The news will ____ ___ ___ ____ __many journalists.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867785" y="28454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came   as    a   great  relief   to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05125" y="38042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come  as  a  shock to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6" grpId="1"/>
      <p:bldP spid="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7943" y="162568"/>
            <a:ext cx="10941012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depths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the ocean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最深处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depths of despair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她处于绝望的深渊。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gazed into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depths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her eyes.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writer of great wisdom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depth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洞察力，深刻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look at the report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depth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深入，详细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in-depth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study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深入研究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7960" y="162560"/>
            <a:ext cx="11779250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blanket of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fog/snow/cloud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ground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soon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blanketed with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snow.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地面很快铺上了一层厚厚的积雪。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a thick mist now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blanketing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trees, I got thoroughly lost.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8195</Words>
  <Application>WPS Writer</Application>
  <PresentationFormat>宽屏</PresentationFormat>
  <Paragraphs>306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汉仪旗黑</vt:lpstr>
      <vt:lpstr>Times New Roman</vt:lpstr>
      <vt:lpstr>汉仪书宋二KW</vt:lpstr>
      <vt:lpstr>Times New Roman Bold Italic</vt:lpstr>
      <vt:lpstr>Times New Roman Bold</vt:lpstr>
      <vt:lpstr>宋体</vt:lpstr>
      <vt:lpstr>Arial Unicode MS</vt:lpstr>
      <vt:lpstr>Calibri Light</vt:lpstr>
      <vt:lpstr>Helvetica Neue</vt:lpstr>
      <vt:lpstr>Calibri</vt:lpstr>
      <vt:lpstr>Times New Roman Regular</vt:lpstr>
      <vt:lpstr>等线</vt:lpstr>
      <vt:lpstr>汉仪中等线KW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Elsssie</cp:lastModifiedBy>
  <cp:revision>13</cp:revision>
  <dcterms:created xsi:type="dcterms:W3CDTF">2025-02-17T01:27:34Z</dcterms:created>
  <dcterms:modified xsi:type="dcterms:W3CDTF">2025-02-17T01:27:34Z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1033-6.14.0.8924</vt:lpwstr>
  </property>
  <property fmtid="{D5CDD505-2E9C-101B-9397-08002B2CF9AE}" pid="3" name="ICV">
    <vt:lpwstr>B9A4C45827ACFD8ACA46AC67F5B9A284_42</vt:lpwstr>
  </property>
</Properties>
</file>