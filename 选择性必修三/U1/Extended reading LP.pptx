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77" r:id="rId3"/>
    <p:sldId id="555" r:id="rId4"/>
    <p:sldId id="432" r:id="rId6"/>
    <p:sldId id="554" r:id="rId7"/>
    <p:sldId id="557" r:id="rId8"/>
    <p:sldId id="503" r:id="rId9"/>
    <p:sldId id="434" r:id="rId10"/>
    <p:sldId id="469" r:id="rId11"/>
    <p:sldId id="531" r:id="rId12"/>
    <p:sldId id="558" r:id="rId13"/>
    <p:sldId id="544" r:id="rId14"/>
    <p:sldId id="435" r:id="rId15"/>
    <p:sldId id="559" r:id="rId16"/>
    <p:sldId id="560" r:id="rId17"/>
    <p:sldId id="523" r:id="rId18"/>
    <p:sldId id="542" r:id="rId19"/>
    <p:sldId id="56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66"/>
    <a:srgbClr val="56ADE1"/>
    <a:srgbClr val="C5D6E6"/>
    <a:srgbClr val="0A74F9"/>
    <a:srgbClr val="FFFFFF"/>
    <a:srgbClr val="E9EBF5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4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never-ending, endless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solve - </a:t>
            </a:r>
            <a:r>
              <a:rPr lang="en-US" altLang="en-US"/>
              <a:t>solution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set about </a:t>
            </a:r>
            <a:r>
              <a:rPr lang="zh-CN" altLang="en-US"/>
              <a:t>着手做</a:t>
            </a:r>
            <a:endParaRPr lang="zh-CN" altLang="en-US"/>
          </a:p>
          <a:p>
            <a:r>
              <a:rPr lang="en-US" altLang="en-US"/>
              <a:t>suffer a setback</a:t>
            </a:r>
            <a:r>
              <a:rPr lang="zh-CN" altLang="en-US"/>
              <a:t> 遭受挫折</a:t>
            </a:r>
            <a:endParaRPr lang="en-US" altLang="en-US"/>
          </a:p>
          <a:p>
            <a:r>
              <a:rPr lang="en-US" altLang="zh-CN"/>
              <a:t>set out to do </a:t>
            </a:r>
            <a:r>
              <a:rPr lang="zh-CN" altLang="en-US"/>
              <a:t>有意做某事</a:t>
            </a:r>
            <a:r>
              <a:rPr lang="en-US" altLang="zh-CN"/>
              <a:t>，</a:t>
            </a:r>
            <a:r>
              <a:rPr lang="zh-CN" altLang="en-US"/>
              <a:t>打算</a:t>
            </a:r>
            <a:endParaRPr lang="zh-CN" altLang="en-US"/>
          </a:p>
          <a:p>
            <a:r>
              <a:rPr lang="en-US" altLang="zh-CN"/>
              <a:t>set up a database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比较和对比</a:t>
            </a:r>
            <a:r>
              <a:rPr lang="en-US" altLang="zh-CN"/>
              <a:t> comparison and contrast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spectacular, magnificent, stunning, marvellous, breathtaking, splendid</a:t>
            </a:r>
            <a:endParaRPr lang="en-US"/>
          </a:p>
          <a:p>
            <a:r>
              <a:rPr lang="zh-CN" altLang="en-US"/>
              <a:t>一缕阳光</a:t>
            </a:r>
            <a:endParaRPr lang="zh-CN" altLang="en-US"/>
          </a:p>
          <a:p>
            <a:r>
              <a:rPr lang="en-US" altLang="en-US"/>
              <a:t>his daughter was a ray of sunshine in his life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她现在创作了一部非推理小说，与她以前的作品大相径庭。</a:t>
            </a:r>
            <a:r>
              <a:rPr lang="en-US" altLang="zh-CN"/>
              <a:t>(</a:t>
            </a:r>
            <a:r>
              <a:rPr lang="zh-CN" altLang="en-US"/>
              <a:t>背离，违背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离开的</a:t>
            </a:r>
            <a:r>
              <a:rPr lang="zh-CN" altLang="en-US"/>
              <a:t>班次</a:t>
            </a:r>
            <a:endParaRPr lang="zh-CN" altLang="en-US"/>
          </a:p>
          <a:p>
            <a:r>
              <a:rPr lang="zh-CN" altLang="en-US"/>
              <a:t>候车室、登机口</a:t>
            </a:r>
            <a:r>
              <a:rPr lang="en-US" altLang="zh-CN"/>
              <a:t> </a:t>
            </a:r>
            <a:r>
              <a:rPr lang="en-US" altLang="en-US"/>
              <a:t> /la</a:t>
            </a:r>
            <a:r>
              <a:rPr lang="en-US" altLang="en-US"/>
              <a:t>ʊ</a:t>
            </a:r>
            <a:r>
              <a:rPr lang="en-US" altLang="en-US"/>
              <a:t>n(d)</a:t>
            </a:r>
            <a:r>
              <a:rPr lang="en-US" altLang="en-US"/>
              <a:t>ʒ</a:t>
            </a:r>
            <a:r>
              <a:rPr lang="en-US"/>
              <a:t>/</a:t>
            </a:r>
            <a:endParaRPr lang="en-US"/>
          </a:p>
          <a:p>
            <a:r>
              <a:rPr lang="en-US"/>
              <a:t>terminal 3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/</a:t>
            </a:r>
            <a:r>
              <a:rPr lang="en-US" altLang="en-US"/>
              <a:t>meadow/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first sentence paints a more vivid, continuous image of the bird in motion.</a:t>
            </a:r>
            <a:endParaRPr lang="en-US" altLang="en-US"/>
          </a:p>
          <a:p>
            <a:r>
              <a:rPr lang="en-US" altLang="en-US"/>
              <a:t>The second sentence breaks the action into steps, making it more structured and deliberate.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Tears welled up in her eyes.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一大堆活儿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possess an independent character </a:t>
            </a:r>
            <a:r>
              <a:rPr lang="zh-CN" altLang="en-US"/>
              <a:t>具有独立的性格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意图</a:t>
            </a:r>
            <a:r>
              <a:rPr lang="en-US" altLang="zh-CN"/>
              <a:t> (n.)</a:t>
            </a:r>
            <a:endParaRPr lang="en-US" altLang="zh-CN"/>
          </a:p>
          <a:p>
            <a:r>
              <a:rPr lang="en-US" altLang="zh-CN"/>
              <a:t>speciality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96545" y="228600"/>
            <a:ext cx="1170432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a long hard look at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all the options.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进行了长期、认真的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研究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make a resolution to do sth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决定做某事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you made any New Year's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resolutions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?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新年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决心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pass a resolution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通过一项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决议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正式决定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3)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问题或纠纷）解决，消除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settlement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government is pressing for an early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resolution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 the dispute.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high-resolution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graphics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高分辨率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图形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96545" y="228600"/>
            <a:ext cx="1170432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resolve an issue/a dispute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解决问题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、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争端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resolved not to tell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her the truth.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决定做某事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resolved (that)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would never see him again.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difficulties in her way merely strengthened 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resolve (n.)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坚定的信念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resolution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296545" y="3863340"/>
            <a:ext cx="1170432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你应该下定决心直面生活中的挑战。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should _______ _____  face challenges in your life.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Overweight issue remains __________ (resolve) despite WHO’s effort.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未解决的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68575" y="44538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resolve   to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895215" y="49815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unresolved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96552" y="423856"/>
            <a:ext cx="11171383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tries to set ______ some money every month.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need to set about ______ (find) a solution.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bad weather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set back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building programme by several weeks.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set _______ for London just after ten.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Opening this door will set _____ the alarm.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set out ________ (break) the world record.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photographer took some time to set ___ all her equipment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Tell us when and why you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set ____ your business.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009900" y="423545"/>
            <a:ext cx="11626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aside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042410" y="993775"/>
            <a:ext cx="1463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finding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682115" y="2781300"/>
            <a:ext cx="14643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off/out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984750" y="3377565"/>
            <a:ext cx="9671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off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378710" y="3895090"/>
            <a:ext cx="21558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break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71080" y="4474210"/>
            <a:ext cx="21558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up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608955" y="5113655"/>
            <a:ext cx="21558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up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521075" y="2124075"/>
            <a:ext cx="1463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耽搁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9380" y="423545"/>
            <a:ext cx="1195197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wasn’t long before…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“不久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就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”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33400" fontAlgn="auto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won’t be long before…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 “很快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就会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endParaRPr lang="en-US" altLang="zh-CN" sz="3200" b="1" dirty="0">
              <a:latin typeface="+mn-ea"/>
              <a:cs typeface="Times New Roman" panose="02020503050405090304" pitchFamily="18" charset="0"/>
            </a:endParaRPr>
          </a:p>
          <a:p>
            <a:pPr indent="-533400" fontAlgn="auto">
              <a:lnSpc>
                <a:spcPct val="120000"/>
              </a:lnSpc>
              <a:buAutoNum type="arabicParenR"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屹立在村庄之上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、山顶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覆盖着白雪的雄伟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山峰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magnificent snow-capped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peaks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towering over/above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village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towers over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other dancers of her generation.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她远远超过同时代的舞蹈演员。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outperform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1886" y="440844"/>
            <a:ext cx="11139633" cy="384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1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没过多久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I tracked down the lost wallet.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1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has been a long time since they separated, but __________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不久就会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they meet again.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 The company 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超过竞争者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in this area.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9251" y="892416"/>
            <a:ext cx="398436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not long before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0311" y="1915990"/>
            <a:ext cx="10501208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                                                                 it won’t be long before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27006" y="3067760"/>
            <a:ext cx="526939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towers above its competitors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0"/>
            <a:ext cx="1219136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火辣辣的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sun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beating down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his back.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（阳光）强烈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照射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形成对比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 /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k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ə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n'trɑːst/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contrast sharply/strikingly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 (A and B contrast sharply)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对比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和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poem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contrasts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youth and age.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与……相比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n.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/'kɒntrɑːst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contrast to/with sth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company lost $7 million this quarter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contrast to/with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profit of $6.2 million a year earlier.</a:t>
            </a:r>
            <a:endParaRPr lang="en-US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When you look at their new system, ours seems very old-fashioned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by contrast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相比之下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show a sharp/striking/stark contrast with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与某事物形成鲜明对比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81050" y="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burning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0020" y="0"/>
            <a:ext cx="1218692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crowds stood there for over an hour, __________________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烈日一直照在他们身上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Her actions and her promises __________ _______.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相差甚远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Paint the wall in a __________ (contrast) colour.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对比鲜明的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private sector, ____ _______, has plenty of money to spend.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相比之下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东西方文化之间有明显的差异。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is ____ _____ _______ _______ the cultures of East and West.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南方的自然风光和北方的现代建筑形成了鲜明的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对比。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 __________ in the south ___ ___ ____ _______ ____ ______ ____________ in the north.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2137" y="-187"/>
            <a:ext cx="110815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with the sun beating down on them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06135" y="11417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contrasted  sharply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38905" y="17373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contrasting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003675" y="23329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   contrast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734185" y="41008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obvious contrast between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28295" y="5199380"/>
            <a:ext cx="12186285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atural landscape                       is     a   sharp contrast with modern architecture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4470" y="0"/>
            <a:ext cx="1178306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en-US" sz="3200" b="1" dirty="0"/>
              <a:t>a </a:t>
            </a:r>
            <a:r>
              <a:rPr lang="en-US" altLang="en-US" sz="3200" b="1" dirty="0">
                <a:solidFill>
                  <a:srgbClr val="FF0000"/>
                </a:solidFill>
              </a:rPr>
              <a:t>striking </a:t>
            </a:r>
            <a:r>
              <a:rPr lang="en-US" altLang="en-US" sz="3200" b="1" dirty="0"/>
              <a:t>feature </a:t>
            </a:r>
            <a:r>
              <a:rPr lang="zh-CN" altLang="en-US" sz="3200" b="1" dirty="0"/>
              <a:t>显著的特征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有机会欣赏肯尼亚的壮丽景色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en-US" altLang="en-US" sz="3200" b="1" dirty="0"/>
              <a:t>have the opportunity to see Kenya's </a:t>
            </a:r>
            <a:r>
              <a:rPr lang="en-US" altLang="en-US" sz="3200" b="1" dirty="0">
                <a:solidFill>
                  <a:srgbClr val="FF0000"/>
                </a:solidFill>
              </a:rPr>
              <a:t>striking </a:t>
            </a:r>
            <a:r>
              <a:rPr lang="en-US" altLang="en-US" sz="3200" b="1" dirty="0"/>
              <a:t>landscape</a:t>
            </a:r>
            <a:endParaRPr lang="en-US" altLang="en-US" sz="3200" b="1" dirty="0"/>
          </a:p>
          <a:p>
            <a:pPr fontAlgn="auto">
              <a:lnSpc>
                <a:spcPct val="120000"/>
              </a:lnSpc>
            </a:pPr>
            <a:r>
              <a:rPr lang="en-US" altLang="en-US" sz="3200" b="1" dirty="0"/>
              <a:t>The two polls produced __________________________. </a:t>
            </a:r>
            <a:r>
              <a:rPr lang="zh-CN" altLang="en-US" sz="3200" b="1" dirty="0"/>
              <a:t>两次投票产生的结果截然不同。</a:t>
            </a:r>
            <a:endParaRPr lang="en-US" altLang="en-US" sz="3200" b="1" dirty="0"/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落日的余晖</a:t>
            </a:r>
            <a:r>
              <a:rPr lang="en-US" altLang="zh-CN" sz="3200" b="1" dirty="0"/>
              <a:t> the last </a:t>
            </a:r>
            <a:r>
              <a:rPr lang="en-US" altLang="zh-CN" sz="3200" b="1" dirty="0">
                <a:solidFill>
                  <a:srgbClr val="FF0000"/>
                </a:solidFill>
              </a:rPr>
              <a:t>rays </a:t>
            </a:r>
            <a:r>
              <a:rPr lang="en-US" altLang="zh-CN" sz="3200" b="1" dirty="0"/>
              <a:t>of the setting sun</a:t>
            </a:r>
            <a:endParaRPr lang="en-US" altLang="zh-CN" sz="3200" b="1" dirty="0"/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ray of</a:t>
            </a:r>
            <a:r>
              <a:rPr lang="en-US" altLang="zh-CN" sz="3200" b="1" dirty="0"/>
              <a:t> sunshine ______________ 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透过树</a:t>
            </a:r>
            <a:r>
              <a:rPr lang="zh-CN" altLang="en-US" sz="3200" b="1" dirty="0"/>
              <a:t>照射下来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zh-CN" altLang="en-US" sz="3200" b="1" dirty="0"/>
              <a:t>洒在……</a:t>
            </a:r>
            <a:r>
              <a:rPr lang="zh-CN" altLang="en-US" sz="3200" b="1" dirty="0"/>
              <a:t>上</a:t>
            </a:r>
            <a:endParaRPr lang="zh-CN" altLang="en-US" sz="3200" b="1" dirty="0"/>
          </a:p>
          <a:p>
            <a:pPr fontAlgn="auto">
              <a:lnSpc>
                <a:spcPct val="120000"/>
              </a:lnSpc>
            </a:pPr>
            <a:r>
              <a:rPr lang="en-US" altLang="zh-CN" sz="3200" b="1" dirty="0"/>
              <a:t>There was just </a:t>
            </a:r>
            <a:r>
              <a:rPr lang="en-US" altLang="zh-CN" sz="3200" b="1" dirty="0">
                <a:solidFill>
                  <a:srgbClr val="FF0000"/>
                </a:solidFill>
              </a:rPr>
              <a:t>one small ray of hope</a:t>
            </a:r>
            <a:r>
              <a:rPr lang="en-US" altLang="zh-CN" sz="3200" b="1" dirty="0">
                <a:solidFill>
                  <a:schemeClr val="tx1"/>
                </a:solidFill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</a:rPr>
              <a:t>一线希望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ray of</a:t>
            </a:r>
            <a:r>
              <a:rPr lang="en-US" altLang="zh-CN" sz="3200" b="1" dirty="0">
                <a:solidFill>
                  <a:schemeClr val="tx1"/>
                </a:solidFill>
              </a:rPr>
              <a:t> comfort</a:t>
            </a:r>
            <a:endParaRPr lang="en-US" altLang="zh-CN" sz="3200" b="1" dirty="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10560" y="4075430"/>
            <a:ext cx="87769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filtered/shone/beamed through the trees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18740" y="46558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shone on ... / cast light on ...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29760" y="17710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 strikingly different results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329680" y="34937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sym typeface="+mn-ea"/>
              </a:rPr>
              <a:t>给人带来快乐的人</a:t>
            </a:r>
            <a:r>
              <a:rPr lang="en-US" altLang="en-US" sz="3200" b="1" dirty="0">
                <a:solidFill>
                  <a:srgbClr val="0000FF"/>
                </a:solidFill>
                <a:sym typeface="+mn-ea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sym typeface="+mn-ea"/>
              </a:rPr>
              <a:t>事物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4" grpId="1"/>
      <p:bldP spid="3" grpId="1"/>
      <p:bldP spid="6" grpId="0"/>
      <p:bldP spid="6" grpId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8940" y="175895"/>
            <a:ext cx="1157224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starve to death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I’m starving!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/>
              <a:t>We all went to the airport to _____ _____ _____ (</a:t>
            </a:r>
            <a:r>
              <a:rPr lang="zh-CN" altLang="en-US" sz="3200" b="1" dirty="0"/>
              <a:t>送别她</a:t>
            </a:r>
            <a:r>
              <a:rPr lang="en-US" altLang="zh-CN" sz="3200" b="1" dirty="0"/>
              <a:t>)</a:t>
            </a:r>
            <a:r>
              <a:rPr lang="en-US" altLang="en-US" sz="3200" b="1" dirty="0"/>
              <a:t> before his _________ from Nanjing.</a:t>
            </a:r>
            <a:endParaRPr lang="en-US" altLang="en-US" sz="3200" b="1" dirty="0"/>
          </a:p>
          <a:p>
            <a:pPr>
              <a:lnSpc>
                <a:spcPct val="120000"/>
              </a:lnSpc>
            </a:pPr>
            <a:r>
              <a:rPr lang="en-US" altLang="en-US" sz="3200" b="1" dirty="0"/>
              <a:t>Now she's written a novel which is not a mystery and is </a:t>
            </a:r>
            <a:r>
              <a:rPr lang="en-US" altLang="en-US" sz="3200" b="1" dirty="0">
                <a:solidFill>
                  <a:srgbClr val="FF0000"/>
                </a:solidFill>
              </a:rPr>
              <a:t>a</a:t>
            </a:r>
            <a:r>
              <a:rPr lang="en-US" altLang="en-US" sz="3200" b="1" dirty="0"/>
              <a:t> considerable </a:t>
            </a:r>
            <a:r>
              <a:rPr lang="en-US" altLang="en-US" sz="3200" b="1" dirty="0">
                <a:solidFill>
                  <a:srgbClr val="FF0000"/>
                </a:solidFill>
              </a:rPr>
              <a:t>departure </a:t>
            </a:r>
            <a:r>
              <a:rPr lang="en-US" altLang="en-US" sz="3200" b="1" dirty="0"/>
              <a:t>from her previous work. </a:t>
            </a:r>
            <a:endParaRPr lang="en-US" altLang="en-US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违背</a:t>
            </a:r>
            <a:r>
              <a:rPr lang="zh-CN" altLang="en-US" sz="3200" b="1" dirty="0"/>
              <a:t>传统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en-US" sz="3200" b="1" dirty="0"/>
              <a:t>All </a:t>
            </a:r>
            <a:r>
              <a:rPr lang="en-US" altLang="en-US" sz="3200" b="1" dirty="0">
                <a:solidFill>
                  <a:srgbClr val="FF0000"/>
                </a:solidFill>
              </a:rPr>
              <a:t>departures </a:t>
            </a:r>
            <a:r>
              <a:rPr lang="en-US" altLang="en-US" sz="3200" b="1" dirty="0">
                <a:solidFill>
                  <a:schemeClr val="tx1"/>
                </a:solidFill>
              </a:rPr>
              <a:t>are from</a:t>
            </a:r>
            <a:r>
              <a:rPr lang="en-US" altLang="en-US" sz="3200" b="1" dirty="0"/>
              <a:t> London.</a:t>
            </a:r>
            <a:endParaRPr lang="en-US" altLang="en-US" sz="3200" b="1" dirty="0"/>
          </a:p>
          <a:p>
            <a:pPr>
              <a:lnSpc>
                <a:spcPct val="120000"/>
              </a:lnSpc>
            </a:pPr>
            <a:r>
              <a:rPr lang="en-US" altLang="en-US" sz="3200" b="1" dirty="0"/>
              <a:t>the </a:t>
            </a:r>
            <a:r>
              <a:rPr lang="en-US" altLang="en-US" sz="3200" b="1" dirty="0">
                <a:solidFill>
                  <a:srgbClr val="FF0000"/>
                </a:solidFill>
              </a:rPr>
              <a:t>departure </a:t>
            </a:r>
            <a:r>
              <a:rPr lang="en-US" altLang="en-US" sz="3200" b="1" dirty="0"/>
              <a:t>lounge / gat</a:t>
            </a:r>
            <a:r>
              <a:rPr lang="en-US" altLang="en-US" sz="3200" b="1" dirty="0"/>
              <a:t>e</a:t>
            </a:r>
            <a:endParaRPr lang="en-US" altLang="en-US" sz="3200" b="1" dirty="0"/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depart</a:t>
            </a:r>
            <a:r>
              <a:rPr lang="en-US" altLang="en-US" sz="3200" b="1" dirty="0"/>
              <a:t> </a:t>
            </a:r>
            <a:r>
              <a:rPr lang="en-US" altLang="en-US" sz="3200" b="1" dirty="0"/>
              <a:t>from ... for ...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5487670" y="13392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 see    her    off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37590" y="1913255"/>
            <a:ext cx="363474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departure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70760" y="36760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 departure from tradition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4" grpId="1"/>
      <p:bldP spid="3" grpId="1"/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1219136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cross the border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difficult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define the border between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love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friendship.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countries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bordering (on)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Germany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与……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接壤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Meadows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bordered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path to the woods.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沿……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边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靠墙是一排排的图书。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walls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Cars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lined up waiting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board the ship.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汽车排队等候上船。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suspects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were lined up against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wall.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countryside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dotted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small villages.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星罗棋布于，遍布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alive with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到处都是，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充满着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876290" y="23279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were lined with books.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1219136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walls,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painted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brilliant white, reflected the afternoon sun.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were five similar huts,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all lined up facing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Mount Kilimanjaro, the highest mountain in Africa.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Tall grasses and trees dotted the plains,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which were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alive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the African wildlife we had come to see.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Giraffes,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their long necks, were pulling leaves from the highest branches.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distance, elephants were eating grass,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ears flapping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lazily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moved slowly over the plains.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1219136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bird flew off, ______________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拍打着翅膀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bird flapped its wings and flew off.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stared at the test paper,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brow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_______________________.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眉头紧锁全神贯注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walked away,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eyes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______________.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眼里充满泪水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..., tears ___________ in her eyes.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listened to the music,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faces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_____________________________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洋溢着快乐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dog barked at the stranger, ____________ in alertness.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摇尾巴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storm raged outside, wind _______ and rain __________ the windows.(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呼啸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50260" y="0"/>
            <a:ext cx="28365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wings flapping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19550" y="2304415"/>
            <a:ext cx="31388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filled with tears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873750" y="1092835"/>
            <a:ext cx="48437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furrowed in concentration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873750" y="34798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glowing/beaming with excitement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68340" y="46551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tails wagging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702040" y="5266055"/>
            <a:ext cx="22961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beating 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417820" y="5263515"/>
            <a:ext cx="22961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roaring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577340" y="2900045"/>
            <a:ext cx="31388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welling up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6" grpId="0"/>
      <p:bldP spid="7" grpId="0"/>
      <p:bldP spid="8" grpId="0"/>
      <p:bldP spid="9" grpId="0"/>
      <p:bldP spid="10" grpId="0"/>
      <p:bldP spid="11" grpId="0"/>
      <p:bldP spid="5" grpId="1"/>
      <p:bldP spid="6" grpId="1"/>
      <p:bldP spid="7" grpId="1"/>
      <p:bldP spid="8" grpId="1"/>
      <p:bldP spid="9" grpId="1"/>
      <p:bldP spid="10" grpId="1"/>
      <p:bldP spid="1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1219136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bunch of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grapes/ flowers/ keys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have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whole bunch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stuff to do this morning.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Could you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fetch me my bag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?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fetch help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去请人帮忙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6865" y="477520"/>
            <a:ext cx="118751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/>
              <a:t>personal ____________ </a:t>
            </a:r>
            <a:r>
              <a:rPr lang="zh-CN" altLang="en-US" sz="3200" b="1" dirty="0"/>
              <a:t>私人物品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treasured/prized/precious possessions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珍贵的</a:t>
            </a:r>
            <a:r>
              <a:rPr lang="zh-CN" altLang="en-US" sz="3200" b="1" dirty="0"/>
              <a:t>财产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Lucy is ______________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</a:rPr>
              <a:t>the painting.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own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painting is ______________________ Lucy.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owned by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Lucy finally ____________________ the painting after the auction. </a:t>
            </a:r>
            <a:r>
              <a:rPr lang="zh-CN" altLang="en-US" sz="3200" b="1" dirty="0"/>
              <a:t>拿到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en-US" sz="3200" b="1" dirty="0"/>
              <a:t>On her father's death, she </a:t>
            </a:r>
            <a:r>
              <a:rPr lang="en-US" altLang="en-US" sz="3200" b="1" dirty="0">
                <a:solidFill>
                  <a:srgbClr val="FF0000"/>
                </a:solidFill>
              </a:rPr>
              <a:t>came into possession of</a:t>
            </a:r>
            <a:r>
              <a:rPr lang="en-US" altLang="en-US" sz="3200" b="1" dirty="0"/>
              <a:t> a vast fortune. </a:t>
            </a:r>
            <a:r>
              <a:rPr lang="zh-CN" altLang="en-US" sz="3200" b="1" dirty="0"/>
              <a:t>为某人所获得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possess vt. 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possessed by terror/an urge </a:t>
            </a:r>
            <a:r>
              <a:rPr lang="zh-CN" altLang="en-US" sz="3200" b="1" dirty="0">
                <a:solidFill>
                  <a:schemeClr val="tx1"/>
                </a:solidFill>
              </a:rPr>
              <a:t>被情感控制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68500" y="4775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possessions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94330" y="2717800"/>
            <a:ext cx="37001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took possession 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696720" y="1597660"/>
            <a:ext cx="5125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in possession 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206115" y="2214880"/>
            <a:ext cx="48590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in the possession 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7" grpId="0"/>
      <p:bldP spid="6" grpId="1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1263" y="956426"/>
            <a:ext cx="11165305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根据汉语意思补全下面句子。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这伙人被逮住了，人赃俱获。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4500">
              <a:lnSpc>
                <a:spcPct val="120000"/>
              </a:lnSpc>
              <a:tabLst>
                <a:tab pos="0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gang was caught _______________________stolen goods.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离开宾馆时请记得随身携带好你的私人物品。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Please remember to take all your _______________________  with you when you leave the hotel.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杰克是个好孩子，他有很多好品质。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Jack is a good boy and __________________________.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39774" y="5008690"/>
            <a:ext cx="5536533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possesses many good qualities</a:t>
            </a:r>
            <a:endParaRPr lang="en-US" altLang="zh-CN" sz="32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92066" y="2102894"/>
            <a:ext cx="3286477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 possession of    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4263" y="3249362"/>
            <a:ext cx="3756156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personal possessions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1219136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intent gaze/look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专注的目光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intent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my work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专注于……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woman is filled with good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intent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but spoils everything.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parents' position is often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polar opposite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child's.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完全相反的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Public opinion has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polarized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this issue.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polarize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society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使……两极化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delicacy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the fabric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精细脆弱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handled the situation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great delicacy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周到地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admire your ________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handling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 the situation.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73020" y="5862320"/>
            <a:ext cx="18859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delicate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9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6418</Words>
  <Application>WPS Presentation</Application>
  <PresentationFormat>宽屏</PresentationFormat>
  <Paragraphs>231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汉仪书宋二KW</vt:lpstr>
      <vt:lpstr>Times New Roman Bold Italic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18</cp:revision>
  <dcterms:created xsi:type="dcterms:W3CDTF">2025-02-25T01:24:38Z</dcterms:created>
  <dcterms:modified xsi:type="dcterms:W3CDTF">2025-02-25T01:24:38Z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7370E0F88673FFC28BF0B667A8F23265_42</vt:lpwstr>
  </property>
  <property fmtid="{D5CDD505-2E9C-101B-9397-08002B2CF9AE}" pid="3" name="KSOProductBuildVer">
    <vt:lpwstr>1033-6.14.0.8924</vt:lpwstr>
  </property>
</Properties>
</file>