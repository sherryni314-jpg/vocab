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520" r:id="rId2"/>
    <p:sldId id="548" r:id="rId3"/>
    <p:sldId id="549" r:id="rId4"/>
    <p:sldId id="521" r:id="rId5"/>
    <p:sldId id="523" r:id="rId6"/>
    <p:sldId id="55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AB8FF"/>
    <a:srgbClr val="1E7FD2"/>
    <a:srgbClr val="84E0EB"/>
    <a:srgbClr val="CC99FF"/>
    <a:srgbClr val="0468CF"/>
    <a:srgbClr val="FFFFFD"/>
    <a:srgbClr val="92D050"/>
    <a:srgbClr val="CC00FF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73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472" y="184"/>
      </p:cViewPr>
      <p:guideLst>
        <p:guide orient="horz" pos="2160"/>
        <p:guide pos="38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the general health, happiniess and safety of a person</a:t>
            </a:r>
          </a:p>
          <a:p>
            <a:r>
              <a:rPr lang="zh-CN" altLang="en-US"/>
              <a:t>没有他，她会更好。</a:t>
            </a:r>
          </a:p>
          <a:p>
            <a:r>
              <a:rPr lang="en-US"/>
              <a:t>in good condition </a:t>
            </a:r>
            <a:r>
              <a:rPr lang="zh-CN" altLang="en-US"/>
              <a:t>身在福中不知福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住处</a:t>
            </a:r>
            <a:r>
              <a:rPr lang="en-US" altLang="en-US"/>
              <a:t> somewhere to stay</a:t>
            </a:r>
          </a:p>
          <a:p>
            <a:r>
              <a:rPr lang="en-US" altLang="en-US"/>
              <a:t>hotel accomodation</a:t>
            </a:r>
          </a:p>
          <a:p>
            <a:r>
              <a:rPr lang="zh-CN" altLang="en-US"/>
              <a:t>住宿与早餐服务</a:t>
            </a:r>
          </a:p>
          <a:p>
            <a:r>
              <a:rPr lang="en-US" altLang="en-US"/>
              <a:t>More and more travelers are looking for bed and breakfast accommodations in private homes.</a:t>
            </a:r>
          </a:p>
          <a:p>
            <a:r>
              <a:rPr lang="zh-CN" altLang="en-US"/>
              <a:t>愈来愈多的旅行者在寻找提供住宿加早餐的民宿。</a:t>
            </a:r>
          </a:p>
          <a:p>
            <a:endParaRPr lang="zh-CN" altLang="en-US"/>
          </a:p>
          <a:p>
            <a:r>
              <a:rPr lang="zh-CN" altLang="en-US"/>
              <a:t>照顾到少数群体的需要</a:t>
            </a:r>
          </a:p>
          <a:p>
            <a:r>
              <a:rPr lang="zh-CN" altLang="en-US"/>
              <a:t>适应新的时间表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doubts about the sustainability of the current economic expansion.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have good manners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  <a:p>
            <a:r>
              <a:rPr lang="zh-CN" altLang="en-US"/>
              <a:t>她深感内疚。</a:t>
            </a:r>
            <a:r>
              <a:rPr lang="en-US" altLang="zh-CN"/>
              <a:t>/envy/rage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04800" y="311554"/>
            <a:ext cx="11360727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14375" indent="-714375">
              <a:lnSpc>
                <a:spcPct val="120000"/>
              </a:lnSpc>
            </a:pPr>
            <a:r>
              <a:rPr lang="en-US" altLang="en-US" sz="3200" b="1" dirty="0"/>
              <a:t>We are concerned about the child's </a:t>
            </a:r>
            <a:r>
              <a:rPr lang="en-US" altLang="en-US" sz="3200" b="1" dirty="0">
                <a:solidFill>
                  <a:srgbClr val="FF0000"/>
                </a:solidFill>
              </a:rPr>
              <a:t>welfare</a:t>
            </a:r>
            <a:r>
              <a:rPr lang="en-US" altLang="en-US" sz="3200" b="1" dirty="0"/>
              <a:t>.</a:t>
            </a:r>
          </a:p>
          <a:p>
            <a:pPr marL="714375" indent="-714375">
              <a:lnSpc>
                <a:spcPct val="120000"/>
              </a:lnSpc>
            </a:pPr>
            <a:r>
              <a:rPr lang="zh-CN" altLang="en-US" sz="3200" b="1" dirty="0"/>
              <a:t>我们关注那个孩子的福祉。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well-being</a:t>
            </a:r>
          </a:p>
          <a:p>
            <a:pPr marL="714375" indent="-71437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child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welfare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儿童福利</a:t>
            </a:r>
            <a:endParaRPr lang="zh-CN" altLang="en-US" sz="3200" b="1" i="1" dirty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marL="714375" indent="-71437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a social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welfare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programme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社会福利计划</a:t>
            </a:r>
            <a:endParaRPr lang="zh-CN" altLang="en-US" sz="3200" b="1" i="1" dirty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marL="714375" indent="-714375">
              <a:lnSpc>
                <a:spcPct val="120000"/>
              </a:lnSpc>
            </a:pPr>
            <a:endParaRPr lang="en-US" altLang="en-US" sz="3200" b="1" i="1" dirty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  <a:p>
            <a:pPr marL="714375" indent="-71437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well-off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family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富裕的，家境好的</a:t>
            </a:r>
          </a:p>
          <a:p>
            <a:pPr marL="714375" indent="-71437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Some people don't know when they're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well off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</a:t>
            </a:r>
          </a:p>
          <a:p>
            <a:pPr marL="714375" indent="-71437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She is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better off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without him.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04800" y="-231"/>
            <a:ext cx="11360727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14375" indent="-714375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accommodation </a:t>
            </a:r>
          </a:p>
          <a:p>
            <a:pPr marL="714375" indent="-71437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[U]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住处</a:t>
            </a:r>
          </a:p>
          <a:p>
            <a:pPr marL="714375" indent="-71437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temporary/hotel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accommodation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marL="714375" indent="-71437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[pl.]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住宿，膳宿</a:t>
            </a:r>
          </a:p>
          <a:p>
            <a:pPr marL="714375" indent="-71437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bed and breakfast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accommodations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marL="714375" indent="-71437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[C,U]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和解</a:t>
            </a:r>
          </a:p>
          <a:p>
            <a:pPr marL="714375" indent="-714375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reach an accommodation with sb.</a:t>
            </a:r>
          </a:p>
          <a:p>
            <a:pPr marL="714375" indent="-714375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accommodate vt.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为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…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提供住宿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空间；顾及；适应</a:t>
            </a:r>
          </a:p>
          <a:p>
            <a:pPr marL="714375" indent="-71437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hotel can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accommodate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500 guests.</a:t>
            </a:r>
          </a:p>
          <a:p>
            <a:pPr marL="714375" indent="-714375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accommodate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needs of minority groups</a:t>
            </a:r>
          </a:p>
          <a:p>
            <a:pPr marL="714375" indent="-714375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accommodate to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the new schedule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04800" y="-231"/>
            <a:ext cx="11360727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not a bed of roses: </a:t>
            </a:r>
            <a:r>
              <a:rPr lang="en-US" altLang="zh-CN" sz="3200" b="1" dirty="0">
                <a:sym typeface="+mn-ea"/>
              </a:rPr>
              <a:t>not an easy or pleasant  situation  </a:t>
            </a:r>
            <a:r>
              <a:rPr lang="zh-CN" altLang="en-US" sz="3200" b="1" dirty="0">
                <a:sym typeface="+mn-ea"/>
              </a:rPr>
              <a:t>不是一帆风顺，不是称心如意</a:t>
            </a:r>
            <a:endParaRPr lang="zh-CN" altLang="en-US" sz="3200" b="1" dirty="0"/>
          </a:p>
          <a:p>
            <a:pPr indent="0" fontAlgn="auto">
              <a:lnSpc>
                <a:spcPct val="120000"/>
              </a:lnSpc>
            </a:pP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be in (perfect) harmony with…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harmony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of color in nature 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自然界色彩的协调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harmonious (adj.) - harmoniously (adv.)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9380" y="293451"/>
            <a:ext cx="11305309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</a:rPr>
              <a:t>Which planets can </a:t>
            </a:r>
            <a:r>
              <a:rPr lang="en-US" altLang="en-US" sz="3200" b="1" dirty="0">
                <a:solidFill>
                  <a:srgbClr val="FF0000"/>
                </a:solidFill>
              </a:rPr>
              <a:t>sustain </a:t>
            </a:r>
            <a:r>
              <a:rPr lang="en-US" altLang="en-US" sz="3200" b="1" dirty="0">
                <a:solidFill>
                  <a:schemeClr val="tx1"/>
                </a:solidFill>
              </a:rPr>
              <a:t>life? </a:t>
            </a:r>
            <a:r>
              <a:rPr lang="zh-CN" altLang="en-US" sz="3200" b="1" dirty="0">
                <a:solidFill>
                  <a:schemeClr val="tx1"/>
                </a:solidFill>
              </a:rPr>
              <a:t>维持</a:t>
            </a:r>
            <a:r>
              <a:rPr lang="en-US" altLang="zh-CN" sz="3200" b="1" dirty="0">
                <a:solidFill>
                  <a:schemeClr val="tx1"/>
                </a:solidFill>
              </a:rPr>
              <a:t> 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continue</a:t>
            </a:r>
            <a:r>
              <a:rPr lang="en-US" altLang="zh-CN" sz="3200" b="1" dirty="0">
                <a:solidFill>
                  <a:schemeClr val="tx1"/>
                </a:solidFill>
              </a:rPr>
              <a:t>)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</a:rPr>
              <a:t>The love and support of his family</a:t>
            </a:r>
            <a:r>
              <a:rPr lang="en-US" altLang="en-US" sz="3200" b="1" dirty="0">
                <a:solidFill>
                  <a:srgbClr val="FF0000"/>
                </a:solidFill>
              </a:rPr>
              <a:t> sustained him </a:t>
            </a:r>
            <a:r>
              <a:rPr lang="en-US" altLang="en-US" sz="3200" b="1" dirty="0">
                <a:solidFill>
                  <a:schemeClr val="tx1"/>
                </a:solidFill>
              </a:rPr>
              <a:t>during his time in prison.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家人的关爱和支持帮助他度过了狱中的岁月。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a sustained effort </a:t>
            </a:r>
            <a:r>
              <a:rPr lang="zh-CN" altLang="en-US" sz="3200" b="1" dirty="0">
                <a:sym typeface="+mn-ea"/>
              </a:rPr>
              <a:t>不断的努力</a:t>
            </a:r>
            <a:endParaRPr lang="zh-CN" altLang="en-US" sz="3200" b="1" dirty="0">
              <a:solidFill>
                <a:schemeClr val="tx1"/>
              </a:solidFill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</a:rPr>
              <a:t>sustain everyone's interest</a:t>
            </a:r>
            <a:r>
              <a:rPr lang="en-US" altLang="en-US" sz="3200" b="1" dirty="0">
                <a:solidFill>
                  <a:schemeClr val="tx1"/>
                </a:solidFill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</a:rPr>
              <a:t>使每个人兴趣盎然</a:t>
            </a:r>
            <a:r>
              <a:rPr lang="en-US" altLang="zh-CN" sz="3200" b="1" dirty="0">
                <a:solidFill>
                  <a:schemeClr val="tx1"/>
                </a:solidFill>
              </a:rPr>
              <a:t> </a:t>
            </a:r>
            <a:r>
              <a:rPr lang="en-US" altLang="en-US" sz="3200" b="1" dirty="0">
                <a:sym typeface="+mn-ea"/>
              </a:rPr>
              <a:t>(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maintain</a:t>
            </a:r>
            <a:r>
              <a:rPr lang="en-US" altLang="en-US" sz="3200" b="1" dirty="0">
                <a:sym typeface="+mn-ea"/>
              </a:rPr>
              <a:t>) </a:t>
            </a:r>
            <a:endParaRPr lang="zh-CN" altLang="en-US" sz="3200" b="1" dirty="0">
              <a:solidFill>
                <a:schemeClr val="tx1"/>
              </a:solidFill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</a:rPr>
              <a:t>The company </a:t>
            </a:r>
            <a:r>
              <a:rPr lang="en-US" altLang="en-US" sz="3200" b="1" dirty="0">
                <a:solidFill>
                  <a:srgbClr val="FF0000"/>
                </a:solidFill>
              </a:rPr>
              <a:t>sustained </a:t>
            </a:r>
            <a:r>
              <a:rPr lang="en-US" altLang="en-US" sz="3200" b="1" dirty="0">
                <a:solidFill>
                  <a:schemeClr val="tx1"/>
                </a:solidFill>
              </a:rPr>
              <a:t>losses of millions of dollars. (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suffer</a:t>
            </a:r>
            <a:r>
              <a:rPr lang="en-US" altLang="en-US" sz="3200" b="1" dirty="0">
                <a:solidFill>
                  <a:schemeClr val="tx1"/>
                </a:solidFill>
              </a:rPr>
              <a:t>)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</a:rPr>
              <a:t>sustainable</a:t>
            </a:r>
            <a:r>
              <a:rPr lang="en-US" altLang="en-US" sz="3200" b="1" dirty="0">
                <a:solidFill>
                  <a:schemeClr val="tx1"/>
                </a:solidFill>
              </a:rPr>
              <a:t> energy / development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</a:rPr>
              <a:t>sustainability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7480" y="0"/>
            <a:ext cx="12034520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/>
              <a:t>I have to conduct myself </a:t>
            </a:r>
            <a:r>
              <a:rPr lang="en-US" altLang="en-US" sz="3200" b="1" dirty="0">
                <a:solidFill>
                  <a:srgbClr val="FF0000"/>
                </a:solidFill>
              </a:rPr>
              <a:t>in a professional manner</a:t>
            </a:r>
            <a:r>
              <a:rPr lang="en-US" altLang="en-US" sz="3200" b="1" dirty="0"/>
              <a:t>.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/>
              <a:t>我必须以专业方式行事。</a:t>
            </a:r>
            <a:r>
              <a:rPr lang="en-US" altLang="zh-CN" sz="3200" b="1" dirty="0"/>
              <a:t>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way</a:t>
            </a:r>
            <a:r>
              <a:rPr lang="en-US" altLang="zh-CN" sz="3200" b="1" dirty="0"/>
              <a:t>)</a:t>
            </a:r>
            <a:endParaRPr lang="zh-CN" altLang="en-US" sz="3200" b="1" dirty="0"/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</a:rPr>
              <a:t>She had a rather unfriendly </a:t>
            </a:r>
            <a:r>
              <a:rPr lang="en-US" altLang="en-US" sz="3200" b="1" dirty="0">
                <a:solidFill>
                  <a:srgbClr val="FF0000"/>
                </a:solidFill>
              </a:rPr>
              <a:t>manner</a:t>
            </a:r>
            <a:r>
              <a:rPr lang="en-US" altLang="en-US" sz="3200" b="1" dirty="0">
                <a:solidFill>
                  <a:schemeClr val="tx1"/>
                </a:solidFill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</a:rPr>
              <a:t>举止</a:t>
            </a:r>
            <a:r>
              <a:rPr lang="en-US" altLang="zh-CN" sz="3200" b="1" dirty="0">
                <a:solidFill>
                  <a:schemeClr val="tx1"/>
                </a:solidFill>
              </a:rPr>
              <a:t>，</a:t>
            </a:r>
            <a:r>
              <a:rPr lang="zh-CN" altLang="en-US" sz="3200" b="1" dirty="0">
                <a:solidFill>
                  <a:schemeClr val="tx1"/>
                </a:solidFill>
              </a:rPr>
              <a:t>行为方式</a:t>
            </a:r>
            <a:r>
              <a:rPr lang="en-US" altLang="zh-CN" sz="3200" b="1" dirty="0">
                <a:solidFill>
                  <a:schemeClr val="tx1"/>
                </a:solidFill>
              </a:rPr>
              <a:t> 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code of conduct</a:t>
            </a:r>
            <a:r>
              <a:rPr lang="en-US" altLang="zh-CN" sz="3200" b="1" dirty="0">
                <a:solidFill>
                  <a:schemeClr val="tx1"/>
                </a:solidFill>
              </a:rPr>
              <a:t>)</a:t>
            </a:r>
            <a:endParaRPr lang="en-US" altLang="en-US" sz="3200" b="1" dirty="0">
              <a:solidFill>
                <a:schemeClr val="tx1"/>
              </a:solidFill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</a:rPr>
              <a:t>It is bad manners to talk</a:t>
            </a:r>
            <a:r>
              <a:rPr lang="en-US" altLang="en-US" sz="3200" b="1" dirty="0"/>
              <a:t> with your mouth full. </a:t>
            </a:r>
            <a:r>
              <a:rPr lang="zh-CN" altLang="en-US" sz="3200" b="1" dirty="0"/>
              <a:t>礼貌，礼仪</a:t>
            </a:r>
            <a:r>
              <a:rPr lang="en-US" altLang="zh-CN" sz="3200" b="1" dirty="0"/>
              <a:t>[pl.]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/>
              <a:t>The British are considered </a:t>
            </a:r>
            <a:r>
              <a:rPr lang="en-US" altLang="en-US" sz="3200" b="1" dirty="0">
                <a:solidFill>
                  <a:srgbClr val="FF0000"/>
                </a:solidFill>
              </a:rPr>
              <a:t>ill-mannered</a:t>
            </a:r>
            <a:r>
              <a:rPr lang="en-US" altLang="en-US" sz="3200" b="1" dirty="0"/>
              <a:t>, badly dressed and unsophisticated.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/>
              <a:t>英国人被认为缺乏教养、衣着邋遢、头脑简单。</a:t>
            </a:r>
            <a:r>
              <a:rPr lang="en-US" altLang="zh-CN" sz="3200" b="1" dirty="0"/>
              <a:t>(opp. </a:t>
            </a:r>
            <a:r>
              <a:rPr lang="en-US" altLang="zh-CN" sz="3200" b="1" dirty="0">
                <a:solidFill>
                  <a:srgbClr val="FF0000"/>
                </a:solidFill>
              </a:rPr>
              <a:t>well-mannered, </a:t>
            </a:r>
            <a:r>
              <a:rPr lang="en-US" altLang="en-US" sz="3200" b="1" dirty="0">
                <a:solidFill>
                  <a:srgbClr val="FF0000"/>
                </a:solidFill>
              </a:rPr>
              <a:t>mild-mannered</a:t>
            </a:r>
            <a:r>
              <a:rPr lang="en-US" altLang="zh-CN" sz="3200" b="1" dirty="0"/>
              <a:t>)</a:t>
            </a:r>
            <a:endParaRPr lang="en-US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7480" y="0"/>
            <a:ext cx="1203452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/>
              <a:t>The meat was unfit for human </a:t>
            </a:r>
            <a:r>
              <a:rPr lang="en-US" altLang="en-US" sz="3200" b="1" dirty="0">
                <a:solidFill>
                  <a:srgbClr val="FF0000"/>
                </a:solidFill>
              </a:rPr>
              <a:t>consumption</a:t>
            </a:r>
            <a:r>
              <a:rPr lang="en-US" altLang="en-US" sz="3200" b="1" dirty="0"/>
              <a:t>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/>
              <a:t>The government encourages </a:t>
            </a:r>
            <a:r>
              <a:rPr lang="en-US" altLang="en-US" sz="3200" b="1" dirty="0">
                <a:solidFill>
                  <a:srgbClr val="FF0000"/>
                </a:solidFill>
              </a:rPr>
              <a:t>consumption </a:t>
            </a:r>
            <a:r>
              <a:rPr lang="en-US" altLang="en-US" sz="3200" b="1" dirty="0"/>
              <a:t>rather than saving.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</a:rPr>
              <a:t>consume </a:t>
            </a:r>
            <a:r>
              <a:rPr lang="en-US" altLang="en-US" sz="3200" b="1" dirty="0"/>
              <a:t>sth.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/>
              <a:t>她深感内疚。</a:t>
            </a:r>
            <a:endParaRPr lang="en-US" altLang="en-US" sz="3200" b="1" dirty="0"/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/>
              <a:t>She </a:t>
            </a:r>
            <a:r>
              <a:rPr lang="en-US" altLang="en-US" sz="3200" b="1" dirty="0">
                <a:solidFill>
                  <a:srgbClr val="FF0000"/>
                </a:solidFill>
              </a:rPr>
              <a:t>was consumed with</a:t>
            </a:r>
            <a:r>
              <a:rPr lang="en-US" altLang="en-US" sz="3200" b="1" dirty="0"/>
              <a:t> guilt.</a:t>
            </a:r>
          </a:p>
          <a:p>
            <a:pPr indent="0" fontAlgn="auto">
              <a:lnSpc>
                <a:spcPct val="120000"/>
              </a:lnSpc>
            </a:pPr>
            <a:endParaRPr lang="en-US" altLang="en-US" sz="3200" b="1" dirty="0"/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/>
              <a:t>______ it comes down to is either I get more money or I leave.</a:t>
            </a:r>
          </a:p>
          <a:p>
            <a:pPr indent="0" fontAlgn="auto">
              <a:lnSpc>
                <a:spcPct val="120000"/>
              </a:lnSpc>
            </a:pPr>
            <a:endParaRPr lang="zh-CN" altLang="en-US" sz="32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157480" y="354330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714375" indent="-714375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What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7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714375" indent="-714375">
          <a:lnSpc>
            <a:spcPct val="120000"/>
          </a:lnSpc>
          <a:defRPr sz="34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</Words>
  <Application>Microsoft Macintosh PowerPoint</Application>
  <PresentationFormat>Widescreen</PresentationFormat>
  <Paragraphs>62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Times New Roman Bold</vt:lpstr>
      <vt:lpstr>Times New Roman Bold Italic</vt:lpstr>
      <vt:lpstr>Arial</vt:lpstr>
      <vt:lpstr>Calibri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Qing NI</cp:lastModifiedBy>
  <cp:revision>11</cp:revision>
  <dcterms:created xsi:type="dcterms:W3CDTF">2025-02-20T01:31:22Z</dcterms:created>
  <dcterms:modified xsi:type="dcterms:W3CDTF">2026-07-23T01:09:29Z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A1A0985C4A11E87A70F5AE67688F1E93_42</vt:lpwstr>
  </property>
  <property fmtid="{D5CDD505-2E9C-101B-9397-08002B2CF9AE}" pid="3" name="KSOProductBuildVer">
    <vt:lpwstr>1033-6.14.0.8924</vt:lpwstr>
  </property>
</Properties>
</file>