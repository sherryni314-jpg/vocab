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483" r:id="rId4"/>
    <p:sldId id="489" r:id="rId6"/>
    <p:sldId id="512" r:id="rId7"/>
    <p:sldId id="487" r:id="rId8"/>
    <p:sldId id="514" r:id="rId9"/>
    <p:sldId id="488" r:id="rId10"/>
    <p:sldId id="264" r:id="rId11"/>
    <p:sldId id="531" r:id="rId12"/>
    <p:sldId id="526" r:id="rId13"/>
    <p:sldId id="527" r:id="rId14"/>
    <p:sldId id="528" r:id="rId15"/>
    <p:sldId id="529" r:id="rId16"/>
    <p:sldId id="53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罗 洪权" initials="罗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D204F"/>
    <a:srgbClr val="FFF066"/>
    <a:srgbClr val="CFD5EA"/>
    <a:srgbClr val="4472C4"/>
    <a:srgbClr val="0A74F9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288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16C5AF-5D5D-BF41-BCA0-70757848688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FC3197-1200-324B-A938-B3189E2C74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algn="l"/>
            <a:r>
              <a:rPr lang="en-US" altLang="zh-CN" b="1" dirty="0">
                <a:sym typeface="+mn-ea"/>
              </a:rPr>
              <a:t>Flight </a:t>
            </a:r>
            <a:r>
              <a:rPr lang="en-US" altLang="zh-CN" b="1" dirty="0" err="1">
                <a:sym typeface="+mn-ea"/>
              </a:rPr>
              <a:t>CA2706</a:t>
            </a:r>
            <a:r>
              <a:rPr lang="en-US" altLang="zh-CN" b="1" dirty="0">
                <a:sym typeface="+mn-ea"/>
              </a:rPr>
              <a:t> for Dallas is now boarding (</a:t>
            </a:r>
            <a:r>
              <a:rPr lang="zh-CN" altLang="en-US" b="1" dirty="0">
                <a:sym typeface="+mn-ea"/>
              </a:rPr>
              <a:t>正在登机</a:t>
            </a:r>
            <a:r>
              <a:rPr lang="en-US" altLang="zh-CN" b="1" dirty="0">
                <a:sym typeface="+mn-ea"/>
              </a:rPr>
              <a:t>) at Gate 37.</a:t>
            </a:r>
            <a:endParaRPr lang="en-US"/>
          </a:p>
          <a:p>
            <a:pPr algn="l"/>
            <a:r>
              <a:rPr lang="en-US"/>
              <a:t>board v./n. </a:t>
            </a:r>
            <a:r>
              <a:rPr lang="zh-CN" altLang="en-US" b="1" dirty="0">
                <a:sym typeface="+mn-ea"/>
              </a:rPr>
              <a:t>上船（或火车、飞机等</a:t>
            </a:r>
            <a:r>
              <a:rPr lang="en-US" altLang="zh-CN" b="1" dirty="0">
                <a:sym typeface="+mn-ea"/>
              </a:rPr>
              <a:t>)</a:t>
            </a:r>
            <a:r>
              <a:rPr lang="zh-CN" altLang="en-US" b="1" dirty="0">
                <a:sym typeface="+mn-ea"/>
              </a:rPr>
              <a:t>；寄宿</a:t>
            </a:r>
            <a:endParaRPr lang="en-US" altLang="zh-CN" b="1" dirty="0"/>
          </a:p>
          <a:p>
            <a:pPr algn="l"/>
            <a:r>
              <a:rPr lang="zh-CN" altLang="en-US" b="1" dirty="0">
                <a:sym typeface="+mn-ea"/>
              </a:rPr>
              <a:t>木板；膳食；董事会</a:t>
            </a:r>
            <a:endParaRPr lang="zh-CN" altLang="en-US" b="1" dirty="0">
              <a:sym typeface="+mn-ea"/>
            </a:endParaRPr>
          </a:p>
          <a:p>
            <a:pPr algn="l"/>
            <a:r>
              <a:rPr lang="en-US" altLang="en-US"/>
              <a:t>Shivering, he rubbed his hands together briskly, his fingers stiff and red from the biting wind outside.</a:t>
            </a:r>
            <a:endParaRPr lang="en-US" altLang="en-US"/>
          </a:p>
          <a:p>
            <a:pPr algn="l"/>
            <a:r>
              <a:rPr lang="en-US" altLang="en-US"/>
              <a:t>shuffle into the hall from the bitter cole, rubbing his weathered hands together in a feeble attempt to chase away the lingering chill.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爆发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俯冲，暴跌</a:t>
            </a:r>
            <a:r>
              <a:rPr lang="en-US" altLang="zh-CN"/>
              <a:t>，</a:t>
            </a:r>
            <a:r>
              <a:rPr lang="zh-CN" altLang="en-US"/>
              <a:t>迅速将手伸入，投深入</a:t>
            </a:r>
            <a:r>
              <a:rPr lang="en-US" altLang="zh-CN"/>
              <a:t>，</a:t>
            </a:r>
            <a:r>
              <a:rPr lang="zh-CN" altLang="en-US" dirty="0">
                <a:sym typeface="+mn-ea"/>
              </a:rPr>
              <a:t>天下起雨来，我们立即钻进一家最近的咖啡馆。</a:t>
            </a:r>
            <a:endParaRPr lang="zh-CN" altLang="en-US" b="1" dirty="0"/>
          </a:p>
          <a:p>
            <a:endParaRPr lang="zh-CN" altLang="en-US"/>
          </a:p>
          <a:p>
            <a:r>
              <a:rPr lang="zh-CN" altLang="en-US" b="1" dirty="0">
                <a:latin typeface="Arial Bold" panose="020B0704020202020204" charset="0"/>
                <a:sym typeface="+mn-ea"/>
              </a:rPr>
              <a:t>她立即将手伸进包里拿出几枚硬币。</a:t>
            </a:r>
            <a:r>
              <a:rPr lang="en-US" altLang="zh-CN"/>
              <a:t>reach into her bag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一个震耳欲聋的声音在我耳边</a:t>
            </a:r>
            <a:r>
              <a:rPr lang="zh-CN" altLang="en-US"/>
              <a:t>响起。</a:t>
            </a:r>
            <a:endParaRPr lang="zh-CN" altLang="en-US"/>
          </a:p>
          <a:p>
            <a:r>
              <a:rPr lang="zh-CN" altLang="en-US"/>
              <a:t>轰隆隆来往的</a:t>
            </a:r>
            <a:r>
              <a:rPr lang="zh-CN" altLang="en-US"/>
              <a:t>车辆</a:t>
            </a:r>
            <a:endParaRPr lang="zh-CN" altLang="en-US"/>
          </a:p>
          <a:p>
            <a:r>
              <a:rPr lang="en-US" altLang="zh-CN"/>
              <a:t>A ball crashed through the window.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她话到嘴边又噎住了</a:t>
            </a:r>
            <a:endParaRPr lang="zh-CN" altLang="en-US"/>
          </a:p>
          <a:p>
            <a:r>
              <a:rPr lang="zh-CN" altLang="en-US"/>
              <a:t>笑容在他的脸上僵住了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drag/draw/haul/tug</a:t>
            </a:r>
            <a:endParaRPr lang="en-US"/>
          </a:p>
          <a:p>
            <a:r>
              <a:rPr lang="en-US" altLang="en-US"/>
              <a:t>His feet dragged against the cold floor, each step a struggle against fatigue and hunger.</a:t>
            </a:r>
            <a:endParaRPr lang="en-US" altLang="en-US"/>
          </a:p>
          <a:p>
            <a:r>
              <a:rPr lang="en-US" altLang="en-US"/>
              <a:t>He dragged one's feet, each step a struggle ...</a:t>
            </a:r>
            <a:endParaRPr lang="en-US" altLang="en-US"/>
          </a:p>
          <a:p>
            <a:r>
              <a:rPr lang="zh-CN" altLang="en-US"/>
              <a:t>时间过得很慢</a:t>
            </a:r>
            <a:r>
              <a:rPr lang="en-US" altLang="zh-CN"/>
              <a:t>Time, meeting</a:t>
            </a:r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别过早打</a:t>
            </a:r>
            <a:r>
              <a:rPr lang="zh-CN" altLang="en-US"/>
              <a:t>如意算盘</a:t>
            </a:r>
            <a:endParaRPr lang="zh-CN" altLang="en-US"/>
          </a:p>
          <a:p>
            <a:r>
              <a:rPr lang="en-US" altLang="zh-CN"/>
              <a:t>plotted/plotting</a:t>
            </a:r>
            <a:endParaRPr lang="zh-CN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where</a:t>
            </a:r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引导地点状语从句</a:t>
            </a:r>
            <a:endParaRPr lang="zh-CN" altLang="en-US" b="1" dirty="0">
              <a:solidFill>
                <a:srgbClr val="000000"/>
              </a:solidFill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我坐到扶手椅上。</a:t>
            </a:r>
            <a:endParaRPr lang="zh-CN" altLang="en-US" b="1" dirty="0">
              <a:solidFill>
                <a:srgbClr val="000000"/>
              </a:solidFill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我想，我刚刚葬送了得到那份工作的机会。</a:t>
            </a:r>
            <a:endParaRPr lang="zh-CN" altLang="en-US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她只一味地坐在那儿，陷入了沉思。</a:t>
            </a:r>
            <a:endParaRPr lang="zh-CN" altLang="en-US" b="1" dirty="0">
              <a:solidFill>
                <a:srgbClr val="000000"/>
              </a:solidFill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他越来越消沉。</a:t>
            </a:r>
            <a:endParaRPr lang="zh-CN" altLang="en-US" b="1" dirty="0">
              <a:solidFill>
                <a:srgbClr val="000000"/>
              </a:solidFill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深陷的，沉入海底的</a:t>
            </a:r>
            <a:endParaRPr lang="zh-CN" altLang="en-US" b="1" dirty="0">
              <a:solidFill>
                <a:srgbClr val="000000"/>
              </a:solidFill>
              <a:cs typeface="Times New Roman" panose="02020603050405020304" pitchFamily="18" charset="0"/>
              <a:sym typeface="+mn-ea"/>
            </a:endParaRPr>
          </a:p>
          <a:p>
            <a:r>
              <a:rPr lang="en-US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sink to the floor/ sink to one’s knees</a:t>
            </a:r>
            <a:endParaRPr lang="en-US" altLang="en-US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endParaRPr lang="zh-CN" altLang="en-US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a memorial to victims of the earthquake</a:t>
            </a:r>
            <a:endParaRPr lang="en-US" altLang="zh-CN" b="1" dirty="0">
              <a:solidFill>
                <a:srgbClr val="000000"/>
              </a:solidFill>
              <a:cs typeface="Times New Roman" panose="02020603050405020304" pitchFamily="18" charset="0"/>
              <a:sym typeface="+mn-ea"/>
            </a:endParaRPr>
          </a:p>
          <a:p>
            <a:endParaRPr lang="en-US" altLang="zh-CN" b="1" dirty="0">
              <a:solidFill>
                <a:srgbClr val="000000"/>
              </a:solidFill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体力劳动者身体消耗巨大，早餐要丰盛一些。</a:t>
            </a:r>
            <a:endParaRPr lang="zh-CN" altLang="en-US" b="1" dirty="0">
              <a:solidFill>
                <a:srgbClr val="000000"/>
              </a:solidFill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政府统计数据显示这是</a:t>
            </a:r>
            <a:r>
              <a:rPr lang="en-US" altLang="en-US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 10 </a:t>
            </a:r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年来工业产量最大幅度的滑坡。</a:t>
            </a:r>
            <a:endParaRPr lang="zh-CN" altLang="en-US" b="1" dirty="0">
              <a:solidFill>
                <a:srgbClr val="000000"/>
              </a:solidFill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我们往往会把自己错误的责任转嫁给别人。</a:t>
            </a:r>
            <a:endParaRPr lang="zh-CN" altLang="en-US" b="1" dirty="0">
              <a:solidFill>
                <a:srgbClr val="000000"/>
              </a:solidFill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he shifted the load from his left shoulder to his right</a:t>
            </a:r>
            <a:endParaRPr lang="en-US" altLang="en-US" b="1" dirty="0">
              <a:solidFill>
                <a:srgbClr val="000000"/>
              </a:solidFill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我们往往会把自己错误的责任转嫁给别人。</a:t>
            </a:r>
            <a:endParaRPr lang="zh-CN" altLang="en-US" b="1" dirty="0">
              <a:solidFill>
                <a:srgbClr val="000000"/>
              </a:solidFill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主题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/>
          <p:nvPr/>
        </p:nvSpPr>
        <p:spPr>
          <a:xfrm>
            <a:off x="0" y="0"/>
            <a:ext cx="12033250" cy="6492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</a:rPr>
              <a:t>aboard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adv./prep.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altLang="en-US" sz="3200" b="1" dirty="0">
                <a:solidFill>
                  <a:schemeClr val="tx1"/>
                </a:solidFill>
              </a:rPr>
              <a:t>He was already </a:t>
            </a:r>
            <a:r>
              <a:rPr lang="en-US" altLang="en-US" sz="3200" b="1" dirty="0">
                <a:solidFill>
                  <a:srgbClr val="FF0000"/>
                </a:solidFill>
              </a:rPr>
              <a:t>aboard </a:t>
            </a:r>
            <a:r>
              <a:rPr lang="en-US" altLang="en-US" sz="3200" b="1" dirty="0">
                <a:solidFill>
                  <a:schemeClr val="tx1"/>
                </a:solidFill>
              </a:rPr>
              <a:t>the plane. </a:t>
            </a:r>
            <a:r>
              <a:rPr lang="zh-CN" altLang="en-US" sz="3200" b="1" dirty="0">
                <a:solidFill>
                  <a:schemeClr val="tx1"/>
                </a:solidFill>
              </a:rPr>
              <a:t>登机</a:t>
            </a:r>
            <a:endParaRPr lang="zh-CN" altLang="en-US" sz="3200" b="1" dirty="0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</a:rPr>
              <a:t>                         </a:t>
            </a:r>
            <a:r>
              <a:rPr lang="en-US" altLang="zh-CN" sz="3200" b="1" dirty="0">
                <a:solidFill>
                  <a:srgbClr val="FF0000"/>
                </a:solidFill>
              </a:rPr>
              <a:t> boarded / on board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</a:rPr>
              <a:t>The flight attendant</a:t>
            </a:r>
            <a:r>
              <a:rPr lang="en-US" altLang="zh-CN" sz="3200" b="1" dirty="0">
                <a:solidFill>
                  <a:srgbClr val="FF0000"/>
                </a:solidFill>
              </a:rPr>
              <a:t> welcomed us aboard</a:t>
            </a:r>
            <a:r>
              <a:rPr lang="en-US" altLang="zh-CN" sz="3200" b="1" dirty="0">
                <a:solidFill>
                  <a:schemeClr val="tx1"/>
                </a:solidFill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</a:rPr>
              <a:t>欢迎我们</a:t>
            </a:r>
            <a:r>
              <a:rPr lang="zh-CN" altLang="en-US" sz="3200" b="1" dirty="0">
                <a:solidFill>
                  <a:schemeClr val="tx1"/>
                </a:solidFill>
              </a:rPr>
              <a:t>登机</a:t>
            </a:r>
            <a:endParaRPr lang="zh-CN" altLang="en-US" sz="3200" b="1" dirty="0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</a:rPr>
              <a:t>boarding school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altLang="en-US" sz="3200" b="1" dirty="0">
                <a:solidFill>
                  <a:schemeClr val="tx1"/>
                </a:solidFill>
              </a:rPr>
              <a:t>Free room and </a:t>
            </a:r>
            <a:r>
              <a:rPr lang="en-US" altLang="en-US" sz="3200" b="1" dirty="0">
                <a:solidFill>
                  <a:srgbClr val="FF0000"/>
                </a:solidFill>
              </a:rPr>
              <a:t>board </a:t>
            </a:r>
            <a:r>
              <a:rPr lang="en-US" altLang="en-US" sz="3200" b="1" dirty="0">
                <a:solidFill>
                  <a:schemeClr val="tx1"/>
                </a:solidFill>
              </a:rPr>
              <a:t>are provided for all hotel staff.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</a:rPr>
              <a:t>rub one’s hands / eyes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indent="0">
              <a:lnSpc>
                <a:spcPct val="100000"/>
              </a:lnSpc>
              <a:buNone/>
            </a:pPr>
            <a:endParaRPr lang="en-US" altLang="zh-CN" sz="3200" b="1" dirty="0">
              <a:solidFill>
                <a:srgbClr val="FF0000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altLang="en-US" sz="3200" b="1" dirty="0">
                <a:solidFill>
                  <a:srgbClr val="FF0000"/>
                </a:solidFill>
              </a:rPr>
              <a:t>school uniform </a:t>
            </a:r>
            <a:r>
              <a:rPr lang="zh-CN" altLang="en-US" sz="3200" b="1" dirty="0">
                <a:solidFill>
                  <a:schemeClr val="tx1"/>
                </a:solidFill>
              </a:rPr>
              <a:t>校服</a:t>
            </a:r>
            <a:endParaRPr lang="en-US" altLang="en-US" sz="3200" b="1" dirty="0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altLang="en-US" sz="3200" b="1" dirty="0">
                <a:solidFill>
                  <a:schemeClr val="tx1"/>
                </a:solidFill>
              </a:rPr>
              <a:t>soldiers </a:t>
            </a:r>
            <a:r>
              <a:rPr lang="en-US" altLang="en-US" sz="3200" b="1" dirty="0">
                <a:solidFill>
                  <a:srgbClr val="FF0000"/>
                </a:solidFill>
              </a:rPr>
              <a:t>in uniform</a:t>
            </a:r>
            <a:endParaRPr lang="en-US" altLang="en-US" sz="3200" b="1" dirty="0">
              <a:solidFill>
                <a:srgbClr val="FF0000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altLang="en-US" sz="3200" b="1" dirty="0">
                <a:solidFill>
                  <a:schemeClr val="tx1"/>
                </a:solidFill>
              </a:rPr>
              <a:t>Small businesses are demanding </a:t>
            </a:r>
            <a:r>
              <a:rPr lang="en-US" altLang="en-US" sz="3200" b="1" dirty="0">
                <a:solidFill>
                  <a:srgbClr val="FF0000"/>
                </a:solidFill>
              </a:rPr>
              <a:t>uniform </a:t>
            </a:r>
            <a:r>
              <a:rPr lang="en-US" altLang="en-US" sz="3200" b="1" dirty="0">
                <a:solidFill>
                  <a:schemeClr val="tx1"/>
                </a:solidFill>
              </a:rPr>
              <a:t>treatment from the banks.</a:t>
            </a:r>
            <a:endParaRPr lang="en-US" altLang="en-US" sz="3200" b="1" dirty="0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统一的，</a:t>
            </a:r>
            <a:r>
              <a:rPr lang="zh-CN" altLang="en-US" sz="3200" b="1" dirty="0">
                <a:solidFill>
                  <a:schemeClr val="tx1"/>
                </a:solidFill>
              </a:rPr>
              <a:t>一致的</a:t>
            </a:r>
            <a:endParaRPr lang="zh-CN" altLang="en-US" sz="3200" b="1" dirty="0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</a:rPr>
              <a:t>uniformity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02565" y="144145"/>
            <a:ext cx="1187323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</a:rPr>
              <a:t>shake one’s head </a:t>
            </a:r>
            <a:r>
              <a:rPr lang="en-US" altLang="zh-CN" sz="3200" b="1" dirty="0">
                <a:solidFill>
                  <a:srgbClr val="FF0000"/>
                </a:solidFill>
              </a:rPr>
              <a:t>violently</a:t>
            </a:r>
            <a:r>
              <a:rPr lang="en-US" altLang="zh-CN" sz="3200" b="1" dirty="0">
                <a:solidFill>
                  <a:schemeClr val="tx1"/>
                </a:solidFill>
              </a:rPr>
              <a:t> / shiver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violently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chemeClr val="tx1"/>
                </a:solidFill>
                <a:sym typeface="+mn-ea"/>
              </a:rPr>
              <a:t>They </a:t>
            </a: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are violently opposed to</a:t>
            </a:r>
            <a:r>
              <a:rPr lang="en-US" altLang="en-US" sz="3200" b="1" dirty="0">
                <a:solidFill>
                  <a:schemeClr val="tx1"/>
                </a:solidFill>
                <a:sym typeface="+mn-ea"/>
              </a:rPr>
              <a:t> the idea.</a:t>
            </a:r>
            <a:endParaRPr lang="en-US" altLang="en-US" sz="3200" b="1" dirty="0">
              <a:solidFill>
                <a:schemeClr val="tx1"/>
              </a:solidFill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endParaRPr lang="en-US" altLang="en-US" sz="3200" b="1" dirty="0">
              <a:solidFill>
                <a:schemeClr val="tx1"/>
              </a:solidFill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violent crime</a:t>
            </a:r>
            <a:r>
              <a:rPr lang="en-US" altLang="en-US" sz="3200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暴力犯罪</a:t>
            </a:r>
            <a:endParaRPr lang="zh-CN" altLang="en-US" sz="3200" b="1" dirty="0">
              <a:solidFill>
                <a:schemeClr val="tx1"/>
              </a:solidFill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 violent change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急剧的变化</a:t>
            </a:r>
            <a:endParaRPr lang="zh-CN" altLang="en-US" sz="3200" b="1" dirty="0">
              <a:solidFill>
                <a:schemeClr val="tx1"/>
              </a:solidFill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chemeClr val="tx1"/>
                </a:solidFill>
                <a:sym typeface="+mn-ea"/>
              </a:rPr>
              <a:t>an outburst of </a:t>
            </a: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violent </a:t>
            </a:r>
            <a:r>
              <a:rPr lang="en-US" altLang="en-US" sz="3200" b="1" dirty="0">
                <a:solidFill>
                  <a:schemeClr val="tx1"/>
                </a:solidFill>
                <a:sym typeface="+mn-ea"/>
              </a:rPr>
              <a:t>emotion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强烈感情的爆发</a:t>
            </a:r>
            <a:endParaRPr lang="zh-CN" altLang="en-US" sz="3200" b="1" dirty="0">
              <a:solidFill>
                <a:schemeClr val="tx1"/>
              </a:solidFill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domestic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violence 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(n.)</a:t>
            </a:r>
            <a:endParaRPr lang="en-US" altLang="en-US" sz="3200" b="1" i="1" dirty="0">
              <a:solidFill>
                <a:srgbClr val="FF0000"/>
              </a:solidFill>
              <a:latin typeface="Times New Roman Bold Italic" panose="02020603050405020304" charset="0"/>
              <a:cs typeface="Times New Roman Bold Italic" panose="02020603050405020304" charset="0"/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Violence _____ _____ inside the prison.</a:t>
            </a:r>
            <a:endParaRPr lang="en-US" altLang="en-US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003415" y="70739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sym typeface="+mn-ea"/>
              </a:rPr>
              <a:t>他们强烈反对这个想法。</a:t>
            </a:r>
            <a:endParaRPr lang="zh-CN" altLang="en-US" sz="3200" b="1" dirty="0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896110" y="418084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broke out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  <p:bldP spid="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94945" y="0"/>
            <a:ext cx="1199769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en-US" sz="3200" b="1" dirty="0"/>
              <a:t>1) </a:t>
            </a:r>
            <a:r>
              <a:rPr lang="zh-CN" altLang="en-US" sz="3200" b="1" dirty="0"/>
              <a:t>俯冲</a:t>
            </a:r>
            <a:r>
              <a:rPr lang="en-US" altLang="zh-CN" sz="3200" b="1" dirty="0"/>
              <a:t> </a:t>
            </a:r>
            <a:r>
              <a:rPr lang="en-US" altLang="en-US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go quickly downwards</a:t>
            </a:r>
            <a:endParaRPr lang="en-US" altLang="en-US" sz="3200" b="1" dirty="0"/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/>
              <a:t>The seagulls soared and </a:t>
            </a:r>
            <a:r>
              <a:rPr lang="en-US" altLang="zh-CN" sz="3200" b="1" dirty="0">
                <a:solidFill>
                  <a:srgbClr val="FF0000"/>
                </a:solidFill>
              </a:rPr>
              <a:t>dived</a:t>
            </a:r>
            <a:r>
              <a:rPr lang="en-US" altLang="zh-CN" sz="3200" b="1" dirty="0"/>
              <a:t>.</a:t>
            </a:r>
            <a:endParaRPr lang="en-US" altLang="zh-CN" sz="3200" b="1" dirty="0"/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/>
              <a:t>The share price </a:t>
            </a:r>
            <a:r>
              <a:rPr lang="en-US" altLang="en-US" sz="3200" b="1" dirty="0">
                <a:solidFill>
                  <a:srgbClr val="FF0000"/>
                </a:solidFill>
              </a:rPr>
              <a:t>dived </a:t>
            </a:r>
            <a:r>
              <a:rPr lang="en-US" altLang="en-US" sz="3200" b="1" dirty="0"/>
              <a:t>from 75p to an all-time low of 50p. </a:t>
            </a:r>
            <a:endParaRPr lang="en-US" altLang="en-US" sz="3200" b="1" dirty="0"/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2)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冲，扑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</a:t>
            </a:r>
            <a:r>
              <a:rPr lang="en-US" altLang="en-US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move quickly</a:t>
            </a:r>
            <a:endParaRPr lang="en-US" altLang="en-US" sz="3200" b="1" i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The goalkeeper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dived / made a dive 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(n.)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for the ball, but missed it.</a:t>
            </a:r>
            <a:endParaRPr lang="en-US" altLang="en-US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/>
              <a:t>It started to rain so we </a:t>
            </a:r>
            <a:r>
              <a:rPr lang="en-US" altLang="en-US" sz="3200" b="1" dirty="0">
                <a:solidFill>
                  <a:srgbClr val="FF0000"/>
                </a:solidFill>
              </a:rPr>
              <a:t>dived </a:t>
            </a:r>
            <a:r>
              <a:rPr lang="en-US" altLang="en-US" sz="3200" b="1" dirty="0"/>
              <a:t>into the nearest cafe.</a:t>
            </a:r>
            <a:endParaRPr lang="en-US" altLang="en-US" sz="3200" b="1" dirty="0"/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ym typeface="+mn-ea"/>
              </a:rPr>
              <a:t>She </a:t>
            </a: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dived </a:t>
            </a:r>
            <a:r>
              <a:rPr lang="en-US" altLang="en-US" sz="3200" b="1" dirty="0">
                <a:sym typeface="+mn-ea"/>
              </a:rPr>
              <a:t>into her bag and took out a couple of coins.</a:t>
            </a:r>
            <a:endParaRPr lang="en-US" altLang="en-US" sz="3200" b="1" dirty="0"/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/>
              <a:t>Jim </a:t>
            </a:r>
            <a:r>
              <a:rPr lang="en-US" altLang="en-US" sz="3200" b="1" dirty="0">
                <a:solidFill>
                  <a:srgbClr val="FF0000"/>
                </a:solidFill>
              </a:rPr>
              <a:t>dived </a:t>
            </a:r>
            <a:r>
              <a:rPr lang="en-US" altLang="en-US" sz="3200" b="1" dirty="0"/>
              <a:t>into the search without thinking about the potential danger.</a:t>
            </a:r>
            <a:endParaRPr lang="en-US" altLang="en-US" sz="3200" b="1" dirty="0"/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rgbClr val="FF0000"/>
                </a:solidFill>
              </a:rPr>
              <a:t>diving </a:t>
            </a:r>
            <a:r>
              <a:rPr lang="zh-CN" altLang="en-US" sz="3200" b="1" dirty="0"/>
              <a:t>潜水</a:t>
            </a:r>
            <a:r>
              <a:rPr lang="en-US" altLang="zh-CN" sz="3200" b="1" dirty="0"/>
              <a:t>，</a:t>
            </a:r>
            <a:r>
              <a:rPr lang="zh-CN" altLang="en-US" sz="3200" b="1" dirty="0"/>
              <a:t>跳水</a:t>
            </a:r>
            <a:r>
              <a:rPr lang="en-US" altLang="zh-CN" sz="3200" b="1" dirty="0"/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diver </a:t>
            </a:r>
            <a:r>
              <a:rPr lang="zh-CN" altLang="en-US" sz="3200" b="1" dirty="0"/>
              <a:t>潜水员</a:t>
            </a:r>
            <a:r>
              <a:rPr lang="en-US" altLang="zh-CN" sz="3200" b="1" dirty="0"/>
              <a:t>  </a:t>
            </a:r>
            <a:r>
              <a:rPr lang="en-US" altLang="zh-CN" sz="3200" b="1" dirty="0">
                <a:solidFill>
                  <a:srgbClr val="FF0000"/>
                </a:solidFill>
              </a:rPr>
              <a:t>skydiving</a:t>
            </a:r>
            <a:endParaRPr lang="zh-CN" altLang="en-US" sz="3200" b="1" dirty="0"/>
          </a:p>
        </p:txBody>
      </p:sp>
      <p:sp>
        <p:nvSpPr>
          <p:cNvPr id="2" name="Text Box 1"/>
          <p:cNvSpPr txBox="1"/>
          <p:nvPr/>
        </p:nvSpPr>
        <p:spPr>
          <a:xfrm>
            <a:off x="10222865" y="124587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 dirty="0">
                <a:sym typeface="+mn-ea"/>
              </a:rPr>
              <a:t>下跌</a:t>
            </a:r>
            <a:endParaRPr lang="zh-CN" altLang="en-US" sz="3200" b="1" dirty="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518650" y="356933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 dirty="0">
                <a:sym typeface="+mn-ea"/>
              </a:rPr>
              <a:t>迅速将手</a:t>
            </a:r>
            <a:r>
              <a:rPr lang="zh-CN" altLang="en-US" sz="3200" b="1" dirty="0">
                <a:sym typeface="+mn-ea"/>
              </a:rPr>
              <a:t>伸入</a:t>
            </a:r>
            <a:endParaRPr lang="zh-CN" altLang="en-US" sz="3200" b="1" dirty="0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726565" y="473456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 dirty="0">
                <a:sym typeface="+mn-ea"/>
              </a:rPr>
              <a:t>投身于，</a:t>
            </a:r>
            <a:r>
              <a:rPr lang="zh-CN" altLang="en-US" sz="3200" b="1" dirty="0">
                <a:sym typeface="+mn-ea"/>
              </a:rPr>
              <a:t>钻研</a:t>
            </a:r>
            <a:endParaRPr lang="zh-CN" altLang="en-US" sz="3200" b="1" dirty="0"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822565" y="531812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sym typeface="+mn-ea"/>
              </a:rPr>
              <a:t>跳伞</a:t>
            </a:r>
            <a:endParaRPr lang="zh-CN" altLang="en-US" sz="3200" b="1"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6" grpId="0"/>
      <p:bldP spid="6" grpId="1"/>
      <p:bldP spid="8" grpId="0"/>
      <p:bldP spid="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5260" y="0"/>
            <a:ext cx="1171448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thunder </a:t>
            </a:r>
            <a:r>
              <a:rPr lang="en-US" altLang="zh-CN" sz="3200" b="1" dirty="0">
                <a:sym typeface="+mn-ea"/>
              </a:rPr>
              <a:t>n./v.</a:t>
            </a:r>
            <a:endParaRPr lang="en-US" altLang="zh-CN" sz="3200" b="1" dirty="0"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雷声隆隆</a:t>
            </a:r>
            <a:r>
              <a:rPr lang="en-US" altLang="zh-CN" sz="3200" b="1" dirty="0">
                <a:sym typeface="+mn-ea"/>
              </a:rPr>
              <a:t> the thunder _____________________. </a:t>
            </a:r>
            <a:endParaRPr lang="en-US" altLang="zh-CN" sz="3200" b="1" dirty="0"/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the rumble/roll of distant thunder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远处雷声隆隆</a:t>
            </a:r>
            <a:endParaRPr lang="zh-CN" altLang="en-US" sz="3200" b="1" dirty="0"/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rolling/rumbling</a:t>
            </a:r>
            <a:r>
              <a:rPr lang="en-US" altLang="zh-CN" sz="3200" b="1" dirty="0"/>
              <a:t> thunder</a:t>
            </a:r>
            <a:endParaRPr lang="en-US" altLang="zh-CN" sz="3200" b="1" dirty="0"/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/>
              <a:t>A voice </a:t>
            </a:r>
            <a:r>
              <a:rPr lang="en-US" altLang="zh-CN" sz="3200" b="1" dirty="0">
                <a:solidFill>
                  <a:srgbClr val="FF0000"/>
                </a:solidFill>
              </a:rPr>
              <a:t>thundered </a:t>
            </a:r>
            <a:r>
              <a:rPr lang="en-US" altLang="zh-CN" sz="3200" b="1" dirty="0"/>
              <a:t>in my ear. / The truck </a:t>
            </a:r>
            <a:r>
              <a:rPr lang="en-US" altLang="zh-CN" sz="3200" b="1" dirty="0">
                <a:solidFill>
                  <a:srgbClr val="FF0000"/>
                </a:solidFill>
              </a:rPr>
              <a:t>thundered </a:t>
            </a:r>
            <a:r>
              <a:rPr lang="en-US" altLang="zh-CN" sz="3200" b="1" dirty="0"/>
              <a:t>past.</a:t>
            </a:r>
            <a:endParaRPr lang="en-US" altLang="zh-CN" sz="3200" b="1" dirty="0"/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/>
              <a:t>__________ traffic</a:t>
            </a:r>
            <a:endParaRPr lang="en-US" altLang="zh-CN" sz="3200" b="1" dirty="0"/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/>
              <a:t>She _______ out of the room and ________ the door shut behind her. (</a:t>
            </a:r>
            <a:r>
              <a:rPr lang="zh-CN" altLang="en-US" sz="3200" b="1" dirty="0"/>
              <a:t>愤怒地冲出；砰的一声</a:t>
            </a:r>
            <a:r>
              <a:rPr lang="en-US" altLang="zh-CN" sz="3200" b="1" dirty="0"/>
              <a:t>)</a:t>
            </a:r>
            <a:endParaRPr lang="en-US" altLang="zh-CN" sz="3200" b="1" dirty="0"/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deafening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</a:rPr>
              <a:t>. 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听众中爆发</a:t>
            </a:r>
            <a:r>
              <a:rPr lang="zh-CN" altLang="en-US" sz="3200" b="1" dirty="0">
                <a:solidFill>
                  <a:schemeClr val="tx1"/>
                </a:solidFill>
              </a:rPr>
              <a:t>出震耳欲聋的掌声。</a:t>
            </a:r>
            <a:endParaRPr lang="zh-CN" altLang="en-US" sz="3200" b="1" dirty="0">
              <a:solidFill>
                <a:schemeClr val="tx1"/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The audience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60520" y="6337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rumbled/rolled/crashed 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75260" y="2973705"/>
            <a:ext cx="222123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thunder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ing 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951230" y="3557270"/>
            <a:ext cx="35744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stormed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096000" y="355727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crashed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517775" y="5935980"/>
            <a:ext cx="948817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broke into deafening/thunderous applause.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0" dur="1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5" dur="1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81610" y="246380"/>
            <a:ext cx="11623675" cy="50158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3200" b="1"/>
              <a:t>Water </a:t>
            </a:r>
            <a:r>
              <a:rPr lang="en-US" altLang="zh-CN" sz="3200" b="1">
                <a:solidFill>
                  <a:srgbClr val="FF0000"/>
                </a:solidFill>
              </a:rPr>
              <a:t>freezes </a:t>
            </a:r>
            <a:r>
              <a:rPr lang="en-US" altLang="zh-CN" sz="3200" b="1"/>
              <a:t>at 0°C.</a:t>
            </a:r>
            <a:endParaRPr lang="en-US" altLang="zh-CN" sz="3200" b="1"/>
          </a:p>
          <a:p>
            <a:r>
              <a:rPr lang="en-US" altLang="zh-CN" sz="3200" b="1"/>
              <a:t>She stared at him, ________ with shock/terror.</a:t>
            </a:r>
            <a:r>
              <a:rPr lang="zh-CN" altLang="en-US" sz="3200" b="1"/>
              <a:t>吓呆了无法动弹</a:t>
            </a:r>
            <a:r>
              <a:rPr lang="en-US" altLang="zh-CN" sz="3200" b="1"/>
              <a:t> </a:t>
            </a:r>
            <a:endParaRPr lang="en-US" altLang="zh-CN" sz="3200" b="1"/>
          </a:p>
          <a:p>
            <a:r>
              <a:rPr lang="en-US" altLang="zh-CN" sz="3200" b="1"/>
              <a:t>I’m ________. </a:t>
            </a:r>
            <a:r>
              <a:rPr lang="zh-CN" altLang="en-US" sz="3200" b="1"/>
              <a:t>很冷</a:t>
            </a:r>
            <a:endParaRPr lang="en-US" altLang="zh-CN" sz="3200" b="1"/>
          </a:p>
          <a:p>
            <a:r>
              <a:rPr lang="en-US" altLang="zh-CN" sz="3200" b="1"/>
              <a:t>It’s </a:t>
            </a:r>
            <a:r>
              <a:rPr lang="en-US" altLang="zh-CN" sz="3200" b="1">
                <a:solidFill>
                  <a:srgbClr val="FF0000"/>
                </a:solidFill>
              </a:rPr>
              <a:t>freezing </a:t>
            </a:r>
            <a:r>
              <a:rPr lang="en-US" altLang="zh-CN" sz="3200" b="1"/>
              <a:t>cold outside.</a:t>
            </a:r>
            <a:endParaRPr lang="en-US" altLang="zh-CN" sz="3200" b="1"/>
          </a:p>
          <a:p>
            <a:r>
              <a:rPr lang="en-US" altLang="en-US" sz="3200" b="1"/>
              <a:t>the words/smile </a:t>
            </a:r>
            <a:r>
              <a:rPr lang="en-US" altLang="en-US" sz="3200" b="1">
                <a:solidFill>
                  <a:srgbClr val="FF0000"/>
                </a:solidFill>
              </a:rPr>
              <a:t>froze </a:t>
            </a:r>
            <a:r>
              <a:rPr lang="en-US" altLang="en-US" sz="3200" b="1"/>
              <a:t>on her lips</a:t>
            </a:r>
            <a:endParaRPr lang="en-US" altLang="en-US" sz="3200" b="1"/>
          </a:p>
          <a:p>
            <a:endParaRPr lang="zh-CN" altLang="en-US" sz="3200" b="1"/>
          </a:p>
          <a:p>
            <a:r>
              <a:rPr lang="en-US" altLang="zh-CN" sz="3200" b="1">
                <a:solidFill>
                  <a:srgbClr val="FF0000"/>
                </a:solidFill>
              </a:rPr>
              <a:t>come to oneself </a:t>
            </a:r>
            <a:r>
              <a:rPr lang="zh-CN" altLang="en-US" sz="3200" b="1">
                <a:solidFill>
                  <a:schemeClr val="tx1"/>
                </a:solidFill>
              </a:rPr>
              <a:t>冷静下来</a:t>
            </a:r>
            <a:endParaRPr lang="zh-CN" altLang="en-US" sz="3200" b="1">
              <a:solidFill>
                <a:schemeClr val="tx1"/>
              </a:solidFill>
            </a:endParaRPr>
          </a:p>
          <a:p>
            <a:r>
              <a:rPr lang="en-US" altLang="zh-CN" sz="3200" b="1">
                <a:solidFill>
                  <a:srgbClr val="FF0000"/>
                </a:solidFill>
              </a:rPr>
              <a:t>pull yourself together/</a:t>
            </a:r>
            <a:r>
              <a:rPr lang="en-US" altLang="en-US" sz="3200" b="1">
                <a:solidFill>
                  <a:srgbClr val="FF0000"/>
                </a:solidFill>
              </a:rPr>
              <a:t> gather oneself / </a:t>
            </a:r>
            <a:r>
              <a:rPr lang="en-US" altLang="en-US" sz="3200" b="1">
                <a:solidFill>
                  <a:srgbClr val="FF0000"/>
                </a:solidFill>
                <a:sym typeface="+mn-ea"/>
              </a:rPr>
              <a:t>keep one's head</a:t>
            </a:r>
            <a:endParaRPr lang="en-US" altLang="en-US" sz="3200" b="1">
              <a:solidFill>
                <a:srgbClr val="FF0000"/>
              </a:solidFill>
            </a:endParaRPr>
          </a:p>
          <a:p>
            <a:r>
              <a:rPr lang="en-US" altLang="en-US" sz="3200" b="1">
                <a:solidFill>
                  <a:srgbClr val="FF0000"/>
                </a:solidFill>
              </a:rPr>
              <a:t>compose </a:t>
            </a:r>
            <a:r>
              <a:rPr lang="en-US" altLang="en-US" sz="3200" b="1">
                <a:solidFill>
                  <a:schemeClr val="tx1"/>
                </a:solidFill>
              </a:rPr>
              <a:t>oneself / regain one's </a:t>
            </a:r>
            <a:r>
              <a:rPr lang="en-US" altLang="en-US" sz="3200" b="1">
                <a:solidFill>
                  <a:srgbClr val="FF0000"/>
                </a:solidFill>
              </a:rPr>
              <a:t>composure</a:t>
            </a:r>
            <a:endParaRPr lang="en-US" altLang="en-US" sz="3200" b="1">
              <a:solidFill>
                <a:schemeClr val="tx1"/>
              </a:solidFill>
            </a:endParaRPr>
          </a:p>
          <a:p>
            <a:r>
              <a:rPr lang="en-US" altLang="en-US" sz="3200" b="1">
                <a:solidFill>
                  <a:srgbClr val="FF0000"/>
                </a:solidFill>
              </a:rPr>
              <a:t>control </a:t>
            </a:r>
            <a:r>
              <a:rPr lang="en-US" altLang="en-US" sz="3200" b="1">
                <a:solidFill>
                  <a:schemeClr val="tx1"/>
                </a:solidFill>
              </a:rPr>
              <a:t>oneself / regain one's </a:t>
            </a:r>
            <a:r>
              <a:rPr lang="en-US" altLang="en-US" sz="3200" b="1">
                <a:solidFill>
                  <a:srgbClr val="FF0000"/>
                </a:solidFill>
              </a:rPr>
              <a:t>self-control</a:t>
            </a:r>
            <a:r>
              <a:rPr lang="en-US" altLang="en-US" sz="3200" b="1">
                <a:solidFill>
                  <a:schemeClr val="tx1"/>
                </a:solidFill>
              </a:rPr>
              <a:t> </a:t>
            </a:r>
            <a:endParaRPr lang="en-US" altLang="en-US" sz="3200" b="1">
              <a:solidFill>
                <a:schemeClr val="tx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474720" y="652780"/>
            <a:ext cx="190627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frozen 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969010" y="1236345"/>
            <a:ext cx="164274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freezing</a:t>
            </a:r>
            <a:endParaRPr lang="zh-CN" altLang="en-US" sz="32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6" grpId="1"/>
      <p:bldP spid="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44780" y="0"/>
            <a:ext cx="12047220" cy="685800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3200" b="1"/>
              <a:t>meanwhile </a:t>
            </a:r>
            <a:r>
              <a:rPr lang="en-US" altLang="zh-CN" sz="3200" b="1" i="1">
                <a:solidFill>
                  <a:schemeClr val="bg2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(informal: meantime)</a:t>
            </a:r>
            <a:endParaRPr lang="en-US" altLang="zh-CN" sz="3200" b="1"/>
          </a:p>
          <a:p>
            <a:r>
              <a:rPr lang="en-US" altLang="zh-CN" sz="3200" b="1"/>
              <a:t>You throw food away, and </a:t>
            </a:r>
            <a:r>
              <a:rPr lang="en-US" altLang="zh-CN" sz="3200" b="1">
                <a:sym typeface="+mn-ea"/>
              </a:rPr>
              <a:t>(</a:t>
            </a:r>
            <a:r>
              <a:rPr lang="zh-CN" altLang="en-US" sz="3200" b="1">
                <a:solidFill>
                  <a:srgbClr val="FF0000"/>
                </a:solidFill>
                <a:sym typeface="+mn-ea"/>
              </a:rPr>
              <a:t>相比之下</a:t>
            </a:r>
            <a:r>
              <a:rPr lang="en-US" altLang="zh-CN" sz="3200" b="1">
                <a:solidFill>
                  <a:srgbClr val="FF0000"/>
                </a:solidFill>
                <a:sym typeface="+mn-ea"/>
              </a:rPr>
              <a:t>/</a:t>
            </a:r>
            <a:r>
              <a:rPr lang="zh-CN" altLang="en-US" sz="3200" b="1">
                <a:solidFill>
                  <a:srgbClr val="FF0000"/>
                </a:solidFill>
                <a:sym typeface="+mn-ea"/>
              </a:rPr>
              <a:t>然而</a:t>
            </a:r>
            <a:r>
              <a:rPr lang="zh-CN" altLang="en-US" sz="3200" b="1">
                <a:sym typeface="+mn-ea"/>
              </a:rPr>
              <a:t>世界上一些地方的儿童正在挨饿</a:t>
            </a:r>
            <a:r>
              <a:rPr lang="en-US" altLang="zh-CN" sz="3200" b="1">
                <a:sym typeface="+mn-ea"/>
              </a:rPr>
              <a:t>) </a:t>
            </a:r>
            <a:r>
              <a:rPr lang="en-US" altLang="zh-CN" sz="3200" b="1"/>
              <a:t>___________________________________________________.</a:t>
            </a:r>
            <a:endParaRPr lang="en-US" altLang="zh-CN" sz="3200" b="1"/>
          </a:p>
          <a:p>
            <a:r>
              <a:rPr lang="en-US" altLang="en-US" sz="3200" b="1"/>
              <a:t>Bob spent fifteen months alone on his yacht. Ann, </a:t>
            </a:r>
            <a:r>
              <a:rPr lang="en-US" altLang="en-US" sz="3200" b="1">
                <a:solidFill>
                  <a:srgbClr val="FF0000"/>
                </a:solidFill>
              </a:rPr>
              <a:t>meanwhile</a:t>
            </a:r>
            <a:r>
              <a:rPr lang="en-US" altLang="en-US" sz="3200" b="1"/>
              <a:t>, took care of the children on her own. </a:t>
            </a:r>
            <a:r>
              <a:rPr lang="zh-CN" altLang="en-US" sz="3200" b="1"/>
              <a:t>与此同时</a:t>
            </a:r>
            <a:endParaRPr lang="zh-CN" altLang="en-US" sz="3200" b="1"/>
          </a:p>
          <a:p>
            <a:r>
              <a:rPr lang="en-US" altLang="en-US" sz="3200" b="1"/>
              <a:t>The doctor will see you again next week. </a:t>
            </a:r>
            <a:r>
              <a:rPr lang="en-US" altLang="en-US" sz="3200" b="1">
                <a:solidFill>
                  <a:srgbClr val="FF0000"/>
                </a:solidFill>
              </a:rPr>
              <a:t>Meanwhile</a:t>
            </a:r>
            <a:r>
              <a:rPr lang="en-US" altLang="en-US" sz="3200" b="1"/>
              <a:t>, you must rest as much as possible. </a:t>
            </a:r>
            <a:r>
              <a:rPr lang="zh-CN" altLang="en-US" sz="3200" b="1"/>
              <a:t>在此期间</a:t>
            </a:r>
            <a:r>
              <a:rPr lang="en-US" altLang="zh-CN" sz="3200" b="1"/>
              <a:t> </a:t>
            </a:r>
            <a:r>
              <a:rPr lang="en-US" altLang="zh-CN" sz="3200" b="1" i="1">
                <a:solidFill>
                  <a:schemeClr val="bg2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in the meanwhile</a:t>
            </a:r>
            <a:endParaRPr lang="zh-CN" altLang="en-US" sz="3200" b="1"/>
          </a:p>
          <a:p>
            <a:endParaRPr lang="en-US" altLang="en-US" sz="3200" b="1"/>
          </a:p>
          <a:p>
            <a:r>
              <a:rPr lang="en-US" altLang="en-US" sz="3200" b="1"/>
              <a:t>He got up and </a:t>
            </a:r>
            <a:r>
              <a:rPr lang="en-US" altLang="en-US" sz="3200" b="1">
                <a:solidFill>
                  <a:srgbClr val="FF0000"/>
                </a:solidFill>
              </a:rPr>
              <a:t>dragged </a:t>
            </a:r>
            <a:r>
              <a:rPr lang="en-US" altLang="en-US" sz="3200" b="1"/>
              <a:t>his chair towards the table.</a:t>
            </a:r>
            <a:r>
              <a:rPr lang="en-US" altLang="zh-CN" sz="3200" b="1"/>
              <a:t> </a:t>
            </a:r>
            <a:r>
              <a:rPr lang="en-US" altLang="zh-CN" sz="3200" b="1" i="1">
                <a:latin typeface="Times New Roman Bold Italic" panose="02020603050405020304" charset="0"/>
                <a:cs typeface="Times New Roman Bold Italic" panose="02020603050405020304" charset="0"/>
              </a:rPr>
              <a:t>(pull with effort)</a:t>
            </a:r>
            <a:endParaRPr lang="en-US" altLang="zh-CN" sz="3200" b="1"/>
          </a:p>
          <a:p>
            <a:r>
              <a:rPr lang="en-US" altLang="en-US" sz="3200" b="1"/>
              <a:t>I find it really hard to </a:t>
            </a:r>
            <a:r>
              <a:rPr lang="en-US" altLang="en-US" sz="3200" b="1">
                <a:solidFill>
                  <a:srgbClr val="FF0000"/>
                </a:solidFill>
              </a:rPr>
              <a:t>drag myself out</a:t>
            </a:r>
            <a:r>
              <a:rPr lang="en-US" altLang="en-US" sz="3200" b="1">
                <a:solidFill>
                  <a:schemeClr val="tx1"/>
                </a:solidFill>
              </a:rPr>
              <a:t> </a:t>
            </a:r>
            <a:r>
              <a:rPr lang="en-US" altLang="en-US" sz="3200" b="1" i="1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(prep.)</a:t>
            </a:r>
            <a:r>
              <a:rPr lang="en-US" altLang="en-US" sz="3200" b="1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en-US" sz="3200" b="1"/>
              <a:t>and exercise regularly. </a:t>
            </a:r>
            <a:r>
              <a:rPr lang="zh-CN" altLang="en-US" sz="3200" b="1"/>
              <a:t>勉强</a:t>
            </a:r>
            <a:r>
              <a:rPr lang="zh-CN" altLang="en-US" sz="3200" b="1"/>
              <a:t>去做某事</a:t>
            </a:r>
            <a:endParaRPr lang="en-US" altLang="en-US" sz="3200" b="1"/>
          </a:p>
          <a:p>
            <a:r>
              <a:rPr lang="zh-CN" altLang="en-US" sz="3200" b="1"/>
              <a:t>很难离开</a:t>
            </a:r>
            <a:r>
              <a:rPr lang="zh-CN" altLang="en-US" sz="3200" b="1"/>
              <a:t>电脑</a:t>
            </a:r>
            <a:endParaRPr lang="zh-CN" altLang="en-US" sz="3200" b="1"/>
          </a:p>
          <a:p>
            <a:r>
              <a:rPr lang="zh-CN" altLang="en-US" sz="3200" b="1"/>
              <a:t>拖着脚</a:t>
            </a:r>
            <a:r>
              <a:rPr lang="zh-CN" altLang="en-US" sz="3200" b="1"/>
              <a:t>走</a:t>
            </a:r>
            <a:endParaRPr lang="zh-CN" altLang="en-US" sz="3200" b="1"/>
          </a:p>
          <a:p>
            <a:r>
              <a:rPr lang="en-US" altLang="en-US" sz="3200" b="1"/>
              <a:t>The last few weeks of the semester really </a:t>
            </a:r>
            <a:r>
              <a:rPr lang="en-US" altLang="en-US" sz="3200" b="1">
                <a:solidFill>
                  <a:srgbClr val="FF0000"/>
                </a:solidFill>
              </a:rPr>
              <a:t>dragged </a:t>
            </a:r>
            <a:r>
              <a:rPr lang="en-US" altLang="en-US" sz="3200" b="1"/>
              <a:t>(by).</a:t>
            </a:r>
            <a:r>
              <a:rPr lang="en-US" altLang="zh-CN" sz="3200" b="1"/>
              <a:t> </a:t>
            </a:r>
            <a:endParaRPr lang="en-US" altLang="zh-CN" sz="3200" b="1"/>
          </a:p>
        </p:txBody>
      </p:sp>
      <p:sp>
        <p:nvSpPr>
          <p:cNvPr id="3" name="Text Box 2"/>
          <p:cNvSpPr txBox="1"/>
          <p:nvPr/>
        </p:nvSpPr>
        <p:spPr>
          <a:xfrm>
            <a:off x="1601470" y="894080"/>
            <a:ext cx="110267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meanwhile children in some parts of the world are starving</a:t>
            </a:r>
            <a:endParaRPr lang="en-US" altLang="zh-CN" sz="32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814320" y="5356860"/>
            <a:ext cx="8676005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3200" b="1" i="0">
                <a:solidFill>
                  <a:srgbClr val="FF0000"/>
                </a:solidFill>
                <a:latin typeface="Times New Roman Bold" panose="02020603050405020304" charset="0"/>
                <a:ea typeface="ui-serif"/>
                <a:cs typeface="Times New Roman Bold" panose="02020603050405020304" charset="0"/>
              </a:rPr>
              <a:t>drag oneself away from the computer</a:t>
            </a:r>
            <a:endParaRPr lang="en-US" altLang="zh-CN" sz="3200" b="1" i="0">
              <a:solidFill>
                <a:srgbClr val="FF0000"/>
              </a:solidFill>
              <a:latin typeface="Times New Roman Bold" panose="02020603050405020304" charset="0"/>
              <a:ea typeface="ui-serif"/>
              <a:cs typeface="Times New Roman Bold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047240" y="5833745"/>
            <a:ext cx="8676005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3200" b="1" i="0">
                <a:solidFill>
                  <a:srgbClr val="FF0000"/>
                </a:solidFill>
                <a:latin typeface="Times New Roman Bold" panose="02020603050405020304" charset="0"/>
                <a:ea typeface="ui-serif"/>
                <a:cs typeface="Times New Roman Bold" panose="02020603050405020304" charset="0"/>
              </a:rPr>
              <a:t>drag one’s feet</a:t>
            </a:r>
            <a:endParaRPr lang="zh-CN" altLang="en-US" sz="3200" b="1" i="0">
              <a:solidFill>
                <a:srgbClr val="FF0000"/>
              </a:solidFill>
              <a:latin typeface="Times New Roman Bold" panose="02020603050405020304" charset="0"/>
              <a:ea typeface="宋体" charset="0"/>
              <a:cs typeface="Times New Roman Bold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3" grpId="0"/>
      <p:bldP spid="4" grpId="1"/>
      <p:bldP spid="5" grpId="1"/>
      <p:bldP spid="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68910" y="0"/>
            <a:ext cx="12023090" cy="682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l" defTabSz="914400" rtl="0" fontAlgn="auto">
              <a:lnSpc>
                <a:spcPts val="4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in chaos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一片狼藉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cs typeface="+mn-cs"/>
            </a:endParaRPr>
          </a:p>
          <a:p>
            <a:pPr marR="0" lvl="0" indent="0" algn="l" defTabSz="914400" rtl="0" fontAlgn="auto">
              <a:lnSpc>
                <a:spcPts val="4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一个完全混乱的场景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cs typeface="+mn-cs"/>
            </a:endParaRPr>
          </a:p>
          <a:p>
            <a:pPr marR="0" lvl="0" indent="0" algn="l" defTabSz="914400" rtl="0" fontAlgn="auto">
              <a:lnSpc>
                <a:spcPts val="4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陷入混乱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cs typeface="+mn-cs"/>
            </a:endParaRPr>
          </a:p>
          <a:p>
            <a:pPr marR="0" lvl="0" indent="0" algn="l" defTabSz="914400" rtl="0" fontAlgn="auto">
              <a:lnSpc>
                <a:spcPts val="4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chaotic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cs typeface="+mn-cs"/>
            </a:endParaRPr>
          </a:p>
          <a:p>
            <a:pPr marR="0" lvl="0" indent="0" algn="l" defTabSz="914400" rtl="0" fontAlgn="auto">
              <a:lnSpc>
                <a:spcPts val="4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cs typeface="+mn-cs"/>
            </a:endParaRPr>
          </a:p>
          <a:p>
            <a:pPr marR="0" lvl="0" indent="0" algn="l" defTabSz="914400" rtl="0" fontAlgn="auto">
              <a:lnSpc>
                <a:spcPts val="4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Chicks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hatched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(out). /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hatch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her eggs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cs typeface="+mn-cs"/>
            </a:endParaRPr>
          </a:p>
          <a:p>
            <a:pPr marR="0" lvl="0" indent="0" algn="l" defTabSz="914400" rtl="0" fontAlgn="auto">
              <a:lnSpc>
                <a:spcPts val="4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don't count your chickens (before they are hatched)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cs typeface="+mn-cs"/>
            </a:endParaRPr>
          </a:p>
          <a:p>
            <a:pPr marR="0" lvl="0" indent="0" algn="l" defTabSz="914400" rtl="0" fontAlgn="auto">
              <a:lnSpc>
                <a:spcPts val="4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He accused opposition parties of ____ ____ ____ ____ assassinate the pope.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他曾指责各反对党阴谋策划暗杀教皇。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cs typeface="+mn-cs"/>
            </a:endParaRPr>
          </a:p>
          <a:p>
            <a:pPr marR="0" lvl="0" indent="0" algn="l" defTabSz="914400" rtl="0" fontAlgn="auto">
              <a:lnSpc>
                <a:spcPts val="4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They were accused of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plotting against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 the king.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cs typeface="+mn-cs"/>
            </a:endParaRPr>
          </a:p>
          <a:p>
            <a:pPr marR="0" lvl="0" indent="0" algn="l" defTabSz="914400" rtl="0" fontAlgn="auto">
              <a:lnSpc>
                <a:spcPts val="4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Yesterday's meeting was intended to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plot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a survival strategy.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cs typeface="+mn-cs"/>
            </a:endParaRPr>
          </a:p>
          <a:p>
            <a:pPr marR="0" lvl="0" indent="0" algn="l" defTabSz="914400" rtl="0" fontAlgn="auto">
              <a:lnSpc>
                <a:spcPts val="4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plot(ted) to do sth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cs typeface="+mn-cs"/>
            </a:endParaRPr>
          </a:p>
          <a:p>
            <a:pPr marR="0" lvl="0" indent="0" algn="l" defTabSz="914400" rtl="0" fontAlgn="auto">
              <a:lnSpc>
                <a:spcPts val="4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a plot of land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一块地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cs typeface="+mn-cs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943600" y="361188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sym typeface="+mn-ea"/>
              </a:rPr>
              <a:t>hatching  a  plot  to </a:t>
            </a:r>
            <a:endParaRPr lang="en-US" altLang="en-US" sz="32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020820" y="480695"/>
            <a:ext cx="785749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lvl="0" indent="0" algn="l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sym typeface="+mn-ea"/>
              </a:rPr>
              <a:t>a scene of utter/total/absolute chaos</a:t>
            </a:r>
            <a:endParaRPr lang="en-US" altLang="en-US" sz="32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490595" y="3873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i="1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in a mess</a:t>
            </a:r>
            <a:endParaRPr lang="en-US" altLang="en-US" sz="3200" b="1" i="1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112010" y="1019175"/>
            <a:ext cx="881570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lvl="0" indent="0" algn="l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sym typeface="+mn-ea"/>
              </a:rPr>
              <a:t>be </a:t>
            </a:r>
            <a:r>
              <a:rPr lang="en-US" altLang="en-US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sym typeface="+mn-ea"/>
              </a:rPr>
              <a:t>thrown into chaos / slide into chaos</a:t>
            </a:r>
            <a:endParaRPr lang="en-US" altLang="en-US" sz="32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/>
      <p:bldP spid="4" grpId="0"/>
      <p:bldP spid="5" grpId="0"/>
      <p:bldP spid="6" grpId="1"/>
      <p:bldP spid="4" grpId="1"/>
      <p:bldP spid="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68910" y="0"/>
            <a:ext cx="12023090" cy="481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l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The heroes are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the ones that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gave their lives that day.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cs typeface="+mn-cs"/>
            </a:endParaRPr>
          </a:p>
          <a:p>
            <a:pPr marR="0" lvl="0" indent="0" algn="l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                       =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those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who 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特指的复数名词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cs typeface="+mn-cs"/>
            </a:endParaRPr>
          </a:p>
          <a:p>
            <a:pPr marR="0" lvl="0" indent="0" algn="l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cs typeface="+mn-cs"/>
              </a:rPr>
              <a:t>Helping others is rewarding, ____ habit you can learn even at an early age.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cs typeface="+mn-cs"/>
            </a:endParaRPr>
          </a:p>
          <a:p>
            <a:pPr marR="0" lvl="0" indent="0" algn="l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1" noProof="0" dirty="0">
                <a:ln>
                  <a:noFill/>
                </a:ln>
                <a:effectLst/>
                <a:uLnTx/>
                <a:uFillTx/>
                <a:latin typeface="Times New Roman" panose="02020603050405020304"/>
                <a:ea typeface="宋体" pitchFamily="2" charset="-122"/>
                <a:sym typeface="+mn-ea"/>
              </a:rPr>
              <a:t>Helping others is a good habit, ____ you can learn even at an early age.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cs typeface="+mn-cs"/>
            </a:endParaRPr>
          </a:p>
          <a:p>
            <a:pPr marR="0" lvl="0" indent="0" algn="l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cs typeface="+mn-cs"/>
            </a:endParaRPr>
          </a:p>
          <a:p>
            <a:pPr marR="0" lvl="0" indent="0" algn="l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cs typeface="+mn-cs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439410" y="1188085"/>
            <a:ext cx="6572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sym typeface="+mn-ea"/>
              </a:rPr>
              <a:t>a</a:t>
            </a:r>
            <a:endParaRPr lang="en-US" altLang="en-US" sz="32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586095" y="2344420"/>
            <a:ext cx="9848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itchFamily="2" charset="-122"/>
                <a:sym typeface="+mn-ea"/>
              </a:rPr>
              <a:t>one</a:t>
            </a:r>
            <a:endParaRPr lang="en-US" altLang="en-US" sz="32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1252474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Please sit __________________.   </a:t>
            </a:r>
            <a:r>
              <a:rPr lang="zh-CN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坐在我能看到你的地方</a:t>
            </a:r>
            <a:endParaRPr lang="en-US" altLang="zh-CN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___________________, there is a way. </a:t>
            </a:r>
            <a:r>
              <a:rPr lang="zh-CN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有志者，事竟成</a:t>
            </a:r>
            <a:endParaRPr lang="en-US" altLang="zh-CN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船沉入海底。</a:t>
            </a: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The ship 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sank </a:t>
            </a: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to the bottom of the sea.</a:t>
            </a:r>
            <a:endParaRPr lang="en-US" altLang="en-US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sink </a:t>
            </a: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into an armchair</a:t>
            </a:r>
            <a:endParaRPr lang="en-US" altLang="en-US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The sun was 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sinking </a:t>
            </a: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in the west.</a:t>
            </a:r>
            <a:endParaRPr lang="en-US" altLang="en-US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The pound has 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sunk </a:t>
            </a: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to its lowest recorded level against the dollar.</a:t>
            </a:r>
            <a:endParaRPr lang="en-US" altLang="en-US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I think I've just 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sunk </a:t>
            </a: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my chances of getting the job.</a:t>
            </a:r>
            <a:endParaRPr lang="en-US" altLang="en-US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She just sat there, 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sunk in thought</a:t>
            </a: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endParaRPr lang="en-US" altLang="en-US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He 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sank deeper into depression</a:t>
            </a: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.</a:t>
            </a:r>
            <a:endParaRPr lang="en-US" altLang="en-US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My heart sank </a:t>
            </a: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when I saw how much work there was left.</a:t>
            </a:r>
            <a:endParaRPr lang="en-US" altLang="en-US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She watched him go with ___ ______ ______. (</a:t>
            </a:r>
            <a:r>
              <a:rPr lang="zh-CN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心情沉重</a:t>
            </a:r>
            <a:r>
              <a:rPr lang="en-US" altLang="zh-CN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)</a:t>
            </a:r>
            <a:endParaRPr lang="zh-CN" altLang="en-US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779905" y="0"/>
            <a:ext cx="38131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where</a:t>
            </a:r>
            <a:r>
              <a:rPr lang="en-US" altLang="zh-CN" sz="3200" b="1" dirty="0">
                <a:solidFill>
                  <a:srgbClr val="E4002A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I can see you</a:t>
            </a:r>
            <a:endParaRPr lang="en-US" altLang="zh-CN" sz="3200" b="1" dirty="0">
              <a:solidFill>
                <a:srgbClr val="000000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30810" y="625475"/>
            <a:ext cx="47650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Where</a:t>
            </a:r>
            <a:r>
              <a:rPr lang="en-US" altLang="zh-CN" sz="3200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 there is a will</a:t>
            </a:r>
            <a:endParaRPr lang="en-US" altLang="zh-CN" sz="3200" b="1" dirty="0">
              <a:solidFill>
                <a:srgbClr val="000000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582160" y="59042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a sinking heart</a:t>
            </a:r>
            <a:endParaRPr lang="en-US" altLang="en-US" sz="3200" b="1" dirty="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593080" y="1863725"/>
            <a:ext cx="664210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3200" b="1" i="0">
                <a:solidFill>
                  <a:srgbClr val="FF0000"/>
                </a:solidFill>
                <a:latin typeface="Times New Roman Bold" panose="02020603050405020304" charset="0"/>
                <a:ea typeface="ui-serif"/>
                <a:cs typeface="Times New Roman Bold" panose="02020603050405020304" charset="0"/>
              </a:rPr>
              <a:t>sunken </a:t>
            </a:r>
            <a:r>
              <a:rPr lang="en-US" altLang="zh-CN" sz="3200" b="1" i="0">
                <a:solidFill>
                  <a:schemeClr val="bg2"/>
                </a:solidFill>
                <a:latin typeface="Times New Roman Bold" panose="02020603050405020304" charset="0"/>
                <a:ea typeface="ui-serif"/>
                <a:cs typeface="Times New Roman Bold" panose="02020603050405020304" charset="0"/>
              </a:rPr>
              <a:t>eyes/ship/treasure/remains</a:t>
            </a:r>
            <a:endParaRPr lang="en-US" altLang="zh-CN" sz="3200" b="1" i="0">
              <a:solidFill>
                <a:schemeClr val="bg2"/>
              </a:solidFill>
              <a:latin typeface="Times New Roman Bold" panose="02020603050405020304" charset="0"/>
              <a:ea typeface="ui-serif"/>
              <a:cs typeface="Times New Roman Bold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3" grpId="1"/>
      <p:bldP spid="5" grpId="1"/>
      <p:bldP spid="6" grpId="0"/>
      <p:bldP spid="6" grpId="1"/>
      <p:bldP spid="2" grpId="0"/>
      <p:bldP spid="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12524740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a lasting/permanent memorial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to</a:t>
            </a: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 ________ </a:t>
            </a:r>
            <a:r>
              <a:rPr lang="zh-CN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遇难者</a:t>
            </a:r>
            <a:endParaRPr lang="zh-CN" altLang="en-US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纪念碑，</a:t>
            </a:r>
            <a:r>
              <a:rPr lang="zh-CN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纪念物</a:t>
            </a:r>
            <a:endParaRPr lang="zh-CN" altLang="en-US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a memorial statue </a:t>
            </a:r>
            <a:r>
              <a:rPr lang="zh-CN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纪念像</a:t>
            </a:r>
            <a:endParaRPr lang="zh-CN" altLang="en-US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pray (to sb) for sth / to do </a:t>
            </a:r>
            <a:endParaRPr lang="zh-CN" altLang="en-US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prayers for sth</a:t>
            </a:r>
            <a:r>
              <a:rPr lang="en-US" altLang="zh-CN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为……的祈祷</a:t>
            </a:r>
            <a:endParaRPr lang="zh-CN" altLang="en-US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prayers </a:t>
            </a:r>
            <a:r>
              <a:rPr lang="en-US" altLang="zh-CN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were answered.  </a:t>
            </a:r>
            <a:r>
              <a:rPr lang="zh-CN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祈祷应验</a:t>
            </a:r>
            <a:r>
              <a:rPr lang="zh-CN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了</a:t>
            </a:r>
            <a:endParaRPr lang="zh-CN" altLang="en-US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814060" y="273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victims</a:t>
            </a:r>
            <a:endParaRPr lang="en-US" altLang="en-US" sz="3200" b="1" dirty="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1252474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Another 75,000 jobs will be lost in 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textiles </a:t>
            </a: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and 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clothing</a:t>
            </a: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endParaRPr lang="en-US" altLang="en-US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far-reaching</a:t>
            </a: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reforms in </a:t>
            </a: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education</a:t>
            </a:r>
            <a:endParaRPr lang="en-US" altLang="en-US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reform </a:t>
            </a: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v.  </a:t>
            </a:r>
            <a:r>
              <a:rPr lang="zh-CN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改革</a:t>
            </a:r>
            <a:r>
              <a:rPr lang="en-US" altLang="zh-CN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，</a:t>
            </a:r>
            <a:r>
              <a:rPr lang="zh-CN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改过自新</a:t>
            </a:r>
            <a:endParaRPr lang="zh-CN" altLang="en-US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The law needs to be 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reformed</a:t>
            </a:r>
            <a:r>
              <a:rPr lang="en-US" altLang="zh-CN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endParaRPr lang="en-US" altLang="zh-CN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He has promised to 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reform</a:t>
            </a:r>
            <a:r>
              <a:rPr lang="en-US" altLang="zh-CN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endParaRPr lang="en-US" altLang="zh-CN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output / input</a:t>
            </a:r>
            <a:endParaRPr lang="en-US" altLang="zh-CN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Manual workers need a good breakfast for high-energy 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output</a:t>
            </a: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endParaRPr lang="en-US" altLang="en-US" sz="3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Government statistics show the largest drop in industrial 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output </a:t>
            </a:r>
            <a:r>
              <a:rPr lang="en-US" altLang="en-US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for ten years.</a:t>
            </a:r>
            <a:endParaRPr lang="zh-CN" altLang="en-US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1252474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cloths </a:t>
            </a:r>
            <a:r>
              <a:rPr lang="zh-CN" altLang="en-US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布料</a:t>
            </a:r>
            <a:endParaRPr lang="zh-CN" altLang="en-US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clothes </a:t>
            </a:r>
            <a:r>
              <a:rPr lang="en-US" altLang="zh-CN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各类</a:t>
            </a:r>
            <a:r>
              <a:rPr lang="en-US" altLang="zh-CN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) </a:t>
            </a:r>
            <a:r>
              <a:rPr lang="zh-CN" altLang="en-US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衣服</a:t>
            </a:r>
            <a:endParaRPr lang="zh-CN" altLang="en-US" sz="3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clothing </a:t>
            </a:r>
            <a:r>
              <a:rPr lang="zh-CN" altLang="en-US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衣着，衣服的总称</a:t>
            </a:r>
            <a:endParaRPr lang="zh-CN" altLang="en-US" sz="3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It’s important to wear formal _______ in the workplace.</a:t>
            </a:r>
            <a:endParaRPr lang="en-US" altLang="zh-CN" sz="3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I’m going to go on a holiday to China and I’m _____ _____ _______. (</a:t>
            </a:r>
            <a:r>
              <a:rPr lang="zh-CN" altLang="en-US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打包我的衣服</a:t>
            </a:r>
            <a:r>
              <a:rPr lang="en-US" altLang="zh-CN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en-US" altLang="zh-CN" sz="3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endParaRPr lang="en-US" altLang="zh-CN" sz="3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endParaRPr lang="zh-CN" altLang="en-US" sz="3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266690" y="179451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clothing </a:t>
            </a:r>
            <a:endParaRPr lang="en-US" altLang="zh-CN" sz="3200" b="1" dirty="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143875" y="237807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packing my clothes </a:t>
            </a:r>
            <a:endParaRPr lang="en-US" altLang="zh-CN" sz="3200" b="1" dirty="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3" grpId="1"/>
      <p:bldP spid="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1244409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He ______ his _____ from </a:t>
            </a:r>
            <a:r>
              <a:rPr lang="en-US" altLang="en-US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outside the window ____  her.</a:t>
            </a:r>
            <a:endParaRPr lang="en-US" altLang="en-US" sz="3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他把目光从窗外移到她身上。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shift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chemeClr val="bg2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move</a:t>
            </a:r>
            <a:endParaRPr lang="zh-CN" altLang="en-US" sz="3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We ____________________________ our mistakes onto others.</a:t>
            </a:r>
            <a:endParaRPr lang="en-US" altLang="en-US" sz="3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推卸责任</a:t>
            </a:r>
            <a:endParaRPr lang="zh-CN" altLang="en-US" sz="3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shift your ground</a:t>
            </a:r>
            <a:r>
              <a:rPr lang="en-US" altLang="zh-CN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改变你的</a:t>
            </a:r>
            <a:r>
              <a:rPr lang="zh-CN" altLang="en-US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立场</a:t>
            </a:r>
            <a:endParaRPr lang="zh-CN" altLang="en-US" sz="3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Public attitudes towards marriage ___________ over the past 50 years.</a:t>
            </a:r>
            <a:endParaRPr lang="en-US" altLang="en-US" sz="3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50 </a:t>
            </a:r>
            <a:r>
              <a:rPr lang="zh-CN" altLang="en-US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年来，公众对婚姻的态度已经改变。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shift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vi. </a:t>
            </a:r>
            <a:r>
              <a:rPr lang="en-US" altLang="zh-CN" sz="3200" b="1" i="1" dirty="0">
                <a:solidFill>
                  <a:schemeClr val="bg2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change</a:t>
            </a:r>
            <a:endParaRPr lang="zh-CN" altLang="en-US" sz="3200" b="1" i="1" dirty="0">
              <a:solidFill>
                <a:schemeClr val="bg2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There has been __ _____ ___ public attitudes towards marriage.</a:t>
            </a:r>
            <a:endParaRPr lang="en-US" altLang="zh-CN" sz="3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Media attention ____________ environmental issues. (</a:t>
            </a:r>
            <a:r>
              <a:rPr lang="zh-CN" altLang="en-US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已经转向</a:t>
            </a:r>
            <a:r>
              <a:rPr lang="en-US" altLang="zh-CN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zh-CN" altLang="en-US" sz="3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work in 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shifts </a:t>
            </a:r>
            <a:r>
              <a:rPr lang="zh-CN" altLang="en-US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轮班</a:t>
            </a:r>
            <a:r>
              <a:rPr lang="zh-CN" altLang="en-US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工作</a:t>
            </a:r>
            <a:endParaRPr lang="zh-CN" altLang="en-US" sz="3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be on the day shift / night shift</a:t>
            </a:r>
            <a:endParaRPr lang="zh-CN" altLang="en-US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82295" y="81915"/>
            <a:ext cx="10735310" cy="584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shifted       gaze			                              to</a:t>
            </a:r>
            <a:endParaRPr lang="en-US" altLang="zh-CN" sz="3200" b="1" dirty="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09295" y="1249680"/>
            <a:ext cx="10735310" cy="584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shift the blame/responsibility for</a:t>
            </a:r>
            <a:endParaRPr lang="en-US" altLang="zh-CN" sz="3200" b="1" dirty="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096000" y="2983230"/>
            <a:ext cx="2809240" cy="748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have shifted</a:t>
            </a:r>
            <a:endParaRPr lang="en-US" altLang="en-US" sz="3200" b="1" dirty="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779395" y="4120515"/>
            <a:ext cx="2809240" cy="748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a   shift    in</a:t>
            </a:r>
            <a:endParaRPr lang="en-US" altLang="en-US" sz="3200" b="1" dirty="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2905125" y="4685030"/>
            <a:ext cx="2809240" cy="748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has shifted to</a:t>
            </a:r>
            <a:endParaRPr lang="en-US" altLang="en-US" sz="3200" b="1" dirty="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8" dur="1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3" dur="1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8" dur="1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9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1" dur="1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6" dur="1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1" dur="1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6" dur="1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1" dur="1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6" dur="1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1" dur="1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6" dur="1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8" grpId="0"/>
      <p:bldP spid="8" grpId="1"/>
      <p:bldP spid="9" grpId="0"/>
      <p:bldP spid="9" grpId="1"/>
    </p:bldLst>
  </p:timing>
</p:sld>
</file>

<file path=ppt/theme/theme1.xml><?xml version="1.0" encoding="utf-8"?>
<a:theme xmlns:a="http://schemas.openxmlformats.org/drawingml/2006/main" name="高中教材课件">
  <a:themeElements>
    <a:clrScheme name="高中编辑部">
      <a:dk1>
        <a:srgbClr val="000000"/>
      </a:dk1>
      <a:lt1>
        <a:srgbClr val="FFFFFF"/>
      </a:lt1>
      <a:dk2>
        <a:srgbClr val="E4002A"/>
      </a:dk2>
      <a:lt2>
        <a:srgbClr val="2419FF"/>
      </a:lt2>
      <a:accent1>
        <a:srgbClr val="F8C083"/>
      </a:accent1>
      <a:accent2>
        <a:srgbClr val="2C99FE"/>
      </a:accent2>
      <a:accent3>
        <a:srgbClr val="C788EA"/>
      </a:accent3>
      <a:accent4>
        <a:srgbClr val="FE824B"/>
      </a:accent4>
      <a:accent5>
        <a:srgbClr val="F5DAE9"/>
      </a:accent5>
      <a:accent6>
        <a:srgbClr val="96DD9A"/>
      </a:accent6>
      <a:hlink>
        <a:srgbClr val="2419FF"/>
      </a:hlink>
      <a:folHlink>
        <a:srgbClr val="000000"/>
      </a:folHlink>
    </a:clrScheme>
    <a:fontScheme name="课件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3200" b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2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4943</Words>
  <Application>WPS Writer</Application>
  <PresentationFormat>宽屏</PresentationFormat>
  <Paragraphs>202</Paragraphs>
  <Slides>14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8" baseType="lpstr">
      <vt:lpstr>Arial</vt:lpstr>
      <vt:lpstr>宋体</vt:lpstr>
      <vt:lpstr>Wingdings</vt:lpstr>
      <vt:lpstr>Times New Roman Bold Italic</vt:lpstr>
      <vt:lpstr>Times New Roman Bold</vt:lpstr>
      <vt:lpstr>Arial Bold</vt:lpstr>
      <vt:lpstr>ui-serif</vt:lpstr>
      <vt:lpstr>Thonburi</vt:lpstr>
      <vt:lpstr>Times New Roman</vt:lpstr>
      <vt:lpstr>汉仪书宋二KW</vt:lpstr>
      <vt:lpstr>Times New Roman</vt:lpstr>
      <vt:lpstr>微软雅黑</vt:lpstr>
      <vt:lpstr>汉仪旗黑</vt:lpstr>
      <vt:lpstr>宋体</vt:lpstr>
      <vt:lpstr>Arial Unicode MS</vt:lpstr>
      <vt:lpstr>等线</vt:lpstr>
      <vt:lpstr>汉仪中等线KW</vt:lpstr>
      <vt:lpstr>黑体</vt:lpstr>
      <vt:lpstr>汉仪中黑KW</vt:lpstr>
      <vt:lpstr>Calibri</vt:lpstr>
      <vt:lpstr>Helvetica Neue</vt:lpstr>
      <vt:lpstr>ui-serif</vt:lpstr>
      <vt:lpstr>苹方-简</vt:lpstr>
      <vt:lpstr>高中教材课件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Elsssie</cp:lastModifiedBy>
  <cp:revision>15</cp:revision>
  <dcterms:created xsi:type="dcterms:W3CDTF">2025-03-31T01:38:23Z</dcterms:created>
  <dcterms:modified xsi:type="dcterms:W3CDTF">2025-03-31T01:38:23Z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64F8CCA04B903D6FB198E3675AC0AEAE_42</vt:lpwstr>
  </property>
  <property fmtid="{D5CDD505-2E9C-101B-9397-08002B2CF9AE}" pid="3" name="KSOProductBuildVer">
    <vt:lpwstr>1033-7.2.2.8955</vt:lpwstr>
  </property>
</Properties>
</file>