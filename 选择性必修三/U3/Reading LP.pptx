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482" r:id="rId4"/>
    <p:sldId id="506" r:id="rId6"/>
    <p:sldId id="507" r:id="rId7"/>
    <p:sldId id="351" r:id="rId8"/>
    <p:sldId id="479" r:id="rId9"/>
    <p:sldId id="508" r:id="rId10"/>
    <p:sldId id="358" r:id="rId11"/>
    <p:sldId id="487" r:id="rId12"/>
    <p:sldId id="509" r:id="rId13"/>
    <p:sldId id="488" r:id="rId14"/>
    <p:sldId id="510" r:id="rId15"/>
    <p:sldId id="511" r:id="rId16"/>
    <p:sldId id="512" r:id="rId17"/>
    <p:sldId id="513" r:id="rId18"/>
    <p:sldId id="364" r:id="rId19"/>
    <p:sldId id="490" r:id="rId20"/>
    <p:sldId id="514" r:id="rId21"/>
    <p:sldId id="515" r:id="rId22"/>
    <p:sldId id="474" r:id="rId23"/>
    <p:sldId id="517" r:id="rId24"/>
    <p:sldId id="518" r:id="rId25"/>
    <p:sldId id="46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罗 洪权" initials="罗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066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28" autoAdjust="0"/>
    <p:restoredTop sz="94660"/>
  </p:normalViewPr>
  <p:slideViewPr>
    <p:cSldViewPr snapToGrid="0">
      <p:cViewPr varScale="1">
        <p:scale>
          <a:sx n="75" d="100"/>
          <a:sy n="75" d="100"/>
        </p:scale>
        <p:origin x="7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知识渊博，阅历丰富、远见</a:t>
            </a:r>
            <a:r>
              <a:rPr lang="en-US" altLang="zh-CN"/>
              <a:t> range, extent</a:t>
            </a:r>
            <a:endParaRPr lang="zh-CN" altLang="en-US"/>
          </a:p>
          <a:p>
            <a:r>
              <a:rPr lang="en-US" altLang="en-US"/>
              <a:t>have a tremendous breadth of experience</a:t>
            </a:r>
            <a:endParaRPr lang="en-US" altLang="en-US"/>
          </a:p>
          <a:p>
            <a:r>
              <a:rPr lang="en-US" altLang="en-US"/>
              <a:t>persuade sb to do...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A voyage is a long journey on a ship or in a spacecraft.</a:t>
            </a:r>
            <a:endParaRPr lang="en-US" altLang="en-US"/>
          </a:p>
          <a:p>
            <a:r>
              <a:rPr lang="en-US"/>
              <a:t>How did ancient peole navigate? </a:t>
            </a:r>
            <a:r>
              <a:rPr lang="zh-CN" altLang="en-US"/>
              <a:t>根据星辰确定航向</a:t>
            </a:r>
            <a:endParaRPr lang="en-US"/>
          </a:p>
          <a:p>
            <a:r>
              <a:rPr lang="zh-CN" altLang="en-US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他通过设定明确的目标并通过努力工作来实现它们，从而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>
                <a:sym typeface="+mn-ea"/>
              </a:rPr>
              <a:t>learn the ropes / know the ropes </a:t>
            </a:r>
            <a:r>
              <a:rPr lang="zh-CN" altLang="en-US">
                <a:sym typeface="+mn-ea"/>
              </a:rPr>
              <a:t>懂得门道，学习窍门</a:t>
            </a:r>
            <a:endParaRPr lang="zh-CN" altLang="en-US"/>
          </a:p>
          <a:p>
            <a:r>
              <a:rPr lang="zh-CN" altLang="en-US"/>
              <a:t>应对</a:t>
            </a:r>
            <a:r>
              <a:rPr lang="en-US" altLang="zh-CN"/>
              <a:t> navigate ups and downs</a:t>
            </a:r>
            <a:endParaRPr lang="en-US" altLang="zh-CN"/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He had to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navigate </a:t>
            </a:r>
            <a:r>
              <a:rPr lang="en-US" altLang="en-US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 difficult conversation with his parents about his future plans. </a:t>
            </a:r>
            <a:endParaRPr lang="en-US" altLang="en-US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他不得不与父母就未来的计划进行一次艰难的对话。</a:t>
            </a:r>
            <a:endParaRPr lang="zh-CN" altLang="en-US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从童年过渡到成年需要耐心和自我反思。</a:t>
            </a:r>
            <a:endParaRPr lang="en-US" altLang="zh-CN"/>
          </a:p>
          <a:p>
            <a:r>
              <a:rPr lang="zh-CN" altLang="en-US"/>
              <a:t>了解不同国家之间的文化差异可以成为一种学习经验。</a:t>
            </a:r>
            <a:endParaRPr lang="zh-CN" altLang="en-US"/>
          </a:p>
          <a:p>
            <a:r>
              <a:rPr lang="en-US" altLang="en-US"/>
              <a:t>navigating unchartered waters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减轻</a:t>
            </a:r>
            <a:r>
              <a:rPr lang="en-US" altLang="zh-CN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分担某人的负担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记录</a:t>
            </a:r>
            <a:r>
              <a:rPr lang="en-US" altLang="zh-CN"/>
              <a:t> </a:t>
            </a:r>
            <a:r>
              <a:rPr lang="en-US" altLang="en-US"/>
              <a:t>record it officially in writing or on a computer. 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shrug off criticism </a:t>
            </a:r>
            <a:r>
              <a:rPr lang="zh-CN" altLang="en-US"/>
              <a:t>对……满不在意</a:t>
            </a:r>
            <a:r>
              <a:rPr lang="en-US" altLang="zh-CN"/>
              <a:t> discount the rumor</a:t>
            </a:r>
            <a:endParaRPr lang="en-US" altLang="zh-CN"/>
          </a:p>
          <a:p>
            <a:r>
              <a:rPr lang="en-US" altLang="en-US"/>
              <a:t>dismissively</a:t>
            </a:r>
            <a:r>
              <a:rPr lang="en-US" altLang="zh-CN"/>
              <a:t> </a:t>
            </a:r>
            <a:r>
              <a:rPr lang="zh-CN" altLang="en-US"/>
              <a:t>不屑地</a:t>
            </a:r>
            <a:endParaRPr lang="zh-CN" altLang="en-US"/>
          </a:p>
          <a:p>
            <a:r>
              <a:rPr lang="zh-CN" altLang="en-US"/>
              <a:t>消除恐惧，挥去……</a:t>
            </a:r>
            <a:r>
              <a:rPr lang="en-US" altLang="zh-CN"/>
              <a:t> dismiss her from my mind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确切的</a:t>
            </a:r>
            <a:r>
              <a:rPr lang="zh-CN" altLang="en-US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证明</a:t>
            </a:r>
            <a:endParaRPr lang="zh-CN" altLang="en-US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活生生的例子</a:t>
            </a:r>
            <a:endParaRPr lang="zh-CN" altLang="en-US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你能提供什么身份证明吗？</a:t>
            </a:r>
            <a:endParaRPr lang="zh-CN" altLang="en-US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购买凭证</a:t>
            </a:r>
            <a:endParaRPr lang="zh-CN" altLang="en-US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/>
              <a:t>这些成绩进一步证明了他的</a:t>
            </a:r>
            <a:r>
              <a:rPr lang="zh-CN" altLang="en-US"/>
              <a:t>杰出才干</a:t>
            </a:r>
            <a:endParaRPr lang="zh-CN" altLang="en-US"/>
          </a:p>
          <a:p>
            <a:r>
              <a:rPr lang="zh-CN" altLang="en-US"/>
              <a:t>防震建筑</a:t>
            </a:r>
            <a:r>
              <a:rPr lang="en-US" altLang="en-US"/>
              <a:t> / </a:t>
            </a:r>
            <a:r>
              <a:rPr lang="zh-CN" altLang="en-US"/>
              <a:t>气密</a:t>
            </a:r>
            <a:r>
              <a:rPr lang="en-US" altLang="en-US"/>
              <a:t> / </a:t>
            </a:r>
            <a:r>
              <a:rPr lang="zh-CN" altLang="en-US"/>
              <a:t>避光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sym typeface="+mn-ea"/>
              </a:rPr>
              <a:t>他</a:t>
            </a:r>
            <a:r>
              <a:rPr lang="zh-CN" altLang="en-US" b="1" dirty="0">
                <a:sym typeface="+mn-ea"/>
              </a:rPr>
              <a:t>不承认自己做错了什么。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2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报告承认了问题的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严重性</a:t>
            </a: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她向我微笑打招呼。</a:t>
            </a: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这些花聊表谢意，感谢你的好心帮助。</a:t>
            </a: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我收到一本赠刊，表示对我投稿的谢意。</a:t>
            </a: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20000"/>
              </a:lnSpc>
            </a:pP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20000"/>
              </a:lnSpc>
            </a:pP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20000"/>
              </a:lnSpc>
            </a:pPr>
            <a:endParaRPr lang="zh-CN" altLang="en-US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dependent on</a:t>
            </a:r>
            <a:endParaRPr lang="en-US"/>
          </a:p>
          <a:p>
            <a:r>
              <a:rPr lang="en-US"/>
              <a:t>funded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opportunity </a:t>
            </a:r>
            <a:r>
              <a:rPr lang="zh-CN" altLang="en-US"/>
              <a:t>机会很多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渗漏的</a:t>
            </a:r>
            <a:r>
              <a:rPr lang="zh-CN" altLang="en-US"/>
              <a:t>屋顶</a:t>
            </a:r>
            <a:endParaRPr lang="zh-CN" altLang="en-US"/>
          </a:p>
          <a:p>
            <a:r>
              <a:rPr lang="zh-CN" altLang="en-US"/>
              <a:t>已外泄的</a:t>
            </a:r>
            <a:r>
              <a:rPr lang="zh-CN" altLang="en-US"/>
              <a:t>文件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惊慌失措</a:t>
            </a:r>
            <a:endParaRPr lang="zh-CN" altLang="en-US"/>
          </a:p>
          <a:p>
            <a:r>
              <a:rPr lang="zh-CN" altLang="en-US"/>
              <a:t>一阵</a:t>
            </a:r>
            <a:r>
              <a:rPr lang="zh-CN" altLang="en-US"/>
              <a:t>恐慌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下面</a:t>
            </a:r>
            <a:r>
              <a:rPr lang="en-US" altLang="zh-CN"/>
              <a:t>/</a:t>
            </a:r>
            <a:r>
              <a:rPr lang="zh-CN" altLang="en-US"/>
              <a:t>结果</a:t>
            </a:r>
            <a:endParaRPr lang="zh-CN" altLang="en-US"/>
          </a:p>
          <a:p>
            <a:r>
              <a:rPr lang="en-US" altLang="zh-CN"/>
              <a:t>con</a:t>
            </a:r>
            <a:r>
              <a:rPr lang="en-US" altLang="zh-CN"/>
              <a:t>sequently</a:t>
            </a:r>
            <a:endParaRPr lang="en-US" altLang="zh-CN"/>
          </a:p>
          <a:p>
            <a:r>
              <a:rPr lang="zh-CN" altLang="en-US"/>
              <a:t>继去年在杯赛半决赛中获胜后，他们仅又赢过一场比赛。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allow sb sth/ allow sb to do sth / allow doing sth / allow sb in</a:t>
            </a:r>
            <a:endParaRPr lang="en-US" altLang="zh-CN"/>
          </a:p>
          <a:p>
            <a:r>
              <a:rPr lang="en-US" altLang="zh-CN"/>
              <a:t>allowance </a:t>
            </a:r>
            <a:r>
              <a:rPr lang="zh-CN" altLang="en-US"/>
              <a:t>津贴</a:t>
            </a:r>
            <a:r>
              <a:rPr lang="en-US" altLang="zh-CN"/>
              <a:t> (</a:t>
            </a:r>
            <a:r>
              <a:rPr lang="zh-CN" altLang="en-US"/>
              <a:t>同意给予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5115" y="230505"/>
            <a:ext cx="1171130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He was surprised at her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breadth 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of reading.</a:t>
            </a:r>
            <a:endParaRPr lang="en-US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breadth of knowledge/experience/vision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You'll need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convince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them _____ your enthusiasm </a:t>
            </a:r>
            <a:r>
              <a:rPr lang="en-US" altLang="en-US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job.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你要使他们相信你对这份工作的热忱。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convince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them that you are ___________ 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about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job.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I’m convinced that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我坚信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说服，劝说（某人做某事）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I've been trying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convince him to see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a doctor.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 ___________ argument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有说服力的论点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They won ____________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赢得令人信服。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077835" y="2990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a wide range of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611495" y="1471930"/>
            <a:ext cx="9124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of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241550" y="43535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persuade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22630" y="49371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convincing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241550" y="55600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convincing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ly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415915" y="2597785"/>
            <a:ext cx="23844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enthusiastic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5" grpId="0"/>
      <p:bldP spid="3" grpId="0"/>
      <p:bldP spid="5" grpId="1"/>
      <p:bldP spid="3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8435" y="106680"/>
            <a:ext cx="1178814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set sail / sail (v.) from ... to ...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从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…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起航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起航前往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…</a:t>
            </a:r>
            <a:endParaRPr lang="en-US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sail through the exam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顺利通过考试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 voyage of self-discovery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自我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探索之旅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voyage (v.) 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across the ocean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横渡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海洋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navigate the blue seas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navigate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导航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navigated her way through 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the crowded market with ease.</a:t>
            </a:r>
            <a:endParaRPr lang="en-US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她轻松地在拥挤的市场中穿梭。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He 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找到了通往成功的道路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by setting clear goals and working hard to achieve them. </a:t>
            </a:r>
            <a:endParaRPr lang="en-US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727325" y="30327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2755" indent="-452755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by the stars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89000" y="4878705"/>
            <a:ext cx="54387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navigated his way to success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186555" y="24409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2755" indent="-452755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在碧海上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航行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3" grpId="0"/>
      <p:bldP spid="3" grpId="1"/>
      <p:bldP spid="5" grpId="0"/>
      <p:bldP spid="5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8435" y="106680"/>
            <a:ext cx="1167574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navigate global challenges 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 an era of great power rivalry</a:t>
            </a:r>
            <a:endParaRPr lang="en-US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在大国竞争时代应对全球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性挑战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Navigating 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transition from childhood to adulthood requires patience and self-reflection. </a:t>
            </a:r>
            <a:endParaRPr lang="en-US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Navigating 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cultural differences between countries can be a learning experience.</a:t>
            </a:r>
            <a:endParaRPr lang="en-US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navigator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领航员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navigation systems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导航系统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on board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在船上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飞机上</a:t>
            </a:r>
            <a:r>
              <a:rPr lang="en-US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火车上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425" y="-147320"/>
            <a:ext cx="11983085" cy="7178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behalf of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sb 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on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one’s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behalf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He spoke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on behalf of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all the members of the faculty and staff. 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Don't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worry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on my behalf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别为我</a:t>
            </a:r>
            <a:r>
              <a:rPr lang="zh-CN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担心</a:t>
            </a:r>
            <a:endParaRPr lang="zh-CN" altLang="en-US" sz="3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Her disease is ______________ her family. </a:t>
            </a:r>
            <a:r>
              <a:rPr lang="zh-CN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重担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burden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have a light/heavy workload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工作负担轻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重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Measures have been taken to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lighten/spread one’s load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Knowing that they had arrived safely, he felt ___________________________.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如释重负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他们正往卡车装食品杂货。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They are _______ the truck _____ </a:t>
            </a:r>
            <a:r>
              <a:rPr lang="en-US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groceries.</a:t>
            </a:r>
            <a:endParaRPr lang="en-US" altLang="en-US" sz="3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= They are _______ groceries _____ the truck.</a:t>
            </a:r>
            <a:endParaRPr lang="en-US" altLang="en-US" sz="32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unload		upload		download		overload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93875" y="5154295"/>
            <a:ext cx="16668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loading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081530" y="5756275"/>
            <a:ext cx="16668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loading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973955" y="5172710"/>
            <a:ext cx="16668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with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454650" y="5756275"/>
            <a:ext cx="16668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into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727960" y="1652270"/>
            <a:ext cx="29552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 heavy load to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56210" y="39617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 heavy load taken off his mind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2" grpId="1"/>
      <p:bldP spid="4" grpId="1"/>
      <p:bldP spid="5" grpId="1"/>
      <p:bldP spid="6" grpId="1"/>
      <p:bldP spid="7" grpId="1"/>
      <p:bldP spid="8" grpId="1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1625" y="194310"/>
            <a:ext cx="1189101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company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logged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all its trade.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 roaring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log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fire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原木燃烧的熊熊大火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He lives by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logging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log in/out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chart the coast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绘制海岸图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map</a:t>
            </a:r>
            <a:endParaRPr lang="zh-CN" altLang="en-US" sz="3200" b="1" i="1" dirty="0" smtClean="0">
              <a:solidFill>
                <a:srgbClr val="0000FF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sail in/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navigate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uncharted waters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在未知的领域探索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The exhibition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charts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the history of the palace.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展览记载了这座王宫的历史。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set foot in/on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进入，访问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visit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pass on sth to sb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传给，转交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894455" y="14179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伐木作业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1625" y="194310"/>
            <a:ext cx="1189101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Legend has it that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that  ________ folds 1000 origami (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日本折纸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)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cranes will be granted a wish.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据传说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...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 tennis legend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网球的传奇人物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/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living legends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当世传奇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legendary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figure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He pushed against the rock with all his ________.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the ________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and weaknesses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of an argument 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opp. 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35805" y="228600"/>
            <a:ext cx="3502025" cy="634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whoever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77620" y="4375785"/>
            <a:ext cx="4404360" cy="634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weaken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199630" y="3111500"/>
            <a:ext cx="4404360" cy="634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strength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5035" y="3766820"/>
            <a:ext cx="2019300" cy="634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strengths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5695" y="3874770"/>
            <a:ext cx="2220595" cy="2983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6375" y="0"/>
            <a:ext cx="1198562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dismiss sth as sth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1) </a:t>
            </a: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把……当成……而不予理会</a:t>
            </a:r>
            <a:r>
              <a:rPr lang="en-US" altLang="en-US" sz="3200" b="1" i="1" dirty="0">
                <a:solidFill>
                  <a:srgbClr val="0000FF"/>
                </a:solidFill>
                <a:effectLst/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wave/sweep sth aside; ignore, shrug off, discount</a:t>
            </a:r>
            <a:endParaRPr lang="zh-CN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film star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dismess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ed the claim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as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_________ (</a:t>
            </a: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虚假新闻</a:t>
            </a:r>
            <a:r>
              <a:rPr lang="en-US" altLang="zh-CN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).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dismiss her suggestion as _________ (</a:t>
            </a: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毫不相关</a:t>
            </a:r>
            <a:r>
              <a:rPr lang="en-US" altLang="zh-CN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). 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effectLst/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去除，摒除</a:t>
            </a:r>
            <a:r>
              <a:rPr lang="en-US" altLang="zh-CN" sz="3200" b="1" i="1" dirty="0">
                <a:solidFill>
                  <a:srgbClr val="0000FF"/>
                </a:solidFill>
                <a:effectLst/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 </a:t>
            </a:r>
            <a:r>
              <a:rPr lang="en-US" altLang="en-US" sz="3200" b="1" i="1" dirty="0">
                <a:solidFill>
                  <a:srgbClr val="0000FF"/>
                </a:solidFill>
                <a:effectLst/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remove; get rid of</a:t>
            </a:r>
            <a:endParaRPr lang="en-US" altLang="en-US" sz="3200" b="1" i="1" dirty="0">
              <a:solidFill>
                <a:srgbClr val="0000FF"/>
              </a:solidFill>
              <a:effectLst/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She tried to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dismiss 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the idea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from 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her mind. /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dissmiss 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her fears</a:t>
            </a:r>
            <a:endParaRPr lang="en-US" altLang="en-US" sz="3200" b="1" i="1" dirty="0">
              <a:solidFill>
                <a:srgbClr val="0000FF"/>
              </a:solidFill>
              <a:effectLst/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开除</a:t>
            </a:r>
            <a:r>
              <a:rPr lang="en-US" altLang="zh-CN" sz="3200" b="1" i="1" dirty="0">
                <a:solidFill>
                  <a:srgbClr val="0000FF"/>
                </a:solidFill>
                <a:effectLst/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 </a:t>
            </a:r>
            <a:r>
              <a:rPr lang="en-US" altLang="en-US" sz="3200" b="1" i="1" dirty="0">
                <a:solidFill>
                  <a:srgbClr val="0000FF"/>
                </a:solidFill>
                <a:effectLst/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fire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She was unfairly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dismissed 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from her post for her job errors.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class was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dismissed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下课，解散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case was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dismissed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驳回，不受理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dismissive </a:t>
            </a: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attitude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83046" y="1188703"/>
            <a:ext cx="9197033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fake news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1"/>
          <p:cNvSpPr/>
          <p:nvPr/>
        </p:nvSpPr>
        <p:spPr>
          <a:xfrm>
            <a:off x="4731056" y="1709403"/>
            <a:ext cx="9197033" cy="681990"/>
          </a:xfrm>
          <a:prstGeom prst="rect">
            <a:avLst/>
          </a:prstGeom>
        </p:spPr>
        <p:txBody>
          <a:bodyPr wrap="square">
            <a:spAutoFit/>
          </a:bodyPr>
          <a:p>
            <a:pPr marL="444500" lvl="0" indent="-44450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irrelevant</a:t>
            </a: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1940" y="186055"/>
            <a:ext cx="11701780" cy="3535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990600" indent="-990600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</a:rPr>
              <a:t>1) </a:t>
            </a:r>
            <a:r>
              <a:rPr lang="zh-CN" altLang="en-US" sz="3200" b="1" dirty="0" smtClean="0">
                <a:solidFill>
                  <a:schemeClr val="tx1"/>
                </a:solidFill>
              </a:rPr>
              <a:t>别</a:t>
            </a:r>
            <a:r>
              <a:rPr lang="zh-CN" altLang="en-US" sz="3200" b="1" dirty="0">
                <a:solidFill>
                  <a:schemeClr val="tx1"/>
                </a:solidFill>
              </a:rPr>
              <a:t>去管</a:t>
            </a:r>
            <a:r>
              <a:rPr lang="zh-CN" altLang="en-US" sz="3200" b="1" dirty="0"/>
              <a:t>那些想法了。</a:t>
            </a:r>
            <a:endParaRPr lang="zh-CN" altLang="en-US" sz="3200" b="1" dirty="0" smtClean="0"/>
          </a:p>
          <a:p>
            <a:pPr marL="990600" indent="-990600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Just _____________________________________________.</a:t>
            </a:r>
            <a:endParaRPr lang="en-US" altLang="zh-CN" sz="3200" b="1" dirty="0" smtClean="0"/>
          </a:p>
          <a:p>
            <a:pPr marL="990600" indent="-990600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2) </a:t>
            </a:r>
            <a:r>
              <a:rPr lang="zh-CN" altLang="en-US" sz="3200" b="1" dirty="0">
                <a:sym typeface="+mn-ea"/>
              </a:rPr>
              <a:t>他因无法胜任工作而被解职。</a:t>
            </a:r>
            <a:endParaRPr lang="en-US" altLang="zh-CN" sz="3200" b="1" dirty="0"/>
          </a:p>
          <a:p>
            <a:pPr marL="990600" indent="-990600">
              <a:lnSpc>
                <a:spcPct val="120000"/>
              </a:lnSpc>
            </a:pPr>
            <a:r>
              <a:rPr lang="en-US" altLang="zh-CN" sz="3200" b="1" dirty="0"/>
              <a:t>He has been ____________________ </a:t>
            </a:r>
            <a:r>
              <a:rPr lang="en-US" altLang="zh-CN" sz="3200" b="1" dirty="0" smtClean="0"/>
              <a:t>for incompetence.</a:t>
            </a:r>
            <a:endParaRPr lang="en-US" altLang="zh-CN" sz="3200" b="1" dirty="0" smtClean="0"/>
          </a:p>
          <a:p>
            <a:pPr marL="990600" indent="-990600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3) Mr Wakehan ________ ______ _______ _____ speculation.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把这些报道当做臆测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而不予理会。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76655" y="800735"/>
            <a:ext cx="92602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dismiss </a:t>
            </a:r>
            <a:r>
              <a:rPr lang="en-US" altLang="zh-CN" sz="3200" b="1" dirty="0">
                <a:sym typeface="+mn-ea"/>
              </a:rPr>
              <a:t>those thoughts 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from </a:t>
            </a:r>
            <a:r>
              <a:rPr lang="en-US" altLang="zh-CN" sz="3200" b="1" dirty="0">
                <a:sym typeface="+mn-ea"/>
              </a:rPr>
              <a:t>your mind.</a:t>
            </a:r>
            <a:endParaRPr lang="en-US" altLang="zh-CN" sz="3200" b="1" dirty="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10790" y="19685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dismissed from</a:t>
            </a:r>
            <a:r>
              <a:rPr lang="en-US" altLang="zh-CN" sz="3200" b="1" dirty="0">
                <a:sym typeface="+mn-ea"/>
              </a:rPr>
              <a:t> his job</a:t>
            </a:r>
            <a:endParaRPr lang="en-US" altLang="zh-CN" sz="3200" b="1" dirty="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334385" y="25520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dismissed these  reports   as</a:t>
            </a:r>
            <a:endParaRPr lang="en-US" altLang="zh-CN" sz="3200" b="1"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" grpId="1"/>
      <p:bldP spid="4" grpId="1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1940" y="186055"/>
            <a:ext cx="11701780" cy="3535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990600" indent="-990600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Have you got any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positive proof 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______ she took the money?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2362200" lvl="3" indent="457200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conclusive proof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Anna is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living proof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that ...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Can you provide any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proof of identity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?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proof of purchase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These results are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 further proof of 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his outstanding ability.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rainproof/windproof/waterproof 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clothing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防雨／防风服装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earthquake-proof buildings / airproof / lightproof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90600" indent="-990600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proofread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校对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96000" y="1860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that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717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is</a:t>
            </a:r>
            <a:r>
              <a:rPr lang="en-US" altLang="zh-CN" sz="3200" b="1" dirty="0">
                <a:sym typeface="+mn-ea"/>
              </a:rPr>
              <a:t> widely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acknowledged as/to be </a:t>
            </a:r>
            <a:r>
              <a:rPr lang="en-US" altLang="zh-CN" sz="3200" b="1" dirty="0">
                <a:sym typeface="+mn-ea"/>
              </a:rPr>
              <a:t>an expert in the world</a:t>
            </a:r>
            <a:r>
              <a:rPr lang="en-US" altLang="zh-CN" sz="3200" b="1" dirty="0" smtClean="0">
                <a:sym typeface="+mn-ea"/>
              </a:rPr>
              <a:t>. </a:t>
            </a:r>
            <a:endParaRPr lang="en-US" altLang="zh-CN"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He is an </a:t>
            </a:r>
            <a:r>
              <a:rPr lang="en-US" altLang="en-US" sz="3200" b="1" dirty="0" smtClean="0">
                <a:sym typeface="+mn-ea"/>
              </a:rPr>
              <a:t>an _____________ expert in the world.</a:t>
            </a:r>
            <a:endParaRPr lang="en-US" altLang="en-US"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公认的事实</a:t>
            </a:r>
            <a:endParaRPr lang="zh-CN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It is acknowledged that ...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admit, recognized</a:t>
            </a:r>
            <a:endParaRPr lang="en-US" altLang="zh-CN" sz="3200" b="1" i="1" dirty="0" smtClean="0">
              <a:solidFill>
                <a:schemeClr val="bg2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/>
              <a:t>He </a:t>
            </a:r>
            <a:r>
              <a:rPr lang="en-US" altLang="zh-CN" sz="3200" b="1" dirty="0"/>
              <a:t>does not </a:t>
            </a:r>
            <a:r>
              <a:rPr lang="en-US" altLang="zh-CN" sz="3200" b="1" dirty="0">
                <a:solidFill>
                  <a:srgbClr val="FF0000"/>
                </a:solidFill>
              </a:rPr>
              <a:t>acknowledge that </a:t>
            </a:r>
            <a:r>
              <a:rPr lang="en-US" altLang="zh-CN" sz="3200" b="1" dirty="0"/>
              <a:t>he has done anything </a:t>
            </a:r>
            <a:r>
              <a:rPr lang="en-US" altLang="zh-CN" sz="3200" b="1" dirty="0" smtClean="0"/>
              <a:t>wrong.</a:t>
            </a:r>
            <a:endParaRPr lang="en-US" altLang="zh-CN" sz="3200" b="1" dirty="0" smtClean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 gratefully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acknowledge 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financial support from several local businesses. 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 would appreciate it if you would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acknowledge 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receipt of this letter.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 was standing right next to her, but she didn't even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acknowledge 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me.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21865" y="1219200"/>
            <a:ext cx="94964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ym typeface="+mn-ea"/>
              </a:rPr>
              <a:t>a generally/universally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acknowledged</a:t>
            </a:r>
            <a:r>
              <a:rPr lang="en-US" altLang="zh-CN" sz="3200" b="1" dirty="0">
                <a:sym typeface="+mn-ea"/>
              </a:rPr>
              <a:t> fact </a:t>
            </a:r>
            <a:endParaRPr lang="en-US" altLang="zh-CN" sz="3200" b="1" dirty="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031365" y="6356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sym typeface="+mn-ea"/>
              </a:rPr>
              <a:t>acknowledged</a:t>
            </a:r>
            <a:endParaRPr lang="en-US" altLang="en-US" sz="32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398125" y="2960370"/>
            <a:ext cx="1319530" cy="58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承认</a:t>
            </a:r>
            <a:endParaRPr lang="zh-CN" altLang="en-US" sz="3200" b="1" dirty="0" smtClean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031365" y="4107815"/>
            <a:ext cx="1319530" cy="58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感谢</a:t>
            </a:r>
            <a:endParaRPr lang="zh-CN" altLang="en-US" sz="3200" b="1" dirty="0" smtClean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096000" y="52635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告知收悉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568055" y="52990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微笑，挥手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致意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5" grpId="0"/>
      <p:bldP spid="3" grpId="0"/>
      <p:bldP spid="4" grpId="0"/>
      <p:bldP spid="8" grpId="1"/>
      <p:bldP spid="6" grpId="1"/>
      <p:bldP spid="5" grpId="1"/>
      <p:bldP spid="3" grpId="1"/>
      <p:bldP spid="4" grpId="1"/>
      <p:bldP spid="7" grpId="0"/>
      <p:bldP spid="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2423795"/>
            <a:ext cx="10185400" cy="41795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0"/>
            <a:ext cx="1219200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 smtClean="0">
                <a:solidFill>
                  <a:srgbClr val="FF0000"/>
                </a:solidFill>
                <a:sym typeface="+mn-ea"/>
              </a:rPr>
              <a:t>acknowledgement</a:t>
            </a:r>
            <a:endParaRPr lang="en-US" sz="3200" b="1" dirty="0" smtClean="0">
              <a:solidFill>
                <a:srgbClr val="FF0000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This report is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an acknowledgement of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the gravity of the problem.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She gave me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 smile of acknowledgement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The flowers were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 small acknowledgement of your kindness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 received a free copy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in acknowledgement of my contribution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表示对……的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认可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/>
        </p:nvSpPr>
        <p:spPr>
          <a:xfrm>
            <a:off x="0" y="0"/>
            <a:ext cx="1219200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en-US" sz="3200" b="1" dirty="0" smtClean="0">
                <a:solidFill>
                  <a:srgbClr val="FF0000"/>
                </a:solidFill>
                <a:sym typeface="+mn-ea"/>
              </a:rPr>
              <a:t>overcome </a:t>
            </a:r>
            <a:r>
              <a:rPr lang="en-US" sz="3200" b="1" dirty="0" smtClean="0">
                <a:solidFill>
                  <a:schemeClr val="tx1"/>
                </a:solidFill>
                <a:sym typeface="+mn-ea"/>
              </a:rPr>
              <a:t>many challenges</a:t>
            </a:r>
            <a:endParaRPr lang="en-US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get over/conquer</a:t>
            </a:r>
            <a:endParaRPr lang="en-US" altLang="zh-CN" sz="3200" b="1" i="1" dirty="0" smtClean="0">
              <a:solidFill>
                <a:schemeClr val="bg2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悲痛欲绝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be overcome with grief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受到……极大影响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 overwhelmed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__________________ GPS, building it has focused on military applications. (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就像……的情况一样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         )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__________________ in urban planning, it’s the poor who suffer most. (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在……这种情况很常见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)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24041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As was the case with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158865" y="2987675"/>
            <a:ext cx="10248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Like</a:t>
            </a:r>
            <a:endParaRPr lang="en-US" altLang="en-US" sz="3200" b="1" i="1" dirty="0" smtClean="0">
              <a:solidFill>
                <a:schemeClr val="bg2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3585210"/>
            <a:ext cx="37299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As is often the case 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/>
      <p:bldP spid="6" grpId="0"/>
      <p:bldP spid="4" grpId="1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en-US" sz="3200" b="1" dirty="0" smtClean="0">
                <a:solidFill>
                  <a:srgbClr val="FF0000"/>
                </a:solidFill>
                <a:sym typeface="+mn-ea"/>
              </a:rPr>
              <a:t>insist</a:t>
            </a:r>
            <a:endParaRPr lang="en-US" sz="3200" b="1" dirty="0" smtClean="0">
              <a:solidFill>
                <a:srgbClr val="FF0000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1)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坚持要求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  <a:r>
              <a:rPr lang="en-US" altLang="en-US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demand forcefully</a:t>
            </a:r>
            <a:endParaRPr lang="en-US" altLang="en-US" sz="3200" b="1" i="1" dirty="0" smtClean="0">
              <a:solidFill>
                <a:schemeClr val="bg2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She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insisted on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the highest standards at all times.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She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insisted on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his/him wearing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a suit.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She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insists that he (should)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wear a suit.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虚拟语气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2)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坚持说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  <a:r>
              <a:rPr lang="en-US" altLang="en-US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maintain forcefully</a:t>
            </a:r>
            <a:endParaRPr lang="en-US" altLang="en-US" sz="3200" b="1" i="1" dirty="0" smtClean="0">
              <a:solidFill>
                <a:schemeClr val="bg2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He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insisted on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his innocence.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He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insisted (that)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he was innocent.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真实</a:t>
            </a:r>
            <a:r>
              <a:rPr lang="zh-CN" altLang="en-US" sz="3200" b="1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语气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“I’m innocent,” he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insisted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3)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执意继续做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  <a:r>
              <a:rPr lang="en-US" altLang="en-US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  <a:sym typeface="+mn-ea"/>
              </a:rPr>
              <a:t>persist in doing sth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他坚持要求惩罚那些违反</a:t>
            </a: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课堂纪律的人。</a:t>
            </a: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He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insists on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 punishing those who 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break the class rules.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= He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is insistent on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 ...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insistence 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on ...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The author of the passage ______ that learning arts _______ real passion. (</a:t>
            </a: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坚持认为……需要……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They insisted on ___________ (give) every detail of the case.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  <a:p>
            <a:pPr indent="0" fontAlgn="auto">
              <a:lnSpc>
                <a:spcPct val="120000"/>
              </a:lnSpc>
            </a:pP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0730" y="2992120"/>
            <a:ext cx="35591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insists</a:t>
            </a:r>
            <a:endParaRPr lang="en-US" altLang="zh-CN" sz="32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999855" y="29921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requires</a:t>
            </a:r>
            <a:endParaRPr lang="en-US" altLang="zh-CN" sz="3200" b="1" dirty="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000375" y="41795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being given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4" grpId="0"/>
      <p:bldP spid="5" grpId="0"/>
      <p:bldP spid="4" grpId="1"/>
      <p:bldP spid="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99390" y="270510"/>
            <a:ext cx="1180401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financial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project collapsed through __________ mismanagement.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财务管理不当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be _________ ________ ________ parents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经济独立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________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 </a:t>
            </a: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education comes from taxpayers.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教育经费</a:t>
            </a: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project is ________ by the government.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出资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en-US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动身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前往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背离旧风俗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681980" y="889000"/>
            <a:ext cx="20593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financial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09930" y="2056130"/>
            <a:ext cx="59855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financially  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independent   of 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47650" y="263969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Finance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719070" y="32232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finance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395220" y="50209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depart from old customs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232025" y="43503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depart f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or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5" grpId="1"/>
      <p:bldP spid="2" grpId="1"/>
      <p:bldP spid="5" grpId="1"/>
      <p:bldP spid="6" grpId="1"/>
      <p:bldP spid="7" grpId="1"/>
      <p:bldP spid="8" grpId="1"/>
      <p:bldP spid="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0205" y="165735"/>
            <a:ext cx="11822430" cy="2082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food/housing/water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shortage(s)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 severe/serious shortage of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funds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There is no shortage of ...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be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short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of </a:t>
            </a:r>
            <a:r>
              <a:rPr lang="zh-CN" altLang="en-US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= lack sth</a:t>
            </a:r>
            <a:endParaRPr lang="zh-CN" altLang="en-US" sz="3200" b="1" i="1" dirty="0" smtClean="0">
              <a:solidFill>
                <a:schemeClr val="bg2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recent heavy rains have helped to e____ the ______ _________.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缓解水资源短缺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_____ ______ ______ ______ has led to a cutback.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缺少资源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简言之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简称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快用完了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en-US" sz="32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77735" y="3161030"/>
            <a:ext cx="10198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ase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927465" y="3161030"/>
            <a:ext cx="31680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water  shortage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70205" y="4278630"/>
            <a:ext cx="50774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   shortage  of    resources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850390" y="4940935"/>
            <a:ext cx="50774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in short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977390" y="5524500"/>
            <a:ext cx="50774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for short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200275" y="6108065"/>
            <a:ext cx="98952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are running short of ... / sth is running short.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4" grpId="0"/>
      <p:bldP spid="5" grpId="1"/>
      <p:bldP spid="2" grpId="1"/>
      <p:bldP spid="4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0205" y="165735"/>
            <a:ext cx="11822430" cy="6263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The roof was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leaking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 ________ roof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 _____ in the roof </a:t>
            </a:r>
            <a:r>
              <a:rPr lang="en-US" sz="3200" b="1" i="1" dirty="0" smtClean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(n.)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漏洞，裂缝</a:t>
            </a:r>
            <a:endParaRPr lang="en-US" sz="3200" b="1" dirty="0" smtClean="0">
              <a:solidFill>
                <a:schemeClr val="tx1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The tank had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leaked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 small amount of water.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Air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leaked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out of the balloon.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The document was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leaked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to the press.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= The document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leaked out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leaked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document </a:t>
            </a:r>
            <a:r>
              <a:rPr lang="zh-CN" altLang="en-US" sz="3200" b="1">
                <a:sym typeface="+mn-ea"/>
              </a:rPr>
              <a:t>已外泄的文件</a:t>
            </a:r>
            <a:endParaRPr lang="zh-CN" altLang="en-US" sz="3200" b="1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leakage n. </a:t>
            </a:r>
            <a:r>
              <a:rPr lang="zh-CN" altLang="en-US" sz="3200" b="1">
                <a:sym typeface="+mn-ea"/>
              </a:rPr>
              <a:t>泄露，渗漏</a:t>
            </a:r>
            <a:endParaRPr lang="zh-CN" altLang="en-US" sz="3200" b="1"/>
          </a:p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a leakage of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chemical waste into the sea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00100" y="7918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leaking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00100" y="1375410"/>
            <a:ext cx="18669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leak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555365" y="8140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latin typeface="Times New Roman Regular" panose="02020603050405020304" charset="0"/>
                <a:sym typeface="+mn-ea"/>
              </a:rPr>
              <a:t>渗漏的屋顶</a:t>
            </a:r>
            <a:endParaRPr lang="zh-CN" altLang="en-US" sz="3200" b="1" dirty="0">
              <a:latin typeface="Times New Roman Regular" panose="0202060305040502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" grpId="1"/>
      <p:bldP spid="9" grpId="1"/>
      <p:bldP spid="10" grpId="1"/>
      <p:bldP spid="1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945" y="-136525"/>
            <a:ext cx="12124690" cy="6263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in panic / get into a (complete/mad) panic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惊慌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in terror/alarm/fright</a:t>
            </a:r>
            <a:endParaRPr lang="zh-CN" altLang="en-US" sz="3200" b="1" i="1" dirty="0" smtClean="0">
              <a:solidFill>
                <a:schemeClr val="bg2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= be _______________ with panic</a:t>
            </a:r>
            <a:endParaRPr lang="en-US" altLang="zh-CN" sz="3200" b="1" dirty="0" smtClean="0"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一阵恐慌</a:t>
            </a:r>
            <a:r>
              <a:rPr lang="en-US" altLang="zh-CN" sz="3200" b="1" dirty="0" smtClean="0"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 _________ panic ________________________________ me.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对即将到来的考试惊慌失措是没用的。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It is no use getting into a panic about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the coming exam.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v. panic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I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panicked at the sight of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.../when I saw...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看到……感到恐慌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Little animals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were panicked by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</a:rPr>
              <a:t> the sudden thunder. 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=take fright</a:t>
            </a:r>
            <a:endParaRPr lang="en-US" altLang="zh-CN" sz="3200" b="1" i="1" dirty="0" smtClean="0">
              <a:solidFill>
                <a:schemeClr val="bg2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panic-stricken</a:t>
            </a:r>
            <a:r>
              <a:rPr lang="en-US" altLang="zh-CN" sz="3200" b="1" i="1" dirty="0" smtClean="0">
                <a:solidFill>
                  <a:schemeClr val="bg2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惊慌失措的</a:t>
            </a:r>
            <a:endParaRPr lang="en-US" altLang="en-US" sz="3200" b="1" dirty="0" smtClean="0">
              <a:solidFill>
                <a:schemeClr val="tx1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endParaRPr lang="en-US" altLang="en-US" sz="3200" b="1" dirty="0" smtClean="0">
              <a:solidFill>
                <a:schemeClr val="tx1"/>
              </a:solidFill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05840" y="1098550"/>
            <a:ext cx="4259580" cy="58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seized/overcome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906270" y="1682750"/>
            <a:ext cx="2060575" cy="58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a wave of 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89500" y="1682750"/>
            <a:ext cx="69996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</a:rPr>
              <a:t>gripped/washed over/overcame/seized</a:t>
            </a:r>
            <a:endParaRPr lang="en-US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0"/>
      <p:bldP spid="2" grpId="0"/>
      <p:bldP spid="4" grpId="1"/>
      <p:bldP spid="2" grpId="1"/>
      <p:bldP spid="5" grpId="0"/>
      <p:bldP spid="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341630" y="163195"/>
            <a:ext cx="11851005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_________________________________________,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不管他们有没有孩子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amount will be paid to everyone.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law requires equal treatment for all,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regardless of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race, religion, or sex.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irrespective of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prep.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phrase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在这方面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被视为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对某人评价很高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341630" y="112395"/>
            <a:ext cx="990346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Regardless of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whether they have children or not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92375" y="31369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regarding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18335" y="36982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with/in regard to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245360" y="42843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regard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918335" y="48768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regarded as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471545" y="5431790"/>
            <a:ext cx="82467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hold sb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high regard / be highly regarded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1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1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1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1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11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11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11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 bldLvl="0" animBg="1"/>
      <p:bldP spid="2" grpId="0"/>
      <p:bldP spid="3" grpId="0"/>
      <p:bldP spid="4" grpId="0"/>
      <p:bldP spid="5" grpId="0"/>
      <p:bldP spid="6" grpId="0"/>
      <p:bldP spid="2" grpId="1"/>
      <p:bldP spid="3" grpId="1"/>
      <p:bldP spid="4" grpId="1"/>
      <p:bldP spid="5" grpId="1"/>
      <p:bldP spid="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341630" y="163195"/>
            <a:ext cx="11851005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sub/sequent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opp.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won only one more game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subsequent to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their Cup semi-final win last year.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subsequently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en-US" altLang="en-US" sz="3200" b="1" i="1" dirty="0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= afterwards, later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of events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一连串的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in/out of sequence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按顺序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顺序出错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order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human genome has now been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sequenced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人体基因组的序列现已测定。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1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1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1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1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1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1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1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341630" y="163195"/>
            <a:ext cx="11851005" cy="409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witness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证人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目击，看见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为……作证，证明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目击了一起凶杀案。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witness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terrible murder.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witness v.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见证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chemeClr val="bg2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see</a:t>
            </a:r>
            <a:endParaRPr lang="en-US" altLang="zh-CN" sz="3200" b="1" i="1" dirty="0">
              <a:solidFill>
                <a:schemeClr val="bg2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fontAlgn="auto">
              <a:lnSpc>
                <a:spcPct val="120000"/>
              </a:lnSpc>
            </a:pPr>
            <a:endParaRPr lang="en-US" altLang="zh-CN" sz="3200" b="1" i="1" dirty="0">
              <a:solidFill>
                <a:schemeClr val="bg2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allow for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: consider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使……成为可能，把……考虑在内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考虑到交通堵塞，到那里大约需要一小时。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______________ traffic delays, it will take about an hour to get there.</a:t>
            </a:r>
            <a:endParaRPr lang="en-US" altLang="zh-CN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92375" y="7664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(a) witness to sth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79520" y="13519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bear witness to sth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09905" y="54089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Allowing for</a:t>
            </a:r>
            <a:endParaRPr lang="en-US" altLang="zh-CN" sz="3200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1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1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1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1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1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11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1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11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46685"/>
            <a:ext cx="1219263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Jack took the news _____________ well. 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杰克对这个消息表现得出奇地冷静。</a:t>
            </a:r>
            <a:endParaRPr lang="zh-CN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 find it absolutely ___________ that you didn't like it. 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你不喜欢它，我感到难以置信。</a:t>
            </a:r>
            <a:endParaRPr lang="zh-CN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 ______________________ he'd won the competition.</a:t>
            </a:r>
            <a:endParaRPr lang="en-US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听说他赢了比赛，我震惊了。</a:t>
            </a:r>
            <a:endParaRPr lang="zh-CN" altLang="en-US" sz="3200" b="1" dirty="0"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be astonished at sth</a:t>
            </a:r>
            <a:endParaRPr lang="en-US" altLang="en-US" sz="32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It astonished me that… </a:t>
            </a:r>
            <a:endParaRPr lang="en-US" altLang="en-US" sz="32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To my astonishment, …</a:t>
            </a:r>
            <a:endParaRPr lang="en-US" altLang="en-US" sz="32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effectLst/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stunned/startled/astounded/be taken abck</a:t>
            </a:r>
            <a:endParaRPr lang="en-US" altLang="zh-CN" sz="3200" b="1" i="1" dirty="0">
              <a:solidFill>
                <a:srgbClr val="0000FF"/>
              </a:solidFill>
              <a:effectLst/>
              <a:latin typeface="Times New Roman Bold Italic" panose="02020603050405020304" charset="0"/>
              <a:ea typeface="宋体" pitchFamily="2" charset="-122"/>
              <a:cs typeface="Times New Roman Bold Italic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5095" y="146859"/>
            <a:ext cx="256603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astonishingly 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4"/>
          <p:cNvSpPr/>
          <p:nvPr/>
        </p:nvSpPr>
        <p:spPr>
          <a:xfrm>
            <a:off x="3326655" y="1289224"/>
            <a:ext cx="2148205" cy="681990"/>
          </a:xfrm>
          <a:prstGeom prst="rect">
            <a:avLst/>
          </a:prstGeom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astonishing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4"/>
          <p:cNvSpPr/>
          <p:nvPr/>
        </p:nvSpPr>
        <p:spPr>
          <a:xfrm>
            <a:off x="493920" y="2431589"/>
            <a:ext cx="4213225" cy="681990"/>
          </a:xfrm>
          <a:prstGeom prst="rect">
            <a:avLst/>
          </a:prstGeom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astonished to learn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高中教材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3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4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5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6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7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8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9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10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11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12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13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7573</Words>
  <Application>WPS Presentation</Application>
  <PresentationFormat>宽屏</PresentationFormat>
  <Paragraphs>362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汉仪书宋二KW</vt:lpstr>
      <vt:lpstr>Times New Roman Bold Italic</vt:lpstr>
      <vt:lpstr>Times New Roman Bold</vt:lpstr>
      <vt:lpstr>微软雅黑</vt:lpstr>
      <vt:lpstr>汉仪旗黑</vt:lpstr>
      <vt:lpstr>宋体</vt:lpstr>
      <vt:lpstr>Arial Unicode MS</vt:lpstr>
      <vt:lpstr>黑体</vt:lpstr>
      <vt:lpstr>汉仪中黑KW</vt:lpstr>
      <vt:lpstr>Calibri</vt:lpstr>
      <vt:lpstr>Helvetica Neue</vt:lpstr>
      <vt:lpstr>Times New Roman Regular</vt:lpstr>
      <vt:lpstr>高中教材课件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Elsssie</cp:lastModifiedBy>
  <cp:revision>26</cp:revision>
  <dcterms:created xsi:type="dcterms:W3CDTF">2025-03-25T06:04:02Z</dcterms:created>
  <dcterms:modified xsi:type="dcterms:W3CDTF">2025-03-25T06:04:02Z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CA5F2273BABCA5A6CB69D267E5ECCA6E_42</vt:lpwstr>
  </property>
  <property fmtid="{D5CDD505-2E9C-101B-9397-08002B2CF9AE}" pid="3" name="KSOProductBuildVer">
    <vt:lpwstr>1033-7.2.2.8955</vt:lpwstr>
  </property>
</Properties>
</file>