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8"/>
  </p:notesMasterIdLst>
  <p:sldIdLst>
    <p:sldId id="522" r:id="rId2"/>
    <p:sldId id="524" r:id="rId3"/>
    <p:sldId id="523" r:id="rId4"/>
    <p:sldId id="525" r:id="rId5"/>
    <p:sldId id="526" r:id="rId6"/>
    <p:sldId id="527" r:id="rId7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  <a:srgbClr val="57568C"/>
    <a:srgbClr val="E4002A"/>
    <a:srgbClr val="6C411E"/>
    <a:srgbClr val="D5EBFF"/>
    <a:srgbClr val="3333FF"/>
    <a:srgbClr val="0A74F9"/>
    <a:srgbClr val="FFFAF3"/>
    <a:srgbClr val="FFF4E7"/>
    <a:srgbClr val="FFE8C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0A15C55-8517-42AA-B614-E9B94910E393}" styleName="中度样式 2 - 强调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991" autoAdjust="0"/>
    <p:restoredTop sz="94660"/>
  </p:normalViewPr>
  <p:slideViewPr>
    <p:cSldViewPr snapToGrid="0">
      <p:cViewPr varScale="1">
        <p:scale>
          <a:sx n="109" d="100"/>
          <a:sy n="109" d="100"/>
        </p:scale>
        <p:origin x="496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EFD42F7-718C-4B98-AAEC-167E6DDD60A7}" type="datetimeFigureOut">
              <a:rPr lang="en-US" smtClean="0"/>
              <a:t>7/23/26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1B2AA4F-B828-4D7C-AFD3-893933DAFCB4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zh-CN" altLang="en-US"/>
              <a:t>由……引起，产生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en-US" altLang="zh-CN"/>
              <a:t>have free access to ...</a:t>
            </a:r>
            <a:endParaRPr lang="zh-CN" altLang="en-US"/>
          </a:p>
          <a:p>
            <a:r>
              <a:rPr lang="zh-CN" altLang="en-US"/>
              <a:t>采用某种行为说话方式</a:t>
            </a:r>
          </a:p>
          <a:p>
            <a:r>
              <a:rPr lang="en-US" altLang="en-US"/>
              <a:t>why did he adopt such an aggressive tone of voice?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zh-CN" altLang="en-US"/>
              <a:t>我已经打点好行装。</a:t>
            </a:r>
          </a:p>
          <a:p>
            <a:r>
              <a:rPr lang="zh-CN" altLang="en-US"/>
              <a:t>一群记者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en-US" altLang="zh-CN"/>
              <a:t>opposing views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章节封面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主题封面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objectiv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5_objectiv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6_objectiv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7_objectiv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Homewor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82CF8D2-1FBB-4566-BAA4-CFEBD45A3143}" type="datetimeFigureOut">
              <a:rPr lang="zh-CN" altLang="en-US" smtClean="0">
                <a:solidFill>
                  <a:srgbClr val="000000"/>
                </a:solidFill>
              </a:rPr>
              <a:t>2026/7/23</a:t>
            </a:fld>
            <a:endParaRPr lang="zh-CN" altLang="en-US">
              <a:solidFill>
                <a:srgbClr val="000000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>
              <a:solidFill>
                <a:srgbClr val="000000"/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E3B083D-B8AC-4346-88EF-1027595E983A}" type="slidenum">
              <a:rPr lang="zh-CN" altLang="en-US" smtClean="0">
                <a:solidFill>
                  <a:srgbClr val="000000"/>
                </a:solidFill>
              </a:rPr>
              <a:t>‹#›</a:t>
            </a:fld>
            <a:endParaRPr lang="zh-CN" altLang="en-US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7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1"/>
          <p:cNvSpPr txBox="1"/>
          <p:nvPr/>
        </p:nvSpPr>
        <p:spPr>
          <a:xfrm>
            <a:off x="211455" y="182245"/>
            <a:ext cx="11574145" cy="550799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3200" b="1"/>
              <a:t>随着……的兴起</a:t>
            </a:r>
          </a:p>
          <a:p>
            <a:r>
              <a:rPr lang="zh-CN" altLang="en-US" sz="3200" b="1"/>
              <a:t>在上涨</a:t>
            </a:r>
          </a:p>
          <a:p>
            <a:r>
              <a:rPr lang="zh-CN" altLang="en-US" sz="3200" b="1"/>
              <a:t>引起，导致</a:t>
            </a:r>
          </a:p>
          <a:p>
            <a:r>
              <a:rPr lang="zh-CN" altLang="en-US" sz="3200" b="1"/>
              <a:t>站起来</a:t>
            </a:r>
          </a:p>
          <a:p>
            <a:r>
              <a:rPr lang="en-US" altLang="zh-CN" sz="3200" b="1">
                <a:solidFill>
                  <a:srgbClr val="0000FF"/>
                </a:solidFill>
              </a:rPr>
              <a:t>rise / raise / arise</a:t>
            </a:r>
          </a:p>
          <a:p>
            <a:r>
              <a:rPr lang="en-US" altLang="en-US" sz="3200" b="1"/>
              <a:t>______ in the poorest area of Glasgow, he had a long hard road to becoming a football star.</a:t>
            </a:r>
          </a:p>
          <a:p>
            <a:r>
              <a:rPr lang="en-US" altLang="en-US" sz="3200" b="1"/>
              <a:t>Should the question _____, please contact me.</a:t>
            </a:r>
          </a:p>
          <a:p>
            <a:r>
              <a:rPr lang="en-US" altLang="en-US" sz="3200" b="1"/>
              <a:t>Are there any matters ______ from what we discussed at the last meeting?</a:t>
            </a:r>
          </a:p>
          <a:p>
            <a:r>
              <a:rPr lang="en-US" altLang="en-US" sz="3200" b="1"/>
              <a:t>The next thing he saw was smoke _____ from behind the house.</a:t>
            </a:r>
          </a:p>
        </p:txBody>
      </p:sp>
      <p:sp>
        <p:nvSpPr>
          <p:cNvPr id="3" name="Text Box 2"/>
          <p:cNvSpPr txBox="1"/>
          <p:nvPr/>
        </p:nvSpPr>
        <p:spPr>
          <a:xfrm>
            <a:off x="6041390" y="5077460"/>
            <a:ext cx="1496060" cy="5835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zh-CN" sz="3200" b="1">
                <a:solidFill>
                  <a:srgbClr val="FF0000"/>
                </a:solidFill>
                <a:sym typeface="+mn-ea"/>
              </a:rPr>
              <a:t>rising </a:t>
            </a:r>
            <a:endParaRPr lang="en-US" altLang="zh-CN" sz="3200" b="1" dirty="0">
              <a:solidFill>
                <a:srgbClr val="FF0000"/>
              </a:solidFill>
              <a:sym typeface="+mn-ea"/>
            </a:endParaRPr>
          </a:p>
        </p:txBody>
      </p:sp>
      <p:sp>
        <p:nvSpPr>
          <p:cNvPr id="4" name="Text Box 3"/>
          <p:cNvSpPr txBox="1"/>
          <p:nvPr/>
        </p:nvSpPr>
        <p:spPr>
          <a:xfrm>
            <a:off x="3847465" y="3524250"/>
            <a:ext cx="1496060" cy="5835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zh-CN" sz="3200" b="1">
                <a:solidFill>
                  <a:srgbClr val="FF0000"/>
                </a:solidFill>
                <a:sym typeface="+mn-ea"/>
              </a:rPr>
              <a:t>arise</a:t>
            </a:r>
          </a:p>
        </p:txBody>
      </p:sp>
      <p:sp>
        <p:nvSpPr>
          <p:cNvPr id="5" name="Text Box 4"/>
          <p:cNvSpPr txBox="1"/>
          <p:nvPr/>
        </p:nvSpPr>
        <p:spPr>
          <a:xfrm>
            <a:off x="211455" y="2607310"/>
            <a:ext cx="1496060" cy="5835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zh-CN" sz="3200" b="1">
                <a:solidFill>
                  <a:srgbClr val="FF0000"/>
                </a:solidFill>
                <a:sym typeface="+mn-ea"/>
              </a:rPr>
              <a:t>Raised</a:t>
            </a:r>
          </a:p>
        </p:txBody>
      </p:sp>
      <p:sp>
        <p:nvSpPr>
          <p:cNvPr id="6" name="Text Box 5"/>
          <p:cNvSpPr txBox="1"/>
          <p:nvPr/>
        </p:nvSpPr>
        <p:spPr>
          <a:xfrm>
            <a:off x="4168775" y="4107815"/>
            <a:ext cx="1496060" cy="5835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zh-CN" sz="3200" b="1">
                <a:solidFill>
                  <a:srgbClr val="FF0000"/>
                </a:solidFill>
                <a:sym typeface="+mn-ea"/>
              </a:rPr>
              <a:t>arising</a:t>
            </a:r>
            <a:endParaRPr lang="en-US" altLang="zh-CN" sz="3200" b="1" dirty="0">
              <a:solidFill>
                <a:srgbClr val="FF0000"/>
              </a:solidFill>
              <a:sym typeface="+mn-ea"/>
            </a:endParaRPr>
          </a:p>
        </p:txBody>
      </p:sp>
      <p:sp>
        <p:nvSpPr>
          <p:cNvPr id="7" name="Text Box 6"/>
          <p:cNvSpPr txBox="1"/>
          <p:nvPr/>
        </p:nvSpPr>
        <p:spPr>
          <a:xfrm>
            <a:off x="1707515" y="1697990"/>
            <a:ext cx="8590280" cy="5835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zh-CN" sz="3200" b="1">
                <a:solidFill>
                  <a:srgbClr val="FF0000"/>
                </a:solidFill>
                <a:sym typeface="+mn-ea"/>
              </a:rPr>
              <a:t> rise (to one’s feet) from the table/chair</a:t>
            </a:r>
            <a:endParaRPr lang="en-US" altLang="zh-CN" sz="3200" b="1" dirty="0">
              <a:solidFill>
                <a:srgbClr val="FF0000"/>
              </a:solidFill>
              <a:sym typeface="+mn-ea"/>
            </a:endParaRPr>
          </a:p>
        </p:txBody>
      </p:sp>
      <p:sp>
        <p:nvSpPr>
          <p:cNvPr id="8" name="Text Box 7"/>
          <p:cNvSpPr txBox="1"/>
          <p:nvPr/>
        </p:nvSpPr>
        <p:spPr>
          <a:xfrm>
            <a:off x="1707515" y="617220"/>
            <a:ext cx="8590280" cy="5835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zh-CN" sz="3200" b="1">
                <a:solidFill>
                  <a:srgbClr val="FF0000"/>
                </a:solidFill>
                <a:sym typeface="+mn-ea"/>
              </a:rPr>
              <a:t>on the rise</a:t>
            </a:r>
            <a:endParaRPr lang="en-US" altLang="zh-CN" sz="3200" b="1" dirty="0">
              <a:solidFill>
                <a:srgbClr val="FF0000"/>
              </a:solidFill>
              <a:sym typeface="+mn-ea"/>
            </a:endParaRPr>
          </a:p>
        </p:txBody>
      </p:sp>
      <p:sp>
        <p:nvSpPr>
          <p:cNvPr id="9" name="Text Box 8"/>
          <p:cNvSpPr txBox="1"/>
          <p:nvPr/>
        </p:nvSpPr>
        <p:spPr>
          <a:xfrm>
            <a:off x="2494280" y="1114425"/>
            <a:ext cx="8590280" cy="5835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zh-CN" sz="3200" b="1">
                <a:solidFill>
                  <a:srgbClr val="FF0000"/>
                </a:solidFill>
                <a:sym typeface="+mn-ea"/>
              </a:rPr>
              <a:t>give rise to</a:t>
            </a:r>
            <a:endParaRPr lang="en-US" altLang="zh-CN" sz="3200" b="1" dirty="0">
              <a:solidFill>
                <a:srgbClr val="FF0000"/>
              </a:solidFill>
              <a:sym typeface="+mn-ea"/>
            </a:endParaRPr>
          </a:p>
        </p:txBody>
      </p:sp>
      <p:sp>
        <p:nvSpPr>
          <p:cNvPr id="10" name="Text Box 9"/>
          <p:cNvSpPr txBox="1"/>
          <p:nvPr/>
        </p:nvSpPr>
        <p:spPr>
          <a:xfrm>
            <a:off x="3374390" y="160655"/>
            <a:ext cx="8590280" cy="5835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zh-CN" sz="3200" b="1">
                <a:solidFill>
                  <a:srgbClr val="FF0000"/>
                </a:solidFill>
                <a:sym typeface="+mn-ea"/>
              </a:rPr>
              <a:t>With the rise of ...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7" dur="1" fill="hold"/>
                                        <p:tgtEl>
                                          <p:spTgt spid="10"/>
                                        </p:tgtEl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12" dur="1" fill="hold"/>
                                        <p:tgtEl>
                                          <p:spTgt spid="8"/>
                                        </p:tgtEl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17" dur="1" fill="hold"/>
                                        <p:tgtEl>
                                          <p:spTgt spid="9"/>
                                        </p:tgtEl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22" dur="1" fill="hold"/>
                                        <p:tgtEl>
                                          <p:spTgt spid="7"/>
                                        </p:tgtEl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27" dur="1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>
                                  </p:childTnLst>
                                </p:cTn>
                              </p:par>
                              <p:par>
                                <p:cTn id="28" presetID="24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30" dur="1" fill="hold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>
                                  </p:childTnLst>
                                </p:cTn>
                              </p:par>
                              <p:par>
                                <p:cTn id="31" presetID="24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33" dur="1" fill="hold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>
                                  </p:childTnLst>
                                </p:cTn>
                              </p:par>
                              <p:par>
                                <p:cTn id="34" presetID="24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36" dur="1" fill="hold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>
                                  </p:childTnLst>
                                </p:cTn>
                              </p:par>
                              <p:par>
                                <p:cTn id="37" presetID="24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39" dur="1" fill="hold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44" dur="1" fill="hold"/>
                                        <p:tgtEl>
                                          <p:spTgt spid="5"/>
                                        </p:tgtEl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49" dur="1" fill="hold"/>
                                        <p:tgtEl>
                                          <p:spTgt spid="4"/>
                                        </p:tgtEl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54" dur="1" fill="hold"/>
                                        <p:tgtEl>
                                          <p:spTgt spid="6"/>
                                        </p:tgtEl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59" dur="1" fill="hold"/>
                                        <p:tgtEl>
                                          <p:spTgt spid="3"/>
                                        </p:tgtEl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3" grpId="1"/>
      <p:bldP spid="4" grpId="0"/>
      <p:bldP spid="4" grpId="1"/>
      <p:bldP spid="5" grpId="0"/>
      <p:bldP spid="5" grpId="1"/>
      <p:bldP spid="6" grpId="0"/>
      <p:bldP spid="6" grpId="1"/>
      <p:bldP spid="7" grpId="0"/>
      <p:bldP spid="7" grpId="1"/>
      <p:bldP spid="8" grpId="0"/>
      <p:bldP spid="8" grpId="1"/>
      <p:bldP spid="9" grpId="0"/>
      <p:bldP spid="9" grpId="1"/>
      <p:bldP spid="10" grpId="0"/>
      <p:bldP spid="10" grpId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1"/>
          <p:cNvSpPr txBox="1"/>
          <p:nvPr/>
        </p:nvSpPr>
        <p:spPr>
          <a:xfrm>
            <a:off x="211455" y="182245"/>
            <a:ext cx="11856720" cy="64928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3200" b="1"/>
              <a:t>让公众有更多的机会接受高等教育</a:t>
            </a:r>
            <a:r>
              <a:rPr lang="en-US" altLang="zh-CN" sz="3200" b="1"/>
              <a:t> (accessible/access)</a:t>
            </a:r>
            <a:endParaRPr lang="zh-CN" altLang="en-US" sz="3200" b="1"/>
          </a:p>
          <a:p>
            <a:r>
              <a:rPr lang="en-US" altLang="en-US" sz="3200" b="1">
                <a:solidFill>
                  <a:srgbClr val="FF0000"/>
                </a:solidFill>
              </a:rPr>
              <a:t>make higher education more accessible to the public</a:t>
            </a:r>
          </a:p>
          <a:p>
            <a:r>
              <a:rPr lang="en-US" altLang="en-US" sz="3200" b="1">
                <a:solidFill>
                  <a:srgbClr val="FF0000"/>
                </a:solidFill>
              </a:rPr>
              <a:t>provide the public with more access to higher education</a:t>
            </a:r>
          </a:p>
          <a:p>
            <a:r>
              <a:rPr lang="en-US" altLang="en-US" sz="3200" b="1" i="1">
                <a:solidFill>
                  <a:schemeClr val="tx1"/>
                </a:solidFill>
                <a:latin typeface="Times New Roman Bold Italic" panose="02020603050405020304" charset="0"/>
                <a:cs typeface="Times New Roman Bold Italic" panose="02020603050405020304" charset="0"/>
              </a:rPr>
              <a:t>opp.</a:t>
            </a:r>
            <a:r>
              <a:rPr lang="en-US" altLang="en-US" sz="3200" b="1">
                <a:solidFill>
                  <a:srgbClr val="FF0000"/>
                </a:solidFill>
              </a:rPr>
              <a:t> inaccessible / unavailable</a:t>
            </a:r>
            <a:endParaRPr lang="en-US" altLang="en-US" sz="3200" b="1"/>
          </a:p>
          <a:p>
            <a:r>
              <a:rPr lang="en-US" altLang="en-US" sz="3200" b="1">
                <a:solidFill>
                  <a:srgbClr val="FF0000"/>
                </a:solidFill>
              </a:rPr>
              <a:t>a touch of…</a:t>
            </a:r>
            <a:r>
              <a:rPr lang="en-US" altLang="en-US" sz="3200" b="1"/>
              <a:t> — a very small amount of… </a:t>
            </a:r>
            <a:r>
              <a:rPr lang="zh-CN" altLang="en-US" sz="3200" b="1"/>
              <a:t>一点儿</a:t>
            </a:r>
          </a:p>
          <a:p>
            <a:r>
              <a:rPr lang="zh-CN" altLang="en-US" sz="3200" b="1"/>
              <a:t>润色</a:t>
            </a:r>
            <a:r>
              <a:rPr lang="en-US" altLang="zh-CN" sz="3200" b="1"/>
              <a:t> </a:t>
            </a:r>
            <a:endParaRPr lang="en-US" altLang="en-US" sz="3200" b="1"/>
          </a:p>
          <a:p>
            <a:r>
              <a:rPr lang="zh-CN" altLang="en-US" sz="3200" b="1"/>
              <a:t>我绝不会采用这种处理问题的方法。</a:t>
            </a:r>
          </a:p>
          <a:p>
            <a:r>
              <a:rPr lang="en-US" altLang="en-US" sz="3200" b="1"/>
              <a:t>In no way am I going to </a:t>
            </a:r>
            <a:r>
              <a:rPr lang="en-US" altLang="en-US" sz="3200" b="1">
                <a:solidFill>
                  <a:srgbClr val="FF0000"/>
                </a:solidFill>
              </a:rPr>
              <a:t>adopt </a:t>
            </a:r>
            <a:r>
              <a:rPr lang="en-US" altLang="en-US" sz="3200" b="1"/>
              <a:t>this </a:t>
            </a:r>
            <a:r>
              <a:rPr lang="en-US" altLang="en-US" sz="3200" b="1">
                <a:solidFill>
                  <a:srgbClr val="FF0000"/>
                </a:solidFill>
              </a:rPr>
              <a:t>approach to</a:t>
            </a:r>
            <a:r>
              <a:rPr lang="en-US" altLang="en-US" sz="3200" b="1"/>
              <a:t> the problem.</a:t>
            </a:r>
          </a:p>
          <a:p>
            <a:r>
              <a:rPr lang="en-US" altLang="en-US" sz="3200" b="1"/>
              <a:t>The UN has</a:t>
            </a:r>
            <a:r>
              <a:rPr lang="en-US" altLang="en-US" sz="3200" b="1">
                <a:solidFill>
                  <a:srgbClr val="FF0000"/>
                </a:solidFill>
              </a:rPr>
              <a:t> adopted a resolution</a:t>
            </a:r>
            <a:r>
              <a:rPr lang="en-US" altLang="en-US" sz="3200" b="1"/>
              <a:t> calling on all parties to seek a settlement.</a:t>
            </a:r>
          </a:p>
          <a:p>
            <a:r>
              <a:rPr lang="zh-CN" altLang="en-US" sz="3200" b="1"/>
              <a:t>通过一项决议</a:t>
            </a:r>
          </a:p>
          <a:p>
            <a:r>
              <a:rPr lang="en-US" altLang="zh-CN" sz="3200" b="1"/>
              <a:t>He </a:t>
            </a:r>
            <a:r>
              <a:rPr lang="en-US" altLang="en-US" sz="3200" b="1">
                <a:solidFill>
                  <a:srgbClr val="FF0000"/>
                </a:solidFill>
              </a:rPr>
              <a:t>adopted</a:t>
            </a:r>
            <a:r>
              <a:rPr lang="en-US" altLang="en-US" sz="3200" b="1"/>
              <a:t> an air of indifference.</a:t>
            </a:r>
          </a:p>
          <a:p>
            <a:r>
              <a:rPr lang="zh-CN" altLang="en-US" sz="3200" b="1"/>
              <a:t>他摆出一副满不在乎的样子。</a:t>
            </a:r>
            <a:endParaRPr lang="en-US" altLang="en-US" sz="3200" b="1"/>
          </a:p>
        </p:txBody>
      </p:sp>
      <p:sp>
        <p:nvSpPr>
          <p:cNvPr id="3" name="Text Box 2"/>
          <p:cNvSpPr txBox="1"/>
          <p:nvPr/>
        </p:nvSpPr>
        <p:spPr>
          <a:xfrm>
            <a:off x="1207770" y="2553335"/>
            <a:ext cx="6096000" cy="5835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zh-CN" sz="3200" b="1">
                <a:solidFill>
                  <a:srgbClr val="FF0000"/>
                </a:solidFill>
                <a:sym typeface="+mn-ea"/>
              </a:rPr>
              <a:t>put the finishing touches to</a:t>
            </a:r>
          </a:p>
        </p:txBody>
      </p:sp>
      <p:sp>
        <p:nvSpPr>
          <p:cNvPr id="4" name="Text Box 3"/>
          <p:cNvSpPr txBox="1"/>
          <p:nvPr/>
        </p:nvSpPr>
        <p:spPr>
          <a:xfrm>
            <a:off x="7029450" y="5561330"/>
            <a:ext cx="6096000" cy="5835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en-US" sz="3200" b="1">
                <a:solidFill>
                  <a:srgbClr val="FF0000"/>
                </a:solidFill>
                <a:sym typeface="+mn-ea"/>
              </a:rPr>
              <a:t>adoption</a:t>
            </a:r>
            <a:endParaRPr lang="en-US" altLang="en-US" sz="3200" b="1" dirty="0">
              <a:solidFill>
                <a:srgbClr val="FF0000"/>
              </a:solidFill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7" dur="1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12" dur="1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17" dur="1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22" dur="1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27" dur="1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32" dur="1" fill="hold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37" dur="1" fill="hold"/>
                                        <p:tgtEl>
                                          <p:spTgt spid="3"/>
                                        </p:tgtEl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42" dur="1" fill="hold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47" dur="1" fill="hold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52" dur="1" fill="hold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57" dur="1" fill="hold"/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62" dur="1" fill="hold"/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67" dur="1" fill="hold"/>
                                        <p:tgtEl>
                                          <p:spTgt spid="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72" dur="1" fill="hold"/>
                                        <p:tgtEl>
                                          <p:spTgt spid="4"/>
                                        </p:tgtEl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3" grpId="1"/>
      <p:bldP spid="4" grpId="0"/>
      <p:bldP spid="4" grpId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1"/>
          <p:cNvSpPr txBox="1"/>
          <p:nvPr/>
        </p:nvSpPr>
        <p:spPr>
          <a:xfrm>
            <a:off x="211455" y="182245"/>
            <a:ext cx="11856720" cy="45231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b="1">
                <a:solidFill>
                  <a:srgbClr val="FF0000"/>
                </a:solidFill>
              </a:rPr>
              <a:t>make/draw a comparison between A and B</a:t>
            </a:r>
          </a:p>
          <a:p>
            <a:r>
              <a:rPr lang="en-US" sz="3200" b="1">
                <a:solidFill>
                  <a:srgbClr val="FF0000"/>
                </a:solidFill>
              </a:rPr>
              <a:t>By comparison, ...</a:t>
            </a:r>
          </a:p>
          <a:p>
            <a:r>
              <a:rPr lang="en-US" sz="3200" b="1">
                <a:solidFill>
                  <a:srgbClr val="FF0000"/>
                </a:solidFill>
              </a:rPr>
              <a:t>In comparison with...</a:t>
            </a:r>
          </a:p>
          <a:p>
            <a:endParaRPr lang="en-US" sz="3200" b="1">
              <a:solidFill>
                <a:srgbClr val="FF0000"/>
              </a:solidFill>
            </a:endParaRPr>
          </a:p>
          <a:p>
            <a:r>
              <a:rPr lang="en-US" sz="3200" b="1">
                <a:solidFill>
                  <a:srgbClr val="FF0000"/>
                </a:solidFill>
              </a:rPr>
              <a:t>comparative</a:t>
            </a:r>
          </a:p>
          <a:p>
            <a:r>
              <a:rPr lang="en-US" sz="3200" b="1">
                <a:solidFill>
                  <a:srgbClr val="FF0000"/>
                </a:solidFill>
              </a:rPr>
              <a:t>comparatively </a:t>
            </a:r>
            <a:r>
              <a:rPr lang="en-US" sz="3200" b="1" i="1">
                <a:solidFill>
                  <a:srgbClr val="0000FF"/>
                </a:solidFill>
                <a:latin typeface="Times New Roman Bold Italic" panose="02020603050405020304" charset="0"/>
                <a:cs typeface="Times New Roman Bold Italic" panose="02020603050405020304" charset="0"/>
              </a:rPr>
              <a:t>relatively</a:t>
            </a:r>
            <a:endParaRPr lang="en-US" sz="3200" b="1">
              <a:solidFill>
                <a:srgbClr val="FF0000"/>
              </a:solidFill>
            </a:endParaRPr>
          </a:p>
          <a:p>
            <a:endParaRPr lang="en-US" sz="3200" b="1">
              <a:solidFill>
                <a:srgbClr val="FF0000"/>
              </a:solidFill>
            </a:endParaRPr>
          </a:p>
          <a:p>
            <a:r>
              <a:rPr lang="en-US" sz="3200" b="1">
                <a:solidFill>
                  <a:schemeClr val="tx1"/>
                </a:solidFill>
              </a:rPr>
              <a:t>A third reason is the social intelligence develops in children before their general cognitive skills, at least when _________ with chimps.</a:t>
            </a:r>
          </a:p>
        </p:txBody>
      </p:sp>
      <p:sp>
        <p:nvSpPr>
          <p:cNvPr id="14" name="Text Box 13"/>
          <p:cNvSpPr txBox="1"/>
          <p:nvPr/>
        </p:nvSpPr>
        <p:spPr>
          <a:xfrm>
            <a:off x="7754620" y="4070350"/>
            <a:ext cx="6096000" cy="5835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sz="3200" b="1">
                <a:solidFill>
                  <a:srgbClr val="FF0000"/>
                </a:solidFill>
                <a:sym typeface="+mn-ea"/>
              </a:rPr>
              <a:t>compared</a:t>
            </a:r>
            <a:endParaRPr lang="en-US" sz="3200" b="1" dirty="0">
              <a:solidFill>
                <a:srgbClr val="FF0000"/>
              </a:solidFill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7" dur="1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12" dur="1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17" dur="1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22" dur="1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27" dur="1" fill="hold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32" dur="1" fill="hold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37" dur="1" fill="hold"/>
                                        <p:tgtEl>
                                          <p:spTgt spid="14"/>
                                        </p:tgtEl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14" grpId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1"/>
          <p:cNvSpPr txBox="1"/>
          <p:nvPr/>
        </p:nvSpPr>
        <p:spPr>
          <a:xfrm>
            <a:off x="211455" y="182245"/>
            <a:ext cx="11856720" cy="50158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b="1">
                <a:solidFill>
                  <a:srgbClr val="FF0000"/>
                </a:solidFill>
              </a:rPr>
              <a:t>engage one's attention/interest</a:t>
            </a:r>
          </a:p>
          <a:p>
            <a:r>
              <a:rPr lang="en-US" sz="3200" b="1">
                <a:solidFill>
                  <a:srgbClr val="FF0000"/>
                </a:solidFill>
              </a:rPr>
              <a:t>engage (sb) in sth</a:t>
            </a:r>
          </a:p>
          <a:p>
            <a:r>
              <a:rPr lang="en-US" altLang="zh-CN" sz="3200" b="1">
                <a:solidFill>
                  <a:schemeClr val="tx1"/>
                </a:solidFill>
              </a:rPr>
              <a:t>The project aims to encourage students to be active citizens and _______ themselves  ____ making a difference in society. (</a:t>
            </a:r>
            <a:r>
              <a:rPr lang="zh-CN" altLang="en-US" sz="3200" b="1">
                <a:solidFill>
                  <a:schemeClr val="tx1"/>
                </a:solidFill>
              </a:rPr>
              <a:t>致力于对社会产生影响</a:t>
            </a:r>
            <a:r>
              <a:rPr lang="en-US" altLang="zh-CN" sz="3200" b="1">
                <a:solidFill>
                  <a:schemeClr val="tx1"/>
                </a:solidFill>
              </a:rPr>
              <a:t>)</a:t>
            </a:r>
          </a:p>
          <a:p>
            <a:r>
              <a:rPr lang="zh-CN" altLang="en-US" sz="3200" b="1">
                <a:solidFill>
                  <a:schemeClr val="tx1"/>
                </a:solidFill>
              </a:rPr>
              <a:t>他正埋头写他的新小说。</a:t>
            </a:r>
          </a:p>
          <a:p>
            <a:r>
              <a:rPr lang="en-US" altLang="zh-CN" sz="3200" b="1">
                <a:solidFill>
                  <a:schemeClr val="tx1"/>
                </a:solidFill>
              </a:rPr>
              <a:t>He is now _________ ____ his new novel.</a:t>
            </a:r>
          </a:p>
          <a:p>
            <a:r>
              <a:rPr lang="zh-CN" altLang="en-US" sz="3200" b="1">
                <a:solidFill>
                  <a:schemeClr val="tx1"/>
                </a:solidFill>
              </a:rPr>
              <a:t>团队需要与当地社区互动。</a:t>
            </a:r>
          </a:p>
          <a:p>
            <a:r>
              <a:rPr lang="en-US" altLang="en-US" sz="3200" b="1">
                <a:solidFill>
                  <a:schemeClr val="tx1"/>
                </a:solidFill>
              </a:rPr>
              <a:t>The teams needed to ________ ______ local communities.</a:t>
            </a:r>
          </a:p>
          <a:p>
            <a:r>
              <a:rPr lang="en-US" altLang="en-US" sz="3200" b="1">
                <a:solidFill>
                  <a:srgbClr val="FF0000"/>
                </a:solidFill>
              </a:rPr>
              <a:t>engagement</a:t>
            </a:r>
          </a:p>
        </p:txBody>
      </p:sp>
      <p:sp>
        <p:nvSpPr>
          <p:cNvPr id="14" name="Text Box 13"/>
          <p:cNvSpPr txBox="1"/>
          <p:nvPr/>
        </p:nvSpPr>
        <p:spPr>
          <a:xfrm>
            <a:off x="314325" y="1584325"/>
            <a:ext cx="6096000" cy="5835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sz="3200" b="1">
                <a:solidFill>
                  <a:srgbClr val="FF0000"/>
                </a:solidFill>
                <a:sym typeface="+mn-ea"/>
              </a:rPr>
              <a:t>engage			in</a:t>
            </a:r>
            <a:endParaRPr lang="en-US" sz="3200" b="1" dirty="0">
              <a:solidFill>
                <a:srgbClr val="FF0000"/>
              </a:solidFill>
              <a:sym typeface="+mn-ea"/>
            </a:endParaRPr>
          </a:p>
        </p:txBody>
      </p:sp>
      <p:sp>
        <p:nvSpPr>
          <p:cNvPr id="3" name="Text Box 2"/>
          <p:cNvSpPr txBox="1"/>
          <p:nvPr/>
        </p:nvSpPr>
        <p:spPr>
          <a:xfrm>
            <a:off x="2188845" y="3082290"/>
            <a:ext cx="6096000" cy="5835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sz="3200" b="1">
                <a:solidFill>
                  <a:srgbClr val="FF0000"/>
                </a:solidFill>
                <a:sym typeface="+mn-ea"/>
              </a:rPr>
              <a:t>engaged	in</a:t>
            </a:r>
            <a:endParaRPr lang="en-US" sz="3200" b="1" dirty="0">
              <a:solidFill>
                <a:srgbClr val="FF0000"/>
              </a:solidFill>
              <a:sym typeface="+mn-ea"/>
            </a:endParaRPr>
          </a:p>
        </p:txBody>
      </p:sp>
      <p:sp>
        <p:nvSpPr>
          <p:cNvPr id="4" name="Text Box 3"/>
          <p:cNvSpPr txBox="1"/>
          <p:nvPr/>
        </p:nvSpPr>
        <p:spPr>
          <a:xfrm>
            <a:off x="4021455" y="4050030"/>
            <a:ext cx="6096000" cy="5835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en-US" sz="3200" b="1">
                <a:solidFill>
                  <a:srgbClr val="FF0000"/>
                </a:solidFill>
                <a:sym typeface="+mn-ea"/>
              </a:rPr>
              <a:t>engage    with</a:t>
            </a:r>
            <a:endParaRPr lang="en-US" altLang="en-US" sz="3200" b="1" dirty="0">
              <a:solidFill>
                <a:srgbClr val="FF0000"/>
              </a:solidFill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7" dur="1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12" dur="1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17" dur="1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22" dur="1" fill="hold"/>
                                        <p:tgtEl>
                                          <p:spTgt spid="14"/>
                                        </p:tgtEl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27" dur="1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>
                                  </p:childTnLst>
                                </p:cTn>
                              </p:par>
                              <p:par>
                                <p:cTn id="28" presetID="24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30" dur="1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35" dur="1" fill="hold"/>
                                        <p:tgtEl>
                                          <p:spTgt spid="3"/>
                                        </p:tgtEl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40" dur="1" fill="hold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>
                                  </p:childTnLst>
                                </p:cTn>
                              </p:par>
                              <p:par>
                                <p:cTn id="41" presetID="24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43" dur="1" fill="hold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48" dur="1" fill="hold"/>
                                        <p:tgtEl>
                                          <p:spTgt spid="4"/>
                                        </p:tgtEl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53" dur="1" fill="hold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14" grpId="1"/>
      <p:bldP spid="3" grpId="0"/>
      <p:bldP spid="3" grpId="1"/>
      <p:bldP spid="4" grpId="0"/>
      <p:bldP spid="4" grpId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1"/>
          <p:cNvSpPr txBox="1"/>
          <p:nvPr/>
        </p:nvSpPr>
        <p:spPr>
          <a:xfrm>
            <a:off x="211455" y="182245"/>
            <a:ext cx="11856720" cy="64928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b="1">
                <a:solidFill>
                  <a:srgbClr val="FF0000"/>
                </a:solidFill>
              </a:rPr>
              <a:t>pack (my bag) </a:t>
            </a:r>
            <a:r>
              <a:rPr lang="zh-CN" altLang="en-US" sz="3200" b="1">
                <a:solidFill>
                  <a:schemeClr val="tx1"/>
                </a:solidFill>
              </a:rPr>
              <a:t>打包</a:t>
            </a:r>
          </a:p>
          <a:p>
            <a:r>
              <a:rPr lang="en-US" altLang="zh-CN" sz="3200" b="1">
                <a:solidFill>
                  <a:srgbClr val="FF0000"/>
                </a:solidFill>
              </a:rPr>
              <a:t>pack sth in/into...</a:t>
            </a:r>
            <a:r>
              <a:rPr lang="zh-CN" altLang="en-US" sz="3200" b="1">
                <a:solidFill>
                  <a:schemeClr val="tx1"/>
                </a:solidFill>
              </a:rPr>
              <a:t>把……打包进……</a:t>
            </a:r>
          </a:p>
          <a:p>
            <a:r>
              <a:rPr lang="zh-CN" altLang="en-US" sz="3200" b="1">
                <a:solidFill>
                  <a:schemeClr val="tx1"/>
                </a:solidFill>
              </a:rPr>
              <a:t>装几件厚衣服在行李箱里</a:t>
            </a:r>
          </a:p>
          <a:p>
            <a:r>
              <a:rPr lang="en-US" altLang="zh-CN" sz="3200" b="1">
                <a:solidFill>
                  <a:srgbClr val="FF0000"/>
                </a:solidFill>
              </a:rPr>
              <a:t>I’m all</a:t>
            </a:r>
            <a:r>
              <a:rPr lang="en-US" altLang="zh-CN" sz="3200" b="1">
                <a:solidFill>
                  <a:schemeClr val="tx1"/>
                </a:solidFill>
              </a:rPr>
              <a:t> </a:t>
            </a:r>
            <a:r>
              <a:rPr lang="en-US" altLang="zh-CN" sz="3200" b="1">
                <a:solidFill>
                  <a:srgbClr val="FF0000"/>
                </a:solidFill>
              </a:rPr>
              <a:t>packed </a:t>
            </a:r>
            <a:r>
              <a:rPr lang="en-US" altLang="zh-CN" sz="3200" b="1">
                <a:solidFill>
                  <a:schemeClr val="tx1"/>
                </a:solidFill>
              </a:rPr>
              <a:t>and ready to go.</a:t>
            </a:r>
            <a:endParaRPr lang="zh-CN" altLang="en-US" sz="3200" b="1">
              <a:solidFill>
                <a:schemeClr val="tx1"/>
              </a:solidFill>
            </a:endParaRPr>
          </a:p>
          <a:p>
            <a:endParaRPr lang="zh-CN" altLang="en-US" sz="3200" b="1">
              <a:solidFill>
                <a:schemeClr val="tx1"/>
              </a:solidFill>
            </a:endParaRPr>
          </a:p>
          <a:p>
            <a:r>
              <a:rPr lang="zh-CN" altLang="en-US" sz="3200" b="1">
                <a:solidFill>
                  <a:schemeClr val="tx1"/>
                </a:solidFill>
              </a:rPr>
              <a:t>挤进</a:t>
            </a:r>
            <a:r>
              <a:rPr lang="en-US" altLang="zh-CN" sz="3200" b="1">
                <a:solidFill>
                  <a:schemeClr val="tx1"/>
                </a:solidFill>
              </a:rPr>
              <a:t> We all </a:t>
            </a:r>
            <a:r>
              <a:rPr lang="en-US" altLang="zh-CN" sz="3200" b="1">
                <a:solidFill>
                  <a:srgbClr val="FF0000"/>
                </a:solidFill>
              </a:rPr>
              <a:t>packed </a:t>
            </a:r>
            <a:r>
              <a:rPr lang="en-US" altLang="zh-CN" sz="3200" b="1">
                <a:solidFill>
                  <a:schemeClr val="tx1"/>
                </a:solidFill>
              </a:rPr>
              <a:t>together into one car.</a:t>
            </a:r>
          </a:p>
          <a:p>
            <a:r>
              <a:rPr lang="en-US" altLang="zh-CN" sz="3200" b="1">
                <a:solidFill>
                  <a:schemeClr val="tx1"/>
                </a:solidFill>
              </a:rPr>
              <a:t>Fans </a:t>
            </a:r>
            <a:r>
              <a:rPr lang="en-US" altLang="zh-CN" sz="3200" b="1">
                <a:solidFill>
                  <a:srgbClr val="FF0000"/>
                </a:solidFill>
              </a:rPr>
              <a:t>packed </a:t>
            </a:r>
            <a:r>
              <a:rPr lang="en-US" altLang="zh-CN" sz="3200" b="1">
                <a:solidFill>
                  <a:schemeClr val="tx1"/>
                </a:solidFill>
              </a:rPr>
              <a:t>the hall to see the band.</a:t>
            </a:r>
          </a:p>
          <a:p>
            <a:r>
              <a:rPr lang="zh-CN" altLang="en-US" sz="3200" b="1">
                <a:solidFill>
                  <a:schemeClr val="tx1"/>
                </a:solidFill>
              </a:rPr>
              <a:t>餐厅里每天人很多。</a:t>
            </a:r>
            <a:r>
              <a:rPr lang="en-US" altLang="zh-CN" sz="3200" b="1">
                <a:solidFill>
                  <a:schemeClr val="tx1"/>
                </a:solidFill>
              </a:rPr>
              <a:t>The restaurant _____ _______every day.</a:t>
            </a:r>
          </a:p>
          <a:p>
            <a:r>
              <a:rPr lang="zh-CN" altLang="en-US" sz="3200" b="1">
                <a:solidFill>
                  <a:schemeClr val="tx1"/>
                </a:solidFill>
              </a:rPr>
              <a:t>这本书信息丰富。</a:t>
            </a:r>
            <a:r>
              <a:rPr lang="en-US" altLang="zh-CN" sz="3200" b="1">
                <a:solidFill>
                  <a:schemeClr val="tx1"/>
                </a:solidFill>
              </a:rPr>
              <a:t>The book ____ _____ ____ ___________.</a:t>
            </a:r>
          </a:p>
          <a:p>
            <a:endParaRPr lang="en-US" altLang="zh-CN" sz="3200" b="1">
              <a:solidFill>
                <a:schemeClr val="tx1"/>
              </a:solidFill>
            </a:endParaRPr>
          </a:p>
          <a:p>
            <a:r>
              <a:rPr lang="en-US" altLang="zh-CN" sz="3200" b="1">
                <a:solidFill>
                  <a:srgbClr val="FF0000"/>
                </a:solidFill>
              </a:rPr>
              <a:t>packed tightly</a:t>
            </a:r>
            <a:r>
              <a:rPr lang="en-US" altLang="zh-CN" sz="3200" b="1">
                <a:solidFill>
                  <a:schemeClr val="tx1"/>
                </a:solidFill>
              </a:rPr>
              <a:t> </a:t>
            </a:r>
            <a:r>
              <a:rPr lang="zh-CN" altLang="en-US" sz="3200" b="1">
                <a:solidFill>
                  <a:schemeClr val="tx1"/>
                </a:solidFill>
              </a:rPr>
              <a:t>紧密地压在一起</a:t>
            </a:r>
          </a:p>
          <a:p>
            <a:r>
              <a:rPr lang="en-US" altLang="zh-CN" sz="3200" b="1">
                <a:solidFill>
                  <a:srgbClr val="FF0000"/>
                </a:solidFill>
              </a:rPr>
              <a:t>a pack of </a:t>
            </a:r>
            <a:r>
              <a:rPr lang="en-US" altLang="zh-CN" sz="3200" b="1">
                <a:solidFill>
                  <a:schemeClr val="tx1"/>
                </a:solidFill>
              </a:rPr>
              <a:t>journalists</a:t>
            </a:r>
          </a:p>
          <a:p>
            <a:r>
              <a:rPr lang="en-US" altLang="zh-CN" sz="3200" b="1">
                <a:solidFill>
                  <a:srgbClr val="FF0000"/>
                </a:solidFill>
              </a:rPr>
              <a:t>package (n./v.)</a:t>
            </a:r>
          </a:p>
        </p:txBody>
      </p:sp>
      <p:sp>
        <p:nvSpPr>
          <p:cNvPr id="5" name="Text Box 4"/>
          <p:cNvSpPr txBox="1"/>
          <p:nvPr/>
        </p:nvSpPr>
        <p:spPr>
          <a:xfrm>
            <a:off x="4707890" y="1118870"/>
            <a:ext cx="8040370" cy="5835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zh-CN" sz="3200" b="1">
                <a:solidFill>
                  <a:srgbClr val="FF0000"/>
                </a:solidFill>
                <a:sym typeface="+mn-ea"/>
              </a:rPr>
              <a:t>pack a few warm clothes into your suitcase </a:t>
            </a:r>
            <a:endParaRPr lang="en-US" altLang="zh-CN" sz="3200" b="1" dirty="0">
              <a:solidFill>
                <a:srgbClr val="FF0000"/>
              </a:solidFill>
              <a:sym typeface="+mn-ea"/>
            </a:endParaRPr>
          </a:p>
        </p:txBody>
      </p:sp>
      <p:sp>
        <p:nvSpPr>
          <p:cNvPr id="6" name="Text Box 5"/>
          <p:cNvSpPr txBox="1"/>
          <p:nvPr/>
        </p:nvSpPr>
        <p:spPr>
          <a:xfrm>
            <a:off x="6623685" y="3497580"/>
            <a:ext cx="2550795" cy="5835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zh-CN" sz="3200" b="1">
                <a:solidFill>
                  <a:srgbClr val="FF0000"/>
                </a:solidFill>
                <a:sym typeface="+mn-ea"/>
              </a:rPr>
              <a:t>was   packed</a:t>
            </a:r>
          </a:p>
        </p:txBody>
      </p:sp>
      <p:sp>
        <p:nvSpPr>
          <p:cNvPr id="7" name="Text Box 6"/>
          <p:cNvSpPr txBox="1"/>
          <p:nvPr/>
        </p:nvSpPr>
        <p:spPr>
          <a:xfrm>
            <a:off x="5266055" y="4081145"/>
            <a:ext cx="5215890" cy="5835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zh-CN" sz="3200" b="1">
                <a:solidFill>
                  <a:srgbClr val="FF0000"/>
                </a:solidFill>
                <a:sym typeface="+mn-ea"/>
              </a:rPr>
              <a:t>is  packed with  information</a:t>
            </a:r>
          </a:p>
        </p:txBody>
      </p:sp>
      <p:sp>
        <p:nvSpPr>
          <p:cNvPr id="8" name="Text Box 7"/>
          <p:cNvSpPr txBox="1"/>
          <p:nvPr/>
        </p:nvSpPr>
        <p:spPr>
          <a:xfrm>
            <a:off x="3078480" y="6000115"/>
            <a:ext cx="6096000" cy="5835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en-US" sz="3200" b="1" dirty="0">
                <a:solidFill>
                  <a:srgbClr val="FF0000"/>
                </a:solidFill>
                <a:sym typeface="+mn-ea"/>
              </a:rPr>
              <a:t>a pay/salary package</a:t>
            </a:r>
          </a:p>
        </p:txBody>
      </p:sp>
      <p:sp>
        <p:nvSpPr>
          <p:cNvPr id="9" name="Text Box 8"/>
          <p:cNvSpPr txBox="1"/>
          <p:nvPr/>
        </p:nvSpPr>
        <p:spPr>
          <a:xfrm>
            <a:off x="7317105" y="6068695"/>
            <a:ext cx="6096000" cy="5835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en-US" sz="3200" b="1" dirty="0">
                <a:solidFill>
                  <a:srgbClr val="FF0000"/>
                </a:solidFill>
                <a:sym typeface="+mn-ea"/>
              </a:rPr>
              <a:t>packaged food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7" dur="1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12" dur="1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17" dur="1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22" dur="1" fill="hold"/>
                                        <p:tgtEl>
                                          <p:spTgt spid="5"/>
                                        </p:tgtEl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27" dur="1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32" dur="1" fill="hold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37" dur="1" fill="hold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42" dur="1" fill="hold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47" dur="1" fill="hold"/>
                                        <p:tgtEl>
                                          <p:spTgt spid="6"/>
                                        </p:tgtEl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52" dur="1" fill="hold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57" dur="1" fill="hold"/>
                                        <p:tgtEl>
                                          <p:spTgt spid="7"/>
                                        </p:tgtEl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62" dur="1" fill="hold"/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67" dur="1" fill="hold"/>
                                        <p:tgtEl>
                                          <p:spTgt spid="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72" dur="1" fill="hold"/>
                                        <p:tgtEl>
                                          <p:spTgt spid="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77" dur="1" fill="hold"/>
                                        <p:tgtEl>
                                          <p:spTgt spid="8"/>
                                        </p:tgtEl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2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82" dur="1" fill="hold"/>
                                        <p:tgtEl>
                                          <p:spTgt spid="9"/>
                                        </p:tgtEl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5" grpId="1"/>
      <p:bldP spid="6" grpId="0"/>
      <p:bldP spid="6" grpId="1"/>
      <p:bldP spid="7" grpId="0"/>
      <p:bldP spid="7" grpId="1"/>
      <p:bldP spid="8" grpId="0"/>
      <p:bldP spid="8" grpId="1"/>
      <p:bldP spid="9" grpId="0"/>
      <p:bldP spid="9" grpId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Box 2"/>
          <p:cNvSpPr txBox="1"/>
          <p:nvPr/>
        </p:nvSpPr>
        <p:spPr>
          <a:xfrm>
            <a:off x="211455" y="182245"/>
            <a:ext cx="11856720" cy="255333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en-US" sz="3200" b="1">
                <a:solidFill>
                  <a:srgbClr val="FF0000"/>
                </a:solidFill>
              </a:rPr>
              <a:t>contrary opinions </a:t>
            </a:r>
            <a:r>
              <a:rPr lang="zh-CN" altLang="en-US" sz="3200" b="1">
                <a:solidFill>
                  <a:schemeClr val="tx1"/>
                </a:solidFill>
              </a:rPr>
              <a:t>相反的观点</a:t>
            </a:r>
            <a:endParaRPr lang="en-US" altLang="en-US" sz="3200" b="1">
              <a:solidFill>
                <a:schemeClr val="tx1"/>
              </a:solidFill>
            </a:endParaRPr>
          </a:p>
          <a:p>
            <a:r>
              <a:rPr lang="en-US" altLang="en-US" sz="3200" b="1">
                <a:solidFill>
                  <a:srgbClr val="FF0000"/>
                </a:solidFill>
              </a:rPr>
              <a:t>Contrary to </a:t>
            </a:r>
            <a:r>
              <a:rPr lang="en-US" altLang="en-US" sz="3200" b="1">
                <a:solidFill>
                  <a:schemeClr val="tx1"/>
                </a:solidFill>
              </a:rPr>
              <a:t>popular belief, a desert can be very cold. (</a:t>
            </a:r>
            <a:r>
              <a:rPr lang="en-US" altLang="en-US" sz="3200" b="1" i="1">
                <a:solidFill>
                  <a:schemeClr val="bg2"/>
                </a:solidFill>
                <a:latin typeface="Times New Roman Bold Italic" panose="02020603050405020304" charset="0"/>
                <a:cs typeface="Times New Roman Bold Italic" panose="02020603050405020304" charset="0"/>
              </a:rPr>
              <a:t>Unlike</a:t>
            </a:r>
            <a:r>
              <a:rPr lang="en-US" altLang="en-US" sz="3200" b="1">
                <a:solidFill>
                  <a:schemeClr val="tx1"/>
                </a:solidFill>
              </a:rPr>
              <a:t>)</a:t>
            </a:r>
          </a:p>
          <a:p>
            <a:r>
              <a:rPr lang="en-US" altLang="en-US" sz="3200" b="1">
                <a:solidFill>
                  <a:schemeClr val="tx1"/>
                </a:solidFill>
              </a:rPr>
              <a:t>I’m not ill. _______________, I'm very healthy. </a:t>
            </a:r>
            <a:r>
              <a:rPr lang="zh-CN" altLang="en-US" sz="3200" b="1">
                <a:solidFill>
                  <a:schemeClr val="tx1"/>
                </a:solidFill>
              </a:rPr>
              <a:t>相反</a:t>
            </a:r>
            <a:endParaRPr lang="en-US" altLang="en-US" sz="3200" b="1">
              <a:solidFill>
                <a:schemeClr val="tx1"/>
              </a:solidFill>
            </a:endParaRPr>
          </a:p>
          <a:p>
            <a:r>
              <a:rPr lang="en-US" altLang="en-US" sz="3200" b="1">
                <a:solidFill>
                  <a:schemeClr val="tx1"/>
                </a:solidFill>
              </a:rPr>
              <a:t>Unless there is evidence </a:t>
            </a:r>
            <a:r>
              <a:rPr lang="en-US" altLang="en-US" sz="3200" b="1">
                <a:solidFill>
                  <a:srgbClr val="FF0000"/>
                </a:solidFill>
              </a:rPr>
              <a:t>to the contrary</a:t>
            </a:r>
            <a:r>
              <a:rPr lang="en-US" altLang="en-US" sz="3200" b="1">
                <a:solidFill>
                  <a:schemeClr val="tx1"/>
                </a:solidFill>
              </a:rPr>
              <a:t>, we ought to believe them.</a:t>
            </a:r>
          </a:p>
          <a:p>
            <a:r>
              <a:rPr lang="zh-CN" altLang="en-US" sz="3200" b="1">
                <a:solidFill>
                  <a:schemeClr val="tx1"/>
                </a:solidFill>
              </a:rPr>
              <a:t>相反的</a:t>
            </a:r>
            <a:endParaRPr lang="en-US" altLang="en-US" sz="3200" b="1">
              <a:solidFill>
                <a:schemeClr val="tx1"/>
              </a:solidFill>
            </a:endParaRPr>
          </a:p>
        </p:txBody>
      </p:sp>
      <p:sp>
        <p:nvSpPr>
          <p:cNvPr id="4" name="Text Box 3"/>
          <p:cNvSpPr txBox="1"/>
          <p:nvPr/>
        </p:nvSpPr>
        <p:spPr>
          <a:xfrm>
            <a:off x="2289810" y="1167130"/>
            <a:ext cx="6096000" cy="5835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en-US" sz="3200" b="1">
                <a:solidFill>
                  <a:srgbClr val="FF0000"/>
                </a:solidFill>
                <a:sym typeface="+mn-ea"/>
              </a:rPr>
              <a:t>On the contrary </a:t>
            </a:r>
            <a:endParaRPr lang="en-US" altLang="en-US" sz="3200" b="1" dirty="0">
              <a:solidFill>
                <a:srgbClr val="FF0000"/>
              </a:solidFill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7" dur="1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12" dur="1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17" dur="1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22" dur="1" fill="hold"/>
                                        <p:tgtEl>
                                          <p:spTgt spid="4"/>
                                        </p:tgtEl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27" dur="1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32" dur="1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4" grpId="1"/>
    </p:bldLst>
  </p:timing>
</p:sld>
</file>

<file path=ppt/theme/theme1.xml><?xml version="1.0" encoding="utf-8"?>
<a:theme xmlns:a="http://schemas.openxmlformats.org/drawingml/2006/main" name="高中教材课件">
  <a:themeElements>
    <a:clrScheme name="高中编辑部">
      <a:dk1>
        <a:srgbClr val="000000"/>
      </a:dk1>
      <a:lt1>
        <a:srgbClr val="FFFFFF"/>
      </a:lt1>
      <a:dk2>
        <a:srgbClr val="E4002A"/>
      </a:dk2>
      <a:lt2>
        <a:srgbClr val="2419FF"/>
      </a:lt2>
      <a:accent1>
        <a:srgbClr val="F8C083"/>
      </a:accent1>
      <a:accent2>
        <a:srgbClr val="2C99FE"/>
      </a:accent2>
      <a:accent3>
        <a:srgbClr val="C788EA"/>
      </a:accent3>
      <a:accent4>
        <a:srgbClr val="FE824B"/>
      </a:accent4>
      <a:accent5>
        <a:srgbClr val="F5DAE9"/>
      </a:accent5>
      <a:accent6>
        <a:srgbClr val="96DD9A"/>
      </a:accent6>
      <a:hlink>
        <a:srgbClr val="2419FF"/>
      </a:hlink>
      <a:folHlink>
        <a:srgbClr val="000000"/>
      </a:folHlink>
    </a:clrScheme>
    <a:fontScheme name="课件">
      <a:majorFont>
        <a:latin typeface="Arial"/>
        <a:ea typeface="黑体"/>
        <a:cs typeface=""/>
      </a:majorFont>
      <a:minorFont>
        <a:latin typeface="Times New Roman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/>
      <a:bodyPr rtlCol="0" anchor="ctr"/>
      <a:lstStyle>
        <a:defPPr algn="ctr">
          <a:defRPr sz="3200" b="1" dirty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none" rtlCol="0">
        <a:spAutoFit/>
      </a:bodyPr>
      <a:lstStyle>
        <a:defPPr>
          <a:defRPr sz="3200" b="1" dirty="0"/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高中教材课件</Template>
  <TotalTime>0</TotalTime>
  <Words>544</Words>
  <Application>Microsoft Macintosh PowerPoint</Application>
  <PresentationFormat>Widescreen</PresentationFormat>
  <Paragraphs>82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Times New Roman Bold Italic</vt:lpstr>
      <vt:lpstr>Arial</vt:lpstr>
      <vt:lpstr>Calibri</vt:lpstr>
      <vt:lpstr>高中教材课件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Qing NI</cp:lastModifiedBy>
  <cp:revision>11</cp:revision>
  <dcterms:created xsi:type="dcterms:W3CDTF">2025-03-25T08:41:23Z</dcterms:created>
  <dcterms:modified xsi:type="dcterms:W3CDTF">2026-07-23T01:13:25Z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364077F081903F666384DB6748B811B9_42</vt:lpwstr>
  </property>
  <property fmtid="{D5CDD505-2E9C-101B-9397-08002B2CF9AE}" pid="3" name="KSOProductBuildVer">
    <vt:lpwstr>1033-7.2.2.8955</vt:lpwstr>
  </property>
</Properties>
</file>