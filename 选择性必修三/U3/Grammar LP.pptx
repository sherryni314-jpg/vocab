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574" r:id="rId2"/>
    <p:sldId id="575" r:id="rId3"/>
    <p:sldId id="576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42415"/>
    <a:srgbClr val="F0E4B1"/>
    <a:srgbClr val="1CA800"/>
    <a:srgbClr val="D1C6AA"/>
    <a:srgbClr val="E6D5A2"/>
    <a:srgbClr val="845927"/>
    <a:srgbClr val="AE8447"/>
    <a:srgbClr val="FC9D23"/>
    <a:srgbClr val="B9C2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4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7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This was their fourth successive win.</a:t>
            </a:r>
          </a:p>
          <a:p>
            <a:r>
              <a:rPr lang="en-US" altLang="zh-CN"/>
              <a:t>They have won the award for the fourth year in succession.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有利于学习</a:t>
            </a:r>
          </a:p>
          <a:p>
            <a:r>
              <a:rPr lang="zh-CN" altLang="en-US"/>
              <a:t>促进加快经济发展</a:t>
            </a:r>
          </a:p>
          <a:p>
            <a:r>
              <a:rPr lang="zh-CN" altLang="en-US"/>
              <a:t>可用的设施</a:t>
            </a:r>
          </a:p>
          <a:p>
            <a:r>
              <a:rPr lang="en-US" altLang="en-US"/>
              <a:t>the availability of social housing varies widely in rural areas.</a:t>
            </a:r>
          </a:p>
          <a:p>
            <a:r>
              <a:rPr lang="zh-CN" altLang="en-US"/>
              <a:t>挑出来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我认为比尔的球打得特别好。</a:t>
            </a:r>
          </a:p>
          <a:p>
            <a:r>
              <a:rPr lang="zh-CN" altLang="en-US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在特殊情况下，也可能接受无正式文凭的学生。</a:t>
            </a:r>
            <a:endParaRPr lang="zh-CN" altLang="en-US" b="1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章节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主题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CF8D2-1FBB-4566-BAA4-CFEBD45A3143}" type="datetimeFigureOut">
              <a:rPr lang="zh-CN" altLang="en-US" smtClean="0">
                <a:solidFill>
                  <a:srgbClr val="000000"/>
                </a:solidFill>
              </a:rPr>
              <a:t>2026/7/23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3B083D-B8AC-4346-88EF-1027595E983A}" type="slidenum">
              <a:rPr lang="zh-CN" altLang="en-US" smtClean="0">
                <a:solidFill>
                  <a:srgbClr val="000000"/>
                </a:solidFill>
              </a:r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46075" y="0"/>
            <a:ext cx="11601450" cy="652526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3200" b="1"/>
              <a:t>文学批评</a:t>
            </a:r>
          </a:p>
          <a:p>
            <a:r>
              <a:rPr lang="en-US" altLang="zh-CN" sz="3200" b="1">
                <a:solidFill>
                  <a:srgbClr val="000000"/>
                </a:solidFill>
              </a:rPr>
              <a:t>a</a:t>
            </a:r>
            <a:r>
              <a:rPr lang="en-US" altLang="zh-CN" sz="3200" b="1"/>
              <a:t> </a:t>
            </a:r>
            <a:r>
              <a:rPr lang="en-US" altLang="zh-CN" sz="3200" b="1">
                <a:solidFill>
                  <a:srgbClr val="FF0000"/>
                </a:solidFill>
              </a:rPr>
              <a:t>literary </a:t>
            </a:r>
            <a:r>
              <a:rPr lang="en-US" altLang="zh-CN" sz="3200" b="1">
                <a:solidFill>
                  <a:srgbClr val="000000"/>
                </a:solidFill>
              </a:rPr>
              <a:t>man </a:t>
            </a:r>
            <a:r>
              <a:rPr lang="zh-CN" altLang="en-US" sz="3200" b="1"/>
              <a:t>文人</a:t>
            </a:r>
          </a:p>
          <a:p>
            <a:r>
              <a:rPr lang="zh-CN" altLang="en-US" sz="3200" b="1">
                <a:solidFill>
                  <a:srgbClr val="000000"/>
                </a:solidFill>
              </a:rPr>
              <a:t>文学作品</a:t>
            </a:r>
          </a:p>
          <a:p>
            <a:r>
              <a:rPr lang="en-US" altLang="zh-CN" sz="3200" b="1">
                <a:solidFill>
                  <a:srgbClr val="FF0000"/>
                </a:solidFill>
              </a:rPr>
              <a:t>literate adj. (illterate) </a:t>
            </a:r>
            <a:r>
              <a:rPr lang="en-US" altLang="zh-CN" sz="3200" b="1">
                <a:solidFill>
                  <a:schemeClr val="tx1"/>
                </a:solidFill>
              </a:rPr>
              <a:t>有读写能力的</a:t>
            </a:r>
            <a:r>
              <a:rPr lang="zh-CN" altLang="en-US" sz="3200" b="1">
                <a:solidFill>
                  <a:schemeClr val="tx1"/>
                </a:solidFill>
              </a:rPr>
              <a:t>，有文化的</a:t>
            </a:r>
          </a:p>
          <a:p>
            <a:r>
              <a:rPr lang="en-US" altLang="zh-CN" sz="3200" b="1">
                <a:solidFill>
                  <a:schemeClr val="tx1"/>
                </a:solidFill>
              </a:rPr>
              <a:t>basic </a:t>
            </a:r>
            <a:r>
              <a:rPr lang="en-US" altLang="zh-CN" sz="3200" b="1">
                <a:solidFill>
                  <a:srgbClr val="FF0000"/>
                </a:solidFill>
              </a:rPr>
              <a:t>literacy </a:t>
            </a:r>
            <a:r>
              <a:rPr lang="en-US" altLang="zh-CN" sz="3200" b="1">
                <a:solidFill>
                  <a:schemeClr val="tx1"/>
                </a:solidFill>
              </a:rPr>
              <a:t>skills </a:t>
            </a:r>
            <a:r>
              <a:rPr lang="zh-CN" altLang="en-US" sz="3200" b="1">
                <a:solidFill>
                  <a:schemeClr val="tx1"/>
                </a:solidFill>
              </a:rPr>
              <a:t>读写能力，文化水平</a:t>
            </a:r>
            <a:endParaRPr lang="zh-CN" altLang="en-US" sz="3200" b="1">
              <a:solidFill>
                <a:srgbClr val="FF0000"/>
              </a:solidFill>
            </a:endParaRPr>
          </a:p>
          <a:p>
            <a:r>
              <a:rPr lang="en-US" altLang="en-US" sz="3200" b="1">
                <a:solidFill>
                  <a:srgbClr val="FF0000"/>
                </a:solidFill>
              </a:rPr>
              <a:t>an extensive tour of </a:t>
            </a:r>
            <a:r>
              <a:rPr lang="zh-CN" altLang="en-US" sz="3200" b="1">
                <a:solidFill>
                  <a:schemeClr val="tx1"/>
                </a:solidFill>
              </a:rPr>
              <a:t>广泛游历</a:t>
            </a:r>
            <a:endParaRPr lang="en-US" altLang="en-US" sz="3200" b="1">
              <a:solidFill>
                <a:schemeClr val="tx1"/>
              </a:solidFill>
            </a:endParaRPr>
          </a:p>
          <a:p>
            <a:r>
              <a:rPr lang="en-US" altLang="zh-CN" sz="3200" b="1">
                <a:solidFill>
                  <a:srgbClr val="FF0000"/>
                </a:solidFill>
              </a:rPr>
              <a:t>extensive knowledge/research/damage</a:t>
            </a:r>
          </a:p>
          <a:p>
            <a:pPr lvl="0" indent="0" fontAlgn="auto"/>
            <a:r>
              <a:rPr lang="en-US" altLang="en-US" sz="3200" b="1">
                <a:solidFill>
                  <a:schemeClr val="tx1"/>
                </a:solidFill>
              </a:rPr>
              <a:t>an ________ lunch hour</a:t>
            </a:r>
          </a:p>
          <a:p>
            <a:pPr lvl="0" indent="0" fontAlgn="auto"/>
            <a:r>
              <a:rPr lang="en-US" altLang="en-US" sz="3200" b="1">
                <a:solidFill>
                  <a:schemeClr val="tx1"/>
                </a:solidFill>
              </a:rPr>
              <a:t>He's been granted an ________ of the contract.</a:t>
            </a:r>
          </a:p>
          <a:p>
            <a:r>
              <a:rPr lang="en-US" altLang="zh-CN" sz="3200" b="1">
                <a:solidFill>
                  <a:srgbClr val="FF0000"/>
                </a:solidFill>
              </a:rPr>
              <a:t>succeed sb as</a:t>
            </a:r>
            <a:r>
              <a:rPr lang="en-US" altLang="zh-CN" sz="3200" b="1"/>
              <a:t> </a:t>
            </a:r>
            <a:r>
              <a:rPr lang="zh-CN" altLang="en-US" sz="3200" b="1"/>
              <a:t>继任某人成为……</a:t>
            </a:r>
            <a:r>
              <a:rPr lang="en-US" altLang="zh-CN" sz="3200" b="1"/>
              <a:t> </a:t>
            </a:r>
            <a:r>
              <a:rPr lang="en-US" altLang="zh-CN" sz="3200" b="1" i="1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follow</a:t>
            </a:r>
          </a:p>
          <a:p>
            <a:r>
              <a:rPr lang="en-US" altLang="zh-CN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succeed to ... </a:t>
            </a:r>
            <a:r>
              <a:rPr lang="zh-CN" altLang="en-US" sz="3200" b="1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继任</a:t>
            </a:r>
            <a:r>
              <a:rPr lang="en-US" altLang="zh-CN" sz="3200" b="1" i="1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 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to the CEO</a:t>
            </a:r>
          </a:p>
          <a:p>
            <a:r>
              <a:rPr lang="en-US" altLang="zh-CN" sz="3200" b="1" i="1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successor</a:t>
            </a:r>
          </a:p>
          <a:p>
            <a:r>
              <a:rPr lang="en-US" altLang="zh-CN" sz="3200" b="1" i="1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predecessor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235835" y="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sym typeface="+mn-ea"/>
              </a:rPr>
              <a:t>literary </a:t>
            </a:r>
            <a:r>
              <a:rPr lang="en-US" altLang="zh-CN" sz="3200" b="1">
                <a:sym typeface="+mn-ea"/>
              </a:rPr>
              <a:t>criticism</a:t>
            </a:r>
            <a:endParaRPr lang="en-US" altLang="zh-CN" sz="3200" b="1" dirty="0"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235835" y="94297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sym typeface="+mn-ea"/>
              </a:rPr>
              <a:t>works of literature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894715" y="342900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>
                <a:solidFill>
                  <a:srgbClr val="FF0000"/>
                </a:solidFill>
                <a:sym typeface="+mn-ea"/>
              </a:rPr>
              <a:t>extended </a:t>
            </a:r>
            <a:endParaRPr lang="en-US" altLang="en-US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150360" y="386080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>
                <a:solidFill>
                  <a:srgbClr val="FF0000"/>
                </a:solidFill>
                <a:sym typeface="+mn-ea"/>
              </a:rPr>
              <a:t>extension </a:t>
            </a:r>
            <a:endParaRPr lang="en-US" altLang="en-US" sz="3200" b="1" dirty="0">
              <a:solidFill>
                <a:srgbClr val="FF0000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2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2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2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46075" y="0"/>
            <a:ext cx="11601450" cy="652526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sz="3200" b="1">
                <a:solidFill>
                  <a:srgbClr val="FF0000"/>
                </a:solidFill>
              </a:rPr>
              <a:t>facilitate</a:t>
            </a:r>
            <a:r>
              <a:rPr lang="en-US" altLang="zh-CN" sz="3200" b="1"/>
              <a:t>: </a:t>
            </a:r>
            <a:r>
              <a:rPr lang="en-US" altLang="zh-CN" sz="3200" b="1" i="1">
                <a:latin typeface="Times New Roman Bold Italic" panose="02020603050405020304" charset="0"/>
                <a:cs typeface="Times New Roman Bold Italic" panose="02020603050405020304" charset="0"/>
              </a:rPr>
              <a:t>make an action or a process easier</a:t>
            </a:r>
          </a:p>
          <a:p>
            <a:r>
              <a:rPr lang="en-US" altLang="zh-CN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facilitate 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learning / more rapid economic growth</a:t>
            </a:r>
          </a:p>
          <a:p>
            <a:r>
              <a:rPr lang="en-US" altLang="en-US" sz="3200" b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The teacher acts as a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facilitator 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of learning.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引导者</a:t>
            </a:r>
            <a:endParaRPr lang="en-US" altLang="zh-CN" sz="3200" b="1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alt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available facilities</a:t>
            </a:r>
          </a:p>
          <a:p>
            <a:r>
              <a:rPr lang="en-US" alt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be available for purchase 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可供购买</a:t>
            </a:r>
            <a:endParaRPr lang="en-US" altLang="en-US" sz="3200" b="1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altLang="en-US" sz="3200" b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She will be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available 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this afternoon.</a:t>
            </a:r>
          </a:p>
          <a:p>
            <a:r>
              <a:rPr lang="en-US" alt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availability		unavailable</a:t>
            </a:r>
            <a:endParaRPr lang="en-US" altLang="en-US" sz="3200" b="1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endParaRPr lang="en-US" altLang="en-US" sz="3200" b="1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alt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sort sth (into) 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把……整理分类成……</a:t>
            </a:r>
          </a:p>
          <a:p>
            <a:r>
              <a:rPr lang="en-US" altLang="en-US" sz="3200" b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Could you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sort out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 the toys that can be thrown away? 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区分出来</a:t>
            </a:r>
            <a:endParaRPr lang="en-US" altLang="en-US" sz="3200" b="1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altLang="en-US" sz="3200" b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It will all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sort itself out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 in the end. </a:t>
            </a:r>
            <a:endParaRPr lang="zh-CN" altLang="en-US" sz="3200" b="1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altLang="en-US" sz="3200" b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I couldn't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sort out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 what had happened.</a:t>
            </a:r>
          </a:p>
          <a:p>
            <a:r>
              <a:rPr lang="en-US" alt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waste sorting</a:t>
            </a:r>
            <a:endParaRPr lang="en-US" altLang="en-US" sz="3200" b="1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461125" y="486791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圆满解决，自行化解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7278370" y="533781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识别，确定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2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2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46075" y="0"/>
            <a:ext cx="11601450" cy="652526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exceptional 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r>
              <a:rPr lang="en-US" altLang="en-US" sz="3200" b="1" i="1">
                <a:solidFill>
                  <a:schemeClr val="bg2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outstanding, extraordinary, remarkable</a:t>
            </a:r>
          </a:p>
          <a:p>
            <a:r>
              <a:rPr lang="en-US" altLang="en-US" sz="3200" b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very unusual — (opp) </a:t>
            </a:r>
            <a:r>
              <a:rPr lang="en-US" altLang="en-US" sz="3200" b="1" i="1">
                <a:solidFill>
                  <a:schemeClr val="bg2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unexceptional</a:t>
            </a:r>
          </a:p>
          <a:p>
            <a:r>
              <a:rPr lang="en-US" altLang="en-US" sz="3200" b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This deadline will be extended only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in exceptional circumstances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.</a:t>
            </a:r>
          </a:p>
          <a:p>
            <a:r>
              <a:rPr lang="zh-CN" altLang="en-US" sz="3200" b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只有在特殊情况下才会延长最后期限。</a:t>
            </a:r>
          </a:p>
          <a:p>
            <a:endParaRPr lang="zh-CN" altLang="en-US" sz="3200" b="1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alt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exceptionally </a:t>
            </a:r>
            <a:r>
              <a:rPr lang="zh-CN" altLang="en-US" sz="3200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罕见地，非常地，例外地</a:t>
            </a:r>
            <a:endParaRPr lang="zh-CN" altLang="en-US" sz="3200" b="1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altLang="en-US" sz="3200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I thought Bill played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exceptionally </a:t>
            </a:r>
            <a:r>
              <a:rPr lang="en-US" altLang="en-US" sz="3200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well.</a:t>
            </a:r>
            <a:endParaRPr lang="zh-CN" altLang="en-US" sz="3200" b="1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alt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Exceptionally</a:t>
            </a:r>
            <a:r>
              <a:rPr lang="en-US" altLang="en-US" sz="3200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, students may be accepted without formal qualifications.</a:t>
            </a:r>
            <a:endParaRPr lang="en-US" altLang="en-US" sz="3200" b="1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endParaRPr lang="zh-CN" altLang="en-US" sz="3200" b="1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altLang="en-US" sz="3200" b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Nobody is perfect and I _____________________. 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不例外</a:t>
            </a:r>
            <a:endParaRPr lang="en-US" altLang="en-US" sz="3200" b="1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795520" y="477012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am no exception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heme/theme1.xml><?xml version="1.0" encoding="utf-8"?>
<a:theme xmlns:a="http://schemas.openxmlformats.org/drawingml/2006/main" name="高中教材课件">
  <a:themeElements>
    <a:clrScheme name="高中编辑部">
      <a:dk1>
        <a:srgbClr val="000000"/>
      </a:dk1>
      <a:lt1>
        <a:srgbClr val="FFFFFF"/>
      </a:lt1>
      <a:dk2>
        <a:srgbClr val="E4002A"/>
      </a:dk2>
      <a:lt2>
        <a:srgbClr val="2419FF"/>
      </a:lt2>
      <a:accent1>
        <a:srgbClr val="F8C083"/>
      </a:accent1>
      <a:accent2>
        <a:srgbClr val="2C99FE"/>
      </a:accent2>
      <a:accent3>
        <a:srgbClr val="C788EA"/>
      </a:accent3>
      <a:accent4>
        <a:srgbClr val="FE824B"/>
      </a:accent4>
      <a:accent5>
        <a:srgbClr val="F5DAE9"/>
      </a:accent5>
      <a:accent6>
        <a:srgbClr val="96DD9A"/>
      </a:accent6>
      <a:hlink>
        <a:srgbClr val="2419FF"/>
      </a:hlink>
      <a:folHlink>
        <a:srgbClr val="000000"/>
      </a:folHlink>
    </a:clrScheme>
    <a:fontScheme name="课件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3200" b="1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3200" b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</Words>
  <Application>Microsoft Macintosh PowerPoint</Application>
  <PresentationFormat>Widescreen</PresentationFormat>
  <Paragraphs>52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Times New Roman Bold</vt:lpstr>
      <vt:lpstr>Times New Roman Bold Italic</vt:lpstr>
      <vt:lpstr>Arial</vt:lpstr>
      <vt:lpstr>Calibri</vt:lpstr>
      <vt:lpstr>高中教材课件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Qing NI</cp:lastModifiedBy>
  <cp:revision>10</cp:revision>
  <dcterms:created xsi:type="dcterms:W3CDTF">2025-03-25T02:45:48Z</dcterms:created>
  <dcterms:modified xsi:type="dcterms:W3CDTF">2026-07-23T01:13:09Z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39F4D94AA1F42030F11DD967FCB58946_42</vt:lpwstr>
  </property>
  <property fmtid="{D5CDD505-2E9C-101B-9397-08002B2CF9AE}" pid="3" name="KSOProductBuildVer">
    <vt:lpwstr>1033-7.2.2.8955</vt:lpwstr>
  </property>
</Properties>
</file>