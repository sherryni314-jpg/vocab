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6.xml" ContentType="application/vnd.openxmlformats-officedocument.presentationml.tags+xml"/>
  <Override PartName="/ppt/notesSlides/notesSlide1.xml" ContentType="application/vnd.openxmlformats-officedocument.presentationml.notesSlide+xml"/>
  <Override PartName="/ppt/tags/tag17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69" r:id="rId2"/>
    <p:sldId id="313" r:id="rId3"/>
    <p:sldId id="303" r:id="rId4"/>
    <p:sldId id="314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D5063"/>
    <a:srgbClr val="F1E5D2"/>
    <a:srgbClr val="0F5946"/>
    <a:srgbClr val="B6A997"/>
    <a:srgbClr val="FBD53F"/>
    <a:srgbClr val="A14CE9"/>
    <a:srgbClr val="9900CC"/>
    <a:srgbClr val="CC00CC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93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96" y="1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come and live ...</a:t>
            </a:r>
          </a:p>
          <a:p>
            <a:r>
              <a:rPr lang="en-US"/>
              <a:t>leave your country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come and live ...</a:t>
            </a:r>
          </a:p>
          <a:p>
            <a:r>
              <a:rPr lang="en-US"/>
              <a:t>leave your country</a:t>
            </a:r>
          </a:p>
          <a:p>
            <a:r>
              <a:rPr lang="en-US"/>
              <a:t>food reserves </a:t>
            </a:r>
            <a:r>
              <a:rPr lang="zh-CN" altLang="en-US"/>
              <a:t>食物储备</a:t>
            </a:r>
            <a:endParaRPr lang="en-US"/>
          </a:p>
          <a:p>
            <a:r>
              <a:rPr lang="zh-CN" altLang="en-US"/>
              <a:t>保留意见</a:t>
            </a:r>
          </a:p>
          <a:p>
            <a:r>
              <a:rPr lang="en-US" altLang="zh-CN"/>
              <a:t>内向</a:t>
            </a:r>
            <a:r>
              <a:rPr lang="zh-CN" altLang="en-US"/>
              <a:t>，寡言少语</a:t>
            </a:r>
            <a:r>
              <a:rPr lang="en-US" altLang="zh-CN"/>
              <a:t> </a:t>
            </a:r>
            <a:r>
              <a:rPr lang="en-US" altLang="en-US"/>
              <a:t>He was unemotional, quite quiet, and reserved.</a:t>
            </a:r>
          </a:p>
          <a:p>
            <a:r>
              <a:rPr lang="zh-CN" altLang="en-US"/>
              <a:t>毫无保留</a:t>
            </a:r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an intense look</a:t>
            </a:r>
          </a:p>
          <a:p>
            <a:r>
              <a:rPr lang="zh-CN" altLang="en-US"/>
              <a:t>极端愤怒</a:t>
            </a:r>
            <a:r>
              <a:rPr lang="en-US" altLang="zh-CN"/>
              <a:t>/</a:t>
            </a:r>
            <a:r>
              <a:rPr lang="zh-CN" altLang="en-US"/>
              <a:t>极度疲惫</a:t>
            </a:r>
          </a:p>
          <a:p>
            <a:r>
              <a:rPr lang="zh-CN" altLang="en-US"/>
              <a:t>浓厚的兴趣</a:t>
            </a:r>
          </a:p>
          <a:p>
            <a:r>
              <a:rPr lang="en-US" altLang="zh-CN"/>
              <a:t>intense gaze</a:t>
            </a:r>
          </a:p>
          <a:p>
            <a:r>
              <a:rPr lang="zh-CN" altLang="en-US"/>
              <a:t>她非常讨厌他</a:t>
            </a:r>
          </a:p>
          <a:p>
            <a:r>
              <a:rPr lang="en-US" altLang="zh-CN"/>
              <a:t>violence intensified / intensify conflict, competition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en-US"/>
              <a:t>Her first defeat was an early lesson in humility.</a:t>
            </a:r>
          </a:p>
          <a:p>
            <a:r>
              <a:rPr lang="zh-CN" altLang="en-US"/>
              <a:t>地位低下的</a:t>
            </a:r>
            <a:endParaRPr lang="en-US" altLang="en-US"/>
          </a:p>
          <a:p>
            <a:r>
              <a:rPr lang="en-US" altLang="en-US"/>
              <a:t>a humble occupation = a low-status job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5.xml"/><Relationship Id="rId4" Type="http://schemas.openxmlformats.org/officeDocument/2006/relationships/tags" Target="../tags/tag1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9011586" y="280263"/>
            <a:ext cx="1941228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3800" b="1" dirty="0"/>
              <a:t>高中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章节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主题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objectives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mewo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Homewo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Homewo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Homewo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Homewo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49157" y="145915"/>
            <a:ext cx="11893686" cy="65661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b="1" dirty="0"/>
          </a:p>
        </p:txBody>
      </p:sp>
      <p:sp>
        <p:nvSpPr>
          <p:cNvPr id="5" name="矩形: 圆顶角 4"/>
          <p:cNvSpPr/>
          <p:nvPr/>
        </p:nvSpPr>
        <p:spPr>
          <a:xfrm rot="10800000">
            <a:off x="10497496" y="0"/>
            <a:ext cx="1021404" cy="350196"/>
          </a:xfrm>
          <a:prstGeom prst="round2SameRect">
            <a:avLst>
              <a:gd name="adj1" fmla="val 27778"/>
              <a:gd name="adj2" fmla="val 0"/>
            </a:avLst>
          </a:prstGeom>
          <a:solidFill>
            <a:srgbClr val="6BC3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10512765" y="-49912"/>
            <a:ext cx="10214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新教材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Homewo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/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sp>
        <p:nvSpPr>
          <p:cNvPr id="4" name="文本框 8"/>
          <p:cNvSpPr txBox="1"/>
          <p:nvPr userDrawn="1"/>
        </p:nvSpPr>
        <p:spPr>
          <a:xfrm>
            <a:off x="2034694" y="2142995"/>
            <a:ext cx="8109912" cy="186204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1500" b="1" dirty="0">
                <a:ln w="38100">
                  <a:solidFill>
                    <a:schemeClr val="bg1"/>
                  </a:solidFill>
                </a:ln>
                <a:solidFill>
                  <a:srgbClr val="FD7572"/>
                </a:solidFill>
                <a:effectLst>
                  <a:outerShdw dist="50800" dir="2700000" algn="tl" rotWithShape="0">
                    <a:srgbClr val="3AA3C6"/>
                  </a:outerShdw>
                </a:effectLst>
                <a:latin typeface="Eras Bold ITC" panose="020B0907030504020204" pitchFamily="34" charset="0"/>
              </a:rPr>
              <a:t>Thank you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6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330" y="1555115"/>
            <a:ext cx="5233035" cy="4608195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EFD9D74-47D9-4702-A33C-335B63B48DBF}" type="datetimeFigureOut">
              <a:rPr lang="zh-CN" altLang="en-US" smtClean="0"/>
              <a:t>2026/7/23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  <a:prstGeom prst="rect">
            <a:avLst/>
          </a:prstGeo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/>
          <p:nvPr/>
        </p:nvSpPr>
        <p:spPr>
          <a:xfrm>
            <a:off x="0" y="0"/>
            <a:ext cx="12192000" cy="3538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>
              <a:buNone/>
            </a:pPr>
            <a:r>
              <a:rPr lang="en-US" altLang="en-US" sz="3200" b="1">
                <a:latin typeface="Times New Roman Bold" panose="02020503050405090304" charset="0"/>
                <a:cs typeface="Times New Roman Bold" panose="02020503050405090304" charset="0"/>
              </a:rPr>
              <a:t>Brids </a:t>
            </a:r>
            <a:r>
              <a:rPr lang="en-US" alt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migrate south </a:t>
            </a:r>
            <a:r>
              <a:rPr lang="en-US" altLang="en-US" sz="3200" b="1">
                <a:latin typeface="Times New Roman Bold" panose="02020503050405090304" charset="0"/>
                <a:cs typeface="Times New Roman Bold" panose="02020503050405090304" charset="0"/>
              </a:rPr>
              <a:t>in winter. </a:t>
            </a:r>
            <a:r>
              <a:rPr lang="zh-CN" altLang="en-US" sz="3200" b="1">
                <a:latin typeface="Times New Roman Bold" panose="02020503050405090304" charset="0"/>
                <a:cs typeface="Times New Roman Bold" panose="02020503050405090304" charset="0"/>
              </a:rPr>
              <a:t>燕子在冬天迁徙到南方。</a:t>
            </a:r>
          </a:p>
          <a:p>
            <a:pPr indent="0">
              <a:buNone/>
            </a:pPr>
            <a:r>
              <a:rPr lang="en-US" altLang="en-US" sz="3200" b="1">
                <a:latin typeface="Times New Roman Bold" panose="02020503050405090304" charset="0"/>
                <a:cs typeface="Times New Roman Bold" panose="02020503050405090304" charset="0"/>
              </a:rPr>
              <a:t>Thousands migrated  _____ rural ____ urban areas in search of work.</a:t>
            </a:r>
          </a:p>
          <a:p>
            <a:pPr indent="0">
              <a:buNone/>
            </a:pPr>
            <a:r>
              <a:rPr lang="en-US" alt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immigrate from ... to... v. </a:t>
            </a:r>
            <a:r>
              <a:rPr lang="en-US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(</a:t>
            </a:r>
            <a:r>
              <a:rPr lang="zh-CN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从外地</a:t>
            </a:r>
            <a:r>
              <a:rPr lang="en-US" altLang="zh-CN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)</a:t>
            </a:r>
            <a:r>
              <a:rPr lang="zh-CN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移居</a:t>
            </a:r>
            <a:endParaRPr lang="zh-CN" altLang="en-US" sz="3200" b="1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indent="0">
              <a:buNone/>
            </a:pP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emigrate</a:t>
            </a:r>
            <a:r>
              <a:rPr lang="zh-CN" altLang="en-US" sz="3200" b="1">
                <a:latin typeface="Times New Roman Regular" panose="02020503050405090304" charset="0"/>
                <a:cs typeface="Times New Roman Regular" panose="02020503050405090304" charset="0"/>
              </a:rPr>
              <a:t> </a:t>
            </a: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from ... to ... v.</a:t>
            </a:r>
            <a:r>
              <a:rPr lang="en-US" altLang="zh-CN" sz="3200" b="1">
                <a:latin typeface="Times New Roman Regular" panose="02020503050405090304" charset="0"/>
                <a:cs typeface="Times New Roman Regular" panose="02020503050405090304" charset="0"/>
              </a:rPr>
              <a:t> </a:t>
            </a:r>
            <a:r>
              <a:rPr lang="zh-CN" altLang="en-US" sz="3200" b="1">
                <a:latin typeface="Times New Roman Regular" panose="02020503050405090304" charset="0"/>
                <a:cs typeface="Times New Roman Regular" panose="02020503050405090304" charset="0"/>
              </a:rPr>
              <a:t>移居国外</a:t>
            </a:r>
          </a:p>
          <a:p>
            <a:pPr indent="0">
              <a:buNone/>
            </a:pP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migration</a:t>
            </a:r>
          </a:p>
          <a:p>
            <a:pPr indent="0">
              <a:buNone/>
            </a:pP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immigrant </a:t>
            </a:r>
            <a:r>
              <a:rPr lang="zh-CN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移民</a:t>
            </a:r>
            <a:endParaRPr lang="en-US" altLang="en-US" sz="3200" b="1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3808730" y="446405"/>
            <a:ext cx="529780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from               to</a:t>
            </a:r>
            <a:endParaRPr lang="en-US" altLang="en-US" sz="3200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/>
          <p:nvPr/>
        </p:nvSpPr>
        <p:spPr>
          <a:xfrm>
            <a:off x="0" y="0"/>
            <a:ext cx="12192000" cy="4523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>
              <a:buNone/>
            </a:pPr>
            <a:r>
              <a:rPr lang="en-US" altLang="en-US" sz="3200" b="1">
                <a:latin typeface="Times New Roman Bold" panose="02020503050405090304" charset="0"/>
                <a:cs typeface="Times New Roman Bold" panose="02020503050405090304" charset="0"/>
              </a:rPr>
              <a:t>I'd prefer to </a:t>
            </a:r>
            <a:r>
              <a:rPr lang="en-US" alt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reserve </a:t>
            </a:r>
            <a:r>
              <a:rPr lang="en-US" altLang="en-US" sz="3200" b="1">
                <a:latin typeface="Times New Roman Bold" panose="02020503050405090304" charset="0"/>
                <a:cs typeface="Times New Roman Bold" panose="02020503050405090304" charset="0"/>
              </a:rPr>
              <a:t>my judgement  until I know all the facts.</a:t>
            </a:r>
          </a:p>
          <a:p>
            <a:pPr indent="0"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Reserve</a:t>
            </a: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  <a:sym typeface="+mn-ea"/>
              </a:rPr>
              <a:t> your strength for the climb.</a:t>
            </a:r>
            <a:endParaRPr lang="en-US" altLang="en-US" sz="3200" b="1">
              <a:latin typeface="Times New Roman Bold" panose="02020503050405090304" charset="0"/>
              <a:cs typeface="Times New Roman Bold" panose="02020503050405090304" charset="0"/>
            </a:endParaRPr>
          </a:p>
          <a:p>
            <a:pPr indent="0">
              <a:buNone/>
            </a:pPr>
            <a:r>
              <a:rPr lang="en-US" alt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All rights reserved.</a:t>
            </a:r>
          </a:p>
          <a:p>
            <a:pPr indent="0">
              <a:buNone/>
            </a:pPr>
            <a:r>
              <a:rPr lang="en-US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She found it difficult to make friends because of her </a:t>
            </a:r>
            <a:r>
              <a:rPr lang="en-US" alt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natural reserve</a:t>
            </a:r>
            <a:r>
              <a:rPr lang="en-US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.</a:t>
            </a:r>
            <a:endParaRPr lang="en-US" altLang="en-US" sz="3200" b="1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indent="0">
              <a:buNone/>
            </a:pPr>
            <a:r>
              <a:rPr lang="en-US" altLang="en-US" sz="3200" b="1">
                <a:latin typeface="Times New Roman Bold" panose="02020503050405090304" charset="0"/>
                <a:cs typeface="Times New Roman Bold" panose="02020503050405090304" charset="0"/>
              </a:rPr>
              <a:t>He works on a wildlife </a:t>
            </a:r>
            <a:r>
              <a:rPr lang="en-US" alt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reserve </a:t>
            </a:r>
            <a:r>
              <a:rPr lang="zh-CN" altLang="en-US" sz="3200" b="1">
                <a:latin typeface="Times New Roman Regular" panose="02020503050405090304" charset="0"/>
                <a:cs typeface="Times New Roman Regular" panose="02020503050405090304" charset="0"/>
              </a:rPr>
              <a:t>野生动植物保护区</a:t>
            </a:r>
          </a:p>
          <a:p>
            <a:pPr indent="0">
              <a:buNone/>
            </a:pPr>
            <a:r>
              <a:rPr lang="en-US" altLang="en-US" sz="3200" b="1">
                <a:latin typeface="Times New Roman Bold" panose="02020503050405090304" charset="0"/>
                <a:cs typeface="Times New Roman Bold" panose="02020503050405090304" charset="0"/>
              </a:rPr>
              <a:t>large oil </a:t>
            </a:r>
            <a:r>
              <a:rPr lang="en-US" alt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reserve</a:t>
            </a:r>
            <a:r>
              <a:rPr lang="en-US" altLang="en-US" sz="3200" b="1" u="sng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s</a:t>
            </a:r>
            <a:endParaRPr lang="en-US" altLang="en-US" sz="3200" b="1">
              <a:latin typeface="Times New Roman Bold" panose="02020503050405090304" charset="0"/>
              <a:cs typeface="Times New Roman Bold" panose="02020503050405090304" charset="0"/>
            </a:endParaRPr>
          </a:p>
          <a:p>
            <a:pPr indent="0">
              <a:buNone/>
            </a:pPr>
            <a:r>
              <a:rPr lang="en-US" altLang="en-US" sz="3200" b="1">
                <a:latin typeface="Times New Roman Bold" panose="02020503050405090304" charset="0"/>
                <a:cs typeface="Times New Roman Bold" panose="02020503050405090304" charset="0"/>
              </a:rPr>
              <a:t>She trusted him _________________.</a:t>
            </a:r>
          </a:p>
          <a:p>
            <a:pPr indent="0">
              <a:buNone/>
            </a:pPr>
            <a:r>
              <a:rPr lang="en-US" altLang="en-US" sz="3200" b="1">
                <a:latin typeface="Times New Roman Bold" panose="02020503050405090304" charset="0"/>
                <a:cs typeface="Times New Roman Bold" panose="02020503050405090304" charset="0"/>
              </a:rPr>
              <a:t>keep some money </a:t>
            </a:r>
            <a:r>
              <a:rPr lang="en-US" alt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in reserve </a:t>
            </a:r>
            <a:r>
              <a:rPr lang="zh-CN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备用</a:t>
            </a:r>
          </a:p>
          <a:p>
            <a:pPr indent="0">
              <a:buNone/>
            </a:pPr>
            <a:r>
              <a:rPr lang="en-US" altLang="en-US" sz="3200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make a ___________</a:t>
            </a:r>
            <a:endParaRPr lang="zh-CN" altLang="en-US" sz="3200" b="1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3147060" y="2926398"/>
            <a:ext cx="5080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alt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without reserve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1477010" y="3939223"/>
            <a:ext cx="5080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alt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reservation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3737610" y="965835"/>
            <a:ext cx="61087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200" b="1" i="1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reserve the right to do sth</a:t>
            </a:r>
            <a:endParaRPr lang="en-US" altLang="en-US" sz="3200" b="1" i="1" dirty="0">
              <a:solidFill>
                <a:srgbClr val="FF0000"/>
              </a:solidFill>
              <a:latin typeface="Times New Roman Bold Italic" panose="02020503050405090304" charset="0"/>
              <a:cs typeface="Times New Roman Bold Italic" panose="02020503050405090304" charset="0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8" grpId="0"/>
      <p:bldP spid="8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27000" y="48260"/>
            <a:ext cx="12065000" cy="6587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charset="0"/>
                <a:cs typeface="Times New Roman" panose="02020503050405090304" charset="0"/>
              </a:rPr>
              <a:t>在巨大的压力下，她几乎崩溃。</a:t>
            </a:r>
          </a:p>
          <a:p>
            <a:pPr>
              <a:lnSpc>
                <a:spcPct val="120000"/>
              </a:lnSpc>
            </a:pPr>
            <a:r>
              <a:rPr lang="en-US" alt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Under intense pressure, she was on the verge of breaking down/collapse.</a:t>
            </a:r>
            <a:endParaRPr lang="zh-CN" altLang="en-US" sz="3200" b="1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intense competition</a:t>
            </a:r>
            <a:endParaRPr lang="en-US" altLang="en-US" sz="3200" b="1" dirty="0">
              <a:latin typeface="Times New Roman" panose="02020503050405090304" charset="0"/>
              <a:cs typeface="Times New Roman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He was sweating from the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intense heat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. (cold/darkness/light/pain)</a:t>
            </a: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intense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pleasure/anger/frustration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恐惧如此强烈以至于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... So _____ ____ ____ ____ that ...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intense </a:t>
            </a:r>
            <a:r>
              <a:rPr lang="en-US" altLang="en-US" sz="3200" b="1" dirty="0">
                <a:latin typeface="Times New Roman" panose="02020503050405090304" charset="0"/>
                <a:cs typeface="Times New Roman" panose="02020503050405090304" charset="0"/>
              </a:rPr>
              <a:t>interest 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an intense look</a:t>
            </a:r>
            <a:r>
              <a:rPr lang="en-US" altLang="en-US" sz="3200" b="1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zh-CN" altLang="en-US" sz="3200" b="1" dirty="0">
                <a:latin typeface="Times New Roman" panose="02020503050405090304" charset="0"/>
                <a:cs typeface="Times New Roman" panose="02020503050405090304" charset="0"/>
              </a:rPr>
              <a:t>热切的神情</a:t>
            </a:r>
            <a:endParaRPr lang="en-US" altLang="en-US" sz="3200" b="1" dirty="0">
              <a:latin typeface="Times New Roman" panose="02020503050405090304" charset="0"/>
              <a:cs typeface="Times New Roman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charset="0"/>
                <a:cs typeface="Times New Roman" panose="02020503050405090304" charset="0"/>
              </a:rPr>
              <a:t>She disliked him _______.</a:t>
            </a: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intensity, intensify (vt./vi.) </a:t>
            </a:r>
            <a:endParaRPr lang="en-US" altLang="en-US" sz="3200" b="1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3148330" y="534035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intensely 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4784725" y="358013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intense  was  the  fear 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4" grpId="1"/>
      <p:bldP spid="6" grpId="0"/>
      <p:bldP spid="6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27000" y="48260"/>
            <a:ext cx="12065000" cy="54063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can’t help doing sth/ can’t help but do sth </a:t>
            </a:r>
            <a:r>
              <a:rPr lang="zh-CN" altLang="en-US" sz="3200" b="1" dirty="0">
                <a:latin typeface="Times New Roman" panose="02020503050405090304" charset="0"/>
                <a:cs typeface="Times New Roman" panose="02020503050405090304" charset="0"/>
                <a:sym typeface="+mn-ea"/>
              </a:rPr>
              <a:t>忍不住做某事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humble adj. / v.</a:t>
            </a: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in my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humble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opinion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依我拙见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He came from a fairly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humble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, poor background.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a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humble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farmhouse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小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农舍</a:t>
            </a: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“…” She said _______.</a:t>
            </a: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He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was humbled by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her generosity.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他的大度让自己觉得很渺小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put sb to shame/be dwarfed by...</a:t>
            </a:r>
            <a:endParaRPr lang="en-US" altLang="en-US" sz="3200" b="1" dirty="0">
              <a:solidFill>
                <a:srgbClr val="0000FF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humbling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令人惭愧的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3131185" y="69786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modest adj.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5741035" y="69786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humility n.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689340" y="177863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be of humble origins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2593340" y="300926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humbly 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5" grpId="0"/>
      <p:bldP spid="5" grpId="1"/>
      <p:bldP spid="6" grpId="0"/>
      <p:bldP spid="6" grpId="1"/>
      <p:bldP spid="4" grpId="0"/>
      <p:bldP spid="4" grpId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heme/theme1.xml><?xml version="1.0" encoding="utf-8"?>
<a:theme xmlns:a="http://schemas.openxmlformats.org/drawingml/2006/main" name="高中课件">
  <a:themeElements>
    <a:clrScheme name="高中编辑部">
      <a:dk1>
        <a:srgbClr val="000000"/>
      </a:dk1>
      <a:lt1>
        <a:srgbClr val="FFFFFF"/>
      </a:lt1>
      <a:dk2>
        <a:srgbClr val="E4002A"/>
      </a:dk2>
      <a:lt2>
        <a:srgbClr val="2419FF"/>
      </a:lt2>
      <a:accent1>
        <a:srgbClr val="F8C083"/>
      </a:accent1>
      <a:accent2>
        <a:srgbClr val="2C99FE"/>
      </a:accent2>
      <a:accent3>
        <a:srgbClr val="C788EA"/>
      </a:accent3>
      <a:accent4>
        <a:srgbClr val="FE824B"/>
      </a:accent4>
      <a:accent5>
        <a:srgbClr val="F5DAE9"/>
      </a:accent5>
      <a:accent6>
        <a:srgbClr val="96DD9A"/>
      </a:accent6>
      <a:hlink>
        <a:srgbClr val="2419FF"/>
      </a:hlink>
      <a:folHlink>
        <a:srgbClr val="000000"/>
      </a:folHlink>
    </a:clrScheme>
    <a:fontScheme name="课件">
      <a:majorFont>
        <a:latin typeface="Arial"/>
        <a:ea typeface="黑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sz="3200" b="1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sz="3200" b="1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380</Words>
  <Application>Microsoft Macintosh PowerPoint</Application>
  <PresentationFormat>Widescreen</PresentationFormat>
  <Paragraphs>61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3" baseType="lpstr">
      <vt:lpstr>黑体</vt:lpstr>
      <vt:lpstr>Times New Roman Bold</vt:lpstr>
      <vt:lpstr>Times New Roman Bold Italic</vt:lpstr>
      <vt:lpstr>Times New Roman Regular</vt:lpstr>
      <vt:lpstr>Arial</vt:lpstr>
      <vt:lpstr>Calibri</vt:lpstr>
      <vt:lpstr>Eras Bold ITC</vt:lpstr>
      <vt:lpstr>Times New Roman</vt:lpstr>
      <vt:lpstr>高中课件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Qing NI</cp:lastModifiedBy>
  <cp:revision>10</cp:revision>
  <dcterms:created xsi:type="dcterms:W3CDTF">2025-04-13T07:59:35Z</dcterms:created>
  <dcterms:modified xsi:type="dcterms:W3CDTF">2026-07-23T01:15:14Z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1033-7.3.1.8967</vt:lpwstr>
  </property>
  <property fmtid="{D5CDD505-2E9C-101B-9397-08002B2CF9AE}" pid="3" name="ICV">
    <vt:lpwstr>F377B53489914DA0B74D265F776DD332</vt:lpwstr>
  </property>
</Properties>
</file>