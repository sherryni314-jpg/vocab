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4" r:id="rId2"/>
    <p:sldId id="357" r:id="rId3"/>
    <p:sldId id="341" r:id="rId4"/>
    <p:sldId id="358" r:id="rId5"/>
    <p:sldId id="3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D5063"/>
    <a:srgbClr val="FF901F"/>
    <a:srgbClr val="3333FF"/>
    <a:srgbClr val="FDD73E"/>
    <a:srgbClr val="3CB525"/>
    <a:srgbClr val="FF9900"/>
    <a:srgbClr val="FFFF00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8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2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8DF8D-E97D-4910-B769-F140ECFED23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B8ADF-9A56-4136-9865-FFD385E3E2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拆卸引擎</a:t>
            </a:r>
          </a:p>
          <a:p>
            <a:r>
              <a:rPr lang="zh-CN" altLang="en-US"/>
              <a:t>破裂</a:t>
            </a:r>
          </a:p>
          <a:p>
            <a:r>
              <a:rPr lang="zh-CN" altLang="en-US"/>
              <a:t>分出区别</a:t>
            </a:r>
          </a:p>
          <a:p>
            <a:r>
              <a:rPr lang="zh-CN" altLang="en-US"/>
              <a:t>万念俱灰</a:t>
            </a:r>
          </a:p>
          <a:p>
            <a:r>
              <a:rPr lang="zh-CN" altLang="en-US"/>
              <a:t>种族冲突使……四分五裂</a:t>
            </a:r>
          </a:p>
          <a:p>
            <a:r>
              <a:rPr lang="zh-CN" altLang="en-US"/>
              <a:t>让我感到痛心</a:t>
            </a:r>
          </a:p>
          <a:p>
            <a:r>
              <a:rPr lang="en-US" altLang="zh-CN"/>
              <a:t>incident </a:t>
            </a:r>
            <a:r>
              <a:rPr lang="zh-CN" altLang="en-US"/>
              <a:t>小插曲，政治事变</a:t>
            </a:r>
            <a:r>
              <a:rPr lang="en-US" altLang="zh-CN"/>
              <a:t> accident </a:t>
            </a:r>
            <a:r>
              <a:rPr lang="zh-CN" altLang="en-US"/>
              <a:t>意外发生的不幸事件</a:t>
            </a:r>
            <a:r>
              <a:rPr lang="en-US" altLang="zh-CN"/>
              <a:t> event </a:t>
            </a:r>
            <a:r>
              <a:rPr lang="zh-CN" altLang="en-US"/>
              <a:t>重大事件，体育赛事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power cut</a:t>
            </a:r>
          </a:p>
          <a:p>
            <a:r>
              <a:rPr lang="zh-CN" altLang="en-US"/>
              <a:t>打岔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make a motion to close the door</a:t>
            </a:r>
          </a:p>
          <a:p>
            <a:r>
              <a:rPr lang="en-US" altLang="en-US"/>
              <a:t>motioned for/to me to come over /  gesture to sb (to do …);</a:t>
            </a:r>
          </a:p>
          <a:p>
            <a:r>
              <a:rPr lang="en-US" altLang="en-US"/>
              <a:t>The event was voted a great success.</a:t>
            </a:r>
          </a:p>
          <a:p>
            <a:r>
              <a:rPr lang="zh-CN" altLang="en-US"/>
              <a:t>大家认为这项活动很成功。</a:t>
            </a:r>
            <a:r>
              <a:rPr lang="en-US" altLang="zh-CN"/>
              <a:t>be voted + n.</a:t>
            </a:r>
          </a:p>
          <a:p>
            <a:r>
              <a:rPr lang="en-US" altLang="zh-CN"/>
              <a:t>He was voted most promising new director.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ea typeface="宋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11586" y="280263"/>
            <a:ext cx="19412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/>
              <a:t>高中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9157" y="145915"/>
            <a:ext cx="11893686" cy="6566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5" name="矩形: 圆顶角 4"/>
          <p:cNvSpPr/>
          <p:nvPr/>
        </p:nvSpPr>
        <p:spPr>
          <a:xfrm rot="10800000">
            <a:off x="10497496" y="0"/>
            <a:ext cx="1021404" cy="350196"/>
          </a:xfrm>
          <a:prstGeom prst="round2SameRect">
            <a:avLst>
              <a:gd name="adj1" fmla="val 27778"/>
              <a:gd name="adj2" fmla="val 0"/>
            </a:avLst>
          </a:prstGeom>
          <a:solidFill>
            <a:srgbClr val="6B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0512765" y="-49912"/>
            <a:ext cx="1021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新教材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文本框 8"/>
          <p:cNvSpPr txBox="1"/>
          <p:nvPr userDrawn="1"/>
        </p:nvSpPr>
        <p:spPr>
          <a:xfrm>
            <a:off x="2034694" y="2142995"/>
            <a:ext cx="8109912" cy="1862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500" b="1" dirty="0">
                <a:ln w="38100">
                  <a:solidFill>
                    <a:schemeClr val="bg1"/>
                  </a:solidFill>
                </a:ln>
                <a:solidFill>
                  <a:srgbClr val="FD7572"/>
                </a:solidFill>
                <a:effectLst>
                  <a:outerShdw dist="50800" dir="2700000" algn="tl" rotWithShape="0">
                    <a:srgbClr val="3AA3C6"/>
                  </a:outerShdw>
                </a:effectLst>
                <a:latin typeface="Eras Bold ITC" panose="020B0907030504020204" pitchFamily="34" charset="0"/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宋体" pitchFamily="2" charset="-122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20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divisions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between rich and poor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social/class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divisions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社会分化；阶级对立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division of labour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between the sexes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男女分工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把学生分成不同的年龄组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the _______ ___ the students ____ age groups / _________ students _____ age groups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company’s sales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division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销售部门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30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divided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by 6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306060" y="17716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division  of                         into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487170" y="23552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divide (up)                   into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41425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1. The loss was a tragedy for all _________. 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2. The book is primarily _______ _______ Soviet-American relations during the Cold War.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3. He asked several questions _________ the future of the company.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4. _______ _______ me is our lack of preparation for the change.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5. The President is deeply _______ _______ this issue.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6. We all show ______ ____ her safety as she hasn’t been seen for 4 days.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7. The government’s ______________ ______ is to reduce crime.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unconcerned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as far as … is concerned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581015" y="495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concerned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318635" y="6330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concerned with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090795" y="17532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concerning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13715" y="23742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What   concerns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610735" y="29724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concerned  about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642870" y="35585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concern for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749675" y="46913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major/primary concern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" grpId="0"/>
      <p:bldP spid="2" grpId="1"/>
      <p:bldP spid="4" grpId="0"/>
      <p:bldP spid="4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3825" y="120650"/>
            <a:ext cx="12068175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take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engine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apart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whole thing just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came apart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in my hands.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When his wife died, his world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fell apart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I can’t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tell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twins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apart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.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She keeps herself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apart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from others.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Their birthdays are only three days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apart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Racial strife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tearing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our country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apart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It tears me apart to think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I might have hurt her feelings.</a:t>
            </a:r>
          </a:p>
          <a:p>
            <a:pPr indent="0" fontAlgn="auto">
              <a:lnSpc>
                <a:spcPct val="110000"/>
              </a:lnSpc>
            </a:pP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risks necessarily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incidental to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a fireman's job.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伴随而来的，不可避免的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I didn't ask you to come.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Incidentally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, why have you come?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顺便说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709025" y="6934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into pieces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成碎片</a:t>
            </a:r>
          </a:p>
        </p:txBody>
      </p:sp>
      <p:sp>
        <p:nvSpPr>
          <p:cNvPr id="2" name="Right Brace 1"/>
          <p:cNvSpPr/>
          <p:nvPr/>
        </p:nvSpPr>
        <p:spPr>
          <a:xfrm>
            <a:off x="8298180" y="225425"/>
            <a:ext cx="184785" cy="1519555"/>
          </a:xfrm>
          <a:prstGeom prst="rightBrace">
            <a:avLst>
              <a:gd name="adj1" fmla="val 141580"/>
              <a:gd name="adj2" fmla="val 50000"/>
            </a:avLst>
          </a:prstGeom>
          <a:noFill/>
          <a:ln w="2857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7729855" y="2012315"/>
            <a:ext cx="184785" cy="1397000"/>
          </a:xfrm>
          <a:prstGeom prst="rightBrace">
            <a:avLst>
              <a:gd name="adj1" fmla="val 141580"/>
              <a:gd name="adj2" fmla="val 50000"/>
            </a:avLst>
          </a:prstGeom>
          <a:noFill/>
          <a:ln w="2857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8135620" y="24396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separately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分离，分开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" grpId="0" animBg="1"/>
      <p:bldP spid="2" grpId="1" animBg="1"/>
      <p:bldP spid="6" grpId="0" bldLvl="0" animBg="1"/>
      <p:bldP spid="6" grpId="1" animBg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3825" y="120650"/>
            <a:ext cx="12068175" cy="614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two groups agreed to ________ _______  ____ach other ____ the planning of the project.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cooperative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合作的；齐心协力的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en-US" sz="3200" b="1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collaborative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cooperation with sb in doing sth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an ___________ to the power supply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game ______________ (interrupt) several times by rain.</a:t>
            </a:r>
            <a:r>
              <a:rPr lang="en-US" altLang="zh-CN" sz="3200" b="1" dirty="0">
                <a:latin typeface="Times New Roman" panose="02020503050405090304" charset="0"/>
                <a:sym typeface="+mn-ea"/>
              </a:rPr>
              <a:t> _____________ (interrupt) are one of the worst things to deal with while you’re trying to get work done.</a:t>
            </a:r>
            <a:endParaRPr lang="en-US" altLang="zh-CN" sz="3200" b="1" dirty="0">
              <a:latin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sym typeface="+mn-ea"/>
              </a:rPr>
              <a:t>She tried to explain what had happened but he kept ___________ (interrupt) her.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She spoke for 20 minutes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without interruption.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50740" y="120650"/>
            <a:ext cx="80429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cooperate (closely) with	              on/in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81685" y="2214880"/>
            <a:ext cx="26517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interruption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074545" y="2798445"/>
            <a:ext cx="80429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was interrupted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8129270" y="58686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constantly, unceasingly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23825" y="3364865"/>
            <a:ext cx="26517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Interruptions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9353705" y="4407386"/>
            <a:ext cx="2348720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interrupting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8" grpId="0"/>
      <p:bldP spid="8" grpId="1"/>
      <p:bldP spid="10" grpId="0"/>
      <p:bldP spid="10" grpId="1"/>
      <p:bldP spid="11" grpId="0"/>
      <p:bldP spid="11" grpId="1"/>
      <p:bldP spid="1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3680" y="146050"/>
            <a:ext cx="11800205" cy="6492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/>
              <a:t>Newton’s laws of </a:t>
            </a:r>
            <a:r>
              <a:rPr lang="en-US" altLang="zh-CN" sz="3200" b="1">
                <a:solidFill>
                  <a:srgbClr val="FF0000"/>
                </a:solidFill>
              </a:rPr>
              <a:t>motion</a:t>
            </a:r>
            <a:endParaRPr lang="en-US" altLang="zh-CN" sz="3200" b="1">
              <a:solidFill>
                <a:srgbClr val="0000FF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put forward/propose a motion to do sth </a:t>
            </a:r>
            <a:r>
              <a:rPr lang="zh-CN" altLang="en-US" sz="3200" b="1">
                <a:solidFill>
                  <a:schemeClr val="tx1"/>
                </a:solidFill>
              </a:rPr>
              <a:t>提出一项动议</a:t>
            </a:r>
            <a:endParaRPr lang="en-US" altLang="zh-CN" sz="3200" b="1">
              <a:solidFill>
                <a:srgbClr val="FF0000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adopt a motion</a:t>
            </a:r>
          </a:p>
          <a:p>
            <a:r>
              <a:rPr lang="en-US" altLang="en-US" sz="3200" b="1">
                <a:solidFill>
                  <a:schemeClr val="tx1"/>
                </a:solidFill>
              </a:rPr>
              <a:t>At a single </a:t>
            </a:r>
            <a:r>
              <a:rPr lang="en-US" altLang="en-US" sz="3200" b="1">
                <a:solidFill>
                  <a:srgbClr val="FF0000"/>
                </a:solidFill>
              </a:rPr>
              <a:t>motion </a:t>
            </a:r>
            <a:r>
              <a:rPr lang="en-US" altLang="en-US" sz="3200" b="1">
                <a:solidFill>
                  <a:schemeClr val="tx1"/>
                </a:solidFill>
              </a:rPr>
              <a:t>of his hand, the room fell silent.</a:t>
            </a:r>
          </a:p>
          <a:p>
            <a:r>
              <a:rPr lang="zh-CN" altLang="en-US" sz="3200" b="1">
                <a:solidFill>
                  <a:schemeClr val="tx1"/>
                </a:solidFill>
              </a:rPr>
              <a:t>他手一挥，屋子里便安静了下来。</a:t>
            </a:r>
            <a:r>
              <a:rPr lang="en-US" altLang="zh-CN" sz="3200" b="1" i="1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gesture</a:t>
            </a: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sat __________ with horror.</a:t>
            </a:r>
            <a:r>
              <a:rPr lang="en-US" altLang="zh-CN" sz="3200" b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她吓得一动不动地坐着。</a:t>
            </a:r>
          </a:p>
          <a:p>
            <a:r>
              <a:rPr lang="zh-CN" altLang="en-US" sz="3200" b="1"/>
              <a:t>这项动议有</a:t>
            </a:r>
            <a:r>
              <a:rPr lang="en-US" altLang="zh-CN" sz="3200" b="1"/>
              <a:t>21</a:t>
            </a:r>
            <a:r>
              <a:rPr lang="zh-CN" altLang="en-US" sz="3200" b="1"/>
              <a:t>票赞成，</a:t>
            </a:r>
            <a:r>
              <a:rPr lang="en-US" altLang="zh-CN" sz="3200" b="1"/>
              <a:t>17</a:t>
            </a:r>
            <a:r>
              <a:rPr lang="zh-CN" altLang="en-US" sz="3200" b="1"/>
              <a:t>票反对，</a:t>
            </a:r>
            <a:r>
              <a:rPr lang="en-US" altLang="zh-CN" sz="3200" b="1"/>
              <a:t>2</a:t>
            </a:r>
            <a:r>
              <a:rPr lang="zh-CN" altLang="en-US" sz="3200" b="1"/>
              <a:t>票弃权。</a:t>
            </a:r>
            <a:r>
              <a:rPr lang="en-US" altLang="zh-CN" sz="3200" b="1"/>
              <a:t> </a:t>
            </a:r>
          </a:p>
          <a:p>
            <a:r>
              <a:rPr lang="en-US" altLang="zh-CN" sz="3200" b="1"/>
              <a:t>There were 21 _____ ___ and 17 ______ the ______, with 2 abstentions. 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vote for(in favor of)…/ against…/ on sth</a:t>
            </a:r>
          </a:p>
          <a:p>
            <a:r>
              <a:rPr lang="en-US" altLang="en-US" sz="3200" b="1">
                <a:solidFill>
                  <a:schemeClr val="tx1"/>
                </a:solidFill>
              </a:rPr>
              <a:t>The event </a:t>
            </a:r>
            <a:r>
              <a:rPr lang="en-US" altLang="en-US" sz="3200" b="1">
                <a:solidFill>
                  <a:srgbClr val="FF0000"/>
                </a:solidFill>
              </a:rPr>
              <a:t>was voted a great success.</a:t>
            </a:r>
            <a:r>
              <a:rPr lang="en-US" altLang="en-US" sz="3200" b="1">
                <a:solidFill>
                  <a:schemeClr val="tx1"/>
                </a:solidFill>
              </a:rPr>
              <a:t> </a:t>
            </a:r>
          </a:p>
          <a:p>
            <a:r>
              <a:rPr lang="en-US" altLang="zh-CN" sz="3200" b="1"/>
              <a:t>I </a:t>
            </a:r>
            <a:r>
              <a:rPr lang="en-US" altLang="zh-CN" sz="3200" b="1">
                <a:solidFill>
                  <a:srgbClr val="FF0000"/>
                </a:solidFill>
              </a:rPr>
              <a:t>vote (that)</a:t>
            </a:r>
            <a:r>
              <a:rPr lang="en-US" altLang="zh-CN" sz="3200" b="1"/>
              <a:t> we go out to eat.  </a:t>
            </a:r>
            <a:r>
              <a:rPr lang="zh-CN" altLang="en-US" sz="3200" b="1"/>
              <a:t>我提议我们到外面去吃饭。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voter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32585" y="2553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motionless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34640" y="3521075"/>
            <a:ext cx="65862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votes   for              against       motion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Macintosh PowerPoint</Application>
  <PresentationFormat>Widescreen</PresentationFormat>
  <Paragraphs>78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宋体</vt:lpstr>
      <vt:lpstr>Times New Roman Bold</vt:lpstr>
      <vt:lpstr>Times New Roman Bold Italic</vt:lpstr>
      <vt:lpstr>Arial</vt:lpstr>
      <vt:lpstr>Calibri</vt:lpstr>
      <vt:lpstr>Eras Bold ITC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7</cp:revision>
  <dcterms:created xsi:type="dcterms:W3CDTF">2025-04-10T02:57:55Z</dcterms:created>
  <dcterms:modified xsi:type="dcterms:W3CDTF">2026-07-23T01:15:00Z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1033-7.2.2.8955</vt:lpwstr>
  </property>
  <property fmtid="{D5CDD505-2E9C-101B-9397-08002B2CF9AE}" pid="3" name="ICV">
    <vt:lpwstr>E0A6E874892F467382E9511E8A52F26D</vt:lpwstr>
  </property>
</Properties>
</file>