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72" r:id="rId2"/>
    <p:sldId id="380" r:id="rId3"/>
    <p:sldId id="417" r:id="rId4"/>
    <p:sldId id="403" r:id="rId5"/>
    <p:sldId id="286" r:id="rId6"/>
    <p:sldId id="418" r:id="rId7"/>
    <p:sldId id="420" r:id="rId8"/>
    <p:sldId id="408" r:id="rId9"/>
    <p:sldId id="396" r:id="rId10"/>
    <p:sldId id="422" r:id="rId11"/>
    <p:sldId id="421" r:id="rId12"/>
    <p:sldId id="397" r:id="rId13"/>
    <p:sldId id="423" r:id="rId14"/>
    <p:sldId id="424" r:id="rId15"/>
    <p:sldId id="425" r:id="rId16"/>
    <p:sldId id="426" r:id="rId17"/>
    <p:sldId id="427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 userDrawn="1">
          <p15:clr>
            <a:srgbClr val="A4A3A4"/>
          </p15:clr>
        </p15:guide>
        <p15:guide id="2" pos="37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96" y="184"/>
      </p:cViewPr>
      <p:guideLst>
        <p:guide orient="horz" pos="2133"/>
        <p:guide pos="373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充满敬畏的人群安静地聆听</a:t>
            </a:r>
          </a:p>
          <a:p>
            <a:r>
              <a:rPr lang="en-US" altLang="en-US"/>
              <a:t>'It's magnificent,' she whispered in awe.</a:t>
            </a:r>
          </a:p>
          <a:p>
            <a:r>
              <a:rPr lang="en-US" altLang="en-US"/>
              <a:t>“</a:t>
            </a:r>
            <a:r>
              <a:rPr lang="zh-CN" altLang="en-US"/>
              <a:t>真是壮丽。</a:t>
            </a:r>
            <a:r>
              <a:rPr lang="en-US" altLang="en-US"/>
              <a:t>” </a:t>
            </a:r>
            <a:r>
              <a:rPr lang="zh-CN" altLang="en-US"/>
              <a:t>她小声地惊叹道。</a:t>
            </a:r>
          </a:p>
          <a:p>
            <a:r>
              <a:rPr lang="zh-CN" altLang="en-US"/>
              <a:t>敬畏</a:t>
            </a:r>
            <a:r>
              <a:rPr lang="en-US" altLang="zh-CN"/>
              <a:t>admire and be frightened of ...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警察负责维持治安。</a:t>
            </a:r>
          </a:p>
          <a:p>
            <a:r>
              <a:rPr lang="zh-CN" altLang="en-US"/>
              <a:t>节省自然资源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敦促，力劝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消磨某人的意志</a:t>
            </a:r>
            <a:r>
              <a:rPr lang="en-US" altLang="zh-CN"/>
              <a:t> </a:t>
            </a:r>
            <a:r>
              <a:rPr lang="en-US" altLang="en-US"/>
              <a:t>overcome someone or something by persistence </a:t>
            </a:r>
            <a:r>
              <a:rPr lang="zh-CN" altLang="en-US"/>
              <a:t>瓦解我的决心</a:t>
            </a:r>
            <a:endParaRPr lang="en-US" altLang="en-US"/>
          </a:p>
          <a:p>
            <a:r>
              <a:rPr lang="zh-CN" altLang="en-US"/>
              <a:t>筋疲力尽</a:t>
            </a:r>
            <a:r>
              <a:rPr lang="en-US" altLang="en-US"/>
              <a:t>Before the race, he is fine. But afterwards he is worn out. </a:t>
            </a:r>
            <a:r>
              <a:rPr lang="zh-CN" altLang="en-US"/>
              <a:t>赛前他状态很好，赛后就筋疲力尽了。</a:t>
            </a:r>
          </a:p>
          <a:p>
            <a:r>
              <a:rPr lang="en-US" altLang="zh-CN"/>
              <a:t>be weary of</a:t>
            </a:r>
            <a:endParaRPr lang="zh-CN" altLang="en-US"/>
          </a:p>
          <a:p>
            <a:r>
              <a:rPr lang="zh-CN" altLang="en-US"/>
              <a:t>磨损</a:t>
            </a:r>
            <a:r>
              <a:rPr lang="en-US" altLang="zh-CN"/>
              <a:t> 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Our products must stand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wear and tear</a:t>
            </a:r>
            <a:r>
              <a:rPr lang="en-US" altLang="zh-CN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</a:t>
            </a:r>
            <a:endParaRPr lang="en-US" altLang="zh-CN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256030" indent="-1256030">
              <a:lnSpc>
                <a:spcPct val="120000"/>
              </a:lnSpc>
            </a:pPr>
            <a:r>
              <a:rPr lang="zh-CN" altLang="en-US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我们的产品必须经久耐用。</a:t>
            </a:r>
            <a:endParaRPr lang="en-US" altLang="zh-CN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r>
              <a:rPr lang="en-US" altLang="en-US"/>
              <a:t>'A passport to a brighter future': it sounds like a worn-out advertising slogan, but for once the cliche has substance.</a:t>
            </a:r>
          </a:p>
          <a:p>
            <a:r>
              <a:rPr lang="zh-CN" altLang="en-US"/>
              <a:t>逐渐消失</a:t>
            </a:r>
            <a:r>
              <a:rPr lang="en-US" altLang="zh-CN"/>
              <a:t> enthusiasm, excitment, pain</a:t>
            </a:r>
          </a:p>
          <a:p>
            <a:r>
              <a:rPr lang="en-US" altLang="en-US"/>
              <a:t>While his interest in these sports began to wane</a:t>
            </a:r>
          </a:p>
          <a:p>
            <a:r>
              <a:rPr lang="zh-CN" altLang="en-US"/>
              <a:t>既然，由于</a:t>
            </a:r>
            <a:endParaRPr lang="en-US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消磨某人的意志</a:t>
            </a:r>
            <a:r>
              <a:rPr lang="en-US" altLang="zh-CN"/>
              <a:t> </a:t>
            </a:r>
            <a:r>
              <a:rPr lang="en-US" altLang="en-US"/>
              <a:t>overcome someone or something by persistence </a:t>
            </a:r>
            <a:r>
              <a:rPr lang="zh-CN" altLang="en-US"/>
              <a:t>瓦解我的决心</a:t>
            </a:r>
            <a:endParaRPr lang="en-US" altLang="en-US"/>
          </a:p>
          <a:p>
            <a:r>
              <a:rPr lang="zh-CN" altLang="en-US"/>
              <a:t>筋疲力尽</a:t>
            </a:r>
            <a:r>
              <a:rPr lang="en-US" altLang="en-US"/>
              <a:t>Before the race, he is fine. But afterwards he is worn out. </a:t>
            </a:r>
            <a:r>
              <a:rPr lang="zh-CN" altLang="en-US"/>
              <a:t>赛前他状态很好，赛后就筋疲力尽了。</a:t>
            </a:r>
          </a:p>
          <a:p>
            <a:r>
              <a:rPr lang="zh-CN" altLang="en-US"/>
              <a:t>磨损</a:t>
            </a:r>
          </a:p>
          <a:p>
            <a:r>
              <a:rPr lang="en-US" altLang="en-US"/>
              <a:t>'A passport to a brighter future': it sounds like a worn-out advertising slogan, but for once the cliche has substance.</a:t>
            </a:r>
          </a:p>
          <a:p>
            <a:r>
              <a:rPr lang="zh-CN" altLang="en-US"/>
              <a:t>糟蹋了鞋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经年的战事已经使得这个地区满目疮痍。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这件丑闻使他身败名裂。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/>
              <a:t>...</a:t>
            </a:r>
            <a:r>
              <a:rPr lang="zh-CN" altLang="en-US"/>
              <a:t>的废墟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与……产生争执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  <a:p>
            <a:r>
              <a:rPr lang="zh-CN" altLang="en-US"/>
              <a:t>这是向每个人支付的款项，无论就业状况如何。职业身份</a:t>
            </a:r>
          </a:p>
          <a:p>
            <a:r>
              <a:rPr lang="en-US" altLang="en-US"/>
              <a:t>sitcom (situation comedy)</a:t>
            </a:r>
          </a:p>
          <a:p>
            <a:r>
              <a:rPr lang="zh-CN" altLang="en-US">
                <a:sym typeface="+mn-ea"/>
              </a:rPr>
              <a:t>地位低下的工作</a:t>
            </a:r>
          </a:p>
          <a:p>
            <a:r>
              <a:rPr lang="zh-CN" altLang="en-US"/>
              <a:t>进展情形</a:t>
            </a:r>
          </a:p>
          <a:p>
            <a:r>
              <a:rPr lang="en-US" altLang="en-US"/>
              <a:t>status updates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insist</a:t>
            </a:r>
          </a:p>
          <a:p>
            <a:r>
              <a:rPr lang="en-US" altLang="en-US"/>
              <a:t>old favourites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It did give me a boost to win such a big event. </a:t>
            </a:r>
            <a:r>
              <a:rPr lang="zh-CN" altLang="en-US"/>
              <a:t>赢得如此重大的比赛确实使我信心倍增。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 lʌɪs</a:t>
            </a:r>
          </a:p>
          <a:p>
            <a:r>
              <a:rPr lang="zh-CN" altLang="en-US"/>
              <a:t>驳斥这个谣言</a:t>
            </a:r>
            <a:endParaRPr lang="en-US" altLang="en-US"/>
          </a:p>
          <a:p>
            <a:r>
              <a:rPr lang="en-US" altLang="en-US"/>
              <a:t>give it a/some thought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窗户都钉死了。</a:t>
            </a:r>
            <a:r>
              <a:rPr lang="en-US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</a:p>
          <a:p>
            <a:r>
              <a:rPr lang="en-US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secure</a:t>
            </a:r>
            <a:endParaRPr lang="en-US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她在第二跳中表现出色，赢了比赛。</a:t>
            </a:r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专门研究，专攻某事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该委员会评定一栋建筑物是否值得保存。</a:t>
            </a:r>
            <a:endParaRPr lang="zh-CN" altLang="en-US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崩溃大哭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治安的瘫痪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精神崩溃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这个桌子可折叠起来方便存放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崩溃大哭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治安的瘫痪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精神崩溃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这个桌子可折叠起来方便存放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悬挂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停止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暂缓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暂停职务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两年缓刑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停学</a:t>
            </a:r>
          </a:p>
          <a:p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suspense / keep us in suspense 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悬疑，对即将发生的事的担心，焦虑，兴奋</a:t>
            </a:r>
            <a:endParaRPr lang="zh-CN" altLang="en-US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余额不足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点击充值</a:t>
            </a:r>
          </a:p>
          <a:p>
            <a:r>
              <a:rPr lang="zh-CN" altLang="en-US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扣人心弦的悬念</a:t>
            </a:r>
          </a:p>
          <a:p>
            <a:r>
              <a:rPr lang="zh-CN" altLang="en-US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一座悬索桥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24460" y="167005"/>
            <a:ext cx="120523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be awed by sth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敬畏某事物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watched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in(with) awe/in awed silence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___________ __ ____ at the great stones.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她惊叹地盯着那些巨石。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While Diana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was/stood in awe of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her grandfather, she adored her grandmother.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她第一次看到金字塔时，就充满了敬畏和好奇。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Her ____ _________ of the pyramids _____ ____ ____ ____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and curiosity. 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adj.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令人惊叹的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awesome</a:t>
            </a:r>
          </a:p>
          <a:p>
            <a:pPr marL="722630" indent="-72263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civil 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war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/ civil 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law</a:t>
            </a:r>
            <a:endParaRPr lang="en-US" sz="3200" b="1" dirty="0">
              <a:solidFill>
                <a:srgbClr val="FF0000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722630" indent="-72263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civilize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教化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78205" y="1387475"/>
            <a:ext cx="44049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gazed/stared  in  awe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965835" y="3736975"/>
            <a:ext cx="32086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first  sight/view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661150" y="37369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filled   her  with  awe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3698240" y="5506085"/>
            <a:ext cx="8494395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22630" indent="-72263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civilian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平民</a:t>
            </a:r>
            <a:endParaRPr 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marL="722630" indent="-722630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civilized 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societies / city / a</a:t>
            </a:r>
            <a:r>
              <a:rPr 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 civilized </a:t>
            </a:r>
            <a:r>
              <a:rPr 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conversation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605" y="0"/>
            <a:ext cx="1208659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维护某人的名声</a:t>
            </a:r>
            <a:r>
              <a:rPr lang="en-US" altLang="zh-CN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					    </a:t>
            </a: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维护和平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保护濒危物种不致灭绝</a:t>
            </a:r>
          </a:p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Ice helps to ________ ______ (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保存食物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).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There was a demand for ice for food ____________.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well _________ food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juice contains no artificial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preservatives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police are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preservers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of law and order.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conserve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energy / the forestes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nature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reserve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ea typeface="宋体" pitchFamily="2" charset="-122"/>
              <a:cs typeface="Times New Roman Bold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The Gulf has 65 per cent of the world's oil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reserves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A room with a balcony overlooking the sea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reserved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for him.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048000" y="142875"/>
            <a:ext cx="47663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preserve one’s reputation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9524365" y="-189230"/>
            <a:ext cx="2576830" cy="9010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preserve the peace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182110" y="653415"/>
            <a:ext cx="859028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722630" indent="-722630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preserve endangered species from extinction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835660" y="2388235"/>
            <a:ext cx="20612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preserved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256155" y="1261745"/>
            <a:ext cx="47663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preserve   food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6456680" y="1845310"/>
            <a:ext cx="245554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  <a:sym typeface="+mn-ea"/>
              </a:rPr>
              <a:t>preservation 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048000" y="47301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preserve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0650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urgent need of protection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急需保护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protection is ________ needed.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an ______ ______ ______ information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紧急呼吁提供信息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matter of the utmost ________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has repeatedly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urged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government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take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action.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has repeatedly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urged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the government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(should) take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…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虚拟语气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“Why not give it a try?” 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urged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(him).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could hear him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urging her on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as she ran past.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为……加油，鼓励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had a sudden ______ to hit him.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629285" y="1203960"/>
            <a:ext cx="3846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urgent  appeal   for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070350" y="1787525"/>
            <a:ext cx="3846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urgency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2293620" y="620395"/>
            <a:ext cx="38461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urgently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2823210" y="5274310"/>
            <a:ext cx="12477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urge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635" cy="6585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The machines start to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wear down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, they don't make as many nuts and bolts as they used to.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wear sb down / wear down one’s will/resolve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He ______ ____ two pairs of shoes.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The kids have totally _____ me out.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an old pair of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worn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jeans 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Our products must stand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wear and tear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. </a:t>
            </a:r>
            <a:endParaRPr lang="en-US" altLang="zh-CN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For many the philosophy was merely a fashion, and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novelty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soon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wore off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Now that the initial shock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wearing off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, he was in considerable pain.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最初的震惊渐渐过去之后，他感到疼痛难忍。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60095" y="1635760"/>
            <a:ext cx="217678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wore  out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818255" y="2141855"/>
            <a:ext cx="272097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worn  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6423025" y="21418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weary / worn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525010" y="2688590"/>
            <a:ext cx="75209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tattered, shabby, in rags, ragged, patched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2018665" y="4325938"/>
            <a:ext cx="5080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>
              <a:buClrTx/>
              <a:buSzTx/>
              <a:buFontTx/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ea typeface="宋体" pitchFamily="2" charset="-122"/>
                <a:cs typeface="Times New Roman Bold Italic" panose="02020503050405090304" charset="0"/>
                <a:sym typeface="+mn-ea"/>
              </a:rPr>
              <a:t>wane, melt away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9" grpId="0"/>
      <p:bldP spid="9" grpId="1"/>
      <p:bldP spid="7" grpId="0"/>
      <p:bldP spid="7" grpId="1"/>
      <p:bldP spid="10" grpId="0"/>
      <p:bldP spid="10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0"/>
            <a:ext cx="12192635" cy="55029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ruin 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him/ his life/ the trip/ his shoes / the country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这个错误断送了他得到这份工作的机会。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mistake ruined his chance of getting the job.</a:t>
            </a:r>
            <a:endParaRPr lang="zh-CN" altLang="en-US" sz="3200" b="1" dirty="0" err="1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The cottage gradually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fell into ruin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.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衰落，衰败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Years of fighting have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left 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the area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in ruins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这件丑闻让他的名誉受损。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</a:rPr>
              <a:t>The scandal ____ ___ ________ ___ ____.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宋体" pitchFamily="2" charset="-122"/>
                <a:sym typeface="+mn-ea"/>
              </a:rPr>
              <a:t>在可怕的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15</a:t>
            </a:r>
            <a:r>
              <a:rPr lang="zh-CN" altLang="en-US" sz="3200" b="1" dirty="0">
                <a:solidFill>
                  <a:prstClr val="black"/>
                </a:solidFill>
                <a:latin typeface="宋体" pitchFamily="2" charset="-122"/>
                <a:sym typeface="+mn-ea"/>
              </a:rPr>
              <a:t>秒钟之内，一座大城市就沦为一片废墟</a:t>
            </a:r>
            <a:r>
              <a:rPr lang="zh-CN" altLang="en-US" sz="3200" dirty="0">
                <a:solidFill>
                  <a:prstClr val="black"/>
                </a:solidFill>
                <a:latin typeface="Calibri" panose="020F0502020204030204"/>
                <a:sym typeface="+mn-ea"/>
              </a:rPr>
              <a:t>。</a:t>
            </a:r>
            <a:endParaRPr lang="en-US" altLang="zh-CN" sz="3200" dirty="0">
              <a:solidFill>
                <a:prstClr val="black"/>
              </a:solidFill>
              <a:latin typeface="Calibri" panose="020F0502020204030204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fifteen terrible seconds a large city lay/was (left) in ruins / be reduced to ruins / fell into ruin.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ruins of ... / remains of ...</a:t>
            </a:r>
            <a:endParaRPr lang="en-US" altLang="en-US" sz="3200" b="1" dirty="0"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7254875" y="272542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left his reputation  in  ruins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-164465"/>
            <a:ext cx="12192635" cy="7126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on purpose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deliberately / purposefully / intentionally / knowingly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accidentally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0000FF"/>
                </a:solidFill>
                <a:latin typeface="Times New Roman Bold" panose="02020503050405090304" charset="0"/>
                <a:cs typeface="Times New Roman Bold" panose="02020503050405090304" charset="0"/>
              </a:rPr>
              <a:t>by accident/ by chance/ unexpectedly/ unintentionally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conflict between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two parties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over 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ownership of the land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found herself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conflict with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her parents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over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her future career.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John often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comes into conflict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with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his boss.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government has done nothing to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resolve/settle the conflict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over </a:t>
            </a: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nurses' pay. </a:t>
            </a: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解决关于护士工资的冲突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内心的矛盾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conflict of interest(s)</a:t>
            </a:r>
            <a:endParaRPr lang="en-US" altLang="en-US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His opinions ________ ________ mine.</a:t>
            </a: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__________ goals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矛盾的目标</a:t>
            </a:r>
            <a:endParaRPr lang="en-US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243455" y="46755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inner/internal conflict</a:t>
            </a:r>
            <a:r>
              <a:rPr lang="en-US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970655" y="5212080"/>
            <a:ext cx="6096000" cy="632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利益的冲突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2550795" y="569341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conflict   with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140970" y="6276975"/>
            <a:ext cx="210185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conflicting 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5" grpId="0"/>
      <p:bldP spid="5" grpId="1"/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2339" y="715511"/>
            <a:ext cx="1151001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完成句子。</a:t>
            </a: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1) Your statement is ________ ________ ________ ________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与其余证据有矛盾</a:t>
            </a: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2) John often ________ ________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和他的老板发生争执</a:t>
            </a: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3) These results ________ ________ ________ ________ (</a:t>
            </a:r>
            <a:r>
              <a:rPr lang="zh-CN" altLang="en-US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与早期的发现相矛盾</a:t>
            </a: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).</a:t>
            </a:r>
            <a:endParaRPr lang="zh-CN" altLang="en-US" sz="3200" b="1" dirty="0"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4) ________ ________ ________ ________ ________ ________</a:t>
            </a:r>
            <a:endParaRPr lang="zh-CN" altLang="en-US" sz="3200" b="1" dirty="0">
              <a:latin typeface="Times New Roman" panose="02020503050405090304" pitchFamily="18" charset="0"/>
              <a:ea typeface="+mj-ea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    </a:t>
            </a: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这两国之间的一次冲突</a:t>
            </a:r>
            <a:r>
              <a:rPr lang="en-US" altLang="zh-CN" sz="3200" b="1" dirty="0"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)could easily spread across the whole world.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141094" y="1294459"/>
            <a:ext cx="9580245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                                in        conflict       with          the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rest              of            the      evidence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141094" y="2339539"/>
            <a:ext cx="10106026" cy="117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                 comes         into       conflict       with           his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boss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223259" y="3446665"/>
            <a:ext cx="7520940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conflict       with       earlier      findings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03984" y="4485939"/>
            <a:ext cx="9843135" cy="63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+mj-ea"/>
                <a:cs typeface="Times New Roman" panose="02020503050405090304" pitchFamily="18" charset="0"/>
              </a:rPr>
              <a:t>A         conflict   between        the           two     countries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70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This is a payment made to every individual irrespective of employment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status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achieved celebrity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status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through his role in a popular sitcom.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low-status jobs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很高的社会地位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What is the current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status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of our application for funds?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update my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status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Wechat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maintain/restore the status quo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维持现状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恢复原来的情况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048000" y="233553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have a high social status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1365" cy="67030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repa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rable  / 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irreparable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irreplaceable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demanded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that he _____ an apology.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demand to do sth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demand for sth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Their children are at high risk ____ developing the disease.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Children are more at risk _____ the harmful effects of alcohol.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jazz, rock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and the like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诸如此类的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音乐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She didn't want to associate with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likes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of me.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和我一样类型的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We all have different ______ and _______.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好恶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endParaRPr lang="en-US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923030" y="12211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make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5585460" y="298450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of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650105" y="349948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from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923030" y="53206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likes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918835" y="532066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dislikes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141605"/>
            <a:ext cx="1200785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ecological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ecologist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增强信心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give sth/sb a boost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推动某事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给某人以鼓舞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next item _____ the agenda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议程表上的下一项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our company, quality is high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the agenda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我们公司高度重视质量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对政府来说，遗产保护是当务之急。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the government, 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eritage protection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 the top of the agenda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= in urgent need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758315" y="138779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6670" indent="0">
              <a:spcBef>
                <a:spcPct val="0"/>
              </a:spcBef>
              <a:spcAft>
                <a:spcPct val="0"/>
              </a:spcAft>
              <a:buFont typeface="Arial" panose="020B0604020202090204"/>
              <a:buNone/>
            </a:pPr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-apple-system"/>
                <a:cs typeface="Times New Roman Bold" panose="02020503050405090304" charset="0"/>
              </a:rPr>
              <a:t>boost confidence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385060" y="2553335"/>
            <a:ext cx="9626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on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0"/>
            <a:ext cx="12192635" cy="5996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98955" indent="-179895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仅仅只是一想到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798955" indent="-179895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mere/very thought of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lice makes my head itch.</a:t>
            </a:r>
          </a:p>
          <a:p>
            <a:pPr marL="1798955" indent="-17989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再一想</a:t>
            </a:r>
          </a:p>
          <a:p>
            <a:pPr marL="1798955" indent="-179895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On second thoughts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maybe I won’t apply for the job after all.</a:t>
            </a:r>
          </a:p>
          <a:p>
            <a:pPr marL="1798955" indent="-179895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He dismissed the rumor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without </a:t>
            </a:r>
            <a:r>
              <a:rPr lang="en-US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_____ ______ ______.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毫不犹豫</a:t>
            </a:r>
          </a:p>
          <a:p>
            <a:pPr marL="1798955" indent="-17989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在片刻的考虑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犹豫之后</a:t>
            </a:r>
          </a:p>
          <a:p>
            <a:pPr marL="1798955" indent="-17989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陷入沉思</a:t>
            </a:r>
          </a:p>
          <a:p>
            <a:pPr marL="1798955" indent="-17989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give thought to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= give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thought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认真考虑某事，思考某事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1798955" indent="-17989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别把这事放心上</a:t>
            </a:r>
          </a:p>
          <a:p>
            <a:pPr marL="1798955" indent="-17989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读出某人的心思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936115" y="35947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lost/sunk/deep in thought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310380" y="301117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after a moment’s thought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129915" y="4817745"/>
            <a:ext cx="796607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ui-serif"/>
                <a:cs typeface="Times New Roman Bold" panose="02020503050405090304" charset="0"/>
              </a:rPr>
              <a:t> Don’t give it another thought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129915" y="540099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/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ui-serif"/>
                <a:cs typeface="Times New Roman Bold" panose="02020503050405090304" charset="0"/>
              </a:rPr>
              <a:t>read one's thoughts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5808980" y="242252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a     second   thought</a:t>
            </a:r>
          </a:p>
        </p:txBody>
      </p:sp>
    </p:spTree>
    <p:custDataLst>
      <p:tags r:id="rId1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4" grpId="0"/>
      <p:bldP spid="4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8760" y="186690"/>
            <a:ext cx="1177925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nail n. / v.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fasten sth to sth with a nail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windows were all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nailed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shut. / hammer 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nail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nail one's eye(s) on 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死死盯住某物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nailed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victory in the semi-finals.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nailed it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on her second jump.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simply looked mean and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(as) hard/tough as nails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冷酷无情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would be useful if you could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nail down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 source of this tension.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做出决定，敲定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It's been 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nail-biting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couple of weeks waiting for my results.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这几个星期等结果，弄得我坐立不安。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951345" y="19583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他在半决赛中获胜。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secure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8760" y="186690"/>
            <a:ext cx="1177925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panel discussion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专家小组讨论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control panel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控制面板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glass-panelled door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镶玻璃的门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specialize in 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I'd assess your chances _____ low.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committee assesses ________ a building is worth preserving.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legal costs have been assessed _____ £75,000.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detailed __________ of the risks _________ (involve)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514850" y="2553335"/>
            <a:ext cx="124650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514850" y="3136900"/>
            <a:ext cx="23348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whether 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6391275" y="3745230"/>
            <a:ext cx="86741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9144000" y="36468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estimate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2090420" y="4211320"/>
            <a:ext cx="679640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assessment        		     involved</a:t>
            </a:r>
            <a:endParaRPr lang="en-US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9742170" y="42818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evaluation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8760" y="186690"/>
            <a:ext cx="1177925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collapsed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following a vigorous exercise session at his home.</a:t>
            </a:r>
          </a:p>
          <a:p>
            <a:pPr>
              <a:lnSpc>
                <a:spcPct val="120000"/>
              </a:lnSpc>
            </a:pP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arrived home exhausted and barely capable of showering before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collapsing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her bed.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peace talks were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on the verge/brink of collapse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peace talks were about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collapse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collapsed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tears.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collapse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law and order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state of mental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collapse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Share prices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collapsed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after news of poor trading figures.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table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collapses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for easy storage.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7282180" y="30448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break down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572135" y="7981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faint, pass out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5477510" y="18745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sit/lie down because of tiredness</a:t>
            </a:r>
          </a:p>
        </p:txBody>
      </p:sp>
      <p:sp>
        <p:nvSpPr>
          <p:cNvPr id="14" name="Text Box 13"/>
          <p:cNvSpPr txBox="1"/>
          <p:nvPr/>
        </p:nvSpPr>
        <p:spPr>
          <a:xfrm>
            <a:off x="10391140" y="5431790"/>
            <a:ext cx="18008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暴跌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6668135" y="6021705"/>
            <a:ext cx="180086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fold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12" grpId="0"/>
      <p:bldP spid="12" grpId="1"/>
      <p:bldP spid="13" grpId="0"/>
      <p:bldP spid="13" grpId="1"/>
      <p:bldP spid="14" grpId="0"/>
      <p:bldP spid="14" grpId="1"/>
      <p:bldP spid="15" grpId="0"/>
      <p:bldP spid="1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38760" y="186690"/>
            <a:ext cx="1177925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consultation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plans were drawn up __________________________ engineers.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与……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仔细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磋商后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need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consult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my teacher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about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changing my course.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consulting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engineer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顾问工程师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__________ on economic affairs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经济事务顾问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 management consultancy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管理咨询公司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026015" y="19329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refer to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40080" y="3088005"/>
            <a:ext cx="214439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consultant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854575" y="844550"/>
            <a:ext cx="51720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(close) consultation with</a:t>
            </a:r>
            <a:endParaRPr 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-64770"/>
            <a:ext cx="1233995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large light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suspended from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ceiling.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Production has been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suspended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while safety checks are carried out.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suspend judgement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暂不判断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introduction of the new system has been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suspended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until next year.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police officer was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suspended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while the complaint was investigated.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two-year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suspended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sentence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fight lead to his _________ ________ school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nail-biting suspense</a:t>
            </a: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suspension bridge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3753485" y="40792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suspension  from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4161155"/>
            <a:ext cx="4173855" cy="2613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1946</Words>
  <Application>Microsoft Macintosh PowerPoint</Application>
  <PresentationFormat>Widescreen</PresentationFormat>
  <Paragraphs>268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宋体</vt:lpstr>
      <vt:lpstr>Times New Roman Bold</vt:lpstr>
      <vt:lpstr>Times New Roman Bold Italic</vt:lpstr>
      <vt:lpstr>Arial</vt:lpstr>
      <vt:lpstr>Calibri</vt:lpstr>
      <vt:lpstr>Calibri Light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14</cp:revision>
  <dcterms:created xsi:type="dcterms:W3CDTF">2025-04-08T08:39:24Z</dcterms:created>
  <dcterms:modified xsi:type="dcterms:W3CDTF">2026-07-23T01:14:28Z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1033-7.2.2.8955</vt:lpwstr>
  </property>
  <property fmtid="{D5CDD505-2E9C-101B-9397-08002B2CF9AE}" pid="3" name="ICV">
    <vt:lpwstr>FFE7342CF0584D03A41C9B3C8E9E5C3A</vt:lpwstr>
  </property>
</Properties>
</file>