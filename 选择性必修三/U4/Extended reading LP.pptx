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2.xml" ContentType="application/vnd.openxmlformats-officedocument.theme+xml"/>
  <Override PartName="/ppt/tags/tag1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94" r:id="rId2"/>
    <p:sldId id="313" r:id="rId3"/>
    <p:sldId id="298" r:id="rId4"/>
    <p:sldId id="315" r:id="rId5"/>
    <p:sldId id="309" r:id="rId6"/>
    <p:sldId id="316" r:id="rId7"/>
    <p:sldId id="317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EB97D0"/>
    <a:srgbClr val="7CDB05"/>
    <a:srgbClr val="D9D9D9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72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744" y="18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贯彻一项政策</a:t>
            </a:r>
            <a:r>
              <a:rPr lang="en-US" altLang="zh-CN"/>
              <a:t>/</a:t>
            </a:r>
            <a:r>
              <a:rPr lang="zh-CN" altLang="en-US"/>
              <a:t>追求</a:t>
            </a:r>
            <a:r>
              <a:rPr lang="en-US" altLang="zh-CN"/>
              <a:t>(</a:t>
            </a:r>
            <a:r>
              <a:rPr lang="zh-CN" altLang="en-US"/>
              <a:t>从事</a:t>
            </a:r>
            <a:r>
              <a:rPr lang="en-US" altLang="zh-CN"/>
              <a:t>)</a:t>
            </a:r>
            <a:r>
              <a:rPr lang="zh-CN" altLang="en-US"/>
              <a:t>一项事业</a:t>
            </a:r>
            <a:r>
              <a:rPr lang="en-US" altLang="zh-CN"/>
              <a:t>/</a:t>
            </a:r>
            <a:r>
              <a:rPr lang="zh-CN" altLang="en-US"/>
              <a:t>追求爱好</a:t>
            </a:r>
            <a:r>
              <a:rPr lang="en-US" altLang="zh-CN"/>
              <a:t>/</a:t>
            </a:r>
            <a:r>
              <a:rPr lang="zh-CN" altLang="en-US"/>
              <a:t>追逐一辆车</a:t>
            </a:r>
          </a:p>
          <a:p>
            <a:r>
              <a:rPr lang="en-US" altLang="zh-CN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hobbies (artistic pursuits/outdoor pursuits)</a:t>
            </a:r>
          </a:p>
          <a:p>
            <a:r>
              <a:rPr lang="zh-CN" altLang="en-US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提交的文件，建议等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浮现，出现</a:t>
            </a:r>
            <a:r>
              <a:rPr lang="en-US" altLang="zh-CN"/>
              <a:t>/</a:t>
            </a:r>
            <a:r>
              <a:rPr lang="zh-CN" altLang="en-US"/>
              <a:t>来到明媚的阳光下</a:t>
            </a:r>
          </a:p>
          <a:p>
            <a:r>
              <a:rPr lang="en-US" altLang="zh-CN"/>
              <a:t>it turns out that ...</a:t>
            </a:r>
          </a:p>
          <a:p>
            <a:r>
              <a:rPr lang="en-US" altLang="en-US"/>
              <a:t>emergent / emergency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fix a date</a:t>
            </a:r>
          </a:p>
          <a:p>
            <a:r>
              <a:rPr lang="zh-CN" altLang="en-US"/>
              <a:t>保持好身材</a:t>
            </a:r>
          </a:p>
          <a:p>
            <a:r>
              <a:rPr lang="zh-CN" altLang="en-US"/>
              <a:t>保持健康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辽阔的蓝天</a:t>
            </a:r>
          </a:p>
          <a:p>
            <a:r>
              <a:rPr lang="en-US" altLang="en-US"/>
              <a:t>12 </a:t>
            </a:r>
            <a:r>
              <a:rPr lang="zh-CN" altLang="en-US"/>
              <a:t>个科学实验室可用于不同的科学实验。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日记</a:t>
            </a:r>
          </a:p>
          <a:p>
            <a:r>
              <a:rPr lang="zh-CN" altLang="en-US"/>
              <a:t>参赛</a:t>
            </a:r>
            <a:r>
              <a:rPr lang="en-US" altLang="zh-CN"/>
              <a:t>/</a:t>
            </a:r>
            <a:r>
              <a:rPr lang="zh-CN" altLang="en-US"/>
              <a:t>参赛表格</a:t>
            </a:r>
          </a:p>
          <a:p>
            <a:r>
              <a:rPr lang="zh-CN" altLang="en-US"/>
              <a:t>日记的记录</a:t>
            </a:r>
          </a:p>
          <a:p>
            <a:r>
              <a:rPr lang="en-US" altLang="zh-CN"/>
              <a:t>entrance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日记</a:t>
            </a:r>
          </a:p>
          <a:p>
            <a:r>
              <a:rPr lang="zh-CN" altLang="en-US"/>
              <a:t>参赛</a:t>
            </a:r>
            <a:r>
              <a:rPr lang="en-US" altLang="zh-CN"/>
              <a:t>/</a:t>
            </a:r>
            <a:r>
              <a:rPr lang="zh-CN" altLang="en-US"/>
              <a:t>参赛表格</a:t>
            </a:r>
          </a:p>
          <a:p>
            <a:r>
              <a:rPr lang="zh-CN" altLang="en-US"/>
              <a:t>日记的记录</a:t>
            </a:r>
          </a:p>
          <a:p>
            <a:r>
              <a:rPr lang="en-US" altLang="zh-CN"/>
              <a:t>entrance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9011586" y="280263"/>
            <a:ext cx="1941228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800" b="1" dirty="0"/>
              <a:t>高中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章节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主题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o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Ho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Ho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Ho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49157" y="145915"/>
            <a:ext cx="11893686" cy="65661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/>
          </a:p>
        </p:txBody>
      </p:sp>
      <p:sp>
        <p:nvSpPr>
          <p:cNvPr id="5" name="矩形: 圆顶角 4"/>
          <p:cNvSpPr/>
          <p:nvPr/>
        </p:nvSpPr>
        <p:spPr>
          <a:xfrm rot="10800000">
            <a:off x="10497496" y="0"/>
            <a:ext cx="1021404" cy="350196"/>
          </a:xfrm>
          <a:prstGeom prst="round2SameRect">
            <a:avLst>
              <a:gd name="adj1" fmla="val 27778"/>
              <a:gd name="adj2" fmla="val 0"/>
            </a:avLst>
          </a:prstGeom>
          <a:solidFill>
            <a:srgbClr val="6BC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10512765" y="-49912"/>
            <a:ext cx="10214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新教材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Ho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4" name="文本框 8"/>
          <p:cNvSpPr txBox="1"/>
          <p:nvPr/>
        </p:nvSpPr>
        <p:spPr>
          <a:xfrm>
            <a:off x="2034694" y="2142995"/>
            <a:ext cx="8109912" cy="186204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1500" b="1" dirty="0">
                <a:ln w="38100">
                  <a:solidFill>
                    <a:schemeClr val="bg1"/>
                  </a:solidFill>
                </a:ln>
                <a:solidFill>
                  <a:srgbClr val="FD7572"/>
                </a:solidFill>
                <a:effectLst>
                  <a:outerShdw dist="50800" dir="2700000" algn="tl" rotWithShape="0">
                    <a:srgbClr val="3AA3C6"/>
                  </a:outerShdw>
                </a:effectLst>
                <a:latin typeface="Eras Bold ITC" panose="020B0907030504020204" pitchFamily="34" charset="0"/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FD9D74-47D9-4702-A33C-335B63B48DBF}" type="datetimeFigureOut">
              <a:rPr lang="zh-CN" altLang="en-US" smtClean="0"/>
              <a:t>2026/7/23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1760" y="131445"/>
            <a:ext cx="12079605" cy="60007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pursue </a:t>
            </a: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a goal/ policy/ a career / interests/ a car </a:t>
            </a: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She travelled around the world ____ ____ ____ her dreams.</a:t>
            </a: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leisure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pursuits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休闲活动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indent="0" fontAlgn="auto">
              <a:lnSpc>
                <a:spcPct val="100000"/>
              </a:lnSpc>
            </a:pPr>
            <a:endParaRPr lang="en-US" altLang="en-US" sz="3200" b="1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submit</a:t>
            </a: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The chief editor demanded that the article ___________ (submit) in one week.</a:t>
            </a: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She refused to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submit (oneself) to threats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向……屈服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give in, yield to (temptation, pressure)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the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submission </a:t>
            </a: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of proposals</a:t>
            </a: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He continued contributing to the dictionary, sendng in more than 10,000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submission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s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in 20 years.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639435" y="56324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in  pursuit  of 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7612380" y="2551430"/>
            <a:ext cx="26035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be submitted</a:t>
            </a: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0" y="0"/>
            <a:ext cx="12192635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1) emerge from </a:t>
            </a: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the lake/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emerge into </a:t>
            </a: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bright sunlight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2) Eventually the truth/evidence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emerged that ...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 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It emerges that ...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 (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事实，结果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)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显露……</a:t>
            </a:r>
            <a:endParaRPr lang="en-US" altLang="en-US" sz="3200" b="1" dirty="0">
              <a:latin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3) She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emerged from </a:t>
            </a: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those difficult times, stronger than ever.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从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(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困境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)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摆脱出来</a:t>
            </a:r>
            <a:endParaRPr lang="en-US" altLang="en-US" sz="3200" b="1" dirty="0">
              <a:latin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4) He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emerged </a:t>
            </a: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as a key figure in the campaign.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他已初露头角，成为这次运动的主要人物。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兴起的市场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出现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the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emergence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of new scientific ideas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276475" y="340804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the emerging market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0" y="0"/>
            <a:ext cx="12192635" cy="64928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assign me a task</a:t>
            </a: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assign a task ____ me</a:t>
            </a: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Madison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was assigned to investigate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 the accident.</a:t>
            </a: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on (an) assignment</a:t>
            </a: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Would you care to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assign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a date to this piece of pottery?</a:t>
            </a: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get (yourself) into shape</a:t>
            </a: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keep in shape</a:t>
            </a: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out of shape / in (good) shape</a:t>
            </a: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There were only ten minutes ________.</a:t>
            </a: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Much remains ___________ (do). </a:t>
            </a: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There _______ one question.</a:t>
            </a: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It _______________________ you are right.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你是否正确还有待观察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)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古都遗址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						 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历史遗迹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2614295" y="458470"/>
            <a:ext cx="86868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to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5083175" y="385508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remaining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2828925" y="4344035"/>
            <a:ext cx="211074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to be done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1156335" y="4864735"/>
            <a:ext cx="211074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remians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419735" y="5364480"/>
            <a:ext cx="517906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remians to be seen whether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1889125" y="5825490"/>
            <a:ext cx="485330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remains of ancient capital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charset="0"/>
              <a:cs typeface="Times New Roman" panose="02020503050405090304" charset="0"/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8486775" y="584644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historic sites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5996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9625" indent="-809625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The board decided to embark on aggressive overseas __________.</a:t>
            </a:r>
          </a:p>
          <a:p>
            <a:pPr marL="809625" indent="-809625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landscape with _________ skies</a:t>
            </a:r>
          </a:p>
          <a:p>
            <a:pPr marL="809625" indent="-809625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Could you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expand on</a:t>
            </a: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 that point, please? </a:t>
            </a:r>
          </a:p>
          <a:p>
            <a:pPr marL="809625" indent="-80962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expand 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the business / ecnonomy</a:t>
            </a:r>
          </a:p>
          <a:p>
            <a:pPr marL="809625" indent="-80962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a vast expanse of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 farmland</a:t>
            </a:r>
          </a:p>
          <a:p>
            <a:pPr marL="809625" indent="-80962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让更多人能够获得新的产品，知识和想法</a:t>
            </a:r>
          </a:p>
          <a:p>
            <a:pPr marL="809625" indent="-80962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make new goods, knowledge and ideas more accessible to people</a:t>
            </a:r>
          </a:p>
          <a:p>
            <a:pPr marL="809625" indent="-809625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Students must _________________ good resources.</a:t>
            </a:r>
          </a:p>
          <a:p>
            <a:pPr marL="809625" indent="-809625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These documents are not ______ ______ the public.</a:t>
            </a:r>
          </a:p>
          <a:p>
            <a:pPr marL="809625" indent="-809625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Twelve science labs are ______ ______ different science experiments.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9345930" y="4191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expansion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2766695" y="62547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expansive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7226300" y="120904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09625" indent="-80962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详细阐述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2919730" y="4144010"/>
            <a:ext cx="347662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have access to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4545965" y="4727575"/>
            <a:ext cx="347662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accessible  to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4244340" y="5311140"/>
            <a:ext cx="347662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available  for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0" y="59055"/>
            <a:ext cx="12191365" cy="631380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3200" b="1">
                <a:solidFill>
                  <a:schemeClr val="tx1"/>
                </a:solidFill>
              </a:rPr>
              <a:t>政府帮助无家可归者的倡议</a:t>
            </a:r>
          </a:p>
          <a:p>
            <a:r>
              <a:rPr lang="en-US" altLang="zh-CN" sz="3200" b="1">
                <a:solidFill>
                  <a:srgbClr val="FF0000"/>
                </a:solidFill>
              </a:rPr>
              <a:t>a </a:t>
            </a:r>
            <a:r>
              <a:rPr lang="en-US" altLang="zh-CN" sz="3200" b="1"/>
              <a:t>government</a:t>
            </a:r>
            <a:r>
              <a:rPr lang="en-US" altLang="zh-CN" sz="3200" b="1">
                <a:solidFill>
                  <a:srgbClr val="0000FF"/>
                </a:solidFill>
              </a:rPr>
              <a:t> </a:t>
            </a:r>
            <a:r>
              <a:rPr lang="en-US" altLang="zh-CN" sz="3200" b="1">
                <a:solidFill>
                  <a:srgbClr val="FF0000"/>
                </a:solidFill>
              </a:rPr>
              <a:t>initiative to help</a:t>
            </a:r>
            <a:r>
              <a:rPr lang="en-US" altLang="zh-CN" sz="3200" b="1"/>
              <a:t> the homeless</a:t>
            </a:r>
          </a:p>
          <a:p>
            <a:r>
              <a:rPr lang="zh-CN" altLang="en-US" sz="3200" b="1"/>
              <a:t>他主动采取行动，没有服从命令。</a:t>
            </a:r>
          </a:p>
          <a:p>
            <a:r>
              <a:rPr lang="en-US" altLang="zh-CN" sz="3200" b="1"/>
              <a:t>He acted __________________ and wasn't following orders.</a:t>
            </a:r>
          </a:p>
          <a:p>
            <a:r>
              <a:rPr lang="en-US" altLang="zh-CN" sz="3200" b="1">
                <a:solidFill>
                  <a:srgbClr val="FF0000"/>
                </a:solidFill>
              </a:rPr>
              <a:t>use your initiative </a:t>
            </a:r>
            <a:r>
              <a:rPr lang="zh-CN" altLang="en-US" sz="3200" b="1">
                <a:solidFill>
                  <a:schemeClr val="tx1"/>
                </a:solidFill>
              </a:rPr>
              <a:t>发挥主动性</a:t>
            </a:r>
            <a:r>
              <a:rPr lang="en-US" altLang="zh-CN" sz="3200" b="1">
                <a:solidFill>
                  <a:schemeClr val="tx1"/>
                </a:solidFill>
              </a:rPr>
              <a:t> /</a:t>
            </a:r>
            <a:r>
              <a:rPr lang="en-US" altLang="zh-CN" sz="3200" b="1">
                <a:solidFill>
                  <a:srgbClr val="FF0000"/>
                </a:solidFill>
              </a:rPr>
              <a:t> take the initiative </a:t>
            </a:r>
            <a:r>
              <a:rPr lang="zh-CN" altLang="en-US" sz="3200" b="1">
                <a:solidFill>
                  <a:schemeClr val="tx1"/>
                </a:solidFill>
              </a:rPr>
              <a:t>采取主动</a:t>
            </a:r>
            <a:endParaRPr lang="en-US" altLang="zh-CN" sz="3200" b="1">
              <a:solidFill>
                <a:srgbClr val="FF0000"/>
              </a:solidFill>
            </a:endParaRPr>
          </a:p>
          <a:p>
            <a:r>
              <a:rPr lang="en-US" altLang="zh-CN" sz="3200" b="1">
                <a:solidFill>
                  <a:srgbClr val="FF0000"/>
                </a:solidFill>
              </a:rPr>
              <a:t>initiate a campaign / change / project</a:t>
            </a:r>
          </a:p>
          <a:p>
            <a:r>
              <a:rPr lang="en-US" altLang="en-US" sz="3200" b="1">
                <a:solidFill>
                  <a:srgbClr val="FF0000"/>
                </a:solidFill>
                <a:sym typeface="+mn-ea"/>
              </a:rPr>
              <a:t>a diary entry</a:t>
            </a:r>
            <a:endParaRPr lang="en-US" altLang="zh-CN" sz="3200" b="1">
              <a:solidFill>
                <a:srgbClr val="FF0000"/>
              </a:solidFill>
            </a:endParaRPr>
          </a:p>
          <a:p>
            <a:r>
              <a:rPr lang="en-US" altLang="en-US" sz="3200" b="1">
                <a:solidFill>
                  <a:srgbClr val="FF0000"/>
                </a:solidFill>
              </a:rPr>
              <a:t>Entry to</a:t>
            </a:r>
            <a:r>
              <a:rPr lang="en-US" altLang="en-US" sz="3200" b="1"/>
              <a:t> the museum is free.</a:t>
            </a:r>
          </a:p>
          <a:p>
            <a:r>
              <a:rPr lang="en-US" altLang="en-US" sz="3200" b="1"/>
              <a:t>There have been some impressive ______ in the wildlife photography section. </a:t>
            </a:r>
            <a:r>
              <a:rPr lang="zh-CN" altLang="en-US" sz="3200" b="1"/>
              <a:t>参赛作品</a:t>
            </a:r>
          </a:p>
          <a:p>
            <a:r>
              <a:rPr lang="en-US" altLang="zh-CN" sz="3200" b="1">
                <a:solidFill>
                  <a:srgbClr val="FF0000"/>
                </a:solidFill>
              </a:rPr>
              <a:t>Entry </a:t>
            </a:r>
            <a:r>
              <a:rPr lang="en-US" altLang="zh-CN" sz="3200" b="1"/>
              <a:t>is open to everyone. / an </a:t>
            </a:r>
            <a:r>
              <a:rPr lang="en-US" altLang="zh-CN" sz="3200" b="1">
                <a:solidFill>
                  <a:srgbClr val="FF0000"/>
                </a:solidFill>
              </a:rPr>
              <a:t>entry </a:t>
            </a:r>
            <a:r>
              <a:rPr lang="en-US" altLang="zh-CN" sz="3200" b="1"/>
              <a:t>form</a:t>
            </a:r>
          </a:p>
          <a:p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entrance</a:t>
            </a:r>
            <a:endParaRPr lang="en-US" altLang="en-US" sz="3200" b="1"/>
          </a:p>
        </p:txBody>
      </p:sp>
      <p:sp>
        <p:nvSpPr>
          <p:cNvPr id="3" name="Text Box 2"/>
          <p:cNvSpPr txBox="1"/>
          <p:nvPr/>
        </p:nvSpPr>
        <p:spPr>
          <a:xfrm>
            <a:off x="1697990" y="150876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sym typeface="+mn-ea"/>
              </a:rPr>
              <a:t>on his own initiative</a:t>
            </a:r>
            <a:endParaRPr lang="en-US" altLang="zh-CN"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918835" y="392938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>
                <a:solidFill>
                  <a:srgbClr val="FF0000"/>
                </a:solidFill>
                <a:sym typeface="+mn-ea"/>
              </a:rPr>
              <a:t>entries </a:t>
            </a:r>
            <a:endParaRPr lang="en-US" altLang="en-US" sz="3200" b="1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0" y="59055"/>
            <a:ext cx="12191365" cy="631380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en-US" sz="3200" b="1"/>
              <a:t>He </a:t>
            </a:r>
            <a:r>
              <a:rPr lang="en-US" altLang="en-US" sz="3200" b="1">
                <a:solidFill>
                  <a:srgbClr val="FF0000"/>
                </a:solidFill>
              </a:rPr>
              <a:t>was banned from</a:t>
            </a:r>
            <a:r>
              <a:rPr lang="en-US" altLang="en-US" sz="3200" b="1"/>
              <a:t> driving for a year.</a:t>
            </a:r>
          </a:p>
          <a:p>
            <a:r>
              <a:rPr lang="en-US" altLang="en-US" sz="3200" b="1" i="1">
                <a:solidFill>
                  <a:schemeClr val="bg2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= prohibit - prohibited / prohibition</a:t>
            </a:r>
          </a:p>
          <a:p>
            <a:r>
              <a:rPr lang="en-US" altLang="en-US" sz="3200" b="1"/>
              <a:t>The EU has </a:t>
            </a:r>
            <a:r>
              <a:rPr lang="en-US" altLang="en-US" sz="3200" b="1">
                <a:solidFill>
                  <a:srgbClr val="FF0000"/>
                </a:solidFill>
              </a:rPr>
              <a:t>imposed/lifted a ban on</a:t>
            </a:r>
            <a:r>
              <a:rPr lang="en-US" altLang="en-US" sz="3200" b="1"/>
              <a:t> the import of seal skins.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高中课件">
  <a:themeElements>
    <a:clrScheme name="高中编辑部">
      <a:dk1>
        <a:srgbClr val="000000"/>
      </a:dk1>
      <a:lt1>
        <a:srgbClr val="FFFFFF"/>
      </a:lt1>
      <a:dk2>
        <a:srgbClr val="E4002A"/>
      </a:dk2>
      <a:lt2>
        <a:srgbClr val="2419FF"/>
      </a:lt2>
      <a:accent1>
        <a:srgbClr val="F8C083"/>
      </a:accent1>
      <a:accent2>
        <a:srgbClr val="2C99FE"/>
      </a:accent2>
      <a:accent3>
        <a:srgbClr val="C788EA"/>
      </a:accent3>
      <a:accent4>
        <a:srgbClr val="FE824B"/>
      </a:accent4>
      <a:accent5>
        <a:srgbClr val="F5DAE9"/>
      </a:accent5>
      <a:accent6>
        <a:srgbClr val="96DD9A"/>
      </a:accent6>
      <a:hlink>
        <a:srgbClr val="2419FF"/>
      </a:hlink>
      <a:folHlink>
        <a:srgbClr val="000000"/>
      </a:folHlink>
    </a:clrScheme>
    <a:fontScheme name="课件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3200" b="1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3200" b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高中课件</Template>
  <TotalTime>0</TotalTime>
  <Words>599</Words>
  <Application>Microsoft Macintosh PowerPoint</Application>
  <PresentationFormat>Widescreen</PresentationFormat>
  <Paragraphs>92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黑体</vt:lpstr>
      <vt:lpstr>Times New Roman Bold</vt:lpstr>
      <vt:lpstr>Times New Roman Bold Italic</vt:lpstr>
      <vt:lpstr>Arial</vt:lpstr>
      <vt:lpstr>Calibri</vt:lpstr>
      <vt:lpstr>Eras Bold ITC</vt:lpstr>
      <vt:lpstr>Times New Roman</vt:lpstr>
      <vt:lpstr>高中课件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Qing NI</cp:lastModifiedBy>
  <cp:revision>7</cp:revision>
  <dcterms:created xsi:type="dcterms:W3CDTF">2025-04-15T01:43:28Z</dcterms:created>
  <dcterms:modified xsi:type="dcterms:W3CDTF">2026-07-23T01:14:42Z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1033-7.3.1.8967</vt:lpwstr>
  </property>
  <property fmtid="{D5CDD505-2E9C-101B-9397-08002B2CF9AE}" pid="3" name="ICV">
    <vt:lpwstr>67135FF6B0544078A50A925AC6DA844E</vt:lpwstr>
  </property>
</Properties>
</file>